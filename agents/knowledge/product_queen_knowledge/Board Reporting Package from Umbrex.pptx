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27.xml" ContentType="application/vnd.openxmlformats-officedocument.presentationml.tags+xml"/>
  <Override PartName="/ppt/notesSlides/notesSlide1.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2.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50" r:id="rId4"/>
    <p:sldMasterId id="2147483997" r:id="rId5"/>
    <p:sldMasterId id="2147484003" r:id="rId6"/>
    <p:sldMasterId id="2147484009" r:id="rId7"/>
  </p:sldMasterIdLst>
  <p:notesMasterIdLst>
    <p:notesMasterId r:id="rId110"/>
  </p:notesMasterIdLst>
  <p:handoutMasterIdLst>
    <p:handoutMasterId r:id="rId111"/>
  </p:handoutMasterIdLst>
  <p:sldIdLst>
    <p:sldId id="2147473050" r:id="rId8"/>
    <p:sldId id="2147472957" r:id="rId9"/>
    <p:sldId id="2147473065" r:id="rId10"/>
    <p:sldId id="2147473077" r:id="rId11"/>
    <p:sldId id="2147472982" r:id="rId12"/>
    <p:sldId id="2147473079" r:id="rId13"/>
    <p:sldId id="2147473018" r:id="rId14"/>
    <p:sldId id="2147473078" r:id="rId15"/>
    <p:sldId id="2147473080" r:id="rId16"/>
    <p:sldId id="2147472958" r:id="rId17"/>
    <p:sldId id="2147473061" r:id="rId18"/>
    <p:sldId id="2147473062" r:id="rId19"/>
    <p:sldId id="2147472963" r:id="rId20"/>
    <p:sldId id="2147472964" r:id="rId21"/>
    <p:sldId id="2147472959" r:id="rId22"/>
    <p:sldId id="2147472961" r:id="rId23"/>
    <p:sldId id="2147473010" r:id="rId24"/>
    <p:sldId id="2147472962" r:id="rId25"/>
    <p:sldId id="2147472965" r:id="rId26"/>
    <p:sldId id="2147473022" r:id="rId27"/>
    <p:sldId id="2147473023" r:id="rId28"/>
    <p:sldId id="2147472967" r:id="rId29"/>
    <p:sldId id="2147473011" r:id="rId30"/>
    <p:sldId id="2147472966" r:id="rId31"/>
    <p:sldId id="2147473014" r:id="rId32"/>
    <p:sldId id="2147473026" r:id="rId33"/>
    <p:sldId id="2147473013" r:id="rId34"/>
    <p:sldId id="2147473081" r:id="rId35"/>
    <p:sldId id="2147472976" r:id="rId36"/>
    <p:sldId id="2147472977" r:id="rId37"/>
    <p:sldId id="2147472996" r:id="rId38"/>
    <p:sldId id="2147473082" r:id="rId39"/>
    <p:sldId id="2147472974" r:id="rId40"/>
    <p:sldId id="2147472975" r:id="rId41"/>
    <p:sldId id="2147472993" r:id="rId42"/>
    <p:sldId id="2147473002" r:id="rId43"/>
    <p:sldId id="2147473009" r:id="rId44"/>
    <p:sldId id="2147473034" r:id="rId45"/>
    <p:sldId id="2147473027" r:id="rId46"/>
    <p:sldId id="2147473029" r:id="rId47"/>
    <p:sldId id="2147473021" r:id="rId48"/>
    <p:sldId id="2147473032" r:id="rId49"/>
    <p:sldId id="2147473049" r:id="rId50"/>
    <p:sldId id="2147472988" r:id="rId51"/>
    <p:sldId id="2147472989" r:id="rId52"/>
    <p:sldId id="2147473083" r:id="rId53"/>
    <p:sldId id="2147472969" r:id="rId54"/>
    <p:sldId id="2147472970" r:id="rId55"/>
    <p:sldId id="2147473007" r:id="rId56"/>
    <p:sldId id="2147473008" r:id="rId57"/>
    <p:sldId id="2147473033" r:id="rId58"/>
    <p:sldId id="2147473084" r:id="rId59"/>
    <p:sldId id="2147472978" r:id="rId60"/>
    <p:sldId id="2147472997" r:id="rId61"/>
    <p:sldId id="2147473000" r:id="rId62"/>
    <p:sldId id="2147473037" r:id="rId63"/>
    <p:sldId id="2147473038" r:id="rId64"/>
    <p:sldId id="2147473085" r:id="rId65"/>
    <p:sldId id="2147473001" r:id="rId66"/>
    <p:sldId id="2147472971" r:id="rId67"/>
    <p:sldId id="2147472972" r:id="rId68"/>
    <p:sldId id="2147472973" r:id="rId69"/>
    <p:sldId id="2147473035" r:id="rId70"/>
    <p:sldId id="2147473020" r:id="rId71"/>
    <p:sldId id="2147473086" r:id="rId72"/>
    <p:sldId id="2147472979" r:id="rId73"/>
    <p:sldId id="2147473031" r:id="rId74"/>
    <p:sldId id="2147472981" r:id="rId75"/>
    <p:sldId id="2147473036" r:id="rId76"/>
    <p:sldId id="2147473006" r:id="rId77"/>
    <p:sldId id="2147473004" r:id="rId78"/>
    <p:sldId id="2147472980" r:id="rId79"/>
    <p:sldId id="2147473005" r:id="rId80"/>
    <p:sldId id="2147473003" r:id="rId81"/>
    <p:sldId id="2147473087" r:id="rId82"/>
    <p:sldId id="2147472998" r:id="rId83"/>
    <p:sldId id="2147472985" r:id="rId84"/>
    <p:sldId id="2147473088" r:id="rId85"/>
    <p:sldId id="2147472994" r:id="rId86"/>
    <p:sldId id="2147472991" r:id="rId87"/>
    <p:sldId id="2147472992" r:id="rId88"/>
    <p:sldId id="2147473089" r:id="rId89"/>
    <p:sldId id="2147472995" r:id="rId90"/>
    <p:sldId id="2147472984" r:id="rId91"/>
    <p:sldId id="2147472983" r:id="rId92"/>
    <p:sldId id="2147473015" r:id="rId93"/>
    <p:sldId id="2147472990" r:id="rId94"/>
    <p:sldId id="2147473048" r:id="rId95"/>
    <p:sldId id="2147472987" r:id="rId96"/>
    <p:sldId id="2147473030" r:id="rId97"/>
    <p:sldId id="2147473047" r:id="rId98"/>
    <p:sldId id="2147473075" r:id="rId99"/>
    <p:sldId id="2147472915" r:id="rId100"/>
    <p:sldId id="2147472916" r:id="rId101"/>
    <p:sldId id="2147472917" r:id="rId102"/>
    <p:sldId id="2147472918" r:id="rId103"/>
    <p:sldId id="2147472919" r:id="rId104"/>
    <p:sldId id="2147472920" r:id="rId105"/>
    <p:sldId id="2147472921" r:id="rId106"/>
    <p:sldId id="2147472922" r:id="rId107"/>
    <p:sldId id="2147472923" r:id="rId108"/>
    <p:sldId id="2147472924" r:id="rId109"/>
  </p:sldIdLst>
  <p:sldSz cx="12192000" cy="6858000"/>
  <p:notesSz cx="6858000" cy="9144000"/>
  <p:custDataLst>
    <p:tags r:id="rId1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2160" userDrawn="1">
          <p15:clr>
            <a:srgbClr val="A4A3A4"/>
          </p15:clr>
        </p15:guide>
        <p15:guide id="5"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pasin, Alyssa P." initials="PAP" lastIdx="1" clrIdx="0">
    <p:extLst>
      <p:ext uri="{19B8F6BF-5375-455C-9EA6-DF929625EA0E}">
        <p15:presenceInfo xmlns:p15="http://schemas.microsoft.com/office/powerpoint/2012/main" userId="S::alyssa.p.papasin@accenture.com::6ae9f9dd-506d-4cbb-b0dc-8714429a2a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9F9F9"/>
    <a:srgbClr val="3A5C87"/>
    <a:srgbClr val="EFFFFE"/>
    <a:srgbClr val="004CFF"/>
    <a:srgbClr val="0F0F0F"/>
    <a:srgbClr val="F2F2F2"/>
    <a:srgbClr val="FAFAFA"/>
    <a:srgbClr val="F5F5F5"/>
    <a:srgbClr val="EFEFEF"/>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90" autoAdjust="0"/>
    <p:restoredTop sz="95352" autoAdjust="0"/>
  </p:normalViewPr>
  <p:slideViewPr>
    <p:cSldViewPr snapToGrid="0">
      <p:cViewPr varScale="1">
        <p:scale>
          <a:sx n="109" d="100"/>
          <a:sy n="109" d="100"/>
        </p:scale>
        <p:origin x="192" y="3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8352"/>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117" Type="http://schemas.openxmlformats.org/officeDocument/2006/relationships/tableStyles" Target="tableStyles.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12" Type="http://schemas.openxmlformats.org/officeDocument/2006/relationships/tags" Target="tags/tag1.xml"/><Relationship Id="rId16" Type="http://schemas.openxmlformats.org/officeDocument/2006/relationships/slide" Target="slides/slide9.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slide" Target="slides/slide95.xml"/><Relationship Id="rId5" Type="http://schemas.openxmlformats.org/officeDocument/2006/relationships/slideMaster" Target="slideMasters/slideMaster2.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113" Type="http://schemas.openxmlformats.org/officeDocument/2006/relationships/commentAuthors" Target="commentAuthors.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slide" Target="slides/slide101.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presProps" Target="pres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notesMaster" Target="notesMasters/notesMaster1.xml"/><Relationship Id="rId115" Type="http://schemas.openxmlformats.org/officeDocument/2006/relationships/viewProps" Target="viewProps.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handoutMaster" Target="handoutMasters/handoutMaster1.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r>
              <a:rPr lang="en-US" sz="1400" b="1" baseline="0" dirty="0">
                <a:solidFill>
                  <a:srgbClr val="002060"/>
                </a:solidFill>
              </a:rPr>
              <a:t>20-80%</a:t>
            </a:r>
          </a:p>
        </c:rich>
      </c:tx>
      <c:layout>
        <c:manualLayout>
          <c:xMode val="edge"/>
          <c:yMode val="edge"/>
          <c:x val="0.35921060686588513"/>
          <c:y val="0.52297450859470129"/>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solidFill>
              <a:srgbClr val="002060"/>
            </a:solidFill>
            <a:ln>
              <a:noFill/>
            </a:ln>
          </c:spPr>
          <c:dPt>
            <c:idx val="0"/>
            <c:bubble3D val="0"/>
            <c:spPr>
              <a:solidFill>
                <a:srgbClr val="002060"/>
              </a:solidFill>
              <a:ln w="19050">
                <a:noFill/>
              </a:ln>
              <a:effectLst/>
            </c:spPr>
            <c:extLst>
              <c:ext xmlns:c16="http://schemas.microsoft.com/office/drawing/2014/chart" uri="{C3380CC4-5D6E-409C-BE32-E72D297353CC}">
                <c16:uniqueId val="{00000002-1581-46C6-8770-95FEC814A4AD}"/>
              </c:ext>
            </c:extLst>
          </c:dPt>
          <c:dPt>
            <c:idx val="1"/>
            <c:bubble3D val="0"/>
            <c:spPr>
              <a:solidFill>
                <a:srgbClr val="002060"/>
              </a:solidFill>
              <a:ln w="19050">
                <a:noFill/>
              </a:ln>
              <a:effectLst/>
            </c:spPr>
            <c:extLst>
              <c:ext xmlns:c16="http://schemas.microsoft.com/office/drawing/2014/chart" uri="{C3380CC4-5D6E-409C-BE32-E72D297353CC}">
                <c16:uniqueId val="{00000003-1581-46C6-8770-95FEC814A4AD}"/>
              </c:ext>
            </c:extLst>
          </c:dPt>
          <c:dPt>
            <c:idx val="2"/>
            <c:bubble3D val="0"/>
            <c:spPr>
              <a:solidFill>
                <a:srgbClr val="002060"/>
              </a:solidFill>
              <a:ln w="19050">
                <a:noFill/>
              </a:ln>
              <a:effectLst/>
            </c:spPr>
            <c:extLst>
              <c:ext xmlns:c16="http://schemas.microsoft.com/office/drawing/2014/chart" uri="{C3380CC4-5D6E-409C-BE32-E72D297353CC}">
                <c16:uniqueId val="{00000005-F954-4FF0-BB57-7A98CD026CB5}"/>
              </c:ext>
            </c:extLst>
          </c:dPt>
          <c:dPt>
            <c:idx val="3"/>
            <c:bubble3D val="0"/>
            <c:spPr>
              <a:solidFill>
                <a:srgbClr val="002060"/>
              </a:solidFill>
              <a:ln w="19050">
                <a:noFill/>
              </a:ln>
              <a:effectLst/>
            </c:spPr>
            <c:extLst>
              <c:ext xmlns:c16="http://schemas.microsoft.com/office/drawing/2014/chart" uri="{C3380CC4-5D6E-409C-BE32-E72D297353CC}">
                <c16:uniqueId val="{00000007-F954-4FF0-BB57-7A98CD026CB5}"/>
              </c:ext>
            </c:extLst>
          </c:dPt>
          <c:cat>
            <c:strRef>
              <c:f>Sheet1!$A$2:$A$5</c:f>
              <c:strCache>
                <c:ptCount val="2"/>
                <c:pt idx="0">
                  <c:v>1st Qtr</c:v>
                </c:pt>
                <c:pt idx="1">
                  <c:v>2nd Qtr</c:v>
                </c:pt>
              </c:strCache>
            </c:strRef>
          </c:cat>
          <c:val>
            <c:numRef>
              <c:f>Sheet1!$B$2:$B$5</c:f>
              <c:numCache>
                <c:formatCode>General</c:formatCode>
                <c:ptCount val="4"/>
                <c:pt idx="0">
                  <c:v>20</c:v>
                </c:pt>
                <c:pt idx="1">
                  <c:v>50</c:v>
                </c:pt>
              </c:numCache>
            </c:numRef>
          </c:val>
          <c:extLst>
            <c:ext xmlns:c16="http://schemas.microsoft.com/office/drawing/2014/chart" uri="{C3380CC4-5D6E-409C-BE32-E72D297353CC}">
              <c16:uniqueId val="{00000000-1581-46C6-8770-95FEC814A4AD}"/>
            </c:ext>
          </c:extLst>
        </c:ser>
        <c:dLbls>
          <c:showLegendKey val="0"/>
          <c:showVal val="0"/>
          <c:showCatName val="0"/>
          <c:showSerName val="0"/>
          <c:showPercent val="0"/>
          <c:showBubbleSize val="0"/>
          <c:showLeaderLines val="1"/>
        </c:dLbls>
        <c:firstSliceAng val="232"/>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accent3"/>
                </a:solidFill>
                <a:latin typeface="+mn-lt"/>
                <a:ea typeface="+mn-ea"/>
                <a:cs typeface="+mn-cs"/>
              </a:defRPr>
            </a:pPr>
            <a:r>
              <a:rPr lang="en-US" sz="1400" b="1" baseline="0" dirty="0">
                <a:solidFill>
                  <a:srgbClr val="002060"/>
                </a:solidFill>
              </a:rPr>
              <a:t>100%</a:t>
            </a:r>
          </a:p>
        </c:rich>
      </c:tx>
      <c:layout>
        <c:manualLayout>
          <c:xMode val="edge"/>
          <c:yMode val="edge"/>
          <c:x val="0.37688036875540876"/>
          <c:y val="0.53622682540229127"/>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accent3"/>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solidFill>
              <a:srgbClr val="002060"/>
            </a:solidFill>
            <a:ln>
              <a:noFill/>
            </a:ln>
          </c:spPr>
          <c:dPt>
            <c:idx val="0"/>
            <c:bubble3D val="0"/>
            <c:spPr>
              <a:solidFill>
                <a:srgbClr val="002060"/>
              </a:solidFill>
              <a:ln w="19050">
                <a:noFill/>
              </a:ln>
              <a:effectLst/>
            </c:spPr>
            <c:extLst>
              <c:ext xmlns:c16="http://schemas.microsoft.com/office/drawing/2014/chart" uri="{C3380CC4-5D6E-409C-BE32-E72D297353CC}">
                <c16:uniqueId val="{00000001-1AB8-4A76-983E-1EA4E4B9DC19}"/>
              </c:ext>
            </c:extLst>
          </c:dPt>
          <c:dPt>
            <c:idx val="1"/>
            <c:bubble3D val="0"/>
            <c:spPr>
              <a:solidFill>
                <a:srgbClr val="002060"/>
              </a:solidFill>
              <a:ln w="19050">
                <a:noFill/>
              </a:ln>
              <a:effectLst/>
            </c:spPr>
            <c:extLst>
              <c:ext xmlns:c16="http://schemas.microsoft.com/office/drawing/2014/chart" uri="{C3380CC4-5D6E-409C-BE32-E72D297353CC}">
                <c16:uniqueId val="{00000003-1AB8-4A76-983E-1EA4E4B9DC19}"/>
              </c:ext>
            </c:extLst>
          </c:dPt>
          <c:dPt>
            <c:idx val="2"/>
            <c:bubble3D val="0"/>
            <c:spPr>
              <a:solidFill>
                <a:srgbClr val="002060"/>
              </a:solidFill>
              <a:ln w="19050">
                <a:noFill/>
              </a:ln>
              <a:effectLst/>
            </c:spPr>
            <c:extLst>
              <c:ext xmlns:c16="http://schemas.microsoft.com/office/drawing/2014/chart" uri="{C3380CC4-5D6E-409C-BE32-E72D297353CC}">
                <c16:uniqueId val="{00000005-1AB8-4A76-983E-1EA4E4B9DC19}"/>
              </c:ext>
            </c:extLst>
          </c:dPt>
          <c:dPt>
            <c:idx val="3"/>
            <c:bubble3D val="0"/>
            <c:spPr>
              <a:solidFill>
                <a:srgbClr val="002060"/>
              </a:solidFill>
              <a:ln w="19050">
                <a:noFill/>
              </a:ln>
              <a:effectLst/>
            </c:spPr>
            <c:extLst>
              <c:ext xmlns:c16="http://schemas.microsoft.com/office/drawing/2014/chart" uri="{C3380CC4-5D6E-409C-BE32-E72D297353CC}">
                <c16:uniqueId val="{00000007-1AB8-4A76-983E-1EA4E4B9DC19}"/>
              </c:ext>
            </c:extLst>
          </c:dPt>
          <c:cat>
            <c:strRef>
              <c:f>Sheet1!$A$2:$A$5</c:f>
              <c:strCache>
                <c:ptCount val="2"/>
                <c:pt idx="0">
                  <c:v>1st Qtr</c:v>
                </c:pt>
                <c:pt idx="1">
                  <c:v>2nd Qtr</c:v>
                </c:pt>
              </c:strCache>
            </c:strRef>
          </c:cat>
          <c:val>
            <c:numRef>
              <c:f>Sheet1!$B$2:$B$5</c:f>
              <c:numCache>
                <c:formatCode>General</c:formatCode>
                <c:ptCount val="4"/>
                <c:pt idx="0">
                  <c:v>0</c:v>
                </c:pt>
                <c:pt idx="1">
                  <c:v>100</c:v>
                </c:pt>
              </c:numCache>
            </c:numRef>
          </c:val>
          <c:extLst>
            <c:ext xmlns:c16="http://schemas.microsoft.com/office/drawing/2014/chart" uri="{C3380CC4-5D6E-409C-BE32-E72D297353CC}">
              <c16:uniqueId val="{00000008-1AB8-4A76-983E-1EA4E4B9DC19}"/>
            </c:ext>
          </c:extLst>
        </c:ser>
        <c:dLbls>
          <c:showLegendKey val="0"/>
          <c:showVal val="0"/>
          <c:showCatName val="0"/>
          <c:showSerName val="0"/>
          <c:showPercent val="0"/>
          <c:showBubbleSize val="0"/>
          <c:showLeaderLines val="1"/>
        </c:dLbls>
        <c:firstSliceAng val="53"/>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r>
              <a:rPr lang="en-US" sz="1400" b="1" baseline="0" dirty="0">
                <a:solidFill>
                  <a:srgbClr val="002060"/>
                </a:solidFill>
              </a:rPr>
              <a:t>Hourly</a:t>
            </a:r>
          </a:p>
        </c:rich>
      </c:tx>
      <c:layout>
        <c:manualLayout>
          <c:xMode val="edge"/>
          <c:yMode val="edge"/>
          <c:x val="0.37688036875540876"/>
          <c:y val="0.53622682540229127"/>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solidFill>
              <a:srgbClr val="002060"/>
            </a:solidFill>
            <a:ln>
              <a:noFill/>
            </a:ln>
          </c:spPr>
          <c:dPt>
            <c:idx val="0"/>
            <c:bubble3D val="0"/>
            <c:spPr>
              <a:solidFill>
                <a:srgbClr val="002060"/>
              </a:solidFill>
              <a:ln w="19050">
                <a:noFill/>
              </a:ln>
              <a:effectLst/>
            </c:spPr>
            <c:extLst>
              <c:ext xmlns:c16="http://schemas.microsoft.com/office/drawing/2014/chart" uri="{C3380CC4-5D6E-409C-BE32-E72D297353CC}">
                <c16:uniqueId val="{00000001-7D6B-4A8A-A5F5-B32E1779932F}"/>
              </c:ext>
            </c:extLst>
          </c:dPt>
          <c:dPt>
            <c:idx val="1"/>
            <c:bubble3D val="0"/>
            <c:spPr>
              <a:solidFill>
                <a:srgbClr val="002060"/>
              </a:solidFill>
              <a:ln w="19050">
                <a:noFill/>
              </a:ln>
              <a:effectLst/>
            </c:spPr>
            <c:extLst>
              <c:ext xmlns:c16="http://schemas.microsoft.com/office/drawing/2014/chart" uri="{C3380CC4-5D6E-409C-BE32-E72D297353CC}">
                <c16:uniqueId val="{00000003-7D6B-4A8A-A5F5-B32E1779932F}"/>
              </c:ext>
            </c:extLst>
          </c:dPt>
          <c:dPt>
            <c:idx val="2"/>
            <c:bubble3D val="0"/>
            <c:spPr>
              <a:solidFill>
                <a:srgbClr val="002060"/>
              </a:solidFill>
              <a:ln w="19050">
                <a:noFill/>
              </a:ln>
              <a:effectLst/>
            </c:spPr>
            <c:extLst>
              <c:ext xmlns:c16="http://schemas.microsoft.com/office/drawing/2014/chart" uri="{C3380CC4-5D6E-409C-BE32-E72D297353CC}">
                <c16:uniqueId val="{00000005-7D6B-4A8A-A5F5-B32E1779932F}"/>
              </c:ext>
            </c:extLst>
          </c:dPt>
          <c:dPt>
            <c:idx val="3"/>
            <c:bubble3D val="0"/>
            <c:spPr>
              <a:solidFill>
                <a:srgbClr val="002060"/>
              </a:solidFill>
              <a:ln w="19050">
                <a:noFill/>
              </a:ln>
              <a:effectLst/>
            </c:spPr>
            <c:extLst>
              <c:ext xmlns:c16="http://schemas.microsoft.com/office/drawing/2014/chart" uri="{C3380CC4-5D6E-409C-BE32-E72D297353CC}">
                <c16:uniqueId val="{00000007-7D6B-4A8A-A5F5-B32E1779932F}"/>
              </c:ext>
            </c:extLst>
          </c:dPt>
          <c:cat>
            <c:strRef>
              <c:f>Sheet1!$A$2:$A$5</c:f>
              <c:strCache>
                <c:ptCount val="2"/>
                <c:pt idx="0">
                  <c:v>1st Qtr</c:v>
                </c:pt>
                <c:pt idx="1">
                  <c:v>2nd Qtr</c:v>
                </c:pt>
              </c:strCache>
            </c:strRef>
          </c:cat>
          <c:val>
            <c:numRef>
              <c:f>Sheet1!$B$2:$B$5</c:f>
              <c:numCache>
                <c:formatCode>General</c:formatCode>
                <c:ptCount val="4"/>
                <c:pt idx="0">
                  <c:v>8.1999999999999993</c:v>
                </c:pt>
                <c:pt idx="1">
                  <c:v>1</c:v>
                </c:pt>
              </c:numCache>
            </c:numRef>
          </c:val>
          <c:extLst>
            <c:ext xmlns:c16="http://schemas.microsoft.com/office/drawing/2014/chart" uri="{C3380CC4-5D6E-409C-BE32-E72D297353CC}">
              <c16:uniqueId val="{00000008-7D6B-4A8A-A5F5-B32E1779932F}"/>
            </c:ext>
          </c:extLst>
        </c:ser>
        <c:dLbls>
          <c:showLegendKey val="0"/>
          <c:showVal val="0"/>
          <c:showCatName val="0"/>
          <c:showSerName val="0"/>
          <c:showPercent val="0"/>
          <c:showBubbleSize val="0"/>
          <c:showLeaderLines val="1"/>
        </c:dLbls>
        <c:firstSliceAng val="53"/>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Franklin Gothic Medium" panose="020B06030201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latin typeface="Franklin Gothic Medium" panose="020B0603020102020204" pitchFamily="34" charset="0"/>
              </a:rPr>
              <a:t>5/22/23</a:t>
            </a:fld>
            <a:endParaRPr lang="en-US" dirty="0">
              <a:latin typeface="Franklin Gothic Medium" panose="020B06030201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Franklin Gothic Medium" panose="020B06030201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A0E21C-7E3E-40C1-A5B4-152F0F11E190}" type="slidenum">
              <a:rPr lang="en-US" smtClean="0">
                <a:latin typeface="Franklin Gothic Medium" panose="020B0603020102020204" pitchFamily="34" charset="0"/>
              </a:rPr>
              <a:t>‹#›</a:t>
            </a:fld>
            <a:endParaRPr lang="en-US" dirty="0">
              <a:latin typeface="Franklin Gothic Medium" panose="020B0603020102020204" pitchFamily="34" charset="0"/>
            </a:endParaRPr>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fld id="{D39D084F-DC83-4EB0-8CED-52E9AA3ECA1C}" type="datetimeFigureOut">
              <a:rPr lang="en-US" smtClean="0"/>
              <a:pPr/>
              <a:t>5/22/23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fld id="{AC157E0A-F321-48DC-AF94-681D4DCF344D}" type="slidenum">
              <a:rPr lang="en-US" smtClean="0"/>
              <a:pPr/>
              <a:t>‹#›</a:t>
            </a:fld>
            <a:endParaRPr lang="en-US" dirty="0"/>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45720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91440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137160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182880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3777564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15661364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2.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13.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8.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4.xml"/><Relationship Id="rId1" Type="http://schemas.openxmlformats.org/officeDocument/2006/relationships/tags" Target="../tags/tag21.xml"/><Relationship Id="rId4" Type="http://schemas.openxmlformats.org/officeDocument/2006/relationships/image" Target="../media/image2.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4.xml"/><Relationship Id="rId1" Type="http://schemas.openxmlformats.org/officeDocument/2006/relationships/tags" Target="../tags/tag22.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4.xml"/><Relationship Id="rId1" Type="http://schemas.openxmlformats.org/officeDocument/2006/relationships/tags" Target="../tags/tag23.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4.xml"/><Relationship Id="rId1" Type="http://schemas.openxmlformats.org/officeDocument/2006/relationships/tags" Target="../tags/tag25.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4.xml"/><Relationship Id="rId1" Type="http://schemas.openxmlformats.org/officeDocument/2006/relationships/tags" Target="../tags/tag26.xml"/><Relationship Id="rId5" Type="http://schemas.openxmlformats.org/officeDocument/2006/relationships/image" Target="../media/image6.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0_Cover">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9B4C446-2D8D-1D11-CD92-343462023C19}"/>
              </a:ext>
            </a:extLst>
          </p:cNvPr>
          <p:cNvGraphicFramePr>
            <a:graphicFrameLocks noChangeAspect="1"/>
          </p:cNvGraphicFramePr>
          <p:nvPr userDrawn="1">
            <p:custDataLst>
              <p:tags r:id="rId1"/>
            </p:custDataLst>
            <p:extLst>
              <p:ext uri="{D42A27DB-BD31-4B8C-83A1-F6EECF244321}">
                <p14:modId xmlns:p14="http://schemas.microsoft.com/office/powerpoint/2010/main" val="2326538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 name="Object 1" hidden="1">
                        <a:extLst>
                          <a:ext uri="{FF2B5EF4-FFF2-40B4-BE49-F238E27FC236}">
                            <a16:creationId xmlns:a16="http://schemas.microsoft.com/office/drawing/2014/main" id="{99B4C446-2D8D-1D11-CD92-343462023C1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Text Placeholder 8">
            <a:extLst>
              <a:ext uri="{FF2B5EF4-FFF2-40B4-BE49-F238E27FC236}">
                <a16:creationId xmlns:a16="http://schemas.microsoft.com/office/drawing/2014/main" id="{4697F97E-5ED0-44CE-8BF2-B61FF13412B3}"/>
              </a:ext>
            </a:extLst>
          </p:cNvPr>
          <p:cNvSpPr>
            <a:spLocks noGrp="1"/>
          </p:cNvSpPr>
          <p:nvPr>
            <p:ph type="body" sz="quarter" idx="14" hasCustomPrompt="1"/>
          </p:nvPr>
        </p:nvSpPr>
        <p:spPr>
          <a:xfrm>
            <a:off x="5678694" y="1520825"/>
            <a:ext cx="4727903" cy="1154074"/>
          </a:xfrm>
          <a:prstGeom prst="rect">
            <a:avLst/>
          </a:prstGeom>
        </p:spPr>
        <p:txBody>
          <a:bodyPr anchor="b"/>
          <a:lstStyle>
            <a:lvl1pPr algn="l">
              <a:lnSpc>
                <a:spcPct val="80000"/>
              </a:lnSpc>
              <a:spcBef>
                <a:spcPts val="0"/>
              </a:spcBef>
              <a:spcAft>
                <a:spcPts val="0"/>
              </a:spcAft>
              <a:defRPr sz="4400" b="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file</a:t>
            </a:r>
          </a:p>
        </p:txBody>
      </p:sp>
      <p:sp>
        <p:nvSpPr>
          <p:cNvPr id="29" name="Text Placeholder 6">
            <a:extLst>
              <a:ext uri="{FF2B5EF4-FFF2-40B4-BE49-F238E27FC236}">
                <a16:creationId xmlns:a16="http://schemas.microsoft.com/office/drawing/2014/main" id="{B56F6AFB-C491-4255-BEAD-ED366A6A08DC}"/>
              </a:ext>
            </a:extLst>
          </p:cNvPr>
          <p:cNvSpPr>
            <a:spLocks noGrp="1"/>
          </p:cNvSpPr>
          <p:nvPr>
            <p:ph type="body" sz="quarter" idx="15" hasCustomPrompt="1"/>
          </p:nvPr>
        </p:nvSpPr>
        <p:spPr>
          <a:xfrm>
            <a:off x="5683577" y="3165688"/>
            <a:ext cx="4727903" cy="466756"/>
          </a:xfrm>
          <a:prstGeom prst="rect">
            <a:avLst/>
          </a:prstGeom>
        </p:spPr>
        <p:txBody>
          <a:bodyPr/>
          <a:lstStyle>
            <a:lvl1pPr>
              <a:lnSpc>
                <a:spcPct val="80000"/>
              </a:lnSpc>
              <a:spcAft>
                <a:spcPts val="0"/>
              </a:spcAft>
              <a:defRPr sz="24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subtitle style</a:t>
            </a:r>
          </a:p>
        </p:txBody>
      </p:sp>
      <p:sp>
        <p:nvSpPr>
          <p:cNvPr id="4" name="Picture Placeholder 2">
            <a:extLst>
              <a:ext uri="{FF2B5EF4-FFF2-40B4-BE49-F238E27FC236}">
                <a16:creationId xmlns:a16="http://schemas.microsoft.com/office/drawing/2014/main" id="{30B82A15-2C6E-69D3-B787-949A464553E6}"/>
              </a:ext>
            </a:extLst>
          </p:cNvPr>
          <p:cNvSpPr>
            <a:spLocks noGrp="1"/>
          </p:cNvSpPr>
          <p:nvPr>
            <p:ph type="pic" sz="quarter" idx="13" hasCustomPrompt="1"/>
          </p:nvPr>
        </p:nvSpPr>
        <p:spPr>
          <a:xfrm>
            <a:off x="0"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cxnSp>
        <p:nvCxnSpPr>
          <p:cNvPr id="7" name="Conector recto 6">
            <a:extLst>
              <a:ext uri="{FF2B5EF4-FFF2-40B4-BE49-F238E27FC236}">
                <a16:creationId xmlns:a16="http://schemas.microsoft.com/office/drawing/2014/main" id="{4CF7FCF0-F776-C2C9-4803-DA8D43688946}"/>
              </a:ext>
            </a:extLst>
          </p:cNvPr>
          <p:cNvCxnSpPr>
            <a:cxnSpLocks/>
          </p:cNvCxnSpPr>
          <p:nvPr userDrawn="1"/>
        </p:nvCxnSpPr>
        <p:spPr>
          <a:xfrm>
            <a:off x="5683577" y="2913529"/>
            <a:ext cx="4631580"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58AAD7CE-DDD6-732E-B9F5-19087AF0D34E}"/>
              </a:ext>
            </a:extLst>
          </p:cNvPr>
          <p:cNvSpPr/>
          <p:nvPr userDrawn="1"/>
        </p:nvSpPr>
        <p:spPr>
          <a:xfrm>
            <a:off x="10406597" y="381000"/>
            <a:ext cx="1404402" cy="6247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1050"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Your logo here</a:t>
            </a:r>
          </a:p>
        </p:txBody>
      </p:sp>
      <p:sp>
        <p:nvSpPr>
          <p:cNvPr id="32" name="Rectangle 104">
            <a:extLst>
              <a:ext uri="{FF2B5EF4-FFF2-40B4-BE49-F238E27FC236}">
                <a16:creationId xmlns:a16="http://schemas.microsoft.com/office/drawing/2014/main" id="{FFE04BA0-A5F1-E5DE-52DC-63A51535E8A2}"/>
              </a:ext>
            </a:extLst>
          </p:cNvPr>
          <p:cNvSpPr/>
          <p:nvPr userDrawn="1"/>
        </p:nvSpPr>
        <p:spPr>
          <a:xfrm>
            <a:off x="5273072" y="1520826"/>
            <a:ext cx="159540" cy="1154074"/>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2206955647"/>
      </p:ext>
    </p:extLst>
  </p:cSld>
  <p:clrMapOvr>
    <a:masterClrMapping/>
  </p:clrMapOvr>
  <p:extLst>
    <p:ext uri="{DCECCB84-F9BA-43D5-87BE-67443E8EF086}">
      <p15:sldGuideLst xmlns:p15="http://schemas.microsoft.com/office/powerpoint/2012/main">
        <p15:guide id="1" pos="3386" userDrawn="1">
          <p15:clr>
            <a:srgbClr val="FBAE40"/>
          </p15:clr>
        </p15:guide>
        <p15:guide id="2" pos="3568" userDrawn="1">
          <p15:clr>
            <a:srgbClr val="FBAE40"/>
          </p15:clr>
        </p15:guide>
        <p15:guide id="3" pos="318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1305037196"/>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Footer Placeholder 5">
            <a:extLst>
              <a:ext uri="{FF2B5EF4-FFF2-40B4-BE49-F238E27FC236}">
                <a16:creationId xmlns:a16="http://schemas.microsoft.com/office/drawing/2014/main" id="{454F5C2C-AC0A-7D7F-CF6B-2E2F67252663}"/>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393134919"/>
      </p:ext>
    </p:extLst>
  </p:cSld>
  <p:clrMapOvr>
    <a:masterClrMapping/>
  </p:clrMapOvr>
  <p:extLst>
    <p:ext uri="{DCECCB84-F9BA-43D5-87BE-67443E8EF086}">
      <p15:sldGuideLst xmlns:p15="http://schemas.microsoft.com/office/powerpoint/2012/main">
        <p15:guide id="1" pos="3840" userDrawn="1">
          <p15:clr>
            <a:srgbClr val="FBAE40"/>
          </p15:clr>
        </p15:guide>
        <p15:guide id="2" pos="3885" userDrawn="1">
          <p15:clr>
            <a:srgbClr val="FBAE40"/>
          </p15:clr>
        </p15:guide>
        <p15:guide id="3" pos="379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946528837"/>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pic>
        <p:nvPicPr>
          <p:cNvPr id="4" name="Picture 3" descr="Blue letters on a black background&#10;&#10;Description automatically generated with medium confidence">
            <a:extLst>
              <a:ext uri="{FF2B5EF4-FFF2-40B4-BE49-F238E27FC236}">
                <a16:creationId xmlns:a16="http://schemas.microsoft.com/office/drawing/2014/main" id="{FD3B664E-FEB1-025C-D0BF-2997186FA0DE}"/>
              </a:ext>
            </a:extLst>
          </p:cNvPr>
          <p:cNvPicPr>
            <a:picLocks noChangeAspect="1"/>
          </p:cNvPicPr>
          <p:nvPr userDrawn="1"/>
        </p:nvPicPr>
        <p:blipFill>
          <a:blip r:embed="rId5"/>
          <a:stretch>
            <a:fillRect/>
          </a:stretch>
        </p:blipFill>
        <p:spPr>
          <a:xfrm>
            <a:off x="371475" y="6432059"/>
            <a:ext cx="1004838" cy="283976"/>
          </a:xfrm>
          <a:prstGeom prst="rect">
            <a:avLst/>
          </a:prstGeom>
        </p:spPr>
      </p:pic>
    </p:spTree>
    <p:extLst>
      <p:ext uri="{BB962C8B-B14F-4D97-AF65-F5344CB8AC3E}">
        <p14:creationId xmlns:p14="http://schemas.microsoft.com/office/powerpoint/2010/main" val="3921882846"/>
      </p:ext>
    </p:extLst>
  </p:cSld>
  <p:clrMapOvr>
    <a:masterClrMapping/>
  </p:clrMapOvr>
  <p:extLst>
    <p:ext uri="{DCECCB84-F9BA-43D5-87BE-67443E8EF086}">
      <p15:sldGuideLst xmlns:p15="http://schemas.microsoft.com/office/powerpoint/2012/main">
        <p15:guide id="1" pos="3840" userDrawn="1">
          <p15:clr>
            <a:srgbClr val="FBAE40"/>
          </p15:clr>
        </p15:guide>
        <p15:guide id="2" pos="3885" userDrawn="1">
          <p15:clr>
            <a:srgbClr val="FBAE40"/>
          </p15:clr>
        </p15:guide>
        <p15:guide id="3" pos="379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30820193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2" name="TextBox 24">
            <a:extLst>
              <a:ext uri="{FF2B5EF4-FFF2-40B4-BE49-F238E27FC236}">
                <a16:creationId xmlns:a16="http://schemas.microsoft.com/office/drawing/2014/main" id="{2E127877-A0ED-018C-7E13-AE841D1B1F94}"/>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2022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 name="TextBox 25">
            <a:extLst>
              <a:ext uri="{FF2B5EF4-FFF2-40B4-BE49-F238E27FC236}">
                <a16:creationId xmlns:a16="http://schemas.microsoft.com/office/drawing/2014/main" id="{2993AF93-5C4D-06E3-95C9-81B423340839}"/>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2802754287"/>
      </p:ext>
    </p:extLst>
  </p:cSld>
  <p:clrMapOvr>
    <a:masterClrMapping/>
  </p:clrMapOvr>
  <p:extLst>
    <p:ext uri="{DCECCB84-F9BA-43D5-87BE-67443E8EF086}">
      <p15:sldGuideLst xmlns:p15="http://schemas.microsoft.com/office/powerpoint/2012/main">
        <p15:guide id="1" pos="3840" userDrawn="1">
          <p15:clr>
            <a:srgbClr val="FBAE40"/>
          </p15:clr>
        </p15:guide>
        <p15:guide id="2" pos="3885" userDrawn="1">
          <p15:clr>
            <a:srgbClr val="FBAE40"/>
          </p15:clr>
        </p15:guide>
        <p15:guide id="3" pos="379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212790736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82F1D4E8-3401-21C3-350F-261805FCFF01}"/>
              </a:ext>
            </a:extLst>
          </p:cNvPr>
          <p:cNvSpPr>
            <a:spLocks noGrp="1"/>
          </p:cNvSpPr>
          <p:nvPr>
            <p:ph type="pic" sz="quarter" idx="13" hasCustomPrompt="1"/>
          </p:nvPr>
        </p:nvSpPr>
        <p:spPr>
          <a:xfrm>
            <a:off x="6840071"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sp>
        <p:nvSpPr>
          <p:cNvPr id="11" name="TextBox 24">
            <a:extLst>
              <a:ext uri="{FF2B5EF4-FFF2-40B4-BE49-F238E27FC236}">
                <a16:creationId xmlns:a16="http://schemas.microsoft.com/office/drawing/2014/main" id="{DAB4AE32-26BB-8321-7EFA-E42B6212234A}"/>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2022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 name="TextBox 25">
            <a:extLst>
              <a:ext uri="{FF2B5EF4-FFF2-40B4-BE49-F238E27FC236}">
                <a16:creationId xmlns:a16="http://schemas.microsoft.com/office/drawing/2014/main" id="{D1BECB90-2EFE-871B-2CB3-E5569A79DFCE}"/>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Tree>
    <p:extLst>
      <p:ext uri="{BB962C8B-B14F-4D97-AF65-F5344CB8AC3E}">
        <p14:creationId xmlns:p14="http://schemas.microsoft.com/office/powerpoint/2010/main" val="1129419291"/>
      </p:ext>
    </p:extLst>
  </p:cSld>
  <p:clrMapOvr>
    <a:masterClrMapping/>
  </p:clrMapOvr>
  <p:extLst>
    <p:ext uri="{DCECCB84-F9BA-43D5-87BE-67443E8EF086}">
      <p15:sldGuideLst xmlns:p15="http://schemas.microsoft.com/office/powerpoint/2012/main">
        <p15:guide id="1" pos="4112" userDrawn="1">
          <p15:clr>
            <a:srgbClr val="FBAE40"/>
          </p15:clr>
        </p15:guide>
        <p15:guide id="2" pos="449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0_Cover">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9B4C446-2D8D-1D11-CD92-343462023C19}"/>
              </a:ext>
            </a:extLst>
          </p:cNvPr>
          <p:cNvGraphicFramePr>
            <a:graphicFrameLocks noChangeAspect="1"/>
          </p:cNvGraphicFramePr>
          <p:nvPr userDrawn="1">
            <p:custDataLst>
              <p:tags r:id="rId1"/>
            </p:custDataLst>
            <p:extLst>
              <p:ext uri="{D42A27DB-BD31-4B8C-83A1-F6EECF244321}">
                <p14:modId xmlns:p14="http://schemas.microsoft.com/office/powerpoint/2010/main" val="2326538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3" imgW="7772400" imgH="10058400" progId="TCLayout.ActiveDocument.1">
                  <p:embed/>
                </p:oleObj>
              </mc:Choice>
              <mc:Fallback>
                <p:oleObj name="Diapositiva de think-cell" r:id="rId3" imgW="7772400" imgH="10058400" progId="TCLayout.ActiveDocument.1">
                  <p:embed/>
                  <p:pic>
                    <p:nvPicPr>
                      <p:cNvPr id="2" name="Object 1" hidden="1">
                        <a:extLst>
                          <a:ext uri="{FF2B5EF4-FFF2-40B4-BE49-F238E27FC236}">
                            <a16:creationId xmlns:a16="http://schemas.microsoft.com/office/drawing/2014/main" id="{99B4C446-2D8D-1D11-CD92-343462023C1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Text Placeholder 8">
            <a:extLst>
              <a:ext uri="{FF2B5EF4-FFF2-40B4-BE49-F238E27FC236}">
                <a16:creationId xmlns:a16="http://schemas.microsoft.com/office/drawing/2014/main" id="{4697F97E-5ED0-44CE-8BF2-B61FF13412B3}"/>
              </a:ext>
            </a:extLst>
          </p:cNvPr>
          <p:cNvSpPr>
            <a:spLocks noGrp="1"/>
          </p:cNvSpPr>
          <p:nvPr>
            <p:ph type="body" sz="quarter" idx="14" hasCustomPrompt="1"/>
          </p:nvPr>
        </p:nvSpPr>
        <p:spPr>
          <a:xfrm>
            <a:off x="5678694" y="1520825"/>
            <a:ext cx="4727903" cy="1154074"/>
          </a:xfrm>
          <a:prstGeom prst="rect">
            <a:avLst/>
          </a:prstGeom>
        </p:spPr>
        <p:txBody>
          <a:bodyPr anchor="b"/>
          <a:lstStyle>
            <a:lvl1pPr algn="l">
              <a:lnSpc>
                <a:spcPct val="80000"/>
              </a:lnSpc>
              <a:spcBef>
                <a:spcPts val="0"/>
              </a:spcBef>
              <a:spcAft>
                <a:spcPts val="0"/>
              </a:spcAft>
              <a:defRPr sz="4400" b="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file</a:t>
            </a:r>
          </a:p>
        </p:txBody>
      </p:sp>
      <p:sp>
        <p:nvSpPr>
          <p:cNvPr id="29" name="Text Placeholder 6">
            <a:extLst>
              <a:ext uri="{FF2B5EF4-FFF2-40B4-BE49-F238E27FC236}">
                <a16:creationId xmlns:a16="http://schemas.microsoft.com/office/drawing/2014/main" id="{B56F6AFB-C491-4255-BEAD-ED366A6A08DC}"/>
              </a:ext>
            </a:extLst>
          </p:cNvPr>
          <p:cNvSpPr>
            <a:spLocks noGrp="1"/>
          </p:cNvSpPr>
          <p:nvPr>
            <p:ph type="body" sz="quarter" idx="15" hasCustomPrompt="1"/>
          </p:nvPr>
        </p:nvSpPr>
        <p:spPr>
          <a:xfrm>
            <a:off x="5683577" y="3165688"/>
            <a:ext cx="4727903" cy="466756"/>
          </a:xfrm>
          <a:prstGeom prst="rect">
            <a:avLst/>
          </a:prstGeom>
        </p:spPr>
        <p:txBody>
          <a:bodyPr/>
          <a:lstStyle>
            <a:lvl1pPr>
              <a:lnSpc>
                <a:spcPct val="80000"/>
              </a:lnSpc>
              <a:spcAft>
                <a:spcPts val="0"/>
              </a:spcAft>
              <a:defRPr sz="24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subtitle style</a:t>
            </a:r>
          </a:p>
        </p:txBody>
      </p:sp>
      <p:sp>
        <p:nvSpPr>
          <p:cNvPr id="4" name="Picture Placeholder 2">
            <a:extLst>
              <a:ext uri="{FF2B5EF4-FFF2-40B4-BE49-F238E27FC236}">
                <a16:creationId xmlns:a16="http://schemas.microsoft.com/office/drawing/2014/main" id="{30B82A15-2C6E-69D3-B787-949A464553E6}"/>
              </a:ext>
            </a:extLst>
          </p:cNvPr>
          <p:cNvSpPr>
            <a:spLocks noGrp="1"/>
          </p:cNvSpPr>
          <p:nvPr>
            <p:ph type="pic" sz="quarter" idx="13" hasCustomPrompt="1"/>
          </p:nvPr>
        </p:nvSpPr>
        <p:spPr>
          <a:xfrm>
            <a:off x="0"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cxnSp>
        <p:nvCxnSpPr>
          <p:cNvPr id="7" name="Conector recto 6">
            <a:extLst>
              <a:ext uri="{FF2B5EF4-FFF2-40B4-BE49-F238E27FC236}">
                <a16:creationId xmlns:a16="http://schemas.microsoft.com/office/drawing/2014/main" id="{4CF7FCF0-F776-C2C9-4803-DA8D43688946}"/>
              </a:ext>
            </a:extLst>
          </p:cNvPr>
          <p:cNvCxnSpPr>
            <a:cxnSpLocks/>
          </p:cNvCxnSpPr>
          <p:nvPr userDrawn="1"/>
        </p:nvCxnSpPr>
        <p:spPr>
          <a:xfrm>
            <a:off x="5683577" y="2913529"/>
            <a:ext cx="4631580"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58AAD7CE-DDD6-732E-B9F5-19087AF0D34E}"/>
              </a:ext>
            </a:extLst>
          </p:cNvPr>
          <p:cNvSpPr/>
          <p:nvPr userDrawn="1"/>
        </p:nvSpPr>
        <p:spPr>
          <a:xfrm>
            <a:off x="10406597" y="381000"/>
            <a:ext cx="1404402" cy="6247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1050"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Your logo here</a:t>
            </a:r>
          </a:p>
        </p:txBody>
      </p:sp>
      <p:sp>
        <p:nvSpPr>
          <p:cNvPr id="32" name="Rectangle 104">
            <a:extLst>
              <a:ext uri="{FF2B5EF4-FFF2-40B4-BE49-F238E27FC236}">
                <a16:creationId xmlns:a16="http://schemas.microsoft.com/office/drawing/2014/main" id="{FFE04BA0-A5F1-E5DE-52DC-63A51535E8A2}"/>
              </a:ext>
            </a:extLst>
          </p:cNvPr>
          <p:cNvSpPr/>
          <p:nvPr userDrawn="1"/>
        </p:nvSpPr>
        <p:spPr>
          <a:xfrm>
            <a:off x="5273072" y="1520826"/>
            <a:ext cx="159540" cy="1154074"/>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3821885991"/>
      </p:ext>
    </p:extLst>
  </p:cSld>
  <p:clrMapOvr>
    <a:masterClrMapping/>
  </p:clrMapOvr>
  <p:extLst>
    <p:ext uri="{DCECCB84-F9BA-43D5-87BE-67443E8EF086}">
      <p15:sldGuideLst xmlns:p15="http://schemas.microsoft.com/office/powerpoint/2012/main">
        <p15:guide id="1" pos="3386">
          <p15:clr>
            <a:srgbClr val="FBAE40"/>
          </p15:clr>
        </p15:guide>
        <p15:guide id="2" pos="3568">
          <p15:clr>
            <a:srgbClr val="FBAE40"/>
          </p15:clr>
        </p15:guide>
        <p15:guide id="3" pos="318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1305037196"/>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Footer Placeholder 5">
            <a:extLst>
              <a:ext uri="{FF2B5EF4-FFF2-40B4-BE49-F238E27FC236}">
                <a16:creationId xmlns:a16="http://schemas.microsoft.com/office/drawing/2014/main" id="{454F5C2C-AC0A-7D7F-CF6B-2E2F67252663}"/>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2609445056"/>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946528837"/>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8" name="Footer Placeholder 5">
            <a:extLst>
              <a:ext uri="{FF2B5EF4-FFF2-40B4-BE49-F238E27FC236}">
                <a16:creationId xmlns:a16="http://schemas.microsoft.com/office/drawing/2014/main" id="{F928C5C6-FF4B-B5D0-4EE6-2D88C88132CA}"/>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3597413618"/>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30820193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2" name="TextBox 24">
            <a:extLst>
              <a:ext uri="{FF2B5EF4-FFF2-40B4-BE49-F238E27FC236}">
                <a16:creationId xmlns:a16="http://schemas.microsoft.com/office/drawing/2014/main" id="{2E127877-A0ED-018C-7E13-AE841D1B1F94}"/>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2022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 name="TextBox 25">
            <a:extLst>
              <a:ext uri="{FF2B5EF4-FFF2-40B4-BE49-F238E27FC236}">
                <a16:creationId xmlns:a16="http://schemas.microsoft.com/office/drawing/2014/main" id="{2993AF93-5C4D-06E3-95C9-81B423340839}"/>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860379289"/>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212790736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82F1D4E8-3401-21C3-350F-261805FCFF01}"/>
              </a:ext>
            </a:extLst>
          </p:cNvPr>
          <p:cNvSpPr>
            <a:spLocks noGrp="1"/>
          </p:cNvSpPr>
          <p:nvPr>
            <p:ph type="pic" sz="quarter" idx="13" hasCustomPrompt="1"/>
          </p:nvPr>
        </p:nvSpPr>
        <p:spPr>
          <a:xfrm>
            <a:off x="6840071"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sp>
        <p:nvSpPr>
          <p:cNvPr id="11" name="TextBox 24">
            <a:extLst>
              <a:ext uri="{FF2B5EF4-FFF2-40B4-BE49-F238E27FC236}">
                <a16:creationId xmlns:a16="http://schemas.microsoft.com/office/drawing/2014/main" id="{DAB4AE32-26BB-8321-7EFA-E42B6212234A}"/>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2022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 name="TextBox 25">
            <a:extLst>
              <a:ext uri="{FF2B5EF4-FFF2-40B4-BE49-F238E27FC236}">
                <a16:creationId xmlns:a16="http://schemas.microsoft.com/office/drawing/2014/main" id="{D1BECB90-2EFE-871B-2CB3-E5569A79DFCE}"/>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Tree>
    <p:extLst>
      <p:ext uri="{BB962C8B-B14F-4D97-AF65-F5344CB8AC3E}">
        <p14:creationId xmlns:p14="http://schemas.microsoft.com/office/powerpoint/2010/main" val="4243718782"/>
      </p:ext>
    </p:extLst>
  </p:cSld>
  <p:clrMapOvr>
    <a:masterClrMapping/>
  </p:clrMapOvr>
  <p:extLst>
    <p:ext uri="{DCECCB84-F9BA-43D5-87BE-67443E8EF086}">
      <p15:sldGuideLst xmlns:p15="http://schemas.microsoft.com/office/powerpoint/2012/main">
        <p15:guide id="1" pos="4112">
          <p15:clr>
            <a:srgbClr val="FBAE40"/>
          </p15:clr>
        </p15:guide>
        <p15:guide id="2" pos="449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0_Cover">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9B4C446-2D8D-1D11-CD92-343462023C19}"/>
              </a:ext>
            </a:extLst>
          </p:cNvPr>
          <p:cNvGraphicFramePr>
            <a:graphicFrameLocks noChangeAspect="1"/>
          </p:cNvGraphicFramePr>
          <p:nvPr userDrawn="1">
            <p:custDataLst>
              <p:tags r:id="rId1"/>
            </p:custDataLst>
            <p:extLst>
              <p:ext uri="{D42A27DB-BD31-4B8C-83A1-F6EECF244321}">
                <p14:modId xmlns:p14="http://schemas.microsoft.com/office/powerpoint/2010/main" val="2326538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 name="Object 1" hidden="1">
                        <a:extLst>
                          <a:ext uri="{FF2B5EF4-FFF2-40B4-BE49-F238E27FC236}">
                            <a16:creationId xmlns:a16="http://schemas.microsoft.com/office/drawing/2014/main" id="{99B4C446-2D8D-1D11-CD92-343462023C1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Text Placeholder 8">
            <a:extLst>
              <a:ext uri="{FF2B5EF4-FFF2-40B4-BE49-F238E27FC236}">
                <a16:creationId xmlns:a16="http://schemas.microsoft.com/office/drawing/2014/main" id="{4697F97E-5ED0-44CE-8BF2-B61FF13412B3}"/>
              </a:ext>
            </a:extLst>
          </p:cNvPr>
          <p:cNvSpPr>
            <a:spLocks noGrp="1"/>
          </p:cNvSpPr>
          <p:nvPr>
            <p:ph type="body" sz="quarter" idx="14" hasCustomPrompt="1"/>
          </p:nvPr>
        </p:nvSpPr>
        <p:spPr>
          <a:xfrm>
            <a:off x="5678694" y="1520825"/>
            <a:ext cx="4727903" cy="1154074"/>
          </a:xfrm>
          <a:prstGeom prst="rect">
            <a:avLst/>
          </a:prstGeom>
        </p:spPr>
        <p:txBody>
          <a:bodyPr anchor="b"/>
          <a:lstStyle>
            <a:lvl1pPr algn="l">
              <a:lnSpc>
                <a:spcPct val="80000"/>
              </a:lnSpc>
              <a:spcBef>
                <a:spcPts val="0"/>
              </a:spcBef>
              <a:spcAft>
                <a:spcPts val="0"/>
              </a:spcAft>
              <a:defRPr sz="4400" b="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file</a:t>
            </a:r>
          </a:p>
        </p:txBody>
      </p:sp>
      <p:sp>
        <p:nvSpPr>
          <p:cNvPr id="29" name="Text Placeholder 6">
            <a:extLst>
              <a:ext uri="{FF2B5EF4-FFF2-40B4-BE49-F238E27FC236}">
                <a16:creationId xmlns:a16="http://schemas.microsoft.com/office/drawing/2014/main" id="{B56F6AFB-C491-4255-BEAD-ED366A6A08DC}"/>
              </a:ext>
            </a:extLst>
          </p:cNvPr>
          <p:cNvSpPr>
            <a:spLocks noGrp="1"/>
          </p:cNvSpPr>
          <p:nvPr>
            <p:ph type="body" sz="quarter" idx="15" hasCustomPrompt="1"/>
          </p:nvPr>
        </p:nvSpPr>
        <p:spPr>
          <a:xfrm>
            <a:off x="5683577" y="3165688"/>
            <a:ext cx="4727903" cy="466756"/>
          </a:xfrm>
          <a:prstGeom prst="rect">
            <a:avLst/>
          </a:prstGeom>
        </p:spPr>
        <p:txBody>
          <a:bodyPr/>
          <a:lstStyle>
            <a:lvl1pPr>
              <a:lnSpc>
                <a:spcPct val="80000"/>
              </a:lnSpc>
              <a:spcAft>
                <a:spcPts val="0"/>
              </a:spcAft>
              <a:defRPr sz="24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subtitle style</a:t>
            </a:r>
          </a:p>
        </p:txBody>
      </p:sp>
      <p:sp>
        <p:nvSpPr>
          <p:cNvPr id="4" name="Picture Placeholder 2">
            <a:extLst>
              <a:ext uri="{FF2B5EF4-FFF2-40B4-BE49-F238E27FC236}">
                <a16:creationId xmlns:a16="http://schemas.microsoft.com/office/drawing/2014/main" id="{30B82A15-2C6E-69D3-B787-949A464553E6}"/>
              </a:ext>
            </a:extLst>
          </p:cNvPr>
          <p:cNvSpPr>
            <a:spLocks noGrp="1"/>
          </p:cNvSpPr>
          <p:nvPr>
            <p:ph type="pic" sz="quarter" idx="13" hasCustomPrompt="1"/>
          </p:nvPr>
        </p:nvSpPr>
        <p:spPr>
          <a:xfrm>
            <a:off x="0"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cxnSp>
        <p:nvCxnSpPr>
          <p:cNvPr id="7" name="Conector recto 6">
            <a:extLst>
              <a:ext uri="{FF2B5EF4-FFF2-40B4-BE49-F238E27FC236}">
                <a16:creationId xmlns:a16="http://schemas.microsoft.com/office/drawing/2014/main" id="{4CF7FCF0-F776-C2C9-4803-DA8D43688946}"/>
              </a:ext>
            </a:extLst>
          </p:cNvPr>
          <p:cNvCxnSpPr>
            <a:cxnSpLocks/>
          </p:cNvCxnSpPr>
          <p:nvPr userDrawn="1"/>
        </p:nvCxnSpPr>
        <p:spPr>
          <a:xfrm>
            <a:off x="5683577" y="2913529"/>
            <a:ext cx="4631580"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58AAD7CE-DDD6-732E-B9F5-19087AF0D34E}"/>
              </a:ext>
            </a:extLst>
          </p:cNvPr>
          <p:cNvSpPr/>
          <p:nvPr userDrawn="1"/>
        </p:nvSpPr>
        <p:spPr>
          <a:xfrm>
            <a:off x="10406597" y="381000"/>
            <a:ext cx="1404402" cy="6247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1050"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Your logo here</a:t>
            </a:r>
          </a:p>
        </p:txBody>
      </p:sp>
      <p:sp>
        <p:nvSpPr>
          <p:cNvPr id="32" name="Rectangle 104">
            <a:extLst>
              <a:ext uri="{FF2B5EF4-FFF2-40B4-BE49-F238E27FC236}">
                <a16:creationId xmlns:a16="http://schemas.microsoft.com/office/drawing/2014/main" id="{FFE04BA0-A5F1-E5DE-52DC-63A51535E8A2}"/>
              </a:ext>
            </a:extLst>
          </p:cNvPr>
          <p:cNvSpPr/>
          <p:nvPr userDrawn="1"/>
        </p:nvSpPr>
        <p:spPr>
          <a:xfrm>
            <a:off x="5273072" y="1520826"/>
            <a:ext cx="159540" cy="1154074"/>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964120866"/>
      </p:ext>
    </p:extLst>
  </p:cSld>
  <p:clrMapOvr>
    <a:masterClrMapping/>
  </p:clrMapOvr>
  <p:extLst>
    <p:ext uri="{DCECCB84-F9BA-43D5-87BE-67443E8EF086}">
      <p15:sldGuideLst xmlns:p15="http://schemas.microsoft.com/office/powerpoint/2012/main">
        <p15:guide id="1" pos="3386">
          <p15:clr>
            <a:srgbClr val="FBAE40"/>
          </p15:clr>
        </p15:guide>
        <p15:guide id="2" pos="3568">
          <p15:clr>
            <a:srgbClr val="FBAE40"/>
          </p15:clr>
        </p15:guide>
        <p15:guide id="3" pos="318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1305037196"/>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Footer Placeholder 5">
            <a:extLst>
              <a:ext uri="{FF2B5EF4-FFF2-40B4-BE49-F238E27FC236}">
                <a16:creationId xmlns:a16="http://schemas.microsoft.com/office/drawing/2014/main" id="{454F5C2C-AC0A-7D7F-CF6B-2E2F67252663}"/>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2710582657"/>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946528837"/>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8" name="Footer Placeholder 5">
            <a:extLst>
              <a:ext uri="{FF2B5EF4-FFF2-40B4-BE49-F238E27FC236}">
                <a16:creationId xmlns:a16="http://schemas.microsoft.com/office/drawing/2014/main" id="{F928C5C6-FF4B-B5D0-4EE6-2D88C88132CA}"/>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3644423031"/>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30820193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2" name="TextBox 24">
            <a:extLst>
              <a:ext uri="{FF2B5EF4-FFF2-40B4-BE49-F238E27FC236}">
                <a16:creationId xmlns:a16="http://schemas.microsoft.com/office/drawing/2014/main" id="{2E127877-A0ED-018C-7E13-AE841D1B1F94}"/>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2022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 name="TextBox 25">
            <a:extLst>
              <a:ext uri="{FF2B5EF4-FFF2-40B4-BE49-F238E27FC236}">
                <a16:creationId xmlns:a16="http://schemas.microsoft.com/office/drawing/2014/main" id="{2993AF93-5C4D-06E3-95C9-81B423340839}"/>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935819915"/>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212790736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82F1D4E8-3401-21C3-350F-261805FCFF01}"/>
              </a:ext>
            </a:extLst>
          </p:cNvPr>
          <p:cNvSpPr>
            <a:spLocks noGrp="1"/>
          </p:cNvSpPr>
          <p:nvPr>
            <p:ph type="pic" sz="quarter" idx="13" hasCustomPrompt="1"/>
          </p:nvPr>
        </p:nvSpPr>
        <p:spPr>
          <a:xfrm>
            <a:off x="6840071"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sp>
        <p:nvSpPr>
          <p:cNvPr id="11" name="TextBox 24">
            <a:extLst>
              <a:ext uri="{FF2B5EF4-FFF2-40B4-BE49-F238E27FC236}">
                <a16:creationId xmlns:a16="http://schemas.microsoft.com/office/drawing/2014/main" id="{DAB4AE32-26BB-8321-7EFA-E42B6212234A}"/>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2022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 name="TextBox 25">
            <a:extLst>
              <a:ext uri="{FF2B5EF4-FFF2-40B4-BE49-F238E27FC236}">
                <a16:creationId xmlns:a16="http://schemas.microsoft.com/office/drawing/2014/main" id="{D1BECB90-2EFE-871B-2CB3-E5569A79DFCE}"/>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4" name="TextBox 3">
            <a:extLst>
              <a:ext uri="{FF2B5EF4-FFF2-40B4-BE49-F238E27FC236}">
                <a16:creationId xmlns:a16="http://schemas.microsoft.com/office/drawing/2014/main" id="{252FAE49-088F-44A2-C83B-4DBCA226A586}"/>
              </a:ext>
            </a:extLst>
          </p:cNvPr>
          <p:cNvSpPr txBox="1"/>
          <p:nvPr userDrawn="1"/>
        </p:nvSpPr>
        <p:spPr>
          <a:xfrm>
            <a:off x="361507" y="6645349"/>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7" name="TextBox 6">
            <a:extLst>
              <a:ext uri="{FF2B5EF4-FFF2-40B4-BE49-F238E27FC236}">
                <a16:creationId xmlns:a16="http://schemas.microsoft.com/office/drawing/2014/main" id="{52B1B379-C23B-A6C6-C4FE-18BD149C088B}"/>
              </a:ext>
            </a:extLst>
          </p:cNvPr>
          <p:cNvSpPr txBox="1"/>
          <p:nvPr userDrawn="1"/>
        </p:nvSpPr>
        <p:spPr>
          <a:xfrm>
            <a:off x="701749" y="6592186"/>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8" name="TextBox 7">
            <a:extLst>
              <a:ext uri="{FF2B5EF4-FFF2-40B4-BE49-F238E27FC236}">
                <a16:creationId xmlns:a16="http://schemas.microsoft.com/office/drawing/2014/main" id="{064561A1-DD0A-A0F8-6A34-7EF20FC0C33D}"/>
              </a:ext>
            </a:extLst>
          </p:cNvPr>
          <p:cNvSpPr txBox="1"/>
          <p:nvPr userDrawn="1"/>
        </p:nvSpPr>
        <p:spPr>
          <a:xfrm>
            <a:off x="808074" y="6613451"/>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9" name="TextBox 8">
            <a:extLst>
              <a:ext uri="{FF2B5EF4-FFF2-40B4-BE49-F238E27FC236}">
                <a16:creationId xmlns:a16="http://schemas.microsoft.com/office/drawing/2014/main" id="{65485A41-0226-EB8B-B28A-9FC0E93DE289}"/>
              </a:ext>
            </a:extLst>
          </p:cNvPr>
          <p:cNvSpPr txBox="1"/>
          <p:nvPr userDrawn="1"/>
        </p:nvSpPr>
        <p:spPr>
          <a:xfrm>
            <a:off x="1244009" y="6624084"/>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3729529023"/>
      </p:ext>
    </p:extLst>
  </p:cSld>
  <p:clrMapOvr>
    <a:masterClrMapping/>
  </p:clrMapOvr>
  <p:extLst>
    <p:ext uri="{DCECCB84-F9BA-43D5-87BE-67443E8EF086}">
      <p15:sldGuideLst xmlns:p15="http://schemas.microsoft.com/office/powerpoint/2012/main">
        <p15:guide id="1" pos="4112">
          <p15:clr>
            <a:srgbClr val="FBAE40"/>
          </p15:clr>
        </p15:guide>
        <p15:guide id="2" pos="449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0_Cover">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9B4C446-2D8D-1D11-CD92-343462023C19}"/>
              </a:ext>
            </a:extLst>
          </p:cNvPr>
          <p:cNvGraphicFramePr>
            <a:graphicFrameLocks noChangeAspect="1"/>
          </p:cNvGraphicFramePr>
          <p:nvPr userDrawn="1">
            <p:custDataLst>
              <p:tags r:id="rId1"/>
            </p:custDataLst>
            <p:extLst>
              <p:ext uri="{D42A27DB-BD31-4B8C-83A1-F6EECF244321}">
                <p14:modId xmlns:p14="http://schemas.microsoft.com/office/powerpoint/2010/main" val="2326538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3" imgW="7772400" imgH="10058400" progId="TCLayout.ActiveDocument.1">
                  <p:embed/>
                </p:oleObj>
              </mc:Choice>
              <mc:Fallback>
                <p:oleObj name="Diapositiva de think-cell" r:id="rId3" imgW="7772400" imgH="10058400" progId="TCLayout.ActiveDocument.1">
                  <p:embed/>
                  <p:pic>
                    <p:nvPicPr>
                      <p:cNvPr id="2" name="Object 1" hidden="1">
                        <a:extLst>
                          <a:ext uri="{FF2B5EF4-FFF2-40B4-BE49-F238E27FC236}">
                            <a16:creationId xmlns:a16="http://schemas.microsoft.com/office/drawing/2014/main" id="{99B4C446-2D8D-1D11-CD92-343462023C1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Text Placeholder 8">
            <a:extLst>
              <a:ext uri="{FF2B5EF4-FFF2-40B4-BE49-F238E27FC236}">
                <a16:creationId xmlns:a16="http://schemas.microsoft.com/office/drawing/2014/main" id="{4697F97E-5ED0-44CE-8BF2-B61FF13412B3}"/>
              </a:ext>
            </a:extLst>
          </p:cNvPr>
          <p:cNvSpPr>
            <a:spLocks noGrp="1"/>
          </p:cNvSpPr>
          <p:nvPr>
            <p:ph type="body" sz="quarter" idx="14" hasCustomPrompt="1"/>
          </p:nvPr>
        </p:nvSpPr>
        <p:spPr>
          <a:xfrm>
            <a:off x="5678694" y="1520825"/>
            <a:ext cx="4727903" cy="1154074"/>
          </a:xfrm>
          <a:prstGeom prst="rect">
            <a:avLst/>
          </a:prstGeom>
        </p:spPr>
        <p:txBody>
          <a:bodyPr anchor="b"/>
          <a:lstStyle>
            <a:lvl1pPr algn="l">
              <a:lnSpc>
                <a:spcPct val="80000"/>
              </a:lnSpc>
              <a:spcBef>
                <a:spcPts val="0"/>
              </a:spcBef>
              <a:spcAft>
                <a:spcPts val="0"/>
              </a:spcAft>
              <a:defRPr sz="4400" b="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file</a:t>
            </a:r>
          </a:p>
        </p:txBody>
      </p:sp>
      <p:sp>
        <p:nvSpPr>
          <p:cNvPr id="29" name="Text Placeholder 6">
            <a:extLst>
              <a:ext uri="{FF2B5EF4-FFF2-40B4-BE49-F238E27FC236}">
                <a16:creationId xmlns:a16="http://schemas.microsoft.com/office/drawing/2014/main" id="{B56F6AFB-C491-4255-BEAD-ED366A6A08DC}"/>
              </a:ext>
            </a:extLst>
          </p:cNvPr>
          <p:cNvSpPr>
            <a:spLocks noGrp="1"/>
          </p:cNvSpPr>
          <p:nvPr>
            <p:ph type="body" sz="quarter" idx="15" hasCustomPrompt="1"/>
          </p:nvPr>
        </p:nvSpPr>
        <p:spPr>
          <a:xfrm>
            <a:off x="5683577" y="3165688"/>
            <a:ext cx="4727903" cy="466756"/>
          </a:xfrm>
          <a:prstGeom prst="rect">
            <a:avLst/>
          </a:prstGeom>
        </p:spPr>
        <p:txBody>
          <a:bodyPr/>
          <a:lstStyle>
            <a:lvl1pPr>
              <a:lnSpc>
                <a:spcPct val="80000"/>
              </a:lnSpc>
              <a:spcAft>
                <a:spcPts val="0"/>
              </a:spcAft>
              <a:defRPr sz="24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subtitle style</a:t>
            </a:r>
          </a:p>
        </p:txBody>
      </p:sp>
      <p:sp>
        <p:nvSpPr>
          <p:cNvPr id="4" name="Picture Placeholder 2">
            <a:extLst>
              <a:ext uri="{FF2B5EF4-FFF2-40B4-BE49-F238E27FC236}">
                <a16:creationId xmlns:a16="http://schemas.microsoft.com/office/drawing/2014/main" id="{30B82A15-2C6E-69D3-B787-949A464553E6}"/>
              </a:ext>
            </a:extLst>
          </p:cNvPr>
          <p:cNvSpPr>
            <a:spLocks noGrp="1"/>
          </p:cNvSpPr>
          <p:nvPr>
            <p:ph type="pic" sz="quarter" idx="13" hasCustomPrompt="1"/>
          </p:nvPr>
        </p:nvSpPr>
        <p:spPr>
          <a:xfrm>
            <a:off x="0"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cxnSp>
        <p:nvCxnSpPr>
          <p:cNvPr id="7" name="Conector recto 6">
            <a:extLst>
              <a:ext uri="{FF2B5EF4-FFF2-40B4-BE49-F238E27FC236}">
                <a16:creationId xmlns:a16="http://schemas.microsoft.com/office/drawing/2014/main" id="{4CF7FCF0-F776-C2C9-4803-DA8D43688946}"/>
              </a:ext>
            </a:extLst>
          </p:cNvPr>
          <p:cNvCxnSpPr>
            <a:cxnSpLocks/>
          </p:cNvCxnSpPr>
          <p:nvPr userDrawn="1"/>
        </p:nvCxnSpPr>
        <p:spPr>
          <a:xfrm>
            <a:off x="5683577" y="2913529"/>
            <a:ext cx="4631580"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32" name="Rectangle 104">
            <a:extLst>
              <a:ext uri="{FF2B5EF4-FFF2-40B4-BE49-F238E27FC236}">
                <a16:creationId xmlns:a16="http://schemas.microsoft.com/office/drawing/2014/main" id="{FFE04BA0-A5F1-E5DE-52DC-63A51535E8A2}"/>
              </a:ext>
            </a:extLst>
          </p:cNvPr>
          <p:cNvSpPr/>
          <p:nvPr userDrawn="1"/>
        </p:nvSpPr>
        <p:spPr>
          <a:xfrm>
            <a:off x="5273072" y="1520826"/>
            <a:ext cx="159540" cy="1154074"/>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3008599972"/>
      </p:ext>
    </p:extLst>
  </p:cSld>
  <p:clrMapOvr>
    <a:masterClrMapping/>
  </p:clrMapOvr>
  <p:extLst>
    <p:ext uri="{DCECCB84-F9BA-43D5-87BE-67443E8EF086}">
      <p15:sldGuideLst xmlns:p15="http://schemas.microsoft.com/office/powerpoint/2012/main">
        <p15:guide id="1" pos="3386">
          <p15:clr>
            <a:srgbClr val="FBAE40"/>
          </p15:clr>
        </p15:guide>
        <p15:guide id="2" pos="3568">
          <p15:clr>
            <a:srgbClr val="FBAE40"/>
          </p15:clr>
        </p15:guide>
        <p15:guide id="3" pos="318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1305037196"/>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2" name="Footer Placeholder 5">
            <a:extLst>
              <a:ext uri="{FF2B5EF4-FFF2-40B4-BE49-F238E27FC236}">
                <a16:creationId xmlns:a16="http://schemas.microsoft.com/office/drawing/2014/main" id="{0AE24EED-ECF9-F8B6-E75D-D641EDC0DA15}"/>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dirty="0"/>
              <a:t>Source:_______</a:t>
            </a:r>
          </a:p>
        </p:txBody>
      </p:sp>
    </p:spTree>
    <p:extLst>
      <p:ext uri="{BB962C8B-B14F-4D97-AF65-F5344CB8AC3E}">
        <p14:creationId xmlns:p14="http://schemas.microsoft.com/office/powerpoint/2010/main" val="4241744058"/>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OK_Overview">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466269002"/>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19" name="Marcador de texto 6">
            <a:extLst>
              <a:ext uri="{FF2B5EF4-FFF2-40B4-BE49-F238E27FC236}">
                <a16:creationId xmlns:a16="http://schemas.microsoft.com/office/drawing/2014/main" id="{62B3CFBF-B477-C879-85F6-43142EC5078F}"/>
              </a:ext>
            </a:extLst>
          </p:cNvPr>
          <p:cNvSpPr>
            <a:spLocks noGrp="1"/>
          </p:cNvSpPr>
          <p:nvPr>
            <p:ph type="body" sz="quarter" idx="18"/>
          </p:nvPr>
        </p:nvSpPr>
        <p:spPr>
          <a:xfrm>
            <a:off x="2206668" y="1155517"/>
            <a:ext cx="9613857" cy="576263"/>
          </a:xfrm>
          <a:noFill/>
        </p:spPr>
        <p:txBody>
          <a:bodyPr anchor="t">
            <a:noAutofit/>
          </a:bodyPr>
          <a:lstStyle>
            <a:lvl1pPr marL="177800" indent="-177800" rtl="0">
              <a:lnSpc>
                <a:spcPct val="100000"/>
              </a:lnSpc>
              <a:spcBef>
                <a:spcPts val="300"/>
              </a:spcBef>
              <a:spcAft>
                <a:spcPts val="0"/>
              </a:spcAft>
              <a:buFont typeface="Arial" panose="020B0604020202020204" pitchFamily="34" charset="0"/>
              <a:buChar char="•"/>
              <a:defRPr sz="1100" b="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endParaRPr lang="en-US" noProof="0" dirty="0"/>
          </a:p>
        </p:txBody>
      </p:sp>
      <p:sp>
        <p:nvSpPr>
          <p:cNvPr id="20" name="Marcador de texto 6">
            <a:extLst>
              <a:ext uri="{FF2B5EF4-FFF2-40B4-BE49-F238E27FC236}">
                <a16:creationId xmlns:a16="http://schemas.microsoft.com/office/drawing/2014/main" id="{345760BB-AE6A-F937-F9DE-DC9B2817D30F}"/>
              </a:ext>
            </a:extLst>
          </p:cNvPr>
          <p:cNvSpPr>
            <a:spLocks noGrp="1"/>
          </p:cNvSpPr>
          <p:nvPr>
            <p:ph type="body" sz="quarter" idx="19"/>
          </p:nvPr>
        </p:nvSpPr>
        <p:spPr>
          <a:xfrm>
            <a:off x="2206668" y="1828800"/>
            <a:ext cx="9613857" cy="2303273"/>
          </a:xfrm>
          <a:noFill/>
        </p:spPr>
        <p:txBody>
          <a:bodyPr anchor="t">
            <a:noAutofit/>
          </a:bodyPr>
          <a:lstStyle>
            <a:lvl1pPr marL="177800" indent="-177800" rtl="0">
              <a:lnSpc>
                <a:spcPct val="100000"/>
              </a:lnSpc>
              <a:spcBef>
                <a:spcPts val="400"/>
              </a:spcBef>
              <a:spcAft>
                <a:spcPts val="0"/>
              </a:spcAft>
              <a:buFont typeface="Arial" panose="020B0604020202020204" pitchFamily="34" charset="0"/>
              <a:buChar char="•"/>
              <a:defRPr sz="1100" b="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endParaRPr lang="en-US" noProof="0" dirty="0"/>
          </a:p>
        </p:txBody>
      </p:sp>
      <p:sp>
        <p:nvSpPr>
          <p:cNvPr id="21" name="Marcador de texto 6">
            <a:extLst>
              <a:ext uri="{FF2B5EF4-FFF2-40B4-BE49-F238E27FC236}">
                <a16:creationId xmlns:a16="http://schemas.microsoft.com/office/drawing/2014/main" id="{AEC3F4F3-98C1-FF87-F1A5-C0B0D17FA25C}"/>
              </a:ext>
            </a:extLst>
          </p:cNvPr>
          <p:cNvSpPr>
            <a:spLocks noGrp="1"/>
          </p:cNvSpPr>
          <p:nvPr>
            <p:ph type="body" sz="quarter" idx="20"/>
          </p:nvPr>
        </p:nvSpPr>
        <p:spPr>
          <a:xfrm>
            <a:off x="2206668" y="4229093"/>
            <a:ext cx="9613857" cy="2079633"/>
          </a:xfrm>
          <a:noFill/>
        </p:spPr>
        <p:txBody>
          <a:bodyPr anchor="t">
            <a:noAutofit/>
          </a:bodyPr>
          <a:lstStyle>
            <a:lvl1pPr marL="228600" indent="-228600" rtl="0">
              <a:lnSpc>
                <a:spcPct val="100000"/>
              </a:lnSpc>
              <a:spcBef>
                <a:spcPts val="400"/>
              </a:spcBef>
              <a:spcAft>
                <a:spcPts val="0"/>
              </a:spcAft>
              <a:buFont typeface="+mj-lt"/>
              <a:buAutoNum type="arabicPeriod"/>
              <a:defRPr sz="1100" b="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endParaRPr lang="en-US" noProof="0" dirty="0"/>
          </a:p>
        </p:txBody>
      </p:sp>
      <p:cxnSp>
        <p:nvCxnSpPr>
          <p:cNvPr id="29" name="Conector recto 28">
            <a:extLst>
              <a:ext uri="{FF2B5EF4-FFF2-40B4-BE49-F238E27FC236}">
                <a16:creationId xmlns:a16="http://schemas.microsoft.com/office/drawing/2014/main" id="{69B569BB-D93E-8F15-6289-B701708214ED}"/>
              </a:ext>
            </a:extLst>
          </p:cNvPr>
          <p:cNvCxnSpPr>
            <a:cxnSpLocks/>
          </p:cNvCxnSpPr>
          <p:nvPr userDrawn="1"/>
        </p:nvCxnSpPr>
        <p:spPr>
          <a:xfrm>
            <a:off x="2076866" y="1828801"/>
            <a:ext cx="0" cy="2303272"/>
          </a:xfrm>
          <a:prstGeom prst="line">
            <a:avLst/>
          </a:prstGeom>
          <a:noFill/>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80725077-4B52-A681-D149-28C5E4F94642}"/>
              </a:ext>
            </a:extLst>
          </p:cNvPr>
          <p:cNvCxnSpPr>
            <a:cxnSpLocks/>
          </p:cNvCxnSpPr>
          <p:nvPr userDrawn="1"/>
        </p:nvCxnSpPr>
        <p:spPr>
          <a:xfrm>
            <a:off x="2076866" y="1155517"/>
            <a:ext cx="0" cy="57626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6399A42A-92BD-B986-0200-8F47A675AA53}"/>
              </a:ext>
            </a:extLst>
          </p:cNvPr>
          <p:cNvCxnSpPr>
            <a:cxnSpLocks/>
          </p:cNvCxnSpPr>
          <p:nvPr userDrawn="1"/>
        </p:nvCxnSpPr>
        <p:spPr>
          <a:xfrm>
            <a:off x="2076866" y="4229093"/>
            <a:ext cx="0" cy="2079632"/>
          </a:xfrm>
          <a:prstGeom prst="line">
            <a:avLst/>
          </a:prstGeom>
          <a:noFill/>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34">
            <a:extLst>
              <a:ext uri="{FF2B5EF4-FFF2-40B4-BE49-F238E27FC236}">
                <a16:creationId xmlns:a16="http://schemas.microsoft.com/office/drawing/2014/main" id="{07CD13FB-D375-1568-F3D3-03A729ADB40F}"/>
              </a:ext>
            </a:extLst>
          </p:cNvPr>
          <p:cNvCxnSpPr>
            <a:cxnSpLocks/>
          </p:cNvCxnSpPr>
          <p:nvPr userDrawn="1"/>
        </p:nvCxnSpPr>
        <p:spPr>
          <a:xfrm>
            <a:off x="2190792" y="1780291"/>
            <a:ext cx="9613857"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4">
            <a:extLst>
              <a:ext uri="{FF2B5EF4-FFF2-40B4-BE49-F238E27FC236}">
                <a16:creationId xmlns:a16="http://schemas.microsoft.com/office/drawing/2014/main" id="{E4D939DB-C39C-EA41-B6B7-B1AC3902997A}"/>
              </a:ext>
            </a:extLst>
          </p:cNvPr>
          <p:cNvCxnSpPr>
            <a:cxnSpLocks/>
          </p:cNvCxnSpPr>
          <p:nvPr userDrawn="1"/>
        </p:nvCxnSpPr>
        <p:spPr>
          <a:xfrm>
            <a:off x="2190792" y="4180583"/>
            <a:ext cx="9613857"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Marcador de texto 4">
            <a:extLst>
              <a:ext uri="{FF2B5EF4-FFF2-40B4-BE49-F238E27FC236}">
                <a16:creationId xmlns:a16="http://schemas.microsoft.com/office/drawing/2014/main" id="{B2D9DE78-F741-787A-49F3-BF22745466FA}"/>
              </a:ext>
            </a:extLst>
          </p:cNvPr>
          <p:cNvSpPr txBox="1">
            <a:spLocks/>
          </p:cNvSpPr>
          <p:nvPr userDrawn="1"/>
        </p:nvSpPr>
        <p:spPr>
          <a:xfrm>
            <a:off x="384174" y="1155517"/>
            <a:ext cx="1668515" cy="276999"/>
          </a:xfrm>
          <a:prstGeom prst="rect">
            <a:avLst/>
          </a:prstGeom>
          <a:noFill/>
        </p:spPr>
        <p:txBody>
          <a:bodyPr vert="horz" lIns="0" tIns="0" rIns="0" bIns="0" rtlCol="0">
            <a:sp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r>
              <a:rPr lang="en-US">
                <a:solidFill>
                  <a:schemeClr val="tx2"/>
                </a:solidFill>
              </a:rPr>
              <a:t>Source</a:t>
            </a:r>
            <a:endParaRPr lang="en-US" dirty="0">
              <a:solidFill>
                <a:schemeClr val="tx2"/>
              </a:solidFill>
            </a:endParaRPr>
          </a:p>
        </p:txBody>
      </p:sp>
      <p:sp>
        <p:nvSpPr>
          <p:cNvPr id="10" name="Marcador de texto 5">
            <a:extLst>
              <a:ext uri="{FF2B5EF4-FFF2-40B4-BE49-F238E27FC236}">
                <a16:creationId xmlns:a16="http://schemas.microsoft.com/office/drawing/2014/main" id="{B6BE5206-1BCC-6773-0F2E-38F809D3E89F}"/>
              </a:ext>
            </a:extLst>
          </p:cNvPr>
          <p:cNvSpPr txBox="1">
            <a:spLocks/>
          </p:cNvSpPr>
          <p:nvPr userDrawn="1"/>
        </p:nvSpPr>
        <p:spPr>
          <a:xfrm>
            <a:off x="384174" y="1828801"/>
            <a:ext cx="1668515" cy="276999"/>
          </a:xfrm>
          <a:prstGeom prst="rect">
            <a:avLst/>
          </a:prstGeom>
          <a:noFill/>
        </p:spPr>
        <p:txBody>
          <a:bodyPr vert="horz" lIns="0" tIns="0" rIns="0" bIns="0" rtlCol="0">
            <a:sp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r>
              <a:rPr lang="en-US" dirty="0">
                <a:solidFill>
                  <a:schemeClr val="tx2"/>
                </a:solidFill>
              </a:rPr>
              <a:t>Description</a:t>
            </a:r>
          </a:p>
        </p:txBody>
      </p:sp>
      <p:sp>
        <p:nvSpPr>
          <p:cNvPr id="11" name="Marcador de texto 6">
            <a:extLst>
              <a:ext uri="{FF2B5EF4-FFF2-40B4-BE49-F238E27FC236}">
                <a16:creationId xmlns:a16="http://schemas.microsoft.com/office/drawing/2014/main" id="{4A133DFF-FE4F-E1F0-64DA-9D495A8D0937}"/>
              </a:ext>
            </a:extLst>
          </p:cNvPr>
          <p:cNvSpPr txBox="1">
            <a:spLocks/>
          </p:cNvSpPr>
          <p:nvPr userDrawn="1"/>
        </p:nvSpPr>
        <p:spPr>
          <a:xfrm>
            <a:off x="384174" y="4229093"/>
            <a:ext cx="1668515" cy="276999"/>
          </a:xfrm>
          <a:prstGeom prst="rect">
            <a:avLst/>
          </a:prstGeom>
          <a:noFill/>
        </p:spPr>
        <p:txBody>
          <a:bodyPr vert="horz" lIns="0" tIns="0" rIns="0" bIns="0" rtlCol="0">
            <a:sp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r>
              <a:rPr lang="en-US" dirty="0">
                <a:solidFill>
                  <a:schemeClr val="tx2"/>
                </a:solidFill>
              </a:rPr>
              <a:t>Application</a:t>
            </a:r>
          </a:p>
        </p:txBody>
      </p:sp>
      <p:sp>
        <p:nvSpPr>
          <p:cNvPr id="24" name="Footer Placeholder 5">
            <a:extLst>
              <a:ext uri="{FF2B5EF4-FFF2-40B4-BE49-F238E27FC236}">
                <a16:creationId xmlns:a16="http://schemas.microsoft.com/office/drawing/2014/main" id="{34765EEC-B451-0A1E-0D1B-F8C701B60698}"/>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dirty="0"/>
              <a:t>Source:_______</a:t>
            </a:r>
          </a:p>
        </p:txBody>
      </p:sp>
    </p:spTree>
    <p:extLst>
      <p:ext uri="{BB962C8B-B14F-4D97-AF65-F5344CB8AC3E}">
        <p14:creationId xmlns:p14="http://schemas.microsoft.com/office/powerpoint/2010/main" val="1084821729"/>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946528837"/>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9" name="TextBox 8">
            <a:extLst>
              <a:ext uri="{FF2B5EF4-FFF2-40B4-BE49-F238E27FC236}">
                <a16:creationId xmlns:a16="http://schemas.microsoft.com/office/drawing/2014/main" id="{FAB07795-2FF5-56AA-0106-E7591702D28C}"/>
              </a:ext>
            </a:extLst>
          </p:cNvPr>
          <p:cNvSpPr txBox="1"/>
          <p:nvPr userDrawn="1"/>
        </p:nvSpPr>
        <p:spPr>
          <a:xfrm>
            <a:off x="1058779" y="6641432"/>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11" name="TextBox 10">
            <a:extLst>
              <a:ext uri="{FF2B5EF4-FFF2-40B4-BE49-F238E27FC236}">
                <a16:creationId xmlns:a16="http://schemas.microsoft.com/office/drawing/2014/main" id="{0CEDCA57-2639-3EF3-4B72-5A995CB0489C}"/>
              </a:ext>
            </a:extLst>
          </p:cNvPr>
          <p:cNvSpPr txBox="1"/>
          <p:nvPr userDrawn="1"/>
        </p:nvSpPr>
        <p:spPr>
          <a:xfrm>
            <a:off x="1379621" y="6609347"/>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Footer Placeholder 5">
            <a:extLst>
              <a:ext uri="{FF2B5EF4-FFF2-40B4-BE49-F238E27FC236}">
                <a16:creationId xmlns:a16="http://schemas.microsoft.com/office/drawing/2014/main" id="{792876C3-6BF8-879A-73D9-3D7064466168}"/>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dirty="0"/>
              <a:t>Source:_______</a:t>
            </a:r>
          </a:p>
        </p:txBody>
      </p:sp>
    </p:spTree>
    <p:extLst>
      <p:ext uri="{BB962C8B-B14F-4D97-AF65-F5344CB8AC3E}">
        <p14:creationId xmlns:p14="http://schemas.microsoft.com/office/powerpoint/2010/main" val="433943804"/>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30820193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2" name="TextBox 24">
            <a:extLst>
              <a:ext uri="{FF2B5EF4-FFF2-40B4-BE49-F238E27FC236}">
                <a16:creationId xmlns:a16="http://schemas.microsoft.com/office/drawing/2014/main" id="{2E127877-A0ED-018C-7E13-AE841D1B1F94}"/>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2023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 name="TextBox 25">
            <a:extLst>
              <a:ext uri="{FF2B5EF4-FFF2-40B4-BE49-F238E27FC236}">
                <a16:creationId xmlns:a16="http://schemas.microsoft.com/office/drawing/2014/main" id="{2993AF93-5C4D-06E3-95C9-81B423340839}"/>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pic>
        <p:nvPicPr>
          <p:cNvPr id="9" name="Picture 2" descr="Umbrex Consulting: Independent Management Consultants">
            <a:extLst>
              <a:ext uri="{FF2B5EF4-FFF2-40B4-BE49-F238E27FC236}">
                <a16:creationId xmlns:a16="http://schemas.microsoft.com/office/drawing/2014/main" id="{9F8C4C24-CBAB-25CB-D287-91B9D9AA27E5}"/>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71475" y="6467475"/>
            <a:ext cx="1008505" cy="285012"/>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5308254"/>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212790736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82F1D4E8-3401-21C3-350F-261805FCFF01}"/>
              </a:ext>
            </a:extLst>
          </p:cNvPr>
          <p:cNvSpPr>
            <a:spLocks noGrp="1"/>
          </p:cNvSpPr>
          <p:nvPr>
            <p:ph type="pic" sz="quarter" idx="13" hasCustomPrompt="1"/>
          </p:nvPr>
        </p:nvSpPr>
        <p:spPr>
          <a:xfrm>
            <a:off x="6840071"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sp>
        <p:nvSpPr>
          <p:cNvPr id="11" name="TextBox 24">
            <a:extLst>
              <a:ext uri="{FF2B5EF4-FFF2-40B4-BE49-F238E27FC236}">
                <a16:creationId xmlns:a16="http://schemas.microsoft.com/office/drawing/2014/main" id="{DAB4AE32-26BB-8321-7EFA-E42B6212234A}"/>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2023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 name="TextBox 25">
            <a:extLst>
              <a:ext uri="{FF2B5EF4-FFF2-40B4-BE49-F238E27FC236}">
                <a16:creationId xmlns:a16="http://schemas.microsoft.com/office/drawing/2014/main" id="{D1BECB90-2EFE-871B-2CB3-E5569A79DFCE}"/>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4" name="Rectángulo 3">
            <a:extLst>
              <a:ext uri="{FF2B5EF4-FFF2-40B4-BE49-F238E27FC236}">
                <a16:creationId xmlns:a16="http://schemas.microsoft.com/office/drawing/2014/main" id="{B822DFBA-5DF6-4A6B-CFEA-E177E759768F}"/>
              </a:ext>
            </a:extLst>
          </p:cNvPr>
          <p:cNvSpPr/>
          <p:nvPr userDrawn="1"/>
        </p:nvSpPr>
        <p:spPr>
          <a:xfrm>
            <a:off x="381001" y="6448425"/>
            <a:ext cx="1016793" cy="303439"/>
          </a:xfrm>
          <a:prstGeom prst="rect">
            <a:avLst/>
          </a:prstGeom>
          <a:solidFill>
            <a:srgbClr val="121E6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pic>
        <p:nvPicPr>
          <p:cNvPr id="7" name="Picture 2" descr="Umbrex Consulting: Independent Management Consultants">
            <a:extLst>
              <a:ext uri="{FF2B5EF4-FFF2-40B4-BE49-F238E27FC236}">
                <a16:creationId xmlns:a16="http://schemas.microsoft.com/office/drawing/2014/main" id="{728EF91A-88AB-A4F3-4E3B-11123CB487A9}"/>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71475" y="6467475"/>
            <a:ext cx="1008505" cy="285012"/>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717800"/>
      </p:ext>
    </p:extLst>
  </p:cSld>
  <p:clrMapOvr>
    <a:masterClrMapping/>
  </p:clrMapOvr>
  <p:extLst>
    <p:ext uri="{DCECCB84-F9BA-43D5-87BE-67443E8EF086}">
      <p15:sldGuideLst xmlns:p15="http://schemas.microsoft.com/office/powerpoint/2012/main">
        <p15:guide id="1" pos="4112">
          <p15:clr>
            <a:srgbClr val="FBAE40"/>
          </p15:clr>
        </p15:guide>
        <p15:guide id="2" pos="449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slideLayout" Target="../slideLayouts/slideLayout8.xml"/><Relationship Id="rId7" Type="http://schemas.openxmlformats.org/officeDocument/2006/relationships/tags" Target="../tags/tag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slideLayout" Target="../slideLayouts/slideLayout13.xml"/><Relationship Id="rId7" Type="http://schemas.openxmlformats.org/officeDocument/2006/relationships/tags" Target="../tags/tag14.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10" Type="http://schemas.openxmlformats.org/officeDocument/2006/relationships/image" Target="../media/image4.png"/><Relationship Id="rId4" Type="http://schemas.openxmlformats.org/officeDocument/2006/relationships/slideLayout" Target="../slideLayouts/slideLayout14.xml"/><Relationship Id="rId9" Type="http://schemas.openxmlformats.org/officeDocument/2006/relationships/image" Target="../media/image1.emf"/></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0.xml"/><Relationship Id="rId3" Type="http://schemas.openxmlformats.org/officeDocument/2006/relationships/slideLayout" Target="../slideLayouts/slideLayout18.xml"/><Relationship Id="rId7"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image" Target="../media/image5.png"/><Relationship Id="rId5" Type="http://schemas.openxmlformats.org/officeDocument/2006/relationships/slideLayout" Target="../slideLayouts/slideLayout20.xml"/><Relationship Id="rId10" Type="http://schemas.openxmlformats.org/officeDocument/2006/relationships/image" Target="../media/image1.emf"/><Relationship Id="rId4" Type="http://schemas.openxmlformats.org/officeDocument/2006/relationships/slideLayout" Target="../slideLayouts/slideLayout19.xml"/><Relationship Id="rId9" Type="http://schemas.openxmlformats.org/officeDocument/2006/relationships/oleObject" Target="../embeddings/oleObject19.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99024E93-9080-0DCF-3BF4-A70CB8A88582}"/>
              </a:ext>
            </a:extLst>
          </p:cNvPr>
          <p:cNvGraphicFramePr>
            <a:graphicFrameLocks noChangeAspect="1"/>
          </p:cNvGraphicFramePr>
          <p:nvPr userDrawn="1">
            <p:custDataLst>
              <p:tags r:id="rId7"/>
            </p:custDataLst>
            <p:extLst>
              <p:ext uri="{D42A27DB-BD31-4B8C-83A1-F6EECF244321}">
                <p14:modId xmlns:p14="http://schemas.microsoft.com/office/powerpoint/2010/main" val="4058538582"/>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8" imgW="317" imgH="318" progId="TCLayout.ActiveDocument.1">
                  <p:embed/>
                </p:oleObj>
              </mc:Choice>
              <mc:Fallback>
                <p:oleObj name="think-cell Slide" r:id="rId8" imgW="317" imgH="318" progId="TCLayout.ActiveDocument.1">
                  <p:embed/>
                  <p:pic>
                    <p:nvPicPr>
                      <p:cNvPr id="9" name="Object 8" hidden="1">
                        <a:extLst>
                          <a:ext uri="{FF2B5EF4-FFF2-40B4-BE49-F238E27FC236}">
                            <a16:creationId xmlns:a16="http://schemas.microsoft.com/office/drawing/2014/main" id="{99024E93-9080-0DCF-3BF4-A70CB8A88582}"/>
                          </a:ext>
                        </a:extLst>
                      </p:cNvPr>
                      <p:cNvPicPr/>
                      <p:nvPr/>
                    </p:nvPicPr>
                    <p:blipFill>
                      <a:blip r:embed="rId9"/>
                      <a:stretch>
                        <a:fillRect/>
                      </a:stretch>
                    </p:blipFill>
                    <p:spPr>
                      <a:xfrm>
                        <a:off x="794" y="794"/>
                        <a:ext cx="794" cy="794"/>
                      </a:xfrm>
                      <a:prstGeom prst="rect">
                        <a:avLst/>
                      </a:prstGeom>
                    </p:spPr>
                  </p:pic>
                </p:oleObj>
              </mc:Fallback>
            </mc:AlternateContent>
          </a:graphicData>
        </a:graphic>
      </p:graphicFrame>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71475" y="390525"/>
            <a:ext cx="11449050" cy="990601"/>
          </a:xfrm>
          <a:prstGeom prst="rect">
            <a:avLst/>
          </a:prstGeom>
        </p:spPr>
        <p:txBody>
          <a:bodyPr vert="horz" lIns="0" tIns="0" rIns="0" bIns="0" rtlCol="0" anchor="t">
            <a:noAutofit/>
          </a:bodyPr>
          <a:lstStyle/>
          <a:p>
            <a:r>
              <a:rPr lang="en-US" dirty="0"/>
              <a:t>Template - [type of slide]</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71475" y="1520825"/>
            <a:ext cx="11449050" cy="4791075"/>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a:p>
            <a:pPr lvl="5"/>
            <a:r>
              <a:rPr lang="en-US" dirty="0"/>
              <a:t>Sixth level (copy 16pt)</a:t>
            </a:r>
          </a:p>
          <a:p>
            <a:pPr lvl="6"/>
            <a:r>
              <a:rPr lang="en-US" dirty="0"/>
              <a:t>Seventh level (small copy 12pt)</a:t>
            </a:r>
          </a:p>
          <a:p>
            <a:pPr lvl="7"/>
            <a:r>
              <a:rPr lang="en-US" dirty="0"/>
              <a:t>EIGHT LEVEL (DESCRIPTOR 10PT)</a:t>
            </a:r>
          </a:p>
          <a:p>
            <a:pPr lvl="8"/>
            <a:r>
              <a:rPr lang="en-US" dirty="0"/>
              <a:t>Ninth level (footer 8pt)</a:t>
            </a:r>
          </a:p>
        </p:txBody>
      </p:sp>
      <p:sp>
        <p:nvSpPr>
          <p:cNvPr id="6" name="Footer Placeholder 5">
            <a:extLst>
              <a:ext uri="{FF2B5EF4-FFF2-40B4-BE49-F238E27FC236}">
                <a16:creationId xmlns:a16="http://schemas.microsoft.com/office/drawing/2014/main" id="{B43201D0-8105-DA4D-44A8-65FF28A41971}"/>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657117285"/>
      </p:ext>
    </p:extLst>
  </p:cSld>
  <p:clrMap bg1="lt1" tx1="dk1" bg2="lt2" tx2="dk2" accent1="accent1" accent2="accent2" accent3="accent3" accent4="accent4" accent5="accent5" accent6="accent6" hlink="hlink" folHlink="folHlink"/>
  <p:sldLayoutIdLst>
    <p:sldLayoutId id="2147483951" r:id="rId1"/>
    <p:sldLayoutId id="2147483959" r:id="rId2"/>
    <p:sldLayoutId id="2147483995" r:id="rId3"/>
    <p:sldLayoutId id="2147483996" r:id="rId4"/>
    <p:sldLayoutId id="2147483994" r:id="rId5"/>
  </p:sldLayoutIdLst>
  <p:hf sldNum="0" hdr="0" dt="0"/>
  <p:txStyles>
    <p:titleStyle>
      <a:lvl1pPr algn="l" defTabSz="914217" rtl="0" eaLnBrk="1" latinLnBrk="0" hangingPunct="1">
        <a:lnSpc>
          <a:spcPct val="80000"/>
        </a:lnSpc>
        <a:spcBef>
          <a:spcPct val="0"/>
        </a:spcBef>
        <a:buNone/>
        <a:defRPr sz="24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p:titleStyle>
    <p:body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974" userDrawn="1">
          <p15:clr>
            <a:srgbClr val="5ACBF0"/>
          </p15:clr>
        </p15:guide>
        <p15:guide id="6" orient="horz" pos="7994">
          <p15:clr>
            <a:srgbClr val="5ACBF0"/>
          </p15:clr>
        </p15:guide>
        <p15:guide id="7" orient="horz" pos="8153">
          <p15:clr>
            <a:srgbClr val="5ACBF0"/>
          </p15:clr>
        </p15:guide>
        <p15:guide id="8" pos="14916">
          <p15:clr>
            <a:srgbClr val="5ACBF0"/>
          </p15:clr>
        </p15:guide>
        <p15:guide id="10" orient="horz" pos="867" userDrawn="1">
          <p15:clr>
            <a:srgbClr val="F26B43"/>
          </p15:clr>
        </p15:guide>
        <p15:guide id="15" pos="7446" userDrawn="1">
          <p15:clr>
            <a:srgbClr val="F26B43"/>
          </p15:clr>
        </p15:guide>
        <p15:guide id="16" orient="horz" pos="958" userDrawn="1">
          <p15:clr>
            <a:srgbClr val="F26B43"/>
          </p15:clr>
        </p15:guide>
        <p15:guide id="17" orient="horz" pos="232" userDrawn="1">
          <p15:clr>
            <a:srgbClr val="F26B43"/>
          </p15:clr>
        </p15:guide>
        <p15:guide id="19" orient="horz" pos="4156" userDrawn="1">
          <p15:clr>
            <a:srgbClr val="5ACBF0"/>
          </p15:clr>
        </p15:guide>
        <p15:guide id="20" pos="23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99024E93-9080-0DCF-3BF4-A70CB8A88582}"/>
              </a:ext>
            </a:extLst>
          </p:cNvPr>
          <p:cNvGraphicFramePr>
            <a:graphicFrameLocks noChangeAspect="1"/>
          </p:cNvGraphicFramePr>
          <p:nvPr userDrawn="1">
            <p:custDataLst>
              <p:tags r:id="rId7"/>
            </p:custDataLst>
            <p:extLst>
              <p:ext uri="{D42A27DB-BD31-4B8C-83A1-F6EECF244321}">
                <p14:modId xmlns:p14="http://schemas.microsoft.com/office/powerpoint/2010/main" val="4058538582"/>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8" imgW="317" imgH="318" progId="TCLayout.ActiveDocument.1">
                  <p:embed/>
                </p:oleObj>
              </mc:Choice>
              <mc:Fallback>
                <p:oleObj name="Diapositiva de think-cell" r:id="rId8" imgW="317" imgH="318" progId="TCLayout.ActiveDocument.1">
                  <p:embed/>
                  <p:pic>
                    <p:nvPicPr>
                      <p:cNvPr id="9" name="Object 8" hidden="1">
                        <a:extLst>
                          <a:ext uri="{FF2B5EF4-FFF2-40B4-BE49-F238E27FC236}">
                            <a16:creationId xmlns:a16="http://schemas.microsoft.com/office/drawing/2014/main" id="{99024E93-9080-0DCF-3BF4-A70CB8A88582}"/>
                          </a:ext>
                        </a:extLst>
                      </p:cNvPr>
                      <p:cNvPicPr/>
                      <p:nvPr/>
                    </p:nvPicPr>
                    <p:blipFill>
                      <a:blip r:embed="rId9"/>
                      <a:stretch>
                        <a:fillRect/>
                      </a:stretch>
                    </p:blipFill>
                    <p:spPr>
                      <a:xfrm>
                        <a:off x="794" y="794"/>
                        <a:ext cx="794" cy="794"/>
                      </a:xfrm>
                      <a:prstGeom prst="rect">
                        <a:avLst/>
                      </a:prstGeom>
                    </p:spPr>
                  </p:pic>
                </p:oleObj>
              </mc:Fallback>
            </mc:AlternateContent>
          </a:graphicData>
        </a:graphic>
      </p:graphicFrame>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71475" y="390525"/>
            <a:ext cx="11449050" cy="990601"/>
          </a:xfrm>
          <a:prstGeom prst="rect">
            <a:avLst/>
          </a:prstGeom>
        </p:spPr>
        <p:txBody>
          <a:bodyPr vert="horz" lIns="0" tIns="0" rIns="0" bIns="0" rtlCol="0" anchor="t">
            <a:noAutofit/>
          </a:bodyPr>
          <a:lstStyle/>
          <a:p>
            <a:r>
              <a:rPr lang="en-US" dirty="0"/>
              <a:t>Template - [type of slide]</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71475" y="1520825"/>
            <a:ext cx="11449050" cy="4791075"/>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a:p>
            <a:pPr lvl="5"/>
            <a:r>
              <a:rPr lang="en-US" dirty="0"/>
              <a:t>Sixth level (copy 16pt)</a:t>
            </a:r>
          </a:p>
          <a:p>
            <a:pPr lvl="6"/>
            <a:r>
              <a:rPr lang="en-US" dirty="0"/>
              <a:t>Seventh level (small copy 12pt)</a:t>
            </a:r>
          </a:p>
          <a:p>
            <a:pPr lvl="7"/>
            <a:r>
              <a:rPr lang="en-US" dirty="0"/>
              <a:t>EIGHT LEVEL (DESCRIPTOR 10PT)</a:t>
            </a:r>
          </a:p>
          <a:p>
            <a:pPr lvl="8"/>
            <a:r>
              <a:rPr lang="en-US" dirty="0"/>
              <a:t>Ninth level (footer 8pt)</a:t>
            </a:r>
          </a:p>
        </p:txBody>
      </p:sp>
      <p:sp>
        <p:nvSpPr>
          <p:cNvPr id="4" name="Rectángulo 3">
            <a:extLst>
              <a:ext uri="{FF2B5EF4-FFF2-40B4-BE49-F238E27FC236}">
                <a16:creationId xmlns:a16="http://schemas.microsoft.com/office/drawing/2014/main" id="{CF60526B-4392-DEC2-5C71-8B616386398E}"/>
              </a:ext>
            </a:extLst>
          </p:cNvPr>
          <p:cNvSpPr/>
          <p:nvPr userDrawn="1"/>
        </p:nvSpPr>
        <p:spPr>
          <a:xfrm>
            <a:off x="371475" y="6451600"/>
            <a:ext cx="1645584" cy="2494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105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Your logo here</a:t>
            </a:r>
          </a:p>
        </p:txBody>
      </p:sp>
      <p:sp>
        <p:nvSpPr>
          <p:cNvPr id="6" name="Footer Placeholder 5">
            <a:extLst>
              <a:ext uri="{FF2B5EF4-FFF2-40B4-BE49-F238E27FC236}">
                <a16:creationId xmlns:a16="http://schemas.microsoft.com/office/drawing/2014/main" id="{B43201D0-8105-DA4D-44A8-65FF28A41971}"/>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3070364208"/>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Lst>
  <p:hf sldNum="0" hdr="0" dt="0"/>
  <p:txStyles>
    <p:titleStyle>
      <a:lvl1pPr algn="l" defTabSz="914217" rtl="0" eaLnBrk="1" latinLnBrk="0" hangingPunct="1">
        <a:lnSpc>
          <a:spcPct val="80000"/>
        </a:lnSpc>
        <a:spcBef>
          <a:spcPct val="0"/>
        </a:spcBef>
        <a:buNone/>
        <a:defRPr sz="24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p:titleStyle>
    <p:body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974">
          <p15:clr>
            <a:srgbClr val="5ACBF0"/>
          </p15:clr>
        </p15:guide>
        <p15:guide id="6" orient="horz" pos="7994">
          <p15:clr>
            <a:srgbClr val="5ACBF0"/>
          </p15:clr>
        </p15:guide>
        <p15:guide id="7" orient="horz" pos="8153">
          <p15:clr>
            <a:srgbClr val="5ACBF0"/>
          </p15:clr>
        </p15:guide>
        <p15:guide id="8" pos="14916">
          <p15:clr>
            <a:srgbClr val="5ACBF0"/>
          </p15:clr>
        </p15:guide>
        <p15:guide id="10" orient="horz" pos="867">
          <p15:clr>
            <a:srgbClr val="F26B43"/>
          </p15:clr>
        </p15:guide>
        <p15:guide id="15" pos="7446">
          <p15:clr>
            <a:srgbClr val="F26B43"/>
          </p15:clr>
        </p15:guide>
        <p15:guide id="16" orient="horz" pos="958">
          <p15:clr>
            <a:srgbClr val="F26B43"/>
          </p15:clr>
        </p15:guide>
        <p15:guide id="17" orient="horz" pos="232">
          <p15:clr>
            <a:srgbClr val="F26B43"/>
          </p15:clr>
        </p15:guide>
        <p15:guide id="19" orient="horz" pos="4156">
          <p15:clr>
            <a:srgbClr val="5ACBF0"/>
          </p15:clr>
        </p15:guide>
        <p15:guide id="20" pos="23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99024E93-9080-0DCF-3BF4-A70CB8A88582}"/>
              </a:ext>
            </a:extLst>
          </p:cNvPr>
          <p:cNvGraphicFramePr>
            <a:graphicFrameLocks noChangeAspect="1"/>
          </p:cNvGraphicFramePr>
          <p:nvPr userDrawn="1">
            <p:custDataLst>
              <p:tags r:id="rId7"/>
            </p:custDataLst>
            <p:extLst>
              <p:ext uri="{D42A27DB-BD31-4B8C-83A1-F6EECF244321}">
                <p14:modId xmlns:p14="http://schemas.microsoft.com/office/powerpoint/2010/main" val="4058538582"/>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8" imgW="317" imgH="318" progId="TCLayout.ActiveDocument.1">
                  <p:embed/>
                </p:oleObj>
              </mc:Choice>
              <mc:Fallback>
                <p:oleObj name="think-cell Slide" r:id="rId8" imgW="317" imgH="318" progId="TCLayout.ActiveDocument.1">
                  <p:embed/>
                  <p:pic>
                    <p:nvPicPr>
                      <p:cNvPr id="9" name="Object 8" hidden="1">
                        <a:extLst>
                          <a:ext uri="{FF2B5EF4-FFF2-40B4-BE49-F238E27FC236}">
                            <a16:creationId xmlns:a16="http://schemas.microsoft.com/office/drawing/2014/main" id="{99024E93-9080-0DCF-3BF4-A70CB8A88582}"/>
                          </a:ext>
                        </a:extLst>
                      </p:cNvPr>
                      <p:cNvPicPr/>
                      <p:nvPr/>
                    </p:nvPicPr>
                    <p:blipFill>
                      <a:blip r:embed="rId9"/>
                      <a:stretch>
                        <a:fillRect/>
                      </a:stretch>
                    </p:blipFill>
                    <p:spPr>
                      <a:xfrm>
                        <a:off x="794" y="794"/>
                        <a:ext cx="794" cy="794"/>
                      </a:xfrm>
                      <a:prstGeom prst="rect">
                        <a:avLst/>
                      </a:prstGeom>
                    </p:spPr>
                  </p:pic>
                </p:oleObj>
              </mc:Fallback>
            </mc:AlternateContent>
          </a:graphicData>
        </a:graphic>
      </p:graphicFrame>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71475" y="390525"/>
            <a:ext cx="11449050" cy="990601"/>
          </a:xfrm>
          <a:prstGeom prst="rect">
            <a:avLst/>
          </a:prstGeom>
        </p:spPr>
        <p:txBody>
          <a:bodyPr vert="horz" lIns="0" tIns="0" rIns="0" bIns="0" rtlCol="0" anchor="t">
            <a:noAutofit/>
          </a:bodyPr>
          <a:lstStyle/>
          <a:p>
            <a:r>
              <a:rPr lang="en-US" dirty="0"/>
              <a:t>Template - [type of slide]</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71475" y="1520825"/>
            <a:ext cx="11449050" cy="4791075"/>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a:p>
            <a:pPr lvl="5"/>
            <a:r>
              <a:rPr lang="en-US" dirty="0"/>
              <a:t>Sixth level (copy 16pt)</a:t>
            </a:r>
          </a:p>
          <a:p>
            <a:pPr lvl="6"/>
            <a:r>
              <a:rPr lang="en-US" dirty="0"/>
              <a:t>Seventh level (small copy 12pt)</a:t>
            </a:r>
          </a:p>
          <a:p>
            <a:pPr lvl="7"/>
            <a:r>
              <a:rPr lang="en-US" dirty="0"/>
              <a:t>EIGHT LEVEL (DESCRIPTOR 10PT)</a:t>
            </a:r>
          </a:p>
          <a:p>
            <a:pPr lvl="8"/>
            <a:r>
              <a:rPr lang="en-US" dirty="0"/>
              <a:t>Ninth level (footer 8pt)</a:t>
            </a:r>
          </a:p>
        </p:txBody>
      </p:sp>
      <p:sp>
        <p:nvSpPr>
          <p:cNvPr id="6" name="Footer Placeholder 5">
            <a:extLst>
              <a:ext uri="{FF2B5EF4-FFF2-40B4-BE49-F238E27FC236}">
                <a16:creationId xmlns:a16="http://schemas.microsoft.com/office/drawing/2014/main" id="{B43201D0-8105-DA4D-44A8-65FF28A41971}"/>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pic>
        <p:nvPicPr>
          <p:cNvPr id="5" name="Picture 4">
            <a:extLst>
              <a:ext uri="{FF2B5EF4-FFF2-40B4-BE49-F238E27FC236}">
                <a16:creationId xmlns:a16="http://schemas.microsoft.com/office/drawing/2014/main" id="{B606E0DF-D52D-757F-ED8E-3C1FE1F31987}"/>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379288" y="6520381"/>
            <a:ext cx="1442085" cy="166395"/>
          </a:xfrm>
          <a:prstGeom prst="rect">
            <a:avLst/>
          </a:prstGeom>
        </p:spPr>
      </p:pic>
    </p:spTree>
    <p:extLst>
      <p:ext uri="{BB962C8B-B14F-4D97-AF65-F5344CB8AC3E}">
        <p14:creationId xmlns:p14="http://schemas.microsoft.com/office/powerpoint/2010/main" val="1062126388"/>
      </p:ext>
    </p:extLst>
  </p:cSld>
  <p:clrMap bg1="lt1" tx1="dk1" bg2="lt2" tx2="dk2" accent1="accent1" accent2="accent2" accent3="accent3" accent4="accent4" accent5="accent5" accent6="accent6" hlink="hlink" folHlink="folHlink"/>
  <p:sldLayoutIdLst>
    <p:sldLayoutId id="2147484004" r:id="rId1"/>
    <p:sldLayoutId id="2147484005" r:id="rId2"/>
    <p:sldLayoutId id="2147484006" r:id="rId3"/>
    <p:sldLayoutId id="2147484007" r:id="rId4"/>
    <p:sldLayoutId id="2147484008" r:id="rId5"/>
  </p:sldLayoutIdLst>
  <p:hf sldNum="0" hdr="0" dt="0"/>
  <p:txStyles>
    <p:titleStyle>
      <a:lvl1pPr algn="l" defTabSz="914217" rtl="0" eaLnBrk="1" latinLnBrk="0" hangingPunct="1">
        <a:lnSpc>
          <a:spcPct val="80000"/>
        </a:lnSpc>
        <a:spcBef>
          <a:spcPct val="0"/>
        </a:spcBef>
        <a:buNone/>
        <a:defRPr sz="24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p:titleStyle>
    <p:body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974">
          <p15:clr>
            <a:srgbClr val="5ACBF0"/>
          </p15:clr>
        </p15:guide>
        <p15:guide id="6" orient="horz" pos="7994">
          <p15:clr>
            <a:srgbClr val="5ACBF0"/>
          </p15:clr>
        </p15:guide>
        <p15:guide id="7" orient="horz" pos="8153">
          <p15:clr>
            <a:srgbClr val="5ACBF0"/>
          </p15:clr>
        </p15:guide>
        <p15:guide id="8" pos="14916">
          <p15:clr>
            <a:srgbClr val="5ACBF0"/>
          </p15:clr>
        </p15:guide>
        <p15:guide id="10" orient="horz" pos="867">
          <p15:clr>
            <a:srgbClr val="F26B43"/>
          </p15:clr>
        </p15:guide>
        <p15:guide id="15" pos="7446">
          <p15:clr>
            <a:srgbClr val="F26B43"/>
          </p15:clr>
        </p15:guide>
        <p15:guide id="16" orient="horz" pos="958">
          <p15:clr>
            <a:srgbClr val="F26B43"/>
          </p15:clr>
        </p15:guide>
        <p15:guide id="17" orient="horz" pos="232">
          <p15:clr>
            <a:srgbClr val="F26B43"/>
          </p15:clr>
        </p15:guide>
        <p15:guide id="19" orient="horz" pos="4156">
          <p15:clr>
            <a:srgbClr val="5ACBF0"/>
          </p15:clr>
        </p15:guide>
        <p15:guide id="20" pos="23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99024E93-9080-0DCF-3BF4-A70CB8A88582}"/>
              </a:ext>
            </a:extLst>
          </p:cNvPr>
          <p:cNvGraphicFramePr>
            <a:graphicFrameLocks noChangeAspect="1"/>
          </p:cNvGraphicFramePr>
          <p:nvPr userDrawn="1">
            <p:custDataLst>
              <p:tags r:id="rId8"/>
            </p:custDataLst>
            <p:extLst>
              <p:ext uri="{D42A27DB-BD31-4B8C-83A1-F6EECF244321}">
                <p14:modId xmlns:p14="http://schemas.microsoft.com/office/powerpoint/2010/main" val="4058538582"/>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9" imgW="317" imgH="318" progId="TCLayout.ActiveDocument.1">
                  <p:embed/>
                </p:oleObj>
              </mc:Choice>
              <mc:Fallback>
                <p:oleObj name="Diapositiva de think-cell" r:id="rId9" imgW="317" imgH="318" progId="TCLayout.ActiveDocument.1">
                  <p:embed/>
                  <p:pic>
                    <p:nvPicPr>
                      <p:cNvPr id="9" name="Object 8" hidden="1">
                        <a:extLst>
                          <a:ext uri="{FF2B5EF4-FFF2-40B4-BE49-F238E27FC236}">
                            <a16:creationId xmlns:a16="http://schemas.microsoft.com/office/drawing/2014/main" id="{99024E93-9080-0DCF-3BF4-A70CB8A88582}"/>
                          </a:ext>
                        </a:extLst>
                      </p:cNvPr>
                      <p:cNvPicPr/>
                      <p:nvPr/>
                    </p:nvPicPr>
                    <p:blipFill>
                      <a:blip r:embed="rId10"/>
                      <a:stretch>
                        <a:fillRect/>
                      </a:stretch>
                    </p:blipFill>
                    <p:spPr>
                      <a:xfrm>
                        <a:off x="794" y="794"/>
                        <a:ext cx="794" cy="794"/>
                      </a:xfrm>
                      <a:prstGeom prst="rect">
                        <a:avLst/>
                      </a:prstGeom>
                    </p:spPr>
                  </p:pic>
                </p:oleObj>
              </mc:Fallback>
            </mc:AlternateContent>
          </a:graphicData>
        </a:graphic>
      </p:graphicFrame>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71475" y="390525"/>
            <a:ext cx="11449050" cy="990601"/>
          </a:xfrm>
          <a:prstGeom prst="rect">
            <a:avLst/>
          </a:prstGeom>
        </p:spPr>
        <p:txBody>
          <a:bodyPr vert="horz" lIns="0" tIns="0" rIns="0" bIns="0" rtlCol="0" anchor="t">
            <a:noAutofit/>
          </a:bodyPr>
          <a:lstStyle/>
          <a:p>
            <a:r>
              <a:rPr lang="en-US" dirty="0"/>
              <a:t>Template - [type of slide]</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71475" y="1520825"/>
            <a:ext cx="11449050" cy="4791075"/>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a:p>
            <a:pPr lvl="5"/>
            <a:r>
              <a:rPr lang="en-US" dirty="0"/>
              <a:t>Sixth level (copy 16pt)</a:t>
            </a:r>
          </a:p>
          <a:p>
            <a:pPr lvl="6"/>
            <a:r>
              <a:rPr lang="en-US" dirty="0"/>
              <a:t>Seventh level (small copy 12pt)</a:t>
            </a:r>
          </a:p>
          <a:p>
            <a:pPr lvl="7"/>
            <a:r>
              <a:rPr lang="en-US" dirty="0"/>
              <a:t>EIGHT LEVEL (DESCRIPTOR 10PT)</a:t>
            </a:r>
          </a:p>
          <a:p>
            <a:pPr lvl="8"/>
            <a:r>
              <a:rPr lang="en-US" dirty="0"/>
              <a:t>Ninth level (footer 8pt)</a:t>
            </a:r>
          </a:p>
        </p:txBody>
      </p:sp>
      <p:pic>
        <p:nvPicPr>
          <p:cNvPr id="7" name="Picture 6" descr="A picture containing text&#10;&#10;Description automatically generated">
            <a:extLst>
              <a:ext uri="{FF2B5EF4-FFF2-40B4-BE49-F238E27FC236}">
                <a16:creationId xmlns:a16="http://schemas.microsoft.com/office/drawing/2014/main" id="{48954A4F-E926-C799-A5E9-2836AE134AAD}"/>
              </a:ext>
            </a:extLst>
          </p:cNvPr>
          <p:cNvPicPr>
            <a:picLocks noChangeAspect="1"/>
          </p:cNvPicPr>
          <p:nvPr userDrawn="1"/>
        </p:nvPicPr>
        <p:blipFill>
          <a:blip r:embed="rId11"/>
          <a:stretch>
            <a:fillRect/>
          </a:stretch>
        </p:blipFill>
        <p:spPr>
          <a:xfrm>
            <a:off x="371475" y="6467475"/>
            <a:ext cx="1008505" cy="285012"/>
          </a:xfrm>
          <a:prstGeom prst="rect">
            <a:avLst/>
          </a:prstGeom>
          <a:ln>
            <a:noFill/>
          </a:ln>
        </p:spPr>
      </p:pic>
      <p:sp>
        <p:nvSpPr>
          <p:cNvPr id="4" name="Footer Placeholder 5">
            <a:extLst>
              <a:ext uri="{FF2B5EF4-FFF2-40B4-BE49-F238E27FC236}">
                <a16:creationId xmlns:a16="http://schemas.microsoft.com/office/drawing/2014/main" id="{F8EEA708-D8F5-560B-EE0D-34EF38D9CC80}"/>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dirty="0"/>
              <a:t>Source:_______</a:t>
            </a:r>
          </a:p>
        </p:txBody>
      </p:sp>
    </p:spTree>
    <p:extLst>
      <p:ext uri="{BB962C8B-B14F-4D97-AF65-F5344CB8AC3E}">
        <p14:creationId xmlns:p14="http://schemas.microsoft.com/office/powerpoint/2010/main" val="2398070723"/>
      </p:ext>
    </p:extLst>
  </p:cSld>
  <p:clrMap bg1="lt1" tx1="dk1" bg2="lt2" tx2="dk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014" r:id="rId5"/>
    <p:sldLayoutId id="2147484015" r:id="rId6"/>
  </p:sldLayoutIdLst>
  <p:hf sldNum="0" hdr="0" dt="0"/>
  <p:txStyles>
    <p:titleStyle>
      <a:lvl1pPr algn="l" defTabSz="914217" rtl="0" eaLnBrk="1" latinLnBrk="0" hangingPunct="1">
        <a:lnSpc>
          <a:spcPct val="80000"/>
        </a:lnSpc>
        <a:spcBef>
          <a:spcPct val="0"/>
        </a:spcBef>
        <a:buNone/>
        <a:defRPr sz="24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p:titleStyle>
    <p:body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974">
          <p15:clr>
            <a:srgbClr val="5ACBF0"/>
          </p15:clr>
        </p15:guide>
        <p15:guide id="6" orient="horz" pos="7994">
          <p15:clr>
            <a:srgbClr val="5ACBF0"/>
          </p15:clr>
        </p15:guide>
        <p15:guide id="7" orient="horz" pos="8153">
          <p15:clr>
            <a:srgbClr val="5ACBF0"/>
          </p15:clr>
        </p15:guide>
        <p15:guide id="8" pos="14916">
          <p15:clr>
            <a:srgbClr val="5ACBF0"/>
          </p15:clr>
        </p15:guide>
        <p15:guide id="10" orient="horz" pos="867">
          <p15:clr>
            <a:srgbClr val="F26B43"/>
          </p15:clr>
        </p15:guide>
        <p15:guide id="15" pos="7446">
          <p15:clr>
            <a:srgbClr val="F26B43"/>
          </p15:clr>
        </p15:guide>
        <p15:guide id="16" orient="horz" pos="958">
          <p15:clr>
            <a:srgbClr val="F26B43"/>
          </p15:clr>
        </p15:guide>
        <p15:guide id="17" orient="horz" pos="232">
          <p15:clr>
            <a:srgbClr val="F26B43"/>
          </p15:clr>
        </p15:guide>
        <p15:guide id="19" orient="horz" pos="4156">
          <p15:clr>
            <a:srgbClr val="5ACBF0"/>
          </p15:clr>
        </p15:guide>
        <p15:guide id="20" pos="23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9.png"/><Relationship Id="rId2" Type="http://schemas.openxmlformats.org/officeDocument/2006/relationships/slideLayout" Target="../slideLayouts/slideLayout16.xml"/><Relationship Id="rId1" Type="http://schemas.openxmlformats.org/officeDocument/2006/relationships/tags" Target="../tags/tag2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26.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28.xml"/><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1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3.xml"/><Relationship Id="rId1" Type="http://schemas.openxmlformats.org/officeDocument/2006/relationships/tags" Target="../tags/tag30.xml"/><Relationship Id="rId4" Type="http://schemas.openxmlformats.org/officeDocument/2006/relationships/image" Target="../media/image10.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31.xml"/><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11.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33.xml"/><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3.xml"/><Relationship Id="rId1" Type="http://schemas.openxmlformats.org/officeDocument/2006/relationships/tags" Target="../tags/tag34.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tags" Target="../tags/tag35.xml"/><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36.xml"/><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3.xml"/><Relationship Id="rId1" Type="http://schemas.openxmlformats.org/officeDocument/2006/relationships/tags" Target="../tags/tag37.xml"/><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3.xml"/><Relationship Id="rId1" Type="http://schemas.openxmlformats.org/officeDocument/2006/relationships/tags" Target="../tags/tag38.xml"/><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39.x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40.xml"/><Relationship Id="rId4" Type="http://schemas.openxmlformats.org/officeDocument/2006/relationships/image" Target="../media/image10.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41.xml"/><Relationship Id="rId4" Type="http://schemas.openxmlformats.org/officeDocument/2006/relationships/image" Target="../media/image10.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42.xml"/><Relationship Id="rId4" Type="http://schemas.openxmlformats.org/officeDocument/2006/relationships/image" Target="../media/image10.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43.xml"/><Relationship Id="rId4" Type="http://schemas.openxmlformats.org/officeDocument/2006/relationships/image" Target="../media/image10.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44.xml"/><Relationship Id="rId4" Type="http://schemas.openxmlformats.org/officeDocument/2006/relationships/image" Target="../media/image10.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45.xml"/><Relationship Id="rId4" Type="http://schemas.openxmlformats.org/officeDocument/2006/relationships/image" Target="../media/image10.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46.xml"/><Relationship Id="rId4" Type="http://schemas.openxmlformats.org/officeDocument/2006/relationships/image" Target="../media/image10.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47.xml"/><Relationship Id="rId4" Type="http://schemas.openxmlformats.org/officeDocument/2006/relationships/image" Target="../media/image10.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48.xml"/><Relationship Id="rId4" Type="http://schemas.openxmlformats.org/officeDocument/2006/relationships/image" Target="../media/image10.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49.xml"/><Relationship Id="rId4" Type="http://schemas.openxmlformats.org/officeDocument/2006/relationships/image" Target="../media/image10.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50.xml"/><Relationship Id="rId4" Type="http://schemas.openxmlformats.org/officeDocument/2006/relationships/image" Target="../media/image10.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51.xml"/><Relationship Id="rId4" Type="http://schemas.openxmlformats.org/officeDocument/2006/relationships/image" Target="../media/image10.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52.xml"/><Relationship Id="rId4" Type="http://schemas.openxmlformats.org/officeDocument/2006/relationships/image" Target="../media/image10.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53.xml"/><Relationship Id="rId4" Type="http://schemas.openxmlformats.org/officeDocument/2006/relationships/image" Target="../media/image10.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tags" Target="../tags/tag54.xml"/><Relationship Id="rId4" Type="http://schemas.openxmlformats.org/officeDocument/2006/relationships/image" Target="../media/image11.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55.xml"/><Relationship Id="rId4" Type="http://schemas.openxmlformats.org/officeDocument/2006/relationships/image" Target="../media/image10.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56.xml"/><Relationship Id="rId4" Type="http://schemas.openxmlformats.org/officeDocument/2006/relationships/image" Target="../media/image10.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57.xml"/><Relationship Id="rId4" Type="http://schemas.openxmlformats.org/officeDocument/2006/relationships/image" Target="../media/image10.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tags" Target="../tags/tag58.xml"/><Relationship Id="rId4" Type="http://schemas.openxmlformats.org/officeDocument/2006/relationships/image" Target="../media/image11.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59.xml"/><Relationship Id="rId4" Type="http://schemas.openxmlformats.org/officeDocument/2006/relationships/image" Target="../media/image10.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60.xml"/><Relationship Id="rId4" Type="http://schemas.openxmlformats.org/officeDocument/2006/relationships/image" Target="../media/image10.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61.xml"/><Relationship Id="rId4" Type="http://schemas.openxmlformats.org/officeDocument/2006/relationships/image" Target="../media/image10.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62.xml"/><Relationship Id="rId4" Type="http://schemas.openxmlformats.org/officeDocument/2006/relationships/image" Target="../media/image10.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63.xml"/><Relationship Id="rId4" Type="http://schemas.openxmlformats.org/officeDocument/2006/relationships/image" Target="../media/image10.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64.xml"/><Relationship Id="rId4" Type="http://schemas.openxmlformats.org/officeDocument/2006/relationships/image" Target="../media/image10.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65.xml"/><Relationship Id="rId4" Type="http://schemas.openxmlformats.org/officeDocument/2006/relationships/image" Target="../media/image10.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66.xml"/><Relationship Id="rId4" Type="http://schemas.openxmlformats.org/officeDocument/2006/relationships/image" Target="../media/image10.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67.xml"/><Relationship Id="rId4" Type="http://schemas.openxmlformats.org/officeDocument/2006/relationships/image" Target="../media/image10.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68.xml"/><Relationship Id="rId4" Type="http://schemas.openxmlformats.org/officeDocument/2006/relationships/image" Target="../media/image10.e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69.xml"/><Relationship Id="rId4" Type="http://schemas.openxmlformats.org/officeDocument/2006/relationships/image" Target="../media/image10.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70.xml"/><Relationship Id="rId4" Type="http://schemas.openxmlformats.org/officeDocument/2006/relationships/image" Target="../media/image10.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71.xml"/><Relationship Id="rId4" Type="http://schemas.openxmlformats.org/officeDocument/2006/relationships/image" Target="../media/image10.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tags" Target="../tags/tag72.xml"/><Relationship Id="rId4" Type="http://schemas.openxmlformats.org/officeDocument/2006/relationships/image" Target="../media/image11.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73.xml"/><Relationship Id="rId4" Type="http://schemas.openxmlformats.org/officeDocument/2006/relationships/image" Target="../media/image10.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74.xml"/><Relationship Id="rId4" Type="http://schemas.openxmlformats.org/officeDocument/2006/relationships/image" Target="../media/image10.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75.xml"/><Relationship Id="rId4" Type="http://schemas.openxmlformats.org/officeDocument/2006/relationships/image" Target="../media/image10.e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76.xml"/><Relationship Id="rId4" Type="http://schemas.openxmlformats.org/officeDocument/2006/relationships/image" Target="../media/image10.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77.xml"/><Relationship Id="rId4" Type="http://schemas.openxmlformats.org/officeDocument/2006/relationships/image" Target="../media/image10.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tags" Target="../tags/tag78.xml"/><Relationship Id="rId4" Type="http://schemas.openxmlformats.org/officeDocument/2006/relationships/image" Target="../media/image11.e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79.xml"/><Relationship Id="rId4" Type="http://schemas.openxmlformats.org/officeDocument/2006/relationships/image" Target="../media/image10.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80.xml"/><Relationship Id="rId4" Type="http://schemas.openxmlformats.org/officeDocument/2006/relationships/image" Target="../media/image10.e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81.xml"/><Relationship Id="rId4" Type="http://schemas.openxmlformats.org/officeDocument/2006/relationships/image" Target="../media/image10.e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82.xml"/><Relationship Id="rId4" Type="http://schemas.openxmlformats.org/officeDocument/2006/relationships/image" Target="../media/image10.e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83.xml"/><Relationship Id="rId4" Type="http://schemas.openxmlformats.org/officeDocument/2006/relationships/image" Target="../media/image10.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tags" Target="../tags/tag84.xml"/><Relationship Id="rId4" Type="http://schemas.openxmlformats.org/officeDocument/2006/relationships/image" Target="../media/image11.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85.xml"/><Relationship Id="rId4" Type="http://schemas.openxmlformats.org/officeDocument/2006/relationships/image" Target="../media/image10.e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86.xml"/><Relationship Id="rId4" Type="http://schemas.openxmlformats.org/officeDocument/2006/relationships/image" Target="../media/image10.e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87.xml"/><Relationship Id="rId4" Type="http://schemas.openxmlformats.org/officeDocument/2006/relationships/image" Target="../media/image10.e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88.xml"/><Relationship Id="rId4" Type="http://schemas.openxmlformats.org/officeDocument/2006/relationships/image" Target="../media/image10.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89.xml"/><Relationship Id="rId4" Type="http://schemas.openxmlformats.org/officeDocument/2006/relationships/image" Target="../media/image10.e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90.xml"/><Relationship Id="rId4" Type="http://schemas.openxmlformats.org/officeDocument/2006/relationships/image" Target="../media/image10.e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tags" Target="../tags/tag91.xml"/><Relationship Id="rId4" Type="http://schemas.openxmlformats.org/officeDocument/2006/relationships/image" Target="../media/image11.e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92.xml"/><Relationship Id="rId4" Type="http://schemas.openxmlformats.org/officeDocument/2006/relationships/image" Target="../media/image10.e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93.xml"/><Relationship Id="rId4" Type="http://schemas.openxmlformats.org/officeDocument/2006/relationships/image" Target="../media/image10.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94.xml"/><Relationship Id="rId4" Type="http://schemas.openxmlformats.org/officeDocument/2006/relationships/image" Target="../media/image10.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95.xml"/><Relationship Id="rId4" Type="http://schemas.openxmlformats.org/officeDocument/2006/relationships/image" Target="../media/image10.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96.xml"/><Relationship Id="rId4" Type="http://schemas.openxmlformats.org/officeDocument/2006/relationships/image" Target="../media/image10.e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97.xml"/><Relationship Id="rId4" Type="http://schemas.openxmlformats.org/officeDocument/2006/relationships/image" Target="../media/image10.e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98.xml"/><Relationship Id="rId4" Type="http://schemas.openxmlformats.org/officeDocument/2006/relationships/image" Target="../media/image10.e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99.xml"/><Relationship Id="rId4" Type="http://schemas.openxmlformats.org/officeDocument/2006/relationships/image" Target="../media/image10.e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00.xml"/><Relationship Id="rId4" Type="http://schemas.openxmlformats.org/officeDocument/2006/relationships/image" Target="../media/image10.e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tags" Target="../tags/tag101.xml"/><Relationship Id="rId4" Type="http://schemas.openxmlformats.org/officeDocument/2006/relationships/image" Target="../media/image11.e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02.xml"/><Relationship Id="rId4" Type="http://schemas.openxmlformats.org/officeDocument/2006/relationships/image" Target="../media/image10.e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03.xml"/><Relationship Id="rId4" Type="http://schemas.openxmlformats.org/officeDocument/2006/relationships/image" Target="../media/image10.e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tags" Target="../tags/tag104.xml"/><Relationship Id="rId4" Type="http://schemas.openxmlformats.org/officeDocument/2006/relationships/image" Target="../media/image11.e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05.xml"/><Relationship Id="rId4" Type="http://schemas.openxmlformats.org/officeDocument/2006/relationships/image" Target="../media/image10.e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06.xml"/><Relationship Id="rId4" Type="http://schemas.openxmlformats.org/officeDocument/2006/relationships/image" Target="../media/image10.emf"/></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07.xml"/><Relationship Id="rId4" Type="http://schemas.openxmlformats.org/officeDocument/2006/relationships/image" Target="../media/image10.emf"/></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tags" Target="../tags/tag108.xml"/><Relationship Id="rId4" Type="http://schemas.openxmlformats.org/officeDocument/2006/relationships/image" Target="../media/image11.e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09.xml"/><Relationship Id="rId4" Type="http://schemas.openxmlformats.org/officeDocument/2006/relationships/image" Target="../media/image10.emf"/></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10.xml"/><Relationship Id="rId4" Type="http://schemas.openxmlformats.org/officeDocument/2006/relationships/image" Target="../media/image10.e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11.xml"/><Relationship Id="rId4" Type="http://schemas.openxmlformats.org/officeDocument/2006/relationships/image" Target="../media/image10.emf"/></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12.xml"/><Relationship Id="rId4" Type="http://schemas.openxmlformats.org/officeDocument/2006/relationships/image" Target="../media/image10.e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13.xml"/><Relationship Id="rId4" Type="http://schemas.openxmlformats.org/officeDocument/2006/relationships/image" Target="../media/image10.e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14.xml"/><Relationship Id="rId4" Type="http://schemas.openxmlformats.org/officeDocument/2006/relationships/image" Target="../media/image10.e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15.xml"/><Relationship Id="rId4" Type="http://schemas.openxmlformats.org/officeDocument/2006/relationships/image" Target="../media/image10.e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16.xml"/><Relationship Id="rId4" Type="http://schemas.openxmlformats.org/officeDocument/2006/relationships/image" Target="../media/image10.emf"/></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tags" Target="../tags/tag117.xml"/><Relationship Id="rId4" Type="http://schemas.openxmlformats.org/officeDocument/2006/relationships/image" Target="../media/image10.emf"/></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118.xml"/><Relationship Id="rId5" Type="http://schemas.openxmlformats.org/officeDocument/2006/relationships/image" Target="../media/image12.emf"/><Relationship Id="rId4" Type="http://schemas.openxmlformats.org/officeDocument/2006/relationships/oleObject" Target="../embeddings/oleObject44.bin"/></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13.xml"/><Relationship Id="rId1" Type="http://schemas.openxmlformats.org/officeDocument/2006/relationships/tags" Target="../tags/tag119.xml"/><Relationship Id="rId6" Type="http://schemas.openxmlformats.org/officeDocument/2006/relationships/hyperlink" Target="https://umbrex.com/independent-management-consultants/?utm_source=deck&amp;utm_id=ppt" TargetMode="External"/><Relationship Id="rId5" Type="http://schemas.openxmlformats.org/officeDocument/2006/relationships/image" Target="../media/image3.png"/><Relationship Id="rId4" Type="http://schemas.openxmlformats.org/officeDocument/2006/relationships/image" Target="../media/image10.emf"/></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13.xml"/><Relationship Id="rId1" Type="http://schemas.openxmlformats.org/officeDocument/2006/relationships/tags" Target="../tags/tag120.xml"/><Relationship Id="rId6" Type="http://schemas.openxmlformats.org/officeDocument/2006/relationships/hyperlink" Target="https://umbrex.com/independent-management-consultants/?utm_source=deck&amp;utm_id=ppt" TargetMode="External"/><Relationship Id="rId5" Type="http://schemas.openxmlformats.org/officeDocument/2006/relationships/image" Target="../media/image3.png"/><Relationship Id="rId4" Type="http://schemas.openxmlformats.org/officeDocument/2006/relationships/image" Target="../media/image11.emf"/></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13.xml"/><Relationship Id="rId1" Type="http://schemas.openxmlformats.org/officeDocument/2006/relationships/tags" Target="../tags/tag121.xml"/><Relationship Id="rId6" Type="http://schemas.openxmlformats.org/officeDocument/2006/relationships/hyperlink" Target="https://umbrex.com/independent-management-consultants/?utm_source=deck&amp;utm_id=ppt" TargetMode="External"/><Relationship Id="rId5" Type="http://schemas.openxmlformats.org/officeDocument/2006/relationships/image" Target="../media/image3.png"/><Relationship Id="rId4" Type="http://schemas.openxmlformats.org/officeDocument/2006/relationships/image" Target="../media/image11.emf"/></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13.xml"/><Relationship Id="rId1" Type="http://schemas.openxmlformats.org/officeDocument/2006/relationships/tags" Target="../tags/tag122.xml"/><Relationship Id="rId6" Type="http://schemas.openxmlformats.org/officeDocument/2006/relationships/hyperlink" Target="https://umbrex.com/independent-management-consultants/?utm_source=deck&amp;utm_id=ppt" TargetMode="External"/><Relationship Id="rId5" Type="http://schemas.openxmlformats.org/officeDocument/2006/relationships/image" Target="../media/image3.png"/><Relationship Id="rId4" Type="http://schemas.openxmlformats.org/officeDocument/2006/relationships/image" Target="../media/image11.emf"/></Relationships>
</file>

<file path=ppt/slides/_rels/slide97.xml.rels><?xml version="1.0" encoding="UTF-8" standalone="yes"?>
<Relationships xmlns="http://schemas.openxmlformats.org/package/2006/relationships"><Relationship Id="rId8" Type="http://schemas.openxmlformats.org/officeDocument/2006/relationships/chart" Target="../charts/chart3.xml"/><Relationship Id="rId13" Type="http://schemas.openxmlformats.org/officeDocument/2006/relationships/image" Target="../media/image17.png"/><Relationship Id="rId3" Type="http://schemas.openxmlformats.org/officeDocument/2006/relationships/oleObject" Target="../embeddings/oleObject49.bin"/><Relationship Id="rId7" Type="http://schemas.openxmlformats.org/officeDocument/2006/relationships/chart" Target="../charts/chart2.xml"/><Relationship Id="rId12" Type="http://schemas.openxmlformats.org/officeDocument/2006/relationships/image" Target="../media/image16.svg"/><Relationship Id="rId17" Type="http://schemas.openxmlformats.org/officeDocument/2006/relationships/hyperlink" Target="https://umbrex.com/independent-management-consultants/?utm_source=deck&amp;utm_id=ppt" TargetMode="External"/><Relationship Id="rId2" Type="http://schemas.openxmlformats.org/officeDocument/2006/relationships/slideLayout" Target="../slideLayouts/slideLayout13.xml"/><Relationship Id="rId16" Type="http://schemas.openxmlformats.org/officeDocument/2006/relationships/image" Target="../media/image20.svg"/><Relationship Id="rId1" Type="http://schemas.openxmlformats.org/officeDocument/2006/relationships/tags" Target="../tags/tag123.xml"/><Relationship Id="rId6" Type="http://schemas.openxmlformats.org/officeDocument/2006/relationships/chart" Target="../charts/chart1.xml"/><Relationship Id="rId11" Type="http://schemas.openxmlformats.org/officeDocument/2006/relationships/image" Target="../media/image15.png"/><Relationship Id="rId5" Type="http://schemas.openxmlformats.org/officeDocument/2006/relationships/image" Target="../media/image3.png"/><Relationship Id="rId15" Type="http://schemas.openxmlformats.org/officeDocument/2006/relationships/image" Target="../media/image19.png"/><Relationship Id="rId10" Type="http://schemas.openxmlformats.org/officeDocument/2006/relationships/image" Target="../media/image14.svg"/><Relationship Id="rId4" Type="http://schemas.openxmlformats.org/officeDocument/2006/relationships/image" Target="../media/image11.emf"/><Relationship Id="rId9" Type="http://schemas.openxmlformats.org/officeDocument/2006/relationships/image" Target="../media/image13.png"/><Relationship Id="rId14" Type="http://schemas.openxmlformats.org/officeDocument/2006/relationships/image" Target="../media/image18.svg"/></Relationships>
</file>

<file path=ppt/slides/_rels/slide98.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3" Type="http://schemas.openxmlformats.org/officeDocument/2006/relationships/oleObject" Target="../embeddings/oleObject50.bin"/><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slideLayout" Target="../slideLayouts/slideLayout13.xml"/><Relationship Id="rId16" Type="http://schemas.openxmlformats.org/officeDocument/2006/relationships/image" Target="../media/image31.svg"/><Relationship Id="rId1" Type="http://schemas.openxmlformats.org/officeDocument/2006/relationships/tags" Target="../tags/tag124.xml"/><Relationship Id="rId6" Type="http://schemas.openxmlformats.org/officeDocument/2006/relationships/image" Target="../media/image3.png"/><Relationship Id="rId11" Type="http://schemas.openxmlformats.org/officeDocument/2006/relationships/image" Target="../media/image26.png"/><Relationship Id="rId5" Type="http://schemas.openxmlformats.org/officeDocument/2006/relationships/hyperlink" Target="https://umbrex.com/join-our-community/?utm_source=deck&amp;utm_id=ppt" TargetMode="External"/><Relationship Id="rId15" Type="http://schemas.openxmlformats.org/officeDocument/2006/relationships/image" Target="../media/image30.png"/><Relationship Id="rId10" Type="http://schemas.openxmlformats.org/officeDocument/2006/relationships/image" Target="../media/image25.svg"/><Relationship Id="rId4" Type="http://schemas.openxmlformats.org/officeDocument/2006/relationships/image" Target="../media/image21.emf"/><Relationship Id="rId9" Type="http://schemas.openxmlformats.org/officeDocument/2006/relationships/image" Target="../media/image24.png"/><Relationship Id="rId14" Type="http://schemas.openxmlformats.org/officeDocument/2006/relationships/image" Target="../media/image29.svg"/></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51.bin"/><Relationship Id="rId7" Type="http://schemas.openxmlformats.org/officeDocument/2006/relationships/hyperlink" Target="https://umbrex.com/independent-management-consultants/?utm_source=deck&amp;utm_id=ppt" TargetMode="External"/><Relationship Id="rId2" Type="http://schemas.openxmlformats.org/officeDocument/2006/relationships/slideLayout" Target="../slideLayouts/slideLayout13.xml"/><Relationship Id="rId1" Type="http://schemas.openxmlformats.org/officeDocument/2006/relationships/tags" Target="../tags/tag125.xml"/><Relationship Id="rId6" Type="http://schemas.openxmlformats.org/officeDocument/2006/relationships/image" Target="../media/image3.png"/><Relationship Id="rId5" Type="http://schemas.openxmlformats.org/officeDocument/2006/relationships/image" Target="../media/image32.png"/><Relationship Id="rId4" Type="http://schemas.openxmlformats.org/officeDocument/2006/relationships/image" Target="../media/image11.emf"/></Relationships>
</file>

<file path=ppt/slides/_rels/slide100.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svg"/><Relationship Id="rId3" Type="http://schemas.openxmlformats.org/officeDocument/2006/relationships/oleObject" Target="../embeddings/oleObject52.bin"/><Relationship Id="rId7" Type="http://schemas.openxmlformats.org/officeDocument/2006/relationships/image" Target="../media/image34.svg"/><Relationship Id="rId12" Type="http://schemas.openxmlformats.org/officeDocument/2006/relationships/image" Target="../media/image39.png"/><Relationship Id="rId2" Type="http://schemas.openxmlformats.org/officeDocument/2006/relationships/slideLayout" Target="../slideLayouts/slideLayout13.xml"/><Relationship Id="rId16" Type="http://schemas.openxmlformats.org/officeDocument/2006/relationships/hyperlink" Target="https://umbrex.com/independent-management-consultants/?utm_source=deck&amp;utm_id=ppt" TargetMode="External"/><Relationship Id="rId1" Type="http://schemas.openxmlformats.org/officeDocument/2006/relationships/tags" Target="../tags/tag126.xml"/><Relationship Id="rId6" Type="http://schemas.openxmlformats.org/officeDocument/2006/relationships/image" Target="../media/image33.png"/><Relationship Id="rId11" Type="http://schemas.openxmlformats.org/officeDocument/2006/relationships/image" Target="../media/image38.svg"/><Relationship Id="rId5" Type="http://schemas.openxmlformats.org/officeDocument/2006/relationships/image" Target="../media/image3.png"/><Relationship Id="rId15" Type="http://schemas.openxmlformats.org/officeDocument/2006/relationships/image" Target="../media/image25.svg"/><Relationship Id="rId10" Type="http://schemas.openxmlformats.org/officeDocument/2006/relationships/image" Target="../media/image37.png"/><Relationship Id="rId4" Type="http://schemas.openxmlformats.org/officeDocument/2006/relationships/image" Target="../media/image11.emf"/><Relationship Id="rId9" Type="http://schemas.openxmlformats.org/officeDocument/2006/relationships/image" Target="../media/image36.svg"/><Relationship Id="rId14" Type="http://schemas.openxmlformats.org/officeDocument/2006/relationships/image" Target="../media/image24.png"/></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53.bin"/><Relationship Id="rId7" Type="http://schemas.openxmlformats.org/officeDocument/2006/relationships/hyperlink" Target="https://umbrex.com/join-our-community/?utm_source=deck&amp;utm_id=ppt" TargetMode="External"/><Relationship Id="rId2" Type="http://schemas.openxmlformats.org/officeDocument/2006/relationships/slideLayout" Target="../slideLayouts/slideLayout13.xml"/><Relationship Id="rId1" Type="http://schemas.openxmlformats.org/officeDocument/2006/relationships/tags" Target="../tags/tag127.xml"/><Relationship Id="rId6" Type="http://schemas.openxmlformats.org/officeDocument/2006/relationships/hyperlink" Target="https://umbrex.com/independent-management-consultants/?utm_source=deck&amp;utm_id=ppt" TargetMode="External"/><Relationship Id="rId5" Type="http://schemas.openxmlformats.org/officeDocument/2006/relationships/image" Target="../media/image3.png"/><Relationship Id="rId4" Type="http://schemas.openxmlformats.org/officeDocument/2006/relationships/image" Target="../media/image11.emf"/></Relationships>
</file>

<file path=ppt/slides/_rels/slide102.xml.rels><?xml version="1.0" encoding="UTF-8" standalone="yes"?>
<Relationships xmlns="http://schemas.openxmlformats.org/package/2006/relationships"><Relationship Id="rId8" Type="http://schemas.openxmlformats.org/officeDocument/2006/relationships/hyperlink" Target="https://umbrex.com/resources/proposal-template/" TargetMode="External"/><Relationship Id="rId13" Type="http://schemas.openxmlformats.org/officeDocument/2006/relationships/hyperlink" Target="https://umbrex.com/resources/how-to-find-clients/" TargetMode="External"/><Relationship Id="rId3" Type="http://schemas.openxmlformats.org/officeDocument/2006/relationships/oleObject" Target="../embeddings/oleObject54.bin"/><Relationship Id="rId7" Type="http://schemas.openxmlformats.org/officeDocument/2006/relationships/hyperlink" Target="https://umbrex.com/resources/consulting-website/" TargetMode="External"/><Relationship Id="rId12" Type="http://schemas.openxmlformats.org/officeDocument/2006/relationships/hyperlink" Target="https://umbrex.com/resources/linkedin-best-practices/" TargetMode="External"/><Relationship Id="rId2" Type="http://schemas.openxmlformats.org/officeDocument/2006/relationships/slideLayout" Target="../slideLayouts/slideLayout13.xml"/><Relationship Id="rId1" Type="http://schemas.openxmlformats.org/officeDocument/2006/relationships/tags" Target="../tags/tag128.xml"/><Relationship Id="rId6" Type="http://schemas.openxmlformats.org/officeDocument/2006/relationships/hyperlink" Target="https://umbrex.com/become-a-consultant/setting-up-your-firm-course-introduction/" TargetMode="External"/><Relationship Id="rId11" Type="http://schemas.openxmlformats.org/officeDocument/2006/relationships/image" Target="../media/image42.svg"/><Relationship Id="rId5" Type="http://schemas.openxmlformats.org/officeDocument/2006/relationships/image" Target="../media/image3.png"/><Relationship Id="rId10" Type="http://schemas.openxmlformats.org/officeDocument/2006/relationships/image" Target="../media/image41.png"/><Relationship Id="rId4" Type="http://schemas.openxmlformats.org/officeDocument/2006/relationships/image" Target="../media/image11.emf"/><Relationship Id="rId9" Type="http://schemas.openxmlformats.org/officeDocument/2006/relationships/hyperlink" Target="https://umbrex.com/resources/consulting-fees/" TargetMode="External"/><Relationship Id="rId14" Type="http://schemas.openxmlformats.org/officeDocument/2006/relationships/hyperlink" Target="https://umbrex.com/resources/?utm_source=deck&amp;utm_id=pp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89D99533-1020-C958-F839-8B16DACCC459}"/>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7" name="Objeto 6" hidden="1">
                        <a:extLst>
                          <a:ext uri="{FF2B5EF4-FFF2-40B4-BE49-F238E27FC236}">
                            <a16:creationId xmlns:a16="http://schemas.microsoft.com/office/drawing/2014/main" id="{89D99533-1020-C958-F839-8B16DACCC4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Marcador de texto 4">
            <a:extLst>
              <a:ext uri="{FF2B5EF4-FFF2-40B4-BE49-F238E27FC236}">
                <a16:creationId xmlns:a16="http://schemas.microsoft.com/office/drawing/2014/main" id="{7A3128B5-8739-DBD2-0883-A4758098E679}"/>
              </a:ext>
            </a:extLst>
          </p:cNvPr>
          <p:cNvSpPr>
            <a:spLocks noGrp="1"/>
          </p:cNvSpPr>
          <p:nvPr>
            <p:ph type="body" sz="quarter" idx="14"/>
          </p:nvPr>
        </p:nvSpPr>
        <p:spPr>
          <a:xfrm>
            <a:off x="5683577" y="1494212"/>
            <a:ext cx="5044126" cy="1154074"/>
          </a:xfrm>
        </p:spPr>
        <p:txBody>
          <a:bodyPr/>
          <a:lstStyle/>
          <a:p>
            <a:pPr>
              <a:lnSpc>
                <a:spcPct val="100000"/>
              </a:lnSpc>
            </a:pPr>
            <a:r>
              <a:rPr lang="en-US" sz="4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Board Reporting Package</a:t>
            </a:r>
          </a:p>
        </p:txBody>
      </p:sp>
      <p:sp>
        <p:nvSpPr>
          <p:cNvPr id="6" name="Marcador de texto 5">
            <a:extLst>
              <a:ext uri="{FF2B5EF4-FFF2-40B4-BE49-F238E27FC236}">
                <a16:creationId xmlns:a16="http://schemas.microsoft.com/office/drawing/2014/main" id="{F5B3CCD8-2147-B08A-1A51-C2936A6C900E}"/>
              </a:ext>
            </a:extLst>
          </p:cNvPr>
          <p:cNvSpPr>
            <a:spLocks noGrp="1"/>
          </p:cNvSpPr>
          <p:nvPr>
            <p:ph type="body" sz="quarter" idx="15"/>
          </p:nvPr>
        </p:nvSpPr>
        <p:spPr>
          <a:xfrm>
            <a:off x="5683577" y="3304234"/>
            <a:ext cx="4766709" cy="466756"/>
          </a:xfrm>
        </p:spPr>
        <p:txBody>
          <a:bodyPr/>
          <a:lstStyle/>
          <a:p>
            <a:r>
              <a:rPr lang="en-US" sz="2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 Umbrex Toolkit</a:t>
            </a:r>
          </a:p>
          <a:p>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TextBox 7">
            <a:extLst>
              <a:ext uri="{FF2B5EF4-FFF2-40B4-BE49-F238E27FC236}">
                <a16:creationId xmlns:a16="http://schemas.microsoft.com/office/drawing/2014/main" id="{4E1D0598-FC8F-D118-7FEF-A8AA703347EA}"/>
              </a:ext>
            </a:extLst>
          </p:cNvPr>
          <p:cNvSpPr txBox="1"/>
          <p:nvPr/>
        </p:nvSpPr>
        <p:spPr>
          <a:xfrm>
            <a:off x="11069782" y="706582"/>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9" name="TextBox 8">
            <a:extLst>
              <a:ext uri="{FF2B5EF4-FFF2-40B4-BE49-F238E27FC236}">
                <a16:creationId xmlns:a16="http://schemas.microsoft.com/office/drawing/2014/main" id="{8EE75AE7-720B-3841-717A-4661A92EB640}"/>
              </a:ext>
            </a:extLst>
          </p:cNvPr>
          <p:cNvSpPr txBox="1"/>
          <p:nvPr/>
        </p:nvSpPr>
        <p:spPr>
          <a:xfrm>
            <a:off x="11125200" y="969818"/>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0" name="TextBox 9">
            <a:extLst>
              <a:ext uri="{FF2B5EF4-FFF2-40B4-BE49-F238E27FC236}">
                <a16:creationId xmlns:a16="http://schemas.microsoft.com/office/drawing/2014/main" id="{2D9559AC-FF52-673E-1B50-BE7E25B952C8}"/>
              </a:ext>
            </a:extLst>
          </p:cNvPr>
          <p:cNvSpPr txBox="1"/>
          <p:nvPr/>
        </p:nvSpPr>
        <p:spPr>
          <a:xfrm>
            <a:off x="10861964" y="609600"/>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1" name="TextBox 10">
            <a:extLst>
              <a:ext uri="{FF2B5EF4-FFF2-40B4-BE49-F238E27FC236}">
                <a16:creationId xmlns:a16="http://schemas.microsoft.com/office/drawing/2014/main" id="{467B99EF-A1BC-6D6E-37BB-44784F642F07}"/>
              </a:ext>
            </a:extLst>
          </p:cNvPr>
          <p:cNvSpPr txBox="1"/>
          <p:nvPr/>
        </p:nvSpPr>
        <p:spPr>
          <a:xfrm>
            <a:off x="10557164" y="928255"/>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2" name="TextBox 11">
            <a:extLst>
              <a:ext uri="{FF2B5EF4-FFF2-40B4-BE49-F238E27FC236}">
                <a16:creationId xmlns:a16="http://schemas.microsoft.com/office/drawing/2014/main" id="{C7D6A23E-2B50-371F-4EFC-A083555B6A6A}"/>
              </a:ext>
            </a:extLst>
          </p:cNvPr>
          <p:cNvSpPr txBox="1"/>
          <p:nvPr/>
        </p:nvSpPr>
        <p:spPr>
          <a:xfrm>
            <a:off x="11374582" y="789709"/>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2" name="Rectangle 21">
            <a:extLst>
              <a:ext uri="{FF2B5EF4-FFF2-40B4-BE49-F238E27FC236}">
                <a16:creationId xmlns:a16="http://schemas.microsoft.com/office/drawing/2014/main" id="{A5ED94B4-3324-BD17-62F2-F8D62F36C124}"/>
              </a:ext>
            </a:extLst>
          </p:cNvPr>
          <p:cNvSpPr/>
          <p:nvPr/>
        </p:nvSpPr>
        <p:spPr>
          <a:xfrm>
            <a:off x="0" y="0"/>
            <a:ext cx="444341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13" name="Picture 12" descr="Text, logo&#10;&#10;Description automatically generated">
            <a:extLst>
              <a:ext uri="{FF2B5EF4-FFF2-40B4-BE49-F238E27FC236}">
                <a16:creationId xmlns:a16="http://schemas.microsoft.com/office/drawing/2014/main" id="{3D96C273-B8ED-F950-8EBB-AC04373CDC32}"/>
              </a:ext>
            </a:extLst>
          </p:cNvPr>
          <p:cNvPicPr>
            <a:picLocks noChangeAspect="1"/>
          </p:cNvPicPr>
          <p:nvPr/>
        </p:nvPicPr>
        <p:blipFill>
          <a:blip r:embed="rId6"/>
          <a:stretch>
            <a:fillRect/>
          </a:stretch>
        </p:blipFill>
        <p:spPr>
          <a:xfrm>
            <a:off x="392721" y="5792016"/>
            <a:ext cx="1690603" cy="458411"/>
          </a:xfrm>
          <a:prstGeom prst="rect">
            <a:avLst/>
          </a:prstGeom>
        </p:spPr>
      </p:pic>
      <p:pic>
        <p:nvPicPr>
          <p:cNvPr id="4" name="Picture 3" descr="A white line drawing of a graph on a black background&#10;&#10;Description automatically generated with medium confidence">
            <a:extLst>
              <a:ext uri="{FF2B5EF4-FFF2-40B4-BE49-F238E27FC236}">
                <a16:creationId xmlns:a16="http://schemas.microsoft.com/office/drawing/2014/main" id="{33FF3F5C-8359-EE60-D3AD-2307E0A50DDE}"/>
              </a:ext>
            </a:extLst>
          </p:cNvPr>
          <p:cNvPicPr>
            <a:picLocks noChangeAspect="1"/>
          </p:cNvPicPr>
          <p:nvPr/>
        </p:nvPicPr>
        <p:blipFill>
          <a:blip r:embed="rId7"/>
          <a:stretch>
            <a:fillRect/>
          </a:stretch>
        </p:blipFill>
        <p:spPr>
          <a:xfrm>
            <a:off x="986609" y="567180"/>
            <a:ext cx="2081106" cy="2081106"/>
          </a:xfrm>
          <a:prstGeom prst="rect">
            <a:avLst/>
          </a:prstGeom>
        </p:spPr>
      </p:pic>
    </p:spTree>
    <p:extLst>
      <p:ext uri="{BB962C8B-B14F-4D97-AF65-F5344CB8AC3E}">
        <p14:creationId xmlns:p14="http://schemas.microsoft.com/office/powerpoint/2010/main" val="1127126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Board Reporting Package</a:t>
            </a:r>
            <a:br>
              <a:rPr lang="en-US" dirty="0"/>
            </a:br>
            <a:endParaRPr lang="en-US" dirty="0"/>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55599" y="1134326"/>
            <a:ext cx="11449050" cy="4787900"/>
          </a:xfrm>
        </p:spPr>
        <p:txBody>
          <a:bodyPr/>
          <a:lstStyle/>
          <a:p>
            <a:r>
              <a:rPr lang="en-US" sz="1200" b="0" dirty="0"/>
              <a:t>This template was created by </a:t>
            </a:r>
            <a:r>
              <a:rPr lang="en-US" sz="1200" b="0" dirty="0" err="1"/>
              <a:t>Umbrex</a:t>
            </a:r>
            <a:r>
              <a:rPr lang="en-US" sz="1200" b="0" dirty="0"/>
              <a:t> for the free use of independent consultants everywhere. </a:t>
            </a:r>
          </a:p>
          <a:p>
            <a:r>
              <a:rPr lang="en-US" sz="1200" b="0" dirty="0"/>
              <a:t>The Board Reporting Package is a presentation provided on each portfolio company to use when creating a quarterly update to the Board of Directors. </a:t>
            </a:r>
          </a:p>
          <a:p>
            <a:r>
              <a:rPr lang="en-US" sz="1200" b="0" dirty="0"/>
              <a:t>This presentation template includes ~80 slides that would normally be included in a Board Reporting Package, along with a list of what each slide should include.</a:t>
            </a:r>
          </a:p>
          <a:p>
            <a:endParaRPr lang="en-US" sz="1200" b="0" dirty="0"/>
          </a:p>
          <a:p>
            <a:endParaRPr lang="en-US" sz="1200" b="0" dirty="0"/>
          </a:p>
        </p:txBody>
      </p:sp>
    </p:spTree>
    <p:extLst>
      <p:ext uri="{BB962C8B-B14F-4D97-AF65-F5344CB8AC3E}">
        <p14:creationId xmlns:p14="http://schemas.microsoft.com/office/powerpoint/2010/main" val="3723122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E4B6F3D-F39D-82FA-3528-A3F1F7B178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E4B6F3D-F39D-82FA-3528-A3F1F7B178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9D66EAD0-976A-9CBA-E440-3B5D7F6C7065}"/>
              </a:ext>
            </a:extLst>
          </p:cNvPr>
          <p:cNvSpPr>
            <a:spLocks noGrp="1"/>
          </p:cNvSpPr>
          <p:nvPr>
            <p:ph type="title"/>
          </p:nvPr>
        </p:nvSpPr>
        <p:spPr/>
        <p:txBody>
          <a:bodyPr vert="horz"/>
          <a:lstStyle/>
          <a:p>
            <a:r>
              <a:rPr lang="en-US" dirty="0"/>
              <a:t>Board Reporting Package Contents</a:t>
            </a:r>
          </a:p>
        </p:txBody>
      </p:sp>
      <p:sp>
        <p:nvSpPr>
          <p:cNvPr id="23" name="Rounded Rectangle 33">
            <a:extLst>
              <a:ext uri="{FF2B5EF4-FFF2-40B4-BE49-F238E27FC236}">
                <a16:creationId xmlns:a16="http://schemas.microsoft.com/office/drawing/2014/main" id="{C82EEC47-011A-3986-C4CD-0F6BF3E13A5C}"/>
              </a:ext>
            </a:extLst>
          </p:cNvPr>
          <p:cNvSpPr/>
          <p:nvPr/>
        </p:nvSpPr>
        <p:spPr>
          <a:xfrm>
            <a:off x="409762" y="853079"/>
            <a:ext cx="2594695" cy="533400"/>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CEO &amp; BOARD CHAIR</a:t>
            </a:r>
          </a:p>
        </p:txBody>
      </p:sp>
      <p:sp>
        <p:nvSpPr>
          <p:cNvPr id="54" name="TextBox 53">
            <a:extLst>
              <a:ext uri="{FF2B5EF4-FFF2-40B4-BE49-F238E27FC236}">
                <a16:creationId xmlns:a16="http://schemas.microsoft.com/office/drawing/2014/main" id="{C852F15D-DEBA-82B2-6A49-FB2C85CB3853}"/>
              </a:ext>
            </a:extLst>
          </p:cNvPr>
          <p:cNvSpPr txBox="1"/>
          <p:nvPr/>
        </p:nvSpPr>
        <p:spPr>
          <a:xfrm>
            <a:off x="409762" y="151065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CEO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Board Chair Update</a:t>
            </a:r>
          </a:p>
        </p:txBody>
      </p:sp>
      <p:sp>
        <p:nvSpPr>
          <p:cNvPr id="55" name="Rounded Rectangle 33">
            <a:extLst>
              <a:ext uri="{FF2B5EF4-FFF2-40B4-BE49-F238E27FC236}">
                <a16:creationId xmlns:a16="http://schemas.microsoft.com/office/drawing/2014/main" id="{95A91E49-9A8A-96D6-533B-2C56F869D32F}"/>
              </a:ext>
            </a:extLst>
          </p:cNvPr>
          <p:cNvSpPr/>
          <p:nvPr/>
        </p:nvSpPr>
        <p:spPr>
          <a:xfrm>
            <a:off x="9295000" y="2148795"/>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CORPORATE DEVELOPMENT</a:t>
            </a:r>
          </a:p>
        </p:txBody>
      </p:sp>
      <p:sp>
        <p:nvSpPr>
          <p:cNvPr id="56" name="TextBox 55">
            <a:extLst>
              <a:ext uri="{FF2B5EF4-FFF2-40B4-BE49-F238E27FC236}">
                <a16:creationId xmlns:a16="http://schemas.microsoft.com/office/drawing/2014/main" id="{078BE5D7-CBB0-7B3D-AFEE-E049B3EC8AFE}"/>
              </a:ext>
            </a:extLst>
          </p:cNvPr>
          <p:cNvSpPr txBox="1"/>
          <p:nvPr/>
        </p:nvSpPr>
        <p:spPr>
          <a:xfrm>
            <a:off x="9282200" y="2827201"/>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Partnerships &amp; Alliances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Mergers &amp; Acquisitions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Post-merger Integration</a:t>
            </a:r>
          </a:p>
        </p:txBody>
      </p:sp>
      <p:sp>
        <p:nvSpPr>
          <p:cNvPr id="57" name="Rounded Rectangle 33">
            <a:extLst>
              <a:ext uri="{FF2B5EF4-FFF2-40B4-BE49-F238E27FC236}">
                <a16:creationId xmlns:a16="http://schemas.microsoft.com/office/drawing/2014/main" id="{047EDAFC-A516-E05C-A91F-44C7C46FB147}"/>
              </a:ext>
            </a:extLst>
          </p:cNvPr>
          <p:cNvSpPr/>
          <p:nvPr/>
        </p:nvSpPr>
        <p:spPr>
          <a:xfrm>
            <a:off x="9282200" y="3579788"/>
            <a:ext cx="2594695" cy="530969"/>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OTHER CORPORATE FUNCTIONS</a:t>
            </a:r>
          </a:p>
        </p:txBody>
      </p:sp>
      <p:sp>
        <p:nvSpPr>
          <p:cNvPr id="58" name="TextBox 57">
            <a:extLst>
              <a:ext uri="{FF2B5EF4-FFF2-40B4-BE49-F238E27FC236}">
                <a16:creationId xmlns:a16="http://schemas.microsoft.com/office/drawing/2014/main" id="{7A3E0AED-BC63-D8B3-2F56-CAFD1E971E31}"/>
              </a:ext>
            </a:extLst>
          </p:cNvPr>
          <p:cNvSpPr txBox="1"/>
          <p:nvPr/>
        </p:nvSpPr>
        <p:spPr>
          <a:xfrm>
            <a:off x="9282200" y="4264916"/>
            <a:ext cx="2620293" cy="1687284"/>
          </a:xfrm>
          <a:prstGeom prst="rect">
            <a:avLst/>
          </a:prstGeom>
          <a:noFill/>
        </p:spPr>
        <p:txBody>
          <a:bodyPr wrap="square" lIns="0" tIns="0" rIns="0" bIns="0" rtlCol="0">
            <a:noAutofit/>
          </a:bodyPr>
          <a:lstStyle/>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Intellectual Property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Risk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Legal &amp; Regulatory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Litigation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Investor Relations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Community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ESG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Sustainability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Awards &amp; Recognition</a:t>
            </a:r>
          </a:p>
        </p:txBody>
      </p:sp>
      <p:sp>
        <p:nvSpPr>
          <p:cNvPr id="59" name="Rounded Rectangle 33">
            <a:extLst>
              <a:ext uri="{FF2B5EF4-FFF2-40B4-BE49-F238E27FC236}">
                <a16:creationId xmlns:a16="http://schemas.microsoft.com/office/drawing/2014/main" id="{92BD0F0E-08AC-37AD-FD60-1F03343DE46E}"/>
              </a:ext>
            </a:extLst>
          </p:cNvPr>
          <p:cNvSpPr/>
          <p:nvPr/>
        </p:nvSpPr>
        <p:spPr>
          <a:xfrm>
            <a:off x="384173" y="2005691"/>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AGENDA</a:t>
            </a:r>
          </a:p>
        </p:txBody>
      </p:sp>
      <p:sp>
        <p:nvSpPr>
          <p:cNvPr id="60" name="Rounded Rectangle 33">
            <a:extLst>
              <a:ext uri="{FF2B5EF4-FFF2-40B4-BE49-F238E27FC236}">
                <a16:creationId xmlns:a16="http://schemas.microsoft.com/office/drawing/2014/main" id="{CB90976E-C934-E589-3C43-C6536961F66B}"/>
              </a:ext>
            </a:extLst>
          </p:cNvPr>
          <p:cNvSpPr/>
          <p:nvPr/>
        </p:nvSpPr>
        <p:spPr>
          <a:xfrm>
            <a:off x="3371511" y="842768"/>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PRODUCT</a:t>
            </a:r>
          </a:p>
        </p:txBody>
      </p:sp>
      <p:sp>
        <p:nvSpPr>
          <p:cNvPr id="61" name="Rounded Rectangle 33">
            <a:extLst>
              <a:ext uri="{FF2B5EF4-FFF2-40B4-BE49-F238E27FC236}">
                <a16:creationId xmlns:a16="http://schemas.microsoft.com/office/drawing/2014/main" id="{7FA80707-EFC9-FBBD-95A3-C53653725FD5}"/>
              </a:ext>
            </a:extLst>
          </p:cNvPr>
          <p:cNvSpPr/>
          <p:nvPr/>
        </p:nvSpPr>
        <p:spPr>
          <a:xfrm>
            <a:off x="3371510" y="221609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MARKETING</a:t>
            </a:r>
          </a:p>
        </p:txBody>
      </p:sp>
      <p:sp>
        <p:nvSpPr>
          <p:cNvPr id="62" name="TextBox 61">
            <a:extLst>
              <a:ext uri="{FF2B5EF4-FFF2-40B4-BE49-F238E27FC236}">
                <a16:creationId xmlns:a16="http://schemas.microsoft.com/office/drawing/2014/main" id="{30745068-3C50-A3AC-D3F9-F374532A853E}"/>
              </a:ext>
            </a:extLst>
          </p:cNvPr>
          <p:cNvSpPr txBox="1"/>
          <p:nvPr/>
        </p:nvSpPr>
        <p:spPr>
          <a:xfrm>
            <a:off x="409762" y="3815874"/>
            <a:ext cx="2620293" cy="2923758"/>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Financial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Income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Cash Flow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Balance Sheet</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Revenue Breakdown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Operating Expenses Breakdown</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Cost Reduction Initiatives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Profitability Analysis/ROI</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Working Capital Analysis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Receivable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Payable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Expenditures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Raising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Debt Overview &amp; Refinancing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Tax</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Property &amp; Real Estate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Foreign Currency Exposure</a:t>
            </a:r>
          </a:p>
        </p:txBody>
      </p:sp>
      <p:sp>
        <p:nvSpPr>
          <p:cNvPr id="1025" name="TextBox 1024">
            <a:extLst>
              <a:ext uri="{FF2B5EF4-FFF2-40B4-BE49-F238E27FC236}">
                <a16:creationId xmlns:a16="http://schemas.microsoft.com/office/drawing/2014/main" id="{02F92317-B039-B079-BB61-FC63C637FB38}"/>
              </a:ext>
            </a:extLst>
          </p:cNvPr>
          <p:cNvSpPr txBox="1"/>
          <p:nvPr/>
        </p:nvSpPr>
        <p:spPr>
          <a:xfrm>
            <a:off x="3371511" y="151559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Development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Research &amp;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Roadmap</a:t>
            </a:r>
          </a:p>
        </p:txBody>
      </p:sp>
      <p:sp>
        <p:nvSpPr>
          <p:cNvPr id="1026" name="TextBox 1025">
            <a:extLst>
              <a:ext uri="{FF2B5EF4-FFF2-40B4-BE49-F238E27FC236}">
                <a16:creationId xmlns:a16="http://schemas.microsoft.com/office/drawing/2014/main" id="{CC1A5311-249B-C428-EBB6-A72E016472C6}"/>
              </a:ext>
            </a:extLst>
          </p:cNvPr>
          <p:cNvSpPr txBox="1"/>
          <p:nvPr/>
        </p:nvSpPr>
        <p:spPr>
          <a:xfrm>
            <a:off x="3371511" y="286130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Initiatives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Expansion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ROI</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Pricing Strategy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Data &amp; Analytics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Advertising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Competitors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Branding &amp; Marketing Materials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Website</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Social Media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Industry Events &amp; Conferences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Public Relations</a:t>
            </a:r>
          </a:p>
        </p:txBody>
      </p:sp>
      <p:sp>
        <p:nvSpPr>
          <p:cNvPr id="1027" name="Rounded Rectangle 33">
            <a:extLst>
              <a:ext uri="{FF2B5EF4-FFF2-40B4-BE49-F238E27FC236}">
                <a16:creationId xmlns:a16="http://schemas.microsoft.com/office/drawing/2014/main" id="{D14AE144-6082-3A53-FA31-003FBCFBEE2C}"/>
              </a:ext>
            </a:extLst>
          </p:cNvPr>
          <p:cNvSpPr/>
          <p:nvPr/>
        </p:nvSpPr>
        <p:spPr>
          <a:xfrm>
            <a:off x="3371509" y="524534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SALES</a:t>
            </a:r>
          </a:p>
        </p:txBody>
      </p:sp>
      <p:sp>
        <p:nvSpPr>
          <p:cNvPr id="1028" name="TextBox 1027">
            <a:extLst>
              <a:ext uri="{FF2B5EF4-FFF2-40B4-BE49-F238E27FC236}">
                <a16:creationId xmlns:a16="http://schemas.microsoft.com/office/drawing/2014/main" id="{F1DE495A-583A-63C4-C570-434B9345A842}"/>
              </a:ext>
            </a:extLst>
          </p:cNvPr>
          <p:cNvSpPr txBox="1"/>
          <p:nvPr/>
        </p:nvSpPr>
        <p:spPr>
          <a:xfrm>
            <a:off x="3371511" y="589055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Pipeline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Team Performance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Region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Channel</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Channel Partners</a:t>
            </a:r>
          </a:p>
        </p:txBody>
      </p:sp>
      <p:sp>
        <p:nvSpPr>
          <p:cNvPr id="1029" name="Rounded Rectangle 33">
            <a:extLst>
              <a:ext uri="{FF2B5EF4-FFF2-40B4-BE49-F238E27FC236}">
                <a16:creationId xmlns:a16="http://schemas.microsoft.com/office/drawing/2014/main" id="{E46F2696-EE7E-BBE9-9BF4-4DC8BC64543E}"/>
              </a:ext>
            </a:extLst>
          </p:cNvPr>
          <p:cNvSpPr/>
          <p:nvPr/>
        </p:nvSpPr>
        <p:spPr>
          <a:xfrm>
            <a:off x="6333261" y="2511844"/>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CUSTOMERS</a:t>
            </a:r>
          </a:p>
        </p:txBody>
      </p:sp>
      <p:sp>
        <p:nvSpPr>
          <p:cNvPr id="1030" name="Rounded Rectangle 33">
            <a:extLst>
              <a:ext uri="{FF2B5EF4-FFF2-40B4-BE49-F238E27FC236}">
                <a16:creationId xmlns:a16="http://schemas.microsoft.com/office/drawing/2014/main" id="{E5838DA9-13C2-4188-6172-7E7C7EDFA057}"/>
              </a:ext>
            </a:extLst>
          </p:cNvPr>
          <p:cNvSpPr/>
          <p:nvPr/>
        </p:nvSpPr>
        <p:spPr>
          <a:xfrm>
            <a:off x="6333261" y="846554"/>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OPERATIONS AND SUPPLY CHAIN</a:t>
            </a:r>
          </a:p>
        </p:txBody>
      </p:sp>
      <p:sp>
        <p:nvSpPr>
          <p:cNvPr id="1032" name="Rounded Rectangle 33">
            <a:extLst>
              <a:ext uri="{FF2B5EF4-FFF2-40B4-BE49-F238E27FC236}">
                <a16:creationId xmlns:a16="http://schemas.microsoft.com/office/drawing/2014/main" id="{A5872E9A-5A2E-D1A6-AEC1-30E6373A0CF4}"/>
              </a:ext>
            </a:extLst>
          </p:cNvPr>
          <p:cNvSpPr/>
          <p:nvPr/>
        </p:nvSpPr>
        <p:spPr>
          <a:xfrm>
            <a:off x="9295011" y="865239"/>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INFORMATION TECHNOLOGY</a:t>
            </a:r>
          </a:p>
        </p:txBody>
      </p:sp>
      <p:sp>
        <p:nvSpPr>
          <p:cNvPr id="1033" name="Rounded Rectangle 33">
            <a:extLst>
              <a:ext uri="{FF2B5EF4-FFF2-40B4-BE49-F238E27FC236}">
                <a16:creationId xmlns:a16="http://schemas.microsoft.com/office/drawing/2014/main" id="{DB676218-8B0C-2374-3190-ADAFBD304B29}"/>
              </a:ext>
            </a:extLst>
          </p:cNvPr>
          <p:cNvSpPr/>
          <p:nvPr/>
        </p:nvSpPr>
        <p:spPr>
          <a:xfrm>
            <a:off x="6333261" y="4356030"/>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HUMAN RESOURCES</a:t>
            </a:r>
          </a:p>
        </p:txBody>
      </p:sp>
      <p:sp>
        <p:nvSpPr>
          <p:cNvPr id="1035" name="TextBox 1034">
            <a:extLst>
              <a:ext uri="{FF2B5EF4-FFF2-40B4-BE49-F238E27FC236}">
                <a16:creationId xmlns:a16="http://schemas.microsoft.com/office/drawing/2014/main" id="{01C116CF-D899-36F7-219D-C1159D8B52D7}"/>
              </a:ext>
            </a:extLst>
          </p:cNvPr>
          <p:cNvSpPr txBox="1"/>
          <p:nvPr/>
        </p:nvSpPr>
        <p:spPr>
          <a:xfrm>
            <a:off x="6358858"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Operations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Supply Chain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Emergency Preparedness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Suppliers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Worker Safety</a:t>
            </a:r>
          </a:p>
        </p:txBody>
      </p:sp>
      <p:sp>
        <p:nvSpPr>
          <p:cNvPr id="1036" name="TextBox 1035">
            <a:extLst>
              <a:ext uri="{FF2B5EF4-FFF2-40B4-BE49-F238E27FC236}">
                <a16:creationId xmlns:a16="http://schemas.microsoft.com/office/drawing/2014/main" id="{6D63E6C1-0425-4437-888A-F3E8D5A060AC}"/>
              </a:ext>
            </a:extLst>
          </p:cNvPr>
          <p:cNvSpPr txBox="1"/>
          <p:nvPr/>
        </p:nvSpPr>
        <p:spPr>
          <a:xfrm>
            <a:off x="6333260" y="3208935"/>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Service</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Satisfaction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Consumer Insights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Case Studies</a:t>
            </a:r>
          </a:p>
        </p:txBody>
      </p:sp>
      <p:sp>
        <p:nvSpPr>
          <p:cNvPr id="1037" name="TextBox 1036">
            <a:extLst>
              <a:ext uri="{FF2B5EF4-FFF2-40B4-BE49-F238E27FC236}">
                <a16:creationId xmlns:a16="http://schemas.microsoft.com/office/drawing/2014/main" id="{2BD1D13D-59B1-D4F8-4E1E-A026079AC144}"/>
              </a:ext>
            </a:extLst>
          </p:cNvPr>
          <p:cNvSpPr txBox="1"/>
          <p:nvPr/>
        </p:nvSpPr>
        <p:spPr>
          <a:xfrm>
            <a:off x="9346205"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IT Infrastructure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Cybersecurity</a:t>
            </a:r>
          </a:p>
        </p:txBody>
      </p:sp>
      <p:sp>
        <p:nvSpPr>
          <p:cNvPr id="1039" name="TextBox 1038">
            <a:extLst>
              <a:ext uri="{FF2B5EF4-FFF2-40B4-BE49-F238E27FC236}">
                <a16:creationId xmlns:a16="http://schemas.microsoft.com/office/drawing/2014/main" id="{7F71797E-DAE7-019D-7E27-5D562C6571DD}"/>
              </a:ext>
            </a:extLst>
          </p:cNvPr>
          <p:cNvSpPr txBox="1"/>
          <p:nvPr/>
        </p:nvSpPr>
        <p:spPr>
          <a:xfrm>
            <a:off x="6333260" y="5052741"/>
            <a:ext cx="2831794"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Human Resources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Organizational 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Leadership Team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Talent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Compensation</a:t>
            </a:r>
            <a:r>
              <a:rPr lang="en-US" sz="1100" dirty="0">
                <a:solidFill>
                  <a:srgbClr val="000000"/>
                </a:solidFill>
                <a:latin typeface="Verdana"/>
              </a:rPr>
              <a:t> and </a:t>
            </a:r>
            <a:r>
              <a:rPr kumimoji="0" lang="en-US" sz="1100" b="0" i="0" u="none" strike="noStrike" kern="1200" cap="none" spc="0" normalizeH="0" baseline="0" noProof="0" dirty="0">
                <a:ln>
                  <a:noFill/>
                </a:ln>
                <a:solidFill>
                  <a:srgbClr val="000000"/>
                </a:solidFill>
                <a:effectLst/>
                <a:uLnTx/>
                <a:uFillTx/>
                <a:latin typeface="Verdana"/>
                <a:ea typeface="+mn-ea"/>
                <a:cs typeface="+mn-cs"/>
              </a:rPr>
              <a:t>Benefits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Learning and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Diversity, Equity, and Inclusion</a:t>
            </a:r>
          </a:p>
        </p:txBody>
      </p:sp>
      <p:sp>
        <p:nvSpPr>
          <p:cNvPr id="2" name="Rounded Rectangle 33">
            <a:extLst>
              <a:ext uri="{FF2B5EF4-FFF2-40B4-BE49-F238E27FC236}">
                <a16:creationId xmlns:a16="http://schemas.microsoft.com/office/drawing/2014/main" id="{1B612D95-4099-846D-D69A-44F681C34655}"/>
              </a:ext>
            </a:extLst>
          </p:cNvPr>
          <p:cNvSpPr/>
          <p:nvPr/>
        </p:nvSpPr>
        <p:spPr>
          <a:xfrm>
            <a:off x="384173" y="3162300"/>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FINANCE</a:t>
            </a:r>
          </a:p>
        </p:txBody>
      </p:sp>
      <p:sp>
        <p:nvSpPr>
          <p:cNvPr id="4" name="TextBox 3">
            <a:extLst>
              <a:ext uri="{FF2B5EF4-FFF2-40B4-BE49-F238E27FC236}">
                <a16:creationId xmlns:a16="http://schemas.microsoft.com/office/drawing/2014/main" id="{F322B9F2-CA67-D5B4-CC60-7F01099438FE}"/>
              </a:ext>
            </a:extLst>
          </p:cNvPr>
          <p:cNvSpPr txBox="1"/>
          <p:nvPr/>
        </p:nvSpPr>
        <p:spPr>
          <a:xfrm>
            <a:off x="384173" y="2663262"/>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Agenda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Previous Meeting Minutes</a:t>
            </a:r>
          </a:p>
        </p:txBody>
      </p:sp>
    </p:spTree>
    <p:extLst>
      <p:ext uri="{BB962C8B-B14F-4D97-AF65-F5344CB8AC3E}">
        <p14:creationId xmlns:p14="http://schemas.microsoft.com/office/powerpoint/2010/main" val="2387070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CEO Update</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Brief introduction to the report and its purpose</a:t>
            </a:r>
          </a:p>
          <a:p>
            <a:pPr marL="228600" indent="-228600" algn="l">
              <a:buFont typeface="+mj-lt"/>
              <a:buAutoNum type="arabicPeriod"/>
            </a:pPr>
            <a:r>
              <a:rPr lang="en-US" sz="1200" i="0" dirty="0">
                <a:solidFill>
                  <a:srgbClr val="374151"/>
                </a:solidFill>
                <a:effectLst/>
                <a:latin typeface="Söhne"/>
              </a:rPr>
              <a:t>Company performance</a:t>
            </a:r>
            <a:r>
              <a:rPr lang="en-US" sz="1200" b="0" i="0" dirty="0">
                <a:solidFill>
                  <a:srgbClr val="374151"/>
                </a:solidFill>
                <a:effectLst/>
                <a:latin typeface="Söhne"/>
              </a:rPr>
              <a:t>: An overview of the company's performance during the quarter, including financial highlights, market position, and competitive landscape</a:t>
            </a:r>
          </a:p>
          <a:p>
            <a:pPr marL="228600" indent="-228600" algn="l">
              <a:buFont typeface="+mj-lt"/>
              <a:buAutoNum type="arabicPeriod"/>
            </a:pPr>
            <a:r>
              <a:rPr lang="en-US" sz="1200" i="0" dirty="0">
                <a:solidFill>
                  <a:srgbClr val="374151"/>
                </a:solidFill>
                <a:effectLst/>
                <a:latin typeface="Söhne"/>
              </a:rPr>
              <a:t>Key priorities</a:t>
            </a:r>
            <a:r>
              <a:rPr lang="en-US" sz="1200" b="0" i="0" dirty="0">
                <a:solidFill>
                  <a:srgbClr val="374151"/>
                </a:solidFill>
                <a:effectLst/>
                <a:latin typeface="Söhne"/>
              </a:rPr>
              <a:t>: A discussion of the CEO's key priorities for the company, including strategic initiatives, growth opportunities, and any challenges that may impact the company's performance</a:t>
            </a:r>
          </a:p>
          <a:p>
            <a:pPr marL="228600" indent="-228600" algn="l">
              <a:buFont typeface="+mj-lt"/>
              <a:buAutoNum type="arabicPeriod"/>
            </a:pPr>
            <a:r>
              <a:rPr lang="en-US" sz="1200" i="0" dirty="0">
                <a:solidFill>
                  <a:srgbClr val="374151"/>
                </a:solidFill>
                <a:effectLst/>
                <a:latin typeface="Söhne"/>
              </a:rPr>
              <a:t>Employee engagement</a:t>
            </a:r>
            <a:r>
              <a:rPr lang="en-US" sz="1200" b="0" i="0" dirty="0">
                <a:solidFill>
                  <a:srgbClr val="374151"/>
                </a:solidFill>
                <a:effectLst/>
                <a:latin typeface="Söhne"/>
              </a:rPr>
              <a:t>: An update on employee engagement initiatives and the company's culture, including any feedback from employees and initiatives to improve employee satisfaction</a:t>
            </a:r>
          </a:p>
          <a:p>
            <a:pPr marL="228600" indent="-228600" algn="l">
              <a:buFont typeface="+mj-lt"/>
              <a:buAutoNum type="arabicPeriod"/>
            </a:pPr>
            <a:r>
              <a:rPr lang="en-US" sz="1200" i="0" dirty="0">
                <a:solidFill>
                  <a:srgbClr val="374151"/>
                </a:solidFill>
                <a:effectLst/>
                <a:latin typeface="Söhne"/>
              </a:rPr>
              <a:t>Stakeholder engagement</a:t>
            </a:r>
            <a:r>
              <a:rPr lang="en-US" sz="1200" b="0" i="0" dirty="0">
                <a:solidFill>
                  <a:srgbClr val="374151"/>
                </a:solidFill>
                <a:effectLst/>
                <a:latin typeface="Söhne"/>
              </a:rPr>
              <a:t>: An overview of the company's engagement with key stakeholders, including customers, investors, and community groups</a:t>
            </a:r>
          </a:p>
          <a:p>
            <a:pPr marL="228600" indent="-228600" algn="l">
              <a:buFont typeface="+mj-lt"/>
              <a:buAutoNum type="arabicPeriod"/>
            </a:pPr>
            <a:r>
              <a:rPr lang="en-US" sz="1200" i="0" dirty="0">
                <a:solidFill>
                  <a:srgbClr val="374151"/>
                </a:solidFill>
                <a:effectLst/>
                <a:latin typeface="Söhne"/>
              </a:rPr>
              <a:t>Industry trends</a:t>
            </a:r>
            <a:r>
              <a:rPr lang="en-US" sz="1200" b="0" i="0" dirty="0">
                <a:solidFill>
                  <a:srgbClr val="374151"/>
                </a:solidFill>
                <a:effectLst/>
                <a:latin typeface="Söhne"/>
              </a:rPr>
              <a:t>: A discussion of relevant industry trends and the company's response to these trends</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summary of the CEO's report and any recommendations for the Board.</a:t>
            </a:r>
          </a:p>
        </p:txBody>
      </p:sp>
    </p:spTree>
    <p:extLst>
      <p:ext uri="{BB962C8B-B14F-4D97-AF65-F5344CB8AC3E}">
        <p14:creationId xmlns:p14="http://schemas.microsoft.com/office/powerpoint/2010/main" val="1718138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Board Chair Update</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dirty="0">
                <a:solidFill>
                  <a:srgbClr val="374151"/>
                </a:solidFill>
                <a:latin typeface="Söhne"/>
              </a:rPr>
              <a:t>Introduction</a:t>
            </a:r>
            <a:r>
              <a:rPr lang="en-US" sz="1200" b="0" dirty="0">
                <a:solidFill>
                  <a:srgbClr val="374151"/>
                </a:solidFill>
                <a:latin typeface="Söhne"/>
              </a:rPr>
              <a:t>: Overview of Board of Directors meetings held during the quarter, including dates, attendees, and agenda items.</a:t>
            </a:r>
          </a:p>
          <a:p>
            <a:pPr marL="228600" indent="-228600" algn="l">
              <a:buFont typeface="+mj-lt"/>
              <a:buAutoNum type="arabicPeriod"/>
            </a:pPr>
            <a:r>
              <a:rPr lang="en-US" sz="1200" dirty="0">
                <a:solidFill>
                  <a:srgbClr val="374151"/>
                </a:solidFill>
                <a:latin typeface="Söhne"/>
              </a:rPr>
              <a:t>Key decisions: </a:t>
            </a:r>
            <a:r>
              <a:rPr lang="en-US" sz="1200" b="0" dirty="0">
                <a:solidFill>
                  <a:srgbClr val="374151"/>
                </a:solidFill>
                <a:latin typeface="Söhne"/>
              </a:rPr>
              <a:t>Summary of any key decisions made by the Board of Directors during the quarter, such as changes to corporate strategy or significant investments.</a:t>
            </a:r>
          </a:p>
          <a:p>
            <a:pPr marL="228600" indent="-228600" algn="l">
              <a:buFont typeface="+mj-lt"/>
              <a:buAutoNum type="arabicPeriod"/>
            </a:pPr>
            <a:r>
              <a:rPr lang="en-US" sz="1200" dirty="0">
                <a:solidFill>
                  <a:srgbClr val="374151"/>
                </a:solidFill>
                <a:latin typeface="Söhne"/>
              </a:rPr>
              <a:t>Actions: </a:t>
            </a:r>
            <a:r>
              <a:rPr lang="en-US" sz="1200" b="0" dirty="0">
                <a:solidFill>
                  <a:srgbClr val="374151"/>
                </a:solidFill>
                <a:latin typeface="Söhne"/>
              </a:rPr>
              <a:t>Overview of any actions taken by the Board of Directors during the quarter, such as the appointment of new members or the approval of financial statements.</a:t>
            </a:r>
          </a:p>
          <a:p>
            <a:pPr marL="228600" indent="-228600" algn="l">
              <a:buFont typeface="+mj-lt"/>
              <a:buAutoNum type="arabicPeriod"/>
            </a:pPr>
            <a:r>
              <a:rPr lang="en-US" sz="1200" dirty="0">
                <a:solidFill>
                  <a:srgbClr val="374151"/>
                </a:solidFill>
                <a:latin typeface="Söhne"/>
              </a:rPr>
              <a:t>Key initiatives: </a:t>
            </a:r>
            <a:r>
              <a:rPr lang="en-US" sz="1200" b="0" dirty="0">
                <a:solidFill>
                  <a:srgbClr val="374151"/>
                </a:solidFill>
                <a:latin typeface="Söhne"/>
              </a:rPr>
              <a:t>Update on any key initiatives or projects assigned to the Board of Directors during the quarter, including progress and timelines.</a:t>
            </a:r>
          </a:p>
          <a:p>
            <a:pPr marL="228600" indent="-228600" algn="l">
              <a:buFont typeface="+mj-lt"/>
              <a:buAutoNum type="arabicPeriod"/>
            </a:pPr>
            <a:r>
              <a:rPr lang="en-US" sz="1200" dirty="0">
                <a:solidFill>
                  <a:srgbClr val="374151"/>
                </a:solidFill>
                <a:latin typeface="Söhne"/>
              </a:rPr>
              <a:t>Meetings: </a:t>
            </a:r>
            <a:r>
              <a:rPr lang="en-US" sz="1200" b="0" dirty="0">
                <a:solidFill>
                  <a:srgbClr val="374151"/>
                </a:solidFill>
                <a:latin typeface="Söhne"/>
              </a:rPr>
              <a:t>Discussion of any upcoming meetings or events related to the Board of Directors, including dates and agenda items.</a:t>
            </a:r>
          </a:p>
          <a:p>
            <a:pPr marL="228600" indent="-228600">
              <a:buFont typeface="+mj-lt"/>
              <a:buAutoNum type="arabicPeriod"/>
            </a:pPr>
            <a:r>
              <a:rPr lang="en-US" sz="1200" i="0" dirty="0">
                <a:solidFill>
                  <a:srgbClr val="374151"/>
                </a:solidFill>
                <a:effectLst/>
                <a:latin typeface="Söhne"/>
              </a:rPr>
              <a:t>Committee members</a:t>
            </a:r>
            <a:r>
              <a:rPr lang="en-US" sz="1200" b="0" i="0" dirty="0">
                <a:solidFill>
                  <a:srgbClr val="374151"/>
                </a:solidFill>
                <a:effectLst/>
                <a:latin typeface="Söhne"/>
              </a:rPr>
              <a:t>: A list of committee members, along with their titles and any relevant expertise. This can help provide context for the committee's work and give the Board a sense of the individuals driving key initiatives within the organization.</a:t>
            </a:r>
            <a:endParaRPr lang="en-US" sz="1200" b="0" dirty="0">
              <a:solidFill>
                <a:srgbClr val="374151"/>
              </a:solidFill>
              <a:latin typeface="Söhne"/>
            </a:endParaRPr>
          </a:p>
          <a:p>
            <a:pPr marL="228600" indent="-228600" algn="l">
              <a:buFont typeface="+mj-lt"/>
              <a:buAutoNum type="arabicPeriod"/>
            </a:pPr>
            <a:r>
              <a:rPr lang="en-US" sz="1200" dirty="0">
                <a:solidFill>
                  <a:srgbClr val="374151"/>
                </a:solidFill>
                <a:latin typeface="Söhne"/>
              </a:rPr>
              <a:t>C</a:t>
            </a:r>
            <a:r>
              <a:rPr lang="en-US" sz="1200" i="0" dirty="0">
                <a:solidFill>
                  <a:srgbClr val="374151"/>
                </a:solidFill>
                <a:effectLst/>
                <a:latin typeface="Söhne"/>
              </a:rPr>
              <a:t>ommittee</a:t>
            </a:r>
            <a:r>
              <a:rPr lang="en-US" sz="1200" b="0" dirty="0">
                <a:solidFill>
                  <a:srgbClr val="374151"/>
                </a:solidFill>
                <a:latin typeface="Söhne"/>
              </a:rPr>
              <a:t> </a:t>
            </a:r>
            <a:r>
              <a:rPr lang="en-US" sz="1200" i="0" dirty="0">
                <a:solidFill>
                  <a:srgbClr val="374151"/>
                </a:solidFill>
                <a:effectLst/>
                <a:latin typeface="Söhne"/>
              </a:rPr>
              <a:t>activities</a:t>
            </a:r>
            <a:r>
              <a:rPr lang="en-US" sz="1200" b="0" i="0" dirty="0">
                <a:solidFill>
                  <a:srgbClr val="374151"/>
                </a:solidFill>
                <a:effectLst/>
                <a:latin typeface="Söhne"/>
              </a:rPr>
              <a:t>: A summary of the activities undertaken by each committee during the quarter would be included. This could include a list of topics discussed, initiatives undertaken, and any progress made towards achieving committee goals.</a:t>
            </a:r>
          </a:p>
          <a:p>
            <a:pPr marL="228600" indent="-228600" algn="l">
              <a:buFont typeface="+mj-lt"/>
              <a:buAutoNum type="arabicPeriod"/>
            </a:pPr>
            <a:r>
              <a:rPr lang="en-US" sz="1200" dirty="0">
                <a:solidFill>
                  <a:srgbClr val="374151"/>
                </a:solidFill>
                <a:latin typeface="Söhne"/>
              </a:rPr>
              <a:t>Committee r</a:t>
            </a:r>
            <a:r>
              <a:rPr lang="en-US" sz="1200" i="0" dirty="0">
                <a:solidFill>
                  <a:srgbClr val="374151"/>
                </a:solidFill>
                <a:effectLst/>
                <a:latin typeface="Söhne"/>
              </a:rPr>
              <a:t>ecommendations</a:t>
            </a:r>
            <a:r>
              <a:rPr lang="en-US" sz="1200" b="0" i="0" dirty="0">
                <a:solidFill>
                  <a:srgbClr val="374151"/>
                </a:solidFill>
                <a:effectLst/>
                <a:latin typeface="Söhne"/>
              </a:rPr>
              <a:t>: The committee's recommendations to the Board would be highlighted, along with any proposed action items or next steps. This could include recommendations related to governance, risk management, strategic planning, or other areas relevant to the committee's mandate.</a:t>
            </a:r>
          </a:p>
          <a:p>
            <a:pPr marL="228600" indent="-228600" algn="l">
              <a:buFont typeface="+mj-lt"/>
              <a:buAutoNum type="arabicPeriod"/>
            </a:pPr>
            <a:r>
              <a:rPr lang="en-US" sz="1200" i="0" dirty="0">
                <a:solidFill>
                  <a:srgbClr val="374151"/>
                </a:solidFill>
                <a:effectLst/>
                <a:latin typeface="Söhne"/>
              </a:rPr>
              <a:t>Shareholder update</a:t>
            </a:r>
            <a:r>
              <a:rPr lang="en-US" sz="1200" b="0" i="0" dirty="0">
                <a:solidFill>
                  <a:srgbClr val="374151"/>
                </a:solidFill>
                <a:effectLst/>
                <a:latin typeface="Söhne"/>
              </a:rPr>
              <a:t>: Overview of the company's shareholder base, including any changes to the number or composition of shareholders during the quarter. It should include a summary of any shareholder proposals or initiatives raised during the quarter, including the status of each proposal or initiative and any recommended actions by management or the Board.</a:t>
            </a:r>
          </a:p>
          <a:p>
            <a:pPr marL="228600" indent="-228600" algn="l">
              <a:buFont typeface="+mj-lt"/>
              <a:buAutoNum type="arabicPeriod"/>
            </a:pPr>
            <a:r>
              <a:rPr lang="en-US" sz="1200" i="0" dirty="0">
                <a:solidFill>
                  <a:srgbClr val="374151"/>
                </a:solidFill>
                <a:effectLst/>
                <a:latin typeface="Söhne"/>
              </a:rPr>
              <a:t>Investor relations</a:t>
            </a:r>
            <a:r>
              <a:rPr lang="en-US" sz="1200" b="0" i="0" dirty="0">
                <a:solidFill>
                  <a:srgbClr val="374151"/>
                </a:solidFill>
                <a:effectLst/>
                <a:latin typeface="Söhne"/>
              </a:rPr>
              <a:t>: An update on the company's investor relations activities, including any investor conferences or meetings attended by management or the IR team. Include a summary of any key investor feedback or concerns gathered during the quarter, including any actions taken by management or the Board in response to this feedback or concerns.</a:t>
            </a:r>
          </a:p>
          <a:p>
            <a:pPr marL="228600" indent="-228600" algn="l">
              <a:buFont typeface="+mj-lt"/>
              <a:buAutoNum type="arabicPeriod"/>
            </a:pPr>
            <a:r>
              <a:rPr lang="en-US" sz="1200" dirty="0">
                <a:solidFill>
                  <a:srgbClr val="374151"/>
                </a:solidFill>
                <a:latin typeface="Söhne"/>
              </a:rPr>
              <a:t>Dividends</a:t>
            </a:r>
            <a:r>
              <a:rPr lang="en-US" sz="1200" b="0" dirty="0">
                <a:solidFill>
                  <a:srgbClr val="374151"/>
                </a:solidFill>
                <a:latin typeface="Söhne"/>
              </a:rPr>
              <a:t>: </a:t>
            </a:r>
            <a:r>
              <a:rPr lang="en-US" sz="1200" b="0" i="0" dirty="0">
                <a:solidFill>
                  <a:srgbClr val="374151"/>
                </a:solidFill>
                <a:effectLst/>
                <a:latin typeface="Söhne"/>
              </a:rPr>
              <a:t>An update on the company's dividend policy, including any changes made during the quarter and any upcoming dividend payments.</a:t>
            </a:r>
            <a:endParaRPr lang="en-US" sz="1200" b="0" dirty="0">
              <a:solidFill>
                <a:srgbClr val="374151"/>
              </a:solidFill>
              <a:latin typeface="Söhne"/>
            </a:endParaRPr>
          </a:p>
          <a:p>
            <a:pPr marL="228600" indent="-228600" algn="l">
              <a:buFont typeface="+mj-lt"/>
              <a:buAutoNum type="arabicPeriod"/>
            </a:pPr>
            <a:r>
              <a:rPr lang="en-US" sz="1200" dirty="0">
                <a:solidFill>
                  <a:srgbClr val="374151"/>
                </a:solidFill>
                <a:latin typeface="Söhne"/>
              </a:rPr>
              <a:t>Additional information</a:t>
            </a:r>
            <a:r>
              <a:rPr lang="en-US" sz="1200" b="0" dirty="0">
                <a:solidFill>
                  <a:srgbClr val="374151"/>
                </a:solidFill>
                <a:latin typeface="Söhne"/>
              </a:rPr>
              <a:t>: Any other relevant information or updates related to the Board of Directors.</a:t>
            </a:r>
            <a:endParaRPr lang="en-US" sz="1200" b="0" i="0" dirty="0">
              <a:solidFill>
                <a:srgbClr val="374151"/>
              </a:solidFill>
              <a:effectLst/>
              <a:latin typeface="Söhne"/>
            </a:endParaRPr>
          </a:p>
        </p:txBody>
      </p:sp>
    </p:spTree>
    <p:extLst>
      <p:ext uri="{BB962C8B-B14F-4D97-AF65-F5344CB8AC3E}">
        <p14:creationId xmlns:p14="http://schemas.microsoft.com/office/powerpoint/2010/main" val="2359586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E4B6F3D-F39D-82FA-3528-A3F1F7B178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E4B6F3D-F39D-82FA-3528-A3F1F7B178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9D66EAD0-976A-9CBA-E440-3B5D7F6C7065}"/>
              </a:ext>
            </a:extLst>
          </p:cNvPr>
          <p:cNvSpPr>
            <a:spLocks noGrp="1"/>
          </p:cNvSpPr>
          <p:nvPr>
            <p:ph type="title"/>
          </p:nvPr>
        </p:nvSpPr>
        <p:spPr/>
        <p:txBody>
          <a:bodyPr vert="horz"/>
          <a:lstStyle/>
          <a:p>
            <a:r>
              <a:rPr lang="en-US" dirty="0"/>
              <a:t>Board Reporting Package Contents</a:t>
            </a:r>
          </a:p>
        </p:txBody>
      </p:sp>
      <p:sp>
        <p:nvSpPr>
          <p:cNvPr id="23" name="Rounded Rectangle 33">
            <a:extLst>
              <a:ext uri="{FF2B5EF4-FFF2-40B4-BE49-F238E27FC236}">
                <a16:creationId xmlns:a16="http://schemas.microsoft.com/office/drawing/2014/main" id="{C82EEC47-011A-3986-C4CD-0F6BF3E13A5C}"/>
              </a:ext>
            </a:extLst>
          </p:cNvPr>
          <p:cNvSpPr/>
          <p:nvPr/>
        </p:nvSpPr>
        <p:spPr>
          <a:xfrm>
            <a:off x="409762" y="853079"/>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CEO &amp; BOARD CHAIR</a:t>
            </a:r>
          </a:p>
        </p:txBody>
      </p:sp>
      <p:sp>
        <p:nvSpPr>
          <p:cNvPr id="54" name="TextBox 53">
            <a:extLst>
              <a:ext uri="{FF2B5EF4-FFF2-40B4-BE49-F238E27FC236}">
                <a16:creationId xmlns:a16="http://schemas.microsoft.com/office/drawing/2014/main" id="{C852F15D-DEBA-82B2-6A49-FB2C85CB3853}"/>
              </a:ext>
            </a:extLst>
          </p:cNvPr>
          <p:cNvSpPr txBox="1"/>
          <p:nvPr/>
        </p:nvSpPr>
        <p:spPr>
          <a:xfrm>
            <a:off x="409762" y="151065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CEO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Board Chair Update</a:t>
            </a:r>
          </a:p>
        </p:txBody>
      </p:sp>
      <p:sp>
        <p:nvSpPr>
          <p:cNvPr id="55" name="Rounded Rectangle 33">
            <a:extLst>
              <a:ext uri="{FF2B5EF4-FFF2-40B4-BE49-F238E27FC236}">
                <a16:creationId xmlns:a16="http://schemas.microsoft.com/office/drawing/2014/main" id="{95A91E49-9A8A-96D6-533B-2C56F869D32F}"/>
              </a:ext>
            </a:extLst>
          </p:cNvPr>
          <p:cNvSpPr/>
          <p:nvPr/>
        </p:nvSpPr>
        <p:spPr>
          <a:xfrm>
            <a:off x="9295000" y="2148795"/>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CORPORATE DEVELOPMENT</a:t>
            </a:r>
          </a:p>
        </p:txBody>
      </p:sp>
      <p:sp>
        <p:nvSpPr>
          <p:cNvPr id="56" name="TextBox 55">
            <a:extLst>
              <a:ext uri="{FF2B5EF4-FFF2-40B4-BE49-F238E27FC236}">
                <a16:creationId xmlns:a16="http://schemas.microsoft.com/office/drawing/2014/main" id="{078BE5D7-CBB0-7B3D-AFEE-E049B3EC8AFE}"/>
              </a:ext>
            </a:extLst>
          </p:cNvPr>
          <p:cNvSpPr txBox="1"/>
          <p:nvPr/>
        </p:nvSpPr>
        <p:spPr>
          <a:xfrm>
            <a:off x="9282200" y="2827201"/>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Partnerships &amp; Alliances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Mergers &amp; Acquisitions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Post-merger Integration</a:t>
            </a:r>
          </a:p>
        </p:txBody>
      </p:sp>
      <p:sp>
        <p:nvSpPr>
          <p:cNvPr id="57" name="Rounded Rectangle 33">
            <a:extLst>
              <a:ext uri="{FF2B5EF4-FFF2-40B4-BE49-F238E27FC236}">
                <a16:creationId xmlns:a16="http://schemas.microsoft.com/office/drawing/2014/main" id="{047EDAFC-A516-E05C-A91F-44C7C46FB147}"/>
              </a:ext>
            </a:extLst>
          </p:cNvPr>
          <p:cNvSpPr/>
          <p:nvPr/>
        </p:nvSpPr>
        <p:spPr>
          <a:xfrm>
            <a:off x="9282200" y="3579788"/>
            <a:ext cx="2594695" cy="530969"/>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OTHER CORPORATE FUNCTIONS</a:t>
            </a:r>
          </a:p>
        </p:txBody>
      </p:sp>
      <p:sp>
        <p:nvSpPr>
          <p:cNvPr id="58" name="TextBox 57">
            <a:extLst>
              <a:ext uri="{FF2B5EF4-FFF2-40B4-BE49-F238E27FC236}">
                <a16:creationId xmlns:a16="http://schemas.microsoft.com/office/drawing/2014/main" id="{7A3E0AED-BC63-D8B3-2F56-CAFD1E971E31}"/>
              </a:ext>
            </a:extLst>
          </p:cNvPr>
          <p:cNvSpPr txBox="1"/>
          <p:nvPr/>
        </p:nvSpPr>
        <p:spPr>
          <a:xfrm>
            <a:off x="9282200" y="4264916"/>
            <a:ext cx="2620293" cy="1687284"/>
          </a:xfrm>
          <a:prstGeom prst="rect">
            <a:avLst/>
          </a:prstGeom>
          <a:noFill/>
        </p:spPr>
        <p:txBody>
          <a:bodyPr wrap="square" lIns="0" tIns="0" rIns="0" bIns="0" rtlCol="0">
            <a:noAutofit/>
          </a:bodyPr>
          <a:lstStyle/>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Intellectual Property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Risk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Legal &amp; Regulatory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Litigation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Investor Relations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Community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ESG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Sustainability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Awards &amp; Recognition</a:t>
            </a:r>
          </a:p>
        </p:txBody>
      </p:sp>
      <p:sp>
        <p:nvSpPr>
          <p:cNvPr id="59" name="Rounded Rectangle 33">
            <a:extLst>
              <a:ext uri="{FF2B5EF4-FFF2-40B4-BE49-F238E27FC236}">
                <a16:creationId xmlns:a16="http://schemas.microsoft.com/office/drawing/2014/main" id="{92BD0F0E-08AC-37AD-FD60-1F03343DE46E}"/>
              </a:ext>
            </a:extLst>
          </p:cNvPr>
          <p:cNvSpPr/>
          <p:nvPr/>
        </p:nvSpPr>
        <p:spPr>
          <a:xfrm>
            <a:off x="384173" y="2005691"/>
            <a:ext cx="2594695" cy="533400"/>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AGENDA</a:t>
            </a:r>
          </a:p>
        </p:txBody>
      </p:sp>
      <p:sp>
        <p:nvSpPr>
          <p:cNvPr id="60" name="Rounded Rectangle 33">
            <a:extLst>
              <a:ext uri="{FF2B5EF4-FFF2-40B4-BE49-F238E27FC236}">
                <a16:creationId xmlns:a16="http://schemas.microsoft.com/office/drawing/2014/main" id="{CB90976E-C934-E589-3C43-C6536961F66B}"/>
              </a:ext>
            </a:extLst>
          </p:cNvPr>
          <p:cNvSpPr/>
          <p:nvPr/>
        </p:nvSpPr>
        <p:spPr>
          <a:xfrm>
            <a:off x="3371511" y="842768"/>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PRODUCT</a:t>
            </a:r>
          </a:p>
        </p:txBody>
      </p:sp>
      <p:sp>
        <p:nvSpPr>
          <p:cNvPr id="61" name="Rounded Rectangle 33">
            <a:extLst>
              <a:ext uri="{FF2B5EF4-FFF2-40B4-BE49-F238E27FC236}">
                <a16:creationId xmlns:a16="http://schemas.microsoft.com/office/drawing/2014/main" id="{7FA80707-EFC9-FBBD-95A3-C53653725FD5}"/>
              </a:ext>
            </a:extLst>
          </p:cNvPr>
          <p:cNvSpPr/>
          <p:nvPr/>
        </p:nvSpPr>
        <p:spPr>
          <a:xfrm>
            <a:off x="3371510" y="221609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MARKETING</a:t>
            </a:r>
          </a:p>
        </p:txBody>
      </p:sp>
      <p:sp>
        <p:nvSpPr>
          <p:cNvPr id="62" name="TextBox 61">
            <a:extLst>
              <a:ext uri="{FF2B5EF4-FFF2-40B4-BE49-F238E27FC236}">
                <a16:creationId xmlns:a16="http://schemas.microsoft.com/office/drawing/2014/main" id="{30745068-3C50-A3AC-D3F9-F374532A853E}"/>
              </a:ext>
            </a:extLst>
          </p:cNvPr>
          <p:cNvSpPr txBox="1"/>
          <p:nvPr/>
        </p:nvSpPr>
        <p:spPr>
          <a:xfrm>
            <a:off x="409762" y="3815874"/>
            <a:ext cx="2620293" cy="2923758"/>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Financial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Income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Cash Flow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Balance Sheet</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Revenue Breakdown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Operating Expenses Breakdown</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Cost Reduction Initiatives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Profitability Analysis/ROI</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Working Capital Analysis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Receivable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Payable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Expenditures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Raising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Debt Overview &amp; Refinancing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Tax</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Property &amp; Real Estate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Foreign Currency Exposure</a:t>
            </a:r>
          </a:p>
        </p:txBody>
      </p:sp>
      <p:sp>
        <p:nvSpPr>
          <p:cNvPr id="1025" name="TextBox 1024">
            <a:extLst>
              <a:ext uri="{FF2B5EF4-FFF2-40B4-BE49-F238E27FC236}">
                <a16:creationId xmlns:a16="http://schemas.microsoft.com/office/drawing/2014/main" id="{02F92317-B039-B079-BB61-FC63C637FB38}"/>
              </a:ext>
            </a:extLst>
          </p:cNvPr>
          <p:cNvSpPr txBox="1"/>
          <p:nvPr/>
        </p:nvSpPr>
        <p:spPr>
          <a:xfrm>
            <a:off x="3371511" y="151559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Development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Research &amp;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Roadmap</a:t>
            </a:r>
          </a:p>
        </p:txBody>
      </p:sp>
      <p:sp>
        <p:nvSpPr>
          <p:cNvPr id="1026" name="TextBox 1025">
            <a:extLst>
              <a:ext uri="{FF2B5EF4-FFF2-40B4-BE49-F238E27FC236}">
                <a16:creationId xmlns:a16="http://schemas.microsoft.com/office/drawing/2014/main" id="{CC1A5311-249B-C428-EBB6-A72E016472C6}"/>
              </a:ext>
            </a:extLst>
          </p:cNvPr>
          <p:cNvSpPr txBox="1"/>
          <p:nvPr/>
        </p:nvSpPr>
        <p:spPr>
          <a:xfrm>
            <a:off x="3371511" y="286130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Initiatives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Expansion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ROI</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Pricing Strategy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Data &amp; Analytics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Advertising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Competitors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Branding &amp; Marketing Materials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Website</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Social Media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Industry Events &amp; Conferences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Public Relations</a:t>
            </a:r>
          </a:p>
        </p:txBody>
      </p:sp>
      <p:sp>
        <p:nvSpPr>
          <p:cNvPr id="1027" name="Rounded Rectangle 33">
            <a:extLst>
              <a:ext uri="{FF2B5EF4-FFF2-40B4-BE49-F238E27FC236}">
                <a16:creationId xmlns:a16="http://schemas.microsoft.com/office/drawing/2014/main" id="{D14AE144-6082-3A53-FA31-003FBCFBEE2C}"/>
              </a:ext>
            </a:extLst>
          </p:cNvPr>
          <p:cNvSpPr/>
          <p:nvPr/>
        </p:nvSpPr>
        <p:spPr>
          <a:xfrm>
            <a:off x="3371509" y="524534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SALES</a:t>
            </a:r>
          </a:p>
        </p:txBody>
      </p:sp>
      <p:sp>
        <p:nvSpPr>
          <p:cNvPr id="1028" name="TextBox 1027">
            <a:extLst>
              <a:ext uri="{FF2B5EF4-FFF2-40B4-BE49-F238E27FC236}">
                <a16:creationId xmlns:a16="http://schemas.microsoft.com/office/drawing/2014/main" id="{F1DE495A-583A-63C4-C570-434B9345A842}"/>
              </a:ext>
            </a:extLst>
          </p:cNvPr>
          <p:cNvSpPr txBox="1"/>
          <p:nvPr/>
        </p:nvSpPr>
        <p:spPr>
          <a:xfrm>
            <a:off x="3371511" y="589055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Pipeline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Team Performance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Region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Channel</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Channel Partners</a:t>
            </a:r>
          </a:p>
        </p:txBody>
      </p:sp>
      <p:sp>
        <p:nvSpPr>
          <p:cNvPr id="1029" name="Rounded Rectangle 33">
            <a:extLst>
              <a:ext uri="{FF2B5EF4-FFF2-40B4-BE49-F238E27FC236}">
                <a16:creationId xmlns:a16="http://schemas.microsoft.com/office/drawing/2014/main" id="{E46F2696-EE7E-BBE9-9BF4-4DC8BC64543E}"/>
              </a:ext>
            </a:extLst>
          </p:cNvPr>
          <p:cNvSpPr/>
          <p:nvPr/>
        </p:nvSpPr>
        <p:spPr>
          <a:xfrm>
            <a:off x="6333261" y="2511844"/>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CUSTOMERS</a:t>
            </a:r>
          </a:p>
        </p:txBody>
      </p:sp>
      <p:sp>
        <p:nvSpPr>
          <p:cNvPr id="1030" name="Rounded Rectangle 33">
            <a:extLst>
              <a:ext uri="{FF2B5EF4-FFF2-40B4-BE49-F238E27FC236}">
                <a16:creationId xmlns:a16="http://schemas.microsoft.com/office/drawing/2014/main" id="{E5838DA9-13C2-4188-6172-7E7C7EDFA057}"/>
              </a:ext>
            </a:extLst>
          </p:cNvPr>
          <p:cNvSpPr/>
          <p:nvPr/>
        </p:nvSpPr>
        <p:spPr>
          <a:xfrm>
            <a:off x="6333261" y="846554"/>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OPERATIONS AND SUPPLY CHAIN</a:t>
            </a:r>
          </a:p>
        </p:txBody>
      </p:sp>
      <p:sp>
        <p:nvSpPr>
          <p:cNvPr id="1032" name="Rounded Rectangle 33">
            <a:extLst>
              <a:ext uri="{FF2B5EF4-FFF2-40B4-BE49-F238E27FC236}">
                <a16:creationId xmlns:a16="http://schemas.microsoft.com/office/drawing/2014/main" id="{A5872E9A-5A2E-D1A6-AEC1-30E6373A0CF4}"/>
              </a:ext>
            </a:extLst>
          </p:cNvPr>
          <p:cNvSpPr/>
          <p:nvPr/>
        </p:nvSpPr>
        <p:spPr>
          <a:xfrm>
            <a:off x="9295011" y="865239"/>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INFORMATION TECHNOLOGY</a:t>
            </a:r>
          </a:p>
        </p:txBody>
      </p:sp>
      <p:sp>
        <p:nvSpPr>
          <p:cNvPr id="1033" name="Rounded Rectangle 33">
            <a:extLst>
              <a:ext uri="{FF2B5EF4-FFF2-40B4-BE49-F238E27FC236}">
                <a16:creationId xmlns:a16="http://schemas.microsoft.com/office/drawing/2014/main" id="{DB676218-8B0C-2374-3190-ADAFBD304B29}"/>
              </a:ext>
            </a:extLst>
          </p:cNvPr>
          <p:cNvSpPr/>
          <p:nvPr/>
        </p:nvSpPr>
        <p:spPr>
          <a:xfrm>
            <a:off x="6333261" y="4356030"/>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HUMAN RESOURCES</a:t>
            </a:r>
          </a:p>
        </p:txBody>
      </p:sp>
      <p:sp>
        <p:nvSpPr>
          <p:cNvPr id="1035" name="TextBox 1034">
            <a:extLst>
              <a:ext uri="{FF2B5EF4-FFF2-40B4-BE49-F238E27FC236}">
                <a16:creationId xmlns:a16="http://schemas.microsoft.com/office/drawing/2014/main" id="{01C116CF-D899-36F7-219D-C1159D8B52D7}"/>
              </a:ext>
            </a:extLst>
          </p:cNvPr>
          <p:cNvSpPr txBox="1"/>
          <p:nvPr/>
        </p:nvSpPr>
        <p:spPr>
          <a:xfrm>
            <a:off x="6358858"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Operations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Supply Chain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Emergency Preparedness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Suppliers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Worker Safety</a:t>
            </a:r>
          </a:p>
        </p:txBody>
      </p:sp>
      <p:sp>
        <p:nvSpPr>
          <p:cNvPr id="1036" name="TextBox 1035">
            <a:extLst>
              <a:ext uri="{FF2B5EF4-FFF2-40B4-BE49-F238E27FC236}">
                <a16:creationId xmlns:a16="http://schemas.microsoft.com/office/drawing/2014/main" id="{6D63E6C1-0425-4437-888A-F3E8D5A060AC}"/>
              </a:ext>
            </a:extLst>
          </p:cNvPr>
          <p:cNvSpPr txBox="1"/>
          <p:nvPr/>
        </p:nvSpPr>
        <p:spPr>
          <a:xfrm>
            <a:off x="6333260" y="3208935"/>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Service</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Satisfaction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Consumer Insights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Case Studies</a:t>
            </a:r>
          </a:p>
        </p:txBody>
      </p:sp>
      <p:sp>
        <p:nvSpPr>
          <p:cNvPr id="1037" name="TextBox 1036">
            <a:extLst>
              <a:ext uri="{FF2B5EF4-FFF2-40B4-BE49-F238E27FC236}">
                <a16:creationId xmlns:a16="http://schemas.microsoft.com/office/drawing/2014/main" id="{2BD1D13D-59B1-D4F8-4E1E-A026079AC144}"/>
              </a:ext>
            </a:extLst>
          </p:cNvPr>
          <p:cNvSpPr txBox="1"/>
          <p:nvPr/>
        </p:nvSpPr>
        <p:spPr>
          <a:xfrm>
            <a:off x="9346205"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IT Infrastructure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Cybersecurity</a:t>
            </a:r>
          </a:p>
        </p:txBody>
      </p:sp>
      <p:sp>
        <p:nvSpPr>
          <p:cNvPr id="1039" name="TextBox 1038">
            <a:extLst>
              <a:ext uri="{FF2B5EF4-FFF2-40B4-BE49-F238E27FC236}">
                <a16:creationId xmlns:a16="http://schemas.microsoft.com/office/drawing/2014/main" id="{7F71797E-DAE7-019D-7E27-5D562C6571DD}"/>
              </a:ext>
            </a:extLst>
          </p:cNvPr>
          <p:cNvSpPr txBox="1"/>
          <p:nvPr/>
        </p:nvSpPr>
        <p:spPr>
          <a:xfrm>
            <a:off x="6333260" y="5052741"/>
            <a:ext cx="2831794"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Human Resources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Organizational 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Leadership Team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Talent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Compensation</a:t>
            </a:r>
            <a:r>
              <a:rPr lang="en-US" sz="1100" dirty="0">
                <a:solidFill>
                  <a:srgbClr val="000000"/>
                </a:solidFill>
                <a:latin typeface="Verdana"/>
              </a:rPr>
              <a:t> and </a:t>
            </a:r>
            <a:r>
              <a:rPr kumimoji="0" lang="en-US" sz="1100" b="0" i="0" u="none" strike="noStrike" kern="1200" cap="none" spc="0" normalizeH="0" baseline="0" noProof="0" dirty="0">
                <a:ln>
                  <a:noFill/>
                </a:ln>
                <a:solidFill>
                  <a:srgbClr val="000000"/>
                </a:solidFill>
                <a:effectLst/>
                <a:uLnTx/>
                <a:uFillTx/>
                <a:latin typeface="Verdana"/>
                <a:ea typeface="+mn-ea"/>
                <a:cs typeface="+mn-cs"/>
              </a:rPr>
              <a:t>Benefits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Learning and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Diversity, Equity, and Inclusion</a:t>
            </a:r>
          </a:p>
        </p:txBody>
      </p:sp>
      <p:sp>
        <p:nvSpPr>
          <p:cNvPr id="2" name="Rounded Rectangle 33">
            <a:extLst>
              <a:ext uri="{FF2B5EF4-FFF2-40B4-BE49-F238E27FC236}">
                <a16:creationId xmlns:a16="http://schemas.microsoft.com/office/drawing/2014/main" id="{1B612D95-4099-846D-D69A-44F681C34655}"/>
              </a:ext>
            </a:extLst>
          </p:cNvPr>
          <p:cNvSpPr/>
          <p:nvPr/>
        </p:nvSpPr>
        <p:spPr>
          <a:xfrm>
            <a:off x="384173" y="3162300"/>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FINANCE</a:t>
            </a:r>
          </a:p>
        </p:txBody>
      </p:sp>
      <p:sp>
        <p:nvSpPr>
          <p:cNvPr id="4" name="TextBox 3">
            <a:extLst>
              <a:ext uri="{FF2B5EF4-FFF2-40B4-BE49-F238E27FC236}">
                <a16:creationId xmlns:a16="http://schemas.microsoft.com/office/drawing/2014/main" id="{F322B9F2-CA67-D5B4-CC60-7F01099438FE}"/>
              </a:ext>
            </a:extLst>
          </p:cNvPr>
          <p:cNvSpPr txBox="1"/>
          <p:nvPr/>
        </p:nvSpPr>
        <p:spPr>
          <a:xfrm>
            <a:off x="384173" y="2663262"/>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Agenda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Previous Meeting Minutes</a:t>
            </a:r>
          </a:p>
        </p:txBody>
      </p:sp>
    </p:spTree>
    <p:extLst>
      <p:ext uri="{BB962C8B-B14F-4D97-AF65-F5344CB8AC3E}">
        <p14:creationId xmlns:p14="http://schemas.microsoft.com/office/powerpoint/2010/main" val="3253606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Agenda</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Opening Remarks</a:t>
            </a:r>
          </a:p>
          <a:p>
            <a:pPr marL="228600" indent="-228600" algn="l">
              <a:buFont typeface="+mj-lt"/>
              <a:buAutoNum type="arabicPeriod"/>
            </a:pPr>
            <a:r>
              <a:rPr lang="en-US" sz="1200" i="0" dirty="0">
                <a:solidFill>
                  <a:srgbClr val="374151"/>
                </a:solidFill>
                <a:effectLst/>
                <a:latin typeface="Söhne"/>
              </a:rPr>
              <a:t>Welcome and introductions</a:t>
            </a:r>
          </a:p>
          <a:p>
            <a:pPr marL="228600" indent="-228600" algn="l">
              <a:buFont typeface="+mj-lt"/>
              <a:buAutoNum type="arabicPeriod"/>
            </a:pPr>
            <a:r>
              <a:rPr lang="en-US" sz="1200" i="0" dirty="0">
                <a:solidFill>
                  <a:srgbClr val="374151"/>
                </a:solidFill>
                <a:effectLst/>
                <a:latin typeface="Söhne"/>
              </a:rPr>
              <a:t>Brief overview of the purpose of the meeting</a:t>
            </a:r>
          </a:p>
          <a:p>
            <a:pPr marL="228600" indent="-228600" algn="l">
              <a:buFont typeface="+mj-lt"/>
              <a:buAutoNum type="arabicPeriod"/>
            </a:pPr>
            <a:r>
              <a:rPr lang="en-US" sz="1200" i="0" dirty="0">
                <a:solidFill>
                  <a:srgbClr val="374151"/>
                </a:solidFill>
                <a:effectLst/>
                <a:latin typeface="Söhne"/>
              </a:rPr>
              <a:t>Any important announcements or general updates</a:t>
            </a:r>
          </a:p>
          <a:p>
            <a:pPr marL="228600" indent="-228600" algn="l">
              <a:buFont typeface="+mj-lt"/>
              <a:buAutoNum type="arabicPeriod"/>
            </a:pPr>
            <a:r>
              <a:rPr lang="en-US" sz="1200" dirty="0">
                <a:solidFill>
                  <a:srgbClr val="374151"/>
                </a:solidFill>
                <a:latin typeface="Söhne"/>
              </a:rPr>
              <a:t>T</a:t>
            </a:r>
            <a:r>
              <a:rPr lang="en-US" sz="1200" i="0" dirty="0">
                <a:solidFill>
                  <a:srgbClr val="374151"/>
                </a:solidFill>
                <a:effectLst/>
                <a:latin typeface="Söhne"/>
              </a:rPr>
              <a:t>opics for discussion</a:t>
            </a:r>
          </a:p>
          <a:p>
            <a:pPr marL="228600" indent="-228600" algn="l">
              <a:buFont typeface="+mj-lt"/>
              <a:buAutoNum type="arabicPeriod"/>
            </a:pPr>
            <a:r>
              <a:rPr lang="en-US" sz="1200" dirty="0">
                <a:solidFill>
                  <a:srgbClr val="374151"/>
                </a:solidFill>
                <a:latin typeface="Söhne"/>
              </a:rPr>
              <a:t>A</a:t>
            </a:r>
            <a:r>
              <a:rPr lang="en-US" sz="1200" i="0" dirty="0">
                <a:solidFill>
                  <a:srgbClr val="374151"/>
                </a:solidFill>
                <a:effectLst/>
                <a:latin typeface="Söhne"/>
              </a:rPr>
              <a:t>pproval items</a:t>
            </a:r>
          </a:p>
          <a:p>
            <a:pPr marL="228600" indent="-228600" algn="l">
              <a:buFont typeface="+mj-lt"/>
              <a:buAutoNum type="arabicPeriod"/>
            </a:pPr>
            <a:r>
              <a:rPr lang="en-US" sz="1200" dirty="0">
                <a:solidFill>
                  <a:srgbClr val="374151"/>
                </a:solidFill>
                <a:latin typeface="Söhne"/>
              </a:rPr>
              <a:t>O</a:t>
            </a:r>
            <a:r>
              <a:rPr lang="en-US" sz="1200" i="0" dirty="0">
                <a:solidFill>
                  <a:srgbClr val="374151"/>
                </a:solidFill>
                <a:effectLst/>
                <a:latin typeface="Söhne"/>
              </a:rPr>
              <a:t>ther strategic conversations in which the board should participate</a:t>
            </a:r>
          </a:p>
        </p:txBody>
      </p:sp>
    </p:spTree>
    <p:extLst>
      <p:ext uri="{BB962C8B-B14F-4D97-AF65-F5344CB8AC3E}">
        <p14:creationId xmlns:p14="http://schemas.microsoft.com/office/powerpoint/2010/main" val="3459514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Previous Meeting Minutes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Review: </a:t>
            </a:r>
            <a:r>
              <a:rPr lang="en-US" sz="1200" b="0" i="0" dirty="0">
                <a:solidFill>
                  <a:srgbClr val="374151"/>
                </a:solidFill>
                <a:effectLst/>
                <a:latin typeface="Söhne"/>
              </a:rPr>
              <a:t>Recap of the key discussion points and decisions made during the previous board meeting.</a:t>
            </a:r>
          </a:p>
          <a:p>
            <a:pPr marL="228600" indent="-228600" algn="l">
              <a:buFont typeface="+mj-lt"/>
              <a:buAutoNum type="arabicPeriod"/>
            </a:pPr>
            <a:r>
              <a:rPr lang="en-US" sz="1200" i="0" dirty="0">
                <a:solidFill>
                  <a:srgbClr val="374151"/>
                </a:solidFill>
                <a:effectLst/>
                <a:latin typeface="Söhne"/>
              </a:rPr>
              <a:t>Amend: </a:t>
            </a:r>
            <a:r>
              <a:rPr lang="en-US" sz="1200" b="0" i="0" dirty="0">
                <a:solidFill>
                  <a:srgbClr val="374151"/>
                </a:solidFill>
                <a:effectLst/>
                <a:latin typeface="Söhne"/>
              </a:rPr>
              <a:t>Confirmation or amendment of the minutes from the previous meeting, if necessary.</a:t>
            </a:r>
          </a:p>
          <a:p>
            <a:pPr marL="228600" indent="-228600" algn="l">
              <a:buFont typeface="+mj-lt"/>
              <a:buAutoNum type="arabicPeriod"/>
            </a:pPr>
            <a:r>
              <a:rPr lang="en-US" sz="1200" i="0" dirty="0">
                <a:solidFill>
                  <a:srgbClr val="374151"/>
                </a:solidFill>
                <a:effectLst/>
                <a:latin typeface="Söhne"/>
              </a:rPr>
              <a:t>Initiatives: </a:t>
            </a:r>
            <a:r>
              <a:rPr lang="en-US" sz="1200" b="0" i="0" dirty="0">
                <a:solidFill>
                  <a:srgbClr val="374151"/>
                </a:solidFill>
                <a:effectLst/>
                <a:latin typeface="Söhne"/>
              </a:rPr>
              <a:t>Review any important initiatives that might be revisited in the upcoming meeting.</a:t>
            </a:r>
          </a:p>
        </p:txBody>
      </p:sp>
    </p:spTree>
    <p:extLst>
      <p:ext uri="{BB962C8B-B14F-4D97-AF65-F5344CB8AC3E}">
        <p14:creationId xmlns:p14="http://schemas.microsoft.com/office/powerpoint/2010/main" val="3704776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E4B6F3D-F39D-82FA-3528-A3F1F7B178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E4B6F3D-F39D-82FA-3528-A3F1F7B178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9D66EAD0-976A-9CBA-E440-3B5D7F6C7065}"/>
              </a:ext>
            </a:extLst>
          </p:cNvPr>
          <p:cNvSpPr>
            <a:spLocks noGrp="1"/>
          </p:cNvSpPr>
          <p:nvPr>
            <p:ph type="title"/>
          </p:nvPr>
        </p:nvSpPr>
        <p:spPr/>
        <p:txBody>
          <a:bodyPr vert="horz"/>
          <a:lstStyle/>
          <a:p>
            <a:r>
              <a:rPr lang="en-US" dirty="0"/>
              <a:t>Board Reporting Package Contents</a:t>
            </a:r>
          </a:p>
        </p:txBody>
      </p:sp>
      <p:sp>
        <p:nvSpPr>
          <p:cNvPr id="23" name="Rounded Rectangle 33">
            <a:extLst>
              <a:ext uri="{FF2B5EF4-FFF2-40B4-BE49-F238E27FC236}">
                <a16:creationId xmlns:a16="http://schemas.microsoft.com/office/drawing/2014/main" id="{C82EEC47-011A-3986-C4CD-0F6BF3E13A5C}"/>
              </a:ext>
            </a:extLst>
          </p:cNvPr>
          <p:cNvSpPr/>
          <p:nvPr/>
        </p:nvSpPr>
        <p:spPr>
          <a:xfrm>
            <a:off x="409762" y="853079"/>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CEO &amp; BOARD CHAIR</a:t>
            </a:r>
          </a:p>
        </p:txBody>
      </p:sp>
      <p:sp>
        <p:nvSpPr>
          <p:cNvPr id="54" name="TextBox 53">
            <a:extLst>
              <a:ext uri="{FF2B5EF4-FFF2-40B4-BE49-F238E27FC236}">
                <a16:creationId xmlns:a16="http://schemas.microsoft.com/office/drawing/2014/main" id="{C852F15D-DEBA-82B2-6A49-FB2C85CB3853}"/>
              </a:ext>
            </a:extLst>
          </p:cNvPr>
          <p:cNvSpPr txBox="1"/>
          <p:nvPr/>
        </p:nvSpPr>
        <p:spPr>
          <a:xfrm>
            <a:off x="409762" y="151065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CEO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Board Chair Update</a:t>
            </a:r>
          </a:p>
        </p:txBody>
      </p:sp>
      <p:sp>
        <p:nvSpPr>
          <p:cNvPr id="55" name="Rounded Rectangle 33">
            <a:extLst>
              <a:ext uri="{FF2B5EF4-FFF2-40B4-BE49-F238E27FC236}">
                <a16:creationId xmlns:a16="http://schemas.microsoft.com/office/drawing/2014/main" id="{95A91E49-9A8A-96D6-533B-2C56F869D32F}"/>
              </a:ext>
            </a:extLst>
          </p:cNvPr>
          <p:cNvSpPr/>
          <p:nvPr/>
        </p:nvSpPr>
        <p:spPr>
          <a:xfrm>
            <a:off x="9295000" y="2148795"/>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CORPORATE DEVELOPMENT</a:t>
            </a:r>
          </a:p>
        </p:txBody>
      </p:sp>
      <p:sp>
        <p:nvSpPr>
          <p:cNvPr id="56" name="TextBox 55">
            <a:extLst>
              <a:ext uri="{FF2B5EF4-FFF2-40B4-BE49-F238E27FC236}">
                <a16:creationId xmlns:a16="http://schemas.microsoft.com/office/drawing/2014/main" id="{078BE5D7-CBB0-7B3D-AFEE-E049B3EC8AFE}"/>
              </a:ext>
            </a:extLst>
          </p:cNvPr>
          <p:cNvSpPr txBox="1"/>
          <p:nvPr/>
        </p:nvSpPr>
        <p:spPr>
          <a:xfrm>
            <a:off x="9282200" y="2827201"/>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Partnerships &amp; Alliances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Mergers &amp; Acquisitions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Post-merger Integration</a:t>
            </a:r>
          </a:p>
        </p:txBody>
      </p:sp>
      <p:sp>
        <p:nvSpPr>
          <p:cNvPr id="57" name="Rounded Rectangle 33">
            <a:extLst>
              <a:ext uri="{FF2B5EF4-FFF2-40B4-BE49-F238E27FC236}">
                <a16:creationId xmlns:a16="http://schemas.microsoft.com/office/drawing/2014/main" id="{047EDAFC-A516-E05C-A91F-44C7C46FB147}"/>
              </a:ext>
            </a:extLst>
          </p:cNvPr>
          <p:cNvSpPr/>
          <p:nvPr/>
        </p:nvSpPr>
        <p:spPr>
          <a:xfrm>
            <a:off x="9282200" y="3579788"/>
            <a:ext cx="2594695" cy="530969"/>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OTHER CORPORATE FUNCTIONS</a:t>
            </a:r>
          </a:p>
        </p:txBody>
      </p:sp>
      <p:sp>
        <p:nvSpPr>
          <p:cNvPr id="58" name="TextBox 57">
            <a:extLst>
              <a:ext uri="{FF2B5EF4-FFF2-40B4-BE49-F238E27FC236}">
                <a16:creationId xmlns:a16="http://schemas.microsoft.com/office/drawing/2014/main" id="{7A3E0AED-BC63-D8B3-2F56-CAFD1E971E31}"/>
              </a:ext>
            </a:extLst>
          </p:cNvPr>
          <p:cNvSpPr txBox="1"/>
          <p:nvPr/>
        </p:nvSpPr>
        <p:spPr>
          <a:xfrm>
            <a:off x="9282200" y="4264916"/>
            <a:ext cx="2620293" cy="1687284"/>
          </a:xfrm>
          <a:prstGeom prst="rect">
            <a:avLst/>
          </a:prstGeom>
          <a:noFill/>
        </p:spPr>
        <p:txBody>
          <a:bodyPr wrap="square" lIns="0" tIns="0" rIns="0" bIns="0" rtlCol="0">
            <a:noAutofit/>
          </a:bodyPr>
          <a:lstStyle/>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Intellectual Property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Risk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Legal &amp; Regulatory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Litigation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Investor Relations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Community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ESG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Sustainability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Awards &amp; Recognition</a:t>
            </a:r>
          </a:p>
        </p:txBody>
      </p:sp>
      <p:sp>
        <p:nvSpPr>
          <p:cNvPr id="59" name="Rounded Rectangle 33">
            <a:extLst>
              <a:ext uri="{FF2B5EF4-FFF2-40B4-BE49-F238E27FC236}">
                <a16:creationId xmlns:a16="http://schemas.microsoft.com/office/drawing/2014/main" id="{92BD0F0E-08AC-37AD-FD60-1F03343DE46E}"/>
              </a:ext>
            </a:extLst>
          </p:cNvPr>
          <p:cNvSpPr/>
          <p:nvPr/>
        </p:nvSpPr>
        <p:spPr>
          <a:xfrm>
            <a:off x="384173" y="2005691"/>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AGENDA</a:t>
            </a:r>
          </a:p>
        </p:txBody>
      </p:sp>
      <p:sp>
        <p:nvSpPr>
          <p:cNvPr id="60" name="Rounded Rectangle 33">
            <a:extLst>
              <a:ext uri="{FF2B5EF4-FFF2-40B4-BE49-F238E27FC236}">
                <a16:creationId xmlns:a16="http://schemas.microsoft.com/office/drawing/2014/main" id="{CB90976E-C934-E589-3C43-C6536961F66B}"/>
              </a:ext>
            </a:extLst>
          </p:cNvPr>
          <p:cNvSpPr/>
          <p:nvPr/>
        </p:nvSpPr>
        <p:spPr>
          <a:xfrm>
            <a:off x="3371511" y="842768"/>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PRODUCT</a:t>
            </a:r>
          </a:p>
        </p:txBody>
      </p:sp>
      <p:sp>
        <p:nvSpPr>
          <p:cNvPr id="61" name="Rounded Rectangle 33">
            <a:extLst>
              <a:ext uri="{FF2B5EF4-FFF2-40B4-BE49-F238E27FC236}">
                <a16:creationId xmlns:a16="http://schemas.microsoft.com/office/drawing/2014/main" id="{7FA80707-EFC9-FBBD-95A3-C53653725FD5}"/>
              </a:ext>
            </a:extLst>
          </p:cNvPr>
          <p:cNvSpPr/>
          <p:nvPr/>
        </p:nvSpPr>
        <p:spPr>
          <a:xfrm>
            <a:off x="3371510" y="221609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MARKETING</a:t>
            </a:r>
          </a:p>
        </p:txBody>
      </p:sp>
      <p:sp>
        <p:nvSpPr>
          <p:cNvPr id="62" name="TextBox 61">
            <a:extLst>
              <a:ext uri="{FF2B5EF4-FFF2-40B4-BE49-F238E27FC236}">
                <a16:creationId xmlns:a16="http://schemas.microsoft.com/office/drawing/2014/main" id="{30745068-3C50-A3AC-D3F9-F374532A853E}"/>
              </a:ext>
            </a:extLst>
          </p:cNvPr>
          <p:cNvSpPr txBox="1"/>
          <p:nvPr/>
        </p:nvSpPr>
        <p:spPr>
          <a:xfrm>
            <a:off x="409762" y="3815874"/>
            <a:ext cx="2620293" cy="2923758"/>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Financial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Income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Cash Flow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Balance Sheet</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Revenue Breakdown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Operating Expenses Breakdown</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Cost Reduction Initiatives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Profitability Analysis/ROI</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Working Capital Analysis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Receivable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Payable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Expenditures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Raising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Debt Overview &amp; Refinancing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Tax</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Property &amp; Real Estate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Foreign Currency Exposure</a:t>
            </a:r>
          </a:p>
        </p:txBody>
      </p:sp>
      <p:sp>
        <p:nvSpPr>
          <p:cNvPr id="1025" name="TextBox 1024">
            <a:extLst>
              <a:ext uri="{FF2B5EF4-FFF2-40B4-BE49-F238E27FC236}">
                <a16:creationId xmlns:a16="http://schemas.microsoft.com/office/drawing/2014/main" id="{02F92317-B039-B079-BB61-FC63C637FB38}"/>
              </a:ext>
            </a:extLst>
          </p:cNvPr>
          <p:cNvSpPr txBox="1"/>
          <p:nvPr/>
        </p:nvSpPr>
        <p:spPr>
          <a:xfrm>
            <a:off x="3371511" y="151559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Development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Research &amp;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Roadmap</a:t>
            </a:r>
          </a:p>
        </p:txBody>
      </p:sp>
      <p:sp>
        <p:nvSpPr>
          <p:cNvPr id="1026" name="TextBox 1025">
            <a:extLst>
              <a:ext uri="{FF2B5EF4-FFF2-40B4-BE49-F238E27FC236}">
                <a16:creationId xmlns:a16="http://schemas.microsoft.com/office/drawing/2014/main" id="{CC1A5311-249B-C428-EBB6-A72E016472C6}"/>
              </a:ext>
            </a:extLst>
          </p:cNvPr>
          <p:cNvSpPr txBox="1"/>
          <p:nvPr/>
        </p:nvSpPr>
        <p:spPr>
          <a:xfrm>
            <a:off x="3371511" y="286130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Initiatives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Expansion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ROI</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Pricing Strategy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Data &amp; Analytics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Advertising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Competitors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Branding &amp; Marketing Materials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Website</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Social Media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Industry Events &amp; Conferences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Public Relations</a:t>
            </a:r>
          </a:p>
        </p:txBody>
      </p:sp>
      <p:sp>
        <p:nvSpPr>
          <p:cNvPr id="1027" name="Rounded Rectangle 33">
            <a:extLst>
              <a:ext uri="{FF2B5EF4-FFF2-40B4-BE49-F238E27FC236}">
                <a16:creationId xmlns:a16="http://schemas.microsoft.com/office/drawing/2014/main" id="{D14AE144-6082-3A53-FA31-003FBCFBEE2C}"/>
              </a:ext>
            </a:extLst>
          </p:cNvPr>
          <p:cNvSpPr/>
          <p:nvPr/>
        </p:nvSpPr>
        <p:spPr>
          <a:xfrm>
            <a:off x="3371509" y="524534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SALES</a:t>
            </a:r>
          </a:p>
        </p:txBody>
      </p:sp>
      <p:sp>
        <p:nvSpPr>
          <p:cNvPr id="1028" name="TextBox 1027">
            <a:extLst>
              <a:ext uri="{FF2B5EF4-FFF2-40B4-BE49-F238E27FC236}">
                <a16:creationId xmlns:a16="http://schemas.microsoft.com/office/drawing/2014/main" id="{F1DE495A-583A-63C4-C570-434B9345A842}"/>
              </a:ext>
            </a:extLst>
          </p:cNvPr>
          <p:cNvSpPr txBox="1"/>
          <p:nvPr/>
        </p:nvSpPr>
        <p:spPr>
          <a:xfrm>
            <a:off x="3371511" y="589055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Pipeline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Team Performance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Region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Channel</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Channel Partners</a:t>
            </a:r>
          </a:p>
        </p:txBody>
      </p:sp>
      <p:sp>
        <p:nvSpPr>
          <p:cNvPr id="1029" name="Rounded Rectangle 33">
            <a:extLst>
              <a:ext uri="{FF2B5EF4-FFF2-40B4-BE49-F238E27FC236}">
                <a16:creationId xmlns:a16="http://schemas.microsoft.com/office/drawing/2014/main" id="{E46F2696-EE7E-BBE9-9BF4-4DC8BC64543E}"/>
              </a:ext>
            </a:extLst>
          </p:cNvPr>
          <p:cNvSpPr/>
          <p:nvPr/>
        </p:nvSpPr>
        <p:spPr>
          <a:xfrm>
            <a:off x="6333261" y="2511844"/>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CUSTOMERS</a:t>
            </a:r>
          </a:p>
        </p:txBody>
      </p:sp>
      <p:sp>
        <p:nvSpPr>
          <p:cNvPr id="1030" name="Rounded Rectangle 33">
            <a:extLst>
              <a:ext uri="{FF2B5EF4-FFF2-40B4-BE49-F238E27FC236}">
                <a16:creationId xmlns:a16="http://schemas.microsoft.com/office/drawing/2014/main" id="{E5838DA9-13C2-4188-6172-7E7C7EDFA057}"/>
              </a:ext>
            </a:extLst>
          </p:cNvPr>
          <p:cNvSpPr/>
          <p:nvPr/>
        </p:nvSpPr>
        <p:spPr>
          <a:xfrm>
            <a:off x="6333261" y="846554"/>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OPERATIONS AND SUPPLY CHAIN</a:t>
            </a:r>
          </a:p>
        </p:txBody>
      </p:sp>
      <p:sp>
        <p:nvSpPr>
          <p:cNvPr id="1032" name="Rounded Rectangle 33">
            <a:extLst>
              <a:ext uri="{FF2B5EF4-FFF2-40B4-BE49-F238E27FC236}">
                <a16:creationId xmlns:a16="http://schemas.microsoft.com/office/drawing/2014/main" id="{A5872E9A-5A2E-D1A6-AEC1-30E6373A0CF4}"/>
              </a:ext>
            </a:extLst>
          </p:cNvPr>
          <p:cNvSpPr/>
          <p:nvPr/>
        </p:nvSpPr>
        <p:spPr>
          <a:xfrm>
            <a:off x="9295011" y="865239"/>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INFORMATION TECHNOLOGY</a:t>
            </a:r>
          </a:p>
        </p:txBody>
      </p:sp>
      <p:sp>
        <p:nvSpPr>
          <p:cNvPr id="1033" name="Rounded Rectangle 33">
            <a:extLst>
              <a:ext uri="{FF2B5EF4-FFF2-40B4-BE49-F238E27FC236}">
                <a16:creationId xmlns:a16="http://schemas.microsoft.com/office/drawing/2014/main" id="{DB676218-8B0C-2374-3190-ADAFBD304B29}"/>
              </a:ext>
            </a:extLst>
          </p:cNvPr>
          <p:cNvSpPr/>
          <p:nvPr/>
        </p:nvSpPr>
        <p:spPr>
          <a:xfrm>
            <a:off x="6333261" y="4356030"/>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HUMAN RESOURCES</a:t>
            </a:r>
          </a:p>
        </p:txBody>
      </p:sp>
      <p:sp>
        <p:nvSpPr>
          <p:cNvPr id="1035" name="TextBox 1034">
            <a:extLst>
              <a:ext uri="{FF2B5EF4-FFF2-40B4-BE49-F238E27FC236}">
                <a16:creationId xmlns:a16="http://schemas.microsoft.com/office/drawing/2014/main" id="{01C116CF-D899-36F7-219D-C1159D8B52D7}"/>
              </a:ext>
            </a:extLst>
          </p:cNvPr>
          <p:cNvSpPr txBox="1"/>
          <p:nvPr/>
        </p:nvSpPr>
        <p:spPr>
          <a:xfrm>
            <a:off x="6358858"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Operations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Supply Chain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Emergency Preparedness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Suppliers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Worker Safety</a:t>
            </a:r>
          </a:p>
        </p:txBody>
      </p:sp>
      <p:sp>
        <p:nvSpPr>
          <p:cNvPr id="1036" name="TextBox 1035">
            <a:extLst>
              <a:ext uri="{FF2B5EF4-FFF2-40B4-BE49-F238E27FC236}">
                <a16:creationId xmlns:a16="http://schemas.microsoft.com/office/drawing/2014/main" id="{6D63E6C1-0425-4437-888A-F3E8D5A060AC}"/>
              </a:ext>
            </a:extLst>
          </p:cNvPr>
          <p:cNvSpPr txBox="1"/>
          <p:nvPr/>
        </p:nvSpPr>
        <p:spPr>
          <a:xfrm>
            <a:off x="6333260" y="3208935"/>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Service</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Satisfaction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Consumer Insights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Case Studies</a:t>
            </a:r>
          </a:p>
        </p:txBody>
      </p:sp>
      <p:sp>
        <p:nvSpPr>
          <p:cNvPr id="1037" name="TextBox 1036">
            <a:extLst>
              <a:ext uri="{FF2B5EF4-FFF2-40B4-BE49-F238E27FC236}">
                <a16:creationId xmlns:a16="http://schemas.microsoft.com/office/drawing/2014/main" id="{2BD1D13D-59B1-D4F8-4E1E-A026079AC144}"/>
              </a:ext>
            </a:extLst>
          </p:cNvPr>
          <p:cNvSpPr txBox="1"/>
          <p:nvPr/>
        </p:nvSpPr>
        <p:spPr>
          <a:xfrm>
            <a:off x="9346205"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IT Infrastructure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Cybersecurity</a:t>
            </a:r>
          </a:p>
        </p:txBody>
      </p:sp>
      <p:sp>
        <p:nvSpPr>
          <p:cNvPr id="1039" name="TextBox 1038">
            <a:extLst>
              <a:ext uri="{FF2B5EF4-FFF2-40B4-BE49-F238E27FC236}">
                <a16:creationId xmlns:a16="http://schemas.microsoft.com/office/drawing/2014/main" id="{7F71797E-DAE7-019D-7E27-5D562C6571DD}"/>
              </a:ext>
            </a:extLst>
          </p:cNvPr>
          <p:cNvSpPr txBox="1"/>
          <p:nvPr/>
        </p:nvSpPr>
        <p:spPr>
          <a:xfrm>
            <a:off x="6333260" y="5052741"/>
            <a:ext cx="2831794"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Human Resources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Organizational 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Leadership Team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Talent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Compensation</a:t>
            </a:r>
            <a:r>
              <a:rPr lang="en-US" sz="1100" dirty="0">
                <a:solidFill>
                  <a:srgbClr val="000000"/>
                </a:solidFill>
                <a:latin typeface="Verdana"/>
              </a:rPr>
              <a:t> and </a:t>
            </a:r>
            <a:r>
              <a:rPr kumimoji="0" lang="en-US" sz="1100" b="0" i="0" u="none" strike="noStrike" kern="1200" cap="none" spc="0" normalizeH="0" baseline="0" noProof="0" dirty="0">
                <a:ln>
                  <a:noFill/>
                </a:ln>
                <a:solidFill>
                  <a:srgbClr val="000000"/>
                </a:solidFill>
                <a:effectLst/>
                <a:uLnTx/>
                <a:uFillTx/>
                <a:latin typeface="Verdana"/>
                <a:ea typeface="+mn-ea"/>
                <a:cs typeface="+mn-cs"/>
              </a:rPr>
              <a:t>Benefits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Learning and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Diversity, Equity, and Inclusion</a:t>
            </a:r>
          </a:p>
        </p:txBody>
      </p:sp>
      <p:sp>
        <p:nvSpPr>
          <p:cNvPr id="2" name="Rounded Rectangle 33">
            <a:extLst>
              <a:ext uri="{FF2B5EF4-FFF2-40B4-BE49-F238E27FC236}">
                <a16:creationId xmlns:a16="http://schemas.microsoft.com/office/drawing/2014/main" id="{1B612D95-4099-846D-D69A-44F681C34655}"/>
              </a:ext>
            </a:extLst>
          </p:cNvPr>
          <p:cNvSpPr/>
          <p:nvPr/>
        </p:nvSpPr>
        <p:spPr>
          <a:xfrm>
            <a:off x="384173" y="3162300"/>
            <a:ext cx="2594695" cy="533400"/>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FINANCE</a:t>
            </a:r>
          </a:p>
        </p:txBody>
      </p:sp>
      <p:sp>
        <p:nvSpPr>
          <p:cNvPr id="4" name="TextBox 3">
            <a:extLst>
              <a:ext uri="{FF2B5EF4-FFF2-40B4-BE49-F238E27FC236}">
                <a16:creationId xmlns:a16="http://schemas.microsoft.com/office/drawing/2014/main" id="{F322B9F2-CA67-D5B4-CC60-7F01099438FE}"/>
              </a:ext>
            </a:extLst>
          </p:cNvPr>
          <p:cNvSpPr txBox="1"/>
          <p:nvPr/>
        </p:nvSpPr>
        <p:spPr>
          <a:xfrm>
            <a:off x="384173" y="2663262"/>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Agenda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Previous Meeting Minutes</a:t>
            </a:r>
          </a:p>
        </p:txBody>
      </p:sp>
    </p:spTree>
    <p:extLst>
      <p:ext uri="{BB962C8B-B14F-4D97-AF65-F5344CB8AC3E}">
        <p14:creationId xmlns:p14="http://schemas.microsoft.com/office/powerpoint/2010/main" val="2811741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Financial Overview</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summary of the company's financial performance during the quarter in a table or graph format.</a:t>
            </a:r>
          </a:p>
          <a:p>
            <a:pPr marL="228600" indent="-228600" algn="l">
              <a:buFont typeface="+mj-lt"/>
              <a:buAutoNum type="arabicPeriod"/>
            </a:pPr>
            <a:r>
              <a:rPr lang="en-US" sz="1200" i="0" dirty="0">
                <a:solidFill>
                  <a:srgbClr val="374151"/>
                </a:solidFill>
                <a:effectLst/>
                <a:latin typeface="Söhne"/>
              </a:rPr>
              <a:t>Revenue</a:t>
            </a:r>
            <a:r>
              <a:rPr lang="en-US" sz="1200" b="0" i="0" dirty="0">
                <a:solidFill>
                  <a:srgbClr val="374151"/>
                </a:solidFill>
                <a:effectLst/>
                <a:latin typeface="Söhne"/>
              </a:rPr>
              <a:t>: A breakdown of revenue by product line or business segment, and the percentage change from the previous quarter and the same quarter last year. It should also include a comparison of actual revenue to the forecasted revenue for the quarter.</a:t>
            </a:r>
          </a:p>
          <a:p>
            <a:pPr marL="228600" indent="-228600" algn="l">
              <a:buFont typeface="+mj-lt"/>
              <a:buAutoNum type="arabicPeriod"/>
            </a:pPr>
            <a:r>
              <a:rPr lang="en-US" sz="1200" i="0" dirty="0">
                <a:solidFill>
                  <a:srgbClr val="374151"/>
                </a:solidFill>
                <a:effectLst/>
                <a:latin typeface="Söhne"/>
              </a:rPr>
              <a:t>Gross profit</a:t>
            </a:r>
            <a:r>
              <a:rPr lang="en-US" sz="1200" b="0" i="0" dirty="0">
                <a:solidFill>
                  <a:srgbClr val="374151"/>
                </a:solidFill>
                <a:effectLst/>
                <a:latin typeface="Söhne"/>
              </a:rPr>
              <a:t>: A breakdown of gross profit by product line or business segment, and the percentage change from the previous quarter and the same quarter last year. It should also include a comparison of actual gross profit to the forecasted gross profit for the quarter.</a:t>
            </a:r>
          </a:p>
          <a:p>
            <a:pPr marL="228600" indent="-228600" algn="l">
              <a:buFont typeface="+mj-lt"/>
              <a:buAutoNum type="arabicPeriod"/>
            </a:pPr>
            <a:r>
              <a:rPr lang="en-US" sz="1200" i="0" dirty="0">
                <a:solidFill>
                  <a:srgbClr val="374151"/>
                </a:solidFill>
                <a:effectLst/>
                <a:latin typeface="Söhne"/>
              </a:rPr>
              <a:t>Operating expenses</a:t>
            </a:r>
            <a:r>
              <a:rPr lang="en-US" sz="1200" b="0" i="0" dirty="0">
                <a:solidFill>
                  <a:srgbClr val="374151"/>
                </a:solidFill>
                <a:effectLst/>
                <a:latin typeface="Söhne"/>
              </a:rPr>
              <a:t>: A breakdown of operating expenses (e.g. salaries, rent, marketing expenses, etc.) and the percentage change from the previous quarter and the same quarter last year. It should also include a comparison of actual operating expenses to the forecasted operating expenses for the quarter.</a:t>
            </a:r>
          </a:p>
          <a:p>
            <a:pPr marL="228600" indent="-228600" algn="l">
              <a:buFont typeface="+mj-lt"/>
              <a:buAutoNum type="arabicPeriod"/>
            </a:pPr>
            <a:r>
              <a:rPr lang="en-US" sz="1200" i="0" dirty="0">
                <a:solidFill>
                  <a:srgbClr val="374151"/>
                </a:solidFill>
                <a:effectLst/>
                <a:latin typeface="Söhne"/>
              </a:rPr>
              <a:t>EBITDA</a:t>
            </a:r>
            <a:r>
              <a:rPr lang="en-US" sz="1200" b="0" i="0" dirty="0">
                <a:solidFill>
                  <a:srgbClr val="374151"/>
                </a:solidFill>
                <a:effectLst/>
                <a:latin typeface="Söhne"/>
              </a:rPr>
              <a:t>: The company's Earnings Before Interest, Taxes, Depreciation, and Amortization (EBITDA) for the quarter, including the percentage change from the previous quarter and the same quarter last year. It should also include a comparison of actual EBITDA to the forecasted EBITDA for the quarter.</a:t>
            </a:r>
          </a:p>
          <a:p>
            <a:pPr marL="228600" indent="-228600" algn="l">
              <a:buFont typeface="+mj-lt"/>
              <a:buAutoNum type="arabicPeriod"/>
            </a:pPr>
            <a:r>
              <a:rPr lang="en-US" sz="1200" i="0" dirty="0">
                <a:solidFill>
                  <a:srgbClr val="374151"/>
                </a:solidFill>
                <a:effectLst/>
                <a:latin typeface="Söhne"/>
              </a:rPr>
              <a:t>Net income</a:t>
            </a:r>
            <a:r>
              <a:rPr lang="en-US" sz="1200" b="0" i="0" dirty="0">
                <a:solidFill>
                  <a:srgbClr val="374151"/>
                </a:solidFill>
                <a:effectLst/>
                <a:latin typeface="Söhne"/>
              </a:rPr>
              <a:t>: The company's net income for the quarter, including the percentage change from the previous quarter and the same quarter last year. It should also include a comparison of actual net income to the forecasted net income for the quarter.</a:t>
            </a:r>
          </a:p>
          <a:p>
            <a:pPr marL="228600" indent="-228600" algn="l">
              <a:buFont typeface="+mj-lt"/>
              <a:buAutoNum type="arabicPeriod"/>
            </a:pPr>
            <a:r>
              <a:rPr lang="en-US" sz="1200" i="0" dirty="0">
                <a:solidFill>
                  <a:srgbClr val="374151"/>
                </a:solidFill>
                <a:effectLst/>
                <a:latin typeface="Söhne"/>
              </a:rPr>
              <a:t>Cash flow</a:t>
            </a:r>
            <a:r>
              <a:rPr lang="en-US" sz="1200" b="0" i="0" dirty="0">
                <a:solidFill>
                  <a:srgbClr val="374151"/>
                </a:solidFill>
                <a:effectLst/>
                <a:latin typeface="Söhne"/>
              </a:rPr>
              <a:t>: A summary of the company's cash flow during the quarter, including operating, investing, and financing activities. It should also include a comparison of actual cash flow to the forecasted cash flow for the quarter.</a:t>
            </a:r>
          </a:p>
          <a:p>
            <a:pPr marL="228600" indent="-228600" algn="l">
              <a:buFont typeface="+mj-lt"/>
              <a:buAutoNum type="arabicPeriod"/>
            </a:pPr>
            <a:r>
              <a:rPr lang="en-US" sz="1200" i="0" dirty="0">
                <a:solidFill>
                  <a:srgbClr val="374151"/>
                </a:solidFill>
                <a:effectLst/>
                <a:latin typeface="Söhne"/>
              </a:rPr>
              <a:t>Balance sheet</a:t>
            </a:r>
            <a:r>
              <a:rPr lang="en-US" sz="1200" b="0" i="0" dirty="0">
                <a:solidFill>
                  <a:srgbClr val="374151"/>
                </a:solidFill>
                <a:effectLst/>
                <a:latin typeface="Söhne"/>
              </a:rPr>
              <a:t>: A snapshot of the company's balance sheet at the end of the quarter, including assets, liabilities, and equity. It should also include a comparison of actual balance sheet to the forecasted balance sheet for the quarter.</a:t>
            </a:r>
          </a:p>
          <a:p>
            <a:pPr marL="228600" indent="-228600" algn="l">
              <a:buFont typeface="+mj-lt"/>
              <a:buAutoNum type="arabicPeriod"/>
            </a:pPr>
            <a:r>
              <a:rPr lang="en-US" sz="1200" i="0" dirty="0">
                <a:solidFill>
                  <a:srgbClr val="374151"/>
                </a:solidFill>
                <a:effectLst/>
                <a:latin typeface="Söhne"/>
              </a:rPr>
              <a:t>Key financial ratios</a:t>
            </a:r>
            <a:r>
              <a:rPr lang="en-US" sz="1200" b="0" i="0" dirty="0">
                <a:solidFill>
                  <a:srgbClr val="374151"/>
                </a:solidFill>
                <a:effectLst/>
                <a:latin typeface="Söhne"/>
              </a:rPr>
              <a:t>: A summary of key financial ratios (e.g. current ratio, debt-to-equity ratio, return on investment, etc.) and the percentage change from the previous quarter and the same quarter last year. It should also include a comparison of actual financial ratios to the forecasted financial ratios for the quarter.</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company's financial performance during the quarter, including any noteworthy achievements or concerns, and the outlook for the next quarter.</a:t>
            </a:r>
          </a:p>
          <a:p>
            <a:endParaRPr lang="en-US" sz="1200" b="0" dirty="0"/>
          </a:p>
        </p:txBody>
      </p:sp>
    </p:spTree>
    <p:extLst>
      <p:ext uri="{BB962C8B-B14F-4D97-AF65-F5344CB8AC3E}">
        <p14:creationId xmlns:p14="http://schemas.microsoft.com/office/powerpoint/2010/main" val="1054994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Income Statement</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Heading and Period</a:t>
            </a:r>
            <a:r>
              <a:rPr lang="en-US" sz="1200" b="0" i="0" dirty="0">
                <a:solidFill>
                  <a:srgbClr val="374151"/>
                </a:solidFill>
                <a:effectLst/>
                <a:latin typeface="Söhne"/>
              </a:rPr>
              <a:t>: The income statement should begin with a clear heading indicating the company name, the fiscal period covered (e.g., "Quarter Ended March 31, 2023"), and the currency used for reporting.</a:t>
            </a:r>
          </a:p>
          <a:p>
            <a:pPr marL="228600" indent="-228600" algn="l">
              <a:buFont typeface="+mj-lt"/>
              <a:buAutoNum type="arabicPeriod"/>
            </a:pPr>
            <a:r>
              <a:rPr lang="en-US" sz="1200" i="0" dirty="0">
                <a:solidFill>
                  <a:srgbClr val="374151"/>
                </a:solidFill>
                <a:effectLst/>
                <a:latin typeface="Söhne"/>
              </a:rPr>
              <a:t>Revenue</a:t>
            </a:r>
            <a:r>
              <a:rPr lang="en-US" sz="1200" b="0" i="0" dirty="0">
                <a:solidFill>
                  <a:srgbClr val="374151"/>
                </a:solidFill>
                <a:effectLst/>
                <a:latin typeface="Söhne"/>
              </a:rPr>
              <a:t>: The top section of the income statement should outline the company's total revenues or sales generated during the period. This section should include a breakdown of revenue streams, such as product sales, service revenues, licensing fees, or any other sources of income specific to the business.</a:t>
            </a:r>
          </a:p>
          <a:p>
            <a:pPr marL="228600" indent="-228600" algn="l">
              <a:buFont typeface="+mj-lt"/>
              <a:buAutoNum type="arabicPeriod"/>
            </a:pPr>
            <a:r>
              <a:rPr lang="en-US" sz="1200" i="0" dirty="0">
                <a:solidFill>
                  <a:srgbClr val="374151"/>
                </a:solidFill>
                <a:effectLst/>
                <a:latin typeface="Söhne"/>
              </a:rPr>
              <a:t>Cost of Goods Sold (COGS): </a:t>
            </a:r>
            <a:r>
              <a:rPr lang="en-US" sz="1200" b="0" i="0" dirty="0">
                <a:solidFill>
                  <a:srgbClr val="374151"/>
                </a:solidFill>
                <a:effectLst/>
                <a:latin typeface="Söhne"/>
              </a:rPr>
              <a:t>Following the revenue section, there should be a detailed breakdown of the direct costs associated with producing or delivering the company's products or services. This typically includes the cost of raw materials, direct labor, and manufacturing or production overheads.</a:t>
            </a:r>
          </a:p>
          <a:p>
            <a:pPr marL="228600" indent="-228600" algn="l">
              <a:buFont typeface="+mj-lt"/>
              <a:buAutoNum type="arabicPeriod"/>
            </a:pPr>
            <a:r>
              <a:rPr lang="en-US" sz="1200" i="0" dirty="0">
                <a:solidFill>
                  <a:srgbClr val="374151"/>
                </a:solidFill>
                <a:effectLst/>
                <a:latin typeface="Söhne"/>
              </a:rPr>
              <a:t>Gross Profit</a:t>
            </a:r>
            <a:r>
              <a:rPr lang="en-US" sz="1200" b="0" i="0" dirty="0">
                <a:solidFill>
                  <a:srgbClr val="374151"/>
                </a:solidFill>
                <a:effectLst/>
                <a:latin typeface="Söhne"/>
              </a:rPr>
              <a:t>: The income statement should then calculate the gross profit by subtracting the COGS from the total revenue. This figure represents the company's profitability before considering operating expenses.</a:t>
            </a:r>
          </a:p>
          <a:p>
            <a:pPr marL="228600" indent="-228600" algn="l">
              <a:buFont typeface="+mj-lt"/>
              <a:buAutoNum type="arabicPeriod"/>
            </a:pPr>
            <a:r>
              <a:rPr lang="en-US" sz="1200" i="0" dirty="0">
                <a:solidFill>
                  <a:srgbClr val="374151"/>
                </a:solidFill>
                <a:effectLst/>
                <a:latin typeface="Söhne"/>
              </a:rPr>
              <a:t>Operating Expenses</a:t>
            </a:r>
            <a:r>
              <a:rPr lang="en-US" sz="1200" b="0" i="0" dirty="0">
                <a:solidFill>
                  <a:srgbClr val="374151"/>
                </a:solidFill>
                <a:effectLst/>
                <a:latin typeface="Söhne"/>
              </a:rPr>
              <a:t>: This section should outline the company's operating expenses incurred during the period. It includes expenses such as salaries and wages, rent, utilities, marketing and advertising costs, research and development expenses, and any other general and administrative expenses. Each expense category should be listed separately, accompanied by the corresponding dollar amount.</a:t>
            </a:r>
          </a:p>
          <a:p>
            <a:pPr marL="228600" indent="-228600" algn="l">
              <a:buFont typeface="+mj-lt"/>
              <a:buAutoNum type="arabicPeriod"/>
            </a:pPr>
            <a:r>
              <a:rPr lang="en-US" sz="1200" i="0" dirty="0">
                <a:solidFill>
                  <a:srgbClr val="374151"/>
                </a:solidFill>
                <a:effectLst/>
                <a:latin typeface="Söhne"/>
              </a:rPr>
              <a:t>Operating Income</a:t>
            </a:r>
            <a:r>
              <a:rPr lang="en-US" sz="1200" b="0" i="0" dirty="0">
                <a:solidFill>
                  <a:srgbClr val="374151"/>
                </a:solidFill>
                <a:effectLst/>
                <a:latin typeface="Söhne"/>
              </a:rPr>
              <a:t>: The operating income is derived by subtracting the total operating expenses from the gross profit. It represents the company's profitability from its core operations before considering other non-operating income or expenses.</a:t>
            </a:r>
          </a:p>
          <a:p>
            <a:pPr marL="228600" indent="-228600" algn="l">
              <a:buFont typeface="+mj-lt"/>
              <a:buAutoNum type="arabicPeriod"/>
            </a:pPr>
            <a:r>
              <a:rPr lang="en-US" sz="1200" i="0" dirty="0">
                <a:solidFill>
                  <a:srgbClr val="374151"/>
                </a:solidFill>
                <a:effectLst/>
                <a:latin typeface="Söhne"/>
              </a:rPr>
              <a:t>Non-Operating Income/Expenses</a:t>
            </a:r>
            <a:r>
              <a:rPr lang="en-US" sz="1200" b="0" i="0" dirty="0">
                <a:solidFill>
                  <a:srgbClr val="374151"/>
                </a:solidFill>
                <a:effectLst/>
                <a:latin typeface="Söhne"/>
              </a:rPr>
              <a:t>: This section should include any income or expenses that are not directly related to the company's core operations. Examples may include gains or losses from the sale of assets, interest income or expense, foreign exchange gains or losses, or any other extraordinary or non-recurring items. Each category should be listed separately with the corresponding dollar amount.</a:t>
            </a:r>
          </a:p>
          <a:p>
            <a:pPr marL="228600" indent="-228600" algn="l">
              <a:buFont typeface="+mj-lt"/>
              <a:buAutoNum type="arabicPeriod"/>
            </a:pPr>
            <a:r>
              <a:rPr lang="en-US" sz="1200" i="0" dirty="0">
                <a:solidFill>
                  <a:srgbClr val="374151"/>
                </a:solidFill>
                <a:effectLst/>
                <a:latin typeface="Söhne"/>
              </a:rPr>
              <a:t>Net Income Before Taxes</a:t>
            </a:r>
            <a:r>
              <a:rPr lang="en-US" sz="1200" b="0" i="0" dirty="0">
                <a:solidFill>
                  <a:srgbClr val="374151"/>
                </a:solidFill>
                <a:effectLst/>
                <a:latin typeface="Söhne"/>
              </a:rPr>
              <a:t>: This line item represents the company's overall profitability before accounting for income taxes. It is calculated by adding the operating income and non-operating income/expenses.</a:t>
            </a:r>
          </a:p>
          <a:p>
            <a:pPr marL="228600" indent="-228600" algn="l">
              <a:buFont typeface="+mj-lt"/>
              <a:buAutoNum type="arabicPeriod"/>
            </a:pPr>
            <a:r>
              <a:rPr lang="en-US" sz="1200" i="0" dirty="0">
                <a:solidFill>
                  <a:srgbClr val="374151"/>
                </a:solidFill>
                <a:effectLst/>
                <a:latin typeface="Söhne"/>
              </a:rPr>
              <a:t>Income Taxes</a:t>
            </a:r>
            <a:r>
              <a:rPr lang="en-US" sz="1200" b="0" i="0" dirty="0">
                <a:solidFill>
                  <a:srgbClr val="374151"/>
                </a:solidFill>
                <a:effectLst/>
                <a:latin typeface="Söhne"/>
              </a:rPr>
              <a:t>: The income statement should include a section that outlines the income tax provision for the period. This should detail any current income taxes payable or deferred taxes, along with any tax credits or adjustments.</a:t>
            </a:r>
          </a:p>
        </p:txBody>
      </p:sp>
    </p:spTree>
    <p:extLst>
      <p:ext uri="{BB962C8B-B14F-4D97-AF65-F5344CB8AC3E}">
        <p14:creationId xmlns:p14="http://schemas.microsoft.com/office/powerpoint/2010/main" val="2518436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Income Statement (continued)</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startAt="10"/>
            </a:pPr>
            <a:r>
              <a:rPr lang="en-US" sz="1200" i="0" dirty="0">
                <a:solidFill>
                  <a:srgbClr val="374151"/>
                </a:solidFill>
                <a:effectLst/>
                <a:latin typeface="Söhne"/>
              </a:rPr>
              <a:t>Net Income</a:t>
            </a:r>
            <a:r>
              <a:rPr lang="en-US" sz="1200" b="0" i="0" dirty="0">
                <a:solidFill>
                  <a:srgbClr val="374151"/>
                </a:solidFill>
                <a:effectLst/>
                <a:latin typeface="Söhne"/>
              </a:rPr>
              <a:t>: The net income is the final figure on the income statement and represents the company's overall profitability after accounting for income taxes. It is calculated by subtracting the income taxes from the net income before taxes.</a:t>
            </a:r>
          </a:p>
          <a:p>
            <a:pPr marL="228600" indent="-228600" algn="l">
              <a:buFont typeface="+mj-lt"/>
              <a:buAutoNum type="arabicPeriod" startAt="10"/>
            </a:pPr>
            <a:r>
              <a:rPr lang="en-US" sz="1200" i="0" dirty="0">
                <a:solidFill>
                  <a:srgbClr val="374151"/>
                </a:solidFill>
                <a:effectLst/>
                <a:latin typeface="Söhne"/>
              </a:rPr>
              <a:t>Earnings per Share (EPS): </a:t>
            </a:r>
            <a:r>
              <a:rPr lang="en-US" sz="1200" b="0" i="0" dirty="0">
                <a:solidFill>
                  <a:srgbClr val="374151"/>
                </a:solidFill>
                <a:effectLst/>
                <a:latin typeface="Söhne"/>
              </a:rPr>
              <a:t>If applicable, the income statement should also provide the earnings per share figure, which indicates the portion of the company's net income allocated to each outstanding share of common stock. This can be calculated by dividing the net income by the weighted average number of common shares outstanding during the period.</a:t>
            </a:r>
          </a:p>
          <a:p>
            <a:pPr marL="228600" indent="-228600" algn="l">
              <a:buFont typeface="+mj-lt"/>
              <a:buAutoNum type="arabicPeriod" startAt="10"/>
            </a:pPr>
            <a:r>
              <a:rPr lang="en-US" sz="1200" i="0" dirty="0">
                <a:solidFill>
                  <a:srgbClr val="374151"/>
                </a:solidFill>
                <a:effectLst/>
                <a:latin typeface="Söhne"/>
              </a:rPr>
              <a:t>Comparative Analysis</a:t>
            </a:r>
            <a:r>
              <a:rPr lang="en-US" sz="1200" b="0" i="0" dirty="0">
                <a:solidFill>
                  <a:srgbClr val="374151"/>
                </a:solidFill>
                <a:effectLst/>
                <a:latin typeface="Söhne"/>
              </a:rPr>
              <a:t>: To provide meaningful insights, it is useful to include a comparative analysis of the income statement with the previous quarter or the corresponding period from the previous year. This helps identify trends, changes in revenue or expense categories, and overall performance improvements or declines.</a:t>
            </a:r>
            <a:endParaRPr lang="en-US" sz="1200" b="0" dirty="0"/>
          </a:p>
        </p:txBody>
      </p:sp>
    </p:spTree>
    <p:extLst>
      <p:ext uri="{BB962C8B-B14F-4D97-AF65-F5344CB8AC3E}">
        <p14:creationId xmlns:p14="http://schemas.microsoft.com/office/powerpoint/2010/main" val="754705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Cash Flow Statement</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statement of cash flows for the quarter showing the cash inflows and outflows from operating, investing, and financing activities.</a:t>
            </a:r>
          </a:p>
          <a:p>
            <a:pPr marL="228600" indent="-228600" algn="l">
              <a:buFont typeface="+mj-lt"/>
              <a:buAutoNum type="arabicPeriod"/>
            </a:pPr>
            <a:r>
              <a:rPr lang="en-US" sz="1200" i="0" dirty="0">
                <a:solidFill>
                  <a:srgbClr val="374151"/>
                </a:solidFill>
                <a:effectLst/>
                <a:latin typeface="Söhne"/>
              </a:rPr>
              <a:t>Cash inflows</a:t>
            </a:r>
            <a:r>
              <a:rPr lang="en-US" sz="1200" b="0" i="0" dirty="0">
                <a:solidFill>
                  <a:srgbClr val="374151"/>
                </a:solidFill>
                <a:effectLst/>
                <a:latin typeface="Söhne"/>
              </a:rPr>
              <a:t>: A breakdown of the forecasted cash inflows for each week, including any major sources of revenue or funding. This could include sales revenue, accounts receivable collections, loan proceeds, or investment income, among others.</a:t>
            </a:r>
          </a:p>
          <a:p>
            <a:pPr marL="228600" indent="-228600" algn="l">
              <a:buFont typeface="+mj-lt"/>
              <a:buAutoNum type="arabicPeriod"/>
            </a:pPr>
            <a:r>
              <a:rPr lang="en-US" sz="1200" i="0" dirty="0">
                <a:solidFill>
                  <a:srgbClr val="374151"/>
                </a:solidFill>
                <a:effectLst/>
                <a:latin typeface="Söhne"/>
              </a:rPr>
              <a:t>Cash outflows</a:t>
            </a:r>
            <a:r>
              <a:rPr lang="en-US" sz="1200" b="0" i="0" dirty="0">
                <a:solidFill>
                  <a:srgbClr val="374151"/>
                </a:solidFill>
                <a:effectLst/>
                <a:latin typeface="Söhne"/>
              </a:rPr>
              <a:t>: A breakdown of the forecasted cash outflows for each week, including any major categories of expenses. This could include payroll, rent, utilities, taxes, loan repayments, or other operating expenses, among others.</a:t>
            </a:r>
          </a:p>
          <a:p>
            <a:pPr marL="228600" indent="-228600" algn="l">
              <a:buFont typeface="+mj-lt"/>
              <a:buAutoNum type="arabicPeriod"/>
            </a:pPr>
            <a:r>
              <a:rPr lang="en-US" sz="1200" i="0" dirty="0">
                <a:solidFill>
                  <a:srgbClr val="374151"/>
                </a:solidFill>
                <a:effectLst/>
                <a:latin typeface="Söhne"/>
              </a:rPr>
              <a:t>Investing cash flow</a:t>
            </a:r>
            <a:r>
              <a:rPr lang="en-US" sz="1200" b="0" i="0" dirty="0">
                <a:solidFill>
                  <a:srgbClr val="374151"/>
                </a:solidFill>
                <a:effectLst/>
                <a:latin typeface="Söhne"/>
              </a:rPr>
              <a:t>: A breakdown of the investing cash flow for the quarter, showing the net cash flow from investing activities and a summary of the significant investing activities during the quarter.</a:t>
            </a:r>
          </a:p>
          <a:p>
            <a:pPr marL="228600" indent="-228600" algn="l">
              <a:buFont typeface="+mj-lt"/>
              <a:buAutoNum type="arabicPeriod"/>
            </a:pPr>
            <a:r>
              <a:rPr lang="en-US" sz="1200" i="0" dirty="0">
                <a:solidFill>
                  <a:srgbClr val="374151"/>
                </a:solidFill>
                <a:effectLst/>
                <a:latin typeface="Söhne"/>
              </a:rPr>
              <a:t>Financing cash flow</a:t>
            </a:r>
            <a:r>
              <a:rPr lang="en-US" sz="1200" b="0" i="0" dirty="0">
                <a:solidFill>
                  <a:srgbClr val="374151"/>
                </a:solidFill>
                <a:effectLst/>
                <a:latin typeface="Söhne"/>
              </a:rPr>
              <a:t>: A breakdown of the financing cash flow for the quarter, showing the net cash flow from financing activities and a summary of the significant financing activities during the quarter.</a:t>
            </a:r>
          </a:p>
          <a:p>
            <a:pPr marL="228600" indent="-228600">
              <a:buFont typeface="+mj-lt"/>
              <a:buAutoNum type="arabicPeriod"/>
            </a:pPr>
            <a:r>
              <a:rPr lang="en-US" sz="1200" i="0" dirty="0">
                <a:solidFill>
                  <a:srgbClr val="374151"/>
                </a:solidFill>
                <a:effectLst/>
                <a:latin typeface="Söhne"/>
              </a:rPr>
              <a:t>Forecast summary</a:t>
            </a:r>
            <a:r>
              <a:rPr lang="en-US" sz="1200" b="0" i="0" dirty="0">
                <a:solidFill>
                  <a:srgbClr val="374151"/>
                </a:solidFill>
                <a:effectLst/>
                <a:latin typeface="Söhne"/>
              </a:rPr>
              <a:t>: A summary of the forecasted cash inflows and outflows, with total forecasted net cash flow for each week and for the entire period.</a:t>
            </a:r>
          </a:p>
          <a:p>
            <a:pPr marL="228600" indent="-228600" algn="l">
              <a:buFont typeface="+mj-lt"/>
              <a:buAutoNum type="arabicPeriod"/>
            </a:pPr>
            <a:r>
              <a:rPr lang="en-US" sz="1200" i="0" dirty="0">
                <a:solidFill>
                  <a:srgbClr val="374151"/>
                </a:solidFill>
                <a:effectLst/>
                <a:latin typeface="Söhne"/>
              </a:rPr>
              <a:t>Cash and cash equivalents</a:t>
            </a:r>
            <a:r>
              <a:rPr lang="en-US" sz="1200" b="0" i="0" dirty="0">
                <a:solidFill>
                  <a:srgbClr val="374151"/>
                </a:solidFill>
                <a:effectLst/>
                <a:latin typeface="Söhne"/>
              </a:rPr>
              <a:t>: An analysis of the changes in cash and cash equivalents during the quarter, including the beginning and ending balances, and any significant changes or events that impacted the cash position.</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cash flow statement, such as a bar chart or pie chart, to make it easier to visualize the sources and uses of cash during the quarter.</a:t>
            </a:r>
          </a:p>
          <a:p>
            <a:pPr marL="228600" indent="-228600" algn="l">
              <a:buFont typeface="+mj-lt"/>
              <a:buAutoNum type="arabicPeriod"/>
            </a:pPr>
            <a:r>
              <a:rPr lang="en-US" sz="1200" i="0" dirty="0">
                <a:solidFill>
                  <a:srgbClr val="374151"/>
                </a:solidFill>
                <a:effectLst/>
                <a:latin typeface="Söhne"/>
              </a:rPr>
              <a:t>Key drivers of cash flow improvement or decline</a:t>
            </a:r>
            <a:r>
              <a:rPr lang="en-US" sz="1200" b="0" i="0" dirty="0">
                <a:solidFill>
                  <a:srgbClr val="374151"/>
                </a:solidFill>
                <a:effectLst/>
                <a:latin typeface="Söhne"/>
              </a:rPr>
              <a:t>: An analysis of the key drivers of cash flow improvement or decline, such as changes in revenue, expenses, or capital expenditures.</a:t>
            </a:r>
          </a:p>
          <a:p>
            <a:pPr marL="228600" indent="-228600" algn="l">
              <a:buFont typeface="+mj-lt"/>
              <a:buAutoNum type="arabicPeriod"/>
            </a:pPr>
            <a:r>
              <a:rPr lang="en-US" sz="1200" i="0" dirty="0">
                <a:solidFill>
                  <a:srgbClr val="374151"/>
                </a:solidFill>
                <a:effectLst/>
                <a:latin typeface="Söhne"/>
              </a:rPr>
              <a:t>Variance analysis</a:t>
            </a:r>
            <a:r>
              <a:rPr lang="en-US" sz="1200" b="0" i="0" dirty="0">
                <a:solidFill>
                  <a:srgbClr val="374151"/>
                </a:solidFill>
                <a:effectLst/>
                <a:latin typeface="Söhne"/>
              </a:rPr>
              <a:t>: An analysis of any significant variances between the forecasted cash flows and the actual results for the prior period.</a:t>
            </a:r>
          </a:p>
          <a:p>
            <a:pPr marL="228600" indent="-228600" algn="l">
              <a:buFont typeface="+mj-lt"/>
              <a:buAutoNum type="arabicPeriod"/>
            </a:pPr>
            <a:r>
              <a:rPr lang="en-US" sz="1200" i="0" dirty="0">
                <a:solidFill>
                  <a:srgbClr val="374151"/>
                </a:solidFill>
                <a:effectLst/>
                <a:latin typeface="Söhne"/>
              </a:rPr>
              <a:t>Sensitivity analysis</a:t>
            </a:r>
            <a:r>
              <a:rPr lang="en-US" sz="1200" b="0" i="0" dirty="0">
                <a:solidFill>
                  <a:srgbClr val="374151"/>
                </a:solidFill>
                <a:effectLst/>
                <a:latin typeface="Söhne"/>
              </a:rPr>
              <a:t>: An analysis of the potential impact of different scenarios or assumptions on the cash flow forecast, to help identify potential risks and opportunities. </a:t>
            </a:r>
          </a:p>
          <a:p>
            <a:pPr marL="228600" indent="-228600" algn="l">
              <a:buFont typeface="+mj-lt"/>
              <a:buAutoNum type="arabicPeriod"/>
            </a:pPr>
            <a:r>
              <a:rPr lang="en-US" sz="1200" i="0" dirty="0">
                <a:solidFill>
                  <a:srgbClr val="374151"/>
                </a:solidFill>
                <a:effectLst/>
                <a:latin typeface="Söhne"/>
              </a:rPr>
              <a:t>Trend analysis</a:t>
            </a:r>
            <a:r>
              <a:rPr lang="en-US" sz="1200" b="0" i="0" dirty="0">
                <a:solidFill>
                  <a:srgbClr val="374151"/>
                </a:solidFill>
                <a:effectLst/>
                <a:latin typeface="Söhne"/>
              </a:rPr>
              <a:t>: A comparison of the cash flow trends over the previous quarters or years, highlighting any changes or trends.</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company's cash flow performance during the quarter, including any noteworthy achievements or concerns, and the outlook for the next quarter.</a:t>
            </a:r>
          </a:p>
          <a:p>
            <a:endParaRPr lang="en-US" sz="1200" b="0" dirty="0"/>
          </a:p>
        </p:txBody>
      </p:sp>
    </p:spTree>
    <p:extLst>
      <p:ext uri="{BB962C8B-B14F-4D97-AF65-F5344CB8AC3E}">
        <p14:creationId xmlns:p14="http://schemas.microsoft.com/office/powerpoint/2010/main" val="2951903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Balance Sheet</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balance sheet for the quarter showing the company's assets, liabilities, and equity at the end of the quarter.</a:t>
            </a:r>
          </a:p>
          <a:p>
            <a:pPr marL="228600" indent="-228600" algn="l">
              <a:buFont typeface="+mj-lt"/>
              <a:buAutoNum type="arabicPeriod"/>
            </a:pPr>
            <a:r>
              <a:rPr lang="en-US" sz="1200" i="0" dirty="0">
                <a:solidFill>
                  <a:srgbClr val="374151"/>
                </a:solidFill>
                <a:effectLst/>
                <a:latin typeface="Söhne"/>
              </a:rPr>
              <a:t>Asset analysis</a:t>
            </a:r>
            <a:r>
              <a:rPr lang="en-US" sz="1200" b="0" i="0" dirty="0">
                <a:solidFill>
                  <a:srgbClr val="374151"/>
                </a:solidFill>
                <a:effectLst/>
                <a:latin typeface="Söhne"/>
              </a:rPr>
              <a:t>: A breakdown of the company's assets, including current assets and long-term assets, such as cash and cash equivalents, accounts receivable, inventory, property, plant, and equipment, and intangible assets.</a:t>
            </a:r>
          </a:p>
          <a:p>
            <a:pPr marL="228600" indent="-228600" algn="l">
              <a:buFont typeface="+mj-lt"/>
              <a:buAutoNum type="arabicPeriod"/>
            </a:pPr>
            <a:r>
              <a:rPr lang="en-US" sz="1200" i="0" dirty="0">
                <a:solidFill>
                  <a:srgbClr val="374151"/>
                </a:solidFill>
                <a:effectLst/>
                <a:latin typeface="Söhne"/>
              </a:rPr>
              <a:t>Liability analysis</a:t>
            </a:r>
            <a:r>
              <a:rPr lang="en-US" sz="1200" b="0" i="0" dirty="0">
                <a:solidFill>
                  <a:srgbClr val="374151"/>
                </a:solidFill>
                <a:effectLst/>
                <a:latin typeface="Söhne"/>
              </a:rPr>
              <a:t>: A breakdown of the company's liabilities, including current liabilities and long-term liabilities, such as accounts payable, accrued expenses, notes payable, and long-term debt.</a:t>
            </a:r>
          </a:p>
          <a:p>
            <a:pPr marL="228600" indent="-228600" algn="l">
              <a:buFont typeface="+mj-lt"/>
              <a:buAutoNum type="arabicPeriod"/>
            </a:pPr>
            <a:r>
              <a:rPr lang="en-US" sz="1200" i="0" dirty="0">
                <a:solidFill>
                  <a:srgbClr val="374151"/>
                </a:solidFill>
                <a:effectLst/>
                <a:latin typeface="Söhne"/>
              </a:rPr>
              <a:t>Equity analysis</a:t>
            </a:r>
            <a:r>
              <a:rPr lang="en-US" sz="1200" b="0" i="0" dirty="0">
                <a:solidFill>
                  <a:srgbClr val="374151"/>
                </a:solidFill>
                <a:effectLst/>
                <a:latin typeface="Söhne"/>
              </a:rPr>
              <a:t>: A breakdown of the company's equity, including common stock, retained earnings, and other comprehensive income.</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balance sheet, such as a stacked bar chart or pie chart, to make it easier to visualize the composition of the assets, liabilities, and equity.</a:t>
            </a:r>
          </a:p>
          <a:p>
            <a:pPr marL="228600" indent="-228600" algn="l">
              <a:buFont typeface="+mj-lt"/>
              <a:buAutoNum type="arabicPeriod"/>
            </a:pPr>
            <a:r>
              <a:rPr lang="en-US" sz="1200" i="0" dirty="0">
                <a:solidFill>
                  <a:srgbClr val="374151"/>
                </a:solidFill>
                <a:effectLst/>
                <a:latin typeface="Söhne"/>
              </a:rPr>
              <a:t>Key drivers of balance sheet changes</a:t>
            </a:r>
            <a:r>
              <a:rPr lang="en-US" sz="1200" b="0" i="0" dirty="0">
                <a:solidFill>
                  <a:srgbClr val="374151"/>
                </a:solidFill>
                <a:effectLst/>
                <a:latin typeface="Söhne"/>
              </a:rPr>
              <a:t>: An analysis of the key drivers of changes in the balance sheet, such as changes in revenue, expenses, capital expenditures, or financing activities.</a:t>
            </a:r>
          </a:p>
          <a:p>
            <a:pPr marL="228600" indent="-228600" algn="l">
              <a:buFont typeface="+mj-lt"/>
              <a:buAutoNum type="arabicPeriod"/>
            </a:pPr>
            <a:r>
              <a:rPr lang="en-US" sz="1200" i="0" dirty="0">
                <a:solidFill>
                  <a:srgbClr val="374151"/>
                </a:solidFill>
                <a:effectLst/>
                <a:latin typeface="Söhne"/>
              </a:rPr>
              <a:t>Trend analysis</a:t>
            </a:r>
            <a:r>
              <a:rPr lang="en-US" sz="1200" b="0" i="0" dirty="0">
                <a:solidFill>
                  <a:srgbClr val="374151"/>
                </a:solidFill>
                <a:effectLst/>
                <a:latin typeface="Söhne"/>
              </a:rPr>
              <a:t>: A comparison of the balance sheet trends over the previous quarters or years, highlighting any changes or trends.</a:t>
            </a:r>
          </a:p>
          <a:p>
            <a:pPr marL="228600" indent="-228600" algn="l">
              <a:buFont typeface="+mj-lt"/>
              <a:buAutoNum type="arabicPeriod"/>
            </a:pPr>
            <a:r>
              <a:rPr lang="en-US" sz="1200" i="0" dirty="0">
                <a:solidFill>
                  <a:srgbClr val="374151"/>
                </a:solidFill>
                <a:effectLst/>
                <a:latin typeface="Söhne"/>
              </a:rPr>
              <a:t>Liquidity analysis</a:t>
            </a:r>
            <a:r>
              <a:rPr lang="en-US" sz="1200" b="0" i="0" dirty="0">
                <a:solidFill>
                  <a:srgbClr val="374151"/>
                </a:solidFill>
                <a:effectLst/>
                <a:latin typeface="Söhne"/>
              </a:rPr>
              <a:t>: An analysis of the company's liquidity position, including the current ratio and quick ratio, and any significant changes or events that impacted the liquidity position.</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company's balance sheet performance during the quarter, including any noteworthy achievements or concerns, and the outlook for the next quarter.</a:t>
            </a:r>
          </a:p>
        </p:txBody>
      </p:sp>
    </p:spTree>
    <p:extLst>
      <p:ext uri="{BB962C8B-B14F-4D97-AF65-F5344CB8AC3E}">
        <p14:creationId xmlns:p14="http://schemas.microsoft.com/office/powerpoint/2010/main" val="2163055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Revenue Breakdown</a:t>
            </a:r>
            <a:br>
              <a:rPr lang="en-US" dirty="0"/>
            </a:br>
            <a:endParaRPr lang="en-US" dirty="0"/>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summary of the company's revenue performance during the quarter in a table or graph format.</a:t>
            </a:r>
          </a:p>
          <a:p>
            <a:pPr marL="228600" indent="-228600" algn="l">
              <a:buFont typeface="+mj-lt"/>
              <a:buAutoNum type="arabicPeriod"/>
            </a:pPr>
            <a:r>
              <a:rPr lang="en-US" sz="1200" i="0" dirty="0">
                <a:solidFill>
                  <a:srgbClr val="374151"/>
                </a:solidFill>
                <a:effectLst/>
                <a:latin typeface="Söhne"/>
              </a:rPr>
              <a:t>Revenue breakdown</a:t>
            </a:r>
            <a:r>
              <a:rPr lang="en-US" sz="1200" b="0" i="0" dirty="0">
                <a:solidFill>
                  <a:srgbClr val="374151"/>
                </a:solidFill>
                <a:effectLst/>
                <a:latin typeface="Söhne"/>
              </a:rPr>
              <a:t>: A breakdown of revenue by product, service, or customer segment. This should include the percentage contribution of each segment to the overall revenue for the quarter, as well as a comparison of actual revenue to the forecasted revenue for each segment.</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revenue breakdown, such as a pie chart or bar chart, to make it easier to visualize the contribution of each segment to the overall revenue.</a:t>
            </a:r>
          </a:p>
          <a:p>
            <a:pPr marL="228600" indent="-228600" algn="l">
              <a:buFont typeface="+mj-lt"/>
              <a:buAutoNum type="arabicPeriod"/>
            </a:pPr>
            <a:r>
              <a:rPr lang="en-US" sz="1200" i="0" dirty="0">
                <a:solidFill>
                  <a:srgbClr val="374151"/>
                </a:solidFill>
                <a:effectLst/>
                <a:latin typeface="Söhne"/>
              </a:rPr>
              <a:t>Key drivers of revenue growth or decline</a:t>
            </a:r>
            <a:r>
              <a:rPr lang="en-US" sz="1200" b="0" i="0" dirty="0">
                <a:solidFill>
                  <a:srgbClr val="374151"/>
                </a:solidFill>
                <a:effectLst/>
                <a:latin typeface="Söhne"/>
              </a:rPr>
              <a:t>: An analysis of the key drivers of revenue growth or decline for each segment. This could include factors such as changes in market demand, pricing, competition, and product/service innovation.</a:t>
            </a:r>
          </a:p>
          <a:p>
            <a:pPr marL="228600" indent="-228600" algn="l">
              <a:buFont typeface="+mj-lt"/>
              <a:buAutoNum type="arabicPeriod"/>
            </a:pPr>
            <a:r>
              <a:rPr lang="en-US" sz="1200" i="0" dirty="0">
                <a:solidFill>
                  <a:srgbClr val="374151"/>
                </a:solidFill>
                <a:effectLst/>
                <a:latin typeface="Söhne"/>
              </a:rPr>
              <a:t>Key customers</a:t>
            </a:r>
            <a:r>
              <a:rPr lang="en-US" sz="1200" b="0" i="0" dirty="0">
                <a:solidFill>
                  <a:srgbClr val="374151"/>
                </a:solidFill>
                <a:effectLst/>
                <a:latin typeface="Söhne"/>
              </a:rPr>
              <a:t>: A breakdown of revenue by key customers or customer groups, and the percentage change from the previous quarter and the same quarter last year. It should also include a comparison of actual revenue to the forecasted revenue for each key customer or customer group.</a:t>
            </a:r>
          </a:p>
          <a:p>
            <a:pPr marL="228600" indent="-228600" algn="l">
              <a:buFont typeface="+mj-lt"/>
              <a:buAutoNum type="arabicPeriod"/>
            </a:pPr>
            <a:r>
              <a:rPr lang="en-US" sz="1200" i="0" dirty="0">
                <a:solidFill>
                  <a:srgbClr val="374151"/>
                </a:solidFill>
                <a:effectLst/>
                <a:latin typeface="Söhne"/>
              </a:rPr>
              <a:t>Sales channels</a:t>
            </a:r>
            <a:r>
              <a:rPr lang="en-US" sz="1200" b="0" i="0" dirty="0">
                <a:solidFill>
                  <a:srgbClr val="374151"/>
                </a:solidFill>
                <a:effectLst/>
                <a:latin typeface="Söhne"/>
              </a:rPr>
              <a:t>: A breakdown of revenue by sales channels (e.g. direct sales, online sales, resellers, etc.) and the percentage change from the previous quarter and the same quarter last year. It should also include a comparison of actual revenue to the forecasted revenue for each sales channel.</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company's revenue performance during the quarter, including any noteworthy achievements or concerns, and the outlook for the next quarter.</a:t>
            </a:r>
          </a:p>
          <a:p>
            <a:endParaRPr lang="en-US" sz="1200" b="0" dirty="0"/>
          </a:p>
        </p:txBody>
      </p:sp>
    </p:spTree>
    <p:extLst>
      <p:ext uri="{BB962C8B-B14F-4D97-AF65-F5344CB8AC3E}">
        <p14:creationId xmlns:p14="http://schemas.microsoft.com/office/powerpoint/2010/main" val="1793759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Operating Expenses Breakdown</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summary of the company's operating expenses performance during the quarter in a table or graph format.</a:t>
            </a:r>
          </a:p>
          <a:p>
            <a:pPr marL="228600" indent="-228600" algn="l">
              <a:buFont typeface="+mj-lt"/>
              <a:buAutoNum type="arabicPeriod"/>
            </a:pPr>
            <a:r>
              <a:rPr lang="en-US" sz="1200" i="0" dirty="0">
                <a:solidFill>
                  <a:srgbClr val="374151"/>
                </a:solidFill>
                <a:effectLst/>
                <a:latin typeface="Söhne"/>
              </a:rPr>
              <a:t>Operating expenses breakdown</a:t>
            </a:r>
            <a:r>
              <a:rPr lang="en-US" sz="1200" b="0" i="0" dirty="0">
                <a:solidFill>
                  <a:srgbClr val="374151"/>
                </a:solidFill>
                <a:effectLst/>
                <a:latin typeface="Söhne"/>
              </a:rPr>
              <a:t>: A breakdown of operating expenses, including salaries, marketing, and other expenses. This should include the percentage contribution of each category to the overall operating expenses for the quarter, as well as a comparison of actual operating expenses to the forecasted operating expenses for each category.</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operating expenses breakdown, such as a pie chart or bar chart, to make it easier to visualize the contribution of each category to the overall operating expenses.</a:t>
            </a:r>
          </a:p>
          <a:p>
            <a:pPr marL="228600" indent="-228600" algn="l">
              <a:buFont typeface="+mj-lt"/>
              <a:buAutoNum type="arabicPeriod"/>
            </a:pPr>
            <a:r>
              <a:rPr lang="en-US" sz="1200" i="0" dirty="0">
                <a:solidFill>
                  <a:srgbClr val="374151"/>
                </a:solidFill>
                <a:effectLst/>
                <a:latin typeface="Söhne"/>
              </a:rPr>
              <a:t>Key drivers of operating expenses growth or reduction</a:t>
            </a:r>
            <a:r>
              <a:rPr lang="en-US" sz="1200" b="0" i="0" dirty="0">
                <a:solidFill>
                  <a:srgbClr val="374151"/>
                </a:solidFill>
                <a:effectLst/>
                <a:latin typeface="Söhne"/>
              </a:rPr>
              <a:t>: An analysis of the key drivers of operating expenses growth or reduction for each category. This could include factors such as changes in headcount, salary, marketing spend, or other costs related to the business operations.</a:t>
            </a:r>
          </a:p>
          <a:p>
            <a:pPr marL="228600" indent="-228600" algn="l">
              <a:buFont typeface="+mj-lt"/>
              <a:buAutoNum type="arabicPeriod"/>
            </a:pPr>
            <a:r>
              <a:rPr lang="en-US" sz="1200" i="0" dirty="0">
                <a:solidFill>
                  <a:srgbClr val="374151"/>
                </a:solidFill>
                <a:effectLst/>
                <a:latin typeface="Söhne"/>
              </a:rPr>
              <a:t>Trend analysis</a:t>
            </a:r>
            <a:r>
              <a:rPr lang="en-US" sz="1200" b="0" i="0" dirty="0">
                <a:solidFill>
                  <a:srgbClr val="374151"/>
                </a:solidFill>
                <a:effectLst/>
                <a:latin typeface="Söhne"/>
              </a:rPr>
              <a:t>: A comparison of the operating expenses trends for each category over the previous quarters or years, highlighting any changes or trends.</a:t>
            </a:r>
          </a:p>
          <a:p>
            <a:pPr marL="228600" indent="-228600" algn="l">
              <a:buFont typeface="+mj-lt"/>
              <a:buAutoNum type="arabicPeriod"/>
            </a:pPr>
            <a:r>
              <a:rPr lang="en-US" sz="1200" i="0" dirty="0">
                <a:solidFill>
                  <a:srgbClr val="374151"/>
                </a:solidFill>
                <a:effectLst/>
                <a:latin typeface="Söhne"/>
              </a:rPr>
              <a:t>Efficiency metrics</a:t>
            </a:r>
            <a:r>
              <a:rPr lang="en-US" sz="1200" b="0" i="0" dirty="0">
                <a:solidFill>
                  <a:srgbClr val="374151"/>
                </a:solidFill>
                <a:effectLst/>
                <a:latin typeface="Söhne"/>
              </a:rPr>
              <a:t>: Metrics that show the company's efficiency in managing its operating expenses, such as operating expenses as a percentage of revenue, or operating expenses per employee.</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company's operating expenses performance during the quarter, including any noteworthy achievements or concerns, and the outlook for the next quarter.</a:t>
            </a:r>
          </a:p>
          <a:p>
            <a:endParaRPr lang="en-US" sz="1200" b="0" dirty="0"/>
          </a:p>
        </p:txBody>
      </p:sp>
    </p:spTree>
    <p:extLst>
      <p:ext uri="{BB962C8B-B14F-4D97-AF65-F5344CB8AC3E}">
        <p14:creationId xmlns:p14="http://schemas.microsoft.com/office/powerpoint/2010/main" val="154042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Cost Reduction Initiatives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overview of the company's financial performance during the quarter, highlighting any areas where costs have been a concern.</a:t>
            </a:r>
          </a:p>
          <a:p>
            <a:pPr marL="228600" indent="-228600" algn="l">
              <a:buFont typeface="+mj-lt"/>
              <a:buAutoNum type="arabicPeriod"/>
            </a:pPr>
            <a:r>
              <a:rPr lang="en-US" sz="1200" i="0" dirty="0">
                <a:solidFill>
                  <a:srgbClr val="374151"/>
                </a:solidFill>
                <a:effectLst/>
                <a:latin typeface="Söhne"/>
              </a:rPr>
              <a:t>Description of cost reduction initiatives</a:t>
            </a:r>
            <a:r>
              <a:rPr lang="en-US" sz="1200" b="0" i="0" dirty="0">
                <a:solidFill>
                  <a:srgbClr val="374151"/>
                </a:solidFill>
                <a:effectLst/>
                <a:latin typeface="Söhne"/>
              </a:rPr>
              <a:t>: A list of the cost reduction initiatives implemented during the quarter, including details on what each initiative involved and the expected savings. This section may also include any challenges faced in implementing the initiatives.</a:t>
            </a:r>
          </a:p>
          <a:p>
            <a:pPr marL="228600" indent="-228600" algn="l">
              <a:buFont typeface="+mj-lt"/>
              <a:buAutoNum type="arabicPeriod"/>
            </a:pPr>
            <a:r>
              <a:rPr lang="en-US" sz="1200" i="0" dirty="0">
                <a:solidFill>
                  <a:srgbClr val="374151"/>
                </a:solidFill>
                <a:effectLst/>
                <a:latin typeface="Söhne"/>
              </a:rPr>
              <a:t>Savings achieved</a:t>
            </a:r>
            <a:r>
              <a:rPr lang="en-US" sz="1200" b="0" i="0" dirty="0">
                <a:solidFill>
                  <a:srgbClr val="374151"/>
                </a:solidFill>
                <a:effectLst/>
                <a:latin typeface="Söhne"/>
              </a:rPr>
              <a:t>: An overview of the savings achieved through the cost reduction initiatives, including both absolute dollar savings and as a percentage of total costs.</a:t>
            </a:r>
          </a:p>
          <a:p>
            <a:pPr marL="228600" indent="-228600" algn="l">
              <a:buFont typeface="+mj-lt"/>
              <a:buAutoNum type="arabicPeriod"/>
            </a:pPr>
            <a:r>
              <a:rPr lang="en-US" sz="1200" i="0" dirty="0">
                <a:solidFill>
                  <a:srgbClr val="374151"/>
                </a:solidFill>
                <a:effectLst/>
                <a:latin typeface="Söhne"/>
              </a:rPr>
              <a:t>Future plans</a:t>
            </a:r>
            <a:r>
              <a:rPr lang="en-US" sz="1200" b="0" i="0" dirty="0">
                <a:solidFill>
                  <a:srgbClr val="374151"/>
                </a:solidFill>
                <a:effectLst/>
                <a:latin typeface="Söhne"/>
              </a:rPr>
              <a:t>: A discussion of any further cost reduction initiatives planned for the future, along with a timeline for implementation and expected savings.</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summary of the cost reduction initiatives and their impact on the company's financial performance, along with any key takeaways for the board.</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225867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Profitability Analysis/ROI</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summary of the company's profitability performance during the quarter, including the return on investment (ROI) percentage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Net income margin analysis</a:t>
            </a:r>
            <a:r>
              <a:rPr lang="en-US" sz="1200" b="0" i="0" dirty="0">
                <a:solidFill>
                  <a:srgbClr val="374151"/>
                </a:solidFill>
                <a:effectLst/>
                <a:latin typeface="Söhne"/>
              </a:rPr>
              <a:t>: An analysis of the net income margin for the quarter, including a breakdown of revenue, cost of goods sold, and operating expenses. This should include a comparison of the net income margin to the forecasted net income margin.</a:t>
            </a:r>
          </a:p>
          <a:p>
            <a:pPr marL="228600" indent="-228600">
              <a:buFont typeface="+mj-lt"/>
              <a:buAutoNum type="arabicPeriod"/>
            </a:pPr>
            <a:r>
              <a:rPr lang="en-US" sz="1200" i="0" dirty="0">
                <a:solidFill>
                  <a:srgbClr val="374151"/>
                </a:solidFill>
                <a:effectLst/>
                <a:latin typeface="Söhne"/>
              </a:rPr>
              <a:t>Gross margin breakdown</a:t>
            </a:r>
            <a:r>
              <a:rPr lang="en-US" sz="1200" b="0" i="0" dirty="0">
                <a:solidFill>
                  <a:srgbClr val="374151"/>
                </a:solidFill>
                <a:effectLst/>
                <a:latin typeface="Söhne"/>
              </a:rPr>
              <a:t>: A breakdown of gross margin by product, service, or customer segment. This should include the percentage contribution of each segment to the overall gross margin for the quarter, as well as a comparison of actual gross margin to the forecasted gross margin for each segment.</a:t>
            </a:r>
          </a:p>
          <a:p>
            <a:pPr marL="228600" indent="-228600" algn="l">
              <a:buFont typeface="+mj-lt"/>
              <a:buAutoNum type="arabicPeriod"/>
            </a:pPr>
            <a:r>
              <a:rPr lang="en-US" sz="1200" i="0" dirty="0">
                <a:solidFill>
                  <a:srgbClr val="374151"/>
                </a:solidFill>
                <a:effectLst/>
                <a:latin typeface="Söhne"/>
              </a:rPr>
              <a:t>Key drivers of gross margin improvement or decline</a:t>
            </a:r>
            <a:r>
              <a:rPr lang="en-US" sz="1200" b="0" i="0" dirty="0">
                <a:solidFill>
                  <a:srgbClr val="374151"/>
                </a:solidFill>
                <a:effectLst/>
                <a:latin typeface="Söhne"/>
              </a:rPr>
              <a:t>: An analysis of the key drivers of gross margin improvement or decline for each segment. This could include factors such as changes in cost of goods sold, pricing, mix of products/services sold, and changes in customer demand.</a:t>
            </a:r>
          </a:p>
          <a:p>
            <a:pPr marL="228600" indent="-228600" algn="l">
              <a:buFont typeface="+mj-lt"/>
              <a:buAutoNum type="arabicPeriod"/>
            </a:pPr>
            <a:r>
              <a:rPr lang="en-US" sz="1200" i="0" dirty="0">
                <a:solidFill>
                  <a:srgbClr val="374151"/>
                </a:solidFill>
                <a:effectLst/>
                <a:latin typeface="Söhne"/>
              </a:rPr>
              <a:t>Gross margin trends</a:t>
            </a:r>
            <a:r>
              <a:rPr lang="en-US" sz="1200" b="0" i="0" dirty="0">
                <a:solidFill>
                  <a:srgbClr val="374151"/>
                </a:solidFill>
                <a:effectLst/>
                <a:latin typeface="Söhne"/>
              </a:rPr>
              <a:t>: A comparison of the gross margin trends for each segment over the previous quarters or years, highlighting any changes or trends.</a:t>
            </a:r>
          </a:p>
          <a:p>
            <a:pPr marL="228600" indent="-228600" algn="l">
              <a:buFont typeface="+mj-lt"/>
              <a:buAutoNum type="arabicPeriod"/>
            </a:pPr>
            <a:r>
              <a:rPr lang="en-US" sz="1200" i="0" dirty="0">
                <a:solidFill>
                  <a:srgbClr val="374151"/>
                </a:solidFill>
                <a:effectLst/>
                <a:latin typeface="Söhne"/>
              </a:rPr>
              <a:t>Return on assets analysis</a:t>
            </a:r>
            <a:r>
              <a:rPr lang="en-US" sz="1200" b="0" i="0" dirty="0">
                <a:solidFill>
                  <a:srgbClr val="374151"/>
                </a:solidFill>
                <a:effectLst/>
                <a:latin typeface="Söhne"/>
              </a:rPr>
              <a:t>: An analysis of the return on assets for the quarter, including a breakdown of net income and total assets. This should include a comparison of the return on assets to the forecasted return on assets.</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net income margin and return on assets analysis, such as a line chart or bar chart.</a:t>
            </a:r>
          </a:p>
          <a:p>
            <a:pPr marL="228600" indent="-228600" algn="l">
              <a:buFont typeface="+mj-lt"/>
              <a:buAutoNum type="arabicPeriod"/>
            </a:pPr>
            <a:r>
              <a:rPr lang="en-US" sz="1200" i="0" dirty="0">
                <a:solidFill>
                  <a:srgbClr val="374151"/>
                </a:solidFill>
                <a:effectLst/>
                <a:latin typeface="Söhne"/>
              </a:rPr>
              <a:t>Key drivers of profitability improvement or decline</a:t>
            </a:r>
            <a:r>
              <a:rPr lang="en-US" sz="1200" b="0" i="0" dirty="0">
                <a:solidFill>
                  <a:srgbClr val="374151"/>
                </a:solidFill>
                <a:effectLst/>
                <a:latin typeface="Söhne"/>
              </a:rPr>
              <a:t>: An analysis of the key drivers of profitability improvement or decline, such as changes in revenue mix, pricing, cost structure, or operational efficiencies.</a:t>
            </a:r>
          </a:p>
          <a:p>
            <a:pPr marL="228600" indent="-228600" algn="l">
              <a:buFont typeface="+mj-lt"/>
              <a:buAutoNum type="arabicPeriod"/>
            </a:pPr>
            <a:r>
              <a:rPr lang="en-US" sz="1200" i="0" dirty="0">
                <a:solidFill>
                  <a:srgbClr val="374151"/>
                </a:solidFill>
                <a:effectLst/>
                <a:latin typeface="Söhne"/>
              </a:rPr>
              <a:t>Trend analysis</a:t>
            </a:r>
            <a:r>
              <a:rPr lang="en-US" sz="1200" b="0" i="0" dirty="0">
                <a:solidFill>
                  <a:srgbClr val="374151"/>
                </a:solidFill>
                <a:effectLst/>
                <a:latin typeface="Söhne"/>
              </a:rPr>
              <a:t>: A comparison of the profitability trends over the previous quarters or years, highlighting any changes or trends.</a:t>
            </a:r>
          </a:p>
          <a:p>
            <a:pPr marL="228600" indent="-228600" algn="l">
              <a:buFont typeface="+mj-lt"/>
              <a:buAutoNum type="arabicPeriod"/>
            </a:pPr>
            <a:r>
              <a:rPr lang="en-US" sz="1200" i="0" dirty="0">
                <a:solidFill>
                  <a:srgbClr val="374151"/>
                </a:solidFill>
                <a:effectLst/>
                <a:latin typeface="Söhne"/>
              </a:rPr>
              <a:t>Industry benchmarking</a:t>
            </a:r>
            <a:r>
              <a:rPr lang="en-US" sz="1200" b="0" i="0" dirty="0">
                <a:solidFill>
                  <a:srgbClr val="374151"/>
                </a:solidFill>
                <a:effectLst/>
                <a:latin typeface="Söhne"/>
              </a:rPr>
              <a:t>: A comparison of the company's profitability performance to the industry benchmarks or peers, if available.</a:t>
            </a:r>
          </a:p>
          <a:p>
            <a:pPr marL="228600" indent="-228600" algn="l">
              <a:buFont typeface="+mj-lt"/>
              <a:buAutoNum type="arabicPeriod"/>
            </a:pPr>
            <a:r>
              <a:rPr lang="en-US" sz="1200" i="0" dirty="0">
                <a:solidFill>
                  <a:srgbClr val="374151"/>
                </a:solidFill>
                <a:effectLst/>
                <a:latin typeface="Söhne"/>
              </a:rPr>
              <a:t>ROI breakdown</a:t>
            </a:r>
            <a:r>
              <a:rPr lang="en-US" sz="1200" b="0" i="0" dirty="0">
                <a:solidFill>
                  <a:srgbClr val="374151"/>
                </a:solidFill>
                <a:effectLst/>
                <a:latin typeface="Söhne"/>
              </a:rPr>
              <a:t>: A breakdown of the ROI by product, service, or customer segment, and an analysis of the trend compared to previous quarters or years, with an analysis of the factors contributing to the ROI for each product, service, or customer segment, including sales volume, pricing, cost of goods sold, and operating expenses.</a:t>
            </a:r>
          </a:p>
          <a:p>
            <a:pPr marL="228600" indent="-228600" algn="l">
              <a:buFont typeface="+mj-lt"/>
              <a:buAutoNum type="arabicPeriod"/>
            </a:pPr>
            <a:r>
              <a:rPr lang="en-US" sz="1200" i="0" dirty="0">
                <a:solidFill>
                  <a:srgbClr val="374151"/>
                </a:solidFill>
                <a:effectLst/>
                <a:latin typeface="Söhne"/>
              </a:rPr>
              <a:t>ROI improvement plan</a:t>
            </a:r>
            <a:r>
              <a:rPr lang="en-US" sz="1200" b="0" i="0" dirty="0">
                <a:solidFill>
                  <a:srgbClr val="374151"/>
                </a:solidFill>
                <a:effectLst/>
                <a:latin typeface="Söhne"/>
              </a:rPr>
              <a:t>: An analysis of the areas where the company can improve the ROI for each product, service, or customer segment, and a plan for addressing those areas.</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company's ROI during the quarter, including any noteworthy achievements or concerns, and the outlook for the next quarter.</a:t>
            </a:r>
          </a:p>
          <a:p>
            <a:endParaRPr lang="en-US" sz="1200" b="0" dirty="0"/>
          </a:p>
        </p:txBody>
      </p:sp>
    </p:spTree>
    <p:extLst>
      <p:ext uri="{BB962C8B-B14F-4D97-AF65-F5344CB8AC3E}">
        <p14:creationId xmlns:p14="http://schemas.microsoft.com/office/powerpoint/2010/main" val="276103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Working Capital Analysis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An analysis of working capital for the quarter, including the calculation and interpretation of key metrics such as inventory turnover, days sales outstanding (DSO), and days payable outstanding (DPO).</a:t>
            </a:r>
          </a:p>
          <a:p>
            <a:pPr marL="228600" indent="-228600" algn="l">
              <a:buFont typeface="+mj-lt"/>
              <a:buAutoNum type="arabicPeriod"/>
            </a:pPr>
            <a:r>
              <a:rPr lang="en-US" sz="1200" i="0" dirty="0">
                <a:solidFill>
                  <a:srgbClr val="374151"/>
                </a:solidFill>
                <a:effectLst/>
                <a:latin typeface="Söhne"/>
              </a:rPr>
              <a:t>Inventory turnover</a:t>
            </a:r>
            <a:r>
              <a:rPr lang="en-US" sz="1200" b="0" i="0" dirty="0">
                <a:solidFill>
                  <a:srgbClr val="374151"/>
                </a:solidFill>
                <a:effectLst/>
                <a:latin typeface="Söhne"/>
              </a:rPr>
              <a:t>: A calculation of inventory turnover, showing the number of times inventory is sold and replaced during the quarter,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Days sales outstanding</a:t>
            </a:r>
            <a:r>
              <a:rPr lang="en-US" sz="1200" b="0" i="0" dirty="0">
                <a:solidFill>
                  <a:srgbClr val="374151"/>
                </a:solidFill>
                <a:effectLst/>
                <a:latin typeface="Söhne"/>
              </a:rPr>
              <a:t>: A calculation of days sales outstanding (DSO), showing the average number of days it takes to collect payment from customers,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Days payable outstanding</a:t>
            </a:r>
            <a:r>
              <a:rPr lang="en-US" sz="1200" b="0" i="0" dirty="0">
                <a:solidFill>
                  <a:srgbClr val="374151"/>
                </a:solidFill>
                <a:effectLst/>
                <a:latin typeface="Söhne"/>
              </a:rPr>
              <a:t>: A calculation of days payable outstanding (DPO), showing the average number of days it takes to pay suppliers,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Working capital cycle</a:t>
            </a:r>
            <a:r>
              <a:rPr lang="en-US" sz="1200" b="0" i="0" dirty="0">
                <a:solidFill>
                  <a:srgbClr val="374151"/>
                </a:solidFill>
                <a:effectLst/>
                <a:latin typeface="Söhne"/>
              </a:rPr>
              <a:t>: An analysis of the company's working capital cycle, showing the time it takes to convert inventory into sales and collect payment from customers, and the time it takes to pay suppliers.</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working capital metrics, such as a line graph or bar chart, to make it easier to visualize the trends and changes over time.</a:t>
            </a:r>
          </a:p>
          <a:p>
            <a:pPr marL="228600" indent="-228600" algn="l">
              <a:buFont typeface="+mj-lt"/>
              <a:buAutoNum type="arabicPeriod"/>
            </a:pPr>
            <a:r>
              <a:rPr lang="en-US" sz="1200" i="0" dirty="0">
                <a:solidFill>
                  <a:srgbClr val="374151"/>
                </a:solidFill>
                <a:effectLst/>
                <a:latin typeface="Söhne"/>
              </a:rPr>
              <a:t>Key drivers of working capital changes</a:t>
            </a:r>
            <a:r>
              <a:rPr lang="en-US" sz="1200" b="0" i="0" dirty="0">
                <a:solidFill>
                  <a:srgbClr val="374151"/>
                </a:solidFill>
                <a:effectLst/>
                <a:latin typeface="Söhne"/>
              </a:rPr>
              <a:t>: An analysis of the key drivers of changes in working capital, such as changes in sales volume, pricing, inventory levels, or payment terms.</a:t>
            </a:r>
          </a:p>
          <a:p>
            <a:pPr marL="228600" indent="-228600" algn="l">
              <a:buFont typeface="+mj-lt"/>
              <a:buAutoNum type="arabicPeriod"/>
            </a:pPr>
            <a:r>
              <a:rPr lang="en-US" sz="1200" i="0" dirty="0">
                <a:solidFill>
                  <a:srgbClr val="374151"/>
                </a:solidFill>
                <a:effectLst/>
                <a:latin typeface="Söhne"/>
              </a:rPr>
              <a:t>Benchmarking</a:t>
            </a:r>
            <a:r>
              <a:rPr lang="en-US" sz="1200" b="0" i="0" dirty="0">
                <a:solidFill>
                  <a:srgbClr val="374151"/>
                </a:solidFill>
                <a:effectLst/>
                <a:latin typeface="Söhne"/>
              </a:rPr>
              <a:t>: A comparison of the working capital metrics to industry benchmarks or peer companies, highlighting any areas of strength or weakness.</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company's working capital performance during the quarter, including any noteworthy achievements or concerns, and the outlook for the next quarter.</a:t>
            </a:r>
          </a:p>
          <a:p>
            <a:endParaRPr lang="en-US" sz="1200" b="0" dirty="0"/>
          </a:p>
        </p:txBody>
      </p:sp>
    </p:spTree>
    <p:extLst>
      <p:ext uri="{BB962C8B-B14F-4D97-AF65-F5344CB8AC3E}">
        <p14:creationId xmlns:p14="http://schemas.microsoft.com/office/powerpoint/2010/main" val="173004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Accounts Receivable</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Summary of accounts receivable status</a:t>
            </a:r>
            <a:r>
              <a:rPr lang="en-US" sz="1200" b="0" i="0" dirty="0">
                <a:solidFill>
                  <a:srgbClr val="374151"/>
                </a:solidFill>
                <a:effectLst/>
                <a:latin typeface="Söhne"/>
              </a:rPr>
              <a:t>: An overview of the company's accounts receivable status during the quarter, including the total amount outstanding and any changes from the previous quarter.</a:t>
            </a:r>
          </a:p>
          <a:p>
            <a:pPr marL="228600" indent="-228600" algn="l">
              <a:buFont typeface="+mj-lt"/>
              <a:buAutoNum type="arabicPeriod"/>
            </a:pPr>
            <a:r>
              <a:rPr lang="en-US" sz="1200" i="0" dirty="0">
                <a:solidFill>
                  <a:srgbClr val="374151"/>
                </a:solidFill>
                <a:effectLst/>
                <a:latin typeface="Söhne"/>
              </a:rPr>
              <a:t>Aging report</a:t>
            </a:r>
            <a:r>
              <a:rPr lang="en-US" sz="1200" b="0" i="0" dirty="0">
                <a:solidFill>
                  <a:srgbClr val="374151"/>
                </a:solidFill>
                <a:effectLst/>
                <a:latin typeface="Söhne"/>
              </a:rPr>
              <a:t>: An aging report of accounts receivable, showing the length of time outstanding for each invoice and the total amount overdue. This report would likely be broken down into categories based on the age of the invoice (e.g., 0-30 days, 31-60 days, 61-90 days, over 90 days).</a:t>
            </a:r>
          </a:p>
          <a:p>
            <a:pPr marL="228600" indent="-228600" algn="l">
              <a:buFont typeface="+mj-lt"/>
              <a:buAutoNum type="arabicPeriod"/>
            </a:pPr>
            <a:r>
              <a:rPr lang="en-US" sz="1200" i="0" dirty="0">
                <a:solidFill>
                  <a:srgbClr val="374151"/>
                </a:solidFill>
                <a:effectLst/>
                <a:latin typeface="Söhne"/>
              </a:rPr>
              <a:t>Collection efforts</a:t>
            </a:r>
            <a:r>
              <a:rPr lang="en-US" sz="1200" b="0" i="0" dirty="0">
                <a:solidFill>
                  <a:srgbClr val="374151"/>
                </a:solidFill>
                <a:effectLst/>
                <a:latin typeface="Söhne"/>
              </a:rPr>
              <a:t>: An overview of the company's efforts to collect outstanding accounts receivable during the quarter, including any changes to the collections process or policies.</a:t>
            </a:r>
          </a:p>
          <a:p>
            <a:pPr marL="228600" indent="-228600" algn="l">
              <a:buFont typeface="+mj-lt"/>
              <a:buAutoNum type="arabicPeriod"/>
            </a:pPr>
            <a:r>
              <a:rPr lang="en-US" sz="1200" i="0" dirty="0">
                <a:solidFill>
                  <a:srgbClr val="374151"/>
                </a:solidFill>
                <a:effectLst/>
                <a:latin typeface="Söhne"/>
              </a:rPr>
              <a:t>Bad debt expense</a:t>
            </a:r>
            <a:r>
              <a:rPr lang="en-US" sz="1200" b="0" i="0" dirty="0">
                <a:solidFill>
                  <a:srgbClr val="374151"/>
                </a:solidFill>
                <a:effectLst/>
                <a:latin typeface="Söhne"/>
              </a:rPr>
              <a:t>: Any bad debt expense recognized during the quarter, including the total amount and any changes from the previous quarter.</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summary of the overall accounts receivable status, including any challenges faced and plans for improving collections in the future.</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4270974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Accounts Payable</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Summary of accounts payable status</a:t>
            </a:r>
            <a:r>
              <a:rPr lang="en-US" sz="1200" b="0" i="0" dirty="0">
                <a:solidFill>
                  <a:srgbClr val="374151"/>
                </a:solidFill>
                <a:effectLst/>
                <a:latin typeface="Söhne"/>
              </a:rPr>
              <a:t>: An overview of the company's accounts payable balance at the end of the quarter</a:t>
            </a:r>
          </a:p>
          <a:p>
            <a:pPr marL="228600" indent="-228600" algn="l">
              <a:buFont typeface="+mj-lt"/>
              <a:buAutoNum type="arabicPeriod"/>
            </a:pPr>
            <a:r>
              <a:rPr lang="en-US" sz="1200" i="0" dirty="0">
                <a:solidFill>
                  <a:srgbClr val="374151"/>
                </a:solidFill>
                <a:effectLst/>
                <a:latin typeface="Söhne"/>
              </a:rPr>
              <a:t>Aging report</a:t>
            </a:r>
            <a:r>
              <a:rPr lang="en-US" sz="1200" b="0" i="0" dirty="0">
                <a:solidFill>
                  <a:srgbClr val="374151"/>
                </a:solidFill>
                <a:effectLst/>
                <a:latin typeface="Söhne"/>
              </a:rPr>
              <a:t>: An aging report of accounts payable, showing the amount and age of outstanding payables</a:t>
            </a:r>
          </a:p>
          <a:p>
            <a:pPr marL="228600" indent="-228600" algn="l">
              <a:buFont typeface="+mj-lt"/>
              <a:buAutoNum type="arabicPeriod"/>
            </a:pPr>
            <a:r>
              <a:rPr lang="en-US" sz="1200" i="0" dirty="0">
                <a:solidFill>
                  <a:srgbClr val="374151"/>
                </a:solidFill>
                <a:effectLst/>
                <a:latin typeface="Söhne"/>
              </a:rPr>
              <a:t>Payment terms: </a:t>
            </a:r>
            <a:r>
              <a:rPr lang="en-US" sz="1200" b="0" i="0" dirty="0">
                <a:solidFill>
                  <a:srgbClr val="374151"/>
                </a:solidFill>
                <a:effectLst/>
                <a:latin typeface="Söhne"/>
              </a:rPr>
              <a:t>An update on any changes to the company's payment terms with suppliers or vendors during the quarter</a:t>
            </a:r>
          </a:p>
          <a:p>
            <a:pPr marL="228600" indent="-228600" algn="l">
              <a:buFont typeface="+mj-lt"/>
              <a:buAutoNum type="arabicPeriod"/>
            </a:pPr>
            <a:r>
              <a:rPr lang="en-US" sz="1200" i="0" dirty="0">
                <a:solidFill>
                  <a:srgbClr val="374151"/>
                </a:solidFill>
                <a:effectLst/>
                <a:latin typeface="Söhne"/>
              </a:rPr>
              <a:t>Invoicing: </a:t>
            </a:r>
            <a:r>
              <a:rPr lang="en-US" sz="1200" b="0" i="0" dirty="0">
                <a:solidFill>
                  <a:srgbClr val="374151"/>
                </a:solidFill>
                <a:effectLst/>
                <a:latin typeface="Söhne"/>
              </a:rPr>
              <a:t>Information on the company's approach to paying invoices, including whether it is taking advantage of early payment discounts or delaying payment to maximize net working capital</a:t>
            </a:r>
          </a:p>
          <a:p>
            <a:pPr marL="228600" indent="-228600" algn="l">
              <a:buFont typeface="+mj-lt"/>
              <a:buAutoNum type="arabicPeriod"/>
            </a:pPr>
            <a:r>
              <a:rPr lang="en-US" sz="1200" i="0" dirty="0">
                <a:solidFill>
                  <a:srgbClr val="374151"/>
                </a:solidFill>
                <a:effectLst/>
                <a:latin typeface="Söhne"/>
              </a:rPr>
              <a:t>Issues or disputes: </a:t>
            </a:r>
            <a:r>
              <a:rPr lang="en-US" sz="1200" b="0" i="0" dirty="0">
                <a:solidFill>
                  <a:srgbClr val="374151"/>
                </a:solidFill>
                <a:effectLst/>
                <a:latin typeface="Söhne"/>
              </a:rPr>
              <a:t>Any significant issues related to accounts payable, such as disputes or delays in payment, and how these are being addressed.</a:t>
            </a:r>
          </a:p>
        </p:txBody>
      </p:sp>
    </p:spTree>
    <p:extLst>
      <p:ext uri="{BB962C8B-B14F-4D97-AF65-F5344CB8AC3E}">
        <p14:creationId xmlns:p14="http://schemas.microsoft.com/office/powerpoint/2010/main" val="1861028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Capital Expenditures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summary of the company's capital expenditures during the quarter including the total amount of capital expenditures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Capital expenditures breakdown</a:t>
            </a:r>
            <a:r>
              <a:rPr lang="en-US" sz="1200" b="0" i="0" dirty="0">
                <a:solidFill>
                  <a:srgbClr val="374151"/>
                </a:solidFill>
                <a:effectLst/>
                <a:latin typeface="Söhne"/>
              </a:rPr>
              <a:t>: A breakdown of the company's capital expenditures by category, such as property, plant, and equipment (PP&amp;E), research and development (R&amp;D), and acquisitions,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Purpose</a:t>
            </a:r>
            <a:r>
              <a:rPr lang="en-US" sz="1200" b="0" i="0" dirty="0">
                <a:solidFill>
                  <a:srgbClr val="374151"/>
                </a:solidFill>
                <a:effectLst/>
                <a:latin typeface="Söhne"/>
              </a:rPr>
              <a:t>: A description of the purpose of each category of capital expenditures and how they align with the company's strategic objectives.</a:t>
            </a:r>
          </a:p>
          <a:p>
            <a:pPr marL="228600" indent="-228600" algn="l">
              <a:buFont typeface="+mj-lt"/>
              <a:buAutoNum type="arabicPeriod"/>
            </a:pPr>
            <a:r>
              <a:rPr lang="en-US" sz="1200" i="0" dirty="0">
                <a:solidFill>
                  <a:srgbClr val="374151"/>
                </a:solidFill>
                <a:effectLst/>
                <a:latin typeface="Söhne"/>
              </a:rPr>
              <a:t>ROI analysis</a:t>
            </a:r>
            <a:r>
              <a:rPr lang="en-US" sz="1200" b="0" i="0" dirty="0">
                <a:solidFill>
                  <a:srgbClr val="374151"/>
                </a:solidFill>
                <a:effectLst/>
                <a:latin typeface="Söhne"/>
              </a:rPr>
              <a:t>: An analysis of the return on investment (ROI) for each category of capital expenditures, including the expected ROI, actual ROI, and an explanation of any significant variances.</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company's capital expenditures, such as a bar chart or stacked area chart, to make it easier to visualize the breakdown and trends over time.</a:t>
            </a:r>
          </a:p>
          <a:p>
            <a:pPr marL="228600" indent="-228600" algn="l">
              <a:buFont typeface="+mj-lt"/>
              <a:buAutoNum type="arabicPeriod"/>
            </a:pPr>
            <a:r>
              <a:rPr lang="en-US" sz="1200" i="0" dirty="0">
                <a:solidFill>
                  <a:srgbClr val="374151"/>
                </a:solidFill>
                <a:effectLst/>
                <a:latin typeface="Söhne"/>
              </a:rPr>
              <a:t>Capex budget</a:t>
            </a:r>
            <a:r>
              <a:rPr lang="en-US" sz="1200" b="0" i="0" dirty="0">
                <a:solidFill>
                  <a:srgbClr val="374151"/>
                </a:solidFill>
                <a:effectLst/>
                <a:latin typeface="Söhne"/>
              </a:rPr>
              <a:t>: An analysis of the company's capital expenditures budget for the next quarter or year, including any changes to the budget from the previous quarter or year.</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company's capital expenditures during the quarter, including any noteworthy achievements or concerns, and the outlook for the next quarter.</a:t>
            </a:r>
          </a:p>
          <a:p>
            <a:endParaRPr lang="en-US" sz="1200" b="0" dirty="0"/>
          </a:p>
        </p:txBody>
      </p:sp>
    </p:spTree>
    <p:extLst>
      <p:ext uri="{BB962C8B-B14F-4D97-AF65-F5344CB8AC3E}">
        <p14:creationId xmlns:p14="http://schemas.microsoft.com/office/powerpoint/2010/main" val="1388749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Capital Raising</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Total amount of capital raised</a:t>
            </a:r>
            <a:r>
              <a:rPr lang="en-US" sz="1200" b="0" i="0" dirty="0">
                <a:solidFill>
                  <a:srgbClr val="374151"/>
                </a:solidFill>
                <a:effectLst/>
                <a:latin typeface="Söhne"/>
              </a:rPr>
              <a:t>: The slide should provide a clear breakdown of the total amount of capital raised during the quarter, including any details on whether the capital was raised through debt or equity financing.</a:t>
            </a:r>
          </a:p>
          <a:p>
            <a:pPr marL="228600" indent="-228600" algn="l">
              <a:buFont typeface="+mj-lt"/>
              <a:buAutoNum type="arabicPeriod"/>
            </a:pPr>
            <a:r>
              <a:rPr lang="en-US" sz="1200" i="0" dirty="0">
                <a:solidFill>
                  <a:srgbClr val="374151"/>
                </a:solidFill>
                <a:effectLst/>
                <a:latin typeface="Söhne"/>
              </a:rPr>
              <a:t>Purpose of the capital raising</a:t>
            </a:r>
            <a:r>
              <a:rPr lang="en-US" sz="1200" b="0" i="0" dirty="0">
                <a:solidFill>
                  <a:srgbClr val="374151"/>
                </a:solidFill>
                <a:effectLst/>
                <a:latin typeface="Söhne"/>
              </a:rPr>
              <a:t>: The slide should also explain the purpose behind the capital raising. This could include expanding the company's operations, funding new projects, or paying off existing debts.</a:t>
            </a:r>
          </a:p>
          <a:p>
            <a:pPr marL="228600" indent="-228600" algn="l">
              <a:buFont typeface="+mj-lt"/>
              <a:buAutoNum type="arabicPeriod"/>
            </a:pPr>
            <a:r>
              <a:rPr lang="en-US" sz="1200" i="0" dirty="0">
                <a:solidFill>
                  <a:srgbClr val="374151"/>
                </a:solidFill>
                <a:effectLst/>
                <a:latin typeface="Söhne"/>
              </a:rPr>
              <a:t>Investor information</a:t>
            </a:r>
            <a:r>
              <a:rPr lang="en-US" sz="1200" b="0" i="0" dirty="0">
                <a:solidFill>
                  <a:srgbClr val="374151"/>
                </a:solidFill>
                <a:effectLst/>
                <a:latin typeface="Söhne"/>
              </a:rPr>
              <a:t>: The slide may also provide some information about the investors who participated in the capital raising. This could include the names of any major investors, the amount invested by each investor, and any notable trends in investor participation.</a:t>
            </a:r>
          </a:p>
          <a:p>
            <a:pPr marL="228600" indent="-228600" algn="l">
              <a:buFont typeface="+mj-lt"/>
              <a:buAutoNum type="arabicPeriod"/>
            </a:pPr>
            <a:r>
              <a:rPr lang="en-US" sz="1200" i="0" dirty="0">
                <a:solidFill>
                  <a:srgbClr val="374151"/>
                </a:solidFill>
                <a:effectLst/>
                <a:latin typeface="Söhne"/>
              </a:rPr>
              <a:t>Use of proceeds</a:t>
            </a:r>
            <a:r>
              <a:rPr lang="en-US" sz="1200" b="0" i="0" dirty="0">
                <a:solidFill>
                  <a:srgbClr val="374151"/>
                </a:solidFill>
                <a:effectLst/>
                <a:latin typeface="Söhne"/>
              </a:rPr>
              <a:t>: The slide should also provide details on how the proceeds from the capital raising will be used. This could include a breakdown of the specific projects or initiatives that will be funded by the capital, and any timelines associated with these projects.</a:t>
            </a:r>
          </a:p>
          <a:p>
            <a:pPr marL="228600" indent="-228600" algn="l">
              <a:buFont typeface="+mj-lt"/>
              <a:buAutoNum type="arabicPeriod"/>
            </a:pPr>
            <a:r>
              <a:rPr lang="en-US" sz="1200" i="0" dirty="0">
                <a:solidFill>
                  <a:srgbClr val="374151"/>
                </a:solidFill>
                <a:effectLst/>
                <a:latin typeface="Söhne"/>
              </a:rPr>
              <a:t>Future plans</a:t>
            </a:r>
            <a:r>
              <a:rPr lang="en-US" sz="1200" b="0" i="0" dirty="0">
                <a:solidFill>
                  <a:srgbClr val="374151"/>
                </a:solidFill>
                <a:effectLst/>
                <a:latin typeface="Söhne"/>
              </a:rPr>
              <a:t>: Finally, the slide may touch on the company's future plans for raising capital. This could include information on any upcoming capital raising activities, or plans for future debt or equity financing.</a:t>
            </a:r>
          </a:p>
        </p:txBody>
      </p:sp>
    </p:spTree>
    <p:extLst>
      <p:ext uri="{BB962C8B-B14F-4D97-AF65-F5344CB8AC3E}">
        <p14:creationId xmlns:p14="http://schemas.microsoft.com/office/powerpoint/2010/main" val="2384605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Debt Overview &amp; Refinancing</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summary of the company's debt position for the quarter including total debt, interest rate, and maturity.</a:t>
            </a:r>
          </a:p>
          <a:p>
            <a:pPr marL="228600" indent="-228600" algn="l">
              <a:buFont typeface="+mj-lt"/>
              <a:buAutoNum type="arabicPeriod"/>
            </a:pPr>
            <a:r>
              <a:rPr lang="en-US" sz="1200" i="0" dirty="0">
                <a:solidFill>
                  <a:srgbClr val="374151"/>
                </a:solidFill>
                <a:effectLst/>
                <a:latin typeface="Söhne"/>
              </a:rPr>
              <a:t>Total debt</a:t>
            </a:r>
            <a:r>
              <a:rPr lang="en-US" sz="1200" b="0" i="0" dirty="0">
                <a:solidFill>
                  <a:srgbClr val="374151"/>
                </a:solidFill>
                <a:effectLst/>
                <a:latin typeface="Söhne"/>
              </a:rPr>
              <a:t>: The total amount of debt outstanding during the quarter, including both short- and long-term debt,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Debt breakdown</a:t>
            </a:r>
            <a:r>
              <a:rPr lang="en-US" sz="1200" b="0" i="0" dirty="0">
                <a:solidFill>
                  <a:srgbClr val="374151"/>
                </a:solidFill>
                <a:effectLst/>
                <a:latin typeface="Söhne"/>
              </a:rPr>
              <a:t>: A breakdown of the company's debt by type, such as bank loans, bonds, or convertible debt,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Interest rate</a:t>
            </a:r>
            <a:r>
              <a:rPr lang="en-US" sz="1200" b="0" i="0" dirty="0">
                <a:solidFill>
                  <a:srgbClr val="374151"/>
                </a:solidFill>
                <a:effectLst/>
                <a:latin typeface="Söhne"/>
              </a:rPr>
              <a:t>: The weighted average interest rate of the company's debt during the quarter,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Maturity</a:t>
            </a:r>
            <a:r>
              <a:rPr lang="en-US" sz="1200" b="0" i="0" dirty="0">
                <a:solidFill>
                  <a:srgbClr val="374151"/>
                </a:solidFill>
                <a:effectLst/>
                <a:latin typeface="Söhne"/>
              </a:rPr>
              <a:t>: The maturity profile of the company's debt, showing the amount of debt due within the next year, within 1-3 years, within 3-5 years, and beyond 5 years,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Debt covenants</a:t>
            </a:r>
            <a:r>
              <a:rPr lang="en-US" sz="1200" b="0" i="0" dirty="0">
                <a:solidFill>
                  <a:srgbClr val="374151"/>
                </a:solidFill>
                <a:effectLst/>
                <a:latin typeface="Söhne"/>
              </a:rPr>
              <a:t>: A summary of the debt covenants associated with the company's debt, including any financial or operational covenants, and the company's compliance status.</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company's debt profile, such as a pie chart or stacked bar chart, to visualize the breakdown and trends over time.</a:t>
            </a:r>
          </a:p>
          <a:p>
            <a:pPr marL="228600" indent="-228600" algn="l">
              <a:buFont typeface="+mj-lt"/>
              <a:buAutoNum type="arabicPeriod"/>
            </a:pPr>
            <a:r>
              <a:rPr lang="en-US" sz="1200" i="0" dirty="0">
                <a:solidFill>
                  <a:srgbClr val="374151"/>
                </a:solidFill>
                <a:effectLst/>
                <a:latin typeface="Söhne"/>
              </a:rPr>
              <a:t>Debt service coverage</a:t>
            </a:r>
            <a:r>
              <a:rPr lang="en-US" sz="1200" b="0" i="0" dirty="0">
                <a:solidFill>
                  <a:srgbClr val="374151"/>
                </a:solidFill>
                <a:effectLst/>
                <a:latin typeface="Söhne"/>
              </a:rPr>
              <a:t>: An analysis of the company's ability to service its debt, including debt service coverage ratios and interest coverage ratios,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Overview of debt refinancing activities</a:t>
            </a:r>
            <a:r>
              <a:rPr lang="en-US" sz="1200" b="0" i="0" dirty="0">
                <a:solidFill>
                  <a:srgbClr val="374151"/>
                </a:solidFill>
                <a:effectLst/>
                <a:latin typeface="Söhne"/>
              </a:rPr>
              <a:t>: The presentation would provide an overview of any debt refinancing activities that occurred during the quarter. This would include details such as the types of debt refinanced, the reasons for the refinancing, and any benefits or drawbacks associated with the refinancing.</a:t>
            </a:r>
          </a:p>
          <a:p>
            <a:pPr marL="228600" indent="-228600" algn="l">
              <a:buFont typeface="+mj-lt"/>
              <a:buAutoNum type="arabicPeriod"/>
            </a:pPr>
            <a:r>
              <a:rPr lang="en-US" sz="1200" i="0" dirty="0">
                <a:solidFill>
                  <a:srgbClr val="374151"/>
                </a:solidFill>
                <a:effectLst/>
                <a:latin typeface="Söhne"/>
              </a:rPr>
              <a:t>Changes to interest rates or terms</a:t>
            </a:r>
            <a:r>
              <a:rPr lang="en-US" sz="1200" b="0" i="0" dirty="0">
                <a:solidFill>
                  <a:srgbClr val="374151"/>
                </a:solidFill>
                <a:effectLst/>
                <a:latin typeface="Söhne"/>
              </a:rPr>
              <a:t>: The presentation would outline any changes made to interest rates or terms as part of the refinancing. This could include details such as new interest rates, repayment terms, and any associated fees or costs.</a:t>
            </a:r>
          </a:p>
          <a:p>
            <a:pPr marL="228600" indent="-228600" algn="l">
              <a:buFont typeface="+mj-lt"/>
              <a:buAutoNum type="arabicPeriod"/>
            </a:pPr>
            <a:r>
              <a:rPr lang="en-US" sz="1200" i="0" dirty="0">
                <a:solidFill>
                  <a:srgbClr val="374151"/>
                </a:solidFill>
                <a:effectLst/>
                <a:latin typeface="Söhne"/>
              </a:rPr>
              <a:t>Impact on financial performance</a:t>
            </a:r>
            <a:r>
              <a:rPr lang="en-US" sz="1200" b="0" i="0" dirty="0">
                <a:solidFill>
                  <a:srgbClr val="374151"/>
                </a:solidFill>
                <a:effectLst/>
                <a:latin typeface="Söhne"/>
              </a:rPr>
              <a:t>: The presentation would discuss the impact of the debt refinancing on the company's financial performance. This could include details such as the impact on interest expenses, debt ratios, and any changes to credit ratings.</a:t>
            </a:r>
          </a:p>
          <a:p>
            <a:pPr marL="228600" indent="-228600" algn="l">
              <a:buFont typeface="+mj-lt"/>
              <a:buAutoNum type="arabicPeriod"/>
            </a:pPr>
            <a:r>
              <a:rPr lang="en-US" sz="1200" i="0" dirty="0">
                <a:solidFill>
                  <a:srgbClr val="374151"/>
                </a:solidFill>
                <a:effectLst/>
                <a:latin typeface="Söhne"/>
              </a:rPr>
              <a:t>Future debt refinancing plans</a:t>
            </a:r>
            <a:r>
              <a:rPr lang="en-US" sz="1200" b="0" i="0" dirty="0">
                <a:solidFill>
                  <a:srgbClr val="374151"/>
                </a:solidFill>
                <a:effectLst/>
                <a:latin typeface="Söhne"/>
              </a:rPr>
              <a:t>: The presentation could include information about any future debt refinancing plans the company may have. This would provide insight into the company's overall financial strategy and outlook.</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company's debt position during the quarter, including any noteworthy achievements or concerns, and the outlook for the next quarter.</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3062696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Tax</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Summary of any changes to tax laws or regulations</a:t>
            </a:r>
            <a:r>
              <a:rPr lang="en-US" sz="1200" b="0" i="0" dirty="0">
                <a:solidFill>
                  <a:srgbClr val="374151"/>
                </a:solidFill>
                <a:effectLst/>
                <a:latin typeface="Söhne"/>
              </a:rPr>
              <a:t>: The slide should summarize any changes to tax laws or regulations that may impact the company's tax liability or reporting obligations.</a:t>
            </a:r>
          </a:p>
          <a:p>
            <a:pPr marL="228600" indent="-228600" algn="l">
              <a:buFont typeface="+mj-lt"/>
              <a:buAutoNum type="arabicPeriod"/>
            </a:pPr>
            <a:r>
              <a:rPr lang="en-US" sz="1200" i="0" dirty="0">
                <a:solidFill>
                  <a:srgbClr val="374151"/>
                </a:solidFill>
                <a:effectLst/>
                <a:latin typeface="Söhne"/>
              </a:rPr>
              <a:t>Analysis of tax implications</a:t>
            </a:r>
            <a:r>
              <a:rPr lang="en-US" sz="1200" b="0" i="0" dirty="0">
                <a:solidFill>
                  <a:srgbClr val="374151"/>
                </a:solidFill>
                <a:effectLst/>
                <a:latin typeface="Söhne"/>
              </a:rPr>
              <a:t>: The slide should provide an analysis of the impact of the changes on the company's financials, such as any changes to the effective tax rate or deferred tax assets and liabilities.</a:t>
            </a:r>
          </a:p>
          <a:p>
            <a:pPr marL="228600" indent="-228600" algn="l">
              <a:buFont typeface="+mj-lt"/>
              <a:buAutoNum type="arabicPeriod"/>
            </a:pPr>
            <a:r>
              <a:rPr lang="en-US" sz="1200" i="0" dirty="0">
                <a:solidFill>
                  <a:srgbClr val="374151"/>
                </a:solidFill>
                <a:effectLst/>
                <a:latin typeface="Söhne"/>
              </a:rPr>
              <a:t>Mitigation strategies</a:t>
            </a:r>
            <a:r>
              <a:rPr lang="en-US" sz="1200" b="0" i="0" dirty="0">
                <a:solidFill>
                  <a:srgbClr val="374151"/>
                </a:solidFill>
                <a:effectLst/>
                <a:latin typeface="Söhne"/>
              </a:rPr>
              <a:t>: The slide should discuss any strategies the company has implemented or plans to implement to mitigate the impact of the changes, such as adjusting transfer pricing policies or restructuring operations.</a:t>
            </a:r>
          </a:p>
          <a:p>
            <a:pPr marL="228600" indent="-228600" algn="l">
              <a:buFont typeface="+mj-lt"/>
              <a:buAutoNum type="arabicPeriod"/>
            </a:pPr>
            <a:r>
              <a:rPr lang="en-US" sz="1200" i="0" dirty="0">
                <a:solidFill>
                  <a:srgbClr val="374151"/>
                </a:solidFill>
                <a:effectLst/>
                <a:latin typeface="Söhne"/>
              </a:rPr>
              <a:t>Future tax planning</a:t>
            </a:r>
            <a:r>
              <a:rPr lang="en-US" sz="1200" b="0" i="0" dirty="0">
                <a:solidFill>
                  <a:srgbClr val="374151"/>
                </a:solidFill>
                <a:effectLst/>
                <a:latin typeface="Söhne"/>
              </a:rPr>
              <a:t>: The slide should also provide an overview of the company's future tax planning, including any opportunities for tax optimization or risk management.</a:t>
            </a:r>
          </a:p>
        </p:txBody>
      </p:sp>
    </p:spTree>
    <p:extLst>
      <p:ext uri="{BB962C8B-B14F-4D97-AF65-F5344CB8AC3E}">
        <p14:creationId xmlns:p14="http://schemas.microsoft.com/office/powerpoint/2010/main" val="726845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Property &amp; Real Estate Update</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b="0" i="0" dirty="0">
                <a:solidFill>
                  <a:srgbClr val="374151"/>
                </a:solidFill>
                <a:effectLst/>
                <a:latin typeface="Söhne"/>
              </a:rPr>
              <a:t>Overview of any real estate acquisitions, leases, or sales made during the quarter, including the locations and size of the properties.</a:t>
            </a:r>
          </a:p>
          <a:p>
            <a:pPr marL="228600" indent="-228600" algn="l">
              <a:buFont typeface="+mj-lt"/>
              <a:buAutoNum type="arabicPeriod"/>
            </a:pPr>
            <a:r>
              <a:rPr lang="en-US" sz="1200" b="0" i="0" dirty="0">
                <a:solidFill>
                  <a:srgbClr val="374151"/>
                </a:solidFill>
                <a:effectLst/>
                <a:latin typeface="Söhne"/>
              </a:rPr>
              <a:t>Summary of the company's existing real estate portfolio, including the number and types of properties, their locations, and any notable developments or renovations.</a:t>
            </a:r>
          </a:p>
          <a:p>
            <a:pPr marL="228600" indent="-228600" algn="l">
              <a:buFont typeface="+mj-lt"/>
              <a:buAutoNum type="arabicPeriod"/>
            </a:pPr>
            <a:r>
              <a:rPr lang="en-US" sz="1200" b="0" i="0" dirty="0">
                <a:solidFill>
                  <a:srgbClr val="374151"/>
                </a:solidFill>
                <a:effectLst/>
                <a:latin typeface="Söhne"/>
              </a:rPr>
              <a:t>Discussion of any challenges or opportunities related to the company's real estate portfolio, such as changes in market conditions or upcoming lease expirations.</a:t>
            </a:r>
          </a:p>
          <a:p>
            <a:pPr marL="228600" indent="-228600" algn="l">
              <a:buFont typeface="+mj-lt"/>
              <a:buAutoNum type="arabicPeriod"/>
            </a:pPr>
            <a:r>
              <a:rPr lang="en-US" sz="1200" b="0" i="0" dirty="0">
                <a:solidFill>
                  <a:srgbClr val="374151"/>
                </a:solidFill>
                <a:effectLst/>
                <a:latin typeface="Söhne"/>
              </a:rPr>
              <a:t>Key metrics related to the company's real estate performance, such as occupancy rates, rental rates, and overall profitability of the portfolio.</a:t>
            </a:r>
          </a:p>
          <a:p>
            <a:pPr marL="228600" indent="-228600" algn="l">
              <a:buFont typeface="+mj-lt"/>
              <a:buAutoNum type="arabicPeriod"/>
            </a:pPr>
            <a:r>
              <a:rPr lang="en-US" sz="1200" b="0" i="0" dirty="0">
                <a:solidFill>
                  <a:srgbClr val="374151"/>
                </a:solidFill>
                <a:effectLst/>
                <a:latin typeface="Söhne"/>
              </a:rPr>
              <a:t>Any future plans for real estate acquisitions, leases, or sales, along with the company's strategy for managing its real estate portfolio going forward.</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3721284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Foreign Currency Exposure</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b="0" i="0" dirty="0">
                <a:solidFill>
                  <a:srgbClr val="374151"/>
                </a:solidFill>
                <a:effectLst/>
                <a:latin typeface="Söhne"/>
              </a:rPr>
              <a:t>A summary of the company's exposure to foreign currency risks, including countries and currencies involved.</a:t>
            </a:r>
          </a:p>
          <a:p>
            <a:pPr marL="228600" indent="-228600" algn="l">
              <a:buFont typeface="+mj-lt"/>
              <a:buAutoNum type="arabicPeriod"/>
            </a:pPr>
            <a:r>
              <a:rPr lang="en-US" sz="1200" b="0" i="0" dirty="0">
                <a:solidFill>
                  <a:srgbClr val="374151"/>
                </a:solidFill>
                <a:effectLst/>
                <a:latin typeface="Söhne"/>
              </a:rPr>
              <a:t>An analysis of the potential impact of foreign currency fluctuations on the company's financial statements.</a:t>
            </a:r>
          </a:p>
          <a:p>
            <a:pPr marL="228600" indent="-228600" algn="l">
              <a:buFont typeface="+mj-lt"/>
              <a:buAutoNum type="arabicPeriod"/>
            </a:pPr>
            <a:r>
              <a:rPr lang="en-US" sz="1200" b="0" i="0" dirty="0">
                <a:solidFill>
                  <a:srgbClr val="374151"/>
                </a:solidFill>
                <a:effectLst/>
                <a:latin typeface="Söhne"/>
              </a:rPr>
              <a:t>A review of the company's current hedging strategies, including any changes made during the quarter.</a:t>
            </a:r>
          </a:p>
          <a:p>
            <a:pPr marL="228600" indent="-228600" algn="l">
              <a:buFont typeface="+mj-lt"/>
              <a:buAutoNum type="arabicPeriod"/>
            </a:pPr>
            <a:r>
              <a:rPr lang="en-US" sz="1200" b="0" i="0" dirty="0">
                <a:solidFill>
                  <a:srgbClr val="374151"/>
                </a:solidFill>
                <a:effectLst/>
                <a:latin typeface="Söhne"/>
              </a:rPr>
              <a:t>An evaluation of the effectiveness of the company's hedging strategies in mitigating foreign currency risks.</a:t>
            </a:r>
          </a:p>
          <a:p>
            <a:pPr marL="228600" indent="-228600" algn="l">
              <a:buFont typeface="+mj-lt"/>
              <a:buAutoNum type="arabicPeriod"/>
            </a:pPr>
            <a:r>
              <a:rPr lang="en-US" sz="1200" b="0" i="0" dirty="0">
                <a:solidFill>
                  <a:srgbClr val="374151"/>
                </a:solidFill>
                <a:effectLst/>
                <a:latin typeface="Söhne"/>
              </a:rPr>
              <a:t>A discussion of any potential future changes to the company's hedging strategies in response to market conditions.</a:t>
            </a:r>
          </a:p>
        </p:txBody>
      </p:sp>
    </p:spTree>
    <p:extLst>
      <p:ext uri="{BB962C8B-B14F-4D97-AF65-F5344CB8AC3E}">
        <p14:creationId xmlns:p14="http://schemas.microsoft.com/office/powerpoint/2010/main" val="7102513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E4B6F3D-F39D-82FA-3528-A3F1F7B178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E4B6F3D-F39D-82FA-3528-A3F1F7B178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9D66EAD0-976A-9CBA-E440-3B5D7F6C7065}"/>
              </a:ext>
            </a:extLst>
          </p:cNvPr>
          <p:cNvSpPr>
            <a:spLocks noGrp="1"/>
          </p:cNvSpPr>
          <p:nvPr>
            <p:ph type="title"/>
          </p:nvPr>
        </p:nvSpPr>
        <p:spPr/>
        <p:txBody>
          <a:bodyPr vert="horz"/>
          <a:lstStyle/>
          <a:p>
            <a:r>
              <a:rPr lang="en-US" dirty="0"/>
              <a:t>Board Reporting Package Contents</a:t>
            </a:r>
          </a:p>
        </p:txBody>
      </p:sp>
      <p:sp>
        <p:nvSpPr>
          <p:cNvPr id="23" name="Rounded Rectangle 33">
            <a:extLst>
              <a:ext uri="{FF2B5EF4-FFF2-40B4-BE49-F238E27FC236}">
                <a16:creationId xmlns:a16="http://schemas.microsoft.com/office/drawing/2014/main" id="{C82EEC47-011A-3986-C4CD-0F6BF3E13A5C}"/>
              </a:ext>
            </a:extLst>
          </p:cNvPr>
          <p:cNvSpPr/>
          <p:nvPr/>
        </p:nvSpPr>
        <p:spPr>
          <a:xfrm>
            <a:off x="409762" y="853079"/>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CEO &amp; BOARD CHAIR</a:t>
            </a:r>
          </a:p>
        </p:txBody>
      </p:sp>
      <p:sp>
        <p:nvSpPr>
          <p:cNvPr id="54" name="TextBox 53">
            <a:extLst>
              <a:ext uri="{FF2B5EF4-FFF2-40B4-BE49-F238E27FC236}">
                <a16:creationId xmlns:a16="http://schemas.microsoft.com/office/drawing/2014/main" id="{C852F15D-DEBA-82B2-6A49-FB2C85CB3853}"/>
              </a:ext>
            </a:extLst>
          </p:cNvPr>
          <p:cNvSpPr txBox="1"/>
          <p:nvPr/>
        </p:nvSpPr>
        <p:spPr>
          <a:xfrm>
            <a:off x="409762" y="151065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CEO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Board Chair Update</a:t>
            </a:r>
          </a:p>
        </p:txBody>
      </p:sp>
      <p:sp>
        <p:nvSpPr>
          <p:cNvPr id="55" name="Rounded Rectangle 33">
            <a:extLst>
              <a:ext uri="{FF2B5EF4-FFF2-40B4-BE49-F238E27FC236}">
                <a16:creationId xmlns:a16="http://schemas.microsoft.com/office/drawing/2014/main" id="{95A91E49-9A8A-96D6-533B-2C56F869D32F}"/>
              </a:ext>
            </a:extLst>
          </p:cNvPr>
          <p:cNvSpPr/>
          <p:nvPr/>
        </p:nvSpPr>
        <p:spPr>
          <a:xfrm>
            <a:off x="9295000" y="2148795"/>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CORPORATE DEVELOPMENT</a:t>
            </a:r>
          </a:p>
        </p:txBody>
      </p:sp>
      <p:sp>
        <p:nvSpPr>
          <p:cNvPr id="56" name="TextBox 55">
            <a:extLst>
              <a:ext uri="{FF2B5EF4-FFF2-40B4-BE49-F238E27FC236}">
                <a16:creationId xmlns:a16="http://schemas.microsoft.com/office/drawing/2014/main" id="{078BE5D7-CBB0-7B3D-AFEE-E049B3EC8AFE}"/>
              </a:ext>
            </a:extLst>
          </p:cNvPr>
          <p:cNvSpPr txBox="1"/>
          <p:nvPr/>
        </p:nvSpPr>
        <p:spPr>
          <a:xfrm>
            <a:off x="9282200" y="2827201"/>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Partnerships &amp; Alliances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Mergers &amp; Acquisitions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Post-merger Integration</a:t>
            </a:r>
          </a:p>
        </p:txBody>
      </p:sp>
      <p:sp>
        <p:nvSpPr>
          <p:cNvPr id="57" name="Rounded Rectangle 33">
            <a:extLst>
              <a:ext uri="{FF2B5EF4-FFF2-40B4-BE49-F238E27FC236}">
                <a16:creationId xmlns:a16="http://schemas.microsoft.com/office/drawing/2014/main" id="{047EDAFC-A516-E05C-A91F-44C7C46FB147}"/>
              </a:ext>
            </a:extLst>
          </p:cNvPr>
          <p:cNvSpPr/>
          <p:nvPr/>
        </p:nvSpPr>
        <p:spPr>
          <a:xfrm>
            <a:off x="9282200" y="3579788"/>
            <a:ext cx="2594695" cy="530969"/>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OTHER CORPORATE FUNCTIONS</a:t>
            </a:r>
          </a:p>
        </p:txBody>
      </p:sp>
      <p:sp>
        <p:nvSpPr>
          <p:cNvPr id="58" name="TextBox 57">
            <a:extLst>
              <a:ext uri="{FF2B5EF4-FFF2-40B4-BE49-F238E27FC236}">
                <a16:creationId xmlns:a16="http://schemas.microsoft.com/office/drawing/2014/main" id="{7A3E0AED-BC63-D8B3-2F56-CAFD1E971E31}"/>
              </a:ext>
            </a:extLst>
          </p:cNvPr>
          <p:cNvSpPr txBox="1"/>
          <p:nvPr/>
        </p:nvSpPr>
        <p:spPr>
          <a:xfrm>
            <a:off x="9282200" y="4264916"/>
            <a:ext cx="2620293" cy="1687284"/>
          </a:xfrm>
          <a:prstGeom prst="rect">
            <a:avLst/>
          </a:prstGeom>
          <a:noFill/>
        </p:spPr>
        <p:txBody>
          <a:bodyPr wrap="square" lIns="0" tIns="0" rIns="0" bIns="0" rtlCol="0">
            <a:noAutofit/>
          </a:bodyPr>
          <a:lstStyle/>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Intellectual Property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Risk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Legal &amp; Regulatory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Litigation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Investor Relations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Community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ESG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Sustainability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Awards &amp; Recognition</a:t>
            </a:r>
          </a:p>
        </p:txBody>
      </p:sp>
      <p:sp>
        <p:nvSpPr>
          <p:cNvPr id="59" name="Rounded Rectangle 33">
            <a:extLst>
              <a:ext uri="{FF2B5EF4-FFF2-40B4-BE49-F238E27FC236}">
                <a16:creationId xmlns:a16="http://schemas.microsoft.com/office/drawing/2014/main" id="{92BD0F0E-08AC-37AD-FD60-1F03343DE46E}"/>
              </a:ext>
            </a:extLst>
          </p:cNvPr>
          <p:cNvSpPr/>
          <p:nvPr/>
        </p:nvSpPr>
        <p:spPr>
          <a:xfrm>
            <a:off x="384173" y="2005691"/>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AGENDA</a:t>
            </a:r>
          </a:p>
        </p:txBody>
      </p:sp>
      <p:sp>
        <p:nvSpPr>
          <p:cNvPr id="60" name="Rounded Rectangle 33">
            <a:extLst>
              <a:ext uri="{FF2B5EF4-FFF2-40B4-BE49-F238E27FC236}">
                <a16:creationId xmlns:a16="http://schemas.microsoft.com/office/drawing/2014/main" id="{CB90976E-C934-E589-3C43-C6536961F66B}"/>
              </a:ext>
            </a:extLst>
          </p:cNvPr>
          <p:cNvSpPr/>
          <p:nvPr/>
        </p:nvSpPr>
        <p:spPr>
          <a:xfrm>
            <a:off x="3371511" y="842768"/>
            <a:ext cx="2594695" cy="533400"/>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PRODUCT</a:t>
            </a:r>
          </a:p>
        </p:txBody>
      </p:sp>
      <p:sp>
        <p:nvSpPr>
          <p:cNvPr id="61" name="Rounded Rectangle 33">
            <a:extLst>
              <a:ext uri="{FF2B5EF4-FFF2-40B4-BE49-F238E27FC236}">
                <a16:creationId xmlns:a16="http://schemas.microsoft.com/office/drawing/2014/main" id="{7FA80707-EFC9-FBBD-95A3-C53653725FD5}"/>
              </a:ext>
            </a:extLst>
          </p:cNvPr>
          <p:cNvSpPr/>
          <p:nvPr/>
        </p:nvSpPr>
        <p:spPr>
          <a:xfrm>
            <a:off x="3371510" y="221609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MARKETING</a:t>
            </a:r>
          </a:p>
        </p:txBody>
      </p:sp>
      <p:sp>
        <p:nvSpPr>
          <p:cNvPr id="62" name="TextBox 61">
            <a:extLst>
              <a:ext uri="{FF2B5EF4-FFF2-40B4-BE49-F238E27FC236}">
                <a16:creationId xmlns:a16="http://schemas.microsoft.com/office/drawing/2014/main" id="{30745068-3C50-A3AC-D3F9-F374532A853E}"/>
              </a:ext>
            </a:extLst>
          </p:cNvPr>
          <p:cNvSpPr txBox="1"/>
          <p:nvPr/>
        </p:nvSpPr>
        <p:spPr>
          <a:xfrm>
            <a:off x="409762" y="3815874"/>
            <a:ext cx="2620293" cy="2923758"/>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Financial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Income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Cash Flow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Balance Sheet</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Revenue Breakdown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Operating Expenses Breakdown</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Cost Reduction Initiatives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Profitability Analysis/ROI</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Working Capital Analysis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Receivable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Payable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Expenditures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Raising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Debt Overview &amp; Refinancing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Tax</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Property &amp; Real Estate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Foreign Currency Exposure</a:t>
            </a:r>
          </a:p>
        </p:txBody>
      </p:sp>
      <p:sp>
        <p:nvSpPr>
          <p:cNvPr id="1025" name="TextBox 1024">
            <a:extLst>
              <a:ext uri="{FF2B5EF4-FFF2-40B4-BE49-F238E27FC236}">
                <a16:creationId xmlns:a16="http://schemas.microsoft.com/office/drawing/2014/main" id="{02F92317-B039-B079-BB61-FC63C637FB38}"/>
              </a:ext>
            </a:extLst>
          </p:cNvPr>
          <p:cNvSpPr txBox="1"/>
          <p:nvPr/>
        </p:nvSpPr>
        <p:spPr>
          <a:xfrm>
            <a:off x="3371511" y="151559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Development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Research &amp;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Roadmap</a:t>
            </a:r>
          </a:p>
        </p:txBody>
      </p:sp>
      <p:sp>
        <p:nvSpPr>
          <p:cNvPr id="1026" name="TextBox 1025">
            <a:extLst>
              <a:ext uri="{FF2B5EF4-FFF2-40B4-BE49-F238E27FC236}">
                <a16:creationId xmlns:a16="http://schemas.microsoft.com/office/drawing/2014/main" id="{CC1A5311-249B-C428-EBB6-A72E016472C6}"/>
              </a:ext>
            </a:extLst>
          </p:cNvPr>
          <p:cNvSpPr txBox="1"/>
          <p:nvPr/>
        </p:nvSpPr>
        <p:spPr>
          <a:xfrm>
            <a:off x="3371511" y="286130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Initiatives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Expansion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ROI</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Pricing Strategy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Data &amp; Analytics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Advertising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Competitors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Branding &amp; Marketing Materials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Website</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Social Media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Industry Events &amp; Conferences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Public Relations</a:t>
            </a:r>
          </a:p>
        </p:txBody>
      </p:sp>
      <p:sp>
        <p:nvSpPr>
          <p:cNvPr id="1027" name="Rounded Rectangle 33">
            <a:extLst>
              <a:ext uri="{FF2B5EF4-FFF2-40B4-BE49-F238E27FC236}">
                <a16:creationId xmlns:a16="http://schemas.microsoft.com/office/drawing/2014/main" id="{D14AE144-6082-3A53-FA31-003FBCFBEE2C}"/>
              </a:ext>
            </a:extLst>
          </p:cNvPr>
          <p:cNvSpPr/>
          <p:nvPr/>
        </p:nvSpPr>
        <p:spPr>
          <a:xfrm>
            <a:off x="3371509" y="524534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SALES</a:t>
            </a:r>
          </a:p>
        </p:txBody>
      </p:sp>
      <p:sp>
        <p:nvSpPr>
          <p:cNvPr id="1028" name="TextBox 1027">
            <a:extLst>
              <a:ext uri="{FF2B5EF4-FFF2-40B4-BE49-F238E27FC236}">
                <a16:creationId xmlns:a16="http://schemas.microsoft.com/office/drawing/2014/main" id="{F1DE495A-583A-63C4-C570-434B9345A842}"/>
              </a:ext>
            </a:extLst>
          </p:cNvPr>
          <p:cNvSpPr txBox="1"/>
          <p:nvPr/>
        </p:nvSpPr>
        <p:spPr>
          <a:xfrm>
            <a:off x="3371511" y="589055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Pipeline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Team Performance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Region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Channel</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Channel Partners</a:t>
            </a:r>
          </a:p>
        </p:txBody>
      </p:sp>
      <p:sp>
        <p:nvSpPr>
          <p:cNvPr id="1029" name="Rounded Rectangle 33">
            <a:extLst>
              <a:ext uri="{FF2B5EF4-FFF2-40B4-BE49-F238E27FC236}">
                <a16:creationId xmlns:a16="http://schemas.microsoft.com/office/drawing/2014/main" id="{E46F2696-EE7E-BBE9-9BF4-4DC8BC64543E}"/>
              </a:ext>
            </a:extLst>
          </p:cNvPr>
          <p:cNvSpPr/>
          <p:nvPr/>
        </p:nvSpPr>
        <p:spPr>
          <a:xfrm>
            <a:off x="6333261" y="2511844"/>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CUSTOMERS</a:t>
            </a:r>
          </a:p>
        </p:txBody>
      </p:sp>
      <p:sp>
        <p:nvSpPr>
          <p:cNvPr id="1030" name="Rounded Rectangle 33">
            <a:extLst>
              <a:ext uri="{FF2B5EF4-FFF2-40B4-BE49-F238E27FC236}">
                <a16:creationId xmlns:a16="http://schemas.microsoft.com/office/drawing/2014/main" id="{E5838DA9-13C2-4188-6172-7E7C7EDFA057}"/>
              </a:ext>
            </a:extLst>
          </p:cNvPr>
          <p:cNvSpPr/>
          <p:nvPr/>
        </p:nvSpPr>
        <p:spPr>
          <a:xfrm>
            <a:off x="6333261" y="846554"/>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OPERATIONS AND SUPPLY CHAIN</a:t>
            </a:r>
          </a:p>
        </p:txBody>
      </p:sp>
      <p:sp>
        <p:nvSpPr>
          <p:cNvPr id="1032" name="Rounded Rectangle 33">
            <a:extLst>
              <a:ext uri="{FF2B5EF4-FFF2-40B4-BE49-F238E27FC236}">
                <a16:creationId xmlns:a16="http://schemas.microsoft.com/office/drawing/2014/main" id="{A5872E9A-5A2E-D1A6-AEC1-30E6373A0CF4}"/>
              </a:ext>
            </a:extLst>
          </p:cNvPr>
          <p:cNvSpPr/>
          <p:nvPr/>
        </p:nvSpPr>
        <p:spPr>
          <a:xfrm>
            <a:off x="9295011" y="865239"/>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INFORMATION TECHNOLOGY</a:t>
            </a:r>
          </a:p>
        </p:txBody>
      </p:sp>
      <p:sp>
        <p:nvSpPr>
          <p:cNvPr id="1033" name="Rounded Rectangle 33">
            <a:extLst>
              <a:ext uri="{FF2B5EF4-FFF2-40B4-BE49-F238E27FC236}">
                <a16:creationId xmlns:a16="http://schemas.microsoft.com/office/drawing/2014/main" id="{DB676218-8B0C-2374-3190-ADAFBD304B29}"/>
              </a:ext>
            </a:extLst>
          </p:cNvPr>
          <p:cNvSpPr/>
          <p:nvPr/>
        </p:nvSpPr>
        <p:spPr>
          <a:xfrm>
            <a:off x="6333261" y="4356030"/>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HUMAN RESOURCES</a:t>
            </a:r>
          </a:p>
        </p:txBody>
      </p:sp>
      <p:sp>
        <p:nvSpPr>
          <p:cNvPr id="1035" name="TextBox 1034">
            <a:extLst>
              <a:ext uri="{FF2B5EF4-FFF2-40B4-BE49-F238E27FC236}">
                <a16:creationId xmlns:a16="http://schemas.microsoft.com/office/drawing/2014/main" id="{01C116CF-D899-36F7-219D-C1159D8B52D7}"/>
              </a:ext>
            </a:extLst>
          </p:cNvPr>
          <p:cNvSpPr txBox="1"/>
          <p:nvPr/>
        </p:nvSpPr>
        <p:spPr>
          <a:xfrm>
            <a:off x="6358858"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Operations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Supply Chain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Emergency Preparedness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Suppliers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Worker Safety</a:t>
            </a:r>
          </a:p>
        </p:txBody>
      </p:sp>
      <p:sp>
        <p:nvSpPr>
          <p:cNvPr id="1036" name="TextBox 1035">
            <a:extLst>
              <a:ext uri="{FF2B5EF4-FFF2-40B4-BE49-F238E27FC236}">
                <a16:creationId xmlns:a16="http://schemas.microsoft.com/office/drawing/2014/main" id="{6D63E6C1-0425-4437-888A-F3E8D5A060AC}"/>
              </a:ext>
            </a:extLst>
          </p:cNvPr>
          <p:cNvSpPr txBox="1"/>
          <p:nvPr/>
        </p:nvSpPr>
        <p:spPr>
          <a:xfrm>
            <a:off x="6333260" y="3208935"/>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Service</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Satisfaction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Consumer Insights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Case Studies</a:t>
            </a:r>
          </a:p>
        </p:txBody>
      </p:sp>
      <p:sp>
        <p:nvSpPr>
          <p:cNvPr id="1037" name="TextBox 1036">
            <a:extLst>
              <a:ext uri="{FF2B5EF4-FFF2-40B4-BE49-F238E27FC236}">
                <a16:creationId xmlns:a16="http://schemas.microsoft.com/office/drawing/2014/main" id="{2BD1D13D-59B1-D4F8-4E1E-A026079AC144}"/>
              </a:ext>
            </a:extLst>
          </p:cNvPr>
          <p:cNvSpPr txBox="1"/>
          <p:nvPr/>
        </p:nvSpPr>
        <p:spPr>
          <a:xfrm>
            <a:off x="9346205"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IT Infrastructure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Cybersecurity</a:t>
            </a:r>
          </a:p>
        </p:txBody>
      </p:sp>
      <p:sp>
        <p:nvSpPr>
          <p:cNvPr id="1039" name="TextBox 1038">
            <a:extLst>
              <a:ext uri="{FF2B5EF4-FFF2-40B4-BE49-F238E27FC236}">
                <a16:creationId xmlns:a16="http://schemas.microsoft.com/office/drawing/2014/main" id="{7F71797E-DAE7-019D-7E27-5D562C6571DD}"/>
              </a:ext>
            </a:extLst>
          </p:cNvPr>
          <p:cNvSpPr txBox="1"/>
          <p:nvPr/>
        </p:nvSpPr>
        <p:spPr>
          <a:xfrm>
            <a:off x="6333260" y="5052741"/>
            <a:ext cx="2831794"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Human Resources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Organizational 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Leadership Team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Talent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Compensation</a:t>
            </a:r>
            <a:r>
              <a:rPr lang="en-US" sz="1100" dirty="0">
                <a:solidFill>
                  <a:srgbClr val="000000"/>
                </a:solidFill>
                <a:latin typeface="Verdana"/>
              </a:rPr>
              <a:t> and </a:t>
            </a:r>
            <a:r>
              <a:rPr kumimoji="0" lang="en-US" sz="1100" b="0" i="0" u="none" strike="noStrike" kern="1200" cap="none" spc="0" normalizeH="0" baseline="0" noProof="0" dirty="0">
                <a:ln>
                  <a:noFill/>
                </a:ln>
                <a:solidFill>
                  <a:srgbClr val="000000"/>
                </a:solidFill>
                <a:effectLst/>
                <a:uLnTx/>
                <a:uFillTx/>
                <a:latin typeface="Verdana"/>
                <a:ea typeface="+mn-ea"/>
                <a:cs typeface="+mn-cs"/>
              </a:rPr>
              <a:t>Benefits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Learning and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Diversity, Equity, and Inclusion</a:t>
            </a:r>
          </a:p>
        </p:txBody>
      </p:sp>
      <p:sp>
        <p:nvSpPr>
          <p:cNvPr id="2" name="Rounded Rectangle 33">
            <a:extLst>
              <a:ext uri="{FF2B5EF4-FFF2-40B4-BE49-F238E27FC236}">
                <a16:creationId xmlns:a16="http://schemas.microsoft.com/office/drawing/2014/main" id="{1B612D95-4099-846D-D69A-44F681C34655}"/>
              </a:ext>
            </a:extLst>
          </p:cNvPr>
          <p:cNvSpPr/>
          <p:nvPr/>
        </p:nvSpPr>
        <p:spPr>
          <a:xfrm>
            <a:off x="384173" y="3162300"/>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FINANCE</a:t>
            </a:r>
          </a:p>
        </p:txBody>
      </p:sp>
      <p:sp>
        <p:nvSpPr>
          <p:cNvPr id="4" name="TextBox 3">
            <a:extLst>
              <a:ext uri="{FF2B5EF4-FFF2-40B4-BE49-F238E27FC236}">
                <a16:creationId xmlns:a16="http://schemas.microsoft.com/office/drawing/2014/main" id="{F322B9F2-CA67-D5B4-CC60-7F01099438FE}"/>
              </a:ext>
            </a:extLst>
          </p:cNvPr>
          <p:cNvSpPr txBox="1"/>
          <p:nvPr/>
        </p:nvSpPr>
        <p:spPr>
          <a:xfrm>
            <a:off x="384173" y="2663262"/>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Agenda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Previous Meeting Minutes</a:t>
            </a:r>
          </a:p>
        </p:txBody>
      </p:sp>
    </p:spTree>
    <p:extLst>
      <p:ext uri="{BB962C8B-B14F-4D97-AF65-F5344CB8AC3E}">
        <p14:creationId xmlns:p14="http://schemas.microsoft.com/office/powerpoint/2010/main" val="2087793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Product Development Overview</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introduction to the product development initiatives for the quarter, including the goals and objectives.</a:t>
            </a:r>
          </a:p>
          <a:p>
            <a:pPr marL="228600" indent="-228600" algn="l">
              <a:buFont typeface="+mj-lt"/>
              <a:buAutoNum type="arabicPeriod"/>
            </a:pPr>
            <a:r>
              <a:rPr lang="en-US" sz="1200" i="0" dirty="0">
                <a:solidFill>
                  <a:srgbClr val="374151"/>
                </a:solidFill>
                <a:effectLst/>
                <a:latin typeface="Söhne"/>
              </a:rPr>
              <a:t>New Product Launches</a:t>
            </a:r>
            <a:r>
              <a:rPr lang="en-US" sz="1200" b="0" i="0" dirty="0">
                <a:solidFill>
                  <a:srgbClr val="374151"/>
                </a:solidFill>
                <a:effectLst/>
                <a:latin typeface="Söhne"/>
              </a:rPr>
              <a:t>: Provide an overview of any new product launches that occurred during the quarter, including product features, pricing, and market positioning. Include relevant metrics such as sales revenue, customer acquisition, and market share gains.</a:t>
            </a:r>
          </a:p>
          <a:p>
            <a:pPr marL="228600" indent="-228600" algn="l">
              <a:buFont typeface="+mj-lt"/>
              <a:buAutoNum type="arabicPeriod"/>
            </a:pPr>
            <a:r>
              <a:rPr lang="en-US" sz="1200" i="0" dirty="0">
                <a:solidFill>
                  <a:srgbClr val="374151"/>
                </a:solidFill>
                <a:effectLst/>
                <a:latin typeface="Söhne"/>
              </a:rPr>
              <a:t>Product Updates</a:t>
            </a:r>
            <a:r>
              <a:rPr lang="en-US" sz="1200" b="0" i="0" dirty="0">
                <a:solidFill>
                  <a:srgbClr val="374151"/>
                </a:solidFill>
                <a:effectLst/>
                <a:latin typeface="Söhne"/>
              </a:rPr>
              <a:t>: Highlight any updates made to existing products during the quarter, including new features, bug fixes, and performance improvements. Include relevant metrics such as customer satisfaction, user adoption, and sales revenue impact.</a:t>
            </a:r>
          </a:p>
          <a:p>
            <a:pPr marL="228600" indent="-228600" algn="l">
              <a:buFont typeface="+mj-lt"/>
              <a:buAutoNum type="arabicPeriod"/>
            </a:pPr>
            <a:r>
              <a:rPr lang="en-US" sz="1200" i="0" dirty="0">
                <a:solidFill>
                  <a:srgbClr val="374151"/>
                </a:solidFill>
                <a:effectLst/>
                <a:latin typeface="Söhne"/>
              </a:rPr>
              <a:t>Research and Development</a:t>
            </a:r>
            <a:r>
              <a:rPr lang="en-US" sz="1200" b="0" i="0" dirty="0">
                <a:solidFill>
                  <a:srgbClr val="374151"/>
                </a:solidFill>
                <a:effectLst/>
                <a:latin typeface="Söhne"/>
              </a:rPr>
              <a:t>: Provide an overview of the research and development activities for the quarter, including any breakthroughs, patent filings, or new technology developments.</a:t>
            </a:r>
          </a:p>
          <a:p>
            <a:pPr marL="228600" indent="-228600" algn="l">
              <a:buFont typeface="+mj-lt"/>
              <a:buAutoNum type="arabicPeriod"/>
            </a:pPr>
            <a:r>
              <a:rPr lang="en-US" sz="1200" i="0" dirty="0">
                <a:solidFill>
                  <a:srgbClr val="374151"/>
                </a:solidFill>
                <a:effectLst/>
                <a:latin typeface="Söhne"/>
              </a:rPr>
              <a:t>Roadmap</a:t>
            </a:r>
            <a:r>
              <a:rPr lang="en-US" sz="1200" b="0" i="0" dirty="0">
                <a:solidFill>
                  <a:srgbClr val="374151"/>
                </a:solidFill>
                <a:effectLst/>
                <a:latin typeface="Söhne"/>
              </a:rPr>
              <a:t>: Share the product development roadmap for the upcoming quarters, highlighting any major milestones or key initiatives.</a:t>
            </a:r>
          </a:p>
          <a:p>
            <a:pPr marL="228600" indent="-228600" algn="l">
              <a:buFont typeface="+mj-lt"/>
              <a:buAutoNum type="arabicPeriod"/>
            </a:pPr>
            <a:r>
              <a:rPr lang="en-US" sz="1200" i="0" dirty="0">
                <a:solidFill>
                  <a:srgbClr val="374151"/>
                </a:solidFill>
                <a:effectLst/>
                <a:latin typeface="Söhne"/>
              </a:rPr>
              <a:t>Challenges and Mitigation</a:t>
            </a:r>
            <a:r>
              <a:rPr lang="en-US" sz="1200" b="0" i="0" dirty="0">
                <a:solidFill>
                  <a:srgbClr val="374151"/>
                </a:solidFill>
                <a:effectLst/>
                <a:latin typeface="Söhne"/>
              </a:rPr>
              <a:t>: Discuss any challenges faced during the quarter in product development, and share the mitigation strategies put in place to overcome them.</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Summarize the key takeaways and the overall impact of product development initiatives on the company's growth and profitability.</a:t>
            </a:r>
          </a:p>
        </p:txBody>
      </p:sp>
    </p:spTree>
    <p:extLst>
      <p:ext uri="{BB962C8B-B14F-4D97-AF65-F5344CB8AC3E}">
        <p14:creationId xmlns:p14="http://schemas.microsoft.com/office/powerpoint/2010/main" val="42420164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Research &amp; Development</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algn="l"/>
            <a:r>
              <a:rPr lang="en-US" sz="1200" b="0" i="0" dirty="0">
                <a:solidFill>
                  <a:srgbClr val="374151"/>
                </a:solidFill>
                <a:effectLst/>
                <a:latin typeface="Söhne"/>
              </a:rPr>
              <a:t>This slide should provide an overview of the company's research and development initiatives during the quarter. It should include the following information:</a:t>
            </a:r>
          </a:p>
          <a:p>
            <a:pPr marL="228600" indent="-228600" algn="l">
              <a:buFont typeface="+mj-lt"/>
              <a:buAutoNum type="arabicPeriod"/>
            </a:pPr>
            <a:r>
              <a:rPr lang="en-US" sz="1200" b="0" i="0" dirty="0">
                <a:solidFill>
                  <a:srgbClr val="374151"/>
                </a:solidFill>
                <a:effectLst/>
                <a:latin typeface="Söhne"/>
              </a:rPr>
              <a:t>Total R&amp;D expenses for the quarter</a:t>
            </a:r>
          </a:p>
          <a:p>
            <a:pPr marL="228600" indent="-228600" algn="l">
              <a:buFont typeface="+mj-lt"/>
              <a:buAutoNum type="arabicPeriod"/>
            </a:pPr>
            <a:r>
              <a:rPr lang="en-US" sz="1200" b="0" i="0" dirty="0">
                <a:solidFill>
                  <a:srgbClr val="374151"/>
                </a:solidFill>
                <a:effectLst/>
                <a:latin typeface="Söhne"/>
              </a:rPr>
              <a:t>A breakdown of R&amp;D expenses by project or area of focus</a:t>
            </a:r>
          </a:p>
          <a:p>
            <a:pPr marL="228600" indent="-228600" algn="l">
              <a:buFont typeface="+mj-lt"/>
              <a:buAutoNum type="arabicPeriod"/>
            </a:pPr>
            <a:r>
              <a:rPr lang="en-US" sz="1200" b="0" i="0" dirty="0">
                <a:solidFill>
                  <a:srgbClr val="374151"/>
                </a:solidFill>
                <a:effectLst/>
                <a:latin typeface="Söhne"/>
              </a:rPr>
              <a:t>Progress made on key R&amp;D projects or milestones achieved during the quarter</a:t>
            </a:r>
          </a:p>
          <a:p>
            <a:pPr marL="228600" indent="-228600" algn="l">
              <a:buFont typeface="+mj-lt"/>
              <a:buAutoNum type="arabicPeriod"/>
            </a:pPr>
            <a:r>
              <a:rPr lang="en-US" sz="1200" b="0" i="0" dirty="0">
                <a:solidFill>
                  <a:srgbClr val="374151"/>
                </a:solidFill>
                <a:effectLst/>
                <a:latin typeface="Söhne"/>
              </a:rPr>
              <a:t>Any new patents filed or obtained during the quarter</a:t>
            </a:r>
          </a:p>
        </p:txBody>
      </p:sp>
    </p:spTree>
    <p:extLst>
      <p:ext uri="{BB962C8B-B14F-4D97-AF65-F5344CB8AC3E}">
        <p14:creationId xmlns:p14="http://schemas.microsoft.com/office/powerpoint/2010/main" val="2285736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Product Roadmap</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algn="l"/>
            <a:r>
              <a:rPr lang="en-US" sz="1200" b="0" i="0" dirty="0">
                <a:solidFill>
                  <a:srgbClr val="374151"/>
                </a:solidFill>
                <a:effectLst/>
                <a:latin typeface="Söhne"/>
              </a:rPr>
              <a:t>A Product Roadmap slide should include the following information:</a:t>
            </a:r>
          </a:p>
          <a:p>
            <a:pPr marL="228600" indent="-228600" algn="l">
              <a:buFont typeface="+mj-lt"/>
              <a:buAutoNum type="arabicPeriod"/>
            </a:pPr>
            <a:r>
              <a:rPr lang="en-US" sz="1200" i="0" dirty="0">
                <a:solidFill>
                  <a:srgbClr val="374151"/>
                </a:solidFill>
                <a:effectLst/>
                <a:latin typeface="Söhne"/>
              </a:rPr>
              <a:t>Timeline</a:t>
            </a:r>
            <a:r>
              <a:rPr lang="en-US" sz="1200" b="0" i="0" dirty="0">
                <a:solidFill>
                  <a:srgbClr val="374151"/>
                </a:solidFill>
                <a:effectLst/>
                <a:latin typeface="Söhne"/>
              </a:rPr>
              <a:t>: A timeline of the upcoming product releases and updates with the expected launch dates. The timeline may include quarters, months or specific dates.</a:t>
            </a:r>
          </a:p>
          <a:p>
            <a:pPr marL="228600" indent="-228600" algn="l">
              <a:buFont typeface="+mj-lt"/>
              <a:buAutoNum type="arabicPeriod"/>
            </a:pPr>
            <a:r>
              <a:rPr lang="en-US" sz="1200" i="0" dirty="0">
                <a:solidFill>
                  <a:srgbClr val="374151"/>
                </a:solidFill>
                <a:effectLst/>
                <a:latin typeface="Söhne"/>
              </a:rPr>
              <a:t>Product details</a:t>
            </a:r>
            <a:r>
              <a:rPr lang="en-US" sz="1200" b="0" i="0" dirty="0">
                <a:solidFill>
                  <a:srgbClr val="374151"/>
                </a:solidFill>
                <a:effectLst/>
                <a:latin typeface="Söhne"/>
              </a:rPr>
              <a:t>: The product name, description, and features of the upcoming product releases and updates should be included. This section may also include images or mockups of the products.</a:t>
            </a:r>
          </a:p>
          <a:p>
            <a:pPr marL="228600" indent="-228600" algn="l">
              <a:buFont typeface="+mj-lt"/>
              <a:buAutoNum type="arabicPeriod"/>
            </a:pPr>
            <a:r>
              <a:rPr lang="en-US" sz="1200" i="0" dirty="0">
                <a:solidFill>
                  <a:srgbClr val="374151"/>
                </a:solidFill>
                <a:effectLst/>
                <a:latin typeface="Söhne"/>
              </a:rPr>
              <a:t>Development status</a:t>
            </a:r>
            <a:r>
              <a:rPr lang="en-US" sz="1200" b="0" i="0" dirty="0">
                <a:solidFill>
                  <a:srgbClr val="374151"/>
                </a:solidFill>
                <a:effectLst/>
                <a:latin typeface="Söhne"/>
              </a:rPr>
              <a:t>: Information on the development status of each product, including progress made, milestones achieved, and any delays or roadblocks.</a:t>
            </a:r>
          </a:p>
          <a:p>
            <a:pPr marL="228600" indent="-228600" algn="l">
              <a:buFont typeface="+mj-lt"/>
              <a:buAutoNum type="arabicPeriod"/>
            </a:pPr>
            <a:r>
              <a:rPr lang="en-US" sz="1200" i="0" dirty="0">
                <a:solidFill>
                  <a:srgbClr val="374151"/>
                </a:solidFill>
                <a:effectLst/>
                <a:latin typeface="Söhne"/>
              </a:rPr>
              <a:t>Expected impact</a:t>
            </a:r>
            <a:r>
              <a:rPr lang="en-US" sz="1200" b="0" i="0" dirty="0">
                <a:solidFill>
                  <a:srgbClr val="374151"/>
                </a:solidFill>
                <a:effectLst/>
                <a:latin typeface="Söhne"/>
              </a:rPr>
              <a:t>: A discussion on the expected impact of the product releases and updates on the company's business goals, revenue growth, and market share.</a:t>
            </a:r>
          </a:p>
          <a:p>
            <a:pPr marL="228600" indent="-228600" algn="l">
              <a:buFont typeface="+mj-lt"/>
              <a:buAutoNum type="arabicPeriod"/>
            </a:pPr>
            <a:r>
              <a:rPr lang="en-US" sz="1200" i="0" dirty="0">
                <a:solidFill>
                  <a:srgbClr val="374151"/>
                </a:solidFill>
                <a:effectLst/>
                <a:latin typeface="Söhne"/>
              </a:rPr>
              <a:t>Key performance indicators (KPIs): </a:t>
            </a:r>
            <a:r>
              <a:rPr lang="en-US" sz="1200" b="0" i="0" dirty="0">
                <a:solidFill>
                  <a:srgbClr val="374151"/>
                </a:solidFill>
                <a:effectLst/>
                <a:latin typeface="Söhne"/>
              </a:rPr>
              <a:t>This section may include KPIs related to the product releases and updates, such as sales figures, customer engagement, user retention rates, or other metrics relevant to the company's objectives.</a:t>
            </a:r>
          </a:p>
          <a:p>
            <a:pPr marL="228600" indent="-228600" algn="l">
              <a:buFont typeface="+mj-lt"/>
              <a:buAutoNum type="arabicPeriod"/>
            </a:pPr>
            <a:r>
              <a:rPr lang="en-US" sz="1200" i="0" dirty="0">
                <a:solidFill>
                  <a:srgbClr val="374151"/>
                </a:solidFill>
                <a:effectLst/>
                <a:latin typeface="Söhne"/>
              </a:rPr>
              <a:t>Risks and challenges</a:t>
            </a:r>
            <a:r>
              <a:rPr lang="en-US" sz="1200" b="0" i="0" dirty="0">
                <a:solidFill>
                  <a:srgbClr val="374151"/>
                </a:solidFill>
                <a:effectLst/>
                <a:latin typeface="Söhne"/>
              </a:rPr>
              <a:t>: A discussion on the potential risks and challenges associated with the product roadmap, including regulatory issues, technical difficulties, or competition. A mitigation plan for each risk or challenge should also be included.</a:t>
            </a:r>
          </a:p>
          <a:p>
            <a:pPr marL="228600" indent="-228600" algn="l">
              <a:buFont typeface="+mj-lt"/>
              <a:buAutoNum type="arabicPeriod"/>
            </a:pPr>
            <a:r>
              <a:rPr lang="en-US" sz="1200" i="0" dirty="0">
                <a:solidFill>
                  <a:srgbClr val="374151"/>
                </a:solidFill>
                <a:effectLst/>
                <a:latin typeface="Söhne"/>
              </a:rPr>
              <a:t>Future plans</a:t>
            </a:r>
            <a:r>
              <a:rPr lang="en-US" sz="1200" b="0" i="0" dirty="0">
                <a:solidFill>
                  <a:srgbClr val="374151"/>
                </a:solidFill>
                <a:effectLst/>
                <a:latin typeface="Söhne"/>
              </a:rPr>
              <a:t>: An overview of the company's long-term plans for product development and innovation. This section may include discussion on the company's research and development initiatives, potential collaborations or partnerships, or plans to enter new markets.</a:t>
            </a:r>
          </a:p>
        </p:txBody>
      </p:sp>
    </p:spTree>
    <p:extLst>
      <p:ext uri="{BB962C8B-B14F-4D97-AF65-F5344CB8AC3E}">
        <p14:creationId xmlns:p14="http://schemas.microsoft.com/office/powerpoint/2010/main" val="226347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E4B6F3D-F39D-82FA-3528-A3F1F7B178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E4B6F3D-F39D-82FA-3528-A3F1F7B178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9D66EAD0-976A-9CBA-E440-3B5D7F6C7065}"/>
              </a:ext>
            </a:extLst>
          </p:cNvPr>
          <p:cNvSpPr>
            <a:spLocks noGrp="1"/>
          </p:cNvSpPr>
          <p:nvPr>
            <p:ph type="title"/>
          </p:nvPr>
        </p:nvSpPr>
        <p:spPr/>
        <p:txBody>
          <a:bodyPr vert="horz"/>
          <a:lstStyle/>
          <a:p>
            <a:r>
              <a:rPr lang="en-US" dirty="0"/>
              <a:t>Board Reporting Package Contents</a:t>
            </a:r>
          </a:p>
        </p:txBody>
      </p:sp>
      <p:sp>
        <p:nvSpPr>
          <p:cNvPr id="23" name="Rounded Rectangle 33">
            <a:extLst>
              <a:ext uri="{FF2B5EF4-FFF2-40B4-BE49-F238E27FC236}">
                <a16:creationId xmlns:a16="http://schemas.microsoft.com/office/drawing/2014/main" id="{C82EEC47-011A-3986-C4CD-0F6BF3E13A5C}"/>
              </a:ext>
            </a:extLst>
          </p:cNvPr>
          <p:cNvSpPr/>
          <p:nvPr/>
        </p:nvSpPr>
        <p:spPr>
          <a:xfrm>
            <a:off x="409762" y="853079"/>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CEO &amp; BOARD CHAIR</a:t>
            </a:r>
          </a:p>
        </p:txBody>
      </p:sp>
      <p:sp>
        <p:nvSpPr>
          <p:cNvPr id="54" name="TextBox 53">
            <a:extLst>
              <a:ext uri="{FF2B5EF4-FFF2-40B4-BE49-F238E27FC236}">
                <a16:creationId xmlns:a16="http://schemas.microsoft.com/office/drawing/2014/main" id="{C852F15D-DEBA-82B2-6A49-FB2C85CB3853}"/>
              </a:ext>
            </a:extLst>
          </p:cNvPr>
          <p:cNvSpPr txBox="1"/>
          <p:nvPr/>
        </p:nvSpPr>
        <p:spPr>
          <a:xfrm>
            <a:off x="409762" y="151065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CEO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Board Chair Update</a:t>
            </a:r>
          </a:p>
        </p:txBody>
      </p:sp>
      <p:sp>
        <p:nvSpPr>
          <p:cNvPr id="55" name="Rounded Rectangle 33">
            <a:extLst>
              <a:ext uri="{FF2B5EF4-FFF2-40B4-BE49-F238E27FC236}">
                <a16:creationId xmlns:a16="http://schemas.microsoft.com/office/drawing/2014/main" id="{95A91E49-9A8A-96D6-533B-2C56F869D32F}"/>
              </a:ext>
            </a:extLst>
          </p:cNvPr>
          <p:cNvSpPr/>
          <p:nvPr/>
        </p:nvSpPr>
        <p:spPr>
          <a:xfrm>
            <a:off x="9295000" y="2148795"/>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CORPORATE DEVELOPMENT</a:t>
            </a:r>
          </a:p>
        </p:txBody>
      </p:sp>
      <p:sp>
        <p:nvSpPr>
          <p:cNvPr id="56" name="TextBox 55">
            <a:extLst>
              <a:ext uri="{FF2B5EF4-FFF2-40B4-BE49-F238E27FC236}">
                <a16:creationId xmlns:a16="http://schemas.microsoft.com/office/drawing/2014/main" id="{078BE5D7-CBB0-7B3D-AFEE-E049B3EC8AFE}"/>
              </a:ext>
            </a:extLst>
          </p:cNvPr>
          <p:cNvSpPr txBox="1"/>
          <p:nvPr/>
        </p:nvSpPr>
        <p:spPr>
          <a:xfrm>
            <a:off x="9282200" y="2827201"/>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Partnerships &amp; Alliances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Mergers &amp; Acquisitions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Post-merger Integration</a:t>
            </a:r>
          </a:p>
        </p:txBody>
      </p:sp>
      <p:sp>
        <p:nvSpPr>
          <p:cNvPr id="57" name="Rounded Rectangle 33">
            <a:extLst>
              <a:ext uri="{FF2B5EF4-FFF2-40B4-BE49-F238E27FC236}">
                <a16:creationId xmlns:a16="http://schemas.microsoft.com/office/drawing/2014/main" id="{047EDAFC-A516-E05C-A91F-44C7C46FB147}"/>
              </a:ext>
            </a:extLst>
          </p:cNvPr>
          <p:cNvSpPr/>
          <p:nvPr/>
        </p:nvSpPr>
        <p:spPr>
          <a:xfrm>
            <a:off x="9282200" y="3579788"/>
            <a:ext cx="2594695" cy="530969"/>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OTHER CORPORATE FUNCTIONS</a:t>
            </a:r>
          </a:p>
        </p:txBody>
      </p:sp>
      <p:sp>
        <p:nvSpPr>
          <p:cNvPr id="58" name="TextBox 57">
            <a:extLst>
              <a:ext uri="{FF2B5EF4-FFF2-40B4-BE49-F238E27FC236}">
                <a16:creationId xmlns:a16="http://schemas.microsoft.com/office/drawing/2014/main" id="{7A3E0AED-BC63-D8B3-2F56-CAFD1E971E31}"/>
              </a:ext>
            </a:extLst>
          </p:cNvPr>
          <p:cNvSpPr txBox="1"/>
          <p:nvPr/>
        </p:nvSpPr>
        <p:spPr>
          <a:xfrm>
            <a:off x="9282200" y="4264916"/>
            <a:ext cx="2620293" cy="1687284"/>
          </a:xfrm>
          <a:prstGeom prst="rect">
            <a:avLst/>
          </a:prstGeom>
          <a:noFill/>
        </p:spPr>
        <p:txBody>
          <a:bodyPr wrap="square" lIns="0" tIns="0" rIns="0" bIns="0" rtlCol="0">
            <a:noAutofit/>
          </a:bodyPr>
          <a:lstStyle/>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Intellectual Property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Risk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Legal &amp; Regulatory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Litigation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Investor Relations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Community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ESG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Sustainability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Awards &amp; Recognition</a:t>
            </a:r>
          </a:p>
        </p:txBody>
      </p:sp>
      <p:sp>
        <p:nvSpPr>
          <p:cNvPr id="59" name="Rounded Rectangle 33">
            <a:extLst>
              <a:ext uri="{FF2B5EF4-FFF2-40B4-BE49-F238E27FC236}">
                <a16:creationId xmlns:a16="http://schemas.microsoft.com/office/drawing/2014/main" id="{92BD0F0E-08AC-37AD-FD60-1F03343DE46E}"/>
              </a:ext>
            </a:extLst>
          </p:cNvPr>
          <p:cNvSpPr/>
          <p:nvPr/>
        </p:nvSpPr>
        <p:spPr>
          <a:xfrm>
            <a:off x="384173" y="2005691"/>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AGENDA</a:t>
            </a:r>
          </a:p>
        </p:txBody>
      </p:sp>
      <p:sp>
        <p:nvSpPr>
          <p:cNvPr id="60" name="Rounded Rectangle 33">
            <a:extLst>
              <a:ext uri="{FF2B5EF4-FFF2-40B4-BE49-F238E27FC236}">
                <a16:creationId xmlns:a16="http://schemas.microsoft.com/office/drawing/2014/main" id="{CB90976E-C934-E589-3C43-C6536961F66B}"/>
              </a:ext>
            </a:extLst>
          </p:cNvPr>
          <p:cNvSpPr/>
          <p:nvPr/>
        </p:nvSpPr>
        <p:spPr>
          <a:xfrm>
            <a:off x="3371511" y="842768"/>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PRODUCT</a:t>
            </a:r>
          </a:p>
        </p:txBody>
      </p:sp>
      <p:sp>
        <p:nvSpPr>
          <p:cNvPr id="61" name="Rounded Rectangle 33">
            <a:extLst>
              <a:ext uri="{FF2B5EF4-FFF2-40B4-BE49-F238E27FC236}">
                <a16:creationId xmlns:a16="http://schemas.microsoft.com/office/drawing/2014/main" id="{7FA80707-EFC9-FBBD-95A3-C53653725FD5}"/>
              </a:ext>
            </a:extLst>
          </p:cNvPr>
          <p:cNvSpPr/>
          <p:nvPr/>
        </p:nvSpPr>
        <p:spPr>
          <a:xfrm>
            <a:off x="3371510" y="2216092"/>
            <a:ext cx="2594695" cy="533400"/>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MARKETING</a:t>
            </a:r>
          </a:p>
        </p:txBody>
      </p:sp>
      <p:sp>
        <p:nvSpPr>
          <p:cNvPr id="62" name="TextBox 61">
            <a:extLst>
              <a:ext uri="{FF2B5EF4-FFF2-40B4-BE49-F238E27FC236}">
                <a16:creationId xmlns:a16="http://schemas.microsoft.com/office/drawing/2014/main" id="{30745068-3C50-A3AC-D3F9-F374532A853E}"/>
              </a:ext>
            </a:extLst>
          </p:cNvPr>
          <p:cNvSpPr txBox="1"/>
          <p:nvPr/>
        </p:nvSpPr>
        <p:spPr>
          <a:xfrm>
            <a:off x="409762" y="3815874"/>
            <a:ext cx="2620293" cy="2923758"/>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Financial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Income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Cash Flow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Balance Sheet</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Revenue Breakdown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Operating Expenses Breakdown</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Cost Reduction Initiatives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Profitability Analysis/ROI</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Working Capital Analysis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Receivable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Payable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Expenditures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Raising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Debt Overview &amp; Refinancing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Tax</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Property &amp; Real Estate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Foreign Currency Exposure</a:t>
            </a:r>
          </a:p>
        </p:txBody>
      </p:sp>
      <p:sp>
        <p:nvSpPr>
          <p:cNvPr id="1025" name="TextBox 1024">
            <a:extLst>
              <a:ext uri="{FF2B5EF4-FFF2-40B4-BE49-F238E27FC236}">
                <a16:creationId xmlns:a16="http://schemas.microsoft.com/office/drawing/2014/main" id="{02F92317-B039-B079-BB61-FC63C637FB38}"/>
              </a:ext>
            </a:extLst>
          </p:cNvPr>
          <p:cNvSpPr txBox="1"/>
          <p:nvPr/>
        </p:nvSpPr>
        <p:spPr>
          <a:xfrm>
            <a:off x="3371511" y="151559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Development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Research &amp;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Roadmap</a:t>
            </a:r>
          </a:p>
        </p:txBody>
      </p:sp>
      <p:sp>
        <p:nvSpPr>
          <p:cNvPr id="1026" name="TextBox 1025">
            <a:extLst>
              <a:ext uri="{FF2B5EF4-FFF2-40B4-BE49-F238E27FC236}">
                <a16:creationId xmlns:a16="http://schemas.microsoft.com/office/drawing/2014/main" id="{CC1A5311-249B-C428-EBB6-A72E016472C6}"/>
              </a:ext>
            </a:extLst>
          </p:cNvPr>
          <p:cNvSpPr txBox="1"/>
          <p:nvPr/>
        </p:nvSpPr>
        <p:spPr>
          <a:xfrm>
            <a:off x="3371511" y="286130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Initiatives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Expansion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ROI</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Pricing Strategy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Data &amp; Analytics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Advertising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Competitors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Branding &amp; Marketing Materials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Website</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Social Media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Industry Events &amp; Conferences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Public Relations</a:t>
            </a:r>
          </a:p>
        </p:txBody>
      </p:sp>
      <p:sp>
        <p:nvSpPr>
          <p:cNvPr id="1027" name="Rounded Rectangle 33">
            <a:extLst>
              <a:ext uri="{FF2B5EF4-FFF2-40B4-BE49-F238E27FC236}">
                <a16:creationId xmlns:a16="http://schemas.microsoft.com/office/drawing/2014/main" id="{D14AE144-6082-3A53-FA31-003FBCFBEE2C}"/>
              </a:ext>
            </a:extLst>
          </p:cNvPr>
          <p:cNvSpPr/>
          <p:nvPr/>
        </p:nvSpPr>
        <p:spPr>
          <a:xfrm>
            <a:off x="3371509" y="524534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SALES</a:t>
            </a:r>
          </a:p>
        </p:txBody>
      </p:sp>
      <p:sp>
        <p:nvSpPr>
          <p:cNvPr id="1028" name="TextBox 1027">
            <a:extLst>
              <a:ext uri="{FF2B5EF4-FFF2-40B4-BE49-F238E27FC236}">
                <a16:creationId xmlns:a16="http://schemas.microsoft.com/office/drawing/2014/main" id="{F1DE495A-583A-63C4-C570-434B9345A842}"/>
              </a:ext>
            </a:extLst>
          </p:cNvPr>
          <p:cNvSpPr txBox="1"/>
          <p:nvPr/>
        </p:nvSpPr>
        <p:spPr>
          <a:xfrm>
            <a:off x="3371511" y="589055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Pipeline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Team Performance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Region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Channel</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Channel Partners</a:t>
            </a:r>
          </a:p>
        </p:txBody>
      </p:sp>
      <p:sp>
        <p:nvSpPr>
          <p:cNvPr id="1029" name="Rounded Rectangle 33">
            <a:extLst>
              <a:ext uri="{FF2B5EF4-FFF2-40B4-BE49-F238E27FC236}">
                <a16:creationId xmlns:a16="http://schemas.microsoft.com/office/drawing/2014/main" id="{E46F2696-EE7E-BBE9-9BF4-4DC8BC64543E}"/>
              </a:ext>
            </a:extLst>
          </p:cNvPr>
          <p:cNvSpPr/>
          <p:nvPr/>
        </p:nvSpPr>
        <p:spPr>
          <a:xfrm>
            <a:off x="6333261" y="2511844"/>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CUSTOMERS</a:t>
            </a:r>
          </a:p>
        </p:txBody>
      </p:sp>
      <p:sp>
        <p:nvSpPr>
          <p:cNvPr id="1030" name="Rounded Rectangle 33">
            <a:extLst>
              <a:ext uri="{FF2B5EF4-FFF2-40B4-BE49-F238E27FC236}">
                <a16:creationId xmlns:a16="http://schemas.microsoft.com/office/drawing/2014/main" id="{E5838DA9-13C2-4188-6172-7E7C7EDFA057}"/>
              </a:ext>
            </a:extLst>
          </p:cNvPr>
          <p:cNvSpPr/>
          <p:nvPr/>
        </p:nvSpPr>
        <p:spPr>
          <a:xfrm>
            <a:off x="6333261" y="846554"/>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OPERATIONS AND SUPPLY CHAIN</a:t>
            </a:r>
          </a:p>
        </p:txBody>
      </p:sp>
      <p:sp>
        <p:nvSpPr>
          <p:cNvPr id="1032" name="Rounded Rectangle 33">
            <a:extLst>
              <a:ext uri="{FF2B5EF4-FFF2-40B4-BE49-F238E27FC236}">
                <a16:creationId xmlns:a16="http://schemas.microsoft.com/office/drawing/2014/main" id="{A5872E9A-5A2E-D1A6-AEC1-30E6373A0CF4}"/>
              </a:ext>
            </a:extLst>
          </p:cNvPr>
          <p:cNvSpPr/>
          <p:nvPr/>
        </p:nvSpPr>
        <p:spPr>
          <a:xfrm>
            <a:off x="9295011" y="865239"/>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INFORMATION TECHNOLOGY</a:t>
            </a:r>
          </a:p>
        </p:txBody>
      </p:sp>
      <p:sp>
        <p:nvSpPr>
          <p:cNvPr id="1033" name="Rounded Rectangle 33">
            <a:extLst>
              <a:ext uri="{FF2B5EF4-FFF2-40B4-BE49-F238E27FC236}">
                <a16:creationId xmlns:a16="http://schemas.microsoft.com/office/drawing/2014/main" id="{DB676218-8B0C-2374-3190-ADAFBD304B29}"/>
              </a:ext>
            </a:extLst>
          </p:cNvPr>
          <p:cNvSpPr/>
          <p:nvPr/>
        </p:nvSpPr>
        <p:spPr>
          <a:xfrm>
            <a:off x="6333261" y="4356030"/>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HUMAN RESOURCES</a:t>
            </a:r>
          </a:p>
        </p:txBody>
      </p:sp>
      <p:sp>
        <p:nvSpPr>
          <p:cNvPr id="1035" name="TextBox 1034">
            <a:extLst>
              <a:ext uri="{FF2B5EF4-FFF2-40B4-BE49-F238E27FC236}">
                <a16:creationId xmlns:a16="http://schemas.microsoft.com/office/drawing/2014/main" id="{01C116CF-D899-36F7-219D-C1159D8B52D7}"/>
              </a:ext>
            </a:extLst>
          </p:cNvPr>
          <p:cNvSpPr txBox="1"/>
          <p:nvPr/>
        </p:nvSpPr>
        <p:spPr>
          <a:xfrm>
            <a:off x="6358858"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Operations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Supply Chain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Emergency Preparedness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Suppliers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Worker Safety</a:t>
            </a:r>
          </a:p>
        </p:txBody>
      </p:sp>
      <p:sp>
        <p:nvSpPr>
          <p:cNvPr id="1036" name="TextBox 1035">
            <a:extLst>
              <a:ext uri="{FF2B5EF4-FFF2-40B4-BE49-F238E27FC236}">
                <a16:creationId xmlns:a16="http://schemas.microsoft.com/office/drawing/2014/main" id="{6D63E6C1-0425-4437-888A-F3E8D5A060AC}"/>
              </a:ext>
            </a:extLst>
          </p:cNvPr>
          <p:cNvSpPr txBox="1"/>
          <p:nvPr/>
        </p:nvSpPr>
        <p:spPr>
          <a:xfrm>
            <a:off x="6333260" y="3208935"/>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Service</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Satisfaction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Consumer Insights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Case Studies</a:t>
            </a:r>
          </a:p>
        </p:txBody>
      </p:sp>
      <p:sp>
        <p:nvSpPr>
          <p:cNvPr id="1037" name="TextBox 1036">
            <a:extLst>
              <a:ext uri="{FF2B5EF4-FFF2-40B4-BE49-F238E27FC236}">
                <a16:creationId xmlns:a16="http://schemas.microsoft.com/office/drawing/2014/main" id="{2BD1D13D-59B1-D4F8-4E1E-A026079AC144}"/>
              </a:ext>
            </a:extLst>
          </p:cNvPr>
          <p:cNvSpPr txBox="1"/>
          <p:nvPr/>
        </p:nvSpPr>
        <p:spPr>
          <a:xfrm>
            <a:off x="9346205"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IT Infrastructure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Cybersecurity</a:t>
            </a:r>
          </a:p>
        </p:txBody>
      </p:sp>
      <p:sp>
        <p:nvSpPr>
          <p:cNvPr id="1039" name="TextBox 1038">
            <a:extLst>
              <a:ext uri="{FF2B5EF4-FFF2-40B4-BE49-F238E27FC236}">
                <a16:creationId xmlns:a16="http://schemas.microsoft.com/office/drawing/2014/main" id="{7F71797E-DAE7-019D-7E27-5D562C6571DD}"/>
              </a:ext>
            </a:extLst>
          </p:cNvPr>
          <p:cNvSpPr txBox="1"/>
          <p:nvPr/>
        </p:nvSpPr>
        <p:spPr>
          <a:xfrm>
            <a:off x="6333260" y="5052741"/>
            <a:ext cx="2831794"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Human Resources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Organizational 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Leadership Team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Talent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Compensation</a:t>
            </a:r>
            <a:r>
              <a:rPr lang="en-US" sz="1100" dirty="0">
                <a:solidFill>
                  <a:srgbClr val="000000"/>
                </a:solidFill>
                <a:latin typeface="Verdana"/>
              </a:rPr>
              <a:t> and </a:t>
            </a:r>
            <a:r>
              <a:rPr kumimoji="0" lang="en-US" sz="1100" b="0" i="0" u="none" strike="noStrike" kern="1200" cap="none" spc="0" normalizeH="0" baseline="0" noProof="0" dirty="0">
                <a:ln>
                  <a:noFill/>
                </a:ln>
                <a:solidFill>
                  <a:srgbClr val="000000"/>
                </a:solidFill>
                <a:effectLst/>
                <a:uLnTx/>
                <a:uFillTx/>
                <a:latin typeface="Verdana"/>
                <a:ea typeface="+mn-ea"/>
                <a:cs typeface="+mn-cs"/>
              </a:rPr>
              <a:t>Benefits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Learning and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Diversity, Equity, and Inclusion</a:t>
            </a:r>
          </a:p>
        </p:txBody>
      </p:sp>
      <p:sp>
        <p:nvSpPr>
          <p:cNvPr id="2" name="Rounded Rectangle 33">
            <a:extLst>
              <a:ext uri="{FF2B5EF4-FFF2-40B4-BE49-F238E27FC236}">
                <a16:creationId xmlns:a16="http://schemas.microsoft.com/office/drawing/2014/main" id="{1B612D95-4099-846D-D69A-44F681C34655}"/>
              </a:ext>
            </a:extLst>
          </p:cNvPr>
          <p:cNvSpPr/>
          <p:nvPr/>
        </p:nvSpPr>
        <p:spPr>
          <a:xfrm>
            <a:off x="384173" y="3162300"/>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FINANCE</a:t>
            </a:r>
          </a:p>
        </p:txBody>
      </p:sp>
      <p:sp>
        <p:nvSpPr>
          <p:cNvPr id="4" name="TextBox 3">
            <a:extLst>
              <a:ext uri="{FF2B5EF4-FFF2-40B4-BE49-F238E27FC236}">
                <a16:creationId xmlns:a16="http://schemas.microsoft.com/office/drawing/2014/main" id="{F322B9F2-CA67-D5B4-CC60-7F01099438FE}"/>
              </a:ext>
            </a:extLst>
          </p:cNvPr>
          <p:cNvSpPr txBox="1"/>
          <p:nvPr/>
        </p:nvSpPr>
        <p:spPr>
          <a:xfrm>
            <a:off x="384173" y="2663262"/>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Agenda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Previous Meeting Minutes</a:t>
            </a:r>
          </a:p>
        </p:txBody>
      </p:sp>
    </p:spTree>
    <p:extLst>
      <p:ext uri="{BB962C8B-B14F-4D97-AF65-F5344CB8AC3E}">
        <p14:creationId xmlns:p14="http://schemas.microsoft.com/office/powerpoint/2010/main" val="41708001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Market Overview</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An overview of the industry trends during the quarter including any changes in the market size, growth rate, and key drivers affecting the industry.</a:t>
            </a:r>
          </a:p>
          <a:p>
            <a:pPr marL="228600" indent="-228600" algn="l">
              <a:buFont typeface="+mj-lt"/>
              <a:buAutoNum type="arabicPeriod"/>
            </a:pPr>
            <a:r>
              <a:rPr lang="en-US" sz="1200" i="0" dirty="0">
                <a:solidFill>
                  <a:srgbClr val="374151"/>
                </a:solidFill>
                <a:effectLst/>
                <a:latin typeface="Söhne"/>
              </a:rPr>
              <a:t>Market size</a:t>
            </a:r>
            <a:r>
              <a:rPr lang="en-US" sz="1200" b="0" i="0" dirty="0">
                <a:solidFill>
                  <a:srgbClr val="374151"/>
                </a:solidFill>
                <a:effectLst/>
                <a:latin typeface="Söhne"/>
              </a:rPr>
              <a:t>: An analysis of the market size during the quarter, including the total addressable market (TAM), serviceable addressable market (SAM), and the company's market share.</a:t>
            </a:r>
          </a:p>
          <a:p>
            <a:pPr marL="228600" indent="-228600" algn="l">
              <a:buFont typeface="+mj-lt"/>
              <a:buAutoNum type="arabicPeriod"/>
            </a:pPr>
            <a:r>
              <a:rPr lang="en-US" sz="1200" i="0" dirty="0">
                <a:solidFill>
                  <a:srgbClr val="374151"/>
                </a:solidFill>
                <a:effectLst/>
                <a:latin typeface="Söhne"/>
              </a:rPr>
              <a:t>Competitor analysis</a:t>
            </a:r>
            <a:r>
              <a:rPr lang="en-US" sz="1200" b="0" i="0" dirty="0">
                <a:solidFill>
                  <a:srgbClr val="374151"/>
                </a:solidFill>
                <a:effectLst/>
                <a:latin typeface="Söhne"/>
              </a:rPr>
              <a:t>: A detailed analysis of the company's key competitors, including their market share, product offerings, and pricing strategies. This analysis should include information on any new entrants or disruptive technologies that may impact the market in the future.</a:t>
            </a:r>
          </a:p>
          <a:p>
            <a:pPr marL="228600" indent="-228600" algn="l">
              <a:buFont typeface="+mj-lt"/>
              <a:buAutoNum type="arabicPeriod"/>
            </a:pPr>
            <a:r>
              <a:rPr lang="en-US" sz="1200" i="0" dirty="0">
                <a:solidFill>
                  <a:srgbClr val="374151"/>
                </a:solidFill>
                <a:effectLst/>
                <a:latin typeface="Söhne"/>
              </a:rPr>
              <a:t>SWOT analysis</a:t>
            </a:r>
            <a:r>
              <a:rPr lang="en-US" sz="1200" b="0" i="0" dirty="0">
                <a:solidFill>
                  <a:srgbClr val="374151"/>
                </a:solidFill>
                <a:effectLst/>
                <a:latin typeface="Söhne"/>
              </a:rPr>
              <a:t>: A SWOT (Strengths, Weaknesses, Opportunities, Threats) analysis of the company's position in the market, based on the market trends and competitor analysis. This analysis should identify the company's strengths and weaknesses, as well as the opportunities and threats in the market.</a:t>
            </a:r>
          </a:p>
          <a:p>
            <a:pPr marL="228600" indent="-228600" algn="l">
              <a:buFont typeface="+mj-lt"/>
              <a:buAutoNum type="arabicPeriod"/>
            </a:pPr>
            <a:r>
              <a:rPr lang="en-US" sz="1200" i="0" dirty="0">
                <a:solidFill>
                  <a:srgbClr val="374151"/>
                </a:solidFill>
                <a:effectLst/>
                <a:latin typeface="Söhne"/>
              </a:rPr>
              <a:t>Product roadmap</a:t>
            </a:r>
            <a:r>
              <a:rPr lang="en-US" sz="1200" b="0" i="0" dirty="0">
                <a:solidFill>
                  <a:srgbClr val="374151"/>
                </a:solidFill>
                <a:effectLst/>
                <a:latin typeface="Söhne"/>
              </a:rPr>
              <a:t>: An overview of the company's product roadmap for the next quarter or year, including any planned product launches or enhancements that are expected to drive growth and improve the company's competitive position.</a:t>
            </a:r>
          </a:p>
          <a:p>
            <a:pPr marL="228600" indent="-228600" algn="l">
              <a:buFont typeface="+mj-lt"/>
              <a:buAutoNum type="arabicPeriod"/>
            </a:pPr>
            <a:r>
              <a:rPr lang="en-US" sz="1200" i="0" dirty="0">
                <a:solidFill>
                  <a:srgbClr val="374151"/>
                </a:solidFill>
                <a:effectLst/>
                <a:latin typeface="Söhne"/>
              </a:rPr>
              <a:t>Sales and marketing strategies</a:t>
            </a:r>
            <a:r>
              <a:rPr lang="en-US" sz="1200" b="0" i="0" dirty="0">
                <a:solidFill>
                  <a:srgbClr val="374151"/>
                </a:solidFill>
                <a:effectLst/>
                <a:latin typeface="Söhne"/>
              </a:rPr>
              <a:t>: An overview of the company's sales and marketing strategies for the next quarter or year, including any new initiatives or campaigns that are expected to improve market share and increase customer acquisition.</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market and industry data, such as a line chart or a bar chart, to make it easier to visualize the trends in market size, growth rate, and competitive landscape.</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market performance during the quarter, including any noteworthy achievements or concerns, and the strategies or initiatives planned to improve the company's position in the market in the next quarter.</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40953551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Marketing Initiatives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overview of the marketing objectives for the quarter.</a:t>
            </a:r>
          </a:p>
          <a:p>
            <a:pPr marL="228600" indent="-228600" algn="l">
              <a:buFont typeface="+mj-lt"/>
              <a:buAutoNum type="arabicPeriod"/>
            </a:pPr>
            <a:r>
              <a:rPr lang="en-US" sz="1200" i="0" dirty="0">
                <a:solidFill>
                  <a:srgbClr val="374151"/>
                </a:solidFill>
                <a:effectLst/>
                <a:latin typeface="Söhne"/>
              </a:rPr>
              <a:t>Budget</a:t>
            </a:r>
            <a:r>
              <a:rPr lang="en-US" sz="1200" b="0" i="0" dirty="0">
                <a:solidFill>
                  <a:srgbClr val="374151"/>
                </a:solidFill>
                <a:effectLst/>
                <a:latin typeface="Söhne"/>
              </a:rPr>
              <a:t>: The budget allocated to marketing initiatives during the quarter.</a:t>
            </a:r>
          </a:p>
          <a:p>
            <a:pPr marL="228600" indent="-228600" algn="l">
              <a:buFont typeface="+mj-lt"/>
              <a:buAutoNum type="arabicPeriod"/>
            </a:pPr>
            <a:r>
              <a:rPr lang="en-US" sz="1200" i="0" dirty="0">
                <a:solidFill>
                  <a:srgbClr val="374151"/>
                </a:solidFill>
                <a:effectLst/>
                <a:latin typeface="Söhne"/>
              </a:rPr>
              <a:t>Campaigns</a:t>
            </a:r>
            <a:r>
              <a:rPr lang="en-US" sz="1200" b="0" i="0" dirty="0">
                <a:solidFill>
                  <a:srgbClr val="374151"/>
                </a:solidFill>
                <a:effectLst/>
                <a:latin typeface="Söhne"/>
              </a:rPr>
              <a:t>: An overview of the marketing campaigns executed during the quarter, including the channels used, the target audience, and the messaging.</a:t>
            </a:r>
          </a:p>
          <a:p>
            <a:pPr marL="228600" indent="-228600" algn="l">
              <a:buFont typeface="+mj-lt"/>
              <a:buAutoNum type="arabicPeriod"/>
            </a:pPr>
            <a:r>
              <a:rPr lang="en-US" sz="1200" i="0" dirty="0">
                <a:solidFill>
                  <a:srgbClr val="374151"/>
                </a:solidFill>
                <a:effectLst/>
                <a:latin typeface="Söhne"/>
              </a:rPr>
              <a:t>Results</a:t>
            </a:r>
            <a:r>
              <a:rPr lang="en-US" sz="1200" b="0" i="0" dirty="0">
                <a:solidFill>
                  <a:srgbClr val="374151"/>
                </a:solidFill>
                <a:effectLst/>
                <a:latin typeface="Söhne"/>
              </a:rPr>
              <a:t>: A summary of the results achieved through marketing initiatives, including metrics such as website traffic, leads generated, and conversions.</a:t>
            </a:r>
          </a:p>
          <a:p>
            <a:pPr marL="228600" indent="-228600" algn="l">
              <a:buFont typeface="+mj-lt"/>
              <a:buAutoNum type="arabicPeriod"/>
            </a:pPr>
            <a:r>
              <a:rPr lang="en-US" sz="1200" i="0" dirty="0">
                <a:solidFill>
                  <a:srgbClr val="374151"/>
                </a:solidFill>
                <a:effectLst/>
                <a:latin typeface="Söhne"/>
              </a:rPr>
              <a:t>Lessons Learned</a:t>
            </a:r>
            <a:r>
              <a:rPr lang="en-US" sz="1200" b="0" i="0" dirty="0">
                <a:solidFill>
                  <a:srgbClr val="374151"/>
                </a:solidFill>
                <a:effectLst/>
                <a:latin typeface="Söhne"/>
              </a:rPr>
              <a:t>: A summary of the key lessons learned from the marketing initiatives executed during the quarter.</a:t>
            </a:r>
          </a:p>
          <a:p>
            <a:pPr marL="228600" indent="-228600" algn="l">
              <a:buFont typeface="+mj-lt"/>
              <a:buAutoNum type="arabicPeriod"/>
            </a:pPr>
            <a:r>
              <a:rPr lang="en-US" sz="1200" i="0" dirty="0">
                <a:solidFill>
                  <a:srgbClr val="374151"/>
                </a:solidFill>
                <a:effectLst/>
                <a:latin typeface="Söhne"/>
              </a:rPr>
              <a:t>Future Plans</a:t>
            </a:r>
            <a:r>
              <a:rPr lang="en-US" sz="1200" b="0" i="0" dirty="0">
                <a:solidFill>
                  <a:srgbClr val="374151"/>
                </a:solidFill>
                <a:effectLst/>
                <a:latin typeface="Söhne"/>
              </a:rPr>
              <a:t>: An overview of the marketing initiatives planned for the next quarter, including the budget allocated, campaigns planned, and objectives to be achieved.</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1995217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Market Expansion</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introduction to the topic, highlighting the importance of market expansion for the company's growth.</a:t>
            </a:r>
          </a:p>
          <a:p>
            <a:pPr marL="228600" indent="-228600" algn="l">
              <a:buFont typeface="+mj-lt"/>
              <a:buAutoNum type="arabicPeriod"/>
            </a:pPr>
            <a:r>
              <a:rPr lang="en-US" sz="1200" i="0" dirty="0">
                <a:solidFill>
                  <a:srgbClr val="374151"/>
                </a:solidFill>
                <a:effectLst/>
                <a:latin typeface="Söhne"/>
              </a:rPr>
              <a:t>Market analysis</a:t>
            </a:r>
            <a:r>
              <a:rPr lang="en-US" sz="1200" b="0" i="0" dirty="0">
                <a:solidFill>
                  <a:srgbClr val="374151"/>
                </a:solidFill>
                <a:effectLst/>
                <a:latin typeface="Söhne"/>
              </a:rPr>
              <a:t>: A summary of the market analysis conducted during the quarter, including market size, growth rate, and trends in the targeted markets. This could include tables or charts showing market data and analysis.</a:t>
            </a:r>
          </a:p>
          <a:p>
            <a:pPr marL="228600" indent="-228600" algn="l">
              <a:buFont typeface="+mj-lt"/>
              <a:buAutoNum type="arabicPeriod"/>
            </a:pPr>
            <a:r>
              <a:rPr lang="en-US" sz="1200" i="0" dirty="0">
                <a:solidFill>
                  <a:srgbClr val="374151"/>
                </a:solidFill>
                <a:effectLst/>
                <a:latin typeface="Söhne"/>
              </a:rPr>
              <a:t>Target markets</a:t>
            </a:r>
            <a:r>
              <a:rPr lang="en-US" sz="1200" b="0" i="0" dirty="0">
                <a:solidFill>
                  <a:srgbClr val="374151"/>
                </a:solidFill>
                <a:effectLst/>
                <a:latin typeface="Söhne"/>
              </a:rPr>
              <a:t>: A description of the new markets the company plans to enter, including any new products, services, or geographic regions. This could be presented in a list or a map highlighting the targeted regions.</a:t>
            </a:r>
          </a:p>
          <a:p>
            <a:pPr marL="228600" indent="-228600" algn="l">
              <a:buFont typeface="+mj-lt"/>
              <a:buAutoNum type="arabicPeriod"/>
            </a:pPr>
            <a:r>
              <a:rPr lang="en-US" sz="1200" i="0" dirty="0">
                <a:solidFill>
                  <a:srgbClr val="374151"/>
                </a:solidFill>
                <a:effectLst/>
                <a:latin typeface="Söhne"/>
              </a:rPr>
              <a:t>Market entry strategy</a:t>
            </a:r>
            <a:r>
              <a:rPr lang="en-US" sz="1200" b="0" i="0" dirty="0">
                <a:solidFill>
                  <a:srgbClr val="374151"/>
                </a:solidFill>
                <a:effectLst/>
                <a:latin typeface="Söhne"/>
              </a:rPr>
              <a:t>: An explanation of the company's market entry strategy, including any partnerships, collaborations, or acquisitions that will be used to facilitate market entry. This could be presented in a table or flowchart.</a:t>
            </a:r>
          </a:p>
          <a:p>
            <a:pPr marL="228600" indent="-228600" algn="l">
              <a:buFont typeface="+mj-lt"/>
              <a:buAutoNum type="arabicPeriod"/>
            </a:pPr>
            <a:r>
              <a:rPr lang="en-US" sz="1200" i="0" dirty="0">
                <a:solidFill>
                  <a:srgbClr val="374151"/>
                </a:solidFill>
                <a:effectLst/>
                <a:latin typeface="Söhne"/>
              </a:rPr>
              <a:t>Marketing and sales strategy</a:t>
            </a:r>
            <a:r>
              <a:rPr lang="en-US" sz="1200" b="0" i="0" dirty="0">
                <a:solidFill>
                  <a:srgbClr val="374151"/>
                </a:solidFill>
                <a:effectLst/>
                <a:latin typeface="Söhne"/>
              </a:rPr>
              <a:t>: A summary of the marketing and sales strategy for the new markets, including any promotional activities, distribution channels, or sales tactics. This could be presented in a table or chart.</a:t>
            </a:r>
          </a:p>
          <a:p>
            <a:pPr marL="228600" indent="-228600" algn="l">
              <a:buFont typeface="+mj-lt"/>
              <a:buAutoNum type="arabicPeriod"/>
            </a:pPr>
            <a:r>
              <a:rPr lang="en-US" sz="1200" i="0" dirty="0">
                <a:solidFill>
                  <a:srgbClr val="374151"/>
                </a:solidFill>
                <a:effectLst/>
                <a:latin typeface="Söhne"/>
              </a:rPr>
              <a:t>Investment and budget</a:t>
            </a:r>
            <a:r>
              <a:rPr lang="en-US" sz="1200" b="0" i="0" dirty="0">
                <a:solidFill>
                  <a:srgbClr val="374151"/>
                </a:solidFill>
                <a:effectLst/>
                <a:latin typeface="Söhne"/>
              </a:rPr>
              <a:t>: An overview of the investment and budget required to execute the market expansion strategy, including projected costs and expected return on investment. This could be presented in a table or chart.</a:t>
            </a:r>
          </a:p>
          <a:p>
            <a:pPr marL="228600" indent="-228600" algn="l">
              <a:buFont typeface="+mj-lt"/>
              <a:buAutoNum type="arabicPeriod"/>
            </a:pPr>
            <a:r>
              <a:rPr lang="en-US" sz="1200" i="0" dirty="0">
                <a:solidFill>
                  <a:srgbClr val="374151"/>
                </a:solidFill>
                <a:effectLst/>
                <a:latin typeface="Söhne"/>
              </a:rPr>
              <a:t>Timeline</a:t>
            </a:r>
            <a:r>
              <a:rPr lang="en-US" sz="1200" b="0" i="0" dirty="0">
                <a:solidFill>
                  <a:srgbClr val="374151"/>
                </a:solidFill>
                <a:effectLst/>
                <a:latin typeface="Söhne"/>
              </a:rPr>
              <a:t>: A timeline of the market expansion strategy, including key milestones and deadlines. This could be presented in a Gantt chart or timeline diagram.</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summary of the market expansion strategy and its potential impact on the company's growth and revenue. This could be presented in a bullet-point list or conclusion slide.</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26521568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Marketing ROI</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introduction to the purpose of the slide, highlighting the importance of measuring marketing ROI and the metrics used to evaluate it.</a:t>
            </a:r>
          </a:p>
          <a:p>
            <a:pPr marL="228600" indent="-228600" algn="l">
              <a:buFont typeface="+mj-lt"/>
              <a:buAutoNum type="arabicPeriod"/>
            </a:pPr>
            <a:r>
              <a:rPr lang="en-US" sz="1200" i="0" dirty="0">
                <a:solidFill>
                  <a:srgbClr val="374151"/>
                </a:solidFill>
                <a:effectLst/>
                <a:latin typeface="Söhne"/>
              </a:rPr>
              <a:t>Marketing spend</a:t>
            </a:r>
            <a:r>
              <a:rPr lang="en-US" sz="1200" b="0" i="0" dirty="0">
                <a:solidFill>
                  <a:srgbClr val="374151"/>
                </a:solidFill>
                <a:effectLst/>
                <a:latin typeface="Söhne"/>
              </a:rPr>
              <a:t>: An overview of the company's marketing spend during the quarter, broken down by channel or campaign.</a:t>
            </a:r>
          </a:p>
          <a:p>
            <a:pPr marL="228600" indent="-228600" algn="l">
              <a:buFont typeface="+mj-lt"/>
              <a:buAutoNum type="arabicPeriod"/>
            </a:pPr>
            <a:r>
              <a:rPr lang="en-US" sz="1200" i="0" dirty="0">
                <a:solidFill>
                  <a:srgbClr val="374151"/>
                </a:solidFill>
                <a:effectLst/>
                <a:latin typeface="Söhne"/>
              </a:rPr>
              <a:t>Customer acquisition cost (CAC): </a:t>
            </a:r>
            <a:r>
              <a:rPr lang="en-US" sz="1200" b="0" i="0" dirty="0">
                <a:solidFill>
                  <a:srgbClr val="374151"/>
                </a:solidFill>
                <a:effectLst/>
                <a:latin typeface="Söhne"/>
              </a:rPr>
              <a:t>An analysis of the company's CAC, which measures the amount spent on marketing and sales to acquire a new customer. The CAC should be compared to historical data and industry benchmarks to evaluate performance.</a:t>
            </a:r>
          </a:p>
          <a:p>
            <a:pPr marL="228600" indent="-228600" algn="l">
              <a:buFont typeface="+mj-lt"/>
              <a:buAutoNum type="arabicPeriod"/>
            </a:pPr>
            <a:r>
              <a:rPr lang="en-US" sz="1200" i="0" dirty="0">
                <a:solidFill>
                  <a:srgbClr val="374151"/>
                </a:solidFill>
                <a:effectLst/>
                <a:latin typeface="Söhne"/>
              </a:rPr>
              <a:t>Customer lifetime value (CLV): </a:t>
            </a:r>
            <a:r>
              <a:rPr lang="en-US" sz="1200" b="0" i="0" dirty="0">
                <a:solidFill>
                  <a:srgbClr val="374151"/>
                </a:solidFill>
                <a:effectLst/>
                <a:latin typeface="Söhne"/>
              </a:rPr>
              <a:t>An analysis of the company's CLV, which measures the total value a customer brings to the company over their lifetime. The CLV should be compared to historical data and industry benchmarks to evaluate performance.</a:t>
            </a:r>
          </a:p>
          <a:p>
            <a:pPr marL="228600" indent="-228600" algn="l">
              <a:buFont typeface="+mj-lt"/>
              <a:buAutoNum type="arabicPeriod"/>
            </a:pPr>
            <a:r>
              <a:rPr lang="en-US" sz="1200" i="0" dirty="0">
                <a:solidFill>
                  <a:srgbClr val="374151"/>
                </a:solidFill>
                <a:effectLst/>
                <a:latin typeface="Söhne"/>
              </a:rPr>
              <a:t>Return on investment (ROI): </a:t>
            </a:r>
            <a:r>
              <a:rPr lang="en-US" sz="1200" b="0" i="0" dirty="0">
                <a:solidFill>
                  <a:srgbClr val="374151"/>
                </a:solidFill>
                <a:effectLst/>
                <a:latin typeface="Söhne"/>
              </a:rPr>
              <a:t>An analysis of the company's marketing ROI, which measures the revenue generated as a result of marketing efforts compared to the amount spent on those efforts. The ROI should be compared to historical data and industry benchmarks to evaluate performance.</a:t>
            </a:r>
          </a:p>
          <a:p>
            <a:pPr marL="228600" indent="-228600" algn="l">
              <a:buFont typeface="+mj-lt"/>
              <a:buAutoNum type="arabicPeriod"/>
            </a:pPr>
            <a:r>
              <a:rPr lang="en-US" sz="1200" i="0" dirty="0">
                <a:solidFill>
                  <a:srgbClr val="374151"/>
                </a:solidFill>
                <a:effectLst/>
                <a:latin typeface="Söhne"/>
              </a:rPr>
              <a:t>Key insights</a:t>
            </a:r>
            <a:r>
              <a:rPr lang="en-US" sz="1200" b="0" i="0" dirty="0">
                <a:solidFill>
                  <a:srgbClr val="374151"/>
                </a:solidFill>
                <a:effectLst/>
                <a:latin typeface="Söhne"/>
              </a:rPr>
              <a:t>: A summary of the key insights gained from the analysis, including any significant trends or changes in performance compared to previous quarters or industry benchmarks.</a:t>
            </a:r>
          </a:p>
          <a:p>
            <a:pPr marL="228600" indent="-228600" algn="l">
              <a:buFont typeface="+mj-lt"/>
              <a:buAutoNum type="arabicPeriod"/>
            </a:pPr>
            <a:r>
              <a:rPr lang="en-US" sz="1200" i="0" dirty="0">
                <a:solidFill>
                  <a:srgbClr val="374151"/>
                </a:solidFill>
                <a:effectLst/>
                <a:latin typeface="Söhne"/>
              </a:rPr>
              <a:t>Recommendations</a:t>
            </a:r>
            <a:r>
              <a:rPr lang="en-US" sz="1200" b="0" i="0" dirty="0">
                <a:solidFill>
                  <a:srgbClr val="374151"/>
                </a:solidFill>
                <a:effectLst/>
                <a:latin typeface="Söhne"/>
              </a:rPr>
              <a:t>: Based on the insights gained from the analysis, recommendations should be provided to the board regarding potential changes to the company's marketing strategy or tactics to improve ROI.</a:t>
            </a:r>
          </a:p>
        </p:txBody>
      </p:sp>
    </p:spTree>
    <p:extLst>
      <p:ext uri="{BB962C8B-B14F-4D97-AF65-F5344CB8AC3E}">
        <p14:creationId xmlns:p14="http://schemas.microsoft.com/office/powerpoint/2010/main" val="1670302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Pricing Strategy</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Overview of pricing strategy</a:t>
            </a:r>
            <a:r>
              <a:rPr lang="en-US" sz="1200" b="0" i="0" dirty="0">
                <a:solidFill>
                  <a:srgbClr val="374151"/>
                </a:solidFill>
                <a:effectLst/>
                <a:latin typeface="Söhne"/>
              </a:rPr>
              <a:t>: A brief overview of the company's pricing strategy, including any guiding principles or objectives.</a:t>
            </a:r>
          </a:p>
          <a:p>
            <a:pPr marL="228600" indent="-228600" algn="l">
              <a:buFont typeface="+mj-lt"/>
              <a:buAutoNum type="arabicPeriod"/>
            </a:pPr>
            <a:r>
              <a:rPr lang="en-US" sz="1200" i="0" dirty="0">
                <a:solidFill>
                  <a:srgbClr val="374151"/>
                </a:solidFill>
                <a:effectLst/>
                <a:latin typeface="Söhne"/>
              </a:rPr>
              <a:t>Market analysis</a:t>
            </a:r>
            <a:r>
              <a:rPr lang="en-US" sz="1200" b="0" i="0" dirty="0">
                <a:solidFill>
                  <a:srgbClr val="374151"/>
                </a:solidFill>
                <a:effectLst/>
                <a:latin typeface="Söhne"/>
              </a:rPr>
              <a:t>: An analysis of the market landscape and competitors' pricing strategies.</a:t>
            </a:r>
          </a:p>
          <a:p>
            <a:pPr marL="228600" indent="-228600" algn="l">
              <a:buFont typeface="+mj-lt"/>
              <a:buAutoNum type="arabicPeriod"/>
            </a:pPr>
            <a:r>
              <a:rPr lang="en-US" sz="1200" i="0" dirty="0">
                <a:solidFill>
                  <a:srgbClr val="374151"/>
                </a:solidFill>
                <a:effectLst/>
                <a:latin typeface="Söhne"/>
              </a:rPr>
              <a:t>Customer segmentation</a:t>
            </a:r>
            <a:r>
              <a:rPr lang="en-US" sz="1200" b="0" i="0" dirty="0">
                <a:solidFill>
                  <a:srgbClr val="374151"/>
                </a:solidFill>
                <a:effectLst/>
                <a:latin typeface="Söhne"/>
              </a:rPr>
              <a:t>: An overview of customer segments and their willingness to pay for the company's products or services.</a:t>
            </a:r>
          </a:p>
          <a:p>
            <a:pPr marL="228600" indent="-228600" algn="l">
              <a:buFont typeface="+mj-lt"/>
              <a:buAutoNum type="arabicPeriod"/>
            </a:pPr>
            <a:r>
              <a:rPr lang="en-US" sz="1200" i="0" dirty="0">
                <a:solidFill>
                  <a:srgbClr val="374151"/>
                </a:solidFill>
                <a:effectLst/>
                <a:latin typeface="Söhne"/>
              </a:rPr>
              <a:t>Pricing changes</a:t>
            </a:r>
            <a:r>
              <a:rPr lang="en-US" sz="1200" b="0" i="0" dirty="0">
                <a:solidFill>
                  <a:srgbClr val="374151"/>
                </a:solidFill>
                <a:effectLst/>
                <a:latin typeface="Söhne"/>
              </a:rPr>
              <a:t>: Any changes made to pricing during the quarter, including rationale for the changes and any impact on sales or revenue.</a:t>
            </a:r>
          </a:p>
          <a:p>
            <a:pPr marL="228600" indent="-228600" algn="l">
              <a:buFont typeface="+mj-lt"/>
              <a:buAutoNum type="arabicPeriod"/>
            </a:pPr>
            <a:r>
              <a:rPr lang="en-US" sz="1200" i="0" dirty="0">
                <a:solidFill>
                  <a:srgbClr val="374151"/>
                </a:solidFill>
                <a:effectLst/>
                <a:latin typeface="Söhne"/>
              </a:rPr>
              <a:t>Future pricing plans</a:t>
            </a:r>
            <a:r>
              <a:rPr lang="en-US" sz="1200" b="0" i="0" dirty="0">
                <a:solidFill>
                  <a:srgbClr val="374151"/>
                </a:solidFill>
                <a:effectLst/>
                <a:latin typeface="Söhne"/>
              </a:rPr>
              <a:t>: Plans for any future pricing changes or adjustments, including the timeline for implementation and expected impact on sales or revenue.</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33419670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Data &amp; Analytics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b="0" i="0" dirty="0">
                <a:solidFill>
                  <a:srgbClr val="374151"/>
                </a:solidFill>
                <a:effectLst/>
                <a:latin typeface="Söhne"/>
              </a:rPr>
              <a:t>An overview of the company's data sources, including internal data (such as sales and customer data) and external data (such as market data and social media data).</a:t>
            </a:r>
          </a:p>
          <a:p>
            <a:pPr marL="228600" indent="-228600" algn="l">
              <a:buFont typeface="+mj-lt"/>
              <a:buAutoNum type="arabicPeriod"/>
            </a:pPr>
            <a:r>
              <a:rPr lang="en-US" sz="1200" b="0" i="0" dirty="0">
                <a:solidFill>
                  <a:srgbClr val="374151"/>
                </a:solidFill>
                <a:effectLst/>
                <a:latin typeface="Söhne"/>
              </a:rPr>
              <a:t>An overview of the tools and technologies being used to analyze data, such as data mining, machine learning, and predictive analytics.</a:t>
            </a:r>
          </a:p>
          <a:p>
            <a:pPr marL="228600" indent="-228600" algn="l">
              <a:buFont typeface="+mj-lt"/>
              <a:buAutoNum type="arabicPeriod"/>
            </a:pPr>
            <a:r>
              <a:rPr lang="en-US" sz="1200" b="0" i="0" dirty="0">
                <a:solidFill>
                  <a:srgbClr val="374151"/>
                </a:solidFill>
                <a:effectLst/>
                <a:latin typeface="Söhne"/>
              </a:rPr>
              <a:t>Key metrics and KPIs that are being tracked and analyzed, such as customer retention, sales performance, and website traffic.</a:t>
            </a:r>
          </a:p>
          <a:p>
            <a:pPr marL="228600" indent="-228600" algn="l">
              <a:buFont typeface="+mj-lt"/>
              <a:buAutoNum type="arabicPeriod"/>
            </a:pPr>
            <a:r>
              <a:rPr lang="en-US" sz="1200" b="0" i="0" dirty="0">
                <a:solidFill>
                  <a:srgbClr val="374151"/>
                </a:solidFill>
                <a:effectLst/>
                <a:latin typeface="Söhne"/>
              </a:rPr>
              <a:t>A summary of recent insights or discoveries made through data analysis, along with any actions taken as a result.</a:t>
            </a:r>
          </a:p>
          <a:p>
            <a:pPr marL="228600" indent="-228600" algn="l">
              <a:buFont typeface="+mj-lt"/>
              <a:buAutoNum type="arabicPeriod"/>
            </a:pPr>
            <a:r>
              <a:rPr lang="en-US" sz="1200" b="0" i="0" dirty="0">
                <a:solidFill>
                  <a:srgbClr val="374151"/>
                </a:solidFill>
                <a:effectLst/>
                <a:latin typeface="Söhne"/>
              </a:rPr>
              <a:t>A summary of any ongoing data-related initiatives or projects, such as implementing a new data warehouse or hiring additional data analysts.</a:t>
            </a:r>
          </a:p>
        </p:txBody>
      </p:sp>
    </p:spTree>
    <p:extLst>
      <p:ext uri="{BB962C8B-B14F-4D97-AF65-F5344CB8AC3E}">
        <p14:creationId xmlns:p14="http://schemas.microsoft.com/office/powerpoint/2010/main" val="38963278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Advertising</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introduction that highlights the importance of advertising for the company and sets the context for the rest of the presentation.</a:t>
            </a:r>
          </a:p>
          <a:p>
            <a:pPr marL="228600" indent="-228600" algn="l">
              <a:buFont typeface="+mj-lt"/>
              <a:buAutoNum type="arabicPeriod"/>
            </a:pPr>
            <a:r>
              <a:rPr lang="en-US" sz="1200" i="0" dirty="0">
                <a:solidFill>
                  <a:srgbClr val="374151"/>
                </a:solidFill>
                <a:effectLst/>
                <a:latin typeface="Söhne"/>
              </a:rPr>
              <a:t>Advertising spend</a:t>
            </a:r>
            <a:r>
              <a:rPr lang="en-US" sz="1200" b="0" i="0" dirty="0">
                <a:solidFill>
                  <a:srgbClr val="374151"/>
                </a:solidFill>
                <a:effectLst/>
                <a:latin typeface="Söhne"/>
              </a:rPr>
              <a:t>: A breakdown of the company's advertising spend, including a summary of the ad content, the amount of dollars spent on advertising, and any changes in ad spend compared to the previous quarter or year. This may include a graph or chart that visually represents the data.</a:t>
            </a:r>
          </a:p>
          <a:p>
            <a:pPr marL="228600" indent="-228600" algn="l">
              <a:buFont typeface="+mj-lt"/>
              <a:buAutoNum type="arabicPeriod"/>
            </a:pPr>
            <a:r>
              <a:rPr lang="en-US" sz="1200" i="0" dirty="0">
                <a:solidFill>
                  <a:srgbClr val="374151"/>
                </a:solidFill>
                <a:effectLst/>
                <a:latin typeface="Söhne"/>
              </a:rPr>
              <a:t>Channel analysis</a:t>
            </a:r>
            <a:r>
              <a:rPr lang="en-US" sz="1200" b="0" i="0" dirty="0">
                <a:solidFill>
                  <a:srgbClr val="374151"/>
                </a:solidFill>
                <a:effectLst/>
                <a:latin typeface="Söhne"/>
              </a:rPr>
              <a:t>: An analysis of the channels where the company's ad dollars are being spent, such as television, radio, print, online, social media, and other channels. This may include a breakdown of how much is being spent on each channel and any trends over time. The analysis may also include a comparison of the effectiveness of each channel based on key metrics such as conversion rate, customer acquisition cost, or click-through rate.</a:t>
            </a:r>
          </a:p>
          <a:p>
            <a:pPr marL="228600" indent="-228600" algn="l">
              <a:buFont typeface="+mj-lt"/>
              <a:buAutoNum type="arabicPeriod"/>
            </a:pPr>
            <a:r>
              <a:rPr lang="en-US" sz="1200" i="0" dirty="0">
                <a:solidFill>
                  <a:srgbClr val="374151"/>
                </a:solidFill>
                <a:effectLst/>
                <a:latin typeface="Söhne"/>
              </a:rPr>
              <a:t>Impact analysis</a:t>
            </a:r>
            <a:r>
              <a:rPr lang="en-US" sz="1200" b="0" i="0" dirty="0">
                <a:solidFill>
                  <a:srgbClr val="374151"/>
                </a:solidFill>
                <a:effectLst/>
                <a:latin typeface="Söhne"/>
              </a:rPr>
              <a:t>: An analysis of the impact of the company's advertising efforts, including any metrics on how the advertising is contributing to revenue growth, customer acquisition, or other key performance indicators. This analysis may include a comparison of the effectiveness of different ad campaigns, as well as an analysis of customer feedback or sentiment related to the company's advertising efforts.</a:t>
            </a:r>
          </a:p>
          <a:p>
            <a:pPr marL="228600" indent="-228600" algn="l">
              <a:buFont typeface="+mj-lt"/>
              <a:buAutoNum type="arabicPeriod"/>
            </a:pPr>
            <a:r>
              <a:rPr lang="en-US" sz="1200" b="0" i="0" dirty="0">
                <a:solidFill>
                  <a:srgbClr val="374151"/>
                </a:solidFill>
                <a:effectLst/>
                <a:latin typeface="Söhne"/>
              </a:rPr>
              <a:t>Future plans: A summary of the company's plans for future advertising efforts, including any new campaigns, channels, or strategies that are being considered. The presentation may also include a discussion of any challenges or risks associated with the company's advertising efforts, as well as any potential solutions or mitigating strategies.</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32551064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Competitors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Overview of Key Competitors</a:t>
            </a:r>
            <a:r>
              <a:rPr lang="en-US" sz="1200" b="0" i="0" dirty="0">
                <a:solidFill>
                  <a:srgbClr val="374151"/>
                </a:solidFill>
                <a:effectLst/>
                <a:latin typeface="Söhne"/>
              </a:rPr>
              <a:t>: This section should include a brief overview of the key competitors in the company's market. This could include information such as their market share, size, and positioning.</a:t>
            </a:r>
          </a:p>
          <a:p>
            <a:pPr marL="228600" indent="-228600" algn="l">
              <a:buFont typeface="+mj-lt"/>
              <a:buAutoNum type="arabicPeriod"/>
            </a:pPr>
            <a:r>
              <a:rPr lang="en-US" sz="1200" i="0" dirty="0">
                <a:solidFill>
                  <a:srgbClr val="374151"/>
                </a:solidFill>
                <a:effectLst/>
                <a:latin typeface="Söhne"/>
              </a:rPr>
              <a:t>Recent Developments</a:t>
            </a:r>
            <a:r>
              <a:rPr lang="en-US" sz="1200" b="0" i="0" dirty="0">
                <a:solidFill>
                  <a:srgbClr val="374151"/>
                </a:solidFill>
                <a:effectLst/>
                <a:latin typeface="Söhne"/>
              </a:rPr>
              <a:t>: This section should provide a summary of any recent news or developments related to the company's key competitors. This could include information such as new product launches, changes in leadership, or major acquisitions.</a:t>
            </a:r>
          </a:p>
          <a:p>
            <a:pPr marL="228600" indent="-228600" algn="l">
              <a:buFont typeface="+mj-lt"/>
              <a:buAutoNum type="arabicPeriod"/>
            </a:pPr>
            <a:r>
              <a:rPr lang="en-US" sz="1200" i="0" dirty="0">
                <a:solidFill>
                  <a:srgbClr val="374151"/>
                </a:solidFill>
                <a:effectLst/>
                <a:latin typeface="Söhne"/>
              </a:rPr>
              <a:t>Analysis</a:t>
            </a:r>
            <a:r>
              <a:rPr lang="en-US" sz="1200" b="0" i="0" dirty="0">
                <a:solidFill>
                  <a:srgbClr val="374151"/>
                </a:solidFill>
                <a:effectLst/>
                <a:latin typeface="Söhne"/>
              </a:rPr>
              <a:t>: This section should provide an analysis of the competitive landscape, highlighting any trends or shifts in the market that may impact the company's position. It should also include an assessment of the company's strengths and weaknesses relative to its competitors.</a:t>
            </a:r>
          </a:p>
          <a:p>
            <a:pPr marL="228600" indent="-228600" algn="l">
              <a:buFont typeface="+mj-lt"/>
              <a:buAutoNum type="arabicPeriod"/>
            </a:pPr>
            <a:r>
              <a:rPr lang="en-US" sz="1200" i="0" dirty="0">
                <a:solidFill>
                  <a:srgbClr val="374151"/>
                </a:solidFill>
                <a:effectLst/>
                <a:latin typeface="Söhne"/>
              </a:rPr>
              <a:t>Recommendations</a:t>
            </a:r>
            <a:r>
              <a:rPr lang="en-US" sz="1200" b="0" i="0" dirty="0">
                <a:solidFill>
                  <a:srgbClr val="374151"/>
                </a:solidFill>
                <a:effectLst/>
                <a:latin typeface="Söhne"/>
              </a:rPr>
              <a:t>: This section should include recommendations for how the company can maintain or improve its competitive position. This could include strategies for differentiation, product development, or partnerships with other companies.</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1252884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Branding &amp; Marketing Materials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algn="l"/>
            <a:r>
              <a:rPr lang="en-US" sz="1200" b="0" i="0" dirty="0">
                <a:solidFill>
                  <a:srgbClr val="374151"/>
                </a:solidFill>
                <a:effectLst/>
                <a:latin typeface="Söhne"/>
              </a:rPr>
              <a:t>This slide would feature an overview of the branding and marketing materials used by the company during the quarter. This slide should include the following:</a:t>
            </a:r>
          </a:p>
          <a:p>
            <a:pPr marL="228600" indent="-228600" algn="l">
              <a:buFont typeface="+mj-lt"/>
              <a:buAutoNum type="arabicPeriod"/>
            </a:pPr>
            <a:r>
              <a:rPr lang="en-US" sz="1200" b="0" dirty="0">
                <a:solidFill>
                  <a:srgbClr val="374151"/>
                </a:solidFill>
                <a:latin typeface="Söhne"/>
              </a:rPr>
              <a:t>A</a:t>
            </a:r>
            <a:r>
              <a:rPr lang="en-US" sz="1200" b="0" i="0" dirty="0">
                <a:solidFill>
                  <a:srgbClr val="374151"/>
                </a:solidFill>
                <a:effectLst/>
                <a:latin typeface="Söhne"/>
              </a:rPr>
              <a:t> list of the different types of marketing materials used such as television commercials, social media campaigns, print ads, etc.</a:t>
            </a:r>
          </a:p>
          <a:p>
            <a:pPr marL="228600" indent="-228600" algn="l">
              <a:buFont typeface="+mj-lt"/>
              <a:buAutoNum type="arabicPeriod"/>
            </a:pPr>
            <a:r>
              <a:rPr lang="en-US" sz="1200" b="0" dirty="0">
                <a:solidFill>
                  <a:srgbClr val="374151"/>
                </a:solidFill>
                <a:latin typeface="Söhne"/>
              </a:rPr>
              <a:t>E</a:t>
            </a:r>
            <a:r>
              <a:rPr lang="en-US" sz="1200" b="0" i="0" dirty="0">
                <a:solidFill>
                  <a:srgbClr val="374151"/>
                </a:solidFill>
                <a:effectLst/>
                <a:latin typeface="Söhne"/>
              </a:rPr>
              <a:t>xamples of the company's marketing collateral such as images of print ads, screenshots of social media posts, and stills from TV commercials.</a:t>
            </a:r>
          </a:p>
          <a:p>
            <a:pPr marL="228600" indent="-228600" algn="l">
              <a:buFont typeface="+mj-lt"/>
              <a:buAutoNum type="arabicPeriod"/>
            </a:pPr>
            <a:r>
              <a:rPr lang="en-US" sz="1200" b="0" i="0" dirty="0">
                <a:solidFill>
                  <a:srgbClr val="374151"/>
                </a:solidFill>
                <a:effectLst/>
                <a:latin typeface="Söhne"/>
              </a:rPr>
              <a:t>Highlight any new branding initiatives or campaigns that the company launched during the quarter, along with the goals and objectives of these initiatives.</a:t>
            </a:r>
          </a:p>
          <a:p>
            <a:pPr marL="228600" indent="-228600" algn="l">
              <a:buFont typeface="+mj-lt"/>
              <a:buAutoNum type="arabicPeriod"/>
            </a:pPr>
            <a:r>
              <a:rPr lang="en-US" sz="1200" b="0" dirty="0">
                <a:solidFill>
                  <a:srgbClr val="374151"/>
                </a:solidFill>
                <a:latin typeface="Söhne"/>
              </a:rPr>
              <a:t>A</a:t>
            </a:r>
            <a:r>
              <a:rPr lang="en-US" sz="1200" b="0" i="0" dirty="0">
                <a:solidFill>
                  <a:srgbClr val="374151"/>
                </a:solidFill>
                <a:effectLst/>
                <a:latin typeface="Söhne"/>
              </a:rPr>
              <a:t>n overview of the company's overall marketing strategy and how it aligns with the company's broader business goals and objectives.</a:t>
            </a:r>
          </a:p>
          <a:p>
            <a:pPr marL="228600" indent="-228600" algn="l">
              <a:buFont typeface="+mj-lt"/>
              <a:buAutoNum type="arabicPeriod"/>
            </a:pPr>
            <a:r>
              <a:rPr lang="en-US" sz="1200" b="0" i="0" dirty="0">
                <a:solidFill>
                  <a:srgbClr val="374151"/>
                </a:solidFill>
                <a:effectLst/>
                <a:latin typeface="Söhne"/>
              </a:rPr>
              <a:t>The slide could be accompanied by metrics such as website traffic, social media engagement rates, and other relevant KPIs to measure the effectiveness of the company's marketing efforts.</a:t>
            </a:r>
          </a:p>
        </p:txBody>
      </p:sp>
    </p:spTree>
    <p:extLst>
      <p:ext uri="{BB962C8B-B14F-4D97-AF65-F5344CB8AC3E}">
        <p14:creationId xmlns:p14="http://schemas.microsoft.com/office/powerpoint/2010/main" val="29042080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Website</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b="0" i="0" dirty="0">
                <a:solidFill>
                  <a:srgbClr val="374151"/>
                </a:solidFill>
                <a:effectLst/>
                <a:latin typeface="Söhne"/>
              </a:rPr>
              <a:t>A brief overview of any major changes made to the company's website during the reporting period, including new features or pages added, any redesigns, or updates to existing content. This could be summarized in bullet points or shown visually through screenshots of the website.</a:t>
            </a:r>
          </a:p>
          <a:p>
            <a:pPr marL="228600" indent="-228600" algn="l">
              <a:buFont typeface="+mj-lt"/>
              <a:buAutoNum type="arabicPeriod"/>
            </a:pPr>
            <a:r>
              <a:rPr lang="en-US" sz="1200" b="0" i="0" dirty="0">
                <a:solidFill>
                  <a:srgbClr val="374151"/>
                </a:solidFill>
                <a:effectLst/>
                <a:latin typeface="Söhne"/>
              </a:rPr>
              <a:t>A report on website traffic with a breakdown of sources of traffic, such as direct, organic search, paid search, referral, social media, and email marketing. This could be displayed in a graph or chart to make it easier to understand.</a:t>
            </a:r>
          </a:p>
          <a:p>
            <a:pPr marL="228600" indent="-228600" algn="l">
              <a:buFont typeface="+mj-lt"/>
              <a:buAutoNum type="arabicPeriod"/>
            </a:pPr>
            <a:r>
              <a:rPr lang="en-US" sz="1200" b="0" i="0" dirty="0">
                <a:solidFill>
                  <a:srgbClr val="374151"/>
                </a:solidFill>
                <a:effectLst/>
                <a:latin typeface="Söhne"/>
              </a:rPr>
              <a:t>Trends in key metrics such as the conversion rate, bounce rate, time on site, pages per visit, and average session duration. This could be shown through visual aids such as line charts, bar graphs, or tables.</a:t>
            </a:r>
          </a:p>
          <a:p>
            <a:pPr marL="228600" indent="-228600" algn="l">
              <a:buFont typeface="+mj-lt"/>
              <a:buAutoNum type="arabicPeriod"/>
            </a:pPr>
            <a:r>
              <a:rPr lang="en-US" sz="1200" b="0" i="0" dirty="0">
                <a:solidFill>
                  <a:srgbClr val="374151"/>
                </a:solidFill>
                <a:effectLst/>
                <a:latin typeface="Söhne"/>
              </a:rPr>
              <a:t>Any significant insights or findings related to website performance, such as opportunities for optimization or areas of improvement, along with recommended actions to take in response. This could be presented in bullet points or as a summary paragraph.</a:t>
            </a:r>
          </a:p>
        </p:txBody>
      </p:sp>
    </p:spTree>
    <p:extLst>
      <p:ext uri="{BB962C8B-B14F-4D97-AF65-F5344CB8AC3E}">
        <p14:creationId xmlns:p14="http://schemas.microsoft.com/office/powerpoint/2010/main" val="13568031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Social Media</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dirty="0">
                <a:solidFill>
                  <a:srgbClr val="374151"/>
                </a:solidFill>
                <a:latin typeface="Söhne"/>
              </a:rPr>
              <a:t>Introduction</a:t>
            </a:r>
            <a:r>
              <a:rPr lang="en-US" sz="1200" b="0" dirty="0">
                <a:solidFill>
                  <a:srgbClr val="374151"/>
                </a:solidFill>
                <a:latin typeface="Söhne"/>
              </a:rPr>
              <a:t>: Provide a brief introduction to the importance of social media in the company's overall marketing and communication strategy. Explain how social media platforms enable the company to engage with customers, build brand awareness, and drive business growth.</a:t>
            </a:r>
          </a:p>
          <a:p>
            <a:pPr marL="228600" indent="-228600" algn="l">
              <a:buFont typeface="+mj-lt"/>
              <a:buAutoNum type="arabicPeriod"/>
            </a:pPr>
            <a:r>
              <a:rPr lang="en-US" sz="1200" dirty="0">
                <a:solidFill>
                  <a:srgbClr val="374151"/>
                </a:solidFill>
                <a:latin typeface="Söhne"/>
              </a:rPr>
              <a:t>Social Media Channels</a:t>
            </a:r>
            <a:r>
              <a:rPr lang="en-US" sz="1200" b="0" dirty="0">
                <a:solidFill>
                  <a:srgbClr val="374151"/>
                </a:solidFill>
                <a:latin typeface="Söhne"/>
              </a:rPr>
              <a:t>: Display the company's official social media channels prominently including the number of followers or subscribers on each platform.</a:t>
            </a:r>
          </a:p>
          <a:p>
            <a:pPr marL="228600" indent="-228600" algn="l">
              <a:buFont typeface="+mj-lt"/>
              <a:buAutoNum type="arabicPeriod"/>
            </a:pPr>
            <a:r>
              <a:rPr lang="en-US" sz="1200" dirty="0">
                <a:solidFill>
                  <a:srgbClr val="374151"/>
                </a:solidFill>
                <a:latin typeface="Söhne"/>
              </a:rPr>
              <a:t>Content Strategy</a:t>
            </a:r>
            <a:r>
              <a:rPr lang="en-US" sz="1200" b="0" dirty="0">
                <a:solidFill>
                  <a:srgbClr val="374151"/>
                </a:solidFill>
                <a:latin typeface="Söhne"/>
              </a:rPr>
              <a:t>: Highlight the company's social media content strategy. Describe the types of content shared on social media platforms, such as product updates, promotions, industry insights, thought leadership, behind-the-scenes content, or user-generated content. Emphasize how the content aligns with the company's brand voice and resonates with the target audience.</a:t>
            </a:r>
          </a:p>
          <a:p>
            <a:pPr marL="228600" indent="-228600" algn="l">
              <a:buFont typeface="+mj-lt"/>
              <a:buAutoNum type="arabicPeriod"/>
            </a:pPr>
            <a:r>
              <a:rPr lang="en-US" sz="1200" dirty="0">
                <a:solidFill>
                  <a:srgbClr val="374151"/>
                </a:solidFill>
                <a:latin typeface="Söhne"/>
              </a:rPr>
              <a:t>Engagement Metrics</a:t>
            </a:r>
            <a:r>
              <a:rPr lang="en-US" sz="1200" b="0" dirty="0">
                <a:solidFill>
                  <a:srgbClr val="374151"/>
                </a:solidFill>
                <a:latin typeface="Söhne"/>
              </a:rPr>
              <a:t>: Present key social media engagement metrics to demonstrate the effectiveness of the company's social media presence. Include metrics such as likes, comments, shares, retweets, reach, impressions, and click-through rates. Showcase growth trends over time or compare metrics across different periods.</a:t>
            </a:r>
          </a:p>
          <a:p>
            <a:pPr marL="228600" indent="-228600" algn="l">
              <a:buFont typeface="+mj-lt"/>
              <a:buAutoNum type="arabicPeriod"/>
            </a:pPr>
            <a:r>
              <a:rPr lang="en-US" sz="1200" dirty="0">
                <a:solidFill>
                  <a:srgbClr val="374151"/>
                </a:solidFill>
                <a:latin typeface="Söhne"/>
              </a:rPr>
              <a:t>Customer Feedback and Reviews</a:t>
            </a:r>
            <a:r>
              <a:rPr lang="en-US" sz="1200" b="0" dirty="0">
                <a:solidFill>
                  <a:srgbClr val="374151"/>
                </a:solidFill>
                <a:latin typeface="Söhne"/>
              </a:rPr>
              <a:t>: Highlight customer feedback and reviews received through social media platforms. Include positive testimonials, user-generated content, or customer success stories shared by customers on social media. </a:t>
            </a:r>
          </a:p>
          <a:p>
            <a:pPr marL="228600" indent="-228600" algn="l">
              <a:buFont typeface="+mj-lt"/>
              <a:buAutoNum type="arabicPeriod"/>
            </a:pPr>
            <a:r>
              <a:rPr lang="en-US" sz="1200" dirty="0">
                <a:solidFill>
                  <a:srgbClr val="374151"/>
                </a:solidFill>
                <a:latin typeface="Söhne"/>
              </a:rPr>
              <a:t>Influencer Partnerships</a:t>
            </a:r>
            <a:r>
              <a:rPr lang="en-US" sz="1200" b="0" dirty="0">
                <a:solidFill>
                  <a:srgbClr val="374151"/>
                </a:solidFill>
                <a:latin typeface="Söhne"/>
              </a:rPr>
              <a:t>: Highlight any partnerships with social media influencers or brand ambassadors. Mention notable collaborations or campaigns that helped increase brand visibility and reach a wider audience. Showcase examples of influencer-generated content and its impact on engagement or brand sentiment.</a:t>
            </a:r>
          </a:p>
          <a:p>
            <a:pPr marL="228600" indent="-228600" algn="l">
              <a:buFont typeface="+mj-lt"/>
              <a:buAutoNum type="arabicPeriod"/>
            </a:pPr>
            <a:r>
              <a:rPr lang="en-US" sz="1200" dirty="0">
                <a:solidFill>
                  <a:srgbClr val="374151"/>
                </a:solidFill>
                <a:latin typeface="Söhne"/>
              </a:rPr>
              <a:t>Social Media Advertising</a:t>
            </a:r>
            <a:r>
              <a:rPr lang="en-US" sz="1200" b="0" dirty="0">
                <a:solidFill>
                  <a:srgbClr val="374151"/>
                </a:solidFill>
                <a:latin typeface="Söhne"/>
              </a:rPr>
              <a:t>: Discuss the company's social media advertising initiatives. Highlight any successful advertising campaigns or promotions run on social media platforms. Mention key metrics such as ad impressions, click-through rates, conversions, or return on ad spend (ROAS) to demonstrate the effectiveness of social media advertising.</a:t>
            </a:r>
          </a:p>
          <a:p>
            <a:pPr marL="228600" indent="-228600" algn="l">
              <a:buFont typeface="+mj-lt"/>
              <a:buAutoNum type="arabicPeriod"/>
            </a:pPr>
            <a:r>
              <a:rPr lang="en-US" sz="1200" dirty="0">
                <a:solidFill>
                  <a:srgbClr val="374151"/>
                </a:solidFill>
                <a:latin typeface="Söhne"/>
              </a:rPr>
              <a:t>Crisis Management</a:t>
            </a:r>
            <a:r>
              <a:rPr lang="en-US" sz="1200" b="0" dirty="0">
                <a:solidFill>
                  <a:srgbClr val="374151"/>
                </a:solidFill>
                <a:latin typeface="Söhne"/>
              </a:rPr>
              <a:t>: Briefly outline the company's approach to handling crises or negative situations on social media. Highlight examples of how the company effectively addressed and resolved customer concerns or reputation issues through social media channels. </a:t>
            </a:r>
          </a:p>
          <a:p>
            <a:pPr marL="228600" indent="-228600" algn="l">
              <a:buFont typeface="+mj-lt"/>
              <a:buAutoNum type="arabicPeriod"/>
            </a:pPr>
            <a:r>
              <a:rPr lang="en-US" sz="1200" dirty="0">
                <a:solidFill>
                  <a:srgbClr val="374151"/>
                </a:solidFill>
                <a:latin typeface="Söhne"/>
              </a:rPr>
              <a:t>Competitor Analysis</a:t>
            </a:r>
            <a:r>
              <a:rPr lang="en-US" sz="1200" b="0" dirty="0">
                <a:solidFill>
                  <a:srgbClr val="374151"/>
                </a:solidFill>
                <a:latin typeface="Söhne"/>
              </a:rPr>
              <a:t>: Provide a summary of the company's performance in comparison to competitors on social media. Include relevant metrics, such as follower growth, engagement rates, or share of voice, to demonstrate the company's position within the industry.</a:t>
            </a:r>
          </a:p>
          <a:p>
            <a:pPr marL="228600" indent="-228600" algn="l">
              <a:buFont typeface="+mj-lt"/>
              <a:buAutoNum type="arabicPeriod"/>
            </a:pPr>
            <a:r>
              <a:rPr lang="en-US" sz="1200" dirty="0">
                <a:solidFill>
                  <a:srgbClr val="374151"/>
                </a:solidFill>
                <a:latin typeface="Söhne"/>
              </a:rPr>
              <a:t>Conclusion</a:t>
            </a:r>
            <a:r>
              <a:rPr lang="en-US" sz="1200" b="0" dirty="0">
                <a:solidFill>
                  <a:srgbClr val="374151"/>
                </a:solidFill>
                <a:latin typeface="Söhne"/>
              </a:rPr>
              <a:t>: Summarize the key points mentioned in the slide. Reinforce the importance of social media as a strategic tool for brand building, customer engagement, and market presence.</a:t>
            </a:r>
            <a:endParaRPr lang="en-US" sz="1200" b="0" i="0" dirty="0">
              <a:solidFill>
                <a:srgbClr val="374151"/>
              </a:solidFill>
              <a:effectLst/>
              <a:latin typeface="Söhne"/>
            </a:endParaRPr>
          </a:p>
        </p:txBody>
      </p:sp>
    </p:spTree>
    <p:extLst>
      <p:ext uri="{BB962C8B-B14F-4D97-AF65-F5344CB8AC3E}">
        <p14:creationId xmlns:p14="http://schemas.microsoft.com/office/powerpoint/2010/main" val="3785264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Industry Events &amp; Conferences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algn="l"/>
            <a:r>
              <a:rPr lang="en-US" sz="1200" b="0" i="0" dirty="0">
                <a:solidFill>
                  <a:srgbClr val="374151"/>
                </a:solidFill>
                <a:effectLst/>
                <a:latin typeface="Söhne"/>
              </a:rPr>
              <a:t>This slide should provide a summary of the industry events and conferences attended by the company during the quarter. The slide should be visually engaging, with the company logo and relevant images used to support the content. </a:t>
            </a:r>
            <a:r>
              <a:rPr lang="en-US" sz="1200" b="0" dirty="0">
                <a:solidFill>
                  <a:srgbClr val="374151"/>
                </a:solidFill>
                <a:latin typeface="Söhne"/>
              </a:rPr>
              <a:t>It should include t</a:t>
            </a:r>
            <a:r>
              <a:rPr lang="en-US" sz="1200" b="0" i="0" dirty="0">
                <a:solidFill>
                  <a:srgbClr val="374151"/>
                </a:solidFill>
                <a:effectLst/>
                <a:latin typeface="Söhne"/>
              </a:rPr>
              <a:t>he following information:</a:t>
            </a:r>
          </a:p>
          <a:p>
            <a:pPr marL="228600" indent="-228600" algn="l">
              <a:buFont typeface="+mj-lt"/>
              <a:buAutoNum type="arabicPeriod"/>
            </a:pPr>
            <a:r>
              <a:rPr lang="en-US" sz="1200" b="0" i="0" dirty="0">
                <a:solidFill>
                  <a:srgbClr val="374151"/>
                </a:solidFill>
                <a:effectLst/>
                <a:latin typeface="Söhne"/>
              </a:rPr>
              <a:t>A brief introduction of the slide with a summary of the industry events and conferences attended during the quarter.</a:t>
            </a:r>
          </a:p>
          <a:p>
            <a:pPr marL="228600" indent="-228600" algn="l">
              <a:buFont typeface="+mj-lt"/>
              <a:buAutoNum type="arabicPeriod"/>
            </a:pPr>
            <a:r>
              <a:rPr lang="en-US" sz="1200" b="0" i="0" dirty="0">
                <a:solidFill>
                  <a:srgbClr val="374151"/>
                </a:solidFill>
                <a:effectLst/>
                <a:latin typeface="Söhne"/>
              </a:rPr>
              <a:t>The list of events with the event name, date, location, and a brief description of the event.</a:t>
            </a:r>
          </a:p>
          <a:p>
            <a:pPr marL="228600" indent="-228600" algn="l">
              <a:buFont typeface="+mj-lt"/>
              <a:buAutoNum type="arabicPeriod"/>
            </a:pPr>
            <a:r>
              <a:rPr lang="en-US" sz="1200" b="0" i="0" dirty="0">
                <a:solidFill>
                  <a:srgbClr val="374151"/>
                </a:solidFill>
                <a:effectLst/>
                <a:latin typeface="Söhne"/>
              </a:rPr>
              <a:t>Supporting images or graphics, such as pictures from the events, or logos of the event sponsors.</a:t>
            </a:r>
          </a:p>
          <a:p>
            <a:pPr marL="228600" indent="-228600" algn="l">
              <a:buFont typeface="+mj-lt"/>
              <a:buAutoNum type="arabicPeriod"/>
            </a:pPr>
            <a:r>
              <a:rPr lang="en-US" sz="1200" b="0" i="0" dirty="0">
                <a:solidFill>
                  <a:srgbClr val="374151"/>
                </a:solidFill>
                <a:effectLst/>
                <a:latin typeface="Söhne"/>
              </a:rPr>
              <a:t>Any key takeaways or outcomes from the events, such as networking opportunities or new insights gained.</a:t>
            </a:r>
          </a:p>
          <a:p>
            <a:pPr marL="228600" indent="-228600" algn="l">
              <a:buFont typeface="+mj-lt"/>
              <a:buAutoNum type="arabicPeriod"/>
            </a:pPr>
            <a:r>
              <a:rPr lang="en-US" sz="1200" b="0" i="0" dirty="0">
                <a:solidFill>
                  <a:srgbClr val="374151"/>
                </a:solidFill>
                <a:effectLst/>
                <a:latin typeface="Söhne"/>
              </a:rPr>
              <a:t>Recommendations for future attendance or participation in similar events based on the outcomes and impact of the events attended.</a:t>
            </a:r>
          </a:p>
          <a:p>
            <a:pPr marL="228600" indent="-228600" algn="l">
              <a:buFont typeface="+mj-lt"/>
              <a:buAutoNum type="arabicPeriod"/>
            </a:pPr>
            <a:r>
              <a:rPr lang="en-US" sz="1200" b="0" i="0" dirty="0">
                <a:solidFill>
                  <a:srgbClr val="374151"/>
                </a:solidFill>
                <a:effectLst/>
                <a:latin typeface="Söhne"/>
              </a:rPr>
              <a:t>Contact information for any relevant contacts or organizations that were met or discussed during the events, including any follow-up action items.</a:t>
            </a:r>
          </a:p>
          <a:p>
            <a:pPr algn="l"/>
            <a:r>
              <a:rPr lang="en-US" sz="1200" b="0" i="0" dirty="0">
                <a:solidFill>
                  <a:srgbClr val="374151"/>
                </a:solidFill>
                <a:effectLst/>
                <a:latin typeface="Söhne"/>
              </a:rPr>
              <a:t>Overall, the slide should provide a comprehensive overview of the company's attendance at relevant industry events and conferences, highlighting any significant benefits or outcomes resulting from participation.</a:t>
            </a:r>
          </a:p>
        </p:txBody>
      </p:sp>
    </p:spTree>
    <p:extLst>
      <p:ext uri="{BB962C8B-B14F-4D97-AF65-F5344CB8AC3E}">
        <p14:creationId xmlns:p14="http://schemas.microsoft.com/office/powerpoint/2010/main" val="9985108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Public Relations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introduction outlining the importance of media coverage for the company and how it impacts its reputation and brand image.</a:t>
            </a:r>
          </a:p>
          <a:p>
            <a:pPr marL="228600" indent="-228600" algn="l">
              <a:buFont typeface="+mj-lt"/>
              <a:buAutoNum type="arabicPeriod"/>
            </a:pPr>
            <a:r>
              <a:rPr lang="en-US" sz="1200" i="0" dirty="0">
                <a:solidFill>
                  <a:srgbClr val="374151"/>
                </a:solidFill>
                <a:effectLst/>
                <a:latin typeface="Söhne"/>
              </a:rPr>
              <a:t>Media outlets covered</a:t>
            </a:r>
            <a:r>
              <a:rPr lang="en-US" sz="1200" b="0" i="0" dirty="0">
                <a:solidFill>
                  <a:srgbClr val="374151"/>
                </a:solidFill>
                <a:effectLst/>
                <a:latin typeface="Söhne"/>
              </a:rPr>
              <a:t>: A list of media outlets that covered the company during the quarter. This can include both positive and negative coverage.</a:t>
            </a:r>
          </a:p>
          <a:p>
            <a:pPr marL="228600" indent="-228600" algn="l">
              <a:buFont typeface="+mj-lt"/>
              <a:buAutoNum type="arabicPeriod"/>
            </a:pPr>
            <a:r>
              <a:rPr lang="en-US" sz="1200" i="0" dirty="0">
                <a:solidFill>
                  <a:srgbClr val="374151"/>
                </a:solidFill>
                <a:effectLst/>
                <a:latin typeface="Söhne"/>
              </a:rPr>
              <a:t>Headlines</a:t>
            </a:r>
            <a:r>
              <a:rPr lang="en-US" sz="1200" b="0" i="0" dirty="0">
                <a:solidFill>
                  <a:srgbClr val="374151"/>
                </a:solidFill>
                <a:effectLst/>
                <a:latin typeface="Söhne"/>
              </a:rPr>
              <a:t>: A selection of headlines from the media outlets listed, showcasing the tone of the coverage.</a:t>
            </a:r>
          </a:p>
          <a:p>
            <a:pPr marL="228600" indent="-228600" algn="l">
              <a:buFont typeface="+mj-lt"/>
              <a:buAutoNum type="arabicPeriod"/>
            </a:pPr>
            <a:r>
              <a:rPr lang="en-US" sz="1200" i="0" dirty="0">
                <a:solidFill>
                  <a:srgbClr val="374151"/>
                </a:solidFill>
                <a:effectLst/>
                <a:latin typeface="Söhne"/>
              </a:rPr>
              <a:t>Analysis</a:t>
            </a:r>
            <a:r>
              <a:rPr lang="en-US" sz="1200" b="0" i="0" dirty="0">
                <a:solidFill>
                  <a:srgbClr val="374151"/>
                </a:solidFill>
                <a:effectLst/>
                <a:latin typeface="Söhne"/>
              </a:rPr>
              <a:t>: A brief analysis of the overall sentiment of the coverage (positive, negative, or neutral) and any trends that emerged during the quarter.</a:t>
            </a:r>
          </a:p>
          <a:p>
            <a:pPr marL="228600" indent="-228600" algn="l">
              <a:buFont typeface="+mj-lt"/>
              <a:buAutoNum type="arabicPeriod"/>
            </a:pPr>
            <a:r>
              <a:rPr lang="en-US" sz="1200" i="0" dirty="0">
                <a:solidFill>
                  <a:srgbClr val="374151"/>
                </a:solidFill>
                <a:effectLst/>
                <a:latin typeface="Söhne"/>
              </a:rPr>
              <a:t>Graphs</a:t>
            </a:r>
            <a:r>
              <a:rPr lang="en-US" sz="1200" b="0" i="0" dirty="0">
                <a:solidFill>
                  <a:srgbClr val="374151"/>
                </a:solidFill>
                <a:effectLst/>
                <a:latin typeface="Söhne"/>
              </a:rPr>
              <a:t>: Graphs or charts that visually display the media coverage and sentiment over time or by media outlet.</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conclusion summarizing the key takeaways from the media coverage during the quarter and any actions the company may need to take in response to it.</a:t>
            </a:r>
          </a:p>
        </p:txBody>
      </p:sp>
    </p:spTree>
    <p:extLst>
      <p:ext uri="{BB962C8B-B14F-4D97-AF65-F5344CB8AC3E}">
        <p14:creationId xmlns:p14="http://schemas.microsoft.com/office/powerpoint/2010/main" val="30009458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E4B6F3D-F39D-82FA-3528-A3F1F7B178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E4B6F3D-F39D-82FA-3528-A3F1F7B178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9D66EAD0-976A-9CBA-E440-3B5D7F6C7065}"/>
              </a:ext>
            </a:extLst>
          </p:cNvPr>
          <p:cNvSpPr>
            <a:spLocks noGrp="1"/>
          </p:cNvSpPr>
          <p:nvPr>
            <p:ph type="title"/>
          </p:nvPr>
        </p:nvSpPr>
        <p:spPr/>
        <p:txBody>
          <a:bodyPr vert="horz"/>
          <a:lstStyle/>
          <a:p>
            <a:r>
              <a:rPr lang="en-US" dirty="0"/>
              <a:t>Board Reporting Package Contents</a:t>
            </a:r>
          </a:p>
        </p:txBody>
      </p:sp>
      <p:sp>
        <p:nvSpPr>
          <p:cNvPr id="23" name="Rounded Rectangle 33">
            <a:extLst>
              <a:ext uri="{FF2B5EF4-FFF2-40B4-BE49-F238E27FC236}">
                <a16:creationId xmlns:a16="http://schemas.microsoft.com/office/drawing/2014/main" id="{C82EEC47-011A-3986-C4CD-0F6BF3E13A5C}"/>
              </a:ext>
            </a:extLst>
          </p:cNvPr>
          <p:cNvSpPr/>
          <p:nvPr/>
        </p:nvSpPr>
        <p:spPr>
          <a:xfrm>
            <a:off x="409762" y="853079"/>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CEO &amp; BOARD CHAIR</a:t>
            </a:r>
          </a:p>
        </p:txBody>
      </p:sp>
      <p:sp>
        <p:nvSpPr>
          <p:cNvPr id="54" name="TextBox 53">
            <a:extLst>
              <a:ext uri="{FF2B5EF4-FFF2-40B4-BE49-F238E27FC236}">
                <a16:creationId xmlns:a16="http://schemas.microsoft.com/office/drawing/2014/main" id="{C852F15D-DEBA-82B2-6A49-FB2C85CB3853}"/>
              </a:ext>
            </a:extLst>
          </p:cNvPr>
          <p:cNvSpPr txBox="1"/>
          <p:nvPr/>
        </p:nvSpPr>
        <p:spPr>
          <a:xfrm>
            <a:off x="409762" y="151065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CEO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Board Chair Update</a:t>
            </a:r>
          </a:p>
        </p:txBody>
      </p:sp>
      <p:sp>
        <p:nvSpPr>
          <p:cNvPr id="55" name="Rounded Rectangle 33">
            <a:extLst>
              <a:ext uri="{FF2B5EF4-FFF2-40B4-BE49-F238E27FC236}">
                <a16:creationId xmlns:a16="http://schemas.microsoft.com/office/drawing/2014/main" id="{95A91E49-9A8A-96D6-533B-2C56F869D32F}"/>
              </a:ext>
            </a:extLst>
          </p:cNvPr>
          <p:cNvSpPr/>
          <p:nvPr/>
        </p:nvSpPr>
        <p:spPr>
          <a:xfrm>
            <a:off x="9295000" y="2148795"/>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CORPORATE DEVELOPMENT</a:t>
            </a:r>
          </a:p>
        </p:txBody>
      </p:sp>
      <p:sp>
        <p:nvSpPr>
          <p:cNvPr id="56" name="TextBox 55">
            <a:extLst>
              <a:ext uri="{FF2B5EF4-FFF2-40B4-BE49-F238E27FC236}">
                <a16:creationId xmlns:a16="http://schemas.microsoft.com/office/drawing/2014/main" id="{078BE5D7-CBB0-7B3D-AFEE-E049B3EC8AFE}"/>
              </a:ext>
            </a:extLst>
          </p:cNvPr>
          <p:cNvSpPr txBox="1"/>
          <p:nvPr/>
        </p:nvSpPr>
        <p:spPr>
          <a:xfrm>
            <a:off x="9282200" y="2827201"/>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Partnerships &amp; Alliances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Mergers &amp; Acquisitions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Post-merger Integration</a:t>
            </a:r>
          </a:p>
        </p:txBody>
      </p:sp>
      <p:sp>
        <p:nvSpPr>
          <p:cNvPr id="57" name="Rounded Rectangle 33">
            <a:extLst>
              <a:ext uri="{FF2B5EF4-FFF2-40B4-BE49-F238E27FC236}">
                <a16:creationId xmlns:a16="http://schemas.microsoft.com/office/drawing/2014/main" id="{047EDAFC-A516-E05C-A91F-44C7C46FB147}"/>
              </a:ext>
            </a:extLst>
          </p:cNvPr>
          <p:cNvSpPr/>
          <p:nvPr/>
        </p:nvSpPr>
        <p:spPr>
          <a:xfrm>
            <a:off x="9282200" y="3579788"/>
            <a:ext cx="2594695" cy="530969"/>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OTHER CORPORATE FUNCTIONS</a:t>
            </a:r>
          </a:p>
        </p:txBody>
      </p:sp>
      <p:sp>
        <p:nvSpPr>
          <p:cNvPr id="58" name="TextBox 57">
            <a:extLst>
              <a:ext uri="{FF2B5EF4-FFF2-40B4-BE49-F238E27FC236}">
                <a16:creationId xmlns:a16="http://schemas.microsoft.com/office/drawing/2014/main" id="{7A3E0AED-BC63-D8B3-2F56-CAFD1E971E31}"/>
              </a:ext>
            </a:extLst>
          </p:cNvPr>
          <p:cNvSpPr txBox="1"/>
          <p:nvPr/>
        </p:nvSpPr>
        <p:spPr>
          <a:xfrm>
            <a:off x="9282200" y="4264916"/>
            <a:ext cx="2620293" cy="1687284"/>
          </a:xfrm>
          <a:prstGeom prst="rect">
            <a:avLst/>
          </a:prstGeom>
          <a:noFill/>
        </p:spPr>
        <p:txBody>
          <a:bodyPr wrap="square" lIns="0" tIns="0" rIns="0" bIns="0" rtlCol="0">
            <a:noAutofit/>
          </a:bodyPr>
          <a:lstStyle/>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Intellectual Property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Risk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Legal &amp; Regulatory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Litigation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Investor Relations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Community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ESG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Sustainability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Awards &amp; Recognition</a:t>
            </a:r>
          </a:p>
        </p:txBody>
      </p:sp>
      <p:sp>
        <p:nvSpPr>
          <p:cNvPr id="59" name="Rounded Rectangle 33">
            <a:extLst>
              <a:ext uri="{FF2B5EF4-FFF2-40B4-BE49-F238E27FC236}">
                <a16:creationId xmlns:a16="http://schemas.microsoft.com/office/drawing/2014/main" id="{92BD0F0E-08AC-37AD-FD60-1F03343DE46E}"/>
              </a:ext>
            </a:extLst>
          </p:cNvPr>
          <p:cNvSpPr/>
          <p:nvPr/>
        </p:nvSpPr>
        <p:spPr>
          <a:xfrm>
            <a:off x="384173" y="2005691"/>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AGENDA</a:t>
            </a:r>
          </a:p>
        </p:txBody>
      </p:sp>
      <p:sp>
        <p:nvSpPr>
          <p:cNvPr id="60" name="Rounded Rectangle 33">
            <a:extLst>
              <a:ext uri="{FF2B5EF4-FFF2-40B4-BE49-F238E27FC236}">
                <a16:creationId xmlns:a16="http://schemas.microsoft.com/office/drawing/2014/main" id="{CB90976E-C934-E589-3C43-C6536961F66B}"/>
              </a:ext>
            </a:extLst>
          </p:cNvPr>
          <p:cNvSpPr/>
          <p:nvPr/>
        </p:nvSpPr>
        <p:spPr>
          <a:xfrm>
            <a:off x="3371511" y="842768"/>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PRODUCT</a:t>
            </a:r>
          </a:p>
        </p:txBody>
      </p:sp>
      <p:sp>
        <p:nvSpPr>
          <p:cNvPr id="61" name="Rounded Rectangle 33">
            <a:extLst>
              <a:ext uri="{FF2B5EF4-FFF2-40B4-BE49-F238E27FC236}">
                <a16:creationId xmlns:a16="http://schemas.microsoft.com/office/drawing/2014/main" id="{7FA80707-EFC9-FBBD-95A3-C53653725FD5}"/>
              </a:ext>
            </a:extLst>
          </p:cNvPr>
          <p:cNvSpPr/>
          <p:nvPr/>
        </p:nvSpPr>
        <p:spPr>
          <a:xfrm>
            <a:off x="3371510" y="221609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MARKETING</a:t>
            </a:r>
          </a:p>
        </p:txBody>
      </p:sp>
      <p:sp>
        <p:nvSpPr>
          <p:cNvPr id="62" name="TextBox 61">
            <a:extLst>
              <a:ext uri="{FF2B5EF4-FFF2-40B4-BE49-F238E27FC236}">
                <a16:creationId xmlns:a16="http://schemas.microsoft.com/office/drawing/2014/main" id="{30745068-3C50-A3AC-D3F9-F374532A853E}"/>
              </a:ext>
            </a:extLst>
          </p:cNvPr>
          <p:cNvSpPr txBox="1"/>
          <p:nvPr/>
        </p:nvSpPr>
        <p:spPr>
          <a:xfrm>
            <a:off x="409762" y="3815874"/>
            <a:ext cx="2620293" cy="2923758"/>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Financial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Income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Cash Flow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Balance Sheet</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Revenue Breakdown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Operating Expenses Breakdown</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Cost Reduction Initiatives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Profitability Analysis/ROI</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Working Capital Analysis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Receivable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Payable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Expenditures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Raising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Debt Overview &amp; Refinancing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Tax</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Property &amp; Real Estate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Foreign Currency Exposure</a:t>
            </a:r>
          </a:p>
        </p:txBody>
      </p:sp>
      <p:sp>
        <p:nvSpPr>
          <p:cNvPr id="1025" name="TextBox 1024">
            <a:extLst>
              <a:ext uri="{FF2B5EF4-FFF2-40B4-BE49-F238E27FC236}">
                <a16:creationId xmlns:a16="http://schemas.microsoft.com/office/drawing/2014/main" id="{02F92317-B039-B079-BB61-FC63C637FB38}"/>
              </a:ext>
            </a:extLst>
          </p:cNvPr>
          <p:cNvSpPr txBox="1"/>
          <p:nvPr/>
        </p:nvSpPr>
        <p:spPr>
          <a:xfrm>
            <a:off x="3371511" y="151559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Development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Research &amp;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Roadmap</a:t>
            </a:r>
          </a:p>
        </p:txBody>
      </p:sp>
      <p:sp>
        <p:nvSpPr>
          <p:cNvPr id="1026" name="TextBox 1025">
            <a:extLst>
              <a:ext uri="{FF2B5EF4-FFF2-40B4-BE49-F238E27FC236}">
                <a16:creationId xmlns:a16="http://schemas.microsoft.com/office/drawing/2014/main" id="{CC1A5311-249B-C428-EBB6-A72E016472C6}"/>
              </a:ext>
            </a:extLst>
          </p:cNvPr>
          <p:cNvSpPr txBox="1"/>
          <p:nvPr/>
        </p:nvSpPr>
        <p:spPr>
          <a:xfrm>
            <a:off x="3371511" y="286130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Initiatives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Expansion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ROI</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Pricing Strategy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Data &amp; Analytics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Advertising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Competitors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Branding &amp; Marketing Materials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Website</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Social Media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Industry Events &amp; Conferences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Public Relations</a:t>
            </a:r>
          </a:p>
        </p:txBody>
      </p:sp>
      <p:sp>
        <p:nvSpPr>
          <p:cNvPr id="1027" name="Rounded Rectangle 33">
            <a:extLst>
              <a:ext uri="{FF2B5EF4-FFF2-40B4-BE49-F238E27FC236}">
                <a16:creationId xmlns:a16="http://schemas.microsoft.com/office/drawing/2014/main" id="{D14AE144-6082-3A53-FA31-003FBCFBEE2C}"/>
              </a:ext>
            </a:extLst>
          </p:cNvPr>
          <p:cNvSpPr/>
          <p:nvPr/>
        </p:nvSpPr>
        <p:spPr>
          <a:xfrm>
            <a:off x="3371509" y="5245342"/>
            <a:ext cx="2594695" cy="533400"/>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SALES</a:t>
            </a:r>
          </a:p>
        </p:txBody>
      </p:sp>
      <p:sp>
        <p:nvSpPr>
          <p:cNvPr id="1028" name="TextBox 1027">
            <a:extLst>
              <a:ext uri="{FF2B5EF4-FFF2-40B4-BE49-F238E27FC236}">
                <a16:creationId xmlns:a16="http://schemas.microsoft.com/office/drawing/2014/main" id="{F1DE495A-583A-63C4-C570-434B9345A842}"/>
              </a:ext>
            </a:extLst>
          </p:cNvPr>
          <p:cNvSpPr txBox="1"/>
          <p:nvPr/>
        </p:nvSpPr>
        <p:spPr>
          <a:xfrm>
            <a:off x="3371511" y="589055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Pipeline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Team Performance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Region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Channel</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Channel Partners</a:t>
            </a:r>
          </a:p>
        </p:txBody>
      </p:sp>
      <p:sp>
        <p:nvSpPr>
          <p:cNvPr id="1029" name="Rounded Rectangle 33">
            <a:extLst>
              <a:ext uri="{FF2B5EF4-FFF2-40B4-BE49-F238E27FC236}">
                <a16:creationId xmlns:a16="http://schemas.microsoft.com/office/drawing/2014/main" id="{E46F2696-EE7E-BBE9-9BF4-4DC8BC64543E}"/>
              </a:ext>
            </a:extLst>
          </p:cNvPr>
          <p:cNvSpPr/>
          <p:nvPr/>
        </p:nvSpPr>
        <p:spPr>
          <a:xfrm>
            <a:off x="6333261" y="2511844"/>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CUSTOMERS</a:t>
            </a:r>
          </a:p>
        </p:txBody>
      </p:sp>
      <p:sp>
        <p:nvSpPr>
          <p:cNvPr id="1030" name="Rounded Rectangle 33">
            <a:extLst>
              <a:ext uri="{FF2B5EF4-FFF2-40B4-BE49-F238E27FC236}">
                <a16:creationId xmlns:a16="http://schemas.microsoft.com/office/drawing/2014/main" id="{E5838DA9-13C2-4188-6172-7E7C7EDFA057}"/>
              </a:ext>
            </a:extLst>
          </p:cNvPr>
          <p:cNvSpPr/>
          <p:nvPr/>
        </p:nvSpPr>
        <p:spPr>
          <a:xfrm>
            <a:off x="6333261" y="846554"/>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OPERATIONS AND SUPPLY CHAIN</a:t>
            </a:r>
          </a:p>
        </p:txBody>
      </p:sp>
      <p:sp>
        <p:nvSpPr>
          <p:cNvPr id="1032" name="Rounded Rectangle 33">
            <a:extLst>
              <a:ext uri="{FF2B5EF4-FFF2-40B4-BE49-F238E27FC236}">
                <a16:creationId xmlns:a16="http://schemas.microsoft.com/office/drawing/2014/main" id="{A5872E9A-5A2E-D1A6-AEC1-30E6373A0CF4}"/>
              </a:ext>
            </a:extLst>
          </p:cNvPr>
          <p:cNvSpPr/>
          <p:nvPr/>
        </p:nvSpPr>
        <p:spPr>
          <a:xfrm>
            <a:off x="9295011" y="865239"/>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INFORMATION TECHNOLOGY</a:t>
            </a:r>
          </a:p>
        </p:txBody>
      </p:sp>
      <p:sp>
        <p:nvSpPr>
          <p:cNvPr id="1033" name="Rounded Rectangle 33">
            <a:extLst>
              <a:ext uri="{FF2B5EF4-FFF2-40B4-BE49-F238E27FC236}">
                <a16:creationId xmlns:a16="http://schemas.microsoft.com/office/drawing/2014/main" id="{DB676218-8B0C-2374-3190-ADAFBD304B29}"/>
              </a:ext>
            </a:extLst>
          </p:cNvPr>
          <p:cNvSpPr/>
          <p:nvPr/>
        </p:nvSpPr>
        <p:spPr>
          <a:xfrm>
            <a:off x="6333261" y="4356030"/>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HUMAN RESOURCES</a:t>
            </a:r>
          </a:p>
        </p:txBody>
      </p:sp>
      <p:sp>
        <p:nvSpPr>
          <p:cNvPr id="1035" name="TextBox 1034">
            <a:extLst>
              <a:ext uri="{FF2B5EF4-FFF2-40B4-BE49-F238E27FC236}">
                <a16:creationId xmlns:a16="http://schemas.microsoft.com/office/drawing/2014/main" id="{01C116CF-D899-36F7-219D-C1159D8B52D7}"/>
              </a:ext>
            </a:extLst>
          </p:cNvPr>
          <p:cNvSpPr txBox="1"/>
          <p:nvPr/>
        </p:nvSpPr>
        <p:spPr>
          <a:xfrm>
            <a:off x="6358858"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Operations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Supply Chain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Emergency Preparedness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Suppliers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Worker Safety</a:t>
            </a:r>
          </a:p>
        </p:txBody>
      </p:sp>
      <p:sp>
        <p:nvSpPr>
          <p:cNvPr id="1036" name="TextBox 1035">
            <a:extLst>
              <a:ext uri="{FF2B5EF4-FFF2-40B4-BE49-F238E27FC236}">
                <a16:creationId xmlns:a16="http://schemas.microsoft.com/office/drawing/2014/main" id="{6D63E6C1-0425-4437-888A-F3E8D5A060AC}"/>
              </a:ext>
            </a:extLst>
          </p:cNvPr>
          <p:cNvSpPr txBox="1"/>
          <p:nvPr/>
        </p:nvSpPr>
        <p:spPr>
          <a:xfrm>
            <a:off x="6333260" y="3208935"/>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Service</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Satisfaction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Consumer Insights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Case Studies</a:t>
            </a:r>
          </a:p>
        </p:txBody>
      </p:sp>
      <p:sp>
        <p:nvSpPr>
          <p:cNvPr id="1037" name="TextBox 1036">
            <a:extLst>
              <a:ext uri="{FF2B5EF4-FFF2-40B4-BE49-F238E27FC236}">
                <a16:creationId xmlns:a16="http://schemas.microsoft.com/office/drawing/2014/main" id="{2BD1D13D-59B1-D4F8-4E1E-A026079AC144}"/>
              </a:ext>
            </a:extLst>
          </p:cNvPr>
          <p:cNvSpPr txBox="1"/>
          <p:nvPr/>
        </p:nvSpPr>
        <p:spPr>
          <a:xfrm>
            <a:off x="9346205"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IT Infrastructure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Cybersecurity</a:t>
            </a:r>
          </a:p>
        </p:txBody>
      </p:sp>
      <p:sp>
        <p:nvSpPr>
          <p:cNvPr id="1039" name="TextBox 1038">
            <a:extLst>
              <a:ext uri="{FF2B5EF4-FFF2-40B4-BE49-F238E27FC236}">
                <a16:creationId xmlns:a16="http://schemas.microsoft.com/office/drawing/2014/main" id="{7F71797E-DAE7-019D-7E27-5D562C6571DD}"/>
              </a:ext>
            </a:extLst>
          </p:cNvPr>
          <p:cNvSpPr txBox="1"/>
          <p:nvPr/>
        </p:nvSpPr>
        <p:spPr>
          <a:xfrm>
            <a:off x="6333260" y="5052741"/>
            <a:ext cx="2831794"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Human Resources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Organizational 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Leadership Team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Talent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Compensation</a:t>
            </a:r>
            <a:r>
              <a:rPr lang="en-US" sz="1100" dirty="0">
                <a:solidFill>
                  <a:srgbClr val="000000"/>
                </a:solidFill>
                <a:latin typeface="Verdana"/>
              </a:rPr>
              <a:t> and </a:t>
            </a:r>
            <a:r>
              <a:rPr kumimoji="0" lang="en-US" sz="1100" b="0" i="0" u="none" strike="noStrike" kern="1200" cap="none" spc="0" normalizeH="0" baseline="0" noProof="0" dirty="0">
                <a:ln>
                  <a:noFill/>
                </a:ln>
                <a:solidFill>
                  <a:srgbClr val="000000"/>
                </a:solidFill>
                <a:effectLst/>
                <a:uLnTx/>
                <a:uFillTx/>
                <a:latin typeface="Verdana"/>
                <a:ea typeface="+mn-ea"/>
                <a:cs typeface="+mn-cs"/>
              </a:rPr>
              <a:t>Benefits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Learning and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Diversity, Equity, and Inclusion</a:t>
            </a:r>
          </a:p>
        </p:txBody>
      </p:sp>
      <p:sp>
        <p:nvSpPr>
          <p:cNvPr id="2" name="Rounded Rectangle 33">
            <a:extLst>
              <a:ext uri="{FF2B5EF4-FFF2-40B4-BE49-F238E27FC236}">
                <a16:creationId xmlns:a16="http://schemas.microsoft.com/office/drawing/2014/main" id="{1B612D95-4099-846D-D69A-44F681C34655}"/>
              </a:ext>
            </a:extLst>
          </p:cNvPr>
          <p:cNvSpPr/>
          <p:nvPr/>
        </p:nvSpPr>
        <p:spPr>
          <a:xfrm>
            <a:off x="384173" y="3162300"/>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FINANCE</a:t>
            </a:r>
          </a:p>
        </p:txBody>
      </p:sp>
      <p:sp>
        <p:nvSpPr>
          <p:cNvPr id="4" name="TextBox 3">
            <a:extLst>
              <a:ext uri="{FF2B5EF4-FFF2-40B4-BE49-F238E27FC236}">
                <a16:creationId xmlns:a16="http://schemas.microsoft.com/office/drawing/2014/main" id="{F322B9F2-CA67-D5B4-CC60-7F01099438FE}"/>
              </a:ext>
            </a:extLst>
          </p:cNvPr>
          <p:cNvSpPr txBox="1"/>
          <p:nvPr/>
        </p:nvSpPr>
        <p:spPr>
          <a:xfrm>
            <a:off x="384173" y="2663262"/>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Agenda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Previous Meeting Minutes</a:t>
            </a:r>
          </a:p>
        </p:txBody>
      </p:sp>
    </p:spTree>
    <p:extLst>
      <p:ext uri="{BB962C8B-B14F-4D97-AF65-F5344CB8AC3E}">
        <p14:creationId xmlns:p14="http://schemas.microsoft.com/office/powerpoint/2010/main" val="30919637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Sales Pipeline</a:t>
            </a:r>
            <a:br>
              <a:rPr lang="en-US" dirty="0"/>
            </a:br>
            <a:endParaRPr lang="en-US" dirty="0"/>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summary of the company's sales pipeline during the quarter, including the total number of leads, conversion rates, and expected revenue,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Sales pipeline breakdown</a:t>
            </a:r>
            <a:r>
              <a:rPr lang="en-US" sz="1200" b="0" i="0" dirty="0">
                <a:solidFill>
                  <a:srgbClr val="374151"/>
                </a:solidFill>
                <a:effectLst/>
                <a:latin typeface="Söhne"/>
              </a:rPr>
              <a:t>: A breakdown of the sales pipeline by product, service, or customer segment,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Lead sources</a:t>
            </a:r>
            <a:r>
              <a:rPr lang="en-US" sz="1200" b="0" i="0" dirty="0">
                <a:solidFill>
                  <a:srgbClr val="374151"/>
                </a:solidFill>
                <a:effectLst/>
                <a:latin typeface="Söhne"/>
              </a:rPr>
              <a:t>: An analysis of the sources of the leads, such as website traffic, social media, referrals, and paid advertising, and an evaluation of their effectiveness.</a:t>
            </a:r>
          </a:p>
          <a:p>
            <a:pPr marL="228600" indent="-228600" algn="l">
              <a:buFont typeface="+mj-lt"/>
              <a:buAutoNum type="arabicPeriod"/>
            </a:pPr>
            <a:r>
              <a:rPr lang="en-US" sz="1200" i="0" dirty="0">
                <a:solidFill>
                  <a:srgbClr val="374151"/>
                </a:solidFill>
                <a:effectLst/>
                <a:latin typeface="Söhne"/>
              </a:rPr>
              <a:t>Conversion rates</a:t>
            </a:r>
            <a:r>
              <a:rPr lang="en-US" sz="1200" b="0" i="0" dirty="0">
                <a:solidFill>
                  <a:srgbClr val="374151"/>
                </a:solidFill>
                <a:effectLst/>
                <a:latin typeface="Söhne"/>
              </a:rPr>
              <a:t>: An analysis of the conversion rates for each stage of the sales pipeline, including the percentage of leads that progress to the next stage, and an evaluation of their effectiveness.</a:t>
            </a:r>
          </a:p>
          <a:p>
            <a:pPr marL="228600" indent="-228600" algn="l">
              <a:buFont typeface="+mj-lt"/>
              <a:buAutoNum type="arabicPeriod"/>
            </a:pPr>
            <a:r>
              <a:rPr lang="en-US" sz="1200" i="0" dirty="0">
                <a:solidFill>
                  <a:srgbClr val="374151"/>
                </a:solidFill>
                <a:effectLst/>
                <a:latin typeface="Söhne"/>
              </a:rPr>
              <a:t>Sales forecast</a:t>
            </a:r>
            <a:r>
              <a:rPr lang="en-US" sz="1200" b="0" i="0" dirty="0">
                <a:solidFill>
                  <a:srgbClr val="374151"/>
                </a:solidFill>
                <a:effectLst/>
                <a:latin typeface="Söhne"/>
              </a:rPr>
              <a:t>: A sales forecast for the next quarter or year, based on the expected number of leads, conversion rates, and expected revenue.</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company's sales pipeline, such as a funnel chart, to make it easier to visualize the breakdown and trends over time.</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company's sales pipeline during the quarter, including any noteworthy achievements or concerns, and the outlook for the next quarter.</a:t>
            </a:r>
          </a:p>
          <a:p>
            <a:endParaRPr lang="en-US" sz="1200" b="0" dirty="0"/>
          </a:p>
        </p:txBody>
      </p:sp>
    </p:spTree>
    <p:extLst>
      <p:ext uri="{BB962C8B-B14F-4D97-AF65-F5344CB8AC3E}">
        <p14:creationId xmlns:p14="http://schemas.microsoft.com/office/powerpoint/2010/main" val="25059279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Sales Team Performance</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summary of the company's sales team performance during the quarter including the total sales revenue,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Sales by representative</a:t>
            </a:r>
            <a:r>
              <a:rPr lang="en-US" sz="1200" b="0" i="0" dirty="0">
                <a:solidFill>
                  <a:srgbClr val="374151"/>
                </a:solidFill>
                <a:effectLst/>
                <a:latin typeface="Söhne"/>
              </a:rPr>
              <a:t>: A breakdown of sales by each sales representative, including the total sales revenue, number of deals closed, and average deal size, and an analysis of their performance compared to the previous quarter or year.</a:t>
            </a:r>
          </a:p>
          <a:p>
            <a:pPr marL="228600" indent="-228600" algn="l">
              <a:buFont typeface="+mj-lt"/>
              <a:buAutoNum type="arabicPeriod"/>
            </a:pPr>
            <a:r>
              <a:rPr lang="en-US" sz="1200" i="0" dirty="0">
                <a:solidFill>
                  <a:srgbClr val="374151"/>
                </a:solidFill>
                <a:effectLst/>
                <a:latin typeface="Söhne"/>
              </a:rPr>
              <a:t>Conversion rates</a:t>
            </a:r>
            <a:r>
              <a:rPr lang="en-US" sz="1200" b="0" i="0" dirty="0">
                <a:solidFill>
                  <a:srgbClr val="374151"/>
                </a:solidFill>
                <a:effectLst/>
                <a:latin typeface="Söhne"/>
              </a:rPr>
              <a:t>: An analysis of the conversion rates for each sales representative, including the percentage of leads that progress to the next stage and convert into closed deals, and an evaluation of their effectiveness.</a:t>
            </a:r>
          </a:p>
          <a:p>
            <a:pPr marL="228600" indent="-228600" algn="l">
              <a:buFont typeface="+mj-lt"/>
              <a:buAutoNum type="arabicPeriod"/>
            </a:pPr>
            <a:r>
              <a:rPr lang="en-US" sz="1200" i="0" dirty="0">
                <a:solidFill>
                  <a:srgbClr val="374151"/>
                </a:solidFill>
                <a:effectLst/>
                <a:latin typeface="Söhne"/>
              </a:rPr>
              <a:t>Average deal size</a:t>
            </a:r>
            <a:r>
              <a:rPr lang="en-US" sz="1200" b="0" i="0" dirty="0">
                <a:solidFill>
                  <a:srgbClr val="374151"/>
                </a:solidFill>
                <a:effectLst/>
                <a:latin typeface="Söhne"/>
              </a:rPr>
              <a:t>: An analysis of the average deal size for each sales representative, including any significant changes compared to previous quarters or years, and an evaluation of their effectiveness.</a:t>
            </a:r>
          </a:p>
          <a:p>
            <a:pPr marL="228600" indent="-228600" algn="l">
              <a:buFont typeface="+mj-lt"/>
              <a:buAutoNum type="arabicPeriod"/>
            </a:pPr>
            <a:r>
              <a:rPr lang="en-US" sz="1200" i="0" dirty="0">
                <a:solidFill>
                  <a:srgbClr val="374151"/>
                </a:solidFill>
                <a:effectLst/>
                <a:latin typeface="Söhne"/>
              </a:rPr>
              <a:t>Sales cycle time</a:t>
            </a:r>
            <a:r>
              <a:rPr lang="en-US" sz="1200" b="0" i="0" dirty="0">
                <a:solidFill>
                  <a:srgbClr val="374151"/>
                </a:solidFill>
                <a:effectLst/>
                <a:latin typeface="Söhne"/>
              </a:rPr>
              <a:t>: An analysis of the average sales cycle time for each sales representative, including any significant changes compared to previous quarters or years, and an evaluation of their effectiveness.</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sales team performance, such as a bar chart or a scatter plot, to make it easier to visualize the performance of each sales representative and identify any trends or patterns.</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sales team performance during the quarter, including any noteworthy achievements or concerns, and the strategies or initiatives planned to improve the performance in the next quarter.</a:t>
            </a:r>
          </a:p>
        </p:txBody>
      </p:sp>
    </p:spTree>
    <p:extLst>
      <p:ext uri="{BB962C8B-B14F-4D97-AF65-F5344CB8AC3E}">
        <p14:creationId xmlns:p14="http://schemas.microsoft.com/office/powerpoint/2010/main" val="1495837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Sales by Region</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b="0" i="0" dirty="0">
                <a:solidFill>
                  <a:srgbClr val="374151"/>
                </a:solidFill>
                <a:effectLst/>
                <a:latin typeface="Söhne"/>
              </a:rPr>
              <a:t>An overview of the company's sales performance during the quarter, broken down by geographic region.</a:t>
            </a:r>
          </a:p>
          <a:p>
            <a:pPr marL="228600" indent="-228600" algn="l">
              <a:buFont typeface="+mj-lt"/>
              <a:buAutoNum type="arabicPeriod"/>
            </a:pPr>
            <a:r>
              <a:rPr lang="en-US" sz="1200" b="0" i="0" dirty="0">
                <a:solidFill>
                  <a:srgbClr val="374151"/>
                </a:solidFill>
                <a:effectLst/>
                <a:latin typeface="Söhne"/>
              </a:rPr>
              <a:t>A table or graph showing sales figures for each region, including revenue and units sold.</a:t>
            </a:r>
          </a:p>
          <a:p>
            <a:pPr marL="228600" indent="-228600" algn="l">
              <a:buFont typeface="+mj-lt"/>
              <a:buAutoNum type="arabicPeriod"/>
            </a:pPr>
            <a:r>
              <a:rPr lang="en-US" sz="1200" b="0" i="0" dirty="0">
                <a:solidFill>
                  <a:srgbClr val="374151"/>
                </a:solidFill>
                <a:effectLst/>
                <a:latin typeface="Söhne"/>
              </a:rPr>
              <a:t>A comparison of the current quarter's sales figures to those of the previous quarter or year, highlighting any significant changes or trends.</a:t>
            </a:r>
          </a:p>
          <a:p>
            <a:pPr marL="228600" indent="-228600" algn="l">
              <a:buFont typeface="+mj-lt"/>
              <a:buAutoNum type="arabicPeriod"/>
            </a:pPr>
            <a:r>
              <a:rPr lang="en-US" sz="1200" b="0" i="0" dirty="0">
                <a:solidFill>
                  <a:srgbClr val="374151"/>
                </a:solidFill>
                <a:effectLst/>
                <a:latin typeface="Söhne"/>
              </a:rPr>
              <a:t>An analysis of the factors contributing to the sales performance in each region, such as changes in market conditions or consumer behavior.</a:t>
            </a:r>
          </a:p>
          <a:p>
            <a:pPr marL="228600" indent="-228600" algn="l">
              <a:buFont typeface="+mj-lt"/>
              <a:buAutoNum type="arabicPeriod"/>
            </a:pPr>
            <a:r>
              <a:rPr lang="en-US" sz="1200" b="0" i="0" dirty="0">
                <a:solidFill>
                  <a:srgbClr val="374151"/>
                </a:solidFill>
                <a:effectLst/>
                <a:latin typeface="Söhne"/>
              </a:rPr>
              <a:t>A summary of any actions taken or planned to improve sales performance in underperforming regions.</a:t>
            </a:r>
          </a:p>
          <a:p>
            <a:pPr marL="228600" indent="-228600" algn="l">
              <a:buFont typeface="+mj-lt"/>
              <a:buAutoNum type="arabicPeriod"/>
            </a:pPr>
            <a:r>
              <a:rPr lang="en-US" sz="1200" b="0" i="0" dirty="0">
                <a:solidFill>
                  <a:srgbClr val="374151"/>
                </a:solidFill>
                <a:effectLst/>
                <a:latin typeface="Söhne"/>
              </a:rPr>
              <a:t>A conclusion summarizing the key takeaways and implications for the company's overall sales strategy.</a:t>
            </a:r>
          </a:p>
        </p:txBody>
      </p:sp>
    </p:spTree>
    <p:extLst>
      <p:ext uri="{BB962C8B-B14F-4D97-AF65-F5344CB8AC3E}">
        <p14:creationId xmlns:p14="http://schemas.microsoft.com/office/powerpoint/2010/main" val="21103780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Sales by Channel</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introduction to the slide's topic, including an overview of the company's sales channels.</a:t>
            </a:r>
          </a:p>
          <a:p>
            <a:pPr marL="228600" indent="-228600" algn="l">
              <a:buFont typeface="+mj-lt"/>
              <a:buAutoNum type="arabicPeriod"/>
            </a:pPr>
            <a:r>
              <a:rPr lang="en-US" sz="1200" i="0" dirty="0">
                <a:solidFill>
                  <a:srgbClr val="374151"/>
                </a:solidFill>
                <a:effectLst/>
                <a:latin typeface="Söhne"/>
              </a:rPr>
              <a:t>Sales channel breakdown</a:t>
            </a:r>
            <a:r>
              <a:rPr lang="en-US" sz="1200" b="0" i="0" dirty="0">
                <a:solidFill>
                  <a:srgbClr val="374151"/>
                </a:solidFill>
                <a:effectLst/>
                <a:latin typeface="Söhne"/>
              </a:rPr>
              <a:t>: A breakdown of sales by channel, including metrics such as revenue, units sold, and average order value for each channel.</a:t>
            </a:r>
          </a:p>
          <a:p>
            <a:pPr marL="228600" indent="-228600" algn="l">
              <a:buFont typeface="+mj-lt"/>
              <a:buAutoNum type="arabicPeriod"/>
            </a:pPr>
            <a:r>
              <a:rPr lang="en-US" sz="1200" i="0" dirty="0">
                <a:solidFill>
                  <a:srgbClr val="374151"/>
                </a:solidFill>
                <a:effectLst/>
                <a:latin typeface="Söhne"/>
              </a:rPr>
              <a:t>Year-over-year comparison</a:t>
            </a:r>
            <a:r>
              <a:rPr lang="en-US" sz="1200" b="0" i="0" dirty="0">
                <a:solidFill>
                  <a:srgbClr val="374151"/>
                </a:solidFill>
                <a:effectLst/>
                <a:latin typeface="Söhne"/>
              </a:rPr>
              <a:t>: A year-over-year comparison of sales by channel, highlighting any notable changes or trends.</a:t>
            </a:r>
          </a:p>
          <a:p>
            <a:pPr marL="228600" indent="-228600" algn="l">
              <a:buFont typeface="+mj-lt"/>
              <a:buAutoNum type="arabicPeriod"/>
            </a:pPr>
            <a:r>
              <a:rPr lang="en-US" sz="1200" i="0" dirty="0">
                <a:solidFill>
                  <a:srgbClr val="374151"/>
                </a:solidFill>
                <a:effectLst/>
                <a:latin typeface="Söhne"/>
              </a:rPr>
              <a:t>Channel performance analysis</a:t>
            </a:r>
            <a:r>
              <a:rPr lang="en-US" sz="1200" b="0" i="0" dirty="0">
                <a:solidFill>
                  <a:srgbClr val="374151"/>
                </a:solidFill>
                <a:effectLst/>
                <a:latin typeface="Söhne"/>
              </a:rPr>
              <a:t>: An analysis of each sales channel's performance, including strengths, weaknesses, and opportunities for improvement.</a:t>
            </a:r>
          </a:p>
          <a:p>
            <a:pPr marL="228600" indent="-228600" algn="l">
              <a:buFont typeface="+mj-lt"/>
              <a:buAutoNum type="arabicPeriod"/>
            </a:pPr>
            <a:r>
              <a:rPr lang="en-US" sz="1200" i="0" dirty="0">
                <a:solidFill>
                  <a:srgbClr val="374151"/>
                </a:solidFill>
                <a:effectLst/>
                <a:latin typeface="Söhne"/>
              </a:rPr>
              <a:t>Key takeaways</a:t>
            </a:r>
            <a:r>
              <a:rPr lang="en-US" sz="1200" b="0" i="0" dirty="0">
                <a:solidFill>
                  <a:srgbClr val="374151"/>
                </a:solidFill>
                <a:effectLst/>
                <a:latin typeface="Söhne"/>
              </a:rPr>
              <a:t>: A summary of the most important insights and takeaways from the sales by channel analysis, including any recommended actions or next steps.</a:t>
            </a:r>
          </a:p>
        </p:txBody>
      </p:sp>
    </p:spTree>
    <p:extLst>
      <p:ext uri="{BB962C8B-B14F-4D97-AF65-F5344CB8AC3E}">
        <p14:creationId xmlns:p14="http://schemas.microsoft.com/office/powerpoint/2010/main" val="15389034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Channel Partners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b="0" i="0" dirty="0">
                <a:solidFill>
                  <a:srgbClr val="374151"/>
                </a:solidFill>
                <a:effectLst/>
                <a:latin typeface="Söhne"/>
              </a:rPr>
              <a:t>Overview of current channel partners, including a breakdown by region or market segment, and any new partners added during the reporting period.</a:t>
            </a:r>
          </a:p>
          <a:p>
            <a:pPr marL="228600" indent="-228600" algn="l">
              <a:buFont typeface="+mj-lt"/>
              <a:buAutoNum type="arabicPeriod"/>
            </a:pPr>
            <a:r>
              <a:rPr lang="en-US" sz="1200" b="0" i="0" dirty="0">
                <a:solidFill>
                  <a:srgbClr val="374151"/>
                </a:solidFill>
                <a:effectLst/>
                <a:latin typeface="Söhne"/>
              </a:rPr>
              <a:t>Discussion of key metrics such as revenue contribution, sales growth, and market share for each channel partner.</a:t>
            </a:r>
          </a:p>
          <a:p>
            <a:pPr marL="228600" indent="-228600" algn="l">
              <a:buFont typeface="+mj-lt"/>
              <a:buAutoNum type="arabicPeriod"/>
            </a:pPr>
            <a:r>
              <a:rPr lang="en-US" sz="1200" b="0" i="0" dirty="0">
                <a:solidFill>
                  <a:srgbClr val="374151"/>
                </a:solidFill>
                <a:effectLst/>
                <a:latin typeface="Söhne"/>
              </a:rPr>
              <a:t>Summary of any changes to the channel partner program, such as incentives or support provided to partners.</a:t>
            </a:r>
          </a:p>
          <a:p>
            <a:pPr marL="228600" indent="-228600" algn="l">
              <a:buFont typeface="+mj-lt"/>
              <a:buAutoNum type="arabicPeriod"/>
            </a:pPr>
            <a:r>
              <a:rPr lang="en-US" sz="1200" b="0" i="0" dirty="0">
                <a:solidFill>
                  <a:srgbClr val="374151"/>
                </a:solidFill>
                <a:effectLst/>
                <a:latin typeface="Söhne"/>
              </a:rPr>
              <a:t>Analysis of channel partner performance, including any challenges faced and plans to address them in the future.</a:t>
            </a:r>
          </a:p>
          <a:p>
            <a:pPr marL="228600" indent="-228600" algn="l">
              <a:buFont typeface="+mj-lt"/>
              <a:buAutoNum type="arabicPeriod"/>
            </a:pPr>
            <a:r>
              <a:rPr lang="en-US" sz="1200" b="0" i="0" dirty="0">
                <a:solidFill>
                  <a:srgbClr val="374151"/>
                </a:solidFill>
                <a:effectLst/>
                <a:latin typeface="Söhne"/>
              </a:rPr>
              <a:t>Discussion of upcoming opportunities for channel partners and plans to leverage these opportunities.</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18392024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E4B6F3D-F39D-82FA-3528-A3F1F7B178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E4B6F3D-F39D-82FA-3528-A3F1F7B178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9D66EAD0-976A-9CBA-E440-3B5D7F6C7065}"/>
              </a:ext>
            </a:extLst>
          </p:cNvPr>
          <p:cNvSpPr>
            <a:spLocks noGrp="1"/>
          </p:cNvSpPr>
          <p:nvPr>
            <p:ph type="title"/>
          </p:nvPr>
        </p:nvSpPr>
        <p:spPr/>
        <p:txBody>
          <a:bodyPr vert="horz"/>
          <a:lstStyle/>
          <a:p>
            <a:r>
              <a:rPr lang="en-US" dirty="0"/>
              <a:t>Board Reporting Package Contents</a:t>
            </a:r>
          </a:p>
        </p:txBody>
      </p:sp>
      <p:sp>
        <p:nvSpPr>
          <p:cNvPr id="23" name="Rounded Rectangle 33">
            <a:extLst>
              <a:ext uri="{FF2B5EF4-FFF2-40B4-BE49-F238E27FC236}">
                <a16:creationId xmlns:a16="http://schemas.microsoft.com/office/drawing/2014/main" id="{C82EEC47-011A-3986-C4CD-0F6BF3E13A5C}"/>
              </a:ext>
            </a:extLst>
          </p:cNvPr>
          <p:cNvSpPr/>
          <p:nvPr/>
        </p:nvSpPr>
        <p:spPr>
          <a:xfrm>
            <a:off x="409762" y="853079"/>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CEO &amp; BOARD CHAIR</a:t>
            </a:r>
          </a:p>
        </p:txBody>
      </p:sp>
      <p:sp>
        <p:nvSpPr>
          <p:cNvPr id="54" name="TextBox 53">
            <a:extLst>
              <a:ext uri="{FF2B5EF4-FFF2-40B4-BE49-F238E27FC236}">
                <a16:creationId xmlns:a16="http://schemas.microsoft.com/office/drawing/2014/main" id="{C852F15D-DEBA-82B2-6A49-FB2C85CB3853}"/>
              </a:ext>
            </a:extLst>
          </p:cNvPr>
          <p:cNvSpPr txBox="1"/>
          <p:nvPr/>
        </p:nvSpPr>
        <p:spPr>
          <a:xfrm>
            <a:off x="409762" y="151065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CEO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Board Chair Update</a:t>
            </a:r>
          </a:p>
        </p:txBody>
      </p:sp>
      <p:sp>
        <p:nvSpPr>
          <p:cNvPr id="55" name="Rounded Rectangle 33">
            <a:extLst>
              <a:ext uri="{FF2B5EF4-FFF2-40B4-BE49-F238E27FC236}">
                <a16:creationId xmlns:a16="http://schemas.microsoft.com/office/drawing/2014/main" id="{95A91E49-9A8A-96D6-533B-2C56F869D32F}"/>
              </a:ext>
            </a:extLst>
          </p:cNvPr>
          <p:cNvSpPr/>
          <p:nvPr/>
        </p:nvSpPr>
        <p:spPr>
          <a:xfrm>
            <a:off x="9295000" y="2148795"/>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CORPORATE DEVELOPMENT</a:t>
            </a:r>
          </a:p>
        </p:txBody>
      </p:sp>
      <p:sp>
        <p:nvSpPr>
          <p:cNvPr id="56" name="TextBox 55">
            <a:extLst>
              <a:ext uri="{FF2B5EF4-FFF2-40B4-BE49-F238E27FC236}">
                <a16:creationId xmlns:a16="http://schemas.microsoft.com/office/drawing/2014/main" id="{078BE5D7-CBB0-7B3D-AFEE-E049B3EC8AFE}"/>
              </a:ext>
            </a:extLst>
          </p:cNvPr>
          <p:cNvSpPr txBox="1"/>
          <p:nvPr/>
        </p:nvSpPr>
        <p:spPr>
          <a:xfrm>
            <a:off x="9282200" y="2827201"/>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Partnerships &amp; Alliances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Mergers &amp; Acquisitions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Post-merger Integration</a:t>
            </a:r>
          </a:p>
        </p:txBody>
      </p:sp>
      <p:sp>
        <p:nvSpPr>
          <p:cNvPr id="57" name="Rounded Rectangle 33">
            <a:extLst>
              <a:ext uri="{FF2B5EF4-FFF2-40B4-BE49-F238E27FC236}">
                <a16:creationId xmlns:a16="http://schemas.microsoft.com/office/drawing/2014/main" id="{047EDAFC-A516-E05C-A91F-44C7C46FB147}"/>
              </a:ext>
            </a:extLst>
          </p:cNvPr>
          <p:cNvSpPr/>
          <p:nvPr/>
        </p:nvSpPr>
        <p:spPr>
          <a:xfrm>
            <a:off x="9282200" y="3579788"/>
            <a:ext cx="2594695" cy="530969"/>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OTHER CORPORATE FUNCTIONS</a:t>
            </a:r>
          </a:p>
        </p:txBody>
      </p:sp>
      <p:sp>
        <p:nvSpPr>
          <p:cNvPr id="58" name="TextBox 57">
            <a:extLst>
              <a:ext uri="{FF2B5EF4-FFF2-40B4-BE49-F238E27FC236}">
                <a16:creationId xmlns:a16="http://schemas.microsoft.com/office/drawing/2014/main" id="{7A3E0AED-BC63-D8B3-2F56-CAFD1E971E31}"/>
              </a:ext>
            </a:extLst>
          </p:cNvPr>
          <p:cNvSpPr txBox="1"/>
          <p:nvPr/>
        </p:nvSpPr>
        <p:spPr>
          <a:xfrm>
            <a:off x="9282200" y="4264916"/>
            <a:ext cx="2620293" cy="1687284"/>
          </a:xfrm>
          <a:prstGeom prst="rect">
            <a:avLst/>
          </a:prstGeom>
          <a:noFill/>
        </p:spPr>
        <p:txBody>
          <a:bodyPr wrap="square" lIns="0" tIns="0" rIns="0" bIns="0" rtlCol="0">
            <a:noAutofit/>
          </a:bodyPr>
          <a:lstStyle/>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Intellectual Property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Risk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Legal &amp; Regulatory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Litigation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Investor Relations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Community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ESG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Sustainability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Awards &amp; Recognition</a:t>
            </a:r>
          </a:p>
        </p:txBody>
      </p:sp>
      <p:sp>
        <p:nvSpPr>
          <p:cNvPr id="59" name="Rounded Rectangle 33">
            <a:extLst>
              <a:ext uri="{FF2B5EF4-FFF2-40B4-BE49-F238E27FC236}">
                <a16:creationId xmlns:a16="http://schemas.microsoft.com/office/drawing/2014/main" id="{92BD0F0E-08AC-37AD-FD60-1F03343DE46E}"/>
              </a:ext>
            </a:extLst>
          </p:cNvPr>
          <p:cNvSpPr/>
          <p:nvPr/>
        </p:nvSpPr>
        <p:spPr>
          <a:xfrm>
            <a:off x="384173" y="2005691"/>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AGENDA</a:t>
            </a:r>
          </a:p>
        </p:txBody>
      </p:sp>
      <p:sp>
        <p:nvSpPr>
          <p:cNvPr id="60" name="Rounded Rectangle 33">
            <a:extLst>
              <a:ext uri="{FF2B5EF4-FFF2-40B4-BE49-F238E27FC236}">
                <a16:creationId xmlns:a16="http://schemas.microsoft.com/office/drawing/2014/main" id="{CB90976E-C934-E589-3C43-C6536961F66B}"/>
              </a:ext>
            </a:extLst>
          </p:cNvPr>
          <p:cNvSpPr/>
          <p:nvPr/>
        </p:nvSpPr>
        <p:spPr>
          <a:xfrm>
            <a:off x="3371511" y="842768"/>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PRODUCT</a:t>
            </a:r>
          </a:p>
        </p:txBody>
      </p:sp>
      <p:sp>
        <p:nvSpPr>
          <p:cNvPr id="61" name="Rounded Rectangle 33">
            <a:extLst>
              <a:ext uri="{FF2B5EF4-FFF2-40B4-BE49-F238E27FC236}">
                <a16:creationId xmlns:a16="http://schemas.microsoft.com/office/drawing/2014/main" id="{7FA80707-EFC9-FBBD-95A3-C53653725FD5}"/>
              </a:ext>
            </a:extLst>
          </p:cNvPr>
          <p:cNvSpPr/>
          <p:nvPr/>
        </p:nvSpPr>
        <p:spPr>
          <a:xfrm>
            <a:off x="3371510" y="221609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MARKETING</a:t>
            </a:r>
          </a:p>
        </p:txBody>
      </p:sp>
      <p:sp>
        <p:nvSpPr>
          <p:cNvPr id="62" name="TextBox 61">
            <a:extLst>
              <a:ext uri="{FF2B5EF4-FFF2-40B4-BE49-F238E27FC236}">
                <a16:creationId xmlns:a16="http://schemas.microsoft.com/office/drawing/2014/main" id="{30745068-3C50-A3AC-D3F9-F374532A853E}"/>
              </a:ext>
            </a:extLst>
          </p:cNvPr>
          <p:cNvSpPr txBox="1"/>
          <p:nvPr/>
        </p:nvSpPr>
        <p:spPr>
          <a:xfrm>
            <a:off x="409762" y="3815874"/>
            <a:ext cx="2620293" cy="2923758"/>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Financial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Income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Cash Flow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Balance Sheet</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Revenue Breakdown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Operating Expenses Breakdown</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Cost Reduction Initiatives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Profitability Analysis/ROI</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Working Capital Analysis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Receivable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Payable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Expenditures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Raising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Debt Overview &amp; Refinancing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Tax</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Property &amp; Real Estate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Foreign Currency Exposure</a:t>
            </a:r>
          </a:p>
        </p:txBody>
      </p:sp>
      <p:sp>
        <p:nvSpPr>
          <p:cNvPr id="1025" name="TextBox 1024">
            <a:extLst>
              <a:ext uri="{FF2B5EF4-FFF2-40B4-BE49-F238E27FC236}">
                <a16:creationId xmlns:a16="http://schemas.microsoft.com/office/drawing/2014/main" id="{02F92317-B039-B079-BB61-FC63C637FB38}"/>
              </a:ext>
            </a:extLst>
          </p:cNvPr>
          <p:cNvSpPr txBox="1"/>
          <p:nvPr/>
        </p:nvSpPr>
        <p:spPr>
          <a:xfrm>
            <a:off x="3371511" y="151559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Development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Research &amp;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Roadmap</a:t>
            </a:r>
          </a:p>
        </p:txBody>
      </p:sp>
      <p:sp>
        <p:nvSpPr>
          <p:cNvPr id="1026" name="TextBox 1025">
            <a:extLst>
              <a:ext uri="{FF2B5EF4-FFF2-40B4-BE49-F238E27FC236}">
                <a16:creationId xmlns:a16="http://schemas.microsoft.com/office/drawing/2014/main" id="{CC1A5311-249B-C428-EBB6-A72E016472C6}"/>
              </a:ext>
            </a:extLst>
          </p:cNvPr>
          <p:cNvSpPr txBox="1"/>
          <p:nvPr/>
        </p:nvSpPr>
        <p:spPr>
          <a:xfrm>
            <a:off x="3371511" y="286130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Initiatives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Expansion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ROI</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Pricing Strategy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Data &amp; Analytics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Advertising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Competitors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Branding &amp; Marketing Materials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Website</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Social Media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Industry Events &amp; Conferences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Public Relations</a:t>
            </a:r>
          </a:p>
        </p:txBody>
      </p:sp>
      <p:sp>
        <p:nvSpPr>
          <p:cNvPr id="1027" name="Rounded Rectangle 33">
            <a:extLst>
              <a:ext uri="{FF2B5EF4-FFF2-40B4-BE49-F238E27FC236}">
                <a16:creationId xmlns:a16="http://schemas.microsoft.com/office/drawing/2014/main" id="{D14AE144-6082-3A53-FA31-003FBCFBEE2C}"/>
              </a:ext>
            </a:extLst>
          </p:cNvPr>
          <p:cNvSpPr/>
          <p:nvPr/>
        </p:nvSpPr>
        <p:spPr>
          <a:xfrm>
            <a:off x="3371509" y="524534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SALES</a:t>
            </a:r>
          </a:p>
        </p:txBody>
      </p:sp>
      <p:sp>
        <p:nvSpPr>
          <p:cNvPr id="1028" name="TextBox 1027">
            <a:extLst>
              <a:ext uri="{FF2B5EF4-FFF2-40B4-BE49-F238E27FC236}">
                <a16:creationId xmlns:a16="http://schemas.microsoft.com/office/drawing/2014/main" id="{F1DE495A-583A-63C4-C570-434B9345A842}"/>
              </a:ext>
            </a:extLst>
          </p:cNvPr>
          <p:cNvSpPr txBox="1"/>
          <p:nvPr/>
        </p:nvSpPr>
        <p:spPr>
          <a:xfrm>
            <a:off x="3371511" y="589055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Pipeline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Team Performance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Region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Channel</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Channel Partners</a:t>
            </a:r>
          </a:p>
        </p:txBody>
      </p:sp>
      <p:sp>
        <p:nvSpPr>
          <p:cNvPr id="1029" name="Rounded Rectangle 33">
            <a:extLst>
              <a:ext uri="{FF2B5EF4-FFF2-40B4-BE49-F238E27FC236}">
                <a16:creationId xmlns:a16="http://schemas.microsoft.com/office/drawing/2014/main" id="{E46F2696-EE7E-BBE9-9BF4-4DC8BC64543E}"/>
              </a:ext>
            </a:extLst>
          </p:cNvPr>
          <p:cNvSpPr/>
          <p:nvPr/>
        </p:nvSpPr>
        <p:spPr>
          <a:xfrm>
            <a:off x="6333261" y="2511844"/>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CUSTOMERS</a:t>
            </a:r>
          </a:p>
        </p:txBody>
      </p:sp>
      <p:sp>
        <p:nvSpPr>
          <p:cNvPr id="1030" name="Rounded Rectangle 33">
            <a:extLst>
              <a:ext uri="{FF2B5EF4-FFF2-40B4-BE49-F238E27FC236}">
                <a16:creationId xmlns:a16="http://schemas.microsoft.com/office/drawing/2014/main" id="{E5838DA9-13C2-4188-6172-7E7C7EDFA057}"/>
              </a:ext>
            </a:extLst>
          </p:cNvPr>
          <p:cNvSpPr/>
          <p:nvPr/>
        </p:nvSpPr>
        <p:spPr>
          <a:xfrm>
            <a:off x="6333261" y="846554"/>
            <a:ext cx="2594695" cy="528314"/>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OPERATIONS AND SUPPLY CHAIN</a:t>
            </a:r>
          </a:p>
        </p:txBody>
      </p:sp>
      <p:sp>
        <p:nvSpPr>
          <p:cNvPr id="1032" name="Rounded Rectangle 33">
            <a:extLst>
              <a:ext uri="{FF2B5EF4-FFF2-40B4-BE49-F238E27FC236}">
                <a16:creationId xmlns:a16="http://schemas.microsoft.com/office/drawing/2014/main" id="{A5872E9A-5A2E-D1A6-AEC1-30E6373A0CF4}"/>
              </a:ext>
            </a:extLst>
          </p:cNvPr>
          <p:cNvSpPr/>
          <p:nvPr/>
        </p:nvSpPr>
        <p:spPr>
          <a:xfrm>
            <a:off x="9295011" y="865239"/>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INFORMATION TECHNOLOGY</a:t>
            </a:r>
          </a:p>
        </p:txBody>
      </p:sp>
      <p:sp>
        <p:nvSpPr>
          <p:cNvPr id="1033" name="Rounded Rectangle 33">
            <a:extLst>
              <a:ext uri="{FF2B5EF4-FFF2-40B4-BE49-F238E27FC236}">
                <a16:creationId xmlns:a16="http://schemas.microsoft.com/office/drawing/2014/main" id="{DB676218-8B0C-2374-3190-ADAFBD304B29}"/>
              </a:ext>
            </a:extLst>
          </p:cNvPr>
          <p:cNvSpPr/>
          <p:nvPr/>
        </p:nvSpPr>
        <p:spPr>
          <a:xfrm>
            <a:off x="6333261" y="4356030"/>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HUMAN RESOURCES</a:t>
            </a:r>
          </a:p>
        </p:txBody>
      </p:sp>
      <p:sp>
        <p:nvSpPr>
          <p:cNvPr id="1035" name="TextBox 1034">
            <a:extLst>
              <a:ext uri="{FF2B5EF4-FFF2-40B4-BE49-F238E27FC236}">
                <a16:creationId xmlns:a16="http://schemas.microsoft.com/office/drawing/2014/main" id="{01C116CF-D899-36F7-219D-C1159D8B52D7}"/>
              </a:ext>
            </a:extLst>
          </p:cNvPr>
          <p:cNvSpPr txBox="1"/>
          <p:nvPr/>
        </p:nvSpPr>
        <p:spPr>
          <a:xfrm>
            <a:off x="6358858"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Operations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Supply Chain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Emergency Preparedness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Suppliers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Worker Safety</a:t>
            </a:r>
          </a:p>
        </p:txBody>
      </p:sp>
      <p:sp>
        <p:nvSpPr>
          <p:cNvPr id="1036" name="TextBox 1035">
            <a:extLst>
              <a:ext uri="{FF2B5EF4-FFF2-40B4-BE49-F238E27FC236}">
                <a16:creationId xmlns:a16="http://schemas.microsoft.com/office/drawing/2014/main" id="{6D63E6C1-0425-4437-888A-F3E8D5A060AC}"/>
              </a:ext>
            </a:extLst>
          </p:cNvPr>
          <p:cNvSpPr txBox="1"/>
          <p:nvPr/>
        </p:nvSpPr>
        <p:spPr>
          <a:xfrm>
            <a:off x="6333260" y="3208935"/>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Service</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Satisfaction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Consumer Insights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Case Studies</a:t>
            </a:r>
          </a:p>
        </p:txBody>
      </p:sp>
      <p:sp>
        <p:nvSpPr>
          <p:cNvPr id="1037" name="TextBox 1036">
            <a:extLst>
              <a:ext uri="{FF2B5EF4-FFF2-40B4-BE49-F238E27FC236}">
                <a16:creationId xmlns:a16="http://schemas.microsoft.com/office/drawing/2014/main" id="{2BD1D13D-59B1-D4F8-4E1E-A026079AC144}"/>
              </a:ext>
            </a:extLst>
          </p:cNvPr>
          <p:cNvSpPr txBox="1"/>
          <p:nvPr/>
        </p:nvSpPr>
        <p:spPr>
          <a:xfrm>
            <a:off x="9346205"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IT Infrastructure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Cybersecurity</a:t>
            </a:r>
          </a:p>
        </p:txBody>
      </p:sp>
      <p:sp>
        <p:nvSpPr>
          <p:cNvPr id="1039" name="TextBox 1038">
            <a:extLst>
              <a:ext uri="{FF2B5EF4-FFF2-40B4-BE49-F238E27FC236}">
                <a16:creationId xmlns:a16="http://schemas.microsoft.com/office/drawing/2014/main" id="{7F71797E-DAE7-019D-7E27-5D562C6571DD}"/>
              </a:ext>
            </a:extLst>
          </p:cNvPr>
          <p:cNvSpPr txBox="1"/>
          <p:nvPr/>
        </p:nvSpPr>
        <p:spPr>
          <a:xfrm>
            <a:off x="6333260" y="5052741"/>
            <a:ext cx="2831794"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Human Resources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Organizational 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Leadership Team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Talent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Compensation</a:t>
            </a:r>
            <a:r>
              <a:rPr lang="en-US" sz="1100" dirty="0">
                <a:solidFill>
                  <a:srgbClr val="000000"/>
                </a:solidFill>
                <a:latin typeface="Verdana"/>
              </a:rPr>
              <a:t> and </a:t>
            </a:r>
            <a:r>
              <a:rPr kumimoji="0" lang="en-US" sz="1100" b="0" i="0" u="none" strike="noStrike" kern="1200" cap="none" spc="0" normalizeH="0" baseline="0" noProof="0" dirty="0">
                <a:ln>
                  <a:noFill/>
                </a:ln>
                <a:solidFill>
                  <a:srgbClr val="000000"/>
                </a:solidFill>
                <a:effectLst/>
                <a:uLnTx/>
                <a:uFillTx/>
                <a:latin typeface="Verdana"/>
                <a:ea typeface="+mn-ea"/>
                <a:cs typeface="+mn-cs"/>
              </a:rPr>
              <a:t>Benefits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Learning and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Diversity, Equity, and Inclusion</a:t>
            </a:r>
          </a:p>
        </p:txBody>
      </p:sp>
      <p:sp>
        <p:nvSpPr>
          <p:cNvPr id="2" name="Rounded Rectangle 33">
            <a:extLst>
              <a:ext uri="{FF2B5EF4-FFF2-40B4-BE49-F238E27FC236}">
                <a16:creationId xmlns:a16="http://schemas.microsoft.com/office/drawing/2014/main" id="{1B612D95-4099-846D-D69A-44F681C34655}"/>
              </a:ext>
            </a:extLst>
          </p:cNvPr>
          <p:cNvSpPr/>
          <p:nvPr/>
        </p:nvSpPr>
        <p:spPr>
          <a:xfrm>
            <a:off x="384173" y="3162300"/>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FINANCE</a:t>
            </a:r>
          </a:p>
        </p:txBody>
      </p:sp>
      <p:sp>
        <p:nvSpPr>
          <p:cNvPr id="4" name="TextBox 3">
            <a:extLst>
              <a:ext uri="{FF2B5EF4-FFF2-40B4-BE49-F238E27FC236}">
                <a16:creationId xmlns:a16="http://schemas.microsoft.com/office/drawing/2014/main" id="{F322B9F2-CA67-D5B4-CC60-7F01099438FE}"/>
              </a:ext>
            </a:extLst>
          </p:cNvPr>
          <p:cNvSpPr txBox="1"/>
          <p:nvPr/>
        </p:nvSpPr>
        <p:spPr>
          <a:xfrm>
            <a:off x="384173" y="2663262"/>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Agenda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Previous Meeting Minutes</a:t>
            </a:r>
          </a:p>
        </p:txBody>
      </p:sp>
    </p:spTree>
    <p:extLst>
      <p:ext uri="{BB962C8B-B14F-4D97-AF65-F5344CB8AC3E}">
        <p14:creationId xmlns:p14="http://schemas.microsoft.com/office/powerpoint/2010/main" val="12519676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Operations Overview</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algn="l"/>
            <a:r>
              <a:rPr lang="en-US" sz="1200" b="0" i="0" dirty="0">
                <a:solidFill>
                  <a:srgbClr val="374151"/>
                </a:solidFill>
                <a:effectLst/>
                <a:latin typeface="Söhne"/>
              </a:rPr>
              <a:t>This slide should provide an overview of the company's operations during the quarter, focusing on supply chain management and logistics. It should include the following information:</a:t>
            </a:r>
          </a:p>
          <a:p>
            <a:pPr marL="228600" indent="-228600" algn="l">
              <a:buFont typeface="+mj-lt"/>
              <a:buAutoNum type="arabicPeriod"/>
            </a:pPr>
            <a:r>
              <a:rPr lang="en-US" sz="1200" i="0" dirty="0">
                <a:solidFill>
                  <a:srgbClr val="374151"/>
                </a:solidFill>
                <a:effectLst/>
                <a:latin typeface="Söhne"/>
              </a:rPr>
              <a:t>Supply Chain Management</a:t>
            </a:r>
            <a:r>
              <a:rPr lang="en-US" sz="1200" b="0" i="0" dirty="0">
                <a:solidFill>
                  <a:srgbClr val="374151"/>
                </a:solidFill>
                <a:effectLst/>
                <a:latin typeface="Söhne"/>
              </a:rPr>
              <a:t>: A brief overview of the company's supply chain management during the quarter, including any improvements or challenges. A graphical representation of the supply chain process can be included.</a:t>
            </a:r>
          </a:p>
          <a:p>
            <a:pPr marL="228600" indent="-228600" algn="l">
              <a:buFont typeface="+mj-lt"/>
              <a:buAutoNum type="arabicPeriod"/>
            </a:pPr>
            <a:r>
              <a:rPr lang="en-US" sz="1200" i="0" dirty="0">
                <a:solidFill>
                  <a:srgbClr val="374151"/>
                </a:solidFill>
                <a:effectLst/>
                <a:latin typeface="Söhne"/>
              </a:rPr>
              <a:t>Logistics</a:t>
            </a:r>
            <a:r>
              <a:rPr lang="en-US" sz="1200" b="0" i="0" dirty="0">
                <a:solidFill>
                  <a:srgbClr val="374151"/>
                </a:solidFill>
                <a:effectLst/>
                <a:latin typeface="Söhne"/>
              </a:rPr>
              <a:t>: A brief overview of the company's logistics during the quarter, including any improvements or challenges. This section should cover information on transportation, warehousing, and inventory management. A graphical representation of the logistics process can be included.</a:t>
            </a:r>
          </a:p>
          <a:p>
            <a:pPr marL="228600" indent="-228600" algn="l">
              <a:buFont typeface="+mj-lt"/>
              <a:buAutoNum type="arabicPeriod"/>
            </a:pPr>
            <a:r>
              <a:rPr lang="en-US" sz="1200" i="0" dirty="0">
                <a:solidFill>
                  <a:srgbClr val="374151"/>
                </a:solidFill>
                <a:effectLst/>
                <a:latin typeface="Söhne"/>
              </a:rPr>
              <a:t>Key Performance Indicators (KPIs): </a:t>
            </a:r>
            <a:r>
              <a:rPr lang="en-US" sz="1200" b="0" i="0" dirty="0">
                <a:solidFill>
                  <a:srgbClr val="374151"/>
                </a:solidFill>
                <a:effectLst/>
                <a:latin typeface="Söhne"/>
              </a:rPr>
              <a:t>This section should provide an analysis of key performance indicators related to operations. Examples of KPIs to include are inventory turnover, on-time delivery, and order fulfillment accuracy. Each KPI should be accompanied by a chart or graph that visually represents the data and trends.</a:t>
            </a:r>
          </a:p>
          <a:p>
            <a:pPr marL="228600" indent="-228600" algn="l">
              <a:buFont typeface="+mj-lt"/>
              <a:buAutoNum type="arabicPeriod"/>
            </a:pPr>
            <a:r>
              <a:rPr lang="en-US" sz="1200" i="0" dirty="0">
                <a:solidFill>
                  <a:srgbClr val="374151"/>
                </a:solidFill>
                <a:effectLst/>
                <a:latin typeface="Söhne"/>
              </a:rPr>
              <a:t>Initiatives and Improvements</a:t>
            </a:r>
            <a:r>
              <a:rPr lang="en-US" sz="1200" b="0" i="0" dirty="0">
                <a:solidFill>
                  <a:srgbClr val="374151"/>
                </a:solidFill>
                <a:effectLst/>
                <a:latin typeface="Söhne"/>
              </a:rPr>
              <a:t>: This section should outline any initiatives or improvements made in operations during the quarter. This can include process improvements, cost savings initiatives, or technology enhancements. Each initiative should be accompanied by a brief description and a chart or graph that shows the impact of the initiative on operations metrics.</a:t>
            </a:r>
          </a:p>
        </p:txBody>
      </p:sp>
    </p:spTree>
    <p:extLst>
      <p:ext uri="{BB962C8B-B14F-4D97-AF65-F5344CB8AC3E}">
        <p14:creationId xmlns:p14="http://schemas.microsoft.com/office/powerpoint/2010/main" val="12805909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Supply Chain Management</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algn="l"/>
            <a:r>
              <a:rPr lang="en-US" sz="1200" b="0" i="0" dirty="0">
                <a:solidFill>
                  <a:srgbClr val="374151"/>
                </a:solidFill>
                <a:effectLst/>
                <a:latin typeface="Söhne"/>
              </a:rPr>
              <a:t>A supply chain management update slide should include following information:</a:t>
            </a:r>
          </a:p>
          <a:p>
            <a:pPr marL="228600" indent="-228600" algn="l">
              <a:buFont typeface="+mj-lt"/>
              <a:buAutoNum type="arabicPeriod"/>
            </a:pPr>
            <a:r>
              <a:rPr lang="en-US" sz="1200" i="0" dirty="0">
                <a:solidFill>
                  <a:srgbClr val="374151"/>
                </a:solidFill>
                <a:effectLst/>
                <a:latin typeface="Söhne"/>
              </a:rPr>
              <a:t>Overview</a:t>
            </a:r>
            <a:r>
              <a:rPr lang="en-US" sz="1200" b="0" i="0" dirty="0">
                <a:solidFill>
                  <a:srgbClr val="374151"/>
                </a:solidFill>
                <a:effectLst/>
                <a:latin typeface="Söhne"/>
              </a:rPr>
              <a:t>: A brief introduction and summary of the current state of the supply chain management process.</a:t>
            </a:r>
          </a:p>
          <a:p>
            <a:pPr marL="228600" indent="-228600" algn="l">
              <a:buFont typeface="+mj-lt"/>
              <a:buAutoNum type="arabicPeriod"/>
            </a:pPr>
            <a:r>
              <a:rPr lang="en-US" sz="1200" i="0" dirty="0">
                <a:solidFill>
                  <a:srgbClr val="374151"/>
                </a:solidFill>
                <a:effectLst/>
                <a:latin typeface="Söhne"/>
              </a:rPr>
              <a:t>Performance metrics</a:t>
            </a:r>
            <a:r>
              <a:rPr lang="en-US" sz="1200" b="0" i="0" dirty="0">
                <a:solidFill>
                  <a:srgbClr val="374151"/>
                </a:solidFill>
                <a:effectLst/>
                <a:latin typeface="Söhne"/>
              </a:rPr>
              <a:t>: Key performance indicators such as on-time delivery, inventory turnover, and order cycle time.</a:t>
            </a:r>
          </a:p>
          <a:p>
            <a:pPr marL="228600" indent="-228600" algn="l">
              <a:buFont typeface="+mj-lt"/>
              <a:buAutoNum type="arabicPeriod"/>
            </a:pPr>
            <a:r>
              <a:rPr lang="en-US" sz="1200" i="0" dirty="0">
                <a:solidFill>
                  <a:srgbClr val="374151"/>
                </a:solidFill>
                <a:effectLst/>
                <a:latin typeface="Söhne"/>
              </a:rPr>
              <a:t>Supplier management</a:t>
            </a:r>
            <a:r>
              <a:rPr lang="en-US" sz="1200" b="0" i="0" dirty="0">
                <a:solidFill>
                  <a:srgbClr val="374151"/>
                </a:solidFill>
                <a:effectLst/>
                <a:latin typeface="Söhne"/>
              </a:rPr>
              <a:t>: An update on supplier management, including any new supplier onboarding, performance evaluations, and supplier risk management.</a:t>
            </a:r>
          </a:p>
          <a:p>
            <a:pPr marL="228600" indent="-228600" algn="l">
              <a:buFont typeface="+mj-lt"/>
              <a:buAutoNum type="arabicPeriod"/>
            </a:pPr>
            <a:r>
              <a:rPr lang="en-US" sz="1200" i="0" dirty="0">
                <a:solidFill>
                  <a:srgbClr val="374151"/>
                </a:solidFill>
                <a:effectLst/>
                <a:latin typeface="Söhne"/>
              </a:rPr>
              <a:t>Logistics and transportation</a:t>
            </a:r>
            <a:r>
              <a:rPr lang="en-US" sz="1200" b="0" i="0" dirty="0">
                <a:solidFill>
                  <a:srgbClr val="374151"/>
                </a:solidFill>
                <a:effectLst/>
                <a:latin typeface="Söhne"/>
              </a:rPr>
              <a:t>: Updates on logistics and transportation, including any new partnerships, cost-saving initiatives, and delivery performance.</a:t>
            </a:r>
          </a:p>
          <a:p>
            <a:pPr marL="228600" indent="-228600" algn="l">
              <a:buFont typeface="+mj-lt"/>
              <a:buAutoNum type="arabicPeriod"/>
            </a:pPr>
            <a:r>
              <a:rPr lang="en-US" sz="1200" i="0" dirty="0">
                <a:solidFill>
                  <a:srgbClr val="374151"/>
                </a:solidFill>
                <a:effectLst/>
                <a:latin typeface="Söhne"/>
              </a:rPr>
              <a:t>Inventory management</a:t>
            </a:r>
            <a:r>
              <a:rPr lang="en-US" sz="1200" b="0" i="0" dirty="0">
                <a:solidFill>
                  <a:srgbClr val="374151"/>
                </a:solidFill>
                <a:effectLst/>
                <a:latin typeface="Söhne"/>
              </a:rPr>
              <a:t>: An update on inventory management, including inventory levels, safety stock levels, and stockouts.</a:t>
            </a:r>
          </a:p>
          <a:p>
            <a:pPr marL="228600" indent="-228600" algn="l">
              <a:buFont typeface="+mj-lt"/>
              <a:buAutoNum type="arabicPeriod"/>
            </a:pPr>
            <a:r>
              <a:rPr lang="en-US" sz="1200" i="0" dirty="0">
                <a:solidFill>
                  <a:srgbClr val="374151"/>
                </a:solidFill>
                <a:effectLst/>
                <a:latin typeface="Söhne"/>
              </a:rPr>
              <a:t>Supply chain risks</a:t>
            </a:r>
            <a:r>
              <a:rPr lang="en-US" sz="1200" b="0" i="0" dirty="0">
                <a:solidFill>
                  <a:srgbClr val="374151"/>
                </a:solidFill>
                <a:effectLst/>
                <a:latin typeface="Söhne"/>
              </a:rPr>
              <a:t>: A summary of the identified risks to the supply chain and the measures taken to mitigate them.</a:t>
            </a:r>
          </a:p>
          <a:p>
            <a:pPr marL="228600" indent="-228600" algn="l">
              <a:buFont typeface="+mj-lt"/>
              <a:buAutoNum type="arabicPeriod"/>
            </a:pPr>
            <a:r>
              <a:rPr lang="en-US" sz="1200" i="0" dirty="0">
                <a:solidFill>
                  <a:srgbClr val="374151"/>
                </a:solidFill>
                <a:effectLst/>
                <a:latin typeface="Söhne"/>
              </a:rPr>
              <a:t>Future plans</a:t>
            </a:r>
            <a:r>
              <a:rPr lang="en-US" sz="1200" b="0" i="0" dirty="0">
                <a:solidFill>
                  <a:srgbClr val="374151"/>
                </a:solidFill>
                <a:effectLst/>
                <a:latin typeface="Söhne"/>
              </a:rPr>
              <a:t>: Plans for future improvements to the supply chain management process, including any technology upgrades or process optimizations.</a:t>
            </a:r>
          </a:p>
        </p:txBody>
      </p:sp>
    </p:spTree>
    <p:extLst>
      <p:ext uri="{BB962C8B-B14F-4D97-AF65-F5344CB8AC3E}">
        <p14:creationId xmlns:p14="http://schemas.microsoft.com/office/powerpoint/2010/main" val="11133308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Emergency Preparedness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b="0" i="0" dirty="0">
                <a:solidFill>
                  <a:srgbClr val="374151"/>
                </a:solidFill>
                <a:effectLst/>
                <a:latin typeface="Söhne"/>
              </a:rPr>
              <a:t>Introduction and background information on the importance of an emergency preparedness plan.</a:t>
            </a:r>
          </a:p>
          <a:p>
            <a:pPr marL="228600" indent="-228600" algn="l">
              <a:buFont typeface="+mj-lt"/>
              <a:buAutoNum type="arabicPeriod"/>
            </a:pPr>
            <a:r>
              <a:rPr lang="en-US" sz="1200" b="0" i="0" dirty="0">
                <a:solidFill>
                  <a:srgbClr val="374151"/>
                </a:solidFill>
                <a:effectLst/>
                <a:latin typeface="Söhne"/>
              </a:rPr>
              <a:t>An overview of the company's emergency preparedness plan, including key components such as risk assessment, crisis management, and business continuity planning.</a:t>
            </a:r>
          </a:p>
          <a:p>
            <a:pPr marL="228600" indent="-228600" algn="l">
              <a:buFont typeface="+mj-lt"/>
              <a:buAutoNum type="arabicPeriod"/>
            </a:pPr>
            <a:r>
              <a:rPr lang="en-US" sz="1200" b="0" i="0" dirty="0">
                <a:solidFill>
                  <a:srgbClr val="374151"/>
                </a:solidFill>
                <a:effectLst/>
                <a:latin typeface="Söhne"/>
              </a:rPr>
              <a:t>Specific details on the plan for different types of emergencies, including natural disasters, pandemics, and other crises.</a:t>
            </a:r>
          </a:p>
          <a:p>
            <a:pPr marL="228600" indent="-228600" algn="l">
              <a:buFont typeface="+mj-lt"/>
              <a:buAutoNum type="arabicPeriod"/>
            </a:pPr>
            <a:r>
              <a:rPr lang="en-US" sz="1200" b="0" i="0" dirty="0">
                <a:solidFill>
                  <a:srgbClr val="374151"/>
                </a:solidFill>
                <a:effectLst/>
                <a:latin typeface="Söhne"/>
              </a:rPr>
              <a:t>A summary of any recent emergency drills or exercises conducted to test the plan's effectiveness.</a:t>
            </a:r>
          </a:p>
          <a:p>
            <a:pPr marL="228600" indent="-228600" algn="l">
              <a:buFont typeface="+mj-lt"/>
              <a:buAutoNum type="arabicPeriod"/>
            </a:pPr>
            <a:r>
              <a:rPr lang="en-US" sz="1200" b="0" i="0" dirty="0">
                <a:solidFill>
                  <a:srgbClr val="374151"/>
                </a:solidFill>
                <a:effectLst/>
                <a:latin typeface="Söhne"/>
              </a:rPr>
              <a:t>Key performance indicators (KPIs) used to measure the success of the emergency preparedness plan.</a:t>
            </a:r>
          </a:p>
          <a:p>
            <a:pPr marL="228600" indent="-228600" algn="l">
              <a:buFont typeface="+mj-lt"/>
              <a:buAutoNum type="arabicPeriod"/>
            </a:pPr>
            <a:r>
              <a:rPr lang="en-US" sz="1200" b="0" i="0" dirty="0">
                <a:solidFill>
                  <a:srgbClr val="374151"/>
                </a:solidFill>
                <a:effectLst/>
                <a:latin typeface="Söhne"/>
              </a:rPr>
              <a:t>Future plans for improving and updating the emergency preparedness plan, including incorporating lessons learned from previous emergencies or crises.</a:t>
            </a:r>
          </a:p>
          <a:p>
            <a:pPr marL="228600" indent="-228600" algn="l">
              <a:buFont typeface="+mj-lt"/>
              <a:buAutoNum type="arabicPeriod"/>
            </a:pPr>
            <a:r>
              <a:rPr lang="en-US" sz="1200" b="0" i="0" dirty="0">
                <a:solidFill>
                  <a:srgbClr val="374151"/>
                </a:solidFill>
                <a:effectLst/>
                <a:latin typeface="Söhne"/>
              </a:rPr>
              <a:t>Any additional information or relevant updates regarding emergency preparedness and response.</a:t>
            </a:r>
          </a:p>
        </p:txBody>
      </p:sp>
    </p:spTree>
    <p:extLst>
      <p:ext uri="{BB962C8B-B14F-4D97-AF65-F5344CB8AC3E}">
        <p14:creationId xmlns:p14="http://schemas.microsoft.com/office/powerpoint/2010/main" val="9968363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Suppliers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b="0" i="0" dirty="0">
                <a:solidFill>
                  <a:srgbClr val="374151"/>
                </a:solidFill>
                <a:effectLst/>
                <a:latin typeface="Söhne"/>
              </a:rPr>
              <a:t>An overview of the company's suppliers, including a list of the largest suppliers and any significant changes to the supplier base since the last report. This could include information such as the number of active suppliers, total spend on suppliers, and supplier diversity metrics.</a:t>
            </a:r>
          </a:p>
          <a:p>
            <a:pPr marL="228600" indent="-228600" algn="l">
              <a:buFont typeface="+mj-lt"/>
              <a:buAutoNum type="arabicPeriod"/>
            </a:pPr>
            <a:r>
              <a:rPr lang="en-US" sz="1200" b="0" i="0" dirty="0">
                <a:solidFill>
                  <a:srgbClr val="374151"/>
                </a:solidFill>
                <a:effectLst/>
                <a:latin typeface="Söhne"/>
              </a:rPr>
              <a:t>An update on any key initiatives related to suppliers, such as efforts to consolidate suppliers, shift to suppliers closer to home, or efforts to increase supplier diversity. This may include details on progress made towards achieving these goals.</a:t>
            </a:r>
          </a:p>
          <a:p>
            <a:pPr marL="228600" indent="-228600" algn="l">
              <a:buFont typeface="+mj-lt"/>
              <a:buAutoNum type="arabicPeriod"/>
            </a:pPr>
            <a:r>
              <a:rPr lang="en-US" sz="1200" b="0" i="0" dirty="0">
                <a:solidFill>
                  <a:srgbClr val="374151"/>
                </a:solidFill>
                <a:effectLst/>
                <a:latin typeface="Söhne"/>
              </a:rPr>
              <a:t>A summary of any significant risks or challenges related to the supplier base, such as supply chain disruptions, supplier quality issues, or supplier bankruptcies.</a:t>
            </a:r>
          </a:p>
          <a:p>
            <a:pPr marL="228600" indent="-228600" algn="l">
              <a:buFont typeface="+mj-lt"/>
              <a:buAutoNum type="arabicPeriod"/>
            </a:pPr>
            <a:r>
              <a:rPr lang="en-US" sz="1200" b="0" i="0" dirty="0">
                <a:solidFill>
                  <a:srgbClr val="374151"/>
                </a:solidFill>
                <a:effectLst/>
                <a:latin typeface="Söhne"/>
              </a:rPr>
              <a:t>Key metrics related to supplier performance, such as lead times, delivery accuracy, and defect rates. This could include any trends in these metrics over time and any initiatives being undertaken to improve performance.</a:t>
            </a:r>
          </a:p>
          <a:p>
            <a:pPr marL="228600" indent="-228600" algn="l">
              <a:buFont typeface="+mj-lt"/>
              <a:buAutoNum type="arabicPeriod"/>
            </a:pPr>
            <a:r>
              <a:rPr lang="en-US" sz="1200" b="0" i="0" dirty="0">
                <a:solidFill>
                  <a:srgbClr val="374151"/>
                </a:solidFill>
                <a:effectLst/>
                <a:latin typeface="Söhne"/>
              </a:rPr>
              <a:t>Any other relevant information related to suppliers, such as key supplier contracts or significant supplier negotiations that are currently underway.</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19372538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Worker Safety</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Overview of workplace injuries</a:t>
            </a:r>
            <a:r>
              <a:rPr lang="en-US" sz="1200" b="0" i="0" dirty="0">
                <a:solidFill>
                  <a:srgbClr val="374151"/>
                </a:solidFill>
                <a:effectLst/>
                <a:latin typeface="Söhne"/>
              </a:rPr>
              <a:t>: An overview of workplace injuries since the last report, including the total number of injuries, the nature of the injuries, and any trends or patterns observed. This information should be presented in a table or chart format.</a:t>
            </a:r>
          </a:p>
          <a:p>
            <a:pPr marL="228600" indent="-228600" algn="l">
              <a:buFont typeface="+mj-lt"/>
              <a:buAutoNum type="arabicPeriod"/>
            </a:pPr>
            <a:r>
              <a:rPr lang="en-US" sz="1200" b="0" i="0" dirty="0">
                <a:solidFill>
                  <a:srgbClr val="374151"/>
                </a:solidFill>
                <a:effectLst/>
                <a:latin typeface="Söhne"/>
              </a:rPr>
              <a:t>Details of workplace injuries: A detailed breakdown of each injury, including the date, location, nature of the injury, and the employee's role and tenure with the company. This information should be presented in a table format.</a:t>
            </a:r>
          </a:p>
          <a:p>
            <a:pPr marL="228600" indent="-228600" algn="l">
              <a:buFont typeface="+mj-lt"/>
              <a:buAutoNum type="arabicPeriod"/>
            </a:pPr>
            <a:r>
              <a:rPr lang="en-US" sz="1200" i="0" dirty="0">
                <a:solidFill>
                  <a:srgbClr val="374151"/>
                </a:solidFill>
                <a:effectLst/>
                <a:latin typeface="Söhne"/>
              </a:rPr>
              <a:t>Initiatives to improve workplace safety</a:t>
            </a:r>
            <a:r>
              <a:rPr lang="en-US" sz="1200" b="0" i="0" dirty="0">
                <a:solidFill>
                  <a:srgbClr val="374151"/>
                </a:solidFill>
                <a:effectLst/>
                <a:latin typeface="Söhne"/>
              </a:rPr>
              <a:t>: An update on any initiatives or programs implemented to improve workplace safety since the last report. This may include changes in policies or procedures, training programs, equipment upgrades, or any other measures taken to prevent workplace injuries. Key performance indicators should be included to measure the effectiveness of these initiatives.</a:t>
            </a:r>
          </a:p>
          <a:p>
            <a:pPr marL="228600" indent="-228600" algn="l">
              <a:buFont typeface="+mj-lt"/>
              <a:buAutoNum type="arabicPeriod"/>
            </a:pPr>
            <a:r>
              <a:rPr lang="en-US" sz="1200" i="0" dirty="0">
                <a:solidFill>
                  <a:srgbClr val="374151"/>
                </a:solidFill>
                <a:effectLst/>
                <a:latin typeface="Söhne"/>
              </a:rPr>
              <a:t>Action plan for future improvement</a:t>
            </a:r>
            <a:r>
              <a:rPr lang="en-US" sz="1200" b="0" i="0" dirty="0">
                <a:solidFill>
                  <a:srgbClr val="374151"/>
                </a:solidFill>
                <a:effectLst/>
                <a:latin typeface="Söhne"/>
              </a:rPr>
              <a:t>: An action plan for future improvement should be presented that outlines the steps the company plans to take to improve workplace safety. The plan should be based on the findings and analysis presented in the previous sections and should be specific, measurable, and time-bound. Key performance indicators should be identified to measure progress and the impact of the actions taken.</a:t>
            </a:r>
          </a:p>
        </p:txBody>
      </p:sp>
    </p:spTree>
    <p:extLst>
      <p:ext uri="{BB962C8B-B14F-4D97-AF65-F5344CB8AC3E}">
        <p14:creationId xmlns:p14="http://schemas.microsoft.com/office/powerpoint/2010/main" val="5595346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E4B6F3D-F39D-82FA-3528-A3F1F7B178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E4B6F3D-F39D-82FA-3528-A3F1F7B178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9D66EAD0-976A-9CBA-E440-3B5D7F6C7065}"/>
              </a:ext>
            </a:extLst>
          </p:cNvPr>
          <p:cNvSpPr>
            <a:spLocks noGrp="1"/>
          </p:cNvSpPr>
          <p:nvPr>
            <p:ph type="title"/>
          </p:nvPr>
        </p:nvSpPr>
        <p:spPr/>
        <p:txBody>
          <a:bodyPr vert="horz"/>
          <a:lstStyle/>
          <a:p>
            <a:r>
              <a:rPr lang="en-US" dirty="0"/>
              <a:t>Board Reporting Package Contents</a:t>
            </a:r>
          </a:p>
        </p:txBody>
      </p:sp>
      <p:sp>
        <p:nvSpPr>
          <p:cNvPr id="23" name="Rounded Rectangle 33">
            <a:extLst>
              <a:ext uri="{FF2B5EF4-FFF2-40B4-BE49-F238E27FC236}">
                <a16:creationId xmlns:a16="http://schemas.microsoft.com/office/drawing/2014/main" id="{C82EEC47-011A-3986-C4CD-0F6BF3E13A5C}"/>
              </a:ext>
            </a:extLst>
          </p:cNvPr>
          <p:cNvSpPr/>
          <p:nvPr/>
        </p:nvSpPr>
        <p:spPr>
          <a:xfrm>
            <a:off x="409762" y="853079"/>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CEO &amp; BOARD CHAIR</a:t>
            </a:r>
          </a:p>
        </p:txBody>
      </p:sp>
      <p:sp>
        <p:nvSpPr>
          <p:cNvPr id="54" name="TextBox 53">
            <a:extLst>
              <a:ext uri="{FF2B5EF4-FFF2-40B4-BE49-F238E27FC236}">
                <a16:creationId xmlns:a16="http://schemas.microsoft.com/office/drawing/2014/main" id="{C852F15D-DEBA-82B2-6A49-FB2C85CB3853}"/>
              </a:ext>
            </a:extLst>
          </p:cNvPr>
          <p:cNvSpPr txBox="1"/>
          <p:nvPr/>
        </p:nvSpPr>
        <p:spPr>
          <a:xfrm>
            <a:off x="409762" y="151065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CEO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Board Chair Update</a:t>
            </a:r>
          </a:p>
        </p:txBody>
      </p:sp>
      <p:sp>
        <p:nvSpPr>
          <p:cNvPr id="55" name="Rounded Rectangle 33">
            <a:extLst>
              <a:ext uri="{FF2B5EF4-FFF2-40B4-BE49-F238E27FC236}">
                <a16:creationId xmlns:a16="http://schemas.microsoft.com/office/drawing/2014/main" id="{95A91E49-9A8A-96D6-533B-2C56F869D32F}"/>
              </a:ext>
            </a:extLst>
          </p:cNvPr>
          <p:cNvSpPr/>
          <p:nvPr/>
        </p:nvSpPr>
        <p:spPr>
          <a:xfrm>
            <a:off x="9295000" y="2148795"/>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CORPORATE DEVELOPMENT</a:t>
            </a:r>
          </a:p>
        </p:txBody>
      </p:sp>
      <p:sp>
        <p:nvSpPr>
          <p:cNvPr id="56" name="TextBox 55">
            <a:extLst>
              <a:ext uri="{FF2B5EF4-FFF2-40B4-BE49-F238E27FC236}">
                <a16:creationId xmlns:a16="http://schemas.microsoft.com/office/drawing/2014/main" id="{078BE5D7-CBB0-7B3D-AFEE-E049B3EC8AFE}"/>
              </a:ext>
            </a:extLst>
          </p:cNvPr>
          <p:cNvSpPr txBox="1"/>
          <p:nvPr/>
        </p:nvSpPr>
        <p:spPr>
          <a:xfrm>
            <a:off x="9282200" y="2827201"/>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Partnerships &amp; Alliances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Mergers &amp; Acquisitions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Post-merger Integration</a:t>
            </a:r>
          </a:p>
        </p:txBody>
      </p:sp>
      <p:sp>
        <p:nvSpPr>
          <p:cNvPr id="57" name="Rounded Rectangle 33">
            <a:extLst>
              <a:ext uri="{FF2B5EF4-FFF2-40B4-BE49-F238E27FC236}">
                <a16:creationId xmlns:a16="http://schemas.microsoft.com/office/drawing/2014/main" id="{047EDAFC-A516-E05C-A91F-44C7C46FB147}"/>
              </a:ext>
            </a:extLst>
          </p:cNvPr>
          <p:cNvSpPr/>
          <p:nvPr/>
        </p:nvSpPr>
        <p:spPr>
          <a:xfrm>
            <a:off x="9282200" y="3579788"/>
            <a:ext cx="2594695" cy="530969"/>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OTHER CORPORATE FUNCTIONS</a:t>
            </a:r>
          </a:p>
        </p:txBody>
      </p:sp>
      <p:sp>
        <p:nvSpPr>
          <p:cNvPr id="58" name="TextBox 57">
            <a:extLst>
              <a:ext uri="{FF2B5EF4-FFF2-40B4-BE49-F238E27FC236}">
                <a16:creationId xmlns:a16="http://schemas.microsoft.com/office/drawing/2014/main" id="{7A3E0AED-BC63-D8B3-2F56-CAFD1E971E31}"/>
              </a:ext>
            </a:extLst>
          </p:cNvPr>
          <p:cNvSpPr txBox="1"/>
          <p:nvPr/>
        </p:nvSpPr>
        <p:spPr>
          <a:xfrm>
            <a:off x="9282200" y="4264916"/>
            <a:ext cx="2620293" cy="1687284"/>
          </a:xfrm>
          <a:prstGeom prst="rect">
            <a:avLst/>
          </a:prstGeom>
          <a:noFill/>
        </p:spPr>
        <p:txBody>
          <a:bodyPr wrap="square" lIns="0" tIns="0" rIns="0" bIns="0" rtlCol="0">
            <a:noAutofit/>
          </a:bodyPr>
          <a:lstStyle/>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Intellectual Property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Risk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Legal &amp; Regulatory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Litigation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Investor Relations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Community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ESG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Sustainability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Awards &amp; Recognition</a:t>
            </a:r>
          </a:p>
        </p:txBody>
      </p:sp>
      <p:sp>
        <p:nvSpPr>
          <p:cNvPr id="59" name="Rounded Rectangle 33">
            <a:extLst>
              <a:ext uri="{FF2B5EF4-FFF2-40B4-BE49-F238E27FC236}">
                <a16:creationId xmlns:a16="http://schemas.microsoft.com/office/drawing/2014/main" id="{92BD0F0E-08AC-37AD-FD60-1F03343DE46E}"/>
              </a:ext>
            </a:extLst>
          </p:cNvPr>
          <p:cNvSpPr/>
          <p:nvPr/>
        </p:nvSpPr>
        <p:spPr>
          <a:xfrm>
            <a:off x="384173" y="2005691"/>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AGENDA</a:t>
            </a:r>
          </a:p>
        </p:txBody>
      </p:sp>
      <p:sp>
        <p:nvSpPr>
          <p:cNvPr id="60" name="Rounded Rectangle 33">
            <a:extLst>
              <a:ext uri="{FF2B5EF4-FFF2-40B4-BE49-F238E27FC236}">
                <a16:creationId xmlns:a16="http://schemas.microsoft.com/office/drawing/2014/main" id="{CB90976E-C934-E589-3C43-C6536961F66B}"/>
              </a:ext>
            </a:extLst>
          </p:cNvPr>
          <p:cNvSpPr/>
          <p:nvPr/>
        </p:nvSpPr>
        <p:spPr>
          <a:xfrm>
            <a:off x="3371511" y="842768"/>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PRODUCT</a:t>
            </a:r>
          </a:p>
        </p:txBody>
      </p:sp>
      <p:sp>
        <p:nvSpPr>
          <p:cNvPr id="61" name="Rounded Rectangle 33">
            <a:extLst>
              <a:ext uri="{FF2B5EF4-FFF2-40B4-BE49-F238E27FC236}">
                <a16:creationId xmlns:a16="http://schemas.microsoft.com/office/drawing/2014/main" id="{7FA80707-EFC9-FBBD-95A3-C53653725FD5}"/>
              </a:ext>
            </a:extLst>
          </p:cNvPr>
          <p:cNvSpPr/>
          <p:nvPr/>
        </p:nvSpPr>
        <p:spPr>
          <a:xfrm>
            <a:off x="3371510" y="221609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MARKETING</a:t>
            </a:r>
          </a:p>
        </p:txBody>
      </p:sp>
      <p:sp>
        <p:nvSpPr>
          <p:cNvPr id="62" name="TextBox 61">
            <a:extLst>
              <a:ext uri="{FF2B5EF4-FFF2-40B4-BE49-F238E27FC236}">
                <a16:creationId xmlns:a16="http://schemas.microsoft.com/office/drawing/2014/main" id="{30745068-3C50-A3AC-D3F9-F374532A853E}"/>
              </a:ext>
            </a:extLst>
          </p:cNvPr>
          <p:cNvSpPr txBox="1"/>
          <p:nvPr/>
        </p:nvSpPr>
        <p:spPr>
          <a:xfrm>
            <a:off x="409762" y="3815874"/>
            <a:ext cx="2620293" cy="2923758"/>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Financial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Income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Cash Flow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Balance Sheet</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Revenue Breakdown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Operating Expenses Breakdown</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Cost Reduction Initiatives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Profitability Analysis/ROI</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Working Capital Analysis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Receivable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Payable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Expenditures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Raising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Debt Overview &amp; Refinancing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Tax</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Property &amp; Real Estate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Foreign Currency Exposure</a:t>
            </a:r>
          </a:p>
        </p:txBody>
      </p:sp>
      <p:sp>
        <p:nvSpPr>
          <p:cNvPr id="1025" name="TextBox 1024">
            <a:extLst>
              <a:ext uri="{FF2B5EF4-FFF2-40B4-BE49-F238E27FC236}">
                <a16:creationId xmlns:a16="http://schemas.microsoft.com/office/drawing/2014/main" id="{02F92317-B039-B079-BB61-FC63C637FB38}"/>
              </a:ext>
            </a:extLst>
          </p:cNvPr>
          <p:cNvSpPr txBox="1"/>
          <p:nvPr/>
        </p:nvSpPr>
        <p:spPr>
          <a:xfrm>
            <a:off x="3371511" y="151559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Development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Research &amp;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Roadmap</a:t>
            </a:r>
          </a:p>
        </p:txBody>
      </p:sp>
      <p:sp>
        <p:nvSpPr>
          <p:cNvPr id="1026" name="TextBox 1025">
            <a:extLst>
              <a:ext uri="{FF2B5EF4-FFF2-40B4-BE49-F238E27FC236}">
                <a16:creationId xmlns:a16="http://schemas.microsoft.com/office/drawing/2014/main" id="{CC1A5311-249B-C428-EBB6-A72E016472C6}"/>
              </a:ext>
            </a:extLst>
          </p:cNvPr>
          <p:cNvSpPr txBox="1"/>
          <p:nvPr/>
        </p:nvSpPr>
        <p:spPr>
          <a:xfrm>
            <a:off x="3371511" y="286130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Initiatives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Expansion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ROI</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Pricing Strategy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Data &amp; Analytics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Advertising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Competitors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Branding &amp; Marketing Materials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Website</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Social Media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Industry Events &amp; Conferences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Public Relations</a:t>
            </a:r>
          </a:p>
        </p:txBody>
      </p:sp>
      <p:sp>
        <p:nvSpPr>
          <p:cNvPr id="1027" name="Rounded Rectangle 33">
            <a:extLst>
              <a:ext uri="{FF2B5EF4-FFF2-40B4-BE49-F238E27FC236}">
                <a16:creationId xmlns:a16="http://schemas.microsoft.com/office/drawing/2014/main" id="{D14AE144-6082-3A53-FA31-003FBCFBEE2C}"/>
              </a:ext>
            </a:extLst>
          </p:cNvPr>
          <p:cNvSpPr/>
          <p:nvPr/>
        </p:nvSpPr>
        <p:spPr>
          <a:xfrm>
            <a:off x="3371509" y="524534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SALES</a:t>
            </a:r>
          </a:p>
        </p:txBody>
      </p:sp>
      <p:sp>
        <p:nvSpPr>
          <p:cNvPr id="1028" name="TextBox 1027">
            <a:extLst>
              <a:ext uri="{FF2B5EF4-FFF2-40B4-BE49-F238E27FC236}">
                <a16:creationId xmlns:a16="http://schemas.microsoft.com/office/drawing/2014/main" id="{F1DE495A-583A-63C4-C570-434B9345A842}"/>
              </a:ext>
            </a:extLst>
          </p:cNvPr>
          <p:cNvSpPr txBox="1"/>
          <p:nvPr/>
        </p:nvSpPr>
        <p:spPr>
          <a:xfrm>
            <a:off x="3371511" y="589055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Pipeline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Team Performance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Region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Channel</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Channel Partners</a:t>
            </a:r>
          </a:p>
        </p:txBody>
      </p:sp>
      <p:sp>
        <p:nvSpPr>
          <p:cNvPr id="1029" name="Rounded Rectangle 33">
            <a:extLst>
              <a:ext uri="{FF2B5EF4-FFF2-40B4-BE49-F238E27FC236}">
                <a16:creationId xmlns:a16="http://schemas.microsoft.com/office/drawing/2014/main" id="{E46F2696-EE7E-BBE9-9BF4-4DC8BC64543E}"/>
              </a:ext>
            </a:extLst>
          </p:cNvPr>
          <p:cNvSpPr/>
          <p:nvPr/>
        </p:nvSpPr>
        <p:spPr>
          <a:xfrm>
            <a:off x="6333261" y="2511844"/>
            <a:ext cx="2594695" cy="533400"/>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CUSTOMERS</a:t>
            </a:r>
          </a:p>
        </p:txBody>
      </p:sp>
      <p:sp>
        <p:nvSpPr>
          <p:cNvPr id="1030" name="Rounded Rectangle 33">
            <a:extLst>
              <a:ext uri="{FF2B5EF4-FFF2-40B4-BE49-F238E27FC236}">
                <a16:creationId xmlns:a16="http://schemas.microsoft.com/office/drawing/2014/main" id="{E5838DA9-13C2-4188-6172-7E7C7EDFA057}"/>
              </a:ext>
            </a:extLst>
          </p:cNvPr>
          <p:cNvSpPr/>
          <p:nvPr/>
        </p:nvSpPr>
        <p:spPr>
          <a:xfrm>
            <a:off x="6333261" y="846554"/>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OPERATIONS AND SUPPLY CHAIN</a:t>
            </a:r>
          </a:p>
        </p:txBody>
      </p:sp>
      <p:sp>
        <p:nvSpPr>
          <p:cNvPr id="1032" name="Rounded Rectangle 33">
            <a:extLst>
              <a:ext uri="{FF2B5EF4-FFF2-40B4-BE49-F238E27FC236}">
                <a16:creationId xmlns:a16="http://schemas.microsoft.com/office/drawing/2014/main" id="{A5872E9A-5A2E-D1A6-AEC1-30E6373A0CF4}"/>
              </a:ext>
            </a:extLst>
          </p:cNvPr>
          <p:cNvSpPr/>
          <p:nvPr/>
        </p:nvSpPr>
        <p:spPr>
          <a:xfrm>
            <a:off x="9295011" y="865239"/>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INFORMATION TECHNOLOGY</a:t>
            </a:r>
          </a:p>
        </p:txBody>
      </p:sp>
      <p:sp>
        <p:nvSpPr>
          <p:cNvPr id="1033" name="Rounded Rectangle 33">
            <a:extLst>
              <a:ext uri="{FF2B5EF4-FFF2-40B4-BE49-F238E27FC236}">
                <a16:creationId xmlns:a16="http://schemas.microsoft.com/office/drawing/2014/main" id="{DB676218-8B0C-2374-3190-ADAFBD304B29}"/>
              </a:ext>
            </a:extLst>
          </p:cNvPr>
          <p:cNvSpPr/>
          <p:nvPr/>
        </p:nvSpPr>
        <p:spPr>
          <a:xfrm>
            <a:off x="6333261" y="4356030"/>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HUMAN RESOURCES</a:t>
            </a:r>
          </a:p>
        </p:txBody>
      </p:sp>
      <p:sp>
        <p:nvSpPr>
          <p:cNvPr id="1035" name="TextBox 1034">
            <a:extLst>
              <a:ext uri="{FF2B5EF4-FFF2-40B4-BE49-F238E27FC236}">
                <a16:creationId xmlns:a16="http://schemas.microsoft.com/office/drawing/2014/main" id="{01C116CF-D899-36F7-219D-C1159D8B52D7}"/>
              </a:ext>
            </a:extLst>
          </p:cNvPr>
          <p:cNvSpPr txBox="1"/>
          <p:nvPr/>
        </p:nvSpPr>
        <p:spPr>
          <a:xfrm>
            <a:off x="6358858"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Operations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Supply Chain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Emergency Preparedness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Suppliers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Worker Safety</a:t>
            </a:r>
          </a:p>
        </p:txBody>
      </p:sp>
      <p:sp>
        <p:nvSpPr>
          <p:cNvPr id="1036" name="TextBox 1035">
            <a:extLst>
              <a:ext uri="{FF2B5EF4-FFF2-40B4-BE49-F238E27FC236}">
                <a16:creationId xmlns:a16="http://schemas.microsoft.com/office/drawing/2014/main" id="{6D63E6C1-0425-4437-888A-F3E8D5A060AC}"/>
              </a:ext>
            </a:extLst>
          </p:cNvPr>
          <p:cNvSpPr txBox="1"/>
          <p:nvPr/>
        </p:nvSpPr>
        <p:spPr>
          <a:xfrm>
            <a:off x="6333260" y="3208935"/>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Service</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Satisfaction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Consumer Insights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Case Studies</a:t>
            </a:r>
          </a:p>
        </p:txBody>
      </p:sp>
      <p:sp>
        <p:nvSpPr>
          <p:cNvPr id="1037" name="TextBox 1036">
            <a:extLst>
              <a:ext uri="{FF2B5EF4-FFF2-40B4-BE49-F238E27FC236}">
                <a16:creationId xmlns:a16="http://schemas.microsoft.com/office/drawing/2014/main" id="{2BD1D13D-59B1-D4F8-4E1E-A026079AC144}"/>
              </a:ext>
            </a:extLst>
          </p:cNvPr>
          <p:cNvSpPr txBox="1"/>
          <p:nvPr/>
        </p:nvSpPr>
        <p:spPr>
          <a:xfrm>
            <a:off x="9346205"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IT Infrastructure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Cybersecurity</a:t>
            </a:r>
          </a:p>
        </p:txBody>
      </p:sp>
      <p:sp>
        <p:nvSpPr>
          <p:cNvPr id="1039" name="TextBox 1038">
            <a:extLst>
              <a:ext uri="{FF2B5EF4-FFF2-40B4-BE49-F238E27FC236}">
                <a16:creationId xmlns:a16="http://schemas.microsoft.com/office/drawing/2014/main" id="{7F71797E-DAE7-019D-7E27-5D562C6571DD}"/>
              </a:ext>
            </a:extLst>
          </p:cNvPr>
          <p:cNvSpPr txBox="1"/>
          <p:nvPr/>
        </p:nvSpPr>
        <p:spPr>
          <a:xfrm>
            <a:off x="6333260" y="5052741"/>
            <a:ext cx="2831794"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Human Resources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Organizational 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Leadership Team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Talent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Compensation</a:t>
            </a:r>
            <a:r>
              <a:rPr lang="en-US" sz="1100" dirty="0">
                <a:solidFill>
                  <a:srgbClr val="000000"/>
                </a:solidFill>
                <a:latin typeface="Verdana"/>
              </a:rPr>
              <a:t> and </a:t>
            </a:r>
            <a:r>
              <a:rPr kumimoji="0" lang="en-US" sz="1100" b="0" i="0" u="none" strike="noStrike" kern="1200" cap="none" spc="0" normalizeH="0" baseline="0" noProof="0" dirty="0">
                <a:ln>
                  <a:noFill/>
                </a:ln>
                <a:solidFill>
                  <a:srgbClr val="000000"/>
                </a:solidFill>
                <a:effectLst/>
                <a:uLnTx/>
                <a:uFillTx/>
                <a:latin typeface="Verdana"/>
                <a:ea typeface="+mn-ea"/>
                <a:cs typeface="+mn-cs"/>
              </a:rPr>
              <a:t>Benefits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Learning and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Diversity, Equity, and Inclusion</a:t>
            </a:r>
          </a:p>
        </p:txBody>
      </p:sp>
      <p:sp>
        <p:nvSpPr>
          <p:cNvPr id="2" name="Rounded Rectangle 33">
            <a:extLst>
              <a:ext uri="{FF2B5EF4-FFF2-40B4-BE49-F238E27FC236}">
                <a16:creationId xmlns:a16="http://schemas.microsoft.com/office/drawing/2014/main" id="{1B612D95-4099-846D-D69A-44F681C34655}"/>
              </a:ext>
            </a:extLst>
          </p:cNvPr>
          <p:cNvSpPr/>
          <p:nvPr/>
        </p:nvSpPr>
        <p:spPr>
          <a:xfrm>
            <a:off x="384173" y="3162300"/>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FINANCE</a:t>
            </a:r>
          </a:p>
        </p:txBody>
      </p:sp>
      <p:sp>
        <p:nvSpPr>
          <p:cNvPr id="4" name="TextBox 3">
            <a:extLst>
              <a:ext uri="{FF2B5EF4-FFF2-40B4-BE49-F238E27FC236}">
                <a16:creationId xmlns:a16="http://schemas.microsoft.com/office/drawing/2014/main" id="{F322B9F2-CA67-D5B4-CC60-7F01099438FE}"/>
              </a:ext>
            </a:extLst>
          </p:cNvPr>
          <p:cNvSpPr txBox="1"/>
          <p:nvPr/>
        </p:nvSpPr>
        <p:spPr>
          <a:xfrm>
            <a:off x="384173" y="2663262"/>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Agenda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Previous Meeting Minutes</a:t>
            </a:r>
          </a:p>
        </p:txBody>
      </p:sp>
    </p:spTree>
    <p:extLst>
      <p:ext uri="{BB962C8B-B14F-4D97-AF65-F5344CB8AC3E}">
        <p14:creationId xmlns:p14="http://schemas.microsoft.com/office/powerpoint/2010/main" val="1011489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Customer Service</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Customer service response times</a:t>
            </a:r>
            <a:r>
              <a:rPr lang="en-US" sz="1200" b="0" i="0" dirty="0">
                <a:solidFill>
                  <a:srgbClr val="374151"/>
                </a:solidFill>
                <a:effectLst/>
                <a:latin typeface="Söhne"/>
              </a:rPr>
              <a:t>: An analysis of customer service response times during the quarter, including average response times, peak response times, and any notable trends.</a:t>
            </a:r>
          </a:p>
          <a:p>
            <a:pPr marL="228600" indent="-228600" algn="l">
              <a:buFont typeface="+mj-lt"/>
              <a:buAutoNum type="arabicPeriod"/>
            </a:pPr>
            <a:r>
              <a:rPr lang="en-US" sz="1200" i="0" dirty="0">
                <a:solidFill>
                  <a:srgbClr val="374151"/>
                </a:solidFill>
                <a:effectLst/>
                <a:latin typeface="Söhne"/>
              </a:rPr>
              <a:t>Customer satisfaction rates</a:t>
            </a:r>
            <a:r>
              <a:rPr lang="en-US" sz="1200" b="0" i="0" dirty="0">
                <a:solidFill>
                  <a:srgbClr val="374151"/>
                </a:solidFill>
                <a:effectLst/>
                <a:latin typeface="Söhne"/>
              </a:rPr>
              <a:t>: An analysis of customer satisfaction rates, including overall satisfaction rates, ratings for specific customer service channels, and any notable trends.</a:t>
            </a:r>
          </a:p>
          <a:p>
            <a:pPr marL="228600" indent="-228600" algn="l">
              <a:buFont typeface="+mj-lt"/>
              <a:buAutoNum type="arabicPeriod"/>
            </a:pPr>
            <a:r>
              <a:rPr lang="en-US" sz="1200" i="0" dirty="0">
                <a:solidFill>
                  <a:srgbClr val="374151"/>
                </a:solidFill>
                <a:effectLst/>
                <a:latin typeface="Söhne"/>
              </a:rPr>
              <a:t>Resolution rates</a:t>
            </a:r>
            <a:r>
              <a:rPr lang="en-US" sz="1200" b="0" i="0" dirty="0">
                <a:solidFill>
                  <a:srgbClr val="374151"/>
                </a:solidFill>
                <a:effectLst/>
                <a:latin typeface="Söhne"/>
              </a:rPr>
              <a:t>: An analysis of customer service issue resolution rates, including average resolution times, peak resolution times, and any notable trends.</a:t>
            </a:r>
          </a:p>
          <a:p>
            <a:pPr marL="228600" indent="-228600" algn="l">
              <a:buFont typeface="+mj-lt"/>
              <a:buAutoNum type="arabicPeriod"/>
            </a:pPr>
            <a:r>
              <a:rPr lang="en-US" sz="1200" i="0" dirty="0">
                <a:solidFill>
                  <a:srgbClr val="374151"/>
                </a:solidFill>
                <a:effectLst/>
                <a:latin typeface="Söhne"/>
              </a:rPr>
              <a:t>Customer feedback</a:t>
            </a:r>
            <a:r>
              <a:rPr lang="en-US" sz="1200" b="0" i="0" dirty="0">
                <a:solidFill>
                  <a:srgbClr val="374151"/>
                </a:solidFill>
                <a:effectLst/>
                <a:latin typeface="Söhne"/>
              </a:rPr>
              <a:t>: A summary of customer feedback received during the quarter, including common complaints, praise, and suggestions.</a:t>
            </a:r>
          </a:p>
          <a:p>
            <a:pPr marL="228600" indent="-228600" algn="l">
              <a:buFont typeface="+mj-lt"/>
              <a:buAutoNum type="arabicPeriod"/>
            </a:pPr>
            <a:r>
              <a:rPr lang="en-US" sz="1200" i="0" dirty="0">
                <a:solidFill>
                  <a:srgbClr val="374151"/>
                </a:solidFill>
                <a:effectLst/>
                <a:latin typeface="Söhne"/>
              </a:rPr>
              <a:t>Action plan</a:t>
            </a:r>
            <a:r>
              <a:rPr lang="en-US" sz="1200" b="0" i="0" dirty="0">
                <a:solidFill>
                  <a:srgbClr val="374151"/>
                </a:solidFill>
                <a:effectLst/>
                <a:latin typeface="Söhne"/>
              </a:rPr>
              <a:t>: An overview of any action plans or initiatives to improve customer service based on the metrics presented, including timelines and responsible parties.</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summary of the key takeaways from the analysis and the company's overall performance in customer service during the quarter.</a:t>
            </a:r>
          </a:p>
        </p:txBody>
      </p:sp>
    </p:spTree>
    <p:extLst>
      <p:ext uri="{BB962C8B-B14F-4D97-AF65-F5344CB8AC3E}">
        <p14:creationId xmlns:p14="http://schemas.microsoft.com/office/powerpoint/2010/main" val="27285885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Customer Acquisition</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An overview of customer acquisition during the quarter including the total number of new customers acquired,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Cost of acquisition</a:t>
            </a:r>
            <a:r>
              <a:rPr lang="en-US" sz="1200" b="0" i="0" dirty="0">
                <a:solidFill>
                  <a:srgbClr val="374151"/>
                </a:solidFill>
                <a:effectLst/>
                <a:latin typeface="Söhne"/>
              </a:rPr>
              <a:t>: An analysis of the cost of acquiring new customers, including the total marketing and sales expenses, and an evaluation of the effectiveness of various marketing channels and campaigns.</a:t>
            </a:r>
          </a:p>
          <a:p>
            <a:pPr marL="228600" indent="-228600" algn="l">
              <a:buFont typeface="+mj-lt"/>
              <a:buAutoNum type="arabicPeriod"/>
            </a:pPr>
            <a:r>
              <a:rPr lang="en-US" sz="1200" i="0" dirty="0">
                <a:solidFill>
                  <a:srgbClr val="374151"/>
                </a:solidFill>
                <a:effectLst/>
                <a:latin typeface="Söhne"/>
              </a:rPr>
              <a:t>Customer demographics</a:t>
            </a:r>
            <a:r>
              <a:rPr lang="en-US" sz="1200" b="0" i="0" dirty="0">
                <a:solidFill>
                  <a:srgbClr val="374151"/>
                </a:solidFill>
                <a:effectLst/>
                <a:latin typeface="Söhne"/>
              </a:rPr>
              <a:t>: An analysis of the demographics of new customers, including their age, gender, location, and other relevant characteristics, and an evaluation of the effectiveness of the company's marketing and sales strategies in targeting these customers.</a:t>
            </a:r>
          </a:p>
          <a:p>
            <a:pPr marL="228600" indent="-228600" algn="l">
              <a:buFont typeface="+mj-lt"/>
              <a:buAutoNum type="arabicPeriod"/>
            </a:pPr>
            <a:r>
              <a:rPr lang="en-US" sz="1200" i="0" dirty="0">
                <a:solidFill>
                  <a:srgbClr val="374151"/>
                </a:solidFill>
                <a:effectLst/>
                <a:latin typeface="Söhne"/>
              </a:rPr>
              <a:t>Sales cycle time</a:t>
            </a:r>
            <a:r>
              <a:rPr lang="en-US" sz="1200" b="0" i="0" dirty="0">
                <a:solidFill>
                  <a:srgbClr val="374151"/>
                </a:solidFill>
                <a:effectLst/>
                <a:latin typeface="Söhne"/>
              </a:rPr>
              <a:t>: An analysis of the average sales cycle time for new customers, including any significant changes compared to previous quarters or years, and an evaluation of the effectiveness of the company's sales process in converting leads into closed deals.</a:t>
            </a:r>
          </a:p>
          <a:p>
            <a:pPr marL="228600" indent="-228600" algn="l">
              <a:buFont typeface="+mj-lt"/>
              <a:buAutoNum type="arabicPeriod"/>
            </a:pPr>
            <a:r>
              <a:rPr lang="en-US" sz="1200" i="0" dirty="0">
                <a:solidFill>
                  <a:srgbClr val="374151"/>
                </a:solidFill>
                <a:effectLst/>
                <a:latin typeface="Söhne"/>
              </a:rPr>
              <a:t>Customer retention</a:t>
            </a:r>
            <a:r>
              <a:rPr lang="en-US" sz="1200" b="0" i="0" dirty="0">
                <a:solidFill>
                  <a:srgbClr val="374151"/>
                </a:solidFill>
                <a:effectLst/>
                <a:latin typeface="Söhne"/>
              </a:rPr>
              <a:t>: An analysis of the customer retention rate for new customers, including any significant changes compared to previous quarters or years, and an evaluation of the effectiveness of the company's customer service and support in keeping customers satisfied and loyal.</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customer acquisition data, such as a bar chart or a pie chart, to make it easier to visualize the demographics and trends of new customers.</a:t>
            </a:r>
          </a:p>
          <a:p>
            <a:pPr marL="228600" indent="-228600" algn="l">
              <a:buFont typeface="+mj-lt"/>
              <a:buAutoNum type="arabicPeriod"/>
            </a:pPr>
            <a:r>
              <a:rPr lang="en-US" sz="1200" b="0" i="0" dirty="0">
                <a:solidFill>
                  <a:srgbClr val="374151"/>
                </a:solidFill>
                <a:effectLst/>
                <a:latin typeface="Söhne"/>
              </a:rPr>
              <a:t>Conclusion: A brief summary of the customer acquisition performance during the quarter, including any noteworthy achievements or concerns, and the strategies or initiatives planned to improve the customer acquisition in the next quarter.</a:t>
            </a:r>
          </a:p>
          <a:p>
            <a:endParaRPr lang="en-US" sz="1200" b="0" dirty="0"/>
          </a:p>
        </p:txBody>
      </p:sp>
    </p:spTree>
    <p:extLst>
      <p:ext uri="{BB962C8B-B14F-4D97-AF65-F5344CB8AC3E}">
        <p14:creationId xmlns:p14="http://schemas.microsoft.com/office/powerpoint/2010/main" val="3178285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Customer Retention</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An overview of customer retention during the quarter including the total number of active customers and an analysis of the trend compared to previous quarters or years.</a:t>
            </a:r>
          </a:p>
          <a:p>
            <a:pPr marL="228600" indent="-228600" algn="l">
              <a:buFont typeface="+mj-lt"/>
              <a:buAutoNum type="arabicPeriod"/>
            </a:pPr>
            <a:r>
              <a:rPr lang="en-US" sz="1200" i="0" dirty="0">
                <a:solidFill>
                  <a:srgbClr val="374151"/>
                </a:solidFill>
                <a:effectLst/>
                <a:latin typeface="Söhne"/>
              </a:rPr>
              <a:t>Churn rate</a:t>
            </a:r>
            <a:r>
              <a:rPr lang="en-US" sz="1200" b="0" i="0" dirty="0">
                <a:solidFill>
                  <a:srgbClr val="374151"/>
                </a:solidFill>
                <a:effectLst/>
                <a:latin typeface="Söhne"/>
              </a:rPr>
              <a:t>: An analysis of the churn rate during the quarter, including the total number of lost customers and the percentage of customers lost, and an evaluation of the reasons behind the customer churn.</a:t>
            </a:r>
          </a:p>
          <a:p>
            <a:pPr marL="228600" indent="-228600" algn="l">
              <a:buFont typeface="+mj-lt"/>
              <a:buAutoNum type="arabicPeriod"/>
            </a:pPr>
            <a:r>
              <a:rPr lang="en-US" sz="1200" i="0" dirty="0">
                <a:solidFill>
                  <a:srgbClr val="374151"/>
                </a:solidFill>
                <a:effectLst/>
                <a:latin typeface="Söhne"/>
              </a:rPr>
              <a:t>Customer lifetime value</a:t>
            </a:r>
            <a:r>
              <a:rPr lang="en-US" sz="1200" b="0" i="0" dirty="0">
                <a:solidFill>
                  <a:srgbClr val="374151"/>
                </a:solidFill>
                <a:effectLst/>
                <a:latin typeface="Söhne"/>
              </a:rPr>
              <a:t>: An analysis of the customer lifetime value (CLV) during the quarter, including the average revenue generated by a customer over their lifetime, and an evaluation of the effectiveness of the company's customer retention strategies in maximizing CLV.</a:t>
            </a:r>
          </a:p>
          <a:p>
            <a:pPr marL="228600" indent="-228600" algn="l">
              <a:buFont typeface="+mj-lt"/>
              <a:buAutoNum type="arabicPeriod"/>
            </a:pPr>
            <a:r>
              <a:rPr lang="en-US" sz="1200" i="0" dirty="0">
                <a:solidFill>
                  <a:srgbClr val="374151"/>
                </a:solidFill>
                <a:effectLst/>
                <a:latin typeface="Söhne"/>
              </a:rPr>
              <a:t>Customer engagement</a:t>
            </a:r>
            <a:r>
              <a:rPr lang="en-US" sz="1200" b="0" i="0" dirty="0">
                <a:solidFill>
                  <a:srgbClr val="374151"/>
                </a:solidFill>
                <a:effectLst/>
                <a:latin typeface="Söhne"/>
              </a:rPr>
              <a:t>: An analysis of the level of customer engagement during the quarter, including metrics such as customer satisfaction, Net Promoter Score (NPS), and customer referrals, and an evaluation of the effectiveness of the company's customer engagement strategies.</a:t>
            </a:r>
          </a:p>
          <a:p>
            <a:pPr marL="228600" indent="-228600" algn="l">
              <a:buFont typeface="+mj-lt"/>
              <a:buAutoNum type="arabicPeriod"/>
            </a:pPr>
            <a:r>
              <a:rPr lang="en-US" sz="1200" i="0" dirty="0">
                <a:solidFill>
                  <a:srgbClr val="374151"/>
                </a:solidFill>
                <a:effectLst/>
                <a:latin typeface="Söhne"/>
              </a:rPr>
              <a:t>Customer feedback</a:t>
            </a:r>
            <a:r>
              <a:rPr lang="en-US" sz="1200" b="0" i="0" dirty="0">
                <a:solidFill>
                  <a:srgbClr val="374151"/>
                </a:solidFill>
                <a:effectLst/>
                <a:latin typeface="Söhne"/>
              </a:rPr>
              <a:t>: An analysis of the customer feedback received during the quarter, including feedback from surveys, reviews, and support tickets, and an evaluation of the trends and patterns in customer feedback.</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customer retention data, such as a line chart or a stacked bar chart, to make it easier to visualize the trends in customer retention and engagement.</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customer retention performance during the quarter, including any noteworthy achievements or concerns, and the strategies or initiatives planned to improve customer retention in the next quarter.</a:t>
            </a:r>
          </a:p>
        </p:txBody>
      </p:sp>
    </p:spTree>
    <p:extLst>
      <p:ext uri="{BB962C8B-B14F-4D97-AF65-F5344CB8AC3E}">
        <p14:creationId xmlns:p14="http://schemas.microsoft.com/office/powerpoint/2010/main" val="13650403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Customer Satisfaction</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An overview of customer satisfaction metrics during the quarter including the Net Promoter Score (NPS) and any other customer satisfaction metrics used by the company.</a:t>
            </a:r>
          </a:p>
          <a:p>
            <a:pPr marL="228600" indent="-228600" algn="l">
              <a:buFont typeface="+mj-lt"/>
              <a:buAutoNum type="arabicPeriod"/>
            </a:pPr>
            <a:r>
              <a:rPr lang="en-US" sz="1200" i="0" dirty="0">
                <a:solidFill>
                  <a:srgbClr val="374151"/>
                </a:solidFill>
                <a:effectLst/>
                <a:latin typeface="Söhne"/>
              </a:rPr>
              <a:t>NPS</a:t>
            </a:r>
            <a:r>
              <a:rPr lang="en-US" sz="1200" b="0" i="0" dirty="0">
                <a:solidFill>
                  <a:srgbClr val="374151"/>
                </a:solidFill>
                <a:effectLst/>
                <a:latin typeface="Söhne"/>
              </a:rPr>
              <a:t>: A detailed analysis of the NPS score during the quarter, including the total number of responses and the breakdown of promoters, detractors, and passives.</a:t>
            </a:r>
          </a:p>
          <a:p>
            <a:pPr marL="228600" indent="-228600" algn="l">
              <a:buFont typeface="+mj-lt"/>
              <a:buAutoNum type="arabicPeriod"/>
            </a:pPr>
            <a:r>
              <a:rPr lang="en-US" sz="1200" i="0" dirty="0">
                <a:solidFill>
                  <a:srgbClr val="374151"/>
                </a:solidFill>
                <a:effectLst/>
                <a:latin typeface="Söhne"/>
              </a:rPr>
              <a:t>Customer reviews</a:t>
            </a:r>
            <a:r>
              <a:rPr lang="en-US" sz="1200" b="0" i="0" dirty="0">
                <a:solidFill>
                  <a:srgbClr val="374151"/>
                </a:solidFill>
                <a:effectLst/>
                <a:latin typeface="Söhne"/>
              </a:rPr>
              <a:t>: An analysis of customer reviews received during the quarter, including feedback from review sites and social media platforms, and an evaluation of the trends and patterns in customer feedback.</a:t>
            </a:r>
          </a:p>
          <a:p>
            <a:pPr marL="228600" indent="-228600" algn="l">
              <a:buFont typeface="+mj-lt"/>
              <a:buAutoNum type="arabicPeriod"/>
            </a:pPr>
            <a:r>
              <a:rPr lang="en-US" sz="1200" i="0" dirty="0">
                <a:solidFill>
                  <a:srgbClr val="374151"/>
                </a:solidFill>
                <a:effectLst/>
                <a:latin typeface="Söhne"/>
              </a:rPr>
              <a:t>Customer support</a:t>
            </a:r>
            <a:r>
              <a:rPr lang="en-US" sz="1200" b="0" i="0" dirty="0">
                <a:solidFill>
                  <a:srgbClr val="374151"/>
                </a:solidFill>
                <a:effectLst/>
                <a:latin typeface="Söhne"/>
              </a:rPr>
              <a:t>: An analysis of customer support during the quarter, including metrics such as response time, resolution time, and customer satisfaction with support interactions.</a:t>
            </a:r>
          </a:p>
          <a:p>
            <a:pPr marL="228600" indent="-228600" algn="l">
              <a:buFont typeface="+mj-lt"/>
              <a:buAutoNum type="arabicPeriod"/>
            </a:pPr>
            <a:r>
              <a:rPr lang="en-US" sz="1200" i="0" dirty="0">
                <a:solidFill>
                  <a:srgbClr val="374151"/>
                </a:solidFill>
                <a:effectLst/>
                <a:latin typeface="Söhne"/>
              </a:rPr>
              <a:t>Improvement initiatives</a:t>
            </a:r>
            <a:r>
              <a:rPr lang="en-US" sz="1200" b="0" i="0" dirty="0">
                <a:solidFill>
                  <a:srgbClr val="374151"/>
                </a:solidFill>
                <a:effectLst/>
                <a:latin typeface="Söhne"/>
              </a:rPr>
              <a:t>: An overview of the initiatives implemented during the quarter to improve customer satisfaction, such as customer feedback surveys, product enhancements, and support process improvements.</a:t>
            </a:r>
          </a:p>
          <a:p>
            <a:pPr marL="228600" indent="-228600" algn="l">
              <a:buFont typeface="+mj-lt"/>
              <a:buAutoNum type="arabicPeriod"/>
            </a:pPr>
            <a:r>
              <a:rPr lang="en-US" sz="1200" i="0" dirty="0">
                <a:solidFill>
                  <a:srgbClr val="374151"/>
                </a:solidFill>
                <a:effectLst/>
                <a:latin typeface="Söhne"/>
              </a:rPr>
              <a:t>Graphical representation</a:t>
            </a:r>
            <a:r>
              <a:rPr lang="en-US" sz="1200" b="0" i="0" dirty="0">
                <a:solidFill>
                  <a:srgbClr val="374151"/>
                </a:solidFill>
                <a:effectLst/>
                <a:latin typeface="Söhne"/>
              </a:rPr>
              <a:t>: A graphical representation of the customer satisfaction data, such as a line chart or a stacked bar chart, to make it easier to visualize the trends in customer satisfaction metrics.</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customer satisfaction performance during the quarter, including any noteworthy achievements or concerns, and the strategies or initiatives planned to improve customer satisfaction in the next quarter.</a:t>
            </a:r>
          </a:p>
        </p:txBody>
      </p:sp>
    </p:spTree>
    <p:extLst>
      <p:ext uri="{BB962C8B-B14F-4D97-AF65-F5344CB8AC3E}">
        <p14:creationId xmlns:p14="http://schemas.microsoft.com/office/powerpoint/2010/main" val="34961530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Consumer Insights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introduction to the purpose of the slide, such as "Insights into customer behavior and preferences are crucial to the success of our business."</a:t>
            </a:r>
          </a:p>
          <a:p>
            <a:pPr marL="228600" indent="-228600" algn="l">
              <a:buFont typeface="+mj-lt"/>
              <a:buAutoNum type="arabicPeriod"/>
            </a:pPr>
            <a:r>
              <a:rPr lang="en-US" sz="1200" i="0" dirty="0">
                <a:solidFill>
                  <a:srgbClr val="374151"/>
                </a:solidFill>
                <a:effectLst/>
                <a:latin typeface="Söhne"/>
              </a:rPr>
              <a:t>Summary of recent initiatives</a:t>
            </a:r>
            <a:r>
              <a:rPr lang="en-US" sz="1200" b="0" i="0" dirty="0">
                <a:solidFill>
                  <a:srgbClr val="374151"/>
                </a:solidFill>
                <a:effectLst/>
                <a:latin typeface="Söhne"/>
              </a:rPr>
              <a:t>: A summary of any recent initiatives undertaken to gain consumer insights, such as B2B surveys, B2C surveys, focus groups, social listening, voice-of-the-customer interviews, etc. This section may also include a brief description of the methodology used and the sample size.</a:t>
            </a:r>
          </a:p>
          <a:p>
            <a:pPr marL="228600" indent="-228600" algn="l">
              <a:buFont typeface="+mj-lt"/>
              <a:buAutoNum type="arabicPeriod"/>
            </a:pPr>
            <a:r>
              <a:rPr lang="en-US" sz="1200" i="0" dirty="0">
                <a:solidFill>
                  <a:srgbClr val="374151"/>
                </a:solidFill>
                <a:effectLst/>
                <a:latin typeface="Söhne"/>
              </a:rPr>
              <a:t>Key findings</a:t>
            </a:r>
            <a:r>
              <a:rPr lang="en-US" sz="1200" b="0" i="0" dirty="0">
                <a:solidFill>
                  <a:srgbClr val="374151"/>
                </a:solidFill>
                <a:effectLst/>
                <a:latin typeface="Söhne"/>
              </a:rPr>
              <a:t>: A list of the key insights gained from the recent initiatives, such as customer preferences, pain points, and unmet needs. This section should be supported with data, charts, or graphs, where possible.</a:t>
            </a:r>
          </a:p>
          <a:p>
            <a:pPr marL="228600" indent="-228600" algn="l">
              <a:buFont typeface="+mj-lt"/>
              <a:buAutoNum type="arabicPeriod"/>
            </a:pPr>
            <a:r>
              <a:rPr lang="en-US" sz="1200" i="0" dirty="0">
                <a:solidFill>
                  <a:srgbClr val="374151"/>
                </a:solidFill>
                <a:effectLst/>
                <a:latin typeface="Söhne"/>
              </a:rPr>
              <a:t>Implications</a:t>
            </a:r>
            <a:r>
              <a:rPr lang="en-US" sz="1200" b="0" i="0" dirty="0">
                <a:solidFill>
                  <a:srgbClr val="374151"/>
                </a:solidFill>
                <a:effectLst/>
                <a:latin typeface="Söhne"/>
              </a:rPr>
              <a:t>: A discussion of the implications of the key findings for the company's product development, marketing, and sales strategies. This section should also include any proposed actions or recommendations based on the insights gained.</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summary of the key takeaways from the slide, such as "Our recent consumer insights initiatives have provided valuable insights into customer preferences and pain points, which will inform our product development and marketing strategies moving forward."</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31416099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Customer Case Studies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introduction to the customer case studies, including the objective and relevance of showcasing them.</a:t>
            </a:r>
          </a:p>
          <a:p>
            <a:pPr marL="228600" indent="-228600" algn="l">
              <a:buFont typeface="+mj-lt"/>
              <a:buAutoNum type="arabicPeriod"/>
            </a:pPr>
            <a:r>
              <a:rPr lang="en-US" sz="1200" i="0" dirty="0">
                <a:solidFill>
                  <a:srgbClr val="374151"/>
                </a:solidFill>
                <a:effectLst/>
                <a:latin typeface="Söhne"/>
              </a:rPr>
              <a:t>Case study 1</a:t>
            </a:r>
            <a:r>
              <a:rPr lang="en-US" sz="1200" b="0" i="0" dirty="0">
                <a:solidFill>
                  <a:srgbClr val="374151"/>
                </a:solidFill>
                <a:effectLst/>
                <a:latin typeface="Söhne"/>
              </a:rPr>
              <a:t>: A summary of a successful customer experience with the company's products or services. This should include the customer's background, the problem they faced, how the company's solution helped solve the problem, and the outcome.</a:t>
            </a:r>
          </a:p>
          <a:p>
            <a:pPr marL="228600" indent="-228600" algn="l">
              <a:buFont typeface="+mj-lt"/>
              <a:buAutoNum type="arabicPeriod"/>
            </a:pPr>
            <a:r>
              <a:rPr lang="en-US" sz="1200" i="0" dirty="0">
                <a:solidFill>
                  <a:srgbClr val="374151"/>
                </a:solidFill>
                <a:effectLst/>
                <a:latin typeface="Söhne"/>
              </a:rPr>
              <a:t>Case study 2</a:t>
            </a:r>
            <a:r>
              <a:rPr lang="en-US" sz="1200" b="0" i="0" dirty="0">
                <a:solidFill>
                  <a:srgbClr val="374151"/>
                </a:solidFill>
                <a:effectLst/>
                <a:latin typeface="Söhne"/>
              </a:rPr>
              <a:t>: A summary of another successful customer experience with the company's products or services, following the same structure as Case study 1.</a:t>
            </a:r>
          </a:p>
          <a:p>
            <a:pPr marL="228600" indent="-228600" algn="l">
              <a:buFont typeface="+mj-lt"/>
              <a:buAutoNum type="arabicPeriod"/>
            </a:pPr>
            <a:r>
              <a:rPr lang="en-US" sz="1200" i="0" dirty="0">
                <a:solidFill>
                  <a:srgbClr val="374151"/>
                </a:solidFill>
                <a:effectLst/>
                <a:latin typeface="Söhne"/>
              </a:rPr>
              <a:t>Case study 3</a:t>
            </a:r>
            <a:r>
              <a:rPr lang="en-US" sz="1200" b="0" i="0" dirty="0">
                <a:solidFill>
                  <a:srgbClr val="374151"/>
                </a:solidFill>
                <a:effectLst/>
                <a:latin typeface="Söhne"/>
              </a:rPr>
              <a:t>: A summary of another successful customer experience with the company's products or services, following the same structure as Case study 1.</a:t>
            </a:r>
          </a:p>
          <a:p>
            <a:pPr marL="228600" indent="-228600" algn="l">
              <a:buFont typeface="+mj-lt"/>
              <a:buAutoNum type="arabicPeriod"/>
            </a:pPr>
            <a:r>
              <a:rPr lang="en-US" sz="1200" i="0" dirty="0">
                <a:solidFill>
                  <a:srgbClr val="374151"/>
                </a:solidFill>
                <a:effectLst/>
                <a:latin typeface="Söhne"/>
              </a:rPr>
              <a:t>Key takeaways</a:t>
            </a:r>
            <a:r>
              <a:rPr lang="en-US" sz="1200" b="0" i="0" dirty="0">
                <a:solidFill>
                  <a:srgbClr val="374151"/>
                </a:solidFill>
                <a:effectLst/>
                <a:latin typeface="Söhne"/>
              </a:rPr>
              <a:t>: A summary of the key takeaways from the customer case studies, highlighting any common themes or trends.</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conclusion that ties back to the objective and relevance of showcasing the customer case studies, and how they relate to the company's overall strategy and goals.</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25743009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E4B6F3D-F39D-82FA-3528-A3F1F7B178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E4B6F3D-F39D-82FA-3528-A3F1F7B178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9D66EAD0-976A-9CBA-E440-3B5D7F6C7065}"/>
              </a:ext>
            </a:extLst>
          </p:cNvPr>
          <p:cNvSpPr>
            <a:spLocks noGrp="1"/>
          </p:cNvSpPr>
          <p:nvPr>
            <p:ph type="title"/>
          </p:nvPr>
        </p:nvSpPr>
        <p:spPr/>
        <p:txBody>
          <a:bodyPr vert="horz"/>
          <a:lstStyle/>
          <a:p>
            <a:r>
              <a:rPr lang="en-US" dirty="0"/>
              <a:t>Board Reporting Package Contents</a:t>
            </a:r>
          </a:p>
        </p:txBody>
      </p:sp>
      <p:sp>
        <p:nvSpPr>
          <p:cNvPr id="23" name="Rounded Rectangle 33">
            <a:extLst>
              <a:ext uri="{FF2B5EF4-FFF2-40B4-BE49-F238E27FC236}">
                <a16:creationId xmlns:a16="http://schemas.microsoft.com/office/drawing/2014/main" id="{C82EEC47-011A-3986-C4CD-0F6BF3E13A5C}"/>
              </a:ext>
            </a:extLst>
          </p:cNvPr>
          <p:cNvSpPr/>
          <p:nvPr/>
        </p:nvSpPr>
        <p:spPr>
          <a:xfrm>
            <a:off x="409762" y="853079"/>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CEO &amp; BOARD CHAIR</a:t>
            </a:r>
          </a:p>
        </p:txBody>
      </p:sp>
      <p:sp>
        <p:nvSpPr>
          <p:cNvPr id="54" name="TextBox 53">
            <a:extLst>
              <a:ext uri="{FF2B5EF4-FFF2-40B4-BE49-F238E27FC236}">
                <a16:creationId xmlns:a16="http://schemas.microsoft.com/office/drawing/2014/main" id="{C852F15D-DEBA-82B2-6A49-FB2C85CB3853}"/>
              </a:ext>
            </a:extLst>
          </p:cNvPr>
          <p:cNvSpPr txBox="1"/>
          <p:nvPr/>
        </p:nvSpPr>
        <p:spPr>
          <a:xfrm>
            <a:off x="409762" y="151065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CEO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Board Chair Update</a:t>
            </a:r>
          </a:p>
        </p:txBody>
      </p:sp>
      <p:sp>
        <p:nvSpPr>
          <p:cNvPr id="55" name="Rounded Rectangle 33">
            <a:extLst>
              <a:ext uri="{FF2B5EF4-FFF2-40B4-BE49-F238E27FC236}">
                <a16:creationId xmlns:a16="http://schemas.microsoft.com/office/drawing/2014/main" id="{95A91E49-9A8A-96D6-533B-2C56F869D32F}"/>
              </a:ext>
            </a:extLst>
          </p:cNvPr>
          <p:cNvSpPr/>
          <p:nvPr/>
        </p:nvSpPr>
        <p:spPr>
          <a:xfrm>
            <a:off x="9295000" y="2148795"/>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CORPORATE DEVELOPMENT</a:t>
            </a:r>
          </a:p>
        </p:txBody>
      </p:sp>
      <p:sp>
        <p:nvSpPr>
          <p:cNvPr id="56" name="TextBox 55">
            <a:extLst>
              <a:ext uri="{FF2B5EF4-FFF2-40B4-BE49-F238E27FC236}">
                <a16:creationId xmlns:a16="http://schemas.microsoft.com/office/drawing/2014/main" id="{078BE5D7-CBB0-7B3D-AFEE-E049B3EC8AFE}"/>
              </a:ext>
            </a:extLst>
          </p:cNvPr>
          <p:cNvSpPr txBox="1"/>
          <p:nvPr/>
        </p:nvSpPr>
        <p:spPr>
          <a:xfrm>
            <a:off x="9282200" y="2827201"/>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Partnerships &amp; Alliances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Mergers &amp; Acquisitions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Post-merger Integration</a:t>
            </a:r>
          </a:p>
        </p:txBody>
      </p:sp>
      <p:sp>
        <p:nvSpPr>
          <p:cNvPr id="57" name="Rounded Rectangle 33">
            <a:extLst>
              <a:ext uri="{FF2B5EF4-FFF2-40B4-BE49-F238E27FC236}">
                <a16:creationId xmlns:a16="http://schemas.microsoft.com/office/drawing/2014/main" id="{047EDAFC-A516-E05C-A91F-44C7C46FB147}"/>
              </a:ext>
            </a:extLst>
          </p:cNvPr>
          <p:cNvSpPr/>
          <p:nvPr/>
        </p:nvSpPr>
        <p:spPr>
          <a:xfrm>
            <a:off x="9282200" y="3579788"/>
            <a:ext cx="2594695" cy="530969"/>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OTHER CORPORATE FUNCTIONS</a:t>
            </a:r>
          </a:p>
        </p:txBody>
      </p:sp>
      <p:sp>
        <p:nvSpPr>
          <p:cNvPr id="58" name="TextBox 57">
            <a:extLst>
              <a:ext uri="{FF2B5EF4-FFF2-40B4-BE49-F238E27FC236}">
                <a16:creationId xmlns:a16="http://schemas.microsoft.com/office/drawing/2014/main" id="{7A3E0AED-BC63-D8B3-2F56-CAFD1E971E31}"/>
              </a:ext>
            </a:extLst>
          </p:cNvPr>
          <p:cNvSpPr txBox="1"/>
          <p:nvPr/>
        </p:nvSpPr>
        <p:spPr>
          <a:xfrm>
            <a:off x="9282200" y="4264916"/>
            <a:ext cx="2620293" cy="1687284"/>
          </a:xfrm>
          <a:prstGeom prst="rect">
            <a:avLst/>
          </a:prstGeom>
          <a:noFill/>
        </p:spPr>
        <p:txBody>
          <a:bodyPr wrap="square" lIns="0" tIns="0" rIns="0" bIns="0" rtlCol="0">
            <a:noAutofit/>
          </a:bodyPr>
          <a:lstStyle/>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Intellectual Property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Risk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Legal &amp; Regulatory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Litigation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Investor Relations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Community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ESG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Sustainability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Awards &amp; Recognition</a:t>
            </a:r>
          </a:p>
        </p:txBody>
      </p:sp>
      <p:sp>
        <p:nvSpPr>
          <p:cNvPr id="59" name="Rounded Rectangle 33">
            <a:extLst>
              <a:ext uri="{FF2B5EF4-FFF2-40B4-BE49-F238E27FC236}">
                <a16:creationId xmlns:a16="http://schemas.microsoft.com/office/drawing/2014/main" id="{92BD0F0E-08AC-37AD-FD60-1F03343DE46E}"/>
              </a:ext>
            </a:extLst>
          </p:cNvPr>
          <p:cNvSpPr/>
          <p:nvPr/>
        </p:nvSpPr>
        <p:spPr>
          <a:xfrm>
            <a:off x="384173" y="2005691"/>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AGENDA</a:t>
            </a:r>
          </a:p>
        </p:txBody>
      </p:sp>
      <p:sp>
        <p:nvSpPr>
          <p:cNvPr id="60" name="Rounded Rectangle 33">
            <a:extLst>
              <a:ext uri="{FF2B5EF4-FFF2-40B4-BE49-F238E27FC236}">
                <a16:creationId xmlns:a16="http://schemas.microsoft.com/office/drawing/2014/main" id="{CB90976E-C934-E589-3C43-C6536961F66B}"/>
              </a:ext>
            </a:extLst>
          </p:cNvPr>
          <p:cNvSpPr/>
          <p:nvPr/>
        </p:nvSpPr>
        <p:spPr>
          <a:xfrm>
            <a:off x="3371511" y="842768"/>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PRODUCT</a:t>
            </a:r>
          </a:p>
        </p:txBody>
      </p:sp>
      <p:sp>
        <p:nvSpPr>
          <p:cNvPr id="61" name="Rounded Rectangle 33">
            <a:extLst>
              <a:ext uri="{FF2B5EF4-FFF2-40B4-BE49-F238E27FC236}">
                <a16:creationId xmlns:a16="http://schemas.microsoft.com/office/drawing/2014/main" id="{7FA80707-EFC9-FBBD-95A3-C53653725FD5}"/>
              </a:ext>
            </a:extLst>
          </p:cNvPr>
          <p:cNvSpPr/>
          <p:nvPr/>
        </p:nvSpPr>
        <p:spPr>
          <a:xfrm>
            <a:off x="3371510" y="221609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MARKETING</a:t>
            </a:r>
          </a:p>
        </p:txBody>
      </p:sp>
      <p:sp>
        <p:nvSpPr>
          <p:cNvPr id="62" name="TextBox 61">
            <a:extLst>
              <a:ext uri="{FF2B5EF4-FFF2-40B4-BE49-F238E27FC236}">
                <a16:creationId xmlns:a16="http://schemas.microsoft.com/office/drawing/2014/main" id="{30745068-3C50-A3AC-D3F9-F374532A853E}"/>
              </a:ext>
            </a:extLst>
          </p:cNvPr>
          <p:cNvSpPr txBox="1"/>
          <p:nvPr/>
        </p:nvSpPr>
        <p:spPr>
          <a:xfrm>
            <a:off x="409762" y="3815874"/>
            <a:ext cx="2620293" cy="2923758"/>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Financial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Income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Cash Flow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Balance Sheet</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Revenue Breakdown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Operating Expenses Breakdown</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Cost Reduction Initiatives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Profitability Analysis/ROI</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Working Capital Analysis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Receivable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Payable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Expenditures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Raising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Debt Overview &amp; Refinancing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Tax</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Property &amp; Real Estate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Foreign Currency Exposure</a:t>
            </a:r>
          </a:p>
        </p:txBody>
      </p:sp>
      <p:sp>
        <p:nvSpPr>
          <p:cNvPr id="1025" name="TextBox 1024">
            <a:extLst>
              <a:ext uri="{FF2B5EF4-FFF2-40B4-BE49-F238E27FC236}">
                <a16:creationId xmlns:a16="http://schemas.microsoft.com/office/drawing/2014/main" id="{02F92317-B039-B079-BB61-FC63C637FB38}"/>
              </a:ext>
            </a:extLst>
          </p:cNvPr>
          <p:cNvSpPr txBox="1"/>
          <p:nvPr/>
        </p:nvSpPr>
        <p:spPr>
          <a:xfrm>
            <a:off x="3371511" y="151559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Development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Research &amp;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Roadmap</a:t>
            </a:r>
          </a:p>
        </p:txBody>
      </p:sp>
      <p:sp>
        <p:nvSpPr>
          <p:cNvPr id="1026" name="TextBox 1025">
            <a:extLst>
              <a:ext uri="{FF2B5EF4-FFF2-40B4-BE49-F238E27FC236}">
                <a16:creationId xmlns:a16="http://schemas.microsoft.com/office/drawing/2014/main" id="{CC1A5311-249B-C428-EBB6-A72E016472C6}"/>
              </a:ext>
            </a:extLst>
          </p:cNvPr>
          <p:cNvSpPr txBox="1"/>
          <p:nvPr/>
        </p:nvSpPr>
        <p:spPr>
          <a:xfrm>
            <a:off x="3371511" y="286130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Initiatives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Expansion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ROI</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Pricing Strategy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Data &amp; Analytics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Advertising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Competitors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Branding &amp; Marketing Materials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Website</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Social Media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Industry Events &amp; Conferences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Public Relations</a:t>
            </a:r>
          </a:p>
        </p:txBody>
      </p:sp>
      <p:sp>
        <p:nvSpPr>
          <p:cNvPr id="1027" name="Rounded Rectangle 33">
            <a:extLst>
              <a:ext uri="{FF2B5EF4-FFF2-40B4-BE49-F238E27FC236}">
                <a16:creationId xmlns:a16="http://schemas.microsoft.com/office/drawing/2014/main" id="{D14AE144-6082-3A53-FA31-003FBCFBEE2C}"/>
              </a:ext>
            </a:extLst>
          </p:cNvPr>
          <p:cNvSpPr/>
          <p:nvPr/>
        </p:nvSpPr>
        <p:spPr>
          <a:xfrm>
            <a:off x="3371509" y="524534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SALES</a:t>
            </a:r>
          </a:p>
        </p:txBody>
      </p:sp>
      <p:sp>
        <p:nvSpPr>
          <p:cNvPr id="1028" name="TextBox 1027">
            <a:extLst>
              <a:ext uri="{FF2B5EF4-FFF2-40B4-BE49-F238E27FC236}">
                <a16:creationId xmlns:a16="http://schemas.microsoft.com/office/drawing/2014/main" id="{F1DE495A-583A-63C4-C570-434B9345A842}"/>
              </a:ext>
            </a:extLst>
          </p:cNvPr>
          <p:cNvSpPr txBox="1"/>
          <p:nvPr/>
        </p:nvSpPr>
        <p:spPr>
          <a:xfrm>
            <a:off x="3371511" y="589055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Pipeline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Team Performance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Region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Channel</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Channel Partners</a:t>
            </a:r>
          </a:p>
        </p:txBody>
      </p:sp>
      <p:sp>
        <p:nvSpPr>
          <p:cNvPr id="1029" name="Rounded Rectangle 33">
            <a:extLst>
              <a:ext uri="{FF2B5EF4-FFF2-40B4-BE49-F238E27FC236}">
                <a16:creationId xmlns:a16="http://schemas.microsoft.com/office/drawing/2014/main" id="{E46F2696-EE7E-BBE9-9BF4-4DC8BC64543E}"/>
              </a:ext>
            </a:extLst>
          </p:cNvPr>
          <p:cNvSpPr/>
          <p:nvPr/>
        </p:nvSpPr>
        <p:spPr>
          <a:xfrm>
            <a:off x="6333261" y="2511844"/>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CUSTOMERS</a:t>
            </a:r>
          </a:p>
        </p:txBody>
      </p:sp>
      <p:sp>
        <p:nvSpPr>
          <p:cNvPr id="1030" name="Rounded Rectangle 33">
            <a:extLst>
              <a:ext uri="{FF2B5EF4-FFF2-40B4-BE49-F238E27FC236}">
                <a16:creationId xmlns:a16="http://schemas.microsoft.com/office/drawing/2014/main" id="{E5838DA9-13C2-4188-6172-7E7C7EDFA057}"/>
              </a:ext>
            </a:extLst>
          </p:cNvPr>
          <p:cNvSpPr/>
          <p:nvPr/>
        </p:nvSpPr>
        <p:spPr>
          <a:xfrm>
            <a:off x="6333261" y="846554"/>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OPERATIONS AND SUPPLY CHAIN</a:t>
            </a:r>
          </a:p>
        </p:txBody>
      </p:sp>
      <p:sp>
        <p:nvSpPr>
          <p:cNvPr id="1032" name="Rounded Rectangle 33">
            <a:extLst>
              <a:ext uri="{FF2B5EF4-FFF2-40B4-BE49-F238E27FC236}">
                <a16:creationId xmlns:a16="http://schemas.microsoft.com/office/drawing/2014/main" id="{A5872E9A-5A2E-D1A6-AEC1-30E6373A0CF4}"/>
              </a:ext>
            </a:extLst>
          </p:cNvPr>
          <p:cNvSpPr/>
          <p:nvPr/>
        </p:nvSpPr>
        <p:spPr>
          <a:xfrm>
            <a:off x="9295011" y="865239"/>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INFORMATION TECHNOLOGY</a:t>
            </a:r>
          </a:p>
        </p:txBody>
      </p:sp>
      <p:sp>
        <p:nvSpPr>
          <p:cNvPr id="1033" name="Rounded Rectangle 33">
            <a:extLst>
              <a:ext uri="{FF2B5EF4-FFF2-40B4-BE49-F238E27FC236}">
                <a16:creationId xmlns:a16="http://schemas.microsoft.com/office/drawing/2014/main" id="{DB676218-8B0C-2374-3190-ADAFBD304B29}"/>
              </a:ext>
            </a:extLst>
          </p:cNvPr>
          <p:cNvSpPr/>
          <p:nvPr/>
        </p:nvSpPr>
        <p:spPr>
          <a:xfrm>
            <a:off x="6333261" y="4356030"/>
            <a:ext cx="2594695" cy="528314"/>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HUMAN RESOURCES</a:t>
            </a:r>
          </a:p>
        </p:txBody>
      </p:sp>
      <p:sp>
        <p:nvSpPr>
          <p:cNvPr id="1035" name="TextBox 1034">
            <a:extLst>
              <a:ext uri="{FF2B5EF4-FFF2-40B4-BE49-F238E27FC236}">
                <a16:creationId xmlns:a16="http://schemas.microsoft.com/office/drawing/2014/main" id="{01C116CF-D899-36F7-219D-C1159D8B52D7}"/>
              </a:ext>
            </a:extLst>
          </p:cNvPr>
          <p:cNvSpPr txBox="1"/>
          <p:nvPr/>
        </p:nvSpPr>
        <p:spPr>
          <a:xfrm>
            <a:off x="6358858"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Operations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Supply Chain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Emergency Preparedness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Suppliers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Worker Safety</a:t>
            </a:r>
          </a:p>
        </p:txBody>
      </p:sp>
      <p:sp>
        <p:nvSpPr>
          <p:cNvPr id="1036" name="TextBox 1035">
            <a:extLst>
              <a:ext uri="{FF2B5EF4-FFF2-40B4-BE49-F238E27FC236}">
                <a16:creationId xmlns:a16="http://schemas.microsoft.com/office/drawing/2014/main" id="{6D63E6C1-0425-4437-888A-F3E8D5A060AC}"/>
              </a:ext>
            </a:extLst>
          </p:cNvPr>
          <p:cNvSpPr txBox="1"/>
          <p:nvPr/>
        </p:nvSpPr>
        <p:spPr>
          <a:xfrm>
            <a:off x="6333260" y="3208935"/>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Service</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Satisfaction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Consumer Insights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Case Studies</a:t>
            </a:r>
          </a:p>
        </p:txBody>
      </p:sp>
      <p:sp>
        <p:nvSpPr>
          <p:cNvPr id="1037" name="TextBox 1036">
            <a:extLst>
              <a:ext uri="{FF2B5EF4-FFF2-40B4-BE49-F238E27FC236}">
                <a16:creationId xmlns:a16="http://schemas.microsoft.com/office/drawing/2014/main" id="{2BD1D13D-59B1-D4F8-4E1E-A026079AC144}"/>
              </a:ext>
            </a:extLst>
          </p:cNvPr>
          <p:cNvSpPr txBox="1"/>
          <p:nvPr/>
        </p:nvSpPr>
        <p:spPr>
          <a:xfrm>
            <a:off x="9346205"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IT Infrastructure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Cybersecurity</a:t>
            </a:r>
          </a:p>
        </p:txBody>
      </p:sp>
      <p:sp>
        <p:nvSpPr>
          <p:cNvPr id="1039" name="TextBox 1038">
            <a:extLst>
              <a:ext uri="{FF2B5EF4-FFF2-40B4-BE49-F238E27FC236}">
                <a16:creationId xmlns:a16="http://schemas.microsoft.com/office/drawing/2014/main" id="{7F71797E-DAE7-019D-7E27-5D562C6571DD}"/>
              </a:ext>
            </a:extLst>
          </p:cNvPr>
          <p:cNvSpPr txBox="1"/>
          <p:nvPr/>
        </p:nvSpPr>
        <p:spPr>
          <a:xfrm>
            <a:off x="6333260" y="5052741"/>
            <a:ext cx="2831794"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Human Resources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Organizational 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Leadership Team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Talent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Compensation</a:t>
            </a:r>
            <a:r>
              <a:rPr lang="en-US" sz="1100" dirty="0">
                <a:solidFill>
                  <a:srgbClr val="000000"/>
                </a:solidFill>
                <a:latin typeface="Verdana"/>
              </a:rPr>
              <a:t> and </a:t>
            </a:r>
            <a:r>
              <a:rPr kumimoji="0" lang="en-US" sz="1100" b="0" i="0" u="none" strike="noStrike" kern="1200" cap="none" spc="0" normalizeH="0" baseline="0" noProof="0" dirty="0">
                <a:ln>
                  <a:noFill/>
                </a:ln>
                <a:solidFill>
                  <a:srgbClr val="000000"/>
                </a:solidFill>
                <a:effectLst/>
                <a:uLnTx/>
                <a:uFillTx/>
                <a:latin typeface="Verdana"/>
                <a:ea typeface="+mn-ea"/>
                <a:cs typeface="+mn-cs"/>
              </a:rPr>
              <a:t>Benefits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Learning and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Diversity, Equity, and Inclusion</a:t>
            </a:r>
          </a:p>
        </p:txBody>
      </p:sp>
      <p:sp>
        <p:nvSpPr>
          <p:cNvPr id="2" name="Rounded Rectangle 33">
            <a:extLst>
              <a:ext uri="{FF2B5EF4-FFF2-40B4-BE49-F238E27FC236}">
                <a16:creationId xmlns:a16="http://schemas.microsoft.com/office/drawing/2014/main" id="{1B612D95-4099-846D-D69A-44F681C34655}"/>
              </a:ext>
            </a:extLst>
          </p:cNvPr>
          <p:cNvSpPr/>
          <p:nvPr/>
        </p:nvSpPr>
        <p:spPr>
          <a:xfrm>
            <a:off x="384173" y="3162300"/>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FINANCE</a:t>
            </a:r>
          </a:p>
        </p:txBody>
      </p:sp>
      <p:sp>
        <p:nvSpPr>
          <p:cNvPr id="4" name="TextBox 3">
            <a:extLst>
              <a:ext uri="{FF2B5EF4-FFF2-40B4-BE49-F238E27FC236}">
                <a16:creationId xmlns:a16="http://schemas.microsoft.com/office/drawing/2014/main" id="{F322B9F2-CA67-D5B4-CC60-7F01099438FE}"/>
              </a:ext>
            </a:extLst>
          </p:cNvPr>
          <p:cNvSpPr txBox="1"/>
          <p:nvPr/>
        </p:nvSpPr>
        <p:spPr>
          <a:xfrm>
            <a:off x="384173" y="2663262"/>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Agenda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Previous Meeting Minutes</a:t>
            </a:r>
          </a:p>
        </p:txBody>
      </p:sp>
    </p:spTree>
    <p:extLst>
      <p:ext uri="{BB962C8B-B14F-4D97-AF65-F5344CB8AC3E}">
        <p14:creationId xmlns:p14="http://schemas.microsoft.com/office/powerpoint/2010/main" val="33041507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Human Resources Overview</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algn="l"/>
            <a:r>
              <a:rPr lang="en-US" sz="1200" b="0" i="0" dirty="0">
                <a:solidFill>
                  <a:srgbClr val="374151"/>
                </a:solidFill>
                <a:effectLst/>
                <a:latin typeface="Söhne"/>
              </a:rPr>
              <a:t>This slide should provide an overview of the human resources initiatives and performance during the quarter. It should include the following information:</a:t>
            </a:r>
          </a:p>
          <a:p>
            <a:pPr marL="228600" indent="-228600">
              <a:buFont typeface="+mj-lt"/>
              <a:buAutoNum type="arabicPeriod"/>
            </a:pPr>
            <a:r>
              <a:rPr lang="en-US" sz="1200" dirty="0">
                <a:solidFill>
                  <a:srgbClr val="374151"/>
                </a:solidFill>
                <a:latin typeface="Söhne"/>
              </a:rPr>
              <a:t>Key Metrics</a:t>
            </a:r>
            <a:r>
              <a:rPr lang="en-US" sz="1200" b="0" dirty="0">
                <a:solidFill>
                  <a:srgbClr val="374151"/>
                </a:solidFill>
                <a:latin typeface="Söhne"/>
              </a:rPr>
              <a:t>: A table or chart displaying key metrics such as:</a:t>
            </a:r>
          </a:p>
          <a:p>
            <a:pPr marL="457154" lvl="1" indent="-228600"/>
            <a:r>
              <a:rPr lang="en-US" sz="1200" dirty="0">
                <a:solidFill>
                  <a:srgbClr val="374151"/>
                </a:solidFill>
                <a:latin typeface="Söhne"/>
              </a:rPr>
              <a:t>Number of Employees: </a:t>
            </a:r>
            <a:r>
              <a:rPr lang="en-US" sz="1200" b="0" dirty="0">
                <a:solidFill>
                  <a:srgbClr val="374151"/>
                </a:solidFill>
                <a:latin typeface="Söhne"/>
              </a:rPr>
              <a:t>Total number of employees at the beginning and end of the quarter.</a:t>
            </a:r>
          </a:p>
          <a:p>
            <a:pPr marL="457154" lvl="1" indent="-228600"/>
            <a:r>
              <a:rPr lang="en-US" sz="1200" dirty="0">
                <a:solidFill>
                  <a:srgbClr val="374151"/>
                </a:solidFill>
                <a:latin typeface="Söhne"/>
              </a:rPr>
              <a:t>Turnover: </a:t>
            </a:r>
            <a:r>
              <a:rPr lang="en-US" sz="1200" b="0" dirty="0">
                <a:solidFill>
                  <a:srgbClr val="374151"/>
                </a:solidFill>
                <a:latin typeface="Söhne"/>
              </a:rPr>
              <a:t>Employee turnover rate for the quarter.</a:t>
            </a:r>
          </a:p>
          <a:p>
            <a:pPr marL="457154" lvl="1" indent="-228600"/>
            <a:r>
              <a:rPr lang="en-US" sz="1200" dirty="0">
                <a:solidFill>
                  <a:srgbClr val="374151"/>
                </a:solidFill>
                <a:latin typeface="Söhne"/>
              </a:rPr>
              <a:t>New Hires: </a:t>
            </a:r>
            <a:r>
              <a:rPr lang="en-US" sz="1200" b="0" dirty="0">
                <a:solidFill>
                  <a:srgbClr val="374151"/>
                </a:solidFill>
                <a:latin typeface="Söhne"/>
              </a:rPr>
              <a:t>Number of new hires and hires by department.</a:t>
            </a:r>
          </a:p>
          <a:p>
            <a:pPr marL="457154" lvl="1" indent="-228600"/>
            <a:r>
              <a:rPr lang="en-US" sz="1200" dirty="0">
                <a:solidFill>
                  <a:srgbClr val="374151"/>
                </a:solidFill>
                <a:latin typeface="Söhne"/>
              </a:rPr>
              <a:t>Time to Hire: </a:t>
            </a:r>
            <a:r>
              <a:rPr lang="en-US" sz="1200" b="0" dirty="0">
                <a:solidFill>
                  <a:srgbClr val="374151"/>
                </a:solidFill>
                <a:latin typeface="Söhne"/>
              </a:rPr>
              <a:t>Average time-to-hire for new employees.</a:t>
            </a:r>
          </a:p>
          <a:p>
            <a:pPr marL="457154" lvl="1" indent="-228600"/>
            <a:r>
              <a:rPr lang="en-US" sz="1200" dirty="0">
                <a:solidFill>
                  <a:srgbClr val="374151"/>
                </a:solidFill>
                <a:latin typeface="Söhne"/>
              </a:rPr>
              <a:t>Training: </a:t>
            </a:r>
            <a:r>
              <a:rPr lang="en-US" sz="1200" b="0" dirty="0">
                <a:solidFill>
                  <a:srgbClr val="374151"/>
                </a:solidFill>
                <a:latin typeface="Söhne"/>
              </a:rPr>
              <a:t>Number of employee training hours and training expenses.</a:t>
            </a:r>
          </a:p>
          <a:p>
            <a:pPr marL="457154" lvl="1" indent="-228600"/>
            <a:r>
              <a:rPr lang="en-US" sz="1200" dirty="0">
                <a:solidFill>
                  <a:srgbClr val="374151"/>
                </a:solidFill>
                <a:latin typeface="Söhne"/>
              </a:rPr>
              <a:t>Other Metrics: </a:t>
            </a:r>
            <a:r>
              <a:rPr lang="en-US" sz="1200" b="0" dirty="0">
                <a:solidFill>
                  <a:srgbClr val="374151"/>
                </a:solidFill>
                <a:latin typeface="Söhne"/>
              </a:rPr>
              <a:t>Any other key HR metrics that are relevant to the company's goals and objectives.</a:t>
            </a:r>
          </a:p>
          <a:p>
            <a:pPr marL="228600" indent="-228600">
              <a:buFont typeface="+mj-lt"/>
              <a:buAutoNum type="arabicPeriod"/>
            </a:pPr>
            <a:r>
              <a:rPr lang="en-US" sz="1200" dirty="0">
                <a:solidFill>
                  <a:srgbClr val="374151"/>
                </a:solidFill>
                <a:latin typeface="Söhne"/>
              </a:rPr>
              <a:t>Recruitment Initiatives</a:t>
            </a:r>
            <a:r>
              <a:rPr lang="en-US" sz="1200" b="0" dirty="0">
                <a:solidFill>
                  <a:srgbClr val="374151"/>
                </a:solidFill>
                <a:latin typeface="Söhne"/>
              </a:rPr>
              <a:t>: A brief overview of recruitment initiatives undertaken during the quarter, including any new recruiting channels, such as job boards or social media platforms, and their effectiveness in attracting new hires.</a:t>
            </a:r>
          </a:p>
          <a:p>
            <a:pPr marL="228600" indent="-228600">
              <a:buFont typeface="+mj-lt"/>
              <a:buAutoNum type="arabicPeriod"/>
            </a:pPr>
            <a:r>
              <a:rPr lang="en-US" sz="1200" dirty="0">
                <a:solidFill>
                  <a:srgbClr val="374151"/>
                </a:solidFill>
                <a:latin typeface="Söhne"/>
              </a:rPr>
              <a:t>Employee Training</a:t>
            </a:r>
            <a:r>
              <a:rPr lang="en-US" sz="1200" b="0" dirty="0">
                <a:solidFill>
                  <a:srgbClr val="374151"/>
                </a:solidFill>
                <a:latin typeface="Söhne"/>
              </a:rPr>
              <a:t>: A summary of employee training initiatives during the quarter, including any new training programs or tools, employee feedback on training, and the effectiveness of training in improving employee performance.</a:t>
            </a:r>
          </a:p>
          <a:p>
            <a:pPr marL="228600" indent="-228600">
              <a:buFont typeface="+mj-lt"/>
              <a:buAutoNum type="arabicPeriod"/>
            </a:pPr>
            <a:r>
              <a:rPr lang="en-US" sz="1200" dirty="0">
                <a:solidFill>
                  <a:srgbClr val="374151"/>
                </a:solidFill>
                <a:latin typeface="Söhne"/>
              </a:rPr>
              <a:t>Employee Engagement</a:t>
            </a:r>
            <a:r>
              <a:rPr lang="en-US" sz="1200" b="0" dirty="0">
                <a:solidFill>
                  <a:srgbClr val="374151"/>
                </a:solidFill>
                <a:latin typeface="Söhne"/>
              </a:rPr>
              <a:t>: A summary of employee engagement initiatives during the quarter, including any surveys or feedback mechanisms used to measure employee satisfaction and engagement, and any actions taken to improve employee engagement.</a:t>
            </a:r>
          </a:p>
          <a:p>
            <a:pPr marL="228600" indent="-228600">
              <a:buFont typeface="+mj-lt"/>
              <a:buAutoNum type="arabicPeriod"/>
            </a:pPr>
            <a:r>
              <a:rPr lang="en-US" sz="1200" dirty="0">
                <a:solidFill>
                  <a:srgbClr val="374151"/>
                </a:solidFill>
                <a:latin typeface="Söhne"/>
              </a:rPr>
              <a:t>Conclusion</a:t>
            </a:r>
            <a:r>
              <a:rPr lang="en-US" sz="1200" b="0" dirty="0">
                <a:solidFill>
                  <a:srgbClr val="374151"/>
                </a:solidFill>
                <a:latin typeface="Söhne"/>
              </a:rPr>
              <a:t>: A summary of the overall HR performance during the quarter, highlighting any successes or areas for improvement.</a:t>
            </a:r>
          </a:p>
        </p:txBody>
      </p:sp>
    </p:spTree>
    <p:extLst>
      <p:ext uri="{BB962C8B-B14F-4D97-AF65-F5344CB8AC3E}">
        <p14:creationId xmlns:p14="http://schemas.microsoft.com/office/powerpoint/2010/main" val="2265672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Organizational Structure</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dirty="0">
                <a:solidFill>
                  <a:srgbClr val="374151"/>
                </a:solidFill>
                <a:latin typeface="Söhne"/>
              </a:rPr>
              <a:t>I</a:t>
            </a:r>
            <a:r>
              <a:rPr lang="en-US" sz="1200" i="0" dirty="0">
                <a:solidFill>
                  <a:srgbClr val="374151"/>
                </a:solidFill>
                <a:effectLst/>
                <a:latin typeface="Söhne"/>
              </a:rPr>
              <a:t>ntroduction</a:t>
            </a:r>
            <a:r>
              <a:rPr lang="en-US" sz="1200" b="0" i="0" dirty="0">
                <a:solidFill>
                  <a:srgbClr val="374151"/>
                </a:solidFill>
                <a:effectLst/>
                <a:latin typeface="Söhne"/>
              </a:rPr>
              <a:t>: A brief introduction to the company's organizational structure, including its overall design and purpose.</a:t>
            </a:r>
          </a:p>
          <a:p>
            <a:pPr marL="228600" indent="-228600" algn="l">
              <a:buFont typeface="+mj-lt"/>
              <a:buAutoNum type="arabicPeriod"/>
            </a:pPr>
            <a:r>
              <a:rPr lang="en-US" sz="1200" i="0" dirty="0">
                <a:solidFill>
                  <a:srgbClr val="374151"/>
                </a:solidFill>
                <a:effectLst/>
                <a:latin typeface="Söhne"/>
              </a:rPr>
              <a:t>Organizational chart</a:t>
            </a:r>
            <a:r>
              <a:rPr lang="en-US" sz="1200" b="0" i="0" dirty="0">
                <a:solidFill>
                  <a:srgbClr val="374151"/>
                </a:solidFill>
                <a:effectLst/>
                <a:latin typeface="Söhne"/>
              </a:rPr>
              <a:t>: An organizational chart that provides a visual representation of the company's structure. The chart should include key departments, teams, and individuals, as well as their respective roles and responsibilities. This should be up to date with any recent or planned changes.</a:t>
            </a:r>
          </a:p>
          <a:p>
            <a:pPr marL="228600" indent="-228600" algn="l">
              <a:buFont typeface="+mj-lt"/>
              <a:buAutoNum type="arabicPeriod"/>
            </a:pPr>
            <a:r>
              <a:rPr lang="en-US" sz="1200" i="0" dirty="0">
                <a:solidFill>
                  <a:srgbClr val="374151"/>
                </a:solidFill>
                <a:effectLst/>
                <a:latin typeface="Söhne"/>
              </a:rPr>
              <a:t>Department overviews</a:t>
            </a:r>
            <a:r>
              <a:rPr lang="en-US" sz="1200" b="0" i="0" dirty="0">
                <a:solidFill>
                  <a:srgbClr val="374151"/>
                </a:solidFill>
                <a:effectLst/>
                <a:latin typeface="Söhne"/>
              </a:rPr>
              <a:t>: A brief overview of each major department or business unit within the company, including their purpose, key activities, and recent achievements or challenges.</a:t>
            </a:r>
          </a:p>
          <a:p>
            <a:pPr marL="228600" indent="-228600" algn="l">
              <a:buFont typeface="+mj-lt"/>
              <a:buAutoNum type="arabicPeriod"/>
            </a:pPr>
            <a:r>
              <a:rPr lang="en-US" sz="1200" i="0" dirty="0">
                <a:solidFill>
                  <a:srgbClr val="374151"/>
                </a:solidFill>
                <a:effectLst/>
                <a:latin typeface="Söhne"/>
              </a:rPr>
              <a:t>Key initiatives</a:t>
            </a:r>
            <a:r>
              <a:rPr lang="en-US" sz="1200" b="0" i="0" dirty="0">
                <a:solidFill>
                  <a:srgbClr val="374151"/>
                </a:solidFill>
                <a:effectLst/>
                <a:latin typeface="Söhne"/>
              </a:rPr>
              <a:t>: A summary of any major organizational initiatives or projects that are underway, including those related to organizational design, efficiency, or culture.</a:t>
            </a:r>
          </a:p>
          <a:p>
            <a:pPr marL="228600" indent="-228600" algn="l">
              <a:buFont typeface="+mj-lt"/>
              <a:buAutoNum type="arabicPeriod"/>
            </a:pPr>
            <a:r>
              <a:rPr lang="en-US" sz="1200" i="0" dirty="0">
                <a:solidFill>
                  <a:srgbClr val="374151"/>
                </a:solidFill>
                <a:effectLst/>
                <a:latin typeface="Söhne"/>
              </a:rPr>
              <a:t>Challenges and opportunities</a:t>
            </a:r>
            <a:r>
              <a:rPr lang="en-US" sz="1200" b="0" i="0" dirty="0">
                <a:solidFill>
                  <a:srgbClr val="374151"/>
                </a:solidFill>
                <a:effectLst/>
                <a:latin typeface="Söhne"/>
              </a:rPr>
              <a:t>: A discussion of any challenges or opportunities related to the company's organizational structure, including potential changes that may need to be considered in the future.</a:t>
            </a:r>
          </a:p>
          <a:p>
            <a:pPr marL="228600" indent="-228600" algn="l">
              <a:buFont typeface="+mj-lt"/>
              <a:buAutoNum type="arabicPeriod"/>
            </a:pPr>
            <a:r>
              <a:rPr lang="en-US" sz="1200" b="0" i="0" dirty="0">
                <a:solidFill>
                  <a:srgbClr val="374151"/>
                </a:solidFill>
                <a:effectLst/>
                <a:latin typeface="Söhne"/>
              </a:rPr>
              <a:t>Conclusion: A conclusion that summarizes the main points of the presentation and emphasizes the importance of the company's organizational structure for achieving its goals.</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15584748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Leadership Team Overview</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introduction to the importance of the leadership team </a:t>
            </a:r>
          </a:p>
          <a:p>
            <a:pPr marL="228600" indent="-228600" algn="l">
              <a:buFont typeface="+mj-lt"/>
              <a:buAutoNum type="arabicPeriod"/>
            </a:pPr>
            <a:r>
              <a:rPr lang="en-US" sz="1200" i="0" dirty="0">
                <a:solidFill>
                  <a:srgbClr val="374151"/>
                </a:solidFill>
                <a:effectLst/>
                <a:latin typeface="Söhne"/>
              </a:rPr>
              <a:t>Leadership team members</a:t>
            </a:r>
            <a:r>
              <a:rPr lang="en-US" sz="1200" b="0" i="0" dirty="0">
                <a:solidFill>
                  <a:srgbClr val="374151"/>
                </a:solidFill>
                <a:effectLst/>
                <a:latin typeface="Söhne"/>
              </a:rPr>
              <a:t>: A list of the leadership team members, their roles, and their responsibilities. This section could include headshots of each member and a brief bio that highlights their relevant experience and expertise.</a:t>
            </a:r>
          </a:p>
          <a:p>
            <a:pPr marL="228600" indent="-228600" algn="l">
              <a:buFont typeface="+mj-lt"/>
              <a:buAutoNum type="arabicPeriod"/>
            </a:pPr>
            <a:r>
              <a:rPr lang="en-US" sz="1200" i="0" dirty="0">
                <a:solidFill>
                  <a:srgbClr val="374151"/>
                </a:solidFill>
                <a:effectLst/>
                <a:latin typeface="Söhne"/>
              </a:rPr>
              <a:t>Changes during the quarter</a:t>
            </a:r>
            <a:r>
              <a:rPr lang="en-US" sz="1200" b="0" i="0" dirty="0">
                <a:solidFill>
                  <a:srgbClr val="374151"/>
                </a:solidFill>
                <a:effectLst/>
                <a:latin typeface="Söhne"/>
              </a:rPr>
              <a:t>: Any changes to the leadership team during the quarter, such as new hires, departures, or promotions. This section could also include a timeline of any significant events or initiatives undertaken by the leadership team during the quarter.</a:t>
            </a:r>
          </a:p>
          <a:p>
            <a:pPr marL="228600" indent="-228600" algn="l">
              <a:buFont typeface="+mj-lt"/>
              <a:buAutoNum type="arabicPeriod"/>
            </a:pPr>
            <a:r>
              <a:rPr lang="en-US" sz="1200" i="0" dirty="0">
                <a:solidFill>
                  <a:srgbClr val="374151"/>
                </a:solidFill>
                <a:effectLst/>
                <a:latin typeface="Söhne"/>
              </a:rPr>
              <a:t>Key achievements</a:t>
            </a:r>
            <a:r>
              <a:rPr lang="en-US" sz="1200" b="0" i="0" dirty="0">
                <a:solidFill>
                  <a:srgbClr val="374151"/>
                </a:solidFill>
                <a:effectLst/>
                <a:latin typeface="Söhne"/>
              </a:rPr>
              <a:t>: A summary of the leadership team's key achievements during the quarter, such as successful product launches, major customer wins, or strategic partnerships. This section could also highlight any challenges the team faced and how they were overcome.</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conclusion that summarizes the leadership team's performance during the quarter and its impact on the company's overall success. This section could also include any recommendations or goals for the team moving forward.</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8310338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Talent Acquisition</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overview of the current hiring landscape and any industry trends that are relevant to the company's recruitment efforts.</a:t>
            </a:r>
          </a:p>
          <a:p>
            <a:pPr marL="228600" indent="-228600" algn="l">
              <a:buFont typeface="+mj-lt"/>
              <a:buAutoNum type="arabicPeriod"/>
            </a:pPr>
            <a:r>
              <a:rPr lang="en-US" sz="1200" i="0" dirty="0">
                <a:solidFill>
                  <a:srgbClr val="374151"/>
                </a:solidFill>
                <a:effectLst/>
                <a:latin typeface="Söhne"/>
              </a:rPr>
              <a:t>Open roles</a:t>
            </a:r>
            <a:r>
              <a:rPr lang="en-US" sz="1200" b="0" i="0" dirty="0">
                <a:solidFill>
                  <a:srgbClr val="374151"/>
                </a:solidFill>
                <a:effectLst/>
                <a:latin typeface="Söhne"/>
              </a:rPr>
              <a:t>: A list of currently open roles, including job titles, locations, and a brief description of each position.</a:t>
            </a:r>
          </a:p>
          <a:p>
            <a:pPr marL="228600" indent="-228600" algn="l">
              <a:buFont typeface="+mj-lt"/>
              <a:buAutoNum type="arabicPeriod"/>
            </a:pPr>
            <a:r>
              <a:rPr lang="en-US" sz="1200" i="0" dirty="0">
                <a:solidFill>
                  <a:srgbClr val="374151"/>
                </a:solidFill>
                <a:effectLst/>
                <a:latin typeface="Söhne"/>
              </a:rPr>
              <a:t>Metrics</a:t>
            </a:r>
            <a:r>
              <a:rPr lang="en-US" sz="1200" b="0" i="0" dirty="0">
                <a:solidFill>
                  <a:srgbClr val="374151"/>
                </a:solidFill>
                <a:effectLst/>
                <a:latin typeface="Söhne"/>
              </a:rPr>
              <a:t>: Key metrics related to the recruitment function, such as average time to fill a role, average cost to fill each role, and any other relevant recruitment KPIs.</a:t>
            </a:r>
          </a:p>
          <a:p>
            <a:pPr marL="228600" indent="-228600" algn="l">
              <a:buFont typeface="+mj-lt"/>
              <a:buAutoNum type="arabicPeriod"/>
            </a:pPr>
            <a:r>
              <a:rPr lang="en-US" sz="1200" i="0" dirty="0">
                <a:solidFill>
                  <a:srgbClr val="374151"/>
                </a:solidFill>
                <a:effectLst/>
                <a:latin typeface="Söhne"/>
              </a:rPr>
              <a:t>Recruitment initiatives</a:t>
            </a:r>
            <a:r>
              <a:rPr lang="en-US" sz="1200" b="0" i="0" dirty="0">
                <a:solidFill>
                  <a:srgbClr val="374151"/>
                </a:solidFill>
                <a:effectLst/>
                <a:latin typeface="Söhne"/>
              </a:rPr>
              <a:t>: An update on any initiatives the company is currently undertaking to improve its recruitment function, such as partnerships with universities or job boards, employer branding campaigns, or improvements to the application process.</a:t>
            </a:r>
          </a:p>
          <a:p>
            <a:pPr marL="228600" indent="-228600" algn="l">
              <a:buFont typeface="+mj-lt"/>
              <a:buAutoNum type="arabicPeriod"/>
            </a:pPr>
            <a:r>
              <a:rPr lang="en-US" sz="1200" i="0" dirty="0">
                <a:solidFill>
                  <a:srgbClr val="374151"/>
                </a:solidFill>
                <a:effectLst/>
                <a:latin typeface="Söhne"/>
              </a:rPr>
              <a:t>Diversity and inclusion</a:t>
            </a:r>
            <a:r>
              <a:rPr lang="en-US" sz="1200" b="0" i="0" dirty="0">
                <a:solidFill>
                  <a:srgbClr val="374151"/>
                </a:solidFill>
                <a:effectLst/>
                <a:latin typeface="Söhne"/>
              </a:rPr>
              <a:t>: A summary of any efforts the company is making to improve diversity and inclusion in its hiring practices, such as setting diversity targets or implementing blind hiring practices.</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summary of the key takeaways from the talent acquisition update and any action items or next steps for the board to consider.</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34140157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Compensation &amp; Benefits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Employee compensation</a:t>
            </a:r>
            <a:r>
              <a:rPr lang="en-US" sz="1200" b="0" i="0" dirty="0">
                <a:solidFill>
                  <a:srgbClr val="374151"/>
                </a:solidFill>
                <a:effectLst/>
                <a:latin typeface="Söhne"/>
              </a:rPr>
              <a:t>: An overview of changes made to employee compensation during the quarter, including any salary increases, bonuses, or equity awards.</a:t>
            </a:r>
          </a:p>
          <a:p>
            <a:pPr marL="228600" indent="-228600" algn="l">
              <a:buFont typeface="+mj-lt"/>
              <a:buAutoNum type="arabicPeriod"/>
            </a:pPr>
            <a:r>
              <a:rPr lang="en-US" sz="1200" i="0" dirty="0">
                <a:solidFill>
                  <a:srgbClr val="374151"/>
                </a:solidFill>
                <a:effectLst/>
                <a:latin typeface="Söhne"/>
              </a:rPr>
              <a:t>Employee benefits</a:t>
            </a:r>
            <a:r>
              <a:rPr lang="en-US" sz="1200" b="0" i="0" dirty="0">
                <a:solidFill>
                  <a:srgbClr val="374151"/>
                </a:solidFill>
                <a:effectLst/>
                <a:latin typeface="Söhne"/>
              </a:rPr>
              <a:t>: An update on employee benefits, including changes to healthcare plans, retirement plans, and other benefits offered.</a:t>
            </a:r>
          </a:p>
          <a:p>
            <a:pPr marL="228600" indent="-228600" algn="l">
              <a:buFont typeface="+mj-lt"/>
              <a:buAutoNum type="arabicPeriod"/>
            </a:pPr>
            <a:r>
              <a:rPr lang="en-US" sz="1200" i="0" dirty="0">
                <a:solidFill>
                  <a:srgbClr val="374151"/>
                </a:solidFill>
                <a:effectLst/>
                <a:latin typeface="Söhne"/>
              </a:rPr>
              <a:t>Total rewards statement</a:t>
            </a:r>
            <a:r>
              <a:rPr lang="en-US" sz="1200" b="0" i="0" dirty="0">
                <a:solidFill>
                  <a:srgbClr val="374151"/>
                </a:solidFill>
                <a:effectLst/>
                <a:latin typeface="Söhne"/>
              </a:rPr>
              <a:t>: An overview of the total rewards package offered to employees, including both compensation and benefits.</a:t>
            </a:r>
          </a:p>
          <a:p>
            <a:pPr marL="228600" indent="-228600" algn="l">
              <a:buFont typeface="+mj-lt"/>
              <a:buAutoNum type="arabicPeriod"/>
            </a:pPr>
            <a:r>
              <a:rPr lang="en-US" sz="1200" i="0" dirty="0">
                <a:solidFill>
                  <a:srgbClr val="374151"/>
                </a:solidFill>
                <a:effectLst/>
                <a:latin typeface="Söhne"/>
              </a:rPr>
              <a:t>Employee satisfaction survey results</a:t>
            </a:r>
            <a:r>
              <a:rPr lang="en-US" sz="1200" b="0" i="0" dirty="0">
                <a:solidFill>
                  <a:srgbClr val="374151"/>
                </a:solidFill>
                <a:effectLst/>
                <a:latin typeface="Söhne"/>
              </a:rPr>
              <a:t>: An analysis of employee satisfaction with compensation and benefits, including areas for improvement and plans for addressing any concerns.</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40543990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Learning &amp; Development</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algn="l"/>
            <a:r>
              <a:rPr lang="en-US" sz="1200" b="0" i="0" dirty="0">
                <a:solidFill>
                  <a:srgbClr val="374151"/>
                </a:solidFill>
                <a:effectLst/>
                <a:latin typeface="Söhne"/>
              </a:rPr>
              <a:t>An overview of employee training and development programs during the quarter, including metrics such as training hours and completion rates.</a:t>
            </a:r>
          </a:p>
          <a:p>
            <a:pPr marL="228600" indent="-228600" algn="l">
              <a:buFont typeface="+mj-lt"/>
              <a:buAutoNum type="arabicPeriod"/>
            </a:pPr>
            <a:r>
              <a:rPr lang="en-US" sz="1200" b="0" i="0" dirty="0">
                <a:solidFill>
                  <a:srgbClr val="374151"/>
                </a:solidFill>
                <a:effectLst/>
                <a:latin typeface="Söhne"/>
              </a:rPr>
              <a:t>A summary of the training programs offered, including topics covered, target audience, and delivery format (e.g. in-person, virtual, self-paced).</a:t>
            </a:r>
          </a:p>
          <a:p>
            <a:pPr marL="228600" indent="-228600" algn="l">
              <a:buFont typeface="+mj-lt"/>
              <a:buAutoNum type="arabicPeriod"/>
            </a:pPr>
            <a:r>
              <a:rPr lang="en-US" sz="1200" b="0" i="0" dirty="0">
                <a:solidFill>
                  <a:srgbClr val="374151"/>
                </a:solidFill>
                <a:effectLst/>
                <a:latin typeface="Söhne"/>
              </a:rPr>
              <a:t>Metrics on training hours and completion rates, broken down by department, job level, and type of training.</a:t>
            </a:r>
          </a:p>
          <a:p>
            <a:pPr marL="228600" indent="-228600" algn="l">
              <a:buFont typeface="+mj-lt"/>
              <a:buAutoNum type="arabicPeriod"/>
            </a:pPr>
            <a:r>
              <a:rPr lang="en-US" sz="1200" b="0" i="0" dirty="0">
                <a:solidFill>
                  <a:srgbClr val="374151"/>
                </a:solidFill>
                <a:effectLst/>
                <a:latin typeface="Söhne"/>
              </a:rPr>
              <a:t>Feedback from employees on the effectiveness of the training programs, including areas for improvement and suggestions for future training topics.</a:t>
            </a:r>
          </a:p>
          <a:p>
            <a:pPr marL="228600" indent="-228600" algn="l">
              <a:buFont typeface="+mj-lt"/>
              <a:buAutoNum type="arabicPeriod"/>
            </a:pPr>
            <a:r>
              <a:rPr lang="en-US" sz="1200" b="0" i="0" dirty="0">
                <a:solidFill>
                  <a:srgbClr val="374151"/>
                </a:solidFill>
                <a:effectLst/>
                <a:latin typeface="Söhne"/>
              </a:rPr>
              <a:t>A discussion of any new initiatives or updates to existing programs aimed at improving employee skills and knowledge.</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28898924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Employee Engagement</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r>
              <a:rPr lang="en-US" sz="1200" b="0" i="0" dirty="0">
                <a:solidFill>
                  <a:srgbClr val="374151"/>
                </a:solidFill>
                <a:effectLst/>
                <a:latin typeface="Söhne"/>
              </a:rPr>
              <a:t>This slide provides an analysis of employee engagement metrics, including turnover rate and employee satisfaction. It should include the following information:</a:t>
            </a:r>
          </a:p>
          <a:p>
            <a:pPr marL="228600" indent="-228600" algn="l">
              <a:buFont typeface="+mj-lt"/>
              <a:buAutoNum type="arabicPeriod"/>
            </a:pPr>
            <a:r>
              <a:rPr lang="en-US" sz="1200" i="0" dirty="0">
                <a:solidFill>
                  <a:srgbClr val="374151"/>
                </a:solidFill>
                <a:effectLst/>
                <a:latin typeface="Söhne"/>
              </a:rPr>
              <a:t>Overview of employee engagement</a:t>
            </a:r>
            <a:r>
              <a:rPr lang="en-US" sz="1200" b="0" i="0" dirty="0">
                <a:solidFill>
                  <a:srgbClr val="374151"/>
                </a:solidFill>
                <a:effectLst/>
                <a:latin typeface="Söhne"/>
              </a:rPr>
              <a:t>: A brief introduction to the concept of employee engagement and its importance for the company's success.</a:t>
            </a:r>
          </a:p>
          <a:p>
            <a:pPr marL="228600" indent="-228600" algn="l">
              <a:buFont typeface="+mj-lt"/>
              <a:buAutoNum type="arabicPeriod"/>
            </a:pPr>
            <a:r>
              <a:rPr lang="en-US" sz="1200" i="0" dirty="0">
                <a:solidFill>
                  <a:srgbClr val="374151"/>
                </a:solidFill>
                <a:effectLst/>
                <a:latin typeface="Söhne"/>
              </a:rPr>
              <a:t>Turnover rate analysis</a:t>
            </a:r>
            <a:r>
              <a:rPr lang="en-US" sz="1200" b="0" i="0" dirty="0">
                <a:solidFill>
                  <a:srgbClr val="374151"/>
                </a:solidFill>
                <a:effectLst/>
                <a:latin typeface="Söhne"/>
              </a:rPr>
              <a:t>: A breakdown of turnover rate by department, job level, and reason for leaving. This analysis can be presented using tables or charts.</a:t>
            </a:r>
          </a:p>
          <a:p>
            <a:pPr marL="228600" indent="-228600" algn="l">
              <a:buFont typeface="+mj-lt"/>
              <a:buAutoNum type="arabicPeriod"/>
            </a:pPr>
            <a:r>
              <a:rPr lang="en-US" sz="1200" i="0" dirty="0">
                <a:solidFill>
                  <a:srgbClr val="374151"/>
                </a:solidFill>
                <a:effectLst/>
                <a:latin typeface="Söhne"/>
              </a:rPr>
              <a:t>Employee satisfaction analysis</a:t>
            </a:r>
            <a:r>
              <a:rPr lang="en-US" sz="1200" b="0" i="0" dirty="0">
                <a:solidFill>
                  <a:srgbClr val="374151"/>
                </a:solidFill>
                <a:effectLst/>
                <a:latin typeface="Söhne"/>
              </a:rPr>
              <a:t>: An overview of the company's employee satisfaction scores, such as the Employee Net Promoter Score (</a:t>
            </a:r>
            <a:r>
              <a:rPr lang="en-US" sz="1200" b="0" i="0" dirty="0" err="1">
                <a:solidFill>
                  <a:srgbClr val="374151"/>
                </a:solidFill>
                <a:effectLst/>
                <a:latin typeface="Söhne"/>
              </a:rPr>
              <a:t>eNPS</a:t>
            </a:r>
            <a:r>
              <a:rPr lang="en-US" sz="1200" b="0" i="0" dirty="0">
                <a:solidFill>
                  <a:srgbClr val="374151"/>
                </a:solidFill>
                <a:effectLst/>
                <a:latin typeface="Söhne"/>
              </a:rPr>
              <a:t>) and other survey results. This analysis can also include a breakdown of satisfaction scores by department or job level.</a:t>
            </a:r>
          </a:p>
          <a:p>
            <a:pPr marL="228600" indent="-228600" algn="l">
              <a:buFont typeface="+mj-lt"/>
              <a:buAutoNum type="arabicPeriod"/>
            </a:pPr>
            <a:r>
              <a:rPr lang="en-US" sz="1200" i="0" dirty="0">
                <a:solidFill>
                  <a:srgbClr val="374151"/>
                </a:solidFill>
                <a:effectLst/>
                <a:latin typeface="Söhne"/>
              </a:rPr>
              <a:t>Key drivers of engagement</a:t>
            </a:r>
            <a:r>
              <a:rPr lang="en-US" sz="1200" b="0" i="0" dirty="0">
                <a:solidFill>
                  <a:srgbClr val="374151"/>
                </a:solidFill>
                <a:effectLst/>
                <a:latin typeface="Söhne"/>
              </a:rPr>
              <a:t>: An analysis of the key drivers of employee engagement based on survey data and other feedback mechanisms. This can include a summary of the top drivers and any notable changes compared to previous periods.</a:t>
            </a:r>
          </a:p>
          <a:p>
            <a:pPr marL="228600" indent="-228600" algn="l">
              <a:buFont typeface="+mj-lt"/>
              <a:buAutoNum type="arabicPeriod"/>
            </a:pPr>
            <a:r>
              <a:rPr lang="en-US" sz="1200" i="0" dirty="0">
                <a:solidFill>
                  <a:srgbClr val="374151"/>
                </a:solidFill>
                <a:effectLst/>
                <a:latin typeface="Söhne"/>
              </a:rPr>
              <a:t>Action plan</a:t>
            </a:r>
            <a:r>
              <a:rPr lang="en-US" sz="1200" b="0" i="0" dirty="0">
                <a:solidFill>
                  <a:srgbClr val="374151"/>
                </a:solidFill>
                <a:effectLst/>
                <a:latin typeface="Söhne"/>
              </a:rPr>
              <a:t>: A summary of the company's action plan to improve employee engagement, including any initiatives or programs launched during the quarter. This can also include a timeline for future activities related to employee engagement.</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conclusion summarizing the key findings and highlighting the company's commitment to improving employee engagement.</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5194047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Employee Retention</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Overview</a:t>
            </a:r>
            <a:r>
              <a:rPr lang="en-US" sz="1200" b="0" i="0" dirty="0">
                <a:solidFill>
                  <a:srgbClr val="374151"/>
                </a:solidFill>
                <a:effectLst/>
                <a:latin typeface="Söhne"/>
              </a:rPr>
              <a:t>: A brief summary of the company's employee retention initiatives during the quarter, including any new programs or policies implemented.</a:t>
            </a:r>
          </a:p>
          <a:p>
            <a:pPr marL="228600" indent="-228600" algn="l">
              <a:buFont typeface="+mj-lt"/>
              <a:buAutoNum type="arabicPeriod"/>
            </a:pPr>
            <a:r>
              <a:rPr lang="en-US" sz="1200" i="0" dirty="0">
                <a:solidFill>
                  <a:srgbClr val="374151"/>
                </a:solidFill>
                <a:effectLst/>
                <a:latin typeface="Söhne"/>
              </a:rPr>
              <a:t>Employee feedback programs</a:t>
            </a:r>
            <a:r>
              <a:rPr lang="en-US" sz="1200" b="0" i="0" dirty="0">
                <a:solidFill>
                  <a:srgbClr val="374151"/>
                </a:solidFill>
                <a:effectLst/>
                <a:latin typeface="Söhne"/>
              </a:rPr>
              <a:t>: An overview of employee feedback programs, such as surveys or focus groups, and any insights gained from employee feedback.</a:t>
            </a:r>
          </a:p>
          <a:p>
            <a:pPr marL="228600" indent="-228600" algn="l">
              <a:buFont typeface="+mj-lt"/>
              <a:buAutoNum type="arabicPeriod"/>
            </a:pPr>
            <a:r>
              <a:rPr lang="en-US" sz="1200" i="0" dirty="0">
                <a:solidFill>
                  <a:srgbClr val="374151"/>
                </a:solidFill>
                <a:effectLst/>
                <a:latin typeface="Söhne"/>
              </a:rPr>
              <a:t>Employee engagement programs</a:t>
            </a:r>
            <a:r>
              <a:rPr lang="en-US" sz="1200" b="0" i="0" dirty="0">
                <a:solidFill>
                  <a:srgbClr val="374151"/>
                </a:solidFill>
                <a:effectLst/>
                <a:latin typeface="Söhne"/>
              </a:rPr>
              <a:t>: An overview of employee engagement programs, such as training and development opportunities or team-building activities, and any impact on employee retention.</a:t>
            </a:r>
          </a:p>
          <a:p>
            <a:pPr marL="228600" indent="-228600" algn="l">
              <a:buFont typeface="+mj-lt"/>
              <a:buAutoNum type="arabicPeriod"/>
            </a:pPr>
            <a:r>
              <a:rPr lang="en-US" sz="1200" i="0" dirty="0">
                <a:solidFill>
                  <a:srgbClr val="374151"/>
                </a:solidFill>
                <a:effectLst/>
                <a:latin typeface="Söhne"/>
              </a:rPr>
              <a:t>Retention metrics</a:t>
            </a:r>
            <a:r>
              <a:rPr lang="en-US" sz="1200" b="0" i="0" dirty="0">
                <a:solidFill>
                  <a:srgbClr val="374151"/>
                </a:solidFill>
                <a:effectLst/>
                <a:latin typeface="Söhne"/>
              </a:rPr>
              <a:t>: An analysis of retention metrics, including turnover rates and reasons for attrition, and any trends observed during the quarter.</a:t>
            </a:r>
          </a:p>
          <a:p>
            <a:pPr marL="228600" indent="-228600" algn="l">
              <a:buFont typeface="+mj-lt"/>
              <a:buAutoNum type="arabicPeriod"/>
            </a:pPr>
            <a:r>
              <a:rPr lang="en-US" sz="1200" b="0" i="0" dirty="0">
                <a:solidFill>
                  <a:srgbClr val="374151"/>
                </a:solidFill>
                <a:effectLst/>
                <a:latin typeface="Söhne"/>
              </a:rPr>
              <a:t>Future plans: An overview of future plans for employee retention initiatives, including any new programs or policies planned for implementation in the upcoming quarter.</a:t>
            </a:r>
          </a:p>
        </p:txBody>
      </p:sp>
    </p:spTree>
    <p:extLst>
      <p:ext uri="{BB962C8B-B14F-4D97-AF65-F5344CB8AC3E}">
        <p14:creationId xmlns:p14="http://schemas.microsoft.com/office/powerpoint/2010/main" val="14450730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Diversity, Equity &amp; Inclusion</a:t>
            </a:r>
            <a:br>
              <a:rPr lang="en-US" dirty="0"/>
            </a:br>
            <a:endParaRPr lang="en-US" dirty="0"/>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algn="l"/>
            <a:r>
              <a:rPr lang="en-US" sz="1200" b="0" i="0" dirty="0">
                <a:solidFill>
                  <a:srgbClr val="374151"/>
                </a:solidFill>
                <a:effectLst/>
                <a:latin typeface="Söhne"/>
              </a:rPr>
              <a:t>An overview of the company's diversity and inclusion initiatives</a:t>
            </a:r>
          </a:p>
          <a:p>
            <a:pPr marL="228600" indent="-228600" algn="l">
              <a:buFont typeface="+mj-lt"/>
              <a:buAutoNum type="arabicPeriod"/>
            </a:pPr>
            <a:r>
              <a:rPr lang="en-US" sz="1200" b="0" i="0" dirty="0">
                <a:solidFill>
                  <a:srgbClr val="374151"/>
                </a:solidFill>
                <a:effectLst/>
                <a:latin typeface="Söhne"/>
              </a:rPr>
              <a:t>Progress made in the quarter towards diversity and inclusion goals</a:t>
            </a:r>
          </a:p>
          <a:p>
            <a:pPr marL="228600" indent="-228600" algn="l">
              <a:buFont typeface="+mj-lt"/>
              <a:buAutoNum type="arabicPeriod"/>
            </a:pPr>
            <a:r>
              <a:rPr lang="en-US" sz="1200" b="0" i="0" dirty="0">
                <a:solidFill>
                  <a:srgbClr val="374151"/>
                </a:solidFill>
                <a:effectLst/>
                <a:latin typeface="Söhne"/>
              </a:rPr>
              <a:t>Data on employee demographics, including diversity metrics such as race, ethnicity, gender, and age</a:t>
            </a:r>
          </a:p>
          <a:p>
            <a:pPr marL="228600" indent="-228600" algn="l">
              <a:buFont typeface="+mj-lt"/>
              <a:buAutoNum type="arabicPeriod"/>
            </a:pPr>
            <a:r>
              <a:rPr lang="en-US" sz="1200" b="0" i="0" dirty="0">
                <a:solidFill>
                  <a:srgbClr val="374151"/>
                </a:solidFill>
                <a:effectLst/>
                <a:latin typeface="Söhne"/>
              </a:rPr>
              <a:t>Employee resource group updates and events</a:t>
            </a:r>
          </a:p>
          <a:p>
            <a:pPr marL="228600" indent="-228600" algn="l">
              <a:buFont typeface="+mj-lt"/>
              <a:buAutoNum type="arabicPeriod"/>
            </a:pPr>
            <a:r>
              <a:rPr lang="en-US" sz="1200" b="0" i="0" dirty="0">
                <a:solidFill>
                  <a:srgbClr val="374151"/>
                </a:solidFill>
                <a:effectLst/>
                <a:latin typeface="Söhne"/>
              </a:rPr>
              <a:t>Employee training and development programs related to diversity and inclusion</a:t>
            </a:r>
          </a:p>
          <a:p>
            <a:pPr marL="228600" indent="-228600" algn="l">
              <a:buFont typeface="+mj-lt"/>
              <a:buAutoNum type="arabicPeriod"/>
            </a:pPr>
            <a:r>
              <a:rPr lang="en-US" sz="1200" b="0" i="0" dirty="0">
                <a:solidFill>
                  <a:srgbClr val="374151"/>
                </a:solidFill>
                <a:effectLst/>
                <a:latin typeface="Söhne"/>
              </a:rPr>
              <a:t>Hiring and retention initiatives aimed at promoting diversity and inclusion</a:t>
            </a:r>
          </a:p>
          <a:p>
            <a:pPr marL="228600" indent="-228600" algn="l">
              <a:buFont typeface="+mj-lt"/>
              <a:buAutoNum type="arabicPeriod"/>
            </a:pPr>
            <a:r>
              <a:rPr lang="en-US" sz="1200" b="0" i="0" dirty="0">
                <a:solidFill>
                  <a:srgbClr val="374151"/>
                </a:solidFill>
                <a:effectLst/>
                <a:latin typeface="Söhne"/>
              </a:rPr>
              <a:t>Plans for further improvement in the upcoming quarter</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10651803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E4B6F3D-F39D-82FA-3528-A3F1F7B178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E4B6F3D-F39D-82FA-3528-A3F1F7B178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9D66EAD0-976A-9CBA-E440-3B5D7F6C7065}"/>
              </a:ext>
            </a:extLst>
          </p:cNvPr>
          <p:cNvSpPr>
            <a:spLocks noGrp="1"/>
          </p:cNvSpPr>
          <p:nvPr>
            <p:ph type="title"/>
          </p:nvPr>
        </p:nvSpPr>
        <p:spPr/>
        <p:txBody>
          <a:bodyPr vert="horz"/>
          <a:lstStyle/>
          <a:p>
            <a:r>
              <a:rPr lang="en-US" dirty="0"/>
              <a:t>Board Reporting Package Contents</a:t>
            </a:r>
          </a:p>
        </p:txBody>
      </p:sp>
      <p:sp>
        <p:nvSpPr>
          <p:cNvPr id="23" name="Rounded Rectangle 33">
            <a:extLst>
              <a:ext uri="{FF2B5EF4-FFF2-40B4-BE49-F238E27FC236}">
                <a16:creationId xmlns:a16="http://schemas.microsoft.com/office/drawing/2014/main" id="{C82EEC47-011A-3986-C4CD-0F6BF3E13A5C}"/>
              </a:ext>
            </a:extLst>
          </p:cNvPr>
          <p:cNvSpPr/>
          <p:nvPr/>
        </p:nvSpPr>
        <p:spPr>
          <a:xfrm>
            <a:off x="409762" y="853079"/>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CEO &amp; BOARD CHAIR</a:t>
            </a:r>
          </a:p>
        </p:txBody>
      </p:sp>
      <p:sp>
        <p:nvSpPr>
          <p:cNvPr id="54" name="TextBox 53">
            <a:extLst>
              <a:ext uri="{FF2B5EF4-FFF2-40B4-BE49-F238E27FC236}">
                <a16:creationId xmlns:a16="http://schemas.microsoft.com/office/drawing/2014/main" id="{C852F15D-DEBA-82B2-6A49-FB2C85CB3853}"/>
              </a:ext>
            </a:extLst>
          </p:cNvPr>
          <p:cNvSpPr txBox="1"/>
          <p:nvPr/>
        </p:nvSpPr>
        <p:spPr>
          <a:xfrm>
            <a:off x="409762" y="151065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CEO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Board Chair Update</a:t>
            </a:r>
          </a:p>
        </p:txBody>
      </p:sp>
      <p:sp>
        <p:nvSpPr>
          <p:cNvPr id="55" name="Rounded Rectangle 33">
            <a:extLst>
              <a:ext uri="{FF2B5EF4-FFF2-40B4-BE49-F238E27FC236}">
                <a16:creationId xmlns:a16="http://schemas.microsoft.com/office/drawing/2014/main" id="{95A91E49-9A8A-96D6-533B-2C56F869D32F}"/>
              </a:ext>
            </a:extLst>
          </p:cNvPr>
          <p:cNvSpPr/>
          <p:nvPr/>
        </p:nvSpPr>
        <p:spPr>
          <a:xfrm>
            <a:off x="9295000" y="2148795"/>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CORPORATE DEVELOPMENT</a:t>
            </a:r>
          </a:p>
        </p:txBody>
      </p:sp>
      <p:sp>
        <p:nvSpPr>
          <p:cNvPr id="56" name="TextBox 55">
            <a:extLst>
              <a:ext uri="{FF2B5EF4-FFF2-40B4-BE49-F238E27FC236}">
                <a16:creationId xmlns:a16="http://schemas.microsoft.com/office/drawing/2014/main" id="{078BE5D7-CBB0-7B3D-AFEE-E049B3EC8AFE}"/>
              </a:ext>
            </a:extLst>
          </p:cNvPr>
          <p:cNvSpPr txBox="1"/>
          <p:nvPr/>
        </p:nvSpPr>
        <p:spPr>
          <a:xfrm>
            <a:off x="9282200" y="2827201"/>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Partnerships &amp; Alliances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Mergers &amp; Acquisitions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Post-merger Integration</a:t>
            </a:r>
          </a:p>
        </p:txBody>
      </p:sp>
      <p:sp>
        <p:nvSpPr>
          <p:cNvPr id="57" name="Rounded Rectangle 33">
            <a:extLst>
              <a:ext uri="{FF2B5EF4-FFF2-40B4-BE49-F238E27FC236}">
                <a16:creationId xmlns:a16="http://schemas.microsoft.com/office/drawing/2014/main" id="{047EDAFC-A516-E05C-A91F-44C7C46FB147}"/>
              </a:ext>
            </a:extLst>
          </p:cNvPr>
          <p:cNvSpPr/>
          <p:nvPr/>
        </p:nvSpPr>
        <p:spPr>
          <a:xfrm>
            <a:off x="9282200" y="3579788"/>
            <a:ext cx="2594695" cy="530969"/>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OTHER CORPORATE FUNCTIONS</a:t>
            </a:r>
          </a:p>
        </p:txBody>
      </p:sp>
      <p:sp>
        <p:nvSpPr>
          <p:cNvPr id="58" name="TextBox 57">
            <a:extLst>
              <a:ext uri="{FF2B5EF4-FFF2-40B4-BE49-F238E27FC236}">
                <a16:creationId xmlns:a16="http://schemas.microsoft.com/office/drawing/2014/main" id="{7A3E0AED-BC63-D8B3-2F56-CAFD1E971E31}"/>
              </a:ext>
            </a:extLst>
          </p:cNvPr>
          <p:cNvSpPr txBox="1"/>
          <p:nvPr/>
        </p:nvSpPr>
        <p:spPr>
          <a:xfrm>
            <a:off x="9282200" y="4264916"/>
            <a:ext cx="2620293" cy="1687284"/>
          </a:xfrm>
          <a:prstGeom prst="rect">
            <a:avLst/>
          </a:prstGeom>
          <a:noFill/>
        </p:spPr>
        <p:txBody>
          <a:bodyPr wrap="square" lIns="0" tIns="0" rIns="0" bIns="0" rtlCol="0">
            <a:noAutofit/>
          </a:bodyPr>
          <a:lstStyle/>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Intellectual Property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Risk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Legal &amp; Regulatory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Litigation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Investor Relations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Community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ESG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Sustainability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Awards &amp; Recognition</a:t>
            </a:r>
          </a:p>
        </p:txBody>
      </p:sp>
      <p:sp>
        <p:nvSpPr>
          <p:cNvPr id="59" name="Rounded Rectangle 33">
            <a:extLst>
              <a:ext uri="{FF2B5EF4-FFF2-40B4-BE49-F238E27FC236}">
                <a16:creationId xmlns:a16="http://schemas.microsoft.com/office/drawing/2014/main" id="{92BD0F0E-08AC-37AD-FD60-1F03343DE46E}"/>
              </a:ext>
            </a:extLst>
          </p:cNvPr>
          <p:cNvSpPr/>
          <p:nvPr/>
        </p:nvSpPr>
        <p:spPr>
          <a:xfrm>
            <a:off x="384173" y="2005691"/>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AGENDA</a:t>
            </a:r>
          </a:p>
        </p:txBody>
      </p:sp>
      <p:sp>
        <p:nvSpPr>
          <p:cNvPr id="60" name="Rounded Rectangle 33">
            <a:extLst>
              <a:ext uri="{FF2B5EF4-FFF2-40B4-BE49-F238E27FC236}">
                <a16:creationId xmlns:a16="http://schemas.microsoft.com/office/drawing/2014/main" id="{CB90976E-C934-E589-3C43-C6536961F66B}"/>
              </a:ext>
            </a:extLst>
          </p:cNvPr>
          <p:cNvSpPr/>
          <p:nvPr/>
        </p:nvSpPr>
        <p:spPr>
          <a:xfrm>
            <a:off x="3371511" y="842768"/>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PRODUCT</a:t>
            </a:r>
          </a:p>
        </p:txBody>
      </p:sp>
      <p:sp>
        <p:nvSpPr>
          <p:cNvPr id="61" name="Rounded Rectangle 33">
            <a:extLst>
              <a:ext uri="{FF2B5EF4-FFF2-40B4-BE49-F238E27FC236}">
                <a16:creationId xmlns:a16="http://schemas.microsoft.com/office/drawing/2014/main" id="{7FA80707-EFC9-FBBD-95A3-C53653725FD5}"/>
              </a:ext>
            </a:extLst>
          </p:cNvPr>
          <p:cNvSpPr/>
          <p:nvPr/>
        </p:nvSpPr>
        <p:spPr>
          <a:xfrm>
            <a:off x="3371510" y="221609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MARKETING</a:t>
            </a:r>
          </a:p>
        </p:txBody>
      </p:sp>
      <p:sp>
        <p:nvSpPr>
          <p:cNvPr id="62" name="TextBox 61">
            <a:extLst>
              <a:ext uri="{FF2B5EF4-FFF2-40B4-BE49-F238E27FC236}">
                <a16:creationId xmlns:a16="http://schemas.microsoft.com/office/drawing/2014/main" id="{30745068-3C50-A3AC-D3F9-F374532A853E}"/>
              </a:ext>
            </a:extLst>
          </p:cNvPr>
          <p:cNvSpPr txBox="1"/>
          <p:nvPr/>
        </p:nvSpPr>
        <p:spPr>
          <a:xfrm>
            <a:off x="409762" y="3815874"/>
            <a:ext cx="2620293" cy="2923758"/>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Financial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Income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Cash Flow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Balance Sheet</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Revenue Breakdown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Operating Expenses Breakdown</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Cost Reduction Initiatives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Profitability Analysis/ROI</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Working Capital Analysis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Receivable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Payable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Expenditures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Raising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Debt Overview &amp; Refinancing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Tax</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Property &amp; Real Estate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Foreign Currency Exposure</a:t>
            </a:r>
          </a:p>
        </p:txBody>
      </p:sp>
      <p:sp>
        <p:nvSpPr>
          <p:cNvPr id="1025" name="TextBox 1024">
            <a:extLst>
              <a:ext uri="{FF2B5EF4-FFF2-40B4-BE49-F238E27FC236}">
                <a16:creationId xmlns:a16="http://schemas.microsoft.com/office/drawing/2014/main" id="{02F92317-B039-B079-BB61-FC63C637FB38}"/>
              </a:ext>
            </a:extLst>
          </p:cNvPr>
          <p:cNvSpPr txBox="1"/>
          <p:nvPr/>
        </p:nvSpPr>
        <p:spPr>
          <a:xfrm>
            <a:off x="3371511" y="151559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Development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Research &amp;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Roadmap</a:t>
            </a:r>
          </a:p>
        </p:txBody>
      </p:sp>
      <p:sp>
        <p:nvSpPr>
          <p:cNvPr id="1026" name="TextBox 1025">
            <a:extLst>
              <a:ext uri="{FF2B5EF4-FFF2-40B4-BE49-F238E27FC236}">
                <a16:creationId xmlns:a16="http://schemas.microsoft.com/office/drawing/2014/main" id="{CC1A5311-249B-C428-EBB6-A72E016472C6}"/>
              </a:ext>
            </a:extLst>
          </p:cNvPr>
          <p:cNvSpPr txBox="1"/>
          <p:nvPr/>
        </p:nvSpPr>
        <p:spPr>
          <a:xfrm>
            <a:off x="3371511" y="286130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Initiatives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Expansion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ROI</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Pricing Strategy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Data &amp; Analytics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Advertising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Competitors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Branding &amp; Marketing Materials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Website</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Social Media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Industry Events &amp; Conferences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Public Relations</a:t>
            </a:r>
          </a:p>
        </p:txBody>
      </p:sp>
      <p:sp>
        <p:nvSpPr>
          <p:cNvPr id="1027" name="Rounded Rectangle 33">
            <a:extLst>
              <a:ext uri="{FF2B5EF4-FFF2-40B4-BE49-F238E27FC236}">
                <a16:creationId xmlns:a16="http://schemas.microsoft.com/office/drawing/2014/main" id="{D14AE144-6082-3A53-FA31-003FBCFBEE2C}"/>
              </a:ext>
            </a:extLst>
          </p:cNvPr>
          <p:cNvSpPr/>
          <p:nvPr/>
        </p:nvSpPr>
        <p:spPr>
          <a:xfrm>
            <a:off x="3371509" y="524534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SALES</a:t>
            </a:r>
          </a:p>
        </p:txBody>
      </p:sp>
      <p:sp>
        <p:nvSpPr>
          <p:cNvPr id="1028" name="TextBox 1027">
            <a:extLst>
              <a:ext uri="{FF2B5EF4-FFF2-40B4-BE49-F238E27FC236}">
                <a16:creationId xmlns:a16="http://schemas.microsoft.com/office/drawing/2014/main" id="{F1DE495A-583A-63C4-C570-434B9345A842}"/>
              </a:ext>
            </a:extLst>
          </p:cNvPr>
          <p:cNvSpPr txBox="1"/>
          <p:nvPr/>
        </p:nvSpPr>
        <p:spPr>
          <a:xfrm>
            <a:off x="3371511" y="589055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Pipeline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Team Performance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Region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Channel</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Channel Partners</a:t>
            </a:r>
          </a:p>
        </p:txBody>
      </p:sp>
      <p:sp>
        <p:nvSpPr>
          <p:cNvPr id="1029" name="Rounded Rectangle 33">
            <a:extLst>
              <a:ext uri="{FF2B5EF4-FFF2-40B4-BE49-F238E27FC236}">
                <a16:creationId xmlns:a16="http://schemas.microsoft.com/office/drawing/2014/main" id="{E46F2696-EE7E-BBE9-9BF4-4DC8BC64543E}"/>
              </a:ext>
            </a:extLst>
          </p:cNvPr>
          <p:cNvSpPr/>
          <p:nvPr/>
        </p:nvSpPr>
        <p:spPr>
          <a:xfrm>
            <a:off x="6333261" y="2511844"/>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CUSTOMERS</a:t>
            </a:r>
          </a:p>
        </p:txBody>
      </p:sp>
      <p:sp>
        <p:nvSpPr>
          <p:cNvPr id="1030" name="Rounded Rectangle 33">
            <a:extLst>
              <a:ext uri="{FF2B5EF4-FFF2-40B4-BE49-F238E27FC236}">
                <a16:creationId xmlns:a16="http://schemas.microsoft.com/office/drawing/2014/main" id="{E5838DA9-13C2-4188-6172-7E7C7EDFA057}"/>
              </a:ext>
            </a:extLst>
          </p:cNvPr>
          <p:cNvSpPr/>
          <p:nvPr/>
        </p:nvSpPr>
        <p:spPr>
          <a:xfrm>
            <a:off x="6333261" y="846554"/>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OPERATIONS AND SUPPLY CHAIN</a:t>
            </a:r>
          </a:p>
        </p:txBody>
      </p:sp>
      <p:sp>
        <p:nvSpPr>
          <p:cNvPr id="1032" name="Rounded Rectangle 33">
            <a:extLst>
              <a:ext uri="{FF2B5EF4-FFF2-40B4-BE49-F238E27FC236}">
                <a16:creationId xmlns:a16="http://schemas.microsoft.com/office/drawing/2014/main" id="{A5872E9A-5A2E-D1A6-AEC1-30E6373A0CF4}"/>
              </a:ext>
            </a:extLst>
          </p:cNvPr>
          <p:cNvSpPr/>
          <p:nvPr/>
        </p:nvSpPr>
        <p:spPr>
          <a:xfrm>
            <a:off x="9295011" y="865239"/>
            <a:ext cx="2594695" cy="528314"/>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INFORMATION TECHNOLOGY</a:t>
            </a:r>
          </a:p>
        </p:txBody>
      </p:sp>
      <p:sp>
        <p:nvSpPr>
          <p:cNvPr id="1033" name="Rounded Rectangle 33">
            <a:extLst>
              <a:ext uri="{FF2B5EF4-FFF2-40B4-BE49-F238E27FC236}">
                <a16:creationId xmlns:a16="http://schemas.microsoft.com/office/drawing/2014/main" id="{DB676218-8B0C-2374-3190-ADAFBD304B29}"/>
              </a:ext>
            </a:extLst>
          </p:cNvPr>
          <p:cNvSpPr/>
          <p:nvPr/>
        </p:nvSpPr>
        <p:spPr>
          <a:xfrm>
            <a:off x="6333261" y="4356030"/>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HUMAN RESOURCES</a:t>
            </a:r>
          </a:p>
        </p:txBody>
      </p:sp>
      <p:sp>
        <p:nvSpPr>
          <p:cNvPr id="1035" name="TextBox 1034">
            <a:extLst>
              <a:ext uri="{FF2B5EF4-FFF2-40B4-BE49-F238E27FC236}">
                <a16:creationId xmlns:a16="http://schemas.microsoft.com/office/drawing/2014/main" id="{01C116CF-D899-36F7-219D-C1159D8B52D7}"/>
              </a:ext>
            </a:extLst>
          </p:cNvPr>
          <p:cNvSpPr txBox="1"/>
          <p:nvPr/>
        </p:nvSpPr>
        <p:spPr>
          <a:xfrm>
            <a:off x="6358858"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Operations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Supply Chain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Emergency Preparedness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Suppliers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Worker Safety</a:t>
            </a:r>
          </a:p>
        </p:txBody>
      </p:sp>
      <p:sp>
        <p:nvSpPr>
          <p:cNvPr id="1036" name="TextBox 1035">
            <a:extLst>
              <a:ext uri="{FF2B5EF4-FFF2-40B4-BE49-F238E27FC236}">
                <a16:creationId xmlns:a16="http://schemas.microsoft.com/office/drawing/2014/main" id="{6D63E6C1-0425-4437-888A-F3E8D5A060AC}"/>
              </a:ext>
            </a:extLst>
          </p:cNvPr>
          <p:cNvSpPr txBox="1"/>
          <p:nvPr/>
        </p:nvSpPr>
        <p:spPr>
          <a:xfrm>
            <a:off x="6333260" y="3208935"/>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Service</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Satisfaction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Consumer Insights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Case Studies</a:t>
            </a:r>
          </a:p>
        </p:txBody>
      </p:sp>
      <p:sp>
        <p:nvSpPr>
          <p:cNvPr id="1037" name="TextBox 1036">
            <a:extLst>
              <a:ext uri="{FF2B5EF4-FFF2-40B4-BE49-F238E27FC236}">
                <a16:creationId xmlns:a16="http://schemas.microsoft.com/office/drawing/2014/main" id="{2BD1D13D-59B1-D4F8-4E1E-A026079AC144}"/>
              </a:ext>
            </a:extLst>
          </p:cNvPr>
          <p:cNvSpPr txBox="1"/>
          <p:nvPr/>
        </p:nvSpPr>
        <p:spPr>
          <a:xfrm>
            <a:off x="9346205"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IT Infrastructure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Cybersecurity</a:t>
            </a:r>
          </a:p>
        </p:txBody>
      </p:sp>
      <p:sp>
        <p:nvSpPr>
          <p:cNvPr id="1039" name="TextBox 1038">
            <a:extLst>
              <a:ext uri="{FF2B5EF4-FFF2-40B4-BE49-F238E27FC236}">
                <a16:creationId xmlns:a16="http://schemas.microsoft.com/office/drawing/2014/main" id="{7F71797E-DAE7-019D-7E27-5D562C6571DD}"/>
              </a:ext>
            </a:extLst>
          </p:cNvPr>
          <p:cNvSpPr txBox="1"/>
          <p:nvPr/>
        </p:nvSpPr>
        <p:spPr>
          <a:xfrm>
            <a:off x="6333260" y="5052741"/>
            <a:ext cx="2831794"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Human Resources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Organizational 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Leadership Team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Talent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Compensation</a:t>
            </a:r>
            <a:r>
              <a:rPr lang="en-US" sz="1100" dirty="0">
                <a:solidFill>
                  <a:srgbClr val="000000"/>
                </a:solidFill>
                <a:latin typeface="Verdana"/>
              </a:rPr>
              <a:t> and </a:t>
            </a:r>
            <a:r>
              <a:rPr kumimoji="0" lang="en-US" sz="1100" b="0" i="0" u="none" strike="noStrike" kern="1200" cap="none" spc="0" normalizeH="0" baseline="0" noProof="0" dirty="0">
                <a:ln>
                  <a:noFill/>
                </a:ln>
                <a:solidFill>
                  <a:srgbClr val="000000"/>
                </a:solidFill>
                <a:effectLst/>
                <a:uLnTx/>
                <a:uFillTx/>
                <a:latin typeface="Verdana"/>
                <a:ea typeface="+mn-ea"/>
                <a:cs typeface="+mn-cs"/>
              </a:rPr>
              <a:t>Benefits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Learning and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Diversity, Equity, and Inclusion</a:t>
            </a:r>
          </a:p>
        </p:txBody>
      </p:sp>
      <p:sp>
        <p:nvSpPr>
          <p:cNvPr id="2" name="Rounded Rectangle 33">
            <a:extLst>
              <a:ext uri="{FF2B5EF4-FFF2-40B4-BE49-F238E27FC236}">
                <a16:creationId xmlns:a16="http://schemas.microsoft.com/office/drawing/2014/main" id="{1B612D95-4099-846D-D69A-44F681C34655}"/>
              </a:ext>
            </a:extLst>
          </p:cNvPr>
          <p:cNvSpPr/>
          <p:nvPr/>
        </p:nvSpPr>
        <p:spPr>
          <a:xfrm>
            <a:off x="384173" y="3162300"/>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FINANCE</a:t>
            </a:r>
          </a:p>
        </p:txBody>
      </p:sp>
      <p:sp>
        <p:nvSpPr>
          <p:cNvPr id="4" name="TextBox 3">
            <a:extLst>
              <a:ext uri="{FF2B5EF4-FFF2-40B4-BE49-F238E27FC236}">
                <a16:creationId xmlns:a16="http://schemas.microsoft.com/office/drawing/2014/main" id="{F322B9F2-CA67-D5B4-CC60-7F01099438FE}"/>
              </a:ext>
            </a:extLst>
          </p:cNvPr>
          <p:cNvSpPr txBox="1"/>
          <p:nvPr/>
        </p:nvSpPr>
        <p:spPr>
          <a:xfrm>
            <a:off x="384173" y="2663262"/>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Agenda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Previous Meeting Minutes</a:t>
            </a:r>
          </a:p>
        </p:txBody>
      </p:sp>
    </p:spTree>
    <p:extLst>
      <p:ext uri="{BB962C8B-B14F-4D97-AF65-F5344CB8AC3E}">
        <p14:creationId xmlns:p14="http://schemas.microsoft.com/office/powerpoint/2010/main" val="29104360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IT Infrastructure</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algn="l"/>
            <a:r>
              <a:rPr lang="en-US" sz="1200" b="0" i="0" dirty="0">
                <a:solidFill>
                  <a:srgbClr val="374151"/>
                </a:solidFill>
                <a:effectLst/>
                <a:latin typeface="Söhne"/>
              </a:rPr>
              <a:t>An IT infrastructure update slide should include the following information:</a:t>
            </a:r>
          </a:p>
          <a:p>
            <a:pPr marL="228600" indent="-228600" algn="l">
              <a:buFont typeface="+mj-lt"/>
              <a:buAutoNum type="arabicPeriod"/>
            </a:pPr>
            <a:r>
              <a:rPr lang="en-US" sz="1200" i="0" dirty="0">
                <a:solidFill>
                  <a:srgbClr val="374151"/>
                </a:solidFill>
                <a:effectLst/>
                <a:latin typeface="Söhne"/>
              </a:rPr>
              <a:t>Overview</a:t>
            </a:r>
            <a:r>
              <a:rPr lang="en-US" sz="1200" b="0" i="0" dirty="0">
                <a:solidFill>
                  <a:srgbClr val="374151"/>
                </a:solidFill>
                <a:effectLst/>
                <a:latin typeface="Söhne"/>
              </a:rPr>
              <a:t>: An overview of the current IT infrastructure, including the technology stack and the overall architecture of the system.</a:t>
            </a:r>
          </a:p>
          <a:p>
            <a:pPr marL="228600" indent="-228600" algn="l">
              <a:buFont typeface="+mj-lt"/>
              <a:buAutoNum type="arabicPeriod"/>
            </a:pPr>
            <a:r>
              <a:rPr lang="en-US" sz="1200" i="0" dirty="0">
                <a:solidFill>
                  <a:srgbClr val="374151"/>
                </a:solidFill>
                <a:effectLst/>
                <a:latin typeface="Söhne"/>
              </a:rPr>
              <a:t>Changes</a:t>
            </a:r>
            <a:r>
              <a:rPr lang="en-US" sz="1200" b="0" i="0" dirty="0">
                <a:solidFill>
                  <a:srgbClr val="374151"/>
                </a:solidFill>
                <a:effectLst/>
                <a:latin typeface="Söhne"/>
              </a:rPr>
              <a:t>: Any changes or upgrades made to the IT infrastructure during the quarter, including hardware and software updates, new installations, or system migrations.</a:t>
            </a:r>
          </a:p>
          <a:p>
            <a:pPr marL="228600" indent="-228600" algn="l">
              <a:buFont typeface="+mj-lt"/>
              <a:buAutoNum type="arabicPeriod"/>
            </a:pPr>
            <a:r>
              <a:rPr lang="en-US" sz="1200" i="0" dirty="0">
                <a:solidFill>
                  <a:srgbClr val="374151"/>
                </a:solidFill>
                <a:effectLst/>
                <a:latin typeface="Söhne"/>
              </a:rPr>
              <a:t>Metrics</a:t>
            </a:r>
            <a:r>
              <a:rPr lang="en-US" sz="1200" b="0" i="0" dirty="0">
                <a:solidFill>
                  <a:srgbClr val="374151"/>
                </a:solidFill>
                <a:effectLst/>
                <a:latin typeface="Söhne"/>
              </a:rPr>
              <a:t>: Key performance indicators (KPIs) that measure the effectiveness and efficiency of the IT infrastructure, such as system uptime, response time, and user satisfaction.</a:t>
            </a:r>
          </a:p>
          <a:p>
            <a:pPr marL="228600" indent="-228600" algn="l">
              <a:buFont typeface="+mj-lt"/>
              <a:buAutoNum type="arabicPeriod"/>
            </a:pPr>
            <a:r>
              <a:rPr lang="en-US" sz="1200" i="0" dirty="0">
                <a:solidFill>
                  <a:srgbClr val="374151"/>
                </a:solidFill>
                <a:effectLst/>
                <a:latin typeface="Söhne"/>
              </a:rPr>
              <a:t>Security</a:t>
            </a:r>
            <a:r>
              <a:rPr lang="en-US" sz="1200" b="0" i="0" dirty="0">
                <a:solidFill>
                  <a:srgbClr val="374151"/>
                </a:solidFill>
                <a:effectLst/>
                <a:latin typeface="Söhne"/>
              </a:rPr>
              <a:t>: An overview of the company's IT security measures, including data encryption, firewalls, access controls, and incident response plans.</a:t>
            </a:r>
          </a:p>
          <a:p>
            <a:pPr marL="228600" indent="-228600" algn="l">
              <a:buFont typeface="+mj-lt"/>
              <a:buAutoNum type="arabicPeriod"/>
            </a:pPr>
            <a:r>
              <a:rPr lang="en-US" sz="1200" i="0" dirty="0">
                <a:solidFill>
                  <a:srgbClr val="374151"/>
                </a:solidFill>
                <a:effectLst/>
                <a:latin typeface="Söhne"/>
              </a:rPr>
              <a:t>Budget</a:t>
            </a:r>
            <a:r>
              <a:rPr lang="en-US" sz="1200" b="0" i="0" dirty="0">
                <a:solidFill>
                  <a:srgbClr val="374151"/>
                </a:solidFill>
                <a:effectLst/>
                <a:latin typeface="Söhne"/>
              </a:rPr>
              <a:t>: A breakdown of the IT budget and expenditures, including investments in hardware, software, and services.</a:t>
            </a:r>
          </a:p>
          <a:p>
            <a:pPr marL="228600" indent="-228600" algn="l">
              <a:buFont typeface="+mj-lt"/>
              <a:buAutoNum type="arabicPeriod"/>
            </a:pPr>
            <a:r>
              <a:rPr lang="en-US" sz="1200" i="0" dirty="0">
                <a:solidFill>
                  <a:srgbClr val="374151"/>
                </a:solidFill>
                <a:effectLst/>
                <a:latin typeface="Söhne"/>
              </a:rPr>
              <a:t>Future Plans</a:t>
            </a:r>
            <a:r>
              <a:rPr lang="en-US" sz="1200" b="0" i="0" dirty="0">
                <a:solidFill>
                  <a:srgbClr val="374151"/>
                </a:solidFill>
                <a:effectLst/>
                <a:latin typeface="Söhne"/>
              </a:rPr>
              <a:t>: Plans for future upgrades or changes to the IT infrastructure, including potential risks and challenges, timelines, and expected outcomes.</a:t>
            </a:r>
          </a:p>
          <a:p>
            <a:pPr algn="l"/>
            <a:r>
              <a:rPr lang="en-US" sz="1200" b="0" i="0" dirty="0">
                <a:solidFill>
                  <a:srgbClr val="374151"/>
                </a:solidFill>
                <a:effectLst/>
                <a:latin typeface="Söhne"/>
              </a:rPr>
              <a:t>Overall, the IT infrastructure update slide should provide the board with a clear understanding of the current state of the company's IT infrastructure and any updates made during the quarter, as well as plans for future improvements and potential risks.</a:t>
            </a:r>
          </a:p>
        </p:txBody>
      </p:sp>
    </p:spTree>
    <p:extLst>
      <p:ext uri="{BB962C8B-B14F-4D97-AF65-F5344CB8AC3E}">
        <p14:creationId xmlns:p14="http://schemas.microsoft.com/office/powerpoint/2010/main" val="766612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Cybersecurity</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r>
              <a:rPr lang="en-US" sz="1200" b="0" i="0" dirty="0">
                <a:solidFill>
                  <a:srgbClr val="374151"/>
                </a:solidFill>
                <a:effectLst/>
                <a:latin typeface="Söhne"/>
              </a:rPr>
              <a:t>This slide should provide the board with a clear understanding of the company's cybersecurity efforts and the effectiveness of those efforts in mitigating security incidents and threats. It should include the following information:</a:t>
            </a:r>
          </a:p>
          <a:p>
            <a:pPr marL="228600" indent="-228600" algn="l">
              <a:buFont typeface="+mj-lt"/>
              <a:buAutoNum type="arabicPeriod"/>
            </a:pPr>
            <a:r>
              <a:rPr lang="en-US" sz="1200" b="0" i="0" dirty="0">
                <a:solidFill>
                  <a:srgbClr val="374151"/>
                </a:solidFill>
                <a:effectLst/>
                <a:latin typeface="Söhne"/>
              </a:rPr>
              <a:t>A brief introduction highlighting the importance of cybersecurity for the company and a summary of cybersecurity initiatives during the quarter.</a:t>
            </a:r>
          </a:p>
          <a:p>
            <a:pPr marL="228600" indent="-228600" algn="l">
              <a:buFont typeface="+mj-lt"/>
              <a:buAutoNum type="arabicPeriod"/>
            </a:pPr>
            <a:r>
              <a:rPr lang="en-US" sz="1200" b="0" i="0" dirty="0">
                <a:solidFill>
                  <a:srgbClr val="374151"/>
                </a:solidFill>
                <a:effectLst/>
                <a:latin typeface="Söhne"/>
              </a:rPr>
              <a:t>A chart or graph showing the number and types of security incidents that occurred during the quarter, along with their impact on the company.</a:t>
            </a:r>
          </a:p>
          <a:p>
            <a:pPr marL="228600" indent="-228600" algn="l">
              <a:buFont typeface="+mj-lt"/>
              <a:buAutoNum type="arabicPeriod"/>
            </a:pPr>
            <a:r>
              <a:rPr lang="en-US" sz="1200" b="0" i="0" dirty="0">
                <a:solidFill>
                  <a:srgbClr val="374151"/>
                </a:solidFill>
                <a:effectLst/>
                <a:latin typeface="Söhne"/>
              </a:rPr>
              <a:t>An overview of any cybersecurity threats that the company faced during the quarter and the steps taken to mitigate those threats.</a:t>
            </a:r>
          </a:p>
          <a:p>
            <a:pPr marL="228600" indent="-228600" algn="l">
              <a:buFont typeface="+mj-lt"/>
              <a:buAutoNum type="arabicPeriod"/>
            </a:pPr>
            <a:r>
              <a:rPr lang="en-US" sz="1200" b="0" i="0" dirty="0">
                <a:solidFill>
                  <a:srgbClr val="374151"/>
                </a:solidFill>
                <a:effectLst/>
                <a:latin typeface="Söhne"/>
              </a:rPr>
              <a:t>An overview of any changes to the company's cybersecurity policies and procedures during the quarter.</a:t>
            </a:r>
          </a:p>
          <a:p>
            <a:pPr marL="228600" indent="-228600" algn="l">
              <a:buFont typeface="+mj-lt"/>
              <a:buAutoNum type="arabicPeriod"/>
            </a:pPr>
            <a:r>
              <a:rPr lang="en-US" sz="1200" b="0" i="0" dirty="0">
                <a:solidFill>
                  <a:srgbClr val="374151"/>
                </a:solidFill>
                <a:effectLst/>
                <a:latin typeface="Söhne"/>
              </a:rPr>
              <a:t>Any recommendations or action items to further improve the company's cybersecurity posture.</a:t>
            </a:r>
            <a:endParaRPr lang="en-US" sz="1200" b="0" dirty="0">
              <a:solidFill>
                <a:srgbClr val="374151"/>
              </a:solidFill>
              <a:latin typeface="Söhne"/>
            </a:endParaRPr>
          </a:p>
          <a:p>
            <a:pPr algn="l"/>
            <a:r>
              <a:rPr lang="en-US" sz="1200" b="0" i="0" dirty="0">
                <a:solidFill>
                  <a:srgbClr val="374151"/>
                </a:solidFill>
                <a:effectLst/>
                <a:latin typeface="Söhne"/>
              </a:rPr>
              <a:t>Additionally, the slide could discuss the company's approach to testing and updating its incident response plan to ensure it remains effective in the face of evolving cyber threats. This may include information on any recent testing or simulations of the incident response plan and the results of these exercises.</a:t>
            </a:r>
          </a:p>
          <a:p>
            <a:pPr algn="l"/>
            <a:r>
              <a:rPr lang="en-US" sz="1200" b="0" i="0" dirty="0">
                <a:solidFill>
                  <a:srgbClr val="374151"/>
                </a:solidFill>
                <a:effectLst/>
                <a:latin typeface="Söhne"/>
              </a:rPr>
              <a:t>Overall, the slide should provide the board with an understanding of the company's preparedness to respond to cybersecurity incidents and the steps being taken to mitigate the impact of any breaches.</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31403171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E4B6F3D-F39D-82FA-3528-A3F1F7B178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E4B6F3D-F39D-82FA-3528-A3F1F7B178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9D66EAD0-976A-9CBA-E440-3B5D7F6C7065}"/>
              </a:ext>
            </a:extLst>
          </p:cNvPr>
          <p:cNvSpPr>
            <a:spLocks noGrp="1"/>
          </p:cNvSpPr>
          <p:nvPr>
            <p:ph type="title"/>
          </p:nvPr>
        </p:nvSpPr>
        <p:spPr/>
        <p:txBody>
          <a:bodyPr vert="horz"/>
          <a:lstStyle/>
          <a:p>
            <a:r>
              <a:rPr lang="en-US" dirty="0"/>
              <a:t>Board Reporting Package Contents</a:t>
            </a:r>
          </a:p>
        </p:txBody>
      </p:sp>
      <p:sp>
        <p:nvSpPr>
          <p:cNvPr id="23" name="Rounded Rectangle 33">
            <a:extLst>
              <a:ext uri="{FF2B5EF4-FFF2-40B4-BE49-F238E27FC236}">
                <a16:creationId xmlns:a16="http://schemas.microsoft.com/office/drawing/2014/main" id="{C82EEC47-011A-3986-C4CD-0F6BF3E13A5C}"/>
              </a:ext>
            </a:extLst>
          </p:cNvPr>
          <p:cNvSpPr/>
          <p:nvPr/>
        </p:nvSpPr>
        <p:spPr>
          <a:xfrm>
            <a:off x="409762" y="853079"/>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CEO &amp; BOARD CHAIR</a:t>
            </a:r>
          </a:p>
        </p:txBody>
      </p:sp>
      <p:sp>
        <p:nvSpPr>
          <p:cNvPr id="54" name="TextBox 53">
            <a:extLst>
              <a:ext uri="{FF2B5EF4-FFF2-40B4-BE49-F238E27FC236}">
                <a16:creationId xmlns:a16="http://schemas.microsoft.com/office/drawing/2014/main" id="{C852F15D-DEBA-82B2-6A49-FB2C85CB3853}"/>
              </a:ext>
            </a:extLst>
          </p:cNvPr>
          <p:cNvSpPr txBox="1"/>
          <p:nvPr/>
        </p:nvSpPr>
        <p:spPr>
          <a:xfrm>
            <a:off x="409762" y="151065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CEO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Board Chair Update</a:t>
            </a:r>
          </a:p>
        </p:txBody>
      </p:sp>
      <p:sp>
        <p:nvSpPr>
          <p:cNvPr id="55" name="Rounded Rectangle 33">
            <a:extLst>
              <a:ext uri="{FF2B5EF4-FFF2-40B4-BE49-F238E27FC236}">
                <a16:creationId xmlns:a16="http://schemas.microsoft.com/office/drawing/2014/main" id="{95A91E49-9A8A-96D6-533B-2C56F869D32F}"/>
              </a:ext>
            </a:extLst>
          </p:cNvPr>
          <p:cNvSpPr/>
          <p:nvPr/>
        </p:nvSpPr>
        <p:spPr>
          <a:xfrm>
            <a:off x="9295000" y="2148795"/>
            <a:ext cx="2594695" cy="528314"/>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CORPORATE DEVELOPMENT</a:t>
            </a:r>
          </a:p>
        </p:txBody>
      </p:sp>
      <p:sp>
        <p:nvSpPr>
          <p:cNvPr id="56" name="TextBox 55">
            <a:extLst>
              <a:ext uri="{FF2B5EF4-FFF2-40B4-BE49-F238E27FC236}">
                <a16:creationId xmlns:a16="http://schemas.microsoft.com/office/drawing/2014/main" id="{078BE5D7-CBB0-7B3D-AFEE-E049B3EC8AFE}"/>
              </a:ext>
            </a:extLst>
          </p:cNvPr>
          <p:cNvSpPr txBox="1"/>
          <p:nvPr/>
        </p:nvSpPr>
        <p:spPr>
          <a:xfrm>
            <a:off x="9282200" y="2827201"/>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Partnerships &amp; Alliances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Mergers &amp; Acquisitions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Post-merger Integration</a:t>
            </a:r>
          </a:p>
        </p:txBody>
      </p:sp>
      <p:sp>
        <p:nvSpPr>
          <p:cNvPr id="57" name="Rounded Rectangle 33">
            <a:extLst>
              <a:ext uri="{FF2B5EF4-FFF2-40B4-BE49-F238E27FC236}">
                <a16:creationId xmlns:a16="http://schemas.microsoft.com/office/drawing/2014/main" id="{047EDAFC-A516-E05C-A91F-44C7C46FB147}"/>
              </a:ext>
            </a:extLst>
          </p:cNvPr>
          <p:cNvSpPr/>
          <p:nvPr/>
        </p:nvSpPr>
        <p:spPr>
          <a:xfrm>
            <a:off x="9282200" y="3579788"/>
            <a:ext cx="2594695" cy="530969"/>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OTHER CORPORATE FUNCTIONS</a:t>
            </a:r>
          </a:p>
        </p:txBody>
      </p:sp>
      <p:sp>
        <p:nvSpPr>
          <p:cNvPr id="58" name="TextBox 57">
            <a:extLst>
              <a:ext uri="{FF2B5EF4-FFF2-40B4-BE49-F238E27FC236}">
                <a16:creationId xmlns:a16="http://schemas.microsoft.com/office/drawing/2014/main" id="{7A3E0AED-BC63-D8B3-2F56-CAFD1E971E31}"/>
              </a:ext>
            </a:extLst>
          </p:cNvPr>
          <p:cNvSpPr txBox="1"/>
          <p:nvPr/>
        </p:nvSpPr>
        <p:spPr>
          <a:xfrm>
            <a:off x="9282200" y="4264916"/>
            <a:ext cx="2620293" cy="1687284"/>
          </a:xfrm>
          <a:prstGeom prst="rect">
            <a:avLst/>
          </a:prstGeom>
          <a:noFill/>
        </p:spPr>
        <p:txBody>
          <a:bodyPr wrap="square" lIns="0" tIns="0" rIns="0" bIns="0" rtlCol="0">
            <a:noAutofit/>
          </a:bodyPr>
          <a:lstStyle/>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Intellectual Property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Risk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Legal &amp; Regulatory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Litigation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Investor Relations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Community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ESG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Sustainability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Awards &amp; Recognition</a:t>
            </a:r>
          </a:p>
        </p:txBody>
      </p:sp>
      <p:sp>
        <p:nvSpPr>
          <p:cNvPr id="59" name="Rounded Rectangle 33">
            <a:extLst>
              <a:ext uri="{FF2B5EF4-FFF2-40B4-BE49-F238E27FC236}">
                <a16:creationId xmlns:a16="http://schemas.microsoft.com/office/drawing/2014/main" id="{92BD0F0E-08AC-37AD-FD60-1F03343DE46E}"/>
              </a:ext>
            </a:extLst>
          </p:cNvPr>
          <p:cNvSpPr/>
          <p:nvPr/>
        </p:nvSpPr>
        <p:spPr>
          <a:xfrm>
            <a:off x="384173" y="2005691"/>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AGENDA</a:t>
            </a:r>
          </a:p>
        </p:txBody>
      </p:sp>
      <p:sp>
        <p:nvSpPr>
          <p:cNvPr id="60" name="Rounded Rectangle 33">
            <a:extLst>
              <a:ext uri="{FF2B5EF4-FFF2-40B4-BE49-F238E27FC236}">
                <a16:creationId xmlns:a16="http://schemas.microsoft.com/office/drawing/2014/main" id="{CB90976E-C934-E589-3C43-C6536961F66B}"/>
              </a:ext>
            </a:extLst>
          </p:cNvPr>
          <p:cNvSpPr/>
          <p:nvPr/>
        </p:nvSpPr>
        <p:spPr>
          <a:xfrm>
            <a:off x="3371511" y="842768"/>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PRODUCT</a:t>
            </a:r>
          </a:p>
        </p:txBody>
      </p:sp>
      <p:sp>
        <p:nvSpPr>
          <p:cNvPr id="61" name="Rounded Rectangle 33">
            <a:extLst>
              <a:ext uri="{FF2B5EF4-FFF2-40B4-BE49-F238E27FC236}">
                <a16:creationId xmlns:a16="http://schemas.microsoft.com/office/drawing/2014/main" id="{7FA80707-EFC9-FBBD-95A3-C53653725FD5}"/>
              </a:ext>
            </a:extLst>
          </p:cNvPr>
          <p:cNvSpPr/>
          <p:nvPr/>
        </p:nvSpPr>
        <p:spPr>
          <a:xfrm>
            <a:off x="3371510" y="221609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MARKETING</a:t>
            </a:r>
          </a:p>
        </p:txBody>
      </p:sp>
      <p:sp>
        <p:nvSpPr>
          <p:cNvPr id="62" name="TextBox 61">
            <a:extLst>
              <a:ext uri="{FF2B5EF4-FFF2-40B4-BE49-F238E27FC236}">
                <a16:creationId xmlns:a16="http://schemas.microsoft.com/office/drawing/2014/main" id="{30745068-3C50-A3AC-D3F9-F374532A853E}"/>
              </a:ext>
            </a:extLst>
          </p:cNvPr>
          <p:cNvSpPr txBox="1"/>
          <p:nvPr/>
        </p:nvSpPr>
        <p:spPr>
          <a:xfrm>
            <a:off x="409762" y="3815874"/>
            <a:ext cx="2620293" cy="2923758"/>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Financial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Income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Cash Flow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Balance Sheet</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Revenue Breakdown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Operating Expenses Breakdown</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Cost Reduction Initiatives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Profitability Analysis/ROI</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Working Capital Analysis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Receivable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Payable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Expenditures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Raising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Debt Overview &amp; Refinancing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Tax</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Property &amp; Real Estate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Foreign Currency Exposure</a:t>
            </a:r>
          </a:p>
        </p:txBody>
      </p:sp>
      <p:sp>
        <p:nvSpPr>
          <p:cNvPr id="1025" name="TextBox 1024">
            <a:extLst>
              <a:ext uri="{FF2B5EF4-FFF2-40B4-BE49-F238E27FC236}">
                <a16:creationId xmlns:a16="http://schemas.microsoft.com/office/drawing/2014/main" id="{02F92317-B039-B079-BB61-FC63C637FB38}"/>
              </a:ext>
            </a:extLst>
          </p:cNvPr>
          <p:cNvSpPr txBox="1"/>
          <p:nvPr/>
        </p:nvSpPr>
        <p:spPr>
          <a:xfrm>
            <a:off x="3371511" y="151559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Development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Research &amp;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Roadmap</a:t>
            </a:r>
          </a:p>
        </p:txBody>
      </p:sp>
      <p:sp>
        <p:nvSpPr>
          <p:cNvPr id="1026" name="TextBox 1025">
            <a:extLst>
              <a:ext uri="{FF2B5EF4-FFF2-40B4-BE49-F238E27FC236}">
                <a16:creationId xmlns:a16="http://schemas.microsoft.com/office/drawing/2014/main" id="{CC1A5311-249B-C428-EBB6-A72E016472C6}"/>
              </a:ext>
            </a:extLst>
          </p:cNvPr>
          <p:cNvSpPr txBox="1"/>
          <p:nvPr/>
        </p:nvSpPr>
        <p:spPr>
          <a:xfrm>
            <a:off x="3371511" y="286130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Initiatives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Expansion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ROI</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Pricing Strategy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Data &amp; Analytics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Advertising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Competitors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Branding &amp; Marketing Materials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Website</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Social Media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Industry Events &amp; Conferences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Public Relations</a:t>
            </a:r>
          </a:p>
        </p:txBody>
      </p:sp>
      <p:sp>
        <p:nvSpPr>
          <p:cNvPr id="1027" name="Rounded Rectangle 33">
            <a:extLst>
              <a:ext uri="{FF2B5EF4-FFF2-40B4-BE49-F238E27FC236}">
                <a16:creationId xmlns:a16="http://schemas.microsoft.com/office/drawing/2014/main" id="{D14AE144-6082-3A53-FA31-003FBCFBEE2C}"/>
              </a:ext>
            </a:extLst>
          </p:cNvPr>
          <p:cNvSpPr/>
          <p:nvPr/>
        </p:nvSpPr>
        <p:spPr>
          <a:xfrm>
            <a:off x="3371509" y="524534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SALES</a:t>
            </a:r>
          </a:p>
        </p:txBody>
      </p:sp>
      <p:sp>
        <p:nvSpPr>
          <p:cNvPr id="1028" name="TextBox 1027">
            <a:extLst>
              <a:ext uri="{FF2B5EF4-FFF2-40B4-BE49-F238E27FC236}">
                <a16:creationId xmlns:a16="http://schemas.microsoft.com/office/drawing/2014/main" id="{F1DE495A-583A-63C4-C570-434B9345A842}"/>
              </a:ext>
            </a:extLst>
          </p:cNvPr>
          <p:cNvSpPr txBox="1"/>
          <p:nvPr/>
        </p:nvSpPr>
        <p:spPr>
          <a:xfrm>
            <a:off x="3371511" y="589055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Pipeline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Team Performance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Region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Channel</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Channel Partners</a:t>
            </a:r>
          </a:p>
        </p:txBody>
      </p:sp>
      <p:sp>
        <p:nvSpPr>
          <p:cNvPr id="1029" name="Rounded Rectangle 33">
            <a:extLst>
              <a:ext uri="{FF2B5EF4-FFF2-40B4-BE49-F238E27FC236}">
                <a16:creationId xmlns:a16="http://schemas.microsoft.com/office/drawing/2014/main" id="{E46F2696-EE7E-BBE9-9BF4-4DC8BC64543E}"/>
              </a:ext>
            </a:extLst>
          </p:cNvPr>
          <p:cNvSpPr/>
          <p:nvPr/>
        </p:nvSpPr>
        <p:spPr>
          <a:xfrm>
            <a:off x="6333261" y="2511844"/>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CUSTOMERS</a:t>
            </a:r>
          </a:p>
        </p:txBody>
      </p:sp>
      <p:sp>
        <p:nvSpPr>
          <p:cNvPr id="1030" name="Rounded Rectangle 33">
            <a:extLst>
              <a:ext uri="{FF2B5EF4-FFF2-40B4-BE49-F238E27FC236}">
                <a16:creationId xmlns:a16="http://schemas.microsoft.com/office/drawing/2014/main" id="{E5838DA9-13C2-4188-6172-7E7C7EDFA057}"/>
              </a:ext>
            </a:extLst>
          </p:cNvPr>
          <p:cNvSpPr/>
          <p:nvPr/>
        </p:nvSpPr>
        <p:spPr>
          <a:xfrm>
            <a:off x="6333261" y="846554"/>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OPERATIONS AND SUPPLY CHAIN</a:t>
            </a:r>
          </a:p>
        </p:txBody>
      </p:sp>
      <p:sp>
        <p:nvSpPr>
          <p:cNvPr id="1032" name="Rounded Rectangle 33">
            <a:extLst>
              <a:ext uri="{FF2B5EF4-FFF2-40B4-BE49-F238E27FC236}">
                <a16:creationId xmlns:a16="http://schemas.microsoft.com/office/drawing/2014/main" id="{A5872E9A-5A2E-D1A6-AEC1-30E6373A0CF4}"/>
              </a:ext>
            </a:extLst>
          </p:cNvPr>
          <p:cNvSpPr/>
          <p:nvPr/>
        </p:nvSpPr>
        <p:spPr>
          <a:xfrm>
            <a:off x="9295011" y="865239"/>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INFORMATION TECHNOLOGY</a:t>
            </a:r>
          </a:p>
        </p:txBody>
      </p:sp>
      <p:sp>
        <p:nvSpPr>
          <p:cNvPr id="1033" name="Rounded Rectangle 33">
            <a:extLst>
              <a:ext uri="{FF2B5EF4-FFF2-40B4-BE49-F238E27FC236}">
                <a16:creationId xmlns:a16="http://schemas.microsoft.com/office/drawing/2014/main" id="{DB676218-8B0C-2374-3190-ADAFBD304B29}"/>
              </a:ext>
            </a:extLst>
          </p:cNvPr>
          <p:cNvSpPr/>
          <p:nvPr/>
        </p:nvSpPr>
        <p:spPr>
          <a:xfrm>
            <a:off x="6333261" y="4356030"/>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HUMAN RESOURCES</a:t>
            </a:r>
          </a:p>
        </p:txBody>
      </p:sp>
      <p:sp>
        <p:nvSpPr>
          <p:cNvPr id="1035" name="TextBox 1034">
            <a:extLst>
              <a:ext uri="{FF2B5EF4-FFF2-40B4-BE49-F238E27FC236}">
                <a16:creationId xmlns:a16="http://schemas.microsoft.com/office/drawing/2014/main" id="{01C116CF-D899-36F7-219D-C1159D8B52D7}"/>
              </a:ext>
            </a:extLst>
          </p:cNvPr>
          <p:cNvSpPr txBox="1"/>
          <p:nvPr/>
        </p:nvSpPr>
        <p:spPr>
          <a:xfrm>
            <a:off x="6358858"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Operations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Supply Chain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Emergency Preparedness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Suppliers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Worker Safety</a:t>
            </a:r>
          </a:p>
        </p:txBody>
      </p:sp>
      <p:sp>
        <p:nvSpPr>
          <p:cNvPr id="1036" name="TextBox 1035">
            <a:extLst>
              <a:ext uri="{FF2B5EF4-FFF2-40B4-BE49-F238E27FC236}">
                <a16:creationId xmlns:a16="http://schemas.microsoft.com/office/drawing/2014/main" id="{6D63E6C1-0425-4437-888A-F3E8D5A060AC}"/>
              </a:ext>
            </a:extLst>
          </p:cNvPr>
          <p:cNvSpPr txBox="1"/>
          <p:nvPr/>
        </p:nvSpPr>
        <p:spPr>
          <a:xfrm>
            <a:off x="6333260" y="3208935"/>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Service</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Satisfaction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Consumer Insights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Case Studies</a:t>
            </a:r>
          </a:p>
        </p:txBody>
      </p:sp>
      <p:sp>
        <p:nvSpPr>
          <p:cNvPr id="1037" name="TextBox 1036">
            <a:extLst>
              <a:ext uri="{FF2B5EF4-FFF2-40B4-BE49-F238E27FC236}">
                <a16:creationId xmlns:a16="http://schemas.microsoft.com/office/drawing/2014/main" id="{2BD1D13D-59B1-D4F8-4E1E-A026079AC144}"/>
              </a:ext>
            </a:extLst>
          </p:cNvPr>
          <p:cNvSpPr txBox="1"/>
          <p:nvPr/>
        </p:nvSpPr>
        <p:spPr>
          <a:xfrm>
            <a:off x="9346205"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IT Infrastructure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Cybersecurity</a:t>
            </a:r>
          </a:p>
        </p:txBody>
      </p:sp>
      <p:sp>
        <p:nvSpPr>
          <p:cNvPr id="1039" name="TextBox 1038">
            <a:extLst>
              <a:ext uri="{FF2B5EF4-FFF2-40B4-BE49-F238E27FC236}">
                <a16:creationId xmlns:a16="http://schemas.microsoft.com/office/drawing/2014/main" id="{7F71797E-DAE7-019D-7E27-5D562C6571DD}"/>
              </a:ext>
            </a:extLst>
          </p:cNvPr>
          <p:cNvSpPr txBox="1"/>
          <p:nvPr/>
        </p:nvSpPr>
        <p:spPr>
          <a:xfrm>
            <a:off x="6333260" y="5052741"/>
            <a:ext cx="2831794"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Human Resources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Organizational 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Leadership Team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Talent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Compensation</a:t>
            </a:r>
            <a:r>
              <a:rPr lang="en-US" sz="1100" dirty="0">
                <a:solidFill>
                  <a:srgbClr val="000000"/>
                </a:solidFill>
                <a:latin typeface="Verdana"/>
              </a:rPr>
              <a:t> and </a:t>
            </a:r>
            <a:r>
              <a:rPr kumimoji="0" lang="en-US" sz="1100" b="0" i="0" u="none" strike="noStrike" kern="1200" cap="none" spc="0" normalizeH="0" baseline="0" noProof="0" dirty="0">
                <a:ln>
                  <a:noFill/>
                </a:ln>
                <a:solidFill>
                  <a:srgbClr val="000000"/>
                </a:solidFill>
                <a:effectLst/>
                <a:uLnTx/>
                <a:uFillTx/>
                <a:latin typeface="Verdana"/>
                <a:ea typeface="+mn-ea"/>
                <a:cs typeface="+mn-cs"/>
              </a:rPr>
              <a:t>Benefits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Learning and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Diversity, Equity, and Inclusion</a:t>
            </a:r>
          </a:p>
        </p:txBody>
      </p:sp>
      <p:sp>
        <p:nvSpPr>
          <p:cNvPr id="2" name="Rounded Rectangle 33">
            <a:extLst>
              <a:ext uri="{FF2B5EF4-FFF2-40B4-BE49-F238E27FC236}">
                <a16:creationId xmlns:a16="http://schemas.microsoft.com/office/drawing/2014/main" id="{1B612D95-4099-846D-D69A-44F681C34655}"/>
              </a:ext>
            </a:extLst>
          </p:cNvPr>
          <p:cNvSpPr/>
          <p:nvPr/>
        </p:nvSpPr>
        <p:spPr>
          <a:xfrm>
            <a:off x="384173" y="3162300"/>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FINANCE</a:t>
            </a:r>
          </a:p>
        </p:txBody>
      </p:sp>
      <p:sp>
        <p:nvSpPr>
          <p:cNvPr id="4" name="TextBox 3">
            <a:extLst>
              <a:ext uri="{FF2B5EF4-FFF2-40B4-BE49-F238E27FC236}">
                <a16:creationId xmlns:a16="http://schemas.microsoft.com/office/drawing/2014/main" id="{F322B9F2-CA67-D5B4-CC60-7F01099438FE}"/>
              </a:ext>
            </a:extLst>
          </p:cNvPr>
          <p:cNvSpPr txBox="1"/>
          <p:nvPr/>
        </p:nvSpPr>
        <p:spPr>
          <a:xfrm>
            <a:off x="384173" y="2663262"/>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Agenda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Previous Meeting Minutes</a:t>
            </a:r>
          </a:p>
        </p:txBody>
      </p:sp>
    </p:spTree>
    <p:extLst>
      <p:ext uri="{BB962C8B-B14F-4D97-AF65-F5344CB8AC3E}">
        <p14:creationId xmlns:p14="http://schemas.microsoft.com/office/powerpoint/2010/main" val="30538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Partnership &amp; Alliances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algn="l"/>
            <a:r>
              <a:rPr lang="en-US" sz="1200" b="0" i="0" dirty="0">
                <a:solidFill>
                  <a:srgbClr val="374151"/>
                </a:solidFill>
                <a:effectLst/>
                <a:latin typeface="Söhne"/>
              </a:rPr>
              <a:t>A Partnership and Alliance Updates slide should include the following information:</a:t>
            </a:r>
          </a:p>
          <a:p>
            <a:pPr marL="228600" indent="-228600" algn="l">
              <a:buFont typeface="+mj-lt"/>
              <a:buAutoNum type="arabicPeriod"/>
            </a:pPr>
            <a:r>
              <a:rPr lang="en-US" sz="1200" b="0" i="0" dirty="0">
                <a:solidFill>
                  <a:srgbClr val="374151"/>
                </a:solidFill>
                <a:effectLst/>
                <a:latin typeface="Söhne"/>
              </a:rPr>
              <a:t>A summary of any new partnerships or alliances formed during the quarter, including the name of the partner or ally and the purpose of the partnership.</a:t>
            </a:r>
          </a:p>
          <a:p>
            <a:pPr marL="228600" indent="-228600" algn="l">
              <a:buFont typeface="+mj-lt"/>
              <a:buAutoNum type="arabicPeriod"/>
            </a:pPr>
            <a:r>
              <a:rPr lang="en-US" sz="1200" b="0" i="0" dirty="0">
                <a:solidFill>
                  <a:srgbClr val="374151"/>
                </a:solidFill>
                <a:effectLst/>
                <a:latin typeface="Söhne"/>
              </a:rPr>
              <a:t>Information on the terms of the partnership or alliance, including any financial or strategic benefits to the company.</a:t>
            </a:r>
          </a:p>
          <a:p>
            <a:pPr marL="228600" indent="-228600" algn="l">
              <a:buFont typeface="+mj-lt"/>
              <a:buAutoNum type="arabicPeriod"/>
            </a:pPr>
            <a:r>
              <a:rPr lang="en-US" sz="1200" b="0" i="0" dirty="0">
                <a:solidFill>
                  <a:srgbClr val="374151"/>
                </a:solidFill>
                <a:effectLst/>
                <a:latin typeface="Söhne"/>
              </a:rPr>
              <a:t>Details on how the partnership or alliance is expected to impact the company, including anticipated revenue growth, market expansion, or other benefits.</a:t>
            </a:r>
          </a:p>
          <a:p>
            <a:pPr marL="228600" indent="-228600" algn="l">
              <a:buFont typeface="+mj-lt"/>
              <a:buAutoNum type="arabicPeriod"/>
            </a:pPr>
            <a:r>
              <a:rPr lang="en-US" sz="1200" b="0" i="0" dirty="0">
                <a:solidFill>
                  <a:srgbClr val="374151"/>
                </a:solidFill>
                <a:effectLst/>
                <a:latin typeface="Söhne"/>
              </a:rPr>
              <a:t>Any updates on the progress of existing partnerships or alliances, including any challenges or opportunities that have arisen.</a:t>
            </a:r>
          </a:p>
          <a:p>
            <a:pPr marL="228600" indent="-228600" algn="l">
              <a:buFont typeface="+mj-lt"/>
              <a:buAutoNum type="arabicPeriod"/>
            </a:pPr>
            <a:r>
              <a:rPr lang="en-US" sz="1200" b="0" i="0" dirty="0">
                <a:solidFill>
                  <a:srgbClr val="374151"/>
                </a:solidFill>
                <a:effectLst/>
                <a:latin typeface="Söhne"/>
              </a:rPr>
              <a:t>Visual aids, such as charts or graphs, to illustrate the impact of partnerships and alliances on the company's financial and strategic goals.</a:t>
            </a:r>
          </a:p>
          <a:p>
            <a:pPr marL="228600" indent="-228600" algn="l">
              <a:buFont typeface="+mj-lt"/>
              <a:buAutoNum type="arabicPeriod"/>
            </a:pPr>
            <a:r>
              <a:rPr lang="en-US" sz="1200" b="0" i="0" dirty="0">
                <a:solidFill>
                  <a:srgbClr val="374151"/>
                </a:solidFill>
                <a:effectLst/>
                <a:latin typeface="Söhne"/>
              </a:rPr>
              <a:t>Concluding remarks on the overall success of partnerships and alliances during the quarter, and any plans for future partnerships or alliances.</a:t>
            </a:r>
          </a:p>
        </p:txBody>
      </p:sp>
    </p:spTree>
    <p:extLst>
      <p:ext uri="{BB962C8B-B14F-4D97-AF65-F5344CB8AC3E}">
        <p14:creationId xmlns:p14="http://schemas.microsoft.com/office/powerpoint/2010/main" val="21781605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Mergers &amp; Acquisitions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spcAft>
                <a:spcPts val="0"/>
              </a:spcAft>
              <a:buFont typeface="+mj-lt"/>
              <a:buAutoNum type="arabicPeriod"/>
            </a:pPr>
            <a:r>
              <a:rPr lang="en-US" sz="1200" b="0" i="0" dirty="0">
                <a:solidFill>
                  <a:srgbClr val="374151"/>
                </a:solidFill>
                <a:effectLst/>
                <a:latin typeface="Söhne"/>
              </a:rPr>
              <a:t>An overview of any acquisitions made during the quarter, including:</a:t>
            </a:r>
          </a:p>
          <a:p>
            <a:pPr marL="685800" lvl="1" indent="-228600">
              <a:spcAft>
                <a:spcPts val="0"/>
              </a:spcAft>
            </a:pPr>
            <a:r>
              <a:rPr lang="en-US" sz="1200" b="0" i="0" dirty="0">
                <a:solidFill>
                  <a:srgbClr val="374151"/>
                </a:solidFill>
                <a:effectLst/>
                <a:latin typeface="Söhne"/>
              </a:rPr>
              <a:t>The name of the company acquired</a:t>
            </a:r>
          </a:p>
          <a:p>
            <a:pPr marL="685800" lvl="1" indent="-228600">
              <a:spcAft>
                <a:spcPts val="0"/>
              </a:spcAft>
            </a:pPr>
            <a:r>
              <a:rPr lang="en-US" sz="1200" b="0" i="0" dirty="0">
                <a:solidFill>
                  <a:srgbClr val="374151"/>
                </a:solidFill>
                <a:effectLst/>
                <a:latin typeface="Söhne"/>
              </a:rPr>
              <a:t>The purchase price of the acquisition</a:t>
            </a:r>
          </a:p>
          <a:p>
            <a:pPr marL="685800" lvl="1" indent="-228600">
              <a:spcAft>
                <a:spcPts val="0"/>
              </a:spcAft>
            </a:pPr>
            <a:r>
              <a:rPr lang="en-US" sz="1200" b="0" i="0" dirty="0">
                <a:solidFill>
                  <a:srgbClr val="374151"/>
                </a:solidFill>
                <a:effectLst/>
                <a:latin typeface="Söhne"/>
              </a:rPr>
              <a:t>Any financial or strategic goals of the acquisition</a:t>
            </a:r>
          </a:p>
          <a:p>
            <a:pPr marL="685800" lvl="1" indent="-228600">
              <a:spcAft>
                <a:spcPts val="0"/>
              </a:spcAft>
            </a:pPr>
            <a:r>
              <a:rPr lang="en-US" sz="1200" b="0" i="0" dirty="0">
                <a:solidFill>
                  <a:srgbClr val="374151"/>
                </a:solidFill>
                <a:effectLst/>
                <a:latin typeface="Söhne"/>
              </a:rPr>
              <a:t>Any synergies or cost savings achieved as a result of the acquisition</a:t>
            </a:r>
          </a:p>
          <a:p>
            <a:pPr marL="685800" lvl="1" indent="-228600"/>
            <a:r>
              <a:rPr lang="en-US" sz="1200" b="0" i="0" dirty="0">
                <a:solidFill>
                  <a:srgbClr val="374151"/>
                </a:solidFill>
                <a:effectLst/>
                <a:latin typeface="Söhne"/>
              </a:rPr>
              <a:t>Any progress made on integrating the acquired company into the existing business</a:t>
            </a:r>
          </a:p>
          <a:p>
            <a:pPr marL="228600" indent="-228600" algn="l">
              <a:spcAft>
                <a:spcPts val="0"/>
              </a:spcAft>
              <a:buFont typeface="+mj-lt"/>
              <a:buAutoNum type="arabicPeriod"/>
            </a:pPr>
            <a:r>
              <a:rPr lang="en-US" sz="1200" b="0" i="0" dirty="0">
                <a:solidFill>
                  <a:srgbClr val="374151"/>
                </a:solidFill>
                <a:effectLst/>
                <a:latin typeface="Söhne"/>
              </a:rPr>
              <a:t>A graph or chart illustrating the financial impact of the acquisition on the company, such as:</a:t>
            </a:r>
          </a:p>
          <a:p>
            <a:pPr marL="685800" lvl="1" indent="-228600">
              <a:spcAft>
                <a:spcPts val="0"/>
              </a:spcAft>
            </a:pPr>
            <a:r>
              <a:rPr lang="en-US" sz="1200" b="0" i="0" dirty="0">
                <a:solidFill>
                  <a:srgbClr val="374151"/>
                </a:solidFill>
                <a:effectLst/>
                <a:latin typeface="Söhne"/>
              </a:rPr>
              <a:t>Revenue growth</a:t>
            </a:r>
          </a:p>
          <a:p>
            <a:pPr marL="685800" lvl="1" indent="-228600">
              <a:spcAft>
                <a:spcPts val="0"/>
              </a:spcAft>
            </a:pPr>
            <a:r>
              <a:rPr lang="en-US" sz="1200" b="0" i="0" dirty="0">
                <a:solidFill>
                  <a:srgbClr val="374151"/>
                </a:solidFill>
                <a:effectLst/>
                <a:latin typeface="Söhne"/>
              </a:rPr>
              <a:t>Earnings per share (EPS)</a:t>
            </a:r>
          </a:p>
          <a:p>
            <a:pPr marL="685800" lvl="1" indent="-228600">
              <a:spcAft>
                <a:spcPts val="0"/>
              </a:spcAft>
            </a:pPr>
            <a:r>
              <a:rPr lang="en-US" sz="1200" b="0" i="0" dirty="0">
                <a:solidFill>
                  <a:srgbClr val="374151"/>
                </a:solidFill>
                <a:effectLst/>
                <a:latin typeface="Söhne"/>
              </a:rPr>
              <a:t>Return on investment (ROI)</a:t>
            </a:r>
          </a:p>
          <a:p>
            <a:pPr marL="685800" lvl="1" indent="-228600"/>
            <a:r>
              <a:rPr lang="en-US" sz="1200" b="0" i="0" dirty="0">
                <a:solidFill>
                  <a:srgbClr val="374151"/>
                </a:solidFill>
                <a:effectLst/>
                <a:latin typeface="Söhne"/>
              </a:rPr>
              <a:t>Other relevant financial metrics</a:t>
            </a:r>
          </a:p>
          <a:p>
            <a:pPr marL="228600" indent="-228600" algn="l">
              <a:spcAft>
                <a:spcPts val="0"/>
              </a:spcAft>
              <a:buFont typeface="+mj-lt"/>
              <a:buAutoNum type="arabicPeriod"/>
            </a:pPr>
            <a:r>
              <a:rPr lang="en-US" sz="1200" b="0" i="0" dirty="0">
                <a:solidFill>
                  <a:srgbClr val="374151"/>
                </a:solidFill>
                <a:effectLst/>
                <a:latin typeface="Söhne"/>
              </a:rPr>
              <a:t>An analysis of the performance of the acquired company, including:</a:t>
            </a:r>
          </a:p>
          <a:p>
            <a:pPr marL="685800" lvl="1" indent="-228600">
              <a:spcAft>
                <a:spcPts val="0"/>
              </a:spcAft>
            </a:pPr>
            <a:r>
              <a:rPr lang="en-US" sz="1200" b="0" i="0" dirty="0">
                <a:solidFill>
                  <a:srgbClr val="374151"/>
                </a:solidFill>
                <a:effectLst/>
                <a:latin typeface="Söhne"/>
              </a:rPr>
              <a:t>Any strengths or weaknesses identified</a:t>
            </a:r>
          </a:p>
          <a:p>
            <a:pPr marL="685800" lvl="1" indent="-228600">
              <a:spcAft>
                <a:spcPts val="0"/>
              </a:spcAft>
            </a:pPr>
            <a:r>
              <a:rPr lang="en-US" sz="1200" b="0" i="0" dirty="0">
                <a:solidFill>
                  <a:srgbClr val="374151"/>
                </a:solidFill>
                <a:effectLst/>
                <a:latin typeface="Söhne"/>
              </a:rPr>
              <a:t>Any opportunities for growth or expansion</a:t>
            </a:r>
          </a:p>
          <a:p>
            <a:pPr marL="685800" lvl="1" indent="-228600"/>
            <a:r>
              <a:rPr lang="en-US" sz="1200" b="0" i="0" dirty="0">
                <a:solidFill>
                  <a:srgbClr val="374151"/>
                </a:solidFill>
                <a:effectLst/>
                <a:latin typeface="Söhne"/>
              </a:rPr>
              <a:t>Any potential risks or challenges associated with the acquisition</a:t>
            </a:r>
          </a:p>
          <a:p>
            <a:pPr marL="228600" indent="-228600" algn="l">
              <a:spcAft>
                <a:spcPts val="0"/>
              </a:spcAft>
              <a:buFont typeface="+mj-lt"/>
              <a:buAutoNum type="arabicPeriod"/>
            </a:pPr>
            <a:r>
              <a:rPr lang="en-US" sz="1200" b="0" i="0" dirty="0">
                <a:solidFill>
                  <a:srgbClr val="374151"/>
                </a:solidFill>
                <a:effectLst/>
                <a:latin typeface="Söhne"/>
              </a:rPr>
              <a:t>A discussion of any future plans for the acquired company, such as:</a:t>
            </a:r>
          </a:p>
          <a:p>
            <a:pPr marL="685800" lvl="1" indent="-228600">
              <a:spcAft>
                <a:spcPts val="0"/>
              </a:spcAft>
            </a:pPr>
            <a:r>
              <a:rPr lang="en-US" sz="1200" b="0" i="0" dirty="0">
                <a:solidFill>
                  <a:srgbClr val="374151"/>
                </a:solidFill>
                <a:effectLst/>
                <a:latin typeface="Söhne"/>
              </a:rPr>
              <a:t>Expansion into new markets</a:t>
            </a:r>
          </a:p>
          <a:p>
            <a:pPr marL="685800" lvl="1" indent="-228600">
              <a:spcAft>
                <a:spcPts val="0"/>
              </a:spcAft>
            </a:pPr>
            <a:r>
              <a:rPr lang="en-US" sz="1200" b="0" i="0" dirty="0">
                <a:solidFill>
                  <a:srgbClr val="374151"/>
                </a:solidFill>
                <a:effectLst/>
                <a:latin typeface="Söhne"/>
              </a:rPr>
              <a:t>Product development or innovation</a:t>
            </a:r>
          </a:p>
          <a:p>
            <a:pPr marL="685800" lvl="1" indent="-228600">
              <a:spcAft>
                <a:spcPts val="0"/>
              </a:spcAft>
            </a:pPr>
            <a:r>
              <a:rPr lang="en-US" sz="1200" b="0" i="0" dirty="0">
                <a:solidFill>
                  <a:srgbClr val="374151"/>
                </a:solidFill>
                <a:effectLst/>
                <a:latin typeface="Söhne"/>
              </a:rPr>
              <a:t>Integration into existing business units or product lines</a:t>
            </a:r>
          </a:p>
          <a:p>
            <a:pPr algn="l">
              <a:spcAft>
                <a:spcPts val="0"/>
              </a:spcAft>
            </a:pPr>
            <a:endParaRPr lang="en-US" sz="1200" b="0" i="0" dirty="0">
              <a:solidFill>
                <a:srgbClr val="374151"/>
              </a:solidFill>
              <a:effectLst/>
              <a:latin typeface="Söhne"/>
            </a:endParaRPr>
          </a:p>
          <a:p>
            <a:pPr algn="l">
              <a:spcAft>
                <a:spcPts val="0"/>
              </a:spcAft>
            </a:pPr>
            <a:r>
              <a:rPr lang="en-US" sz="1200" b="0" i="0" dirty="0">
                <a:solidFill>
                  <a:srgbClr val="374151"/>
                </a:solidFill>
                <a:effectLst/>
                <a:latin typeface="Söhne"/>
              </a:rPr>
              <a:t>Overall, the Acquisition Overview slide should provide a comprehensive overview of any acquisitions made during the quarter and the impact they have had on the company's financial performance and strategic direction.</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15736406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Post-merger Integration</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algn="l"/>
            <a:r>
              <a:rPr lang="en-US" sz="1200" b="0" dirty="0">
                <a:solidFill>
                  <a:srgbClr val="374151"/>
                </a:solidFill>
                <a:latin typeface="Söhne"/>
              </a:rPr>
              <a:t>T</a:t>
            </a:r>
            <a:r>
              <a:rPr lang="en-US" sz="1200" b="0" i="0" dirty="0">
                <a:solidFill>
                  <a:srgbClr val="374151"/>
                </a:solidFill>
                <a:effectLst/>
                <a:latin typeface="Söhne"/>
              </a:rPr>
              <a:t>his slide provides an update on the post-merger integration process. This would include details on any challenges faced and progress made during the quarter. The following information should be included:</a:t>
            </a:r>
          </a:p>
          <a:p>
            <a:pPr marL="228600" indent="-228600" algn="l">
              <a:buFont typeface="+mj-lt"/>
              <a:buAutoNum type="arabicPeriod"/>
            </a:pPr>
            <a:r>
              <a:rPr lang="en-US" sz="1200" i="0" dirty="0">
                <a:solidFill>
                  <a:srgbClr val="374151"/>
                </a:solidFill>
                <a:effectLst/>
                <a:latin typeface="Söhne"/>
              </a:rPr>
              <a:t>Overview of the merger</a:t>
            </a:r>
            <a:r>
              <a:rPr lang="en-US" sz="1200" b="0" i="0" dirty="0">
                <a:solidFill>
                  <a:srgbClr val="374151"/>
                </a:solidFill>
                <a:effectLst/>
                <a:latin typeface="Söhne"/>
              </a:rPr>
              <a:t>: A brief overview of the merger, including the companies involved, the date of the merger, and the strategic rationale behind it.</a:t>
            </a:r>
          </a:p>
          <a:p>
            <a:pPr marL="228600" indent="-228600" algn="l">
              <a:buFont typeface="+mj-lt"/>
              <a:buAutoNum type="arabicPeriod"/>
            </a:pPr>
            <a:r>
              <a:rPr lang="en-US" sz="1200" i="0" dirty="0">
                <a:solidFill>
                  <a:srgbClr val="374151"/>
                </a:solidFill>
                <a:effectLst/>
                <a:latin typeface="Söhne"/>
              </a:rPr>
              <a:t>Integration plan</a:t>
            </a:r>
            <a:r>
              <a:rPr lang="en-US" sz="1200" b="0" i="0" dirty="0">
                <a:solidFill>
                  <a:srgbClr val="374151"/>
                </a:solidFill>
                <a:effectLst/>
                <a:latin typeface="Söhne"/>
              </a:rPr>
              <a:t>: A summary of the integration plan, outlining the key objectives and milestones for the integration process.</a:t>
            </a:r>
          </a:p>
          <a:p>
            <a:pPr marL="228600" indent="-228600" algn="l">
              <a:buFont typeface="+mj-lt"/>
              <a:buAutoNum type="arabicPeriod"/>
            </a:pPr>
            <a:r>
              <a:rPr lang="en-US" sz="1200" i="0" dirty="0">
                <a:solidFill>
                  <a:srgbClr val="374151"/>
                </a:solidFill>
                <a:effectLst/>
                <a:latin typeface="Söhne"/>
              </a:rPr>
              <a:t>Progress update</a:t>
            </a:r>
            <a:r>
              <a:rPr lang="en-US" sz="1200" b="0" i="0" dirty="0">
                <a:solidFill>
                  <a:srgbClr val="374151"/>
                </a:solidFill>
                <a:effectLst/>
                <a:latin typeface="Söhne"/>
              </a:rPr>
              <a:t>: An update on the progress made in the integration process during the quarter, highlighting any achievements or challenges faced.</a:t>
            </a:r>
          </a:p>
          <a:p>
            <a:pPr marL="228600" indent="-228600" algn="l">
              <a:buFont typeface="+mj-lt"/>
              <a:buAutoNum type="arabicPeriod"/>
            </a:pPr>
            <a:r>
              <a:rPr lang="en-US" sz="1200" i="0" dirty="0">
                <a:solidFill>
                  <a:srgbClr val="374151"/>
                </a:solidFill>
                <a:effectLst/>
                <a:latin typeface="Söhne"/>
              </a:rPr>
              <a:t>Challenges</a:t>
            </a:r>
            <a:r>
              <a:rPr lang="en-US" sz="1200" b="0" i="0" dirty="0">
                <a:solidFill>
                  <a:srgbClr val="374151"/>
                </a:solidFill>
                <a:effectLst/>
                <a:latin typeface="Söhne"/>
              </a:rPr>
              <a:t>: Any challenges faced during the integration process should be discussed, including any unexpected delays or issues that have arisen.</a:t>
            </a:r>
          </a:p>
          <a:p>
            <a:pPr marL="228600" indent="-228600" algn="l">
              <a:buFont typeface="+mj-lt"/>
              <a:buAutoNum type="arabicPeriod"/>
            </a:pPr>
            <a:r>
              <a:rPr lang="en-US" sz="1200" i="0" dirty="0">
                <a:solidFill>
                  <a:srgbClr val="374151"/>
                </a:solidFill>
                <a:effectLst/>
                <a:latin typeface="Söhne"/>
              </a:rPr>
              <a:t>Mitigation strategies</a:t>
            </a:r>
            <a:r>
              <a:rPr lang="en-US" sz="1200" b="0" i="0" dirty="0">
                <a:solidFill>
                  <a:srgbClr val="374151"/>
                </a:solidFill>
                <a:effectLst/>
                <a:latin typeface="Söhne"/>
              </a:rPr>
              <a:t>: Strategies to mitigate any challenges faced during the integration process should be presented, highlighting any actions taken to address issues and ensure the integration remains on track.</a:t>
            </a:r>
          </a:p>
          <a:p>
            <a:pPr marL="228600" indent="-228600" algn="l">
              <a:buFont typeface="+mj-lt"/>
              <a:buAutoNum type="arabicPeriod"/>
            </a:pPr>
            <a:r>
              <a:rPr lang="en-US" sz="1200" i="0" dirty="0">
                <a:solidFill>
                  <a:srgbClr val="374151"/>
                </a:solidFill>
                <a:effectLst/>
                <a:latin typeface="Söhne"/>
              </a:rPr>
              <a:t>Key metrics</a:t>
            </a:r>
            <a:r>
              <a:rPr lang="en-US" sz="1200" b="0" i="0" dirty="0">
                <a:solidFill>
                  <a:srgbClr val="374151"/>
                </a:solidFill>
                <a:effectLst/>
                <a:latin typeface="Söhne"/>
              </a:rPr>
              <a:t>: Key metrics to measure the success of the integration process should be included, such as cost savings, revenue growth, and employee retention rates.</a:t>
            </a:r>
          </a:p>
          <a:p>
            <a:pPr marL="228600" indent="-228600" algn="l">
              <a:buFont typeface="+mj-lt"/>
              <a:buAutoNum type="arabicPeriod"/>
            </a:pPr>
            <a:r>
              <a:rPr lang="en-US" sz="1200" i="0" dirty="0">
                <a:solidFill>
                  <a:srgbClr val="374151"/>
                </a:solidFill>
                <a:effectLst/>
                <a:latin typeface="Söhne"/>
              </a:rPr>
              <a:t>Next steps</a:t>
            </a:r>
            <a:r>
              <a:rPr lang="en-US" sz="1200" b="0" i="0" dirty="0">
                <a:solidFill>
                  <a:srgbClr val="374151"/>
                </a:solidFill>
                <a:effectLst/>
                <a:latin typeface="Söhne"/>
              </a:rPr>
              <a:t>: Next steps in the integration process should be outlined, including any upcoming milestones or objectives, and any potential risks or challenges that need to be addressed.</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3916411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DE4B6F3D-F39D-82FA-3528-A3F1F7B178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DE4B6F3D-F39D-82FA-3528-A3F1F7B178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9D66EAD0-976A-9CBA-E440-3B5D7F6C7065}"/>
              </a:ext>
            </a:extLst>
          </p:cNvPr>
          <p:cNvSpPr>
            <a:spLocks noGrp="1"/>
          </p:cNvSpPr>
          <p:nvPr>
            <p:ph type="title"/>
          </p:nvPr>
        </p:nvSpPr>
        <p:spPr/>
        <p:txBody>
          <a:bodyPr vert="horz"/>
          <a:lstStyle/>
          <a:p>
            <a:r>
              <a:rPr lang="en-US" dirty="0"/>
              <a:t>Board Reporting Package Contents</a:t>
            </a:r>
          </a:p>
        </p:txBody>
      </p:sp>
      <p:sp>
        <p:nvSpPr>
          <p:cNvPr id="23" name="Rounded Rectangle 33">
            <a:extLst>
              <a:ext uri="{FF2B5EF4-FFF2-40B4-BE49-F238E27FC236}">
                <a16:creationId xmlns:a16="http://schemas.microsoft.com/office/drawing/2014/main" id="{C82EEC47-011A-3986-C4CD-0F6BF3E13A5C}"/>
              </a:ext>
            </a:extLst>
          </p:cNvPr>
          <p:cNvSpPr/>
          <p:nvPr/>
        </p:nvSpPr>
        <p:spPr>
          <a:xfrm>
            <a:off x="409762" y="853079"/>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CEO &amp; BOARD CHAIR</a:t>
            </a:r>
          </a:p>
        </p:txBody>
      </p:sp>
      <p:sp>
        <p:nvSpPr>
          <p:cNvPr id="54" name="TextBox 53">
            <a:extLst>
              <a:ext uri="{FF2B5EF4-FFF2-40B4-BE49-F238E27FC236}">
                <a16:creationId xmlns:a16="http://schemas.microsoft.com/office/drawing/2014/main" id="{C852F15D-DEBA-82B2-6A49-FB2C85CB3853}"/>
              </a:ext>
            </a:extLst>
          </p:cNvPr>
          <p:cNvSpPr txBox="1"/>
          <p:nvPr/>
        </p:nvSpPr>
        <p:spPr>
          <a:xfrm>
            <a:off x="409762" y="151065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CEO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Board Chair Update</a:t>
            </a:r>
          </a:p>
        </p:txBody>
      </p:sp>
      <p:sp>
        <p:nvSpPr>
          <p:cNvPr id="55" name="Rounded Rectangle 33">
            <a:extLst>
              <a:ext uri="{FF2B5EF4-FFF2-40B4-BE49-F238E27FC236}">
                <a16:creationId xmlns:a16="http://schemas.microsoft.com/office/drawing/2014/main" id="{95A91E49-9A8A-96D6-533B-2C56F869D32F}"/>
              </a:ext>
            </a:extLst>
          </p:cNvPr>
          <p:cNvSpPr/>
          <p:nvPr/>
        </p:nvSpPr>
        <p:spPr>
          <a:xfrm>
            <a:off x="9295000" y="2148795"/>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CORPORATE DEVELOPMENT</a:t>
            </a:r>
          </a:p>
        </p:txBody>
      </p:sp>
      <p:sp>
        <p:nvSpPr>
          <p:cNvPr id="56" name="TextBox 55">
            <a:extLst>
              <a:ext uri="{FF2B5EF4-FFF2-40B4-BE49-F238E27FC236}">
                <a16:creationId xmlns:a16="http://schemas.microsoft.com/office/drawing/2014/main" id="{078BE5D7-CBB0-7B3D-AFEE-E049B3EC8AFE}"/>
              </a:ext>
            </a:extLst>
          </p:cNvPr>
          <p:cNvSpPr txBox="1"/>
          <p:nvPr/>
        </p:nvSpPr>
        <p:spPr>
          <a:xfrm>
            <a:off x="9282200" y="2827201"/>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Partnerships &amp; Alliances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Mergers &amp; Acquisitions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Post-merger Integration</a:t>
            </a:r>
          </a:p>
        </p:txBody>
      </p:sp>
      <p:sp>
        <p:nvSpPr>
          <p:cNvPr id="57" name="Rounded Rectangle 33">
            <a:extLst>
              <a:ext uri="{FF2B5EF4-FFF2-40B4-BE49-F238E27FC236}">
                <a16:creationId xmlns:a16="http://schemas.microsoft.com/office/drawing/2014/main" id="{047EDAFC-A516-E05C-A91F-44C7C46FB147}"/>
              </a:ext>
            </a:extLst>
          </p:cNvPr>
          <p:cNvSpPr/>
          <p:nvPr/>
        </p:nvSpPr>
        <p:spPr>
          <a:xfrm>
            <a:off x="9282200" y="3579788"/>
            <a:ext cx="2594695" cy="530969"/>
          </a:xfrm>
          <a:prstGeom prst="rect">
            <a:avLst/>
          </a:prstGeom>
          <a:solidFill>
            <a:schemeClr val="accent1"/>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OTHER CORPORATE FUNCTIONS</a:t>
            </a:r>
          </a:p>
        </p:txBody>
      </p:sp>
      <p:sp>
        <p:nvSpPr>
          <p:cNvPr id="58" name="TextBox 57">
            <a:extLst>
              <a:ext uri="{FF2B5EF4-FFF2-40B4-BE49-F238E27FC236}">
                <a16:creationId xmlns:a16="http://schemas.microsoft.com/office/drawing/2014/main" id="{7A3E0AED-BC63-D8B3-2F56-CAFD1E971E31}"/>
              </a:ext>
            </a:extLst>
          </p:cNvPr>
          <p:cNvSpPr txBox="1"/>
          <p:nvPr/>
        </p:nvSpPr>
        <p:spPr>
          <a:xfrm>
            <a:off x="9282200" y="4264916"/>
            <a:ext cx="2620293" cy="1687284"/>
          </a:xfrm>
          <a:prstGeom prst="rect">
            <a:avLst/>
          </a:prstGeom>
          <a:noFill/>
        </p:spPr>
        <p:txBody>
          <a:bodyPr wrap="square" lIns="0" tIns="0" rIns="0" bIns="0" rtlCol="0">
            <a:noAutofit/>
          </a:bodyPr>
          <a:lstStyle/>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Intellectual Property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Risk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Legal &amp; Regulatory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Litigation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Investor Relations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Community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ESG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Sustainability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Awards &amp; Recognition</a:t>
            </a:r>
          </a:p>
        </p:txBody>
      </p:sp>
      <p:sp>
        <p:nvSpPr>
          <p:cNvPr id="59" name="Rounded Rectangle 33">
            <a:extLst>
              <a:ext uri="{FF2B5EF4-FFF2-40B4-BE49-F238E27FC236}">
                <a16:creationId xmlns:a16="http://schemas.microsoft.com/office/drawing/2014/main" id="{92BD0F0E-08AC-37AD-FD60-1F03343DE46E}"/>
              </a:ext>
            </a:extLst>
          </p:cNvPr>
          <p:cNvSpPr/>
          <p:nvPr/>
        </p:nvSpPr>
        <p:spPr>
          <a:xfrm>
            <a:off x="384173" y="2005691"/>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AGENDA</a:t>
            </a:r>
          </a:p>
        </p:txBody>
      </p:sp>
      <p:sp>
        <p:nvSpPr>
          <p:cNvPr id="60" name="Rounded Rectangle 33">
            <a:extLst>
              <a:ext uri="{FF2B5EF4-FFF2-40B4-BE49-F238E27FC236}">
                <a16:creationId xmlns:a16="http://schemas.microsoft.com/office/drawing/2014/main" id="{CB90976E-C934-E589-3C43-C6536961F66B}"/>
              </a:ext>
            </a:extLst>
          </p:cNvPr>
          <p:cNvSpPr/>
          <p:nvPr/>
        </p:nvSpPr>
        <p:spPr>
          <a:xfrm>
            <a:off x="3371511" y="842768"/>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PRODUCT</a:t>
            </a:r>
          </a:p>
        </p:txBody>
      </p:sp>
      <p:sp>
        <p:nvSpPr>
          <p:cNvPr id="61" name="Rounded Rectangle 33">
            <a:extLst>
              <a:ext uri="{FF2B5EF4-FFF2-40B4-BE49-F238E27FC236}">
                <a16:creationId xmlns:a16="http://schemas.microsoft.com/office/drawing/2014/main" id="{7FA80707-EFC9-FBBD-95A3-C53653725FD5}"/>
              </a:ext>
            </a:extLst>
          </p:cNvPr>
          <p:cNvSpPr/>
          <p:nvPr/>
        </p:nvSpPr>
        <p:spPr>
          <a:xfrm>
            <a:off x="3371510" y="221609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MARKETING</a:t>
            </a:r>
          </a:p>
        </p:txBody>
      </p:sp>
      <p:sp>
        <p:nvSpPr>
          <p:cNvPr id="62" name="TextBox 61">
            <a:extLst>
              <a:ext uri="{FF2B5EF4-FFF2-40B4-BE49-F238E27FC236}">
                <a16:creationId xmlns:a16="http://schemas.microsoft.com/office/drawing/2014/main" id="{30745068-3C50-A3AC-D3F9-F374532A853E}"/>
              </a:ext>
            </a:extLst>
          </p:cNvPr>
          <p:cNvSpPr txBox="1"/>
          <p:nvPr/>
        </p:nvSpPr>
        <p:spPr>
          <a:xfrm>
            <a:off x="409762" y="3815874"/>
            <a:ext cx="2620293" cy="2923758"/>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Financial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Income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Cash Flow Statement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Balance Sheet</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Revenue Breakdown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Operating Expenses Breakdown</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Cost Reduction Initiatives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Profitability Analysis/ROI</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Working Capital Analysis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Receivable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Accounts Payable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Expenditures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Capital Raising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Debt Overview &amp; Refinancing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Tax</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Property &amp; Real Estate Update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Foreign Currency Exposure</a:t>
            </a:r>
          </a:p>
        </p:txBody>
      </p:sp>
      <p:sp>
        <p:nvSpPr>
          <p:cNvPr id="1025" name="TextBox 1024">
            <a:extLst>
              <a:ext uri="{FF2B5EF4-FFF2-40B4-BE49-F238E27FC236}">
                <a16:creationId xmlns:a16="http://schemas.microsoft.com/office/drawing/2014/main" id="{02F92317-B039-B079-BB61-FC63C637FB38}"/>
              </a:ext>
            </a:extLst>
          </p:cNvPr>
          <p:cNvSpPr txBox="1"/>
          <p:nvPr/>
        </p:nvSpPr>
        <p:spPr>
          <a:xfrm>
            <a:off x="3371511" y="1515590"/>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Development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Research &amp;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Product Roadmap</a:t>
            </a:r>
          </a:p>
        </p:txBody>
      </p:sp>
      <p:sp>
        <p:nvSpPr>
          <p:cNvPr id="1026" name="TextBox 1025">
            <a:extLst>
              <a:ext uri="{FF2B5EF4-FFF2-40B4-BE49-F238E27FC236}">
                <a16:creationId xmlns:a16="http://schemas.microsoft.com/office/drawing/2014/main" id="{CC1A5311-249B-C428-EBB6-A72E016472C6}"/>
              </a:ext>
            </a:extLst>
          </p:cNvPr>
          <p:cNvSpPr txBox="1"/>
          <p:nvPr/>
        </p:nvSpPr>
        <p:spPr>
          <a:xfrm>
            <a:off x="3371511" y="286130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Initiatives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 Expansion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Marketing ROI</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Pricing Strategy</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Data &amp; Analytics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Advertising</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Competitors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Branding &amp; Marketing Materials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srgbClr val="000000"/>
                </a:solidFill>
                <a:latin typeface="Verdana"/>
              </a:rPr>
              <a:t>Website</a:t>
            </a:r>
            <a:endParaRPr kumimoji="0" lang="en-US" sz="1100" b="0" i="0" u="none" strike="noStrike" kern="1200" cap="none" spc="0" normalizeH="0" baseline="0" noProof="0" dirty="0">
              <a:ln>
                <a:noFill/>
              </a:ln>
              <a:solidFill>
                <a:srgbClr val="000000"/>
              </a:solidFill>
              <a:effectLst/>
              <a:uLnTx/>
              <a:uFillTx/>
              <a:latin typeface="Verdana"/>
              <a:ea typeface="+mn-ea"/>
              <a:cs typeface="+mn-cs"/>
            </a:endParaRP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Social Media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Industry Events &amp; Conferences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Public Relations</a:t>
            </a:r>
          </a:p>
        </p:txBody>
      </p:sp>
      <p:sp>
        <p:nvSpPr>
          <p:cNvPr id="1027" name="Rounded Rectangle 33">
            <a:extLst>
              <a:ext uri="{FF2B5EF4-FFF2-40B4-BE49-F238E27FC236}">
                <a16:creationId xmlns:a16="http://schemas.microsoft.com/office/drawing/2014/main" id="{D14AE144-6082-3A53-FA31-003FBCFBEE2C}"/>
              </a:ext>
            </a:extLst>
          </p:cNvPr>
          <p:cNvSpPr/>
          <p:nvPr/>
        </p:nvSpPr>
        <p:spPr>
          <a:xfrm>
            <a:off x="3371509" y="5245342"/>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SALES</a:t>
            </a:r>
          </a:p>
        </p:txBody>
      </p:sp>
      <p:sp>
        <p:nvSpPr>
          <p:cNvPr id="1028" name="TextBox 1027">
            <a:extLst>
              <a:ext uri="{FF2B5EF4-FFF2-40B4-BE49-F238E27FC236}">
                <a16:creationId xmlns:a16="http://schemas.microsoft.com/office/drawing/2014/main" id="{F1DE495A-583A-63C4-C570-434B9345A842}"/>
              </a:ext>
            </a:extLst>
          </p:cNvPr>
          <p:cNvSpPr txBox="1"/>
          <p:nvPr/>
        </p:nvSpPr>
        <p:spPr>
          <a:xfrm>
            <a:off x="3371511" y="5890558"/>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Pipeline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Team Performance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Region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Sales by Channel</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Channel Partners</a:t>
            </a:r>
          </a:p>
        </p:txBody>
      </p:sp>
      <p:sp>
        <p:nvSpPr>
          <p:cNvPr id="1029" name="Rounded Rectangle 33">
            <a:extLst>
              <a:ext uri="{FF2B5EF4-FFF2-40B4-BE49-F238E27FC236}">
                <a16:creationId xmlns:a16="http://schemas.microsoft.com/office/drawing/2014/main" id="{E46F2696-EE7E-BBE9-9BF4-4DC8BC64543E}"/>
              </a:ext>
            </a:extLst>
          </p:cNvPr>
          <p:cNvSpPr/>
          <p:nvPr/>
        </p:nvSpPr>
        <p:spPr>
          <a:xfrm>
            <a:off x="6333261" y="2511844"/>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CUSTOMERS</a:t>
            </a:r>
          </a:p>
        </p:txBody>
      </p:sp>
      <p:sp>
        <p:nvSpPr>
          <p:cNvPr id="1030" name="Rounded Rectangle 33">
            <a:extLst>
              <a:ext uri="{FF2B5EF4-FFF2-40B4-BE49-F238E27FC236}">
                <a16:creationId xmlns:a16="http://schemas.microsoft.com/office/drawing/2014/main" id="{E5838DA9-13C2-4188-6172-7E7C7EDFA057}"/>
              </a:ext>
            </a:extLst>
          </p:cNvPr>
          <p:cNvSpPr/>
          <p:nvPr/>
        </p:nvSpPr>
        <p:spPr>
          <a:xfrm>
            <a:off x="6333261" y="846554"/>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OPERATIONS AND SUPPLY CHAIN</a:t>
            </a:r>
          </a:p>
        </p:txBody>
      </p:sp>
      <p:sp>
        <p:nvSpPr>
          <p:cNvPr id="1032" name="Rounded Rectangle 33">
            <a:extLst>
              <a:ext uri="{FF2B5EF4-FFF2-40B4-BE49-F238E27FC236}">
                <a16:creationId xmlns:a16="http://schemas.microsoft.com/office/drawing/2014/main" id="{A5872E9A-5A2E-D1A6-AEC1-30E6373A0CF4}"/>
              </a:ext>
            </a:extLst>
          </p:cNvPr>
          <p:cNvSpPr/>
          <p:nvPr/>
        </p:nvSpPr>
        <p:spPr>
          <a:xfrm>
            <a:off x="9295011" y="865239"/>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INFORMATION TECHNOLOGY</a:t>
            </a:r>
          </a:p>
        </p:txBody>
      </p:sp>
      <p:sp>
        <p:nvSpPr>
          <p:cNvPr id="1033" name="Rounded Rectangle 33">
            <a:extLst>
              <a:ext uri="{FF2B5EF4-FFF2-40B4-BE49-F238E27FC236}">
                <a16:creationId xmlns:a16="http://schemas.microsoft.com/office/drawing/2014/main" id="{DB676218-8B0C-2374-3190-ADAFBD304B29}"/>
              </a:ext>
            </a:extLst>
          </p:cNvPr>
          <p:cNvSpPr/>
          <p:nvPr/>
        </p:nvSpPr>
        <p:spPr>
          <a:xfrm>
            <a:off x="6333261" y="4356030"/>
            <a:ext cx="2594695" cy="528314"/>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HUMAN RESOURCES</a:t>
            </a:r>
          </a:p>
        </p:txBody>
      </p:sp>
      <p:sp>
        <p:nvSpPr>
          <p:cNvPr id="1035" name="TextBox 1034">
            <a:extLst>
              <a:ext uri="{FF2B5EF4-FFF2-40B4-BE49-F238E27FC236}">
                <a16:creationId xmlns:a16="http://schemas.microsoft.com/office/drawing/2014/main" id="{01C116CF-D899-36F7-219D-C1159D8B52D7}"/>
              </a:ext>
            </a:extLst>
          </p:cNvPr>
          <p:cNvSpPr txBox="1"/>
          <p:nvPr/>
        </p:nvSpPr>
        <p:spPr>
          <a:xfrm>
            <a:off x="6358858"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Operations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Supply Chain Management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Emergency Preparedness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Suppliers</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Worker Safety</a:t>
            </a:r>
          </a:p>
        </p:txBody>
      </p:sp>
      <p:sp>
        <p:nvSpPr>
          <p:cNvPr id="1036" name="TextBox 1035">
            <a:extLst>
              <a:ext uri="{FF2B5EF4-FFF2-40B4-BE49-F238E27FC236}">
                <a16:creationId xmlns:a16="http://schemas.microsoft.com/office/drawing/2014/main" id="{6D63E6C1-0425-4437-888A-F3E8D5A060AC}"/>
              </a:ext>
            </a:extLst>
          </p:cNvPr>
          <p:cNvSpPr txBox="1"/>
          <p:nvPr/>
        </p:nvSpPr>
        <p:spPr>
          <a:xfrm>
            <a:off x="6333260" y="3208935"/>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Service</a:t>
            </a:r>
          </a:p>
          <a:p>
            <a:pPr marL="171450" indent="-171450" defTabSz="228600">
              <a:buFont typeface="Arial" panose="020B0604020202020204" pitchFamily="34" charset="0"/>
              <a:buChar char="•"/>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Satisfaction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Consumer Insights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Customer Case Studies</a:t>
            </a:r>
          </a:p>
        </p:txBody>
      </p:sp>
      <p:sp>
        <p:nvSpPr>
          <p:cNvPr id="1037" name="TextBox 1036">
            <a:extLst>
              <a:ext uri="{FF2B5EF4-FFF2-40B4-BE49-F238E27FC236}">
                <a16:creationId xmlns:a16="http://schemas.microsoft.com/office/drawing/2014/main" id="{2BD1D13D-59B1-D4F8-4E1E-A026079AC144}"/>
              </a:ext>
            </a:extLst>
          </p:cNvPr>
          <p:cNvSpPr txBox="1"/>
          <p:nvPr/>
        </p:nvSpPr>
        <p:spPr>
          <a:xfrm>
            <a:off x="9346205" y="1538559"/>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IT Infrastructure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Cybersecurity</a:t>
            </a:r>
          </a:p>
        </p:txBody>
      </p:sp>
      <p:sp>
        <p:nvSpPr>
          <p:cNvPr id="1039" name="TextBox 1038">
            <a:extLst>
              <a:ext uri="{FF2B5EF4-FFF2-40B4-BE49-F238E27FC236}">
                <a16:creationId xmlns:a16="http://schemas.microsoft.com/office/drawing/2014/main" id="{7F71797E-DAE7-019D-7E27-5D562C6571DD}"/>
              </a:ext>
            </a:extLst>
          </p:cNvPr>
          <p:cNvSpPr txBox="1"/>
          <p:nvPr/>
        </p:nvSpPr>
        <p:spPr>
          <a:xfrm>
            <a:off x="6333260" y="5052741"/>
            <a:ext cx="2831794"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Human Resources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Organizational Structure</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Leadership Team Overview</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Talent Acquisition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Compensation</a:t>
            </a:r>
            <a:r>
              <a:rPr lang="en-US" sz="1100" dirty="0">
                <a:solidFill>
                  <a:srgbClr val="000000"/>
                </a:solidFill>
                <a:latin typeface="Verdana"/>
              </a:rPr>
              <a:t> and </a:t>
            </a:r>
            <a:r>
              <a:rPr kumimoji="0" lang="en-US" sz="1100" b="0" i="0" u="none" strike="noStrike" kern="1200" cap="none" spc="0" normalizeH="0" baseline="0" noProof="0" dirty="0">
                <a:ln>
                  <a:noFill/>
                </a:ln>
                <a:solidFill>
                  <a:srgbClr val="000000"/>
                </a:solidFill>
                <a:effectLst/>
                <a:uLnTx/>
                <a:uFillTx/>
                <a:latin typeface="Verdana"/>
                <a:ea typeface="+mn-ea"/>
                <a:cs typeface="+mn-cs"/>
              </a:rPr>
              <a:t>Benefits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Learning and Development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Engagement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Employee Retention</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Diversity, Equity, and Inclusion</a:t>
            </a:r>
          </a:p>
        </p:txBody>
      </p:sp>
      <p:sp>
        <p:nvSpPr>
          <p:cNvPr id="2" name="Rounded Rectangle 33">
            <a:extLst>
              <a:ext uri="{FF2B5EF4-FFF2-40B4-BE49-F238E27FC236}">
                <a16:creationId xmlns:a16="http://schemas.microsoft.com/office/drawing/2014/main" id="{1B612D95-4099-846D-D69A-44F681C34655}"/>
              </a:ext>
            </a:extLst>
          </p:cNvPr>
          <p:cNvSpPr/>
          <p:nvPr/>
        </p:nvSpPr>
        <p:spPr>
          <a:xfrm>
            <a:off x="384173" y="3162300"/>
            <a:ext cx="2594695" cy="533400"/>
          </a:xfrm>
          <a:prstGeom prst="rect">
            <a:avLst/>
          </a:prstGeom>
          <a:solidFill>
            <a:schemeClr val="accent4"/>
          </a:solidFill>
          <a:ln>
            <a:no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108763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FINANCE</a:t>
            </a:r>
          </a:p>
        </p:txBody>
      </p:sp>
      <p:sp>
        <p:nvSpPr>
          <p:cNvPr id="4" name="TextBox 3">
            <a:extLst>
              <a:ext uri="{FF2B5EF4-FFF2-40B4-BE49-F238E27FC236}">
                <a16:creationId xmlns:a16="http://schemas.microsoft.com/office/drawing/2014/main" id="{F322B9F2-CA67-D5B4-CC60-7F01099438FE}"/>
              </a:ext>
            </a:extLst>
          </p:cNvPr>
          <p:cNvSpPr txBox="1"/>
          <p:nvPr/>
        </p:nvSpPr>
        <p:spPr>
          <a:xfrm>
            <a:off x="384173" y="2663262"/>
            <a:ext cx="2620293" cy="533400"/>
          </a:xfrm>
          <a:prstGeom prst="rect">
            <a:avLst/>
          </a:prstGeom>
          <a:noFill/>
        </p:spPr>
        <p:txBody>
          <a:bodyPr wrap="square" lIns="0" tIns="0" rIns="0" bIns="0" rtlCol="0">
            <a:noAutofit/>
          </a:bodyP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Agenda</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Previous Meeting Minutes</a:t>
            </a:r>
          </a:p>
        </p:txBody>
      </p:sp>
    </p:spTree>
    <p:extLst>
      <p:ext uri="{BB962C8B-B14F-4D97-AF65-F5344CB8AC3E}">
        <p14:creationId xmlns:p14="http://schemas.microsoft.com/office/powerpoint/2010/main" val="36041494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Intellectual Property</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br>
              <a:rPr lang="en-US" sz="1200" b="0" i="0" dirty="0">
                <a:solidFill>
                  <a:srgbClr val="374151"/>
                </a:solidFill>
                <a:effectLst/>
                <a:latin typeface="Söhne"/>
              </a:rPr>
            </a:br>
            <a:r>
              <a:rPr lang="en-US" sz="1200" b="0" i="0" dirty="0">
                <a:solidFill>
                  <a:srgbClr val="374151"/>
                </a:solidFill>
                <a:effectLst/>
                <a:latin typeface="Söhne"/>
              </a:rPr>
              <a:t>A slide for Intellectual Property Updates should include the following information:</a:t>
            </a:r>
          </a:p>
          <a:p>
            <a:pPr marL="228600" indent="-228600" algn="l">
              <a:buFont typeface="+mj-lt"/>
              <a:buAutoNum type="arabicPeriod"/>
            </a:pPr>
            <a:r>
              <a:rPr lang="en-US" sz="1200" b="0" i="0" dirty="0">
                <a:solidFill>
                  <a:srgbClr val="374151"/>
                </a:solidFill>
                <a:effectLst/>
                <a:latin typeface="Söhne"/>
              </a:rPr>
              <a:t>Overview of the company's intellectual property portfolio, including the number of patents, trademarks, and copyrights owned by the company.</a:t>
            </a:r>
          </a:p>
          <a:p>
            <a:pPr marL="228600" indent="-228600" algn="l">
              <a:buFont typeface="+mj-lt"/>
              <a:buAutoNum type="arabicPeriod"/>
            </a:pPr>
            <a:r>
              <a:rPr lang="en-US" sz="1200" b="0" i="0" dirty="0">
                <a:solidFill>
                  <a:srgbClr val="374151"/>
                </a:solidFill>
                <a:effectLst/>
                <a:latin typeface="Söhne"/>
              </a:rPr>
              <a:t>Details of any new patents, trademarks, or copyrights filed during the quarter, including the type of intellectual property, the purpose, and any progress made.</a:t>
            </a:r>
          </a:p>
          <a:p>
            <a:pPr marL="228600" indent="-228600" algn="l">
              <a:buFont typeface="+mj-lt"/>
              <a:buAutoNum type="arabicPeriod"/>
            </a:pPr>
            <a:r>
              <a:rPr lang="en-US" sz="1200" b="0" i="0" dirty="0">
                <a:solidFill>
                  <a:srgbClr val="374151"/>
                </a:solidFill>
                <a:effectLst/>
                <a:latin typeface="Söhne"/>
              </a:rPr>
              <a:t>Updates on the status of pending intellectual property applications, including any rejections or objections received from the relevant authorities.</a:t>
            </a:r>
          </a:p>
          <a:p>
            <a:pPr marL="228600" indent="-228600" algn="l">
              <a:buFont typeface="+mj-lt"/>
              <a:buAutoNum type="arabicPeriod"/>
            </a:pPr>
            <a:r>
              <a:rPr lang="en-US" sz="1200" b="0" i="0" dirty="0">
                <a:solidFill>
                  <a:srgbClr val="374151"/>
                </a:solidFill>
                <a:effectLst/>
                <a:latin typeface="Söhne"/>
              </a:rPr>
              <a:t>Information on any licensing agreements or infringement lawsuits related to the company's intellectual property.</a:t>
            </a:r>
          </a:p>
          <a:p>
            <a:pPr marL="228600" indent="-228600" algn="l">
              <a:buFont typeface="+mj-lt"/>
              <a:buAutoNum type="arabicPeriod"/>
            </a:pPr>
            <a:r>
              <a:rPr lang="en-US" sz="1200" b="0" i="0" dirty="0">
                <a:solidFill>
                  <a:srgbClr val="374151"/>
                </a:solidFill>
                <a:effectLst/>
                <a:latin typeface="Söhne"/>
              </a:rPr>
              <a:t>Analysis of the competitive landscape with respect to the company's intellectual property, including any new entrants, potential threats, and opportunities for expansion.</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5786179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Risk Management</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introduction to the importance of risk management in business and why it's being discussed in the board report.</a:t>
            </a:r>
          </a:p>
          <a:p>
            <a:pPr marL="228600" indent="-228600" algn="l">
              <a:buFont typeface="+mj-lt"/>
              <a:buAutoNum type="arabicPeriod"/>
            </a:pPr>
            <a:r>
              <a:rPr lang="en-US" sz="1200" i="0" dirty="0">
                <a:solidFill>
                  <a:srgbClr val="374151"/>
                </a:solidFill>
                <a:effectLst/>
                <a:latin typeface="Söhne"/>
              </a:rPr>
              <a:t>Risk management initiatives</a:t>
            </a:r>
            <a:r>
              <a:rPr lang="en-US" sz="1200" b="0" i="0" dirty="0">
                <a:solidFill>
                  <a:srgbClr val="374151"/>
                </a:solidFill>
                <a:effectLst/>
                <a:latin typeface="Söhne"/>
              </a:rPr>
              <a:t>: An overview of the risk management initiatives undertaken during the quarter. This could include:</a:t>
            </a:r>
          </a:p>
          <a:p>
            <a:pPr marL="685800" lvl="1" indent="-228600"/>
            <a:r>
              <a:rPr lang="en-US" sz="1200" b="0" i="0" dirty="0">
                <a:solidFill>
                  <a:srgbClr val="374151"/>
                </a:solidFill>
                <a:effectLst/>
                <a:latin typeface="Söhne"/>
              </a:rPr>
              <a:t>Identification of potential risks</a:t>
            </a:r>
          </a:p>
          <a:p>
            <a:pPr marL="685800" lvl="1" indent="-228600"/>
            <a:r>
              <a:rPr lang="en-US" sz="1200" b="0" i="0" dirty="0">
                <a:solidFill>
                  <a:srgbClr val="374151"/>
                </a:solidFill>
                <a:effectLst/>
                <a:latin typeface="Söhne"/>
              </a:rPr>
              <a:t>Assessment of the likelihood and impact of each risk</a:t>
            </a:r>
          </a:p>
          <a:p>
            <a:pPr marL="685800" lvl="1" indent="-228600"/>
            <a:r>
              <a:rPr lang="en-US" sz="1200" b="0" i="0" dirty="0">
                <a:solidFill>
                  <a:srgbClr val="374151"/>
                </a:solidFill>
                <a:effectLst/>
                <a:latin typeface="Söhne"/>
              </a:rPr>
              <a:t>Implementation of risk mitigation strategies</a:t>
            </a:r>
          </a:p>
          <a:p>
            <a:pPr marL="685800" lvl="1" indent="-228600"/>
            <a:r>
              <a:rPr lang="en-US" sz="1200" b="0" i="0" dirty="0">
                <a:solidFill>
                  <a:srgbClr val="374151"/>
                </a:solidFill>
                <a:effectLst/>
                <a:latin typeface="Söhne"/>
              </a:rPr>
              <a:t>Regular monitoring and review of risks</a:t>
            </a:r>
          </a:p>
          <a:p>
            <a:pPr marL="228600" indent="-228600" algn="l">
              <a:buFont typeface="+mj-lt"/>
              <a:buAutoNum type="arabicPeriod"/>
            </a:pPr>
            <a:r>
              <a:rPr lang="en-US" sz="1200" i="0" dirty="0">
                <a:solidFill>
                  <a:srgbClr val="374151"/>
                </a:solidFill>
                <a:effectLst/>
                <a:latin typeface="Söhne"/>
              </a:rPr>
              <a:t>Identified risks</a:t>
            </a:r>
            <a:r>
              <a:rPr lang="en-US" sz="1200" b="0" i="0" dirty="0">
                <a:solidFill>
                  <a:srgbClr val="374151"/>
                </a:solidFill>
                <a:effectLst/>
                <a:latin typeface="Söhne"/>
              </a:rPr>
              <a:t>: A summary of any identified risks during the quarter, including their likelihood and potential impact. This could be presented in a table or chart format.</a:t>
            </a:r>
          </a:p>
          <a:p>
            <a:pPr marL="228600" indent="-228600" algn="l">
              <a:buFont typeface="+mj-lt"/>
              <a:buAutoNum type="arabicPeriod"/>
            </a:pPr>
            <a:r>
              <a:rPr lang="en-US" sz="1200" i="0" dirty="0">
                <a:solidFill>
                  <a:srgbClr val="374151"/>
                </a:solidFill>
                <a:effectLst/>
                <a:latin typeface="Söhne"/>
              </a:rPr>
              <a:t>Risk mitigation strategies</a:t>
            </a:r>
            <a:r>
              <a:rPr lang="en-US" sz="1200" b="0" i="0" dirty="0">
                <a:solidFill>
                  <a:srgbClr val="374151"/>
                </a:solidFill>
                <a:effectLst/>
                <a:latin typeface="Söhne"/>
              </a:rPr>
              <a:t>: A summary of the strategies put in place to mitigate identified risks, including their effectiveness.</a:t>
            </a:r>
          </a:p>
          <a:p>
            <a:pPr marL="228600" indent="-228600" algn="l">
              <a:buFont typeface="+mj-lt"/>
              <a:buAutoNum type="arabicPeriod"/>
            </a:pPr>
            <a:r>
              <a:rPr lang="en-US" sz="1200" i="0" dirty="0">
                <a:solidFill>
                  <a:srgbClr val="374151"/>
                </a:solidFill>
                <a:effectLst/>
                <a:latin typeface="Söhne"/>
              </a:rPr>
              <a:t>Emerging risks</a:t>
            </a:r>
            <a:r>
              <a:rPr lang="en-US" sz="1200" b="0" i="0" dirty="0">
                <a:solidFill>
                  <a:srgbClr val="374151"/>
                </a:solidFill>
                <a:effectLst/>
                <a:latin typeface="Söhne"/>
              </a:rPr>
              <a:t>: A discussion of any emerging risks that may affect the company in the future, along with any plans to mitigate those risks.</a:t>
            </a:r>
          </a:p>
          <a:p>
            <a:pPr marL="228600" indent="-228600" algn="l">
              <a:buFont typeface="+mj-lt"/>
              <a:buAutoNum type="arabicPeriod"/>
            </a:pPr>
            <a:r>
              <a:rPr lang="en-US" sz="1200" i="0" dirty="0">
                <a:solidFill>
                  <a:srgbClr val="374151"/>
                </a:solidFill>
                <a:effectLst/>
                <a:latin typeface="Söhne"/>
              </a:rPr>
              <a:t>Conclusion</a:t>
            </a:r>
            <a:r>
              <a:rPr lang="en-US" sz="1200" b="0" i="0" dirty="0">
                <a:solidFill>
                  <a:srgbClr val="374151"/>
                </a:solidFill>
                <a:effectLst/>
                <a:latin typeface="Söhne"/>
              </a:rPr>
              <a:t>: A brief conclusion summarizing the company's overall risk management efforts and any action items for the board to consider.</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2719295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Legal and Regulatory</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b="0" i="0" dirty="0">
                <a:solidFill>
                  <a:srgbClr val="374151"/>
                </a:solidFill>
                <a:effectLst/>
                <a:latin typeface="Söhne"/>
              </a:rPr>
              <a:t>Overview of any legal or regulatory changes affecting the company during the quarter, including the nature of the changes and their impact on the company.</a:t>
            </a:r>
          </a:p>
          <a:p>
            <a:pPr marL="228600" indent="-228600" algn="l">
              <a:buFont typeface="+mj-lt"/>
              <a:buAutoNum type="arabicPeriod"/>
            </a:pPr>
            <a:r>
              <a:rPr lang="en-US" sz="1200" b="0" i="0" dirty="0">
                <a:solidFill>
                  <a:srgbClr val="374151"/>
                </a:solidFill>
                <a:effectLst/>
                <a:latin typeface="Söhne"/>
              </a:rPr>
              <a:t>Details on any litigation the company has been involved in, including the status of the cases and any potential impact on the company.</a:t>
            </a:r>
          </a:p>
          <a:p>
            <a:pPr marL="228600" indent="-228600" algn="l">
              <a:buFont typeface="+mj-lt"/>
              <a:buAutoNum type="arabicPeriod"/>
            </a:pPr>
            <a:r>
              <a:rPr lang="en-US" sz="1200" b="0" i="0" dirty="0">
                <a:solidFill>
                  <a:srgbClr val="374151"/>
                </a:solidFill>
                <a:effectLst/>
                <a:latin typeface="Söhne"/>
              </a:rPr>
              <a:t>Discussion of any new regulations that may impact the company, including an analysis of potential risks and opportunities.</a:t>
            </a:r>
          </a:p>
          <a:p>
            <a:pPr marL="228600" indent="-228600" algn="l">
              <a:buFont typeface="+mj-lt"/>
              <a:buAutoNum type="arabicPeriod"/>
            </a:pPr>
            <a:r>
              <a:rPr lang="en-US" sz="1200" b="0" i="0" dirty="0">
                <a:solidFill>
                  <a:srgbClr val="374151"/>
                </a:solidFill>
                <a:effectLst/>
                <a:latin typeface="Söhne"/>
              </a:rPr>
              <a:t>Updates on any compliance issues or regulatory inquiries the company may be facing, along with details on any actions being taken to address these issues.</a:t>
            </a:r>
          </a:p>
          <a:p>
            <a:pPr marL="228600" indent="-228600" algn="l">
              <a:buFont typeface="+mj-lt"/>
              <a:buAutoNum type="arabicPeriod"/>
            </a:pPr>
            <a:r>
              <a:rPr lang="en-US" sz="1200" b="0" i="0" dirty="0">
                <a:solidFill>
                  <a:srgbClr val="374151"/>
                </a:solidFill>
                <a:effectLst/>
                <a:latin typeface="Söhne"/>
              </a:rPr>
              <a:t>Analysis of any other legal or regulatory developments that may impact the company, including changes in government policies or regulations in the industry.</a:t>
            </a:r>
          </a:p>
          <a:p>
            <a:pPr marL="228600" indent="-228600" algn="l">
              <a:buFont typeface="+mj-lt"/>
              <a:buAutoNum type="arabicPeriod"/>
            </a:pPr>
            <a:r>
              <a:rPr lang="en-US" sz="1200" b="0" i="0" dirty="0">
                <a:solidFill>
                  <a:srgbClr val="374151"/>
                </a:solidFill>
                <a:effectLst/>
                <a:latin typeface="Söhne"/>
              </a:rPr>
              <a:t>Visual aids such as charts and graphs to help illustrate the key points and trends.</a:t>
            </a:r>
          </a:p>
        </p:txBody>
      </p:sp>
    </p:spTree>
    <p:extLst>
      <p:ext uri="{BB962C8B-B14F-4D97-AF65-F5344CB8AC3E}">
        <p14:creationId xmlns:p14="http://schemas.microsoft.com/office/powerpoint/2010/main" val="38723547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Litigation</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Summary of ongoing litigation</a:t>
            </a:r>
            <a:r>
              <a:rPr lang="en-US" sz="1200" b="0" i="0" dirty="0">
                <a:solidFill>
                  <a:srgbClr val="374151"/>
                </a:solidFill>
                <a:effectLst/>
                <a:latin typeface="Söhne"/>
              </a:rPr>
              <a:t>: A summary of any ongoing litigation affecting the company, including the nature of the claims, the parties involved, and the status of the litigation.</a:t>
            </a:r>
          </a:p>
          <a:p>
            <a:pPr marL="228600" indent="-228600" algn="l">
              <a:buFont typeface="+mj-lt"/>
              <a:buAutoNum type="arabicPeriod"/>
            </a:pPr>
            <a:r>
              <a:rPr lang="en-US" sz="1200" i="0" dirty="0">
                <a:solidFill>
                  <a:srgbClr val="374151"/>
                </a:solidFill>
                <a:effectLst/>
                <a:latin typeface="Söhne"/>
              </a:rPr>
              <a:t>Summary of new litigation</a:t>
            </a:r>
            <a:r>
              <a:rPr lang="en-US" sz="1200" b="0" i="0" dirty="0">
                <a:solidFill>
                  <a:srgbClr val="374151"/>
                </a:solidFill>
                <a:effectLst/>
                <a:latin typeface="Söhne"/>
              </a:rPr>
              <a:t>: A summary of any new litigation affecting the company, including the nature of the claims, the parties involved, and the status of the litigation.</a:t>
            </a:r>
          </a:p>
          <a:p>
            <a:pPr marL="228600" indent="-228600" algn="l">
              <a:buFont typeface="+mj-lt"/>
              <a:buAutoNum type="arabicPeriod"/>
            </a:pPr>
            <a:r>
              <a:rPr lang="en-US" sz="1200" i="0" dirty="0">
                <a:solidFill>
                  <a:srgbClr val="374151"/>
                </a:solidFill>
                <a:effectLst/>
                <a:latin typeface="Söhne"/>
              </a:rPr>
              <a:t>Financial impact</a:t>
            </a:r>
            <a:r>
              <a:rPr lang="en-US" sz="1200" b="0" i="0" dirty="0">
                <a:solidFill>
                  <a:srgbClr val="374151"/>
                </a:solidFill>
                <a:effectLst/>
                <a:latin typeface="Söhne"/>
              </a:rPr>
              <a:t>: An assessment of the potential financial impact of the litigation on the company, including any provisions or accruals made in the financial statements.</a:t>
            </a:r>
          </a:p>
          <a:p>
            <a:pPr marL="228600" indent="-228600" algn="l">
              <a:buFont typeface="+mj-lt"/>
              <a:buAutoNum type="arabicPeriod"/>
            </a:pPr>
            <a:r>
              <a:rPr lang="en-US" sz="1200" i="0" dirty="0">
                <a:solidFill>
                  <a:srgbClr val="374151"/>
                </a:solidFill>
                <a:effectLst/>
                <a:latin typeface="Söhne"/>
              </a:rPr>
              <a:t>Mitigation strategies</a:t>
            </a:r>
            <a:r>
              <a:rPr lang="en-US" sz="1200" b="0" i="0" dirty="0">
                <a:solidFill>
                  <a:srgbClr val="374151"/>
                </a:solidFill>
                <a:effectLst/>
                <a:latin typeface="Söhne"/>
              </a:rPr>
              <a:t>: An overview of any strategies or actions being taken to mitigate the risks associated with the litigation, including any settlement discussions, insurance coverage, or other legal remedies.</a:t>
            </a:r>
          </a:p>
          <a:p>
            <a:pPr marL="228600" indent="-228600" algn="l">
              <a:buFont typeface="+mj-lt"/>
              <a:buAutoNum type="arabicPeriod"/>
            </a:pPr>
            <a:r>
              <a:rPr lang="en-US" sz="1200" i="0" dirty="0">
                <a:solidFill>
                  <a:srgbClr val="374151"/>
                </a:solidFill>
                <a:effectLst/>
                <a:latin typeface="Söhne"/>
              </a:rPr>
              <a:t>Next steps</a:t>
            </a:r>
            <a:r>
              <a:rPr lang="en-US" sz="1200" b="0" i="0" dirty="0">
                <a:solidFill>
                  <a:srgbClr val="374151"/>
                </a:solidFill>
                <a:effectLst/>
                <a:latin typeface="Söhne"/>
              </a:rPr>
              <a:t>: A summary of the next steps in the litigation process, including any upcoming court dates, settlement conferences, or other key milestones.</a:t>
            </a:r>
          </a:p>
        </p:txBody>
      </p:sp>
    </p:spTree>
    <p:extLst>
      <p:ext uri="{BB962C8B-B14F-4D97-AF65-F5344CB8AC3E}">
        <p14:creationId xmlns:p14="http://schemas.microsoft.com/office/powerpoint/2010/main" val="34410463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Investor Relations</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i="0" dirty="0">
                <a:solidFill>
                  <a:srgbClr val="374151"/>
                </a:solidFill>
                <a:effectLst/>
                <a:latin typeface="Söhne"/>
              </a:rPr>
              <a:t>Introduction</a:t>
            </a:r>
            <a:r>
              <a:rPr lang="en-US" sz="1200" b="0" i="0" dirty="0">
                <a:solidFill>
                  <a:srgbClr val="374151"/>
                </a:solidFill>
                <a:effectLst/>
                <a:latin typeface="Söhne"/>
              </a:rPr>
              <a:t>: A brief overview of the company's investor relations strategy for the quarter.</a:t>
            </a:r>
          </a:p>
          <a:p>
            <a:pPr marL="228600" indent="-228600" algn="l">
              <a:buFont typeface="+mj-lt"/>
              <a:buAutoNum type="arabicPeriod"/>
            </a:pPr>
            <a:r>
              <a:rPr lang="en-US" sz="1200" i="0" dirty="0">
                <a:solidFill>
                  <a:srgbClr val="374151"/>
                </a:solidFill>
                <a:effectLst/>
                <a:latin typeface="Söhne"/>
              </a:rPr>
              <a:t>Key Performance Indicators</a:t>
            </a:r>
            <a:r>
              <a:rPr lang="en-US" sz="1200" b="0" i="0" dirty="0">
                <a:solidFill>
                  <a:srgbClr val="374151"/>
                </a:solidFill>
                <a:effectLst/>
                <a:latin typeface="Söhne"/>
              </a:rPr>
              <a:t>: A section that includes key performance indicators (KPIs) for the quarter, such as the number of investor meetings held, the number of new institutional investors, and the percentage of shares owned by insiders.</a:t>
            </a:r>
          </a:p>
          <a:p>
            <a:pPr marL="228600" indent="-228600" algn="l">
              <a:buFont typeface="+mj-lt"/>
              <a:buAutoNum type="arabicPeriod"/>
            </a:pPr>
            <a:r>
              <a:rPr lang="en-US" sz="1200" i="0" dirty="0">
                <a:solidFill>
                  <a:srgbClr val="374151"/>
                </a:solidFill>
                <a:effectLst/>
                <a:latin typeface="Söhne"/>
              </a:rPr>
              <a:t>Financial performance</a:t>
            </a:r>
            <a:r>
              <a:rPr lang="en-US" sz="1200" b="0" i="0" dirty="0">
                <a:solidFill>
                  <a:srgbClr val="374151"/>
                </a:solidFill>
                <a:effectLst/>
                <a:latin typeface="Söhne"/>
              </a:rPr>
              <a:t>: A section that includes an analysis of the company's financial performance during the quarter, including revenue, net income, and earnings per share. This section should also highlight any significant financial events, such as a new funding round or a major acquisition.</a:t>
            </a:r>
          </a:p>
          <a:p>
            <a:pPr marL="228600" indent="-228600" algn="l">
              <a:buFont typeface="+mj-lt"/>
              <a:buAutoNum type="arabicPeriod"/>
            </a:pPr>
            <a:r>
              <a:rPr lang="en-US" sz="1200" i="0" dirty="0">
                <a:solidFill>
                  <a:srgbClr val="374151"/>
                </a:solidFill>
                <a:effectLst/>
                <a:latin typeface="Söhne"/>
              </a:rPr>
              <a:t>Capital expenditures</a:t>
            </a:r>
            <a:r>
              <a:rPr lang="en-US" sz="1200" b="0" i="0" dirty="0">
                <a:solidFill>
                  <a:srgbClr val="374151"/>
                </a:solidFill>
                <a:effectLst/>
                <a:latin typeface="Söhne"/>
              </a:rPr>
              <a:t>: A section that details the company's capital expenditures for the quarter, including any major investments in new equipment, facilities, or technology.</a:t>
            </a:r>
          </a:p>
          <a:p>
            <a:pPr marL="228600" indent="-228600" algn="l">
              <a:buFont typeface="+mj-lt"/>
              <a:buAutoNum type="arabicPeriod"/>
            </a:pPr>
            <a:r>
              <a:rPr lang="en-US" sz="1200" i="0" dirty="0">
                <a:solidFill>
                  <a:srgbClr val="374151"/>
                </a:solidFill>
                <a:effectLst/>
                <a:latin typeface="Söhne"/>
              </a:rPr>
              <a:t>Investor communications</a:t>
            </a:r>
            <a:r>
              <a:rPr lang="en-US" sz="1200" b="0" i="0" dirty="0">
                <a:solidFill>
                  <a:srgbClr val="374151"/>
                </a:solidFill>
                <a:effectLst/>
                <a:latin typeface="Söhne"/>
              </a:rPr>
              <a:t>: A section that summarizes the company's communications with investors during the quarter, including any press releases, investor calls, or investor presentations.</a:t>
            </a:r>
          </a:p>
          <a:p>
            <a:pPr marL="228600" indent="-228600" algn="l">
              <a:buFont typeface="+mj-lt"/>
              <a:buAutoNum type="arabicPeriod"/>
            </a:pPr>
            <a:r>
              <a:rPr lang="en-US" sz="1200" i="0" dirty="0">
                <a:solidFill>
                  <a:srgbClr val="374151"/>
                </a:solidFill>
                <a:effectLst/>
                <a:latin typeface="Söhne"/>
              </a:rPr>
              <a:t>Outlook</a:t>
            </a:r>
            <a:r>
              <a:rPr lang="en-US" sz="1200" b="0" i="0" dirty="0">
                <a:solidFill>
                  <a:srgbClr val="374151"/>
                </a:solidFill>
                <a:effectLst/>
                <a:latin typeface="Söhne"/>
              </a:rPr>
              <a:t>: A final section that provides a brief outlook on the company's investor relations strategy for the next quarter and beyond. This section should include any upcoming investor events or significant financial milestones.</a:t>
            </a:r>
          </a:p>
        </p:txBody>
      </p:sp>
    </p:spTree>
    <p:extLst>
      <p:ext uri="{BB962C8B-B14F-4D97-AF65-F5344CB8AC3E}">
        <p14:creationId xmlns:p14="http://schemas.microsoft.com/office/powerpoint/2010/main" val="100119224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Community Engagement</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dirty="0">
                <a:solidFill>
                  <a:srgbClr val="374151"/>
                </a:solidFill>
                <a:latin typeface="Söhne"/>
              </a:rPr>
              <a:t>Introduction</a:t>
            </a:r>
            <a:r>
              <a:rPr lang="en-US" sz="1200" b="0" dirty="0">
                <a:solidFill>
                  <a:srgbClr val="374151"/>
                </a:solidFill>
                <a:latin typeface="Söhne"/>
              </a:rPr>
              <a:t>: Provide a brief introduction to the importance of community engagement in the company's overall strategy and corporate social responsibility initiatives. Explain how community engagement contributes to building positive relationships, enhancing brand reputation, and creating long-term value for the company.</a:t>
            </a:r>
          </a:p>
          <a:p>
            <a:pPr marL="228600" indent="-228600" algn="l">
              <a:buFont typeface="+mj-lt"/>
              <a:buAutoNum type="arabicPeriod"/>
            </a:pPr>
            <a:r>
              <a:rPr lang="en-US" sz="1200" dirty="0">
                <a:solidFill>
                  <a:srgbClr val="374151"/>
                </a:solidFill>
                <a:latin typeface="Söhne"/>
              </a:rPr>
              <a:t>Community Partnerships</a:t>
            </a:r>
            <a:r>
              <a:rPr lang="en-US" sz="1200" b="0" dirty="0">
                <a:solidFill>
                  <a:srgbClr val="374151"/>
                </a:solidFill>
                <a:latin typeface="Söhne"/>
              </a:rPr>
              <a:t>: Highlight key partnerships and collaborations with community organizations, nonprofits, or local institutions. Include the names of partner organizations, the nature of the partnership, and the objectives achieved through these collaborations. </a:t>
            </a:r>
          </a:p>
          <a:p>
            <a:pPr marL="228600" indent="-228600" algn="l">
              <a:buFont typeface="+mj-lt"/>
              <a:buAutoNum type="arabicPeriod"/>
            </a:pPr>
            <a:r>
              <a:rPr lang="en-US" sz="1200" dirty="0">
                <a:solidFill>
                  <a:srgbClr val="374151"/>
                </a:solidFill>
                <a:latin typeface="Söhne"/>
              </a:rPr>
              <a:t>Corporate Philanthropy</a:t>
            </a:r>
            <a:r>
              <a:rPr lang="en-US" sz="1200" b="0" dirty="0">
                <a:solidFill>
                  <a:srgbClr val="374151"/>
                </a:solidFill>
                <a:latin typeface="Söhne"/>
              </a:rPr>
              <a:t>: Outline the company's philanthropic efforts and contributions to the community. Mention significant donations, grants, or sponsorships provided by the company to support local causes, education, healthcare, arts, or other areas of importance. Highlight the impact and outcomes achieved through these philanthropic initiatives.</a:t>
            </a:r>
          </a:p>
          <a:p>
            <a:pPr marL="228600" indent="-228600" algn="l">
              <a:buFont typeface="+mj-lt"/>
              <a:buAutoNum type="arabicPeriod"/>
            </a:pPr>
            <a:r>
              <a:rPr lang="en-US" sz="1200" dirty="0">
                <a:solidFill>
                  <a:srgbClr val="374151"/>
                </a:solidFill>
                <a:latin typeface="Söhne"/>
              </a:rPr>
              <a:t>Employee Volunteerism</a:t>
            </a:r>
            <a:r>
              <a:rPr lang="en-US" sz="1200" b="0" dirty="0">
                <a:solidFill>
                  <a:srgbClr val="374151"/>
                </a:solidFill>
                <a:latin typeface="Söhne"/>
              </a:rPr>
              <a:t>: Showcase the company's employee volunteer programs and initiatives. Highlight the number of employees engaged in volunteering activities, the total volunteer hours contributed, and the variety of community projects supported.</a:t>
            </a:r>
          </a:p>
          <a:p>
            <a:pPr marL="228600" indent="-228600" algn="l">
              <a:buFont typeface="+mj-lt"/>
              <a:buAutoNum type="arabicPeriod"/>
            </a:pPr>
            <a:r>
              <a:rPr lang="en-US" sz="1200" dirty="0">
                <a:solidFill>
                  <a:srgbClr val="374151"/>
                </a:solidFill>
                <a:latin typeface="Söhne"/>
              </a:rPr>
              <a:t>Community Development Projects</a:t>
            </a:r>
            <a:r>
              <a:rPr lang="en-US" sz="1200" b="0" dirty="0">
                <a:solidFill>
                  <a:srgbClr val="374151"/>
                </a:solidFill>
                <a:latin typeface="Söhne"/>
              </a:rPr>
              <a:t>: Highlight any community development projects initiated or supported by the company. Include details about infrastructure improvements, educational programs, environmental sustainability initiatives, or other projects that have positively impacted the local community. Mention key metrics or outcomes to demonstrate the effectiveness and success of these projects.</a:t>
            </a:r>
          </a:p>
          <a:p>
            <a:pPr marL="228600" indent="-228600" algn="l">
              <a:buFont typeface="+mj-lt"/>
              <a:buAutoNum type="arabicPeriod"/>
            </a:pPr>
            <a:r>
              <a:rPr lang="en-US" sz="1200" dirty="0">
                <a:solidFill>
                  <a:srgbClr val="374151"/>
                </a:solidFill>
                <a:latin typeface="Söhne"/>
              </a:rPr>
              <a:t>Community Engagement Events</a:t>
            </a:r>
            <a:r>
              <a:rPr lang="en-US" sz="1200" b="0" dirty="0">
                <a:solidFill>
                  <a:srgbClr val="374151"/>
                </a:solidFill>
                <a:latin typeface="Söhne"/>
              </a:rPr>
              <a:t>: List and describe significant events organized by the company to engage with the community. Include details about community fairs, workshops, awareness campaigns, or other events aimed at fostering positive community relationships.</a:t>
            </a:r>
          </a:p>
          <a:p>
            <a:pPr marL="228600" indent="-228600" algn="l">
              <a:buFont typeface="+mj-lt"/>
              <a:buAutoNum type="arabicPeriod"/>
            </a:pPr>
            <a:r>
              <a:rPr lang="en-US" sz="1200" dirty="0">
                <a:solidFill>
                  <a:srgbClr val="374151"/>
                </a:solidFill>
                <a:latin typeface="Söhne"/>
              </a:rPr>
              <a:t>Stakeholder Engagement</a:t>
            </a:r>
            <a:r>
              <a:rPr lang="en-US" sz="1200" b="0" dirty="0">
                <a:solidFill>
                  <a:srgbClr val="374151"/>
                </a:solidFill>
                <a:latin typeface="Söhne"/>
              </a:rPr>
              <a:t>: Describe the company's efforts to engage with various stakeholders in the community. Highlight activities such as town hall meetings, stakeholder consultations, or partnerships with local government bodies. Mention specific examples of how the company has incorporated stakeholder feedback or addressed concerns.</a:t>
            </a:r>
          </a:p>
          <a:p>
            <a:pPr marL="228600" indent="-228600" algn="l">
              <a:buFont typeface="+mj-lt"/>
              <a:buAutoNum type="arabicPeriod"/>
            </a:pPr>
            <a:r>
              <a:rPr lang="en-US" sz="1200" dirty="0">
                <a:solidFill>
                  <a:srgbClr val="374151"/>
                </a:solidFill>
                <a:latin typeface="Söhne"/>
              </a:rPr>
              <a:t>Metrics and Impact</a:t>
            </a:r>
            <a:r>
              <a:rPr lang="en-US" sz="1200" b="0" dirty="0">
                <a:solidFill>
                  <a:srgbClr val="374151"/>
                </a:solidFill>
                <a:latin typeface="Söhne"/>
              </a:rPr>
              <a:t>: Provide relevant metrics and data to demonstrate the impact of the company's community engagement efforts. Include quantitative measures such as the number of beneficiaries, volunteer hours, funds allocated, or social impact indicators. Incorporate qualitative measures, such as testimonials or success stories.</a:t>
            </a:r>
          </a:p>
          <a:p>
            <a:pPr marL="228600" indent="-228600" algn="l">
              <a:buFont typeface="+mj-lt"/>
              <a:buAutoNum type="arabicPeriod"/>
            </a:pPr>
            <a:r>
              <a:rPr lang="en-US" sz="1200" dirty="0">
                <a:solidFill>
                  <a:srgbClr val="374151"/>
                </a:solidFill>
                <a:latin typeface="Söhne"/>
              </a:rPr>
              <a:t>Conclusion</a:t>
            </a:r>
            <a:r>
              <a:rPr lang="en-US" sz="1200" b="0" dirty="0">
                <a:solidFill>
                  <a:srgbClr val="374151"/>
                </a:solidFill>
                <a:latin typeface="Söhne"/>
              </a:rPr>
              <a:t>: Summarize the key points mentioned in the slide. Reiterate the company's commitment to community engagement and the importance of building sustainable and mutually beneficial relationships with the community.</a:t>
            </a:r>
            <a:endParaRPr lang="en-US" sz="1200" b="0" i="0" dirty="0">
              <a:solidFill>
                <a:srgbClr val="374151"/>
              </a:solidFill>
              <a:effectLst/>
              <a:latin typeface="Söhne"/>
            </a:endParaRPr>
          </a:p>
        </p:txBody>
      </p:sp>
    </p:spTree>
    <p:extLst>
      <p:ext uri="{BB962C8B-B14F-4D97-AF65-F5344CB8AC3E}">
        <p14:creationId xmlns:p14="http://schemas.microsoft.com/office/powerpoint/2010/main" val="40146350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Environmental, Social, and Governance (ESG) </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1164487"/>
            <a:ext cx="11449050" cy="4787900"/>
          </a:xfrm>
        </p:spPr>
        <p:txBody>
          <a:bodyPr/>
          <a:lstStyle/>
          <a:p>
            <a:pPr marL="228600" indent="-228600" algn="l">
              <a:buFont typeface="+mj-lt"/>
              <a:buAutoNum type="arabicPeriod"/>
            </a:pPr>
            <a:r>
              <a:rPr lang="en-US" sz="1200" i="0" dirty="0">
                <a:solidFill>
                  <a:srgbClr val="374151"/>
                </a:solidFill>
                <a:effectLst/>
                <a:latin typeface="Söhne"/>
              </a:rPr>
              <a:t>Overview of CSR initiatives</a:t>
            </a:r>
            <a:r>
              <a:rPr lang="en-US" sz="1200" b="0" i="0" dirty="0">
                <a:solidFill>
                  <a:srgbClr val="374151"/>
                </a:solidFill>
                <a:effectLst/>
                <a:latin typeface="Söhne"/>
              </a:rPr>
              <a:t>: A brief overview of the company's ESG goals and CSR initiatives during the quarter and how they align with the overall strategy.</a:t>
            </a:r>
          </a:p>
          <a:p>
            <a:pPr marL="228600" indent="-228600" algn="l">
              <a:buFont typeface="+mj-lt"/>
              <a:buAutoNum type="arabicPeriod"/>
            </a:pPr>
            <a:r>
              <a:rPr lang="en-US" sz="1200" i="0" dirty="0">
                <a:solidFill>
                  <a:srgbClr val="374151"/>
                </a:solidFill>
                <a:effectLst/>
                <a:latin typeface="Söhne"/>
              </a:rPr>
              <a:t>Environmental initiatives</a:t>
            </a:r>
            <a:r>
              <a:rPr lang="en-US" sz="1200" b="0" i="0" dirty="0">
                <a:solidFill>
                  <a:srgbClr val="374151"/>
                </a:solidFill>
                <a:effectLst/>
                <a:latin typeface="Söhne"/>
              </a:rPr>
              <a:t>: An overview of the company's environmental initiatives during the quarter, including progress on reducing carbon footprint, waste reduction, and any other relevant initiatives. This can be presented through charts or graphs showing data on energy consumption, greenhouse gas emissions, or waste reduction.</a:t>
            </a:r>
          </a:p>
          <a:p>
            <a:pPr marL="228600" indent="-228600" algn="l">
              <a:buFont typeface="+mj-lt"/>
              <a:buAutoNum type="arabicPeriod"/>
            </a:pPr>
            <a:r>
              <a:rPr lang="en-US" sz="1200" i="0" dirty="0">
                <a:solidFill>
                  <a:srgbClr val="374151"/>
                </a:solidFill>
                <a:effectLst/>
                <a:latin typeface="Söhne"/>
              </a:rPr>
              <a:t>Social initiatives</a:t>
            </a:r>
            <a:r>
              <a:rPr lang="en-US" sz="1200" b="0" i="0" dirty="0">
                <a:solidFill>
                  <a:srgbClr val="374151"/>
                </a:solidFill>
                <a:effectLst/>
                <a:latin typeface="Söhne"/>
              </a:rPr>
              <a:t>: An overview of the company's social initiatives during the quarter, including progress on diversity and inclusion, community engagement, and employee volunteer programs. This can be presented through charts or graphs showing data on workforce diversity or community engagement metrics.</a:t>
            </a:r>
          </a:p>
          <a:p>
            <a:pPr marL="228600" indent="-228600" algn="l">
              <a:buFont typeface="+mj-lt"/>
              <a:buAutoNum type="arabicPeriod"/>
            </a:pPr>
            <a:r>
              <a:rPr lang="en-US" sz="1200" i="0" dirty="0">
                <a:solidFill>
                  <a:srgbClr val="374151"/>
                </a:solidFill>
                <a:effectLst/>
                <a:latin typeface="Söhne"/>
              </a:rPr>
              <a:t>Governance initiatives</a:t>
            </a:r>
            <a:r>
              <a:rPr lang="en-US" sz="1200" b="0" i="0" dirty="0">
                <a:solidFill>
                  <a:srgbClr val="374151"/>
                </a:solidFill>
                <a:effectLst/>
                <a:latin typeface="Söhne"/>
              </a:rPr>
              <a:t>: An overview of the company's governance initiatives during the quarter, including progress on board diversity, executive compensation, and compliance with relevant regulations. This can be presented through charts or graphs showing data on governance metrics.</a:t>
            </a:r>
          </a:p>
          <a:p>
            <a:pPr marL="228600" indent="-228600" algn="l">
              <a:buFont typeface="+mj-lt"/>
              <a:buAutoNum type="arabicPeriod"/>
            </a:pPr>
            <a:r>
              <a:rPr lang="en-US" sz="1200" i="0" dirty="0">
                <a:solidFill>
                  <a:srgbClr val="374151"/>
                </a:solidFill>
                <a:effectLst/>
                <a:latin typeface="Söhne"/>
              </a:rPr>
              <a:t>Impact reporting</a:t>
            </a:r>
            <a:r>
              <a:rPr lang="en-US" sz="1200" b="0" i="0" dirty="0">
                <a:solidFill>
                  <a:srgbClr val="374151"/>
                </a:solidFill>
                <a:effectLst/>
                <a:latin typeface="Söhne"/>
              </a:rPr>
              <a:t>: A summary of the company's impact on the environment, society, and governance. This can be presented through a report that includes data on the company's ESG performance and any relevant case studies.</a:t>
            </a:r>
          </a:p>
          <a:p>
            <a:pPr marL="228600" indent="-228600" algn="l">
              <a:buFont typeface="+mj-lt"/>
              <a:buAutoNum type="arabicPeriod"/>
            </a:pPr>
            <a:r>
              <a:rPr lang="en-US" sz="1200" i="0" dirty="0">
                <a:solidFill>
                  <a:srgbClr val="374151"/>
                </a:solidFill>
                <a:effectLst/>
                <a:latin typeface="Söhne"/>
              </a:rPr>
              <a:t>ESG ratings and rankings</a:t>
            </a:r>
            <a:r>
              <a:rPr lang="en-US" sz="1200" b="0" i="0" dirty="0">
                <a:solidFill>
                  <a:srgbClr val="374151"/>
                </a:solidFill>
                <a:effectLst/>
                <a:latin typeface="Söhne"/>
              </a:rPr>
              <a:t>: Any updates on the company's ESG ratings and rankings, including any new awards or recognition. This can be presented through a chart or graph showing the company's rating compared to peers or industry benchmarks.</a:t>
            </a:r>
          </a:p>
          <a:p>
            <a:pPr marL="228600" indent="-228600" algn="l">
              <a:buFont typeface="+mj-lt"/>
              <a:buAutoNum type="arabicPeriod"/>
            </a:pPr>
            <a:r>
              <a:rPr lang="en-US" sz="1200" i="0" dirty="0">
                <a:solidFill>
                  <a:srgbClr val="374151"/>
                </a:solidFill>
                <a:effectLst/>
                <a:latin typeface="Söhne"/>
              </a:rPr>
              <a:t>Progress update</a:t>
            </a:r>
            <a:r>
              <a:rPr lang="en-US" sz="1200" b="0" i="0" dirty="0">
                <a:solidFill>
                  <a:srgbClr val="374151"/>
                </a:solidFill>
                <a:effectLst/>
                <a:latin typeface="Söhne"/>
              </a:rPr>
              <a:t>: A detailed update on the progress made towards achieving the company's CSR goals, such as reducing carbon emissions, promoting diversity and inclusion, and supporting local communities.</a:t>
            </a:r>
          </a:p>
          <a:p>
            <a:pPr marL="228600" indent="-228600" algn="l">
              <a:buFont typeface="+mj-lt"/>
              <a:buAutoNum type="arabicPeriod"/>
            </a:pPr>
            <a:r>
              <a:rPr lang="en-US" sz="1200" i="0" dirty="0">
                <a:solidFill>
                  <a:srgbClr val="374151"/>
                </a:solidFill>
                <a:effectLst/>
                <a:latin typeface="Söhne"/>
              </a:rPr>
              <a:t>Metrics and KPIs</a:t>
            </a:r>
            <a:r>
              <a:rPr lang="en-US" sz="1200" b="0" i="0" dirty="0">
                <a:solidFill>
                  <a:srgbClr val="374151"/>
                </a:solidFill>
                <a:effectLst/>
                <a:latin typeface="Söhne"/>
              </a:rPr>
              <a:t>: Key performance indicators and metrics that measure the effectiveness of the CSR programs. These may include environmental impact metrics, employee engagement metrics, and community impact metrics.</a:t>
            </a:r>
          </a:p>
          <a:p>
            <a:pPr marL="228600" indent="-228600" algn="l">
              <a:buFont typeface="+mj-lt"/>
              <a:buAutoNum type="arabicPeriod"/>
            </a:pPr>
            <a:r>
              <a:rPr lang="en-US" sz="1200" i="0" dirty="0">
                <a:solidFill>
                  <a:srgbClr val="374151"/>
                </a:solidFill>
                <a:effectLst/>
                <a:latin typeface="Söhne"/>
              </a:rPr>
              <a:t>Case studies</a:t>
            </a:r>
            <a:r>
              <a:rPr lang="en-US" sz="1200" b="0" i="0" dirty="0">
                <a:solidFill>
                  <a:srgbClr val="374151"/>
                </a:solidFill>
                <a:effectLst/>
                <a:latin typeface="Söhne"/>
              </a:rPr>
              <a:t>: Examples of successful CSR initiatives implemented by the company during the quarter, highlighting their impact on the company, employees, and communities.</a:t>
            </a:r>
          </a:p>
          <a:p>
            <a:pPr marL="228600" indent="-228600" algn="l">
              <a:buFont typeface="+mj-lt"/>
              <a:buAutoNum type="arabicPeriod"/>
            </a:pPr>
            <a:r>
              <a:rPr lang="en-US" sz="1200" i="0" dirty="0">
                <a:solidFill>
                  <a:srgbClr val="374151"/>
                </a:solidFill>
                <a:effectLst/>
                <a:latin typeface="Söhne"/>
              </a:rPr>
              <a:t>Future plans</a:t>
            </a:r>
            <a:r>
              <a:rPr lang="en-US" sz="1200" b="0" i="0" dirty="0">
                <a:solidFill>
                  <a:srgbClr val="374151"/>
                </a:solidFill>
                <a:effectLst/>
                <a:latin typeface="Söhne"/>
              </a:rPr>
              <a:t>: An outline of the company's future plans for CSR initiatives, including any new programs or changes to existing programs that are planned for the next quarter or year.</a:t>
            </a:r>
          </a:p>
          <a:p>
            <a:pPr marL="228600" indent="-228600" algn="l">
              <a:buFont typeface="+mj-lt"/>
              <a:buAutoNum type="arabicPeriod"/>
            </a:pPr>
            <a:r>
              <a:rPr lang="en-US" sz="1200" i="0" dirty="0">
                <a:solidFill>
                  <a:srgbClr val="374151"/>
                </a:solidFill>
                <a:effectLst/>
                <a:latin typeface="Söhne"/>
              </a:rPr>
              <a:t>Challenges and risks</a:t>
            </a:r>
            <a:r>
              <a:rPr lang="en-US" sz="1200" b="0" i="0" dirty="0">
                <a:solidFill>
                  <a:srgbClr val="374151"/>
                </a:solidFill>
                <a:effectLst/>
                <a:latin typeface="Söhne"/>
              </a:rPr>
              <a:t>: A discussion of any challenges or risks that the company faced during the quarter in implementing CSR initiatives, and how these were addressed or mitigated.</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33392916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Sustainability</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b="0" i="0" dirty="0">
                <a:solidFill>
                  <a:srgbClr val="374151"/>
                </a:solidFill>
                <a:effectLst/>
                <a:latin typeface="Söhne"/>
              </a:rPr>
              <a:t>Overview of the company's sustainability strategy, including goals and targets related to reducing carbon emissions, waste reduction, sustainable sourcing, and other sustainability initiatives.</a:t>
            </a:r>
          </a:p>
          <a:p>
            <a:pPr marL="228600" indent="-228600" algn="l">
              <a:buFont typeface="+mj-lt"/>
              <a:buAutoNum type="arabicPeriod"/>
            </a:pPr>
            <a:r>
              <a:rPr lang="en-US" sz="1200" b="0" i="0" dirty="0">
                <a:solidFill>
                  <a:srgbClr val="374151"/>
                </a:solidFill>
                <a:effectLst/>
                <a:latin typeface="Söhne"/>
              </a:rPr>
              <a:t>An update on progress toward achieving sustainability goals, including any notable achievements or challenges encountered during the reporting period.</a:t>
            </a:r>
          </a:p>
          <a:p>
            <a:pPr marL="228600" indent="-228600" algn="l">
              <a:buFont typeface="+mj-lt"/>
              <a:buAutoNum type="arabicPeriod"/>
            </a:pPr>
            <a:r>
              <a:rPr lang="en-US" sz="1200" b="0" i="0" dirty="0">
                <a:solidFill>
                  <a:srgbClr val="374151"/>
                </a:solidFill>
                <a:effectLst/>
                <a:latin typeface="Söhne"/>
              </a:rPr>
              <a:t>An overview of any new or ongoing sustainability initiatives, such as the adoption of renewable energy sources or the implementation of sustainable packaging.</a:t>
            </a:r>
          </a:p>
          <a:p>
            <a:pPr marL="228600" indent="-228600" algn="l">
              <a:buFont typeface="+mj-lt"/>
              <a:buAutoNum type="arabicPeriod"/>
            </a:pPr>
            <a:r>
              <a:rPr lang="en-US" sz="1200" b="0" i="0" dirty="0">
                <a:solidFill>
                  <a:srgbClr val="374151"/>
                </a:solidFill>
                <a:effectLst/>
                <a:latin typeface="Söhne"/>
              </a:rPr>
              <a:t>A summary of the company's environmental impact, such as carbon footprint or waste generation, and any changes from previous reporting periods.</a:t>
            </a:r>
          </a:p>
          <a:p>
            <a:pPr marL="228600" indent="-228600" algn="l">
              <a:buFont typeface="+mj-lt"/>
              <a:buAutoNum type="arabicPeriod"/>
            </a:pPr>
            <a:r>
              <a:rPr lang="en-US" sz="1200" b="0" i="0" dirty="0">
                <a:solidFill>
                  <a:srgbClr val="374151"/>
                </a:solidFill>
                <a:effectLst/>
                <a:latin typeface="Söhne"/>
              </a:rPr>
              <a:t>Any social responsibility or governance initiatives that the company has undertaken during the reporting period, such as diversity and inclusion programs, ethical sourcing practices, or board-level governance changes to promote sustainability.</a:t>
            </a:r>
          </a:p>
          <a:p>
            <a:pPr marL="228600" indent="-228600" algn="l">
              <a:buFont typeface="+mj-lt"/>
              <a:buAutoNum type="arabicPeriod"/>
            </a:pPr>
            <a:r>
              <a:rPr lang="en-US" sz="1200" b="0" i="0" dirty="0">
                <a:solidFill>
                  <a:srgbClr val="374151"/>
                </a:solidFill>
                <a:effectLst/>
                <a:latin typeface="Söhne"/>
              </a:rPr>
              <a:t>Examples of stakeholder engagement on sustainability topics, including customer feedback, investor inquiries, or participation in industry-wide sustainability initiatives.</a:t>
            </a:r>
          </a:p>
          <a:p>
            <a:pPr marL="228600" indent="-228600" algn="l">
              <a:buFont typeface="+mj-lt"/>
              <a:buAutoNum type="arabicPeriod"/>
            </a:pPr>
            <a:r>
              <a:rPr lang="en-US" sz="1200" b="0" i="0" dirty="0">
                <a:solidFill>
                  <a:srgbClr val="374151"/>
                </a:solidFill>
                <a:effectLst/>
                <a:latin typeface="Söhne"/>
              </a:rPr>
              <a:t>Key performance indicators (KPIs) related to sustainability, such as energy usage or waste reduction, and progress toward achieving those KPIs.</a:t>
            </a:r>
          </a:p>
          <a:p>
            <a:pPr marL="228600" indent="-228600" algn="l">
              <a:buFont typeface="+mj-lt"/>
              <a:buAutoNum type="arabicPeriod"/>
            </a:pPr>
            <a:r>
              <a:rPr lang="en-US" sz="1200" b="0" i="0" dirty="0">
                <a:solidFill>
                  <a:srgbClr val="374151"/>
                </a:solidFill>
                <a:effectLst/>
                <a:latin typeface="Söhne"/>
              </a:rPr>
              <a:t>A conclusion summarizing the company's overall sustainability performance and future outlook for sustainability initiatives.</a:t>
            </a:r>
          </a:p>
          <a:p>
            <a:pPr algn="l"/>
            <a:endParaRPr lang="en-US" sz="1200" b="0" i="0" dirty="0">
              <a:solidFill>
                <a:srgbClr val="374151"/>
              </a:solidFill>
              <a:effectLst/>
              <a:latin typeface="Söhne"/>
            </a:endParaRPr>
          </a:p>
        </p:txBody>
      </p:sp>
    </p:spTree>
    <p:extLst>
      <p:ext uri="{BB962C8B-B14F-4D97-AF65-F5344CB8AC3E}">
        <p14:creationId xmlns:p14="http://schemas.microsoft.com/office/powerpoint/2010/main" val="25782690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Awards &amp; Recognition</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a:xfrm>
            <a:off x="384174" y="866775"/>
            <a:ext cx="11449050" cy="4787900"/>
          </a:xfrm>
        </p:spPr>
        <p:txBody>
          <a:bodyPr/>
          <a:lstStyle/>
          <a:p>
            <a:pPr marL="228600" indent="-228600" algn="l">
              <a:buFont typeface="+mj-lt"/>
              <a:buAutoNum type="arabicPeriod"/>
            </a:pPr>
            <a:r>
              <a:rPr lang="en-US" sz="1200" dirty="0">
                <a:solidFill>
                  <a:srgbClr val="374151"/>
                </a:solidFill>
                <a:latin typeface="Söhne"/>
              </a:rPr>
              <a:t>Introduction</a:t>
            </a:r>
            <a:r>
              <a:rPr lang="en-US" sz="1200" b="0" dirty="0">
                <a:solidFill>
                  <a:srgbClr val="374151"/>
                </a:solidFill>
                <a:latin typeface="Söhne"/>
              </a:rPr>
              <a:t>: Provide a brief introduction to the significance of awards and recognition in building brand reputation and enhancing stakeholder confidence.</a:t>
            </a:r>
          </a:p>
          <a:p>
            <a:pPr marL="228600" indent="-228600" algn="l">
              <a:buFont typeface="+mj-lt"/>
              <a:buAutoNum type="arabicPeriod"/>
            </a:pPr>
            <a:r>
              <a:rPr lang="en-US" sz="1200" dirty="0">
                <a:solidFill>
                  <a:srgbClr val="374151"/>
                </a:solidFill>
                <a:latin typeface="Söhne"/>
              </a:rPr>
              <a:t>Key Awards and Recognition</a:t>
            </a:r>
            <a:r>
              <a:rPr lang="en-US" sz="1200" b="0" dirty="0">
                <a:solidFill>
                  <a:srgbClr val="374151"/>
                </a:solidFill>
                <a:latin typeface="Söhne"/>
              </a:rPr>
              <a:t>: Display the company's most prestigious awards and recognition prominently. Include the awarding bodies, year of recognition, and a concise description of each accolade. Emphasize awards that are relevant to the industry, demonstrate excellence, or highlight significant achievements.</a:t>
            </a:r>
          </a:p>
          <a:p>
            <a:pPr marL="228600" indent="-228600" algn="l">
              <a:buFont typeface="+mj-lt"/>
              <a:buAutoNum type="arabicPeriod"/>
            </a:pPr>
            <a:r>
              <a:rPr lang="en-US" sz="1200" dirty="0">
                <a:solidFill>
                  <a:srgbClr val="374151"/>
                </a:solidFill>
                <a:latin typeface="Söhne"/>
              </a:rPr>
              <a:t>Industry Awards</a:t>
            </a:r>
            <a:r>
              <a:rPr lang="en-US" sz="1200" b="0" dirty="0">
                <a:solidFill>
                  <a:srgbClr val="374151"/>
                </a:solidFill>
                <a:latin typeface="Söhne"/>
              </a:rPr>
              <a:t>: List industry-specific awards received by the company. Categorize them by relevant sectors, such as product/service excellence, innovation, customer satisfaction, environmental sustainability, etc. Mention the awarding organizations, year, and a brief description of each accolade.</a:t>
            </a:r>
          </a:p>
          <a:p>
            <a:pPr marL="228600" indent="-228600" algn="l">
              <a:buFont typeface="+mj-lt"/>
              <a:buAutoNum type="arabicPeriod"/>
            </a:pPr>
            <a:r>
              <a:rPr lang="en-US" sz="1200" dirty="0">
                <a:solidFill>
                  <a:srgbClr val="374151"/>
                </a:solidFill>
                <a:latin typeface="Söhne"/>
              </a:rPr>
              <a:t>Customer Awards and Testimonials</a:t>
            </a:r>
            <a:r>
              <a:rPr lang="en-US" sz="1200" b="0" dirty="0">
                <a:solidFill>
                  <a:srgbClr val="374151"/>
                </a:solidFill>
                <a:latin typeface="Söhne"/>
              </a:rPr>
              <a:t>: Include awards or accolades received from customers or client organizations. Highlight significant partnerships or collaborations that resulted in recognition. Incorporate relevant customer testimonials or positive feedback to showcase the company's commitment to customer satisfaction.</a:t>
            </a:r>
          </a:p>
          <a:p>
            <a:pPr marL="228600" indent="-228600" algn="l">
              <a:buFont typeface="+mj-lt"/>
              <a:buAutoNum type="arabicPeriod"/>
            </a:pPr>
            <a:r>
              <a:rPr lang="en-US" sz="1200" dirty="0">
                <a:solidFill>
                  <a:srgbClr val="374151"/>
                </a:solidFill>
                <a:latin typeface="Söhne"/>
              </a:rPr>
              <a:t>Employee Recognition</a:t>
            </a:r>
            <a:r>
              <a:rPr lang="en-US" sz="1200" b="0" dirty="0">
                <a:solidFill>
                  <a:srgbClr val="374151"/>
                </a:solidFill>
                <a:latin typeface="Söhne"/>
              </a:rPr>
              <a:t>: Acknowledge and celebrate employee achievements and recognition programs within the company. Highlight notable employee awards, such as employee of the month, team of the year, or exceptional performance recognitions. Include relevant metrics, such as employee satisfaction ratings or retention rates, to demonstrate the positive impact of employee recognition initiatives.</a:t>
            </a:r>
          </a:p>
          <a:p>
            <a:pPr marL="228600" indent="-228600" algn="l">
              <a:buFont typeface="+mj-lt"/>
              <a:buAutoNum type="arabicPeriod"/>
            </a:pPr>
            <a:r>
              <a:rPr lang="en-US" sz="1200" dirty="0">
                <a:solidFill>
                  <a:srgbClr val="374151"/>
                </a:solidFill>
                <a:latin typeface="Söhne"/>
              </a:rPr>
              <a:t>Media Recognition</a:t>
            </a:r>
            <a:r>
              <a:rPr lang="en-US" sz="1200" b="0" dirty="0">
                <a:solidFill>
                  <a:srgbClr val="374151"/>
                </a:solidFill>
                <a:latin typeface="Söhne"/>
              </a:rPr>
              <a:t>: Showcase positive media coverage, reviews, or mentions received by the company. Include notable publications, journalists, or media outlets that have recognized the company's achievements or featured its products/services. Highlight key articles, interviews, or reviews that positively impact the company's reputation.</a:t>
            </a:r>
          </a:p>
          <a:p>
            <a:pPr marL="228600" indent="-228600" algn="l">
              <a:buFont typeface="+mj-lt"/>
              <a:buAutoNum type="arabicPeriod"/>
            </a:pPr>
            <a:r>
              <a:rPr lang="en-US" sz="1200" dirty="0">
                <a:solidFill>
                  <a:srgbClr val="374151"/>
                </a:solidFill>
                <a:latin typeface="Söhne"/>
              </a:rPr>
              <a:t>Social Responsibility Recognition</a:t>
            </a:r>
            <a:r>
              <a:rPr lang="en-US" sz="1200" b="0" dirty="0">
                <a:solidFill>
                  <a:srgbClr val="374151"/>
                </a:solidFill>
                <a:latin typeface="Söhne"/>
              </a:rPr>
              <a:t>: Display awards or recognition related to the company's corporate social responsibility efforts. Highlight initiatives in areas such as philanthropy, sustainability, community engagement, or diversity and inclusion. Mention awarding bodies, year, and a brief description of each recognition.</a:t>
            </a:r>
          </a:p>
          <a:p>
            <a:pPr marL="228600" indent="-228600" algn="l">
              <a:buFont typeface="+mj-lt"/>
              <a:buAutoNum type="arabicPeriod"/>
            </a:pPr>
            <a:r>
              <a:rPr lang="en-US" sz="1200" dirty="0">
                <a:solidFill>
                  <a:srgbClr val="374151"/>
                </a:solidFill>
                <a:latin typeface="Söhne"/>
              </a:rPr>
              <a:t>Conclusion</a:t>
            </a:r>
            <a:r>
              <a:rPr lang="en-US" sz="1200" b="0" dirty="0">
                <a:solidFill>
                  <a:srgbClr val="374151"/>
                </a:solidFill>
                <a:latin typeface="Söhne"/>
              </a:rPr>
              <a:t>: Summarize the key points mentioned in the slide. Reinforce the importance of awards and recognition in demonstrating the company's excellence, reputation, and commitment to various stakeholders.</a:t>
            </a:r>
            <a:endParaRPr lang="en-US" sz="1200" b="0" i="0" dirty="0">
              <a:solidFill>
                <a:srgbClr val="374151"/>
              </a:solidFill>
              <a:effectLst/>
              <a:latin typeface="Söhne"/>
            </a:endParaRPr>
          </a:p>
        </p:txBody>
      </p:sp>
    </p:spTree>
    <p:extLst>
      <p:ext uri="{BB962C8B-B14F-4D97-AF65-F5344CB8AC3E}">
        <p14:creationId xmlns:p14="http://schemas.microsoft.com/office/powerpoint/2010/main" val="144157958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CD220C7E-5E37-3E55-F987-3DD7E3D1D0E6}"/>
              </a:ext>
            </a:extLst>
          </p:cNvPr>
          <p:cNvSpPr>
            <a:spLocks noGrp="1"/>
          </p:cNvSpPr>
          <p:nvPr>
            <p:ph type="title"/>
          </p:nvPr>
        </p:nvSpPr>
        <p:spPr/>
        <p:txBody>
          <a:bodyPr vert="horz"/>
          <a:lstStyle/>
          <a:p>
            <a:r>
              <a:rPr lang="en-US" dirty="0"/>
              <a:t>About Umbrex</a:t>
            </a:r>
          </a:p>
        </p:txBody>
      </p:sp>
      <p:sp>
        <p:nvSpPr>
          <p:cNvPr id="2" name="TextBox 1">
            <a:extLst>
              <a:ext uri="{FF2B5EF4-FFF2-40B4-BE49-F238E27FC236}">
                <a16:creationId xmlns:a16="http://schemas.microsoft.com/office/drawing/2014/main" id="{759157B3-739D-1DBA-B63D-D49F87783F08}"/>
              </a:ext>
            </a:extLst>
          </p:cNvPr>
          <p:cNvSpPr txBox="1"/>
          <p:nvPr/>
        </p:nvSpPr>
        <p:spPr>
          <a:xfrm>
            <a:off x="999460" y="6645349"/>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3" name="TextBox 2">
            <a:extLst>
              <a:ext uri="{FF2B5EF4-FFF2-40B4-BE49-F238E27FC236}">
                <a16:creationId xmlns:a16="http://schemas.microsoft.com/office/drawing/2014/main" id="{2A3334ED-F1DE-E318-3170-89594E33C2A2}"/>
              </a:ext>
            </a:extLst>
          </p:cNvPr>
          <p:cNvSpPr txBox="1"/>
          <p:nvPr/>
        </p:nvSpPr>
        <p:spPr>
          <a:xfrm>
            <a:off x="701749" y="6570921"/>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28555535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a:xfrm>
            <a:off x="377825" y="381000"/>
            <a:ext cx="11420475" cy="485775"/>
          </a:xfrm>
        </p:spPr>
        <p:txBody>
          <a:bodyPr vert="horz"/>
          <a:lstStyle/>
          <a:p>
            <a:r>
              <a:rPr lang="en-US" dirty="0"/>
              <a:t>   </a:t>
            </a:r>
          </a:p>
        </p:txBody>
      </p:sp>
      <p:pic>
        <p:nvPicPr>
          <p:cNvPr id="6" name="Picture 2">
            <a:extLst>
              <a:ext uri="{FF2B5EF4-FFF2-40B4-BE49-F238E27FC236}">
                <a16:creationId xmlns:a16="http://schemas.microsoft.com/office/drawing/2014/main" id="{F44D1AAC-6698-46F6-9D99-6A79607F95A4}"/>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9422336-EECB-0927-FC48-D3B0BEDF8270}"/>
              </a:ext>
            </a:extLst>
          </p:cNvPr>
          <p:cNvSpPr txBox="1"/>
          <p:nvPr/>
        </p:nvSpPr>
        <p:spPr>
          <a:xfrm>
            <a:off x="1008205" y="2554613"/>
            <a:ext cx="10050780" cy="253746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3600" b="0" i="0" u="none" strike="noStrike" kern="1200" cap="none" spc="0" normalizeH="0" baseline="0" noProof="0" dirty="0">
                <a:ln>
                  <a:noFill/>
                </a:ln>
                <a:solidFill>
                  <a:srgbClr val="000000"/>
                </a:solidFill>
                <a:effectLst/>
                <a:uLnTx/>
                <a:uFillTx/>
                <a:latin typeface="Verdana"/>
                <a:ea typeface="+mn-ea"/>
                <a:cs typeface="+mn-cs"/>
              </a:rPr>
              <a:t>Umbrex is the fastest way to find </a:t>
            </a:r>
            <a:r>
              <a:rPr kumimoji="0" lang="en-US" sz="3600" b="0" i="0" u="none" strike="noStrike" kern="1200" cap="none" spc="0" normalizeH="0" baseline="0" noProof="0" dirty="0" err="1">
                <a:ln>
                  <a:noFill/>
                </a:ln>
                <a:solidFill>
                  <a:srgbClr val="000000"/>
                </a:solidFill>
                <a:effectLst/>
                <a:uLnTx/>
                <a:uFillTx/>
                <a:latin typeface="Verdana"/>
                <a:ea typeface="+mn-ea"/>
                <a:cs typeface="+mn-cs"/>
              </a:rPr>
              <a:t>th</a:t>
            </a:r>
            <a:r>
              <a:rPr kumimoji="0" lang="en-US" sz="3600" b="0" i="0" u="none" strike="noStrike" kern="1200" cap="none" spc="0" normalizeH="0" baseline="0" noProof="0" dirty="0">
                <a:ln>
                  <a:noFill/>
                </a:ln>
                <a:solidFill>
                  <a:srgbClr val="000000"/>
                </a:solidFill>
                <a:effectLst/>
                <a:uLnTx/>
                <a:uFillTx/>
                <a:latin typeface="Verdana"/>
                <a:ea typeface="+mn-ea"/>
                <a:cs typeface="+mn-cs"/>
              </a:rPr>
              <a:t>e right independent management consultant.</a:t>
            </a:r>
          </a:p>
        </p:txBody>
      </p:sp>
      <p:sp>
        <p:nvSpPr>
          <p:cNvPr id="4" name="Rectangle 3">
            <a:extLst>
              <a:ext uri="{FF2B5EF4-FFF2-40B4-BE49-F238E27FC236}">
                <a16:creationId xmlns:a16="http://schemas.microsoft.com/office/drawing/2014/main" id="{D04768F6-344D-0D8C-1AF2-5E568879C55C}"/>
              </a:ext>
            </a:extLst>
          </p:cNvPr>
          <p:cNvSpPr/>
          <p:nvPr/>
        </p:nvSpPr>
        <p:spPr>
          <a:xfrm>
            <a:off x="121919" y="6400800"/>
            <a:ext cx="1823421"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10" name="Picture 2">
            <a:extLst>
              <a:ext uri="{FF2B5EF4-FFF2-40B4-BE49-F238E27FC236}">
                <a16:creationId xmlns:a16="http://schemas.microsoft.com/office/drawing/2014/main" id="{578471E5-81F1-3112-D4E5-797D219F79D9}"/>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11">
            <a:extLst>
              <a:ext uri="{FF2B5EF4-FFF2-40B4-BE49-F238E27FC236}">
                <a16:creationId xmlns:a16="http://schemas.microsoft.com/office/drawing/2014/main" id="{2F89919E-4BC3-6BBD-8731-A4C5189F22CB}"/>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6">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26895376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E82F19-C4E7-A466-8577-98D9F8B95CC8}"/>
              </a:ext>
            </a:extLst>
          </p:cNvPr>
          <p:cNvSpPr/>
          <p:nvPr/>
        </p:nvSpPr>
        <p:spPr>
          <a:xfrm>
            <a:off x="121919" y="6400800"/>
            <a:ext cx="1868245"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aphicFrame>
        <p:nvGraphicFramePr>
          <p:cNvPr id="9" name="Objeto 8" hidden="1">
            <a:extLst>
              <a:ext uri="{FF2B5EF4-FFF2-40B4-BE49-F238E27FC236}">
                <a16:creationId xmlns:a16="http://schemas.microsoft.com/office/drawing/2014/main" id="{07BA981F-D947-9371-C279-C8D436EC066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9" name="Objeto 8" hidden="1">
                        <a:extLst>
                          <a:ext uri="{FF2B5EF4-FFF2-40B4-BE49-F238E27FC236}">
                            <a16:creationId xmlns:a16="http://schemas.microsoft.com/office/drawing/2014/main" id="{07BA981F-D947-9371-C279-C8D436EC066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4B00ECBB-9C52-A827-F6FD-342C5B2C81EF}"/>
              </a:ext>
            </a:extLst>
          </p:cNvPr>
          <p:cNvSpPr>
            <a:spLocks noGrp="1"/>
          </p:cNvSpPr>
          <p:nvPr>
            <p:ph type="title"/>
          </p:nvPr>
        </p:nvSpPr>
        <p:spPr/>
        <p:txBody>
          <a:bodyPr vert="horz"/>
          <a:lstStyle/>
          <a:p>
            <a:r>
              <a:rPr lang="en-US" dirty="0"/>
              <a:t>Why </a:t>
            </a:r>
            <a:r>
              <a:rPr lang="en-US" dirty="0" err="1"/>
              <a:t>Umbrex</a:t>
            </a:r>
            <a:r>
              <a:rPr lang="en-US" dirty="0"/>
              <a:t>?</a:t>
            </a:r>
          </a:p>
        </p:txBody>
      </p:sp>
      <p:sp>
        <p:nvSpPr>
          <p:cNvPr id="13" name="Marcador de texto 12">
            <a:extLst>
              <a:ext uri="{FF2B5EF4-FFF2-40B4-BE49-F238E27FC236}">
                <a16:creationId xmlns:a16="http://schemas.microsoft.com/office/drawing/2014/main" id="{75BB6130-12C7-A661-677D-B90DB30BAE4B}"/>
              </a:ext>
            </a:extLst>
          </p:cNvPr>
          <p:cNvSpPr>
            <a:spLocks noGrp="1"/>
          </p:cNvSpPr>
          <p:nvPr>
            <p:ph type="body" sz="quarter" idx="15"/>
          </p:nvPr>
        </p:nvSpPr>
        <p:spPr>
          <a:xfrm>
            <a:off x="384174" y="948631"/>
            <a:ext cx="11449050" cy="1908215"/>
          </a:xfrm>
        </p:spPr>
        <p:txBody>
          <a:bodyPr>
            <a:spAutoFit/>
          </a:bodyPr>
          <a:lstStyle/>
          <a:p>
            <a:r>
              <a:rPr lang="en-US" sz="1400" b="0" dirty="0">
                <a:solidFill>
                  <a:srgbClr val="002060"/>
                </a:solidFill>
              </a:rPr>
              <a:t>Founded by McKinsey alums, Umbrex provides rapid access to independent management consultants with experience at top-tier consulting firms. </a:t>
            </a:r>
          </a:p>
          <a:p>
            <a:endParaRPr lang="en-US" sz="1400" b="0" dirty="0">
              <a:solidFill>
                <a:srgbClr val="002060"/>
              </a:solidFill>
            </a:endParaRPr>
          </a:p>
          <a:p>
            <a:r>
              <a:rPr lang="en-US" sz="1400" b="0" dirty="0">
                <a:solidFill>
                  <a:srgbClr val="002060"/>
                </a:solidFill>
              </a:rPr>
              <a:t>Over 90% of Umbrex consultants are alums of McKinsey, Bain, or BCG. </a:t>
            </a:r>
          </a:p>
          <a:p>
            <a:endParaRPr lang="en-US" sz="1400" b="0" dirty="0">
              <a:solidFill>
                <a:srgbClr val="002060"/>
              </a:solidFill>
            </a:endParaRPr>
          </a:p>
          <a:p>
            <a:r>
              <a:rPr lang="en-US" sz="1400" b="0" dirty="0">
                <a:solidFill>
                  <a:srgbClr val="002060"/>
                </a:solidFill>
              </a:rPr>
              <a:t>The majority also have experience in industry roles. Why should you consider working with </a:t>
            </a:r>
            <a:r>
              <a:rPr lang="en-US" sz="1400" b="0" dirty="0" err="1">
                <a:solidFill>
                  <a:srgbClr val="002060"/>
                </a:solidFill>
              </a:rPr>
              <a:t>Umbrex</a:t>
            </a:r>
            <a:r>
              <a:rPr lang="en-US" sz="1400" b="0" dirty="0">
                <a:solidFill>
                  <a:srgbClr val="002060"/>
                </a:solidFill>
              </a:rPr>
              <a:t>?</a:t>
            </a:r>
          </a:p>
        </p:txBody>
      </p:sp>
      <p:sp>
        <p:nvSpPr>
          <p:cNvPr id="24" name="Marcador de texto 12">
            <a:extLst>
              <a:ext uri="{FF2B5EF4-FFF2-40B4-BE49-F238E27FC236}">
                <a16:creationId xmlns:a16="http://schemas.microsoft.com/office/drawing/2014/main" id="{AB5562D2-8AB5-0184-4FD2-90DDD95BA93E}"/>
              </a:ext>
            </a:extLst>
          </p:cNvPr>
          <p:cNvSpPr txBox="1">
            <a:spLocks/>
          </p:cNvSpPr>
          <p:nvPr/>
        </p:nvSpPr>
        <p:spPr>
          <a:xfrm>
            <a:off x="371476" y="3636904"/>
            <a:ext cx="2191059" cy="2065141"/>
          </a:xfrm>
          <a:prstGeom prst="rect">
            <a:avLst/>
          </a:prstGeom>
          <a:solidFill>
            <a:schemeClr val="bg1">
              <a:lumMod val="95000"/>
            </a:schemeClr>
          </a:solidFill>
        </p:spPr>
        <p:txBody>
          <a:bodyPr vert="horz" wrap="square" lIns="72000" tIns="36000" rIns="72000" bIns="3600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Because you need top-tier consultants.</a:t>
            </a:r>
          </a:p>
        </p:txBody>
      </p:sp>
      <p:sp>
        <p:nvSpPr>
          <p:cNvPr id="25" name="Marcador de texto 12">
            <a:extLst>
              <a:ext uri="{FF2B5EF4-FFF2-40B4-BE49-F238E27FC236}">
                <a16:creationId xmlns:a16="http://schemas.microsoft.com/office/drawing/2014/main" id="{40983DD0-2173-B1FB-5D9D-1EC5421E79BD}"/>
              </a:ext>
            </a:extLst>
          </p:cNvPr>
          <p:cNvSpPr txBox="1">
            <a:spLocks/>
          </p:cNvSpPr>
          <p:nvPr/>
        </p:nvSpPr>
        <p:spPr>
          <a:xfrm>
            <a:off x="2685974" y="3636904"/>
            <a:ext cx="2191059" cy="2065141"/>
          </a:xfrm>
          <a:prstGeom prst="rect">
            <a:avLst/>
          </a:prstGeom>
          <a:solidFill>
            <a:schemeClr val="bg1">
              <a:lumMod val="95000"/>
            </a:schemeClr>
          </a:solidFill>
        </p:spPr>
        <p:txBody>
          <a:bodyPr vert="horz" wrap="square" lIns="72000" tIns="36000" rIns="72000" bIns="3600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 need the caliber of consulting talent that you would find at the highest-ranked global firms - without all the overhead.</a:t>
            </a:r>
          </a:p>
        </p:txBody>
      </p:sp>
      <p:sp>
        <p:nvSpPr>
          <p:cNvPr id="26" name="Marcador de texto 12">
            <a:extLst>
              <a:ext uri="{FF2B5EF4-FFF2-40B4-BE49-F238E27FC236}">
                <a16:creationId xmlns:a16="http://schemas.microsoft.com/office/drawing/2014/main" id="{F8CDF4AB-BBAB-14C0-662F-A746BF55CC8B}"/>
              </a:ext>
            </a:extLst>
          </p:cNvPr>
          <p:cNvSpPr txBox="1">
            <a:spLocks/>
          </p:cNvSpPr>
          <p:nvPr/>
        </p:nvSpPr>
        <p:spPr>
          <a:xfrm>
            <a:off x="5000472" y="3636904"/>
            <a:ext cx="2191059" cy="2065141"/>
          </a:xfrm>
          <a:prstGeom prst="rect">
            <a:avLst/>
          </a:prstGeom>
          <a:solidFill>
            <a:schemeClr val="bg1">
              <a:lumMod val="95000"/>
            </a:schemeClr>
          </a:solidFill>
        </p:spPr>
        <p:txBody>
          <a:bodyPr vert="horz" wrap="square" lIns="72000" tIns="36000" rIns="72000" bIns="3600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 want a flexible solution tailored to your needs</a:t>
            </a:r>
          </a:p>
        </p:txBody>
      </p:sp>
      <p:sp>
        <p:nvSpPr>
          <p:cNvPr id="27" name="Marcador de texto 12">
            <a:extLst>
              <a:ext uri="{FF2B5EF4-FFF2-40B4-BE49-F238E27FC236}">
                <a16:creationId xmlns:a16="http://schemas.microsoft.com/office/drawing/2014/main" id="{F9AF3F95-4D0C-10BD-08B9-6176354CF686}"/>
              </a:ext>
            </a:extLst>
          </p:cNvPr>
          <p:cNvSpPr txBox="1">
            <a:spLocks/>
          </p:cNvSpPr>
          <p:nvPr/>
        </p:nvSpPr>
        <p:spPr>
          <a:xfrm>
            <a:off x="7314970" y="3636904"/>
            <a:ext cx="2191059" cy="2065141"/>
          </a:xfrm>
          <a:prstGeom prst="rect">
            <a:avLst/>
          </a:prstGeom>
          <a:solidFill>
            <a:schemeClr val="bg1">
              <a:lumMod val="95000"/>
            </a:schemeClr>
          </a:solidFill>
        </p:spPr>
        <p:txBody>
          <a:bodyPr vert="horz" wrap="square" lIns="72000" tIns="36000" rIns="72000" bIns="3600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 need someone to start ASAP.</a:t>
            </a:r>
          </a:p>
        </p:txBody>
      </p:sp>
      <p:sp>
        <p:nvSpPr>
          <p:cNvPr id="28" name="Marcador de texto 12">
            <a:extLst>
              <a:ext uri="{FF2B5EF4-FFF2-40B4-BE49-F238E27FC236}">
                <a16:creationId xmlns:a16="http://schemas.microsoft.com/office/drawing/2014/main" id="{B1DA2A94-C7C7-36F0-5E1C-C31D55A7EAA2}"/>
              </a:ext>
            </a:extLst>
          </p:cNvPr>
          <p:cNvSpPr txBox="1">
            <a:spLocks/>
          </p:cNvSpPr>
          <p:nvPr/>
        </p:nvSpPr>
        <p:spPr>
          <a:xfrm>
            <a:off x="9629466" y="3636904"/>
            <a:ext cx="2191059" cy="2065141"/>
          </a:xfrm>
          <a:prstGeom prst="rect">
            <a:avLst/>
          </a:prstGeom>
          <a:solidFill>
            <a:schemeClr val="bg1">
              <a:lumMod val="95000"/>
            </a:schemeClr>
          </a:solidFill>
        </p:spPr>
        <p:txBody>
          <a:bodyPr vert="horz" wrap="square" lIns="72000" tIns="36000" rIns="72000" bIns="3600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 don’t want to spend time sorting through 40 resumes.</a:t>
            </a:r>
          </a:p>
        </p:txBody>
      </p:sp>
      <p:grpSp>
        <p:nvGrpSpPr>
          <p:cNvPr id="34" name="Grupo 33">
            <a:extLst>
              <a:ext uri="{FF2B5EF4-FFF2-40B4-BE49-F238E27FC236}">
                <a16:creationId xmlns:a16="http://schemas.microsoft.com/office/drawing/2014/main" id="{F8561B17-2CB9-15D8-0D25-CF12FEF9EBCB}"/>
              </a:ext>
            </a:extLst>
          </p:cNvPr>
          <p:cNvGrpSpPr/>
          <p:nvPr/>
        </p:nvGrpSpPr>
        <p:grpSpPr>
          <a:xfrm>
            <a:off x="1211990" y="3381890"/>
            <a:ext cx="510030" cy="510030"/>
            <a:chOff x="1407175" y="2262967"/>
            <a:chExt cx="510030" cy="510030"/>
          </a:xfrm>
        </p:grpSpPr>
        <p:sp>
          <p:nvSpPr>
            <p:cNvPr id="33" name="Elipse 32">
              <a:extLst>
                <a:ext uri="{FF2B5EF4-FFF2-40B4-BE49-F238E27FC236}">
                  <a16:creationId xmlns:a16="http://schemas.microsoft.com/office/drawing/2014/main" id="{09EEF5B0-9C26-78E7-8E65-8268CB51015C}"/>
                </a:ext>
              </a:extLst>
            </p:cNvPr>
            <p:cNvSpPr/>
            <p:nvPr/>
          </p:nvSpPr>
          <p:spPr>
            <a:xfrm>
              <a:off x="1421045" y="2276837"/>
              <a:ext cx="482290" cy="4822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nvGrpSpPr>
            <p:cNvPr id="30" name="Group 92">
              <a:extLst>
                <a:ext uri="{FF2B5EF4-FFF2-40B4-BE49-F238E27FC236}">
                  <a16:creationId xmlns:a16="http://schemas.microsoft.com/office/drawing/2014/main" id="{A211B58C-412D-FB08-36E3-3580B2295856}"/>
                </a:ext>
              </a:extLst>
            </p:cNvPr>
            <p:cNvGrpSpPr>
              <a:grpSpLocks noChangeAspect="1"/>
            </p:cNvGrpSpPr>
            <p:nvPr/>
          </p:nvGrpSpPr>
          <p:grpSpPr bwMode="auto">
            <a:xfrm>
              <a:off x="1407175" y="2262967"/>
              <a:ext cx="510030" cy="510030"/>
              <a:chOff x="6546" y="1719"/>
              <a:chExt cx="426" cy="426"/>
            </a:xfrm>
            <a:solidFill>
              <a:schemeClr val="accent3"/>
            </a:solidFill>
          </p:grpSpPr>
          <p:sp>
            <p:nvSpPr>
              <p:cNvPr id="31" name="Freeform 93">
                <a:extLst>
                  <a:ext uri="{FF2B5EF4-FFF2-40B4-BE49-F238E27FC236}">
                    <a16:creationId xmlns:a16="http://schemas.microsoft.com/office/drawing/2014/main" id="{2A8391CC-9A3A-5B32-3CA2-AF15DB4681F8}"/>
                  </a:ext>
                </a:extLst>
              </p:cNvPr>
              <p:cNvSpPr>
                <a:spLocks/>
              </p:cNvSpPr>
              <p:nvPr/>
            </p:nvSpPr>
            <p:spPr bwMode="auto">
              <a:xfrm>
                <a:off x="6662" y="1861"/>
                <a:ext cx="196" cy="142"/>
              </a:xfrm>
              <a:custGeom>
                <a:avLst/>
                <a:gdLst>
                  <a:gd name="T0" fmla="*/ 36 w 133"/>
                  <a:gd name="T1" fmla="*/ 96 h 96"/>
                  <a:gd name="T2" fmla="*/ 32 w 133"/>
                  <a:gd name="T3" fmla="*/ 94 h 96"/>
                  <a:gd name="T4" fmla="*/ 2 w 133"/>
                  <a:gd name="T5" fmla="*/ 64 h 96"/>
                  <a:gd name="T6" fmla="*/ 2 w 133"/>
                  <a:gd name="T7" fmla="*/ 56 h 96"/>
                  <a:gd name="T8" fmla="*/ 11 w 133"/>
                  <a:gd name="T9" fmla="*/ 56 h 96"/>
                  <a:gd name="T10" fmla="*/ 36 w 133"/>
                  <a:gd name="T11" fmla="*/ 82 h 96"/>
                  <a:gd name="T12" fmla="*/ 122 w 133"/>
                  <a:gd name="T13" fmla="*/ 2 h 96"/>
                  <a:gd name="T14" fmla="*/ 131 w 133"/>
                  <a:gd name="T15" fmla="*/ 2 h 96"/>
                  <a:gd name="T16" fmla="*/ 130 w 133"/>
                  <a:gd name="T17" fmla="*/ 11 h 96"/>
                  <a:gd name="T18" fmla="*/ 40 w 133"/>
                  <a:gd name="T19" fmla="*/ 95 h 96"/>
                  <a:gd name="T20" fmla="*/ 36 w 133"/>
                  <a:gd name="T21"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96">
                    <a:moveTo>
                      <a:pt x="36" y="96"/>
                    </a:moveTo>
                    <a:cubicBezTo>
                      <a:pt x="35" y="96"/>
                      <a:pt x="33" y="96"/>
                      <a:pt x="32" y="94"/>
                    </a:cubicBezTo>
                    <a:cubicBezTo>
                      <a:pt x="2" y="64"/>
                      <a:pt x="2" y="64"/>
                      <a:pt x="2" y="64"/>
                    </a:cubicBezTo>
                    <a:cubicBezTo>
                      <a:pt x="0" y="62"/>
                      <a:pt x="0" y="58"/>
                      <a:pt x="2" y="56"/>
                    </a:cubicBezTo>
                    <a:cubicBezTo>
                      <a:pt x="4" y="54"/>
                      <a:pt x="8" y="54"/>
                      <a:pt x="11" y="56"/>
                    </a:cubicBezTo>
                    <a:cubicBezTo>
                      <a:pt x="36" y="82"/>
                      <a:pt x="36" y="82"/>
                      <a:pt x="36" y="82"/>
                    </a:cubicBezTo>
                    <a:cubicBezTo>
                      <a:pt x="122" y="2"/>
                      <a:pt x="122" y="2"/>
                      <a:pt x="122" y="2"/>
                    </a:cubicBezTo>
                    <a:cubicBezTo>
                      <a:pt x="125" y="0"/>
                      <a:pt x="128" y="0"/>
                      <a:pt x="131" y="2"/>
                    </a:cubicBezTo>
                    <a:cubicBezTo>
                      <a:pt x="133" y="5"/>
                      <a:pt x="133" y="8"/>
                      <a:pt x="130" y="11"/>
                    </a:cubicBezTo>
                    <a:cubicBezTo>
                      <a:pt x="40" y="95"/>
                      <a:pt x="40" y="95"/>
                      <a:pt x="40" y="95"/>
                    </a:cubicBezTo>
                    <a:cubicBezTo>
                      <a:pt x="39" y="96"/>
                      <a:pt x="38" y="96"/>
                      <a:pt x="36" y="96"/>
                    </a:cubicBezTo>
                    <a:close/>
                  </a:path>
                </a:pathLst>
              </a:custGeom>
              <a:solidFill>
                <a:srgbClr val="0F0F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sp>
            <p:nvSpPr>
              <p:cNvPr id="32" name="Freeform 94">
                <a:extLst>
                  <a:ext uri="{FF2B5EF4-FFF2-40B4-BE49-F238E27FC236}">
                    <a16:creationId xmlns:a16="http://schemas.microsoft.com/office/drawing/2014/main" id="{60BF155D-13ED-8B04-6322-0DED8D95761F}"/>
                  </a:ext>
                </a:extLst>
              </p:cNvPr>
              <p:cNvSpPr>
                <a:spLocks noEditPoints="1"/>
              </p:cNvSpPr>
              <p:nvPr/>
            </p:nvSpPr>
            <p:spPr bwMode="auto">
              <a:xfrm>
                <a:off x="6546" y="1719"/>
                <a:ext cx="426"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224"/>
                      <a:pt x="224" y="288"/>
                      <a:pt x="144" y="288"/>
                    </a:cubicBezTo>
                    <a:close/>
                    <a:moveTo>
                      <a:pt x="144" y="12"/>
                    </a:moveTo>
                    <a:cubicBezTo>
                      <a:pt x="72" y="12"/>
                      <a:pt x="12" y="71"/>
                      <a:pt x="12" y="144"/>
                    </a:cubicBezTo>
                    <a:cubicBezTo>
                      <a:pt x="12" y="217"/>
                      <a:pt x="72" y="276"/>
                      <a:pt x="144" y="276"/>
                    </a:cubicBezTo>
                    <a:cubicBezTo>
                      <a:pt x="217" y="276"/>
                      <a:pt x="276" y="217"/>
                      <a:pt x="276" y="144"/>
                    </a:cubicBezTo>
                    <a:cubicBezTo>
                      <a:pt x="276" y="71"/>
                      <a:pt x="217" y="12"/>
                      <a:pt x="144" y="12"/>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grpSp>
      </p:grpSp>
      <p:pic>
        <p:nvPicPr>
          <p:cNvPr id="55" name="Picture 2">
            <a:extLst>
              <a:ext uri="{FF2B5EF4-FFF2-40B4-BE49-F238E27FC236}">
                <a16:creationId xmlns:a16="http://schemas.microsoft.com/office/drawing/2014/main" id="{B74FBAAB-21E3-4E4C-A372-C32E7EEA2599}"/>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3">
            <a:extLst>
              <a:ext uri="{FF2B5EF4-FFF2-40B4-BE49-F238E27FC236}">
                <a16:creationId xmlns:a16="http://schemas.microsoft.com/office/drawing/2014/main" id="{E7314842-046A-0A33-F938-48DE15072F52}"/>
              </a:ext>
            </a:extLst>
          </p:cNvPr>
          <p:cNvGrpSpPr/>
          <p:nvPr/>
        </p:nvGrpSpPr>
        <p:grpSpPr>
          <a:xfrm>
            <a:off x="3571142" y="3381890"/>
            <a:ext cx="510030" cy="510030"/>
            <a:chOff x="1407175" y="2262967"/>
            <a:chExt cx="510030" cy="510030"/>
          </a:xfrm>
        </p:grpSpPr>
        <p:sp>
          <p:nvSpPr>
            <p:cNvPr id="5" name="Elipse 32">
              <a:extLst>
                <a:ext uri="{FF2B5EF4-FFF2-40B4-BE49-F238E27FC236}">
                  <a16:creationId xmlns:a16="http://schemas.microsoft.com/office/drawing/2014/main" id="{A1A212E3-45B0-3B75-441F-297EBA63C2F0}"/>
                </a:ext>
              </a:extLst>
            </p:cNvPr>
            <p:cNvSpPr/>
            <p:nvPr/>
          </p:nvSpPr>
          <p:spPr>
            <a:xfrm>
              <a:off x="1421045" y="2276837"/>
              <a:ext cx="482290" cy="4822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nvGrpSpPr>
            <p:cNvPr id="6" name="Group 92">
              <a:extLst>
                <a:ext uri="{FF2B5EF4-FFF2-40B4-BE49-F238E27FC236}">
                  <a16:creationId xmlns:a16="http://schemas.microsoft.com/office/drawing/2014/main" id="{E224E358-4769-C0D9-35DA-BDAFE7360F2B}"/>
                </a:ext>
              </a:extLst>
            </p:cNvPr>
            <p:cNvGrpSpPr>
              <a:grpSpLocks noChangeAspect="1"/>
            </p:cNvGrpSpPr>
            <p:nvPr/>
          </p:nvGrpSpPr>
          <p:grpSpPr bwMode="auto">
            <a:xfrm>
              <a:off x="1407175" y="2262967"/>
              <a:ext cx="510030" cy="510030"/>
              <a:chOff x="6546" y="1719"/>
              <a:chExt cx="426" cy="426"/>
            </a:xfrm>
            <a:solidFill>
              <a:schemeClr val="accent3"/>
            </a:solidFill>
          </p:grpSpPr>
          <p:sp>
            <p:nvSpPr>
              <p:cNvPr id="7" name="Freeform 93">
                <a:extLst>
                  <a:ext uri="{FF2B5EF4-FFF2-40B4-BE49-F238E27FC236}">
                    <a16:creationId xmlns:a16="http://schemas.microsoft.com/office/drawing/2014/main" id="{E99F15F9-7DBD-3160-B7D3-76140873119D}"/>
                  </a:ext>
                </a:extLst>
              </p:cNvPr>
              <p:cNvSpPr>
                <a:spLocks/>
              </p:cNvSpPr>
              <p:nvPr/>
            </p:nvSpPr>
            <p:spPr bwMode="auto">
              <a:xfrm>
                <a:off x="6662" y="1861"/>
                <a:ext cx="196" cy="142"/>
              </a:xfrm>
              <a:custGeom>
                <a:avLst/>
                <a:gdLst>
                  <a:gd name="T0" fmla="*/ 36 w 133"/>
                  <a:gd name="T1" fmla="*/ 96 h 96"/>
                  <a:gd name="T2" fmla="*/ 32 w 133"/>
                  <a:gd name="T3" fmla="*/ 94 h 96"/>
                  <a:gd name="T4" fmla="*/ 2 w 133"/>
                  <a:gd name="T5" fmla="*/ 64 h 96"/>
                  <a:gd name="T6" fmla="*/ 2 w 133"/>
                  <a:gd name="T7" fmla="*/ 56 h 96"/>
                  <a:gd name="T8" fmla="*/ 11 w 133"/>
                  <a:gd name="T9" fmla="*/ 56 h 96"/>
                  <a:gd name="T10" fmla="*/ 36 w 133"/>
                  <a:gd name="T11" fmla="*/ 82 h 96"/>
                  <a:gd name="T12" fmla="*/ 122 w 133"/>
                  <a:gd name="T13" fmla="*/ 2 h 96"/>
                  <a:gd name="T14" fmla="*/ 131 w 133"/>
                  <a:gd name="T15" fmla="*/ 2 h 96"/>
                  <a:gd name="T16" fmla="*/ 130 w 133"/>
                  <a:gd name="T17" fmla="*/ 11 h 96"/>
                  <a:gd name="T18" fmla="*/ 40 w 133"/>
                  <a:gd name="T19" fmla="*/ 95 h 96"/>
                  <a:gd name="T20" fmla="*/ 36 w 133"/>
                  <a:gd name="T21"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96">
                    <a:moveTo>
                      <a:pt x="36" y="96"/>
                    </a:moveTo>
                    <a:cubicBezTo>
                      <a:pt x="35" y="96"/>
                      <a:pt x="33" y="96"/>
                      <a:pt x="32" y="94"/>
                    </a:cubicBezTo>
                    <a:cubicBezTo>
                      <a:pt x="2" y="64"/>
                      <a:pt x="2" y="64"/>
                      <a:pt x="2" y="64"/>
                    </a:cubicBezTo>
                    <a:cubicBezTo>
                      <a:pt x="0" y="62"/>
                      <a:pt x="0" y="58"/>
                      <a:pt x="2" y="56"/>
                    </a:cubicBezTo>
                    <a:cubicBezTo>
                      <a:pt x="4" y="54"/>
                      <a:pt x="8" y="54"/>
                      <a:pt x="11" y="56"/>
                    </a:cubicBezTo>
                    <a:cubicBezTo>
                      <a:pt x="36" y="82"/>
                      <a:pt x="36" y="82"/>
                      <a:pt x="36" y="82"/>
                    </a:cubicBezTo>
                    <a:cubicBezTo>
                      <a:pt x="122" y="2"/>
                      <a:pt x="122" y="2"/>
                      <a:pt x="122" y="2"/>
                    </a:cubicBezTo>
                    <a:cubicBezTo>
                      <a:pt x="125" y="0"/>
                      <a:pt x="128" y="0"/>
                      <a:pt x="131" y="2"/>
                    </a:cubicBezTo>
                    <a:cubicBezTo>
                      <a:pt x="133" y="5"/>
                      <a:pt x="133" y="8"/>
                      <a:pt x="130" y="11"/>
                    </a:cubicBezTo>
                    <a:cubicBezTo>
                      <a:pt x="40" y="95"/>
                      <a:pt x="40" y="95"/>
                      <a:pt x="40" y="95"/>
                    </a:cubicBezTo>
                    <a:cubicBezTo>
                      <a:pt x="39" y="96"/>
                      <a:pt x="38" y="96"/>
                      <a:pt x="36" y="96"/>
                    </a:cubicBezTo>
                    <a:close/>
                  </a:path>
                </a:pathLst>
              </a:custGeom>
              <a:solidFill>
                <a:srgbClr val="0F0F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sp>
            <p:nvSpPr>
              <p:cNvPr id="8" name="Freeform 94">
                <a:extLst>
                  <a:ext uri="{FF2B5EF4-FFF2-40B4-BE49-F238E27FC236}">
                    <a16:creationId xmlns:a16="http://schemas.microsoft.com/office/drawing/2014/main" id="{7821DD0B-7728-F033-3C71-C0F6C3FCB9B1}"/>
                  </a:ext>
                </a:extLst>
              </p:cNvPr>
              <p:cNvSpPr>
                <a:spLocks noEditPoints="1"/>
              </p:cNvSpPr>
              <p:nvPr/>
            </p:nvSpPr>
            <p:spPr bwMode="auto">
              <a:xfrm>
                <a:off x="6546" y="1719"/>
                <a:ext cx="426"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224"/>
                      <a:pt x="224" y="288"/>
                      <a:pt x="144" y="288"/>
                    </a:cubicBezTo>
                    <a:close/>
                    <a:moveTo>
                      <a:pt x="144" y="12"/>
                    </a:moveTo>
                    <a:cubicBezTo>
                      <a:pt x="72" y="12"/>
                      <a:pt x="12" y="71"/>
                      <a:pt x="12" y="144"/>
                    </a:cubicBezTo>
                    <a:cubicBezTo>
                      <a:pt x="12" y="217"/>
                      <a:pt x="72" y="276"/>
                      <a:pt x="144" y="276"/>
                    </a:cubicBezTo>
                    <a:cubicBezTo>
                      <a:pt x="217" y="276"/>
                      <a:pt x="276" y="217"/>
                      <a:pt x="276" y="144"/>
                    </a:cubicBezTo>
                    <a:cubicBezTo>
                      <a:pt x="276" y="71"/>
                      <a:pt x="217" y="12"/>
                      <a:pt x="144" y="12"/>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grpSp>
      </p:grpSp>
      <p:grpSp>
        <p:nvGrpSpPr>
          <p:cNvPr id="10" name="Grupo 33">
            <a:extLst>
              <a:ext uri="{FF2B5EF4-FFF2-40B4-BE49-F238E27FC236}">
                <a16:creationId xmlns:a16="http://schemas.microsoft.com/office/drawing/2014/main" id="{EE17C825-944A-F622-F31D-140BEAF7BFDC}"/>
              </a:ext>
            </a:extLst>
          </p:cNvPr>
          <p:cNvGrpSpPr/>
          <p:nvPr/>
        </p:nvGrpSpPr>
        <p:grpSpPr>
          <a:xfrm>
            <a:off x="5839396" y="3381890"/>
            <a:ext cx="510030" cy="510030"/>
            <a:chOff x="1407175" y="2262967"/>
            <a:chExt cx="510030" cy="510030"/>
          </a:xfrm>
        </p:grpSpPr>
        <p:sp>
          <p:nvSpPr>
            <p:cNvPr id="11" name="Elipse 32">
              <a:extLst>
                <a:ext uri="{FF2B5EF4-FFF2-40B4-BE49-F238E27FC236}">
                  <a16:creationId xmlns:a16="http://schemas.microsoft.com/office/drawing/2014/main" id="{FD8E0C76-868B-5C0D-3845-20A4BB561404}"/>
                </a:ext>
              </a:extLst>
            </p:cNvPr>
            <p:cNvSpPr/>
            <p:nvPr/>
          </p:nvSpPr>
          <p:spPr>
            <a:xfrm>
              <a:off x="1421045" y="2276837"/>
              <a:ext cx="482290" cy="4822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nvGrpSpPr>
            <p:cNvPr id="12" name="Group 92">
              <a:extLst>
                <a:ext uri="{FF2B5EF4-FFF2-40B4-BE49-F238E27FC236}">
                  <a16:creationId xmlns:a16="http://schemas.microsoft.com/office/drawing/2014/main" id="{CB0B4104-4A3B-D1FE-E546-E1B6A1BAAFBE}"/>
                </a:ext>
              </a:extLst>
            </p:cNvPr>
            <p:cNvGrpSpPr>
              <a:grpSpLocks noChangeAspect="1"/>
            </p:cNvGrpSpPr>
            <p:nvPr/>
          </p:nvGrpSpPr>
          <p:grpSpPr bwMode="auto">
            <a:xfrm>
              <a:off x="1407175" y="2262967"/>
              <a:ext cx="510030" cy="510030"/>
              <a:chOff x="6546" y="1719"/>
              <a:chExt cx="426" cy="426"/>
            </a:xfrm>
            <a:solidFill>
              <a:schemeClr val="accent3"/>
            </a:solidFill>
          </p:grpSpPr>
          <p:sp>
            <p:nvSpPr>
              <p:cNvPr id="14" name="Freeform 93">
                <a:extLst>
                  <a:ext uri="{FF2B5EF4-FFF2-40B4-BE49-F238E27FC236}">
                    <a16:creationId xmlns:a16="http://schemas.microsoft.com/office/drawing/2014/main" id="{C6FF4225-A63C-D372-2016-077ED838AEEA}"/>
                  </a:ext>
                </a:extLst>
              </p:cNvPr>
              <p:cNvSpPr>
                <a:spLocks/>
              </p:cNvSpPr>
              <p:nvPr/>
            </p:nvSpPr>
            <p:spPr bwMode="auto">
              <a:xfrm>
                <a:off x="6662" y="1861"/>
                <a:ext cx="196" cy="142"/>
              </a:xfrm>
              <a:custGeom>
                <a:avLst/>
                <a:gdLst>
                  <a:gd name="T0" fmla="*/ 36 w 133"/>
                  <a:gd name="T1" fmla="*/ 96 h 96"/>
                  <a:gd name="T2" fmla="*/ 32 w 133"/>
                  <a:gd name="T3" fmla="*/ 94 h 96"/>
                  <a:gd name="T4" fmla="*/ 2 w 133"/>
                  <a:gd name="T5" fmla="*/ 64 h 96"/>
                  <a:gd name="T6" fmla="*/ 2 w 133"/>
                  <a:gd name="T7" fmla="*/ 56 h 96"/>
                  <a:gd name="T8" fmla="*/ 11 w 133"/>
                  <a:gd name="T9" fmla="*/ 56 h 96"/>
                  <a:gd name="T10" fmla="*/ 36 w 133"/>
                  <a:gd name="T11" fmla="*/ 82 h 96"/>
                  <a:gd name="T12" fmla="*/ 122 w 133"/>
                  <a:gd name="T13" fmla="*/ 2 h 96"/>
                  <a:gd name="T14" fmla="*/ 131 w 133"/>
                  <a:gd name="T15" fmla="*/ 2 h 96"/>
                  <a:gd name="T16" fmla="*/ 130 w 133"/>
                  <a:gd name="T17" fmla="*/ 11 h 96"/>
                  <a:gd name="T18" fmla="*/ 40 w 133"/>
                  <a:gd name="T19" fmla="*/ 95 h 96"/>
                  <a:gd name="T20" fmla="*/ 36 w 133"/>
                  <a:gd name="T21"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96">
                    <a:moveTo>
                      <a:pt x="36" y="96"/>
                    </a:moveTo>
                    <a:cubicBezTo>
                      <a:pt x="35" y="96"/>
                      <a:pt x="33" y="96"/>
                      <a:pt x="32" y="94"/>
                    </a:cubicBezTo>
                    <a:cubicBezTo>
                      <a:pt x="2" y="64"/>
                      <a:pt x="2" y="64"/>
                      <a:pt x="2" y="64"/>
                    </a:cubicBezTo>
                    <a:cubicBezTo>
                      <a:pt x="0" y="62"/>
                      <a:pt x="0" y="58"/>
                      <a:pt x="2" y="56"/>
                    </a:cubicBezTo>
                    <a:cubicBezTo>
                      <a:pt x="4" y="54"/>
                      <a:pt x="8" y="54"/>
                      <a:pt x="11" y="56"/>
                    </a:cubicBezTo>
                    <a:cubicBezTo>
                      <a:pt x="36" y="82"/>
                      <a:pt x="36" y="82"/>
                      <a:pt x="36" y="82"/>
                    </a:cubicBezTo>
                    <a:cubicBezTo>
                      <a:pt x="122" y="2"/>
                      <a:pt x="122" y="2"/>
                      <a:pt x="122" y="2"/>
                    </a:cubicBezTo>
                    <a:cubicBezTo>
                      <a:pt x="125" y="0"/>
                      <a:pt x="128" y="0"/>
                      <a:pt x="131" y="2"/>
                    </a:cubicBezTo>
                    <a:cubicBezTo>
                      <a:pt x="133" y="5"/>
                      <a:pt x="133" y="8"/>
                      <a:pt x="130" y="11"/>
                    </a:cubicBezTo>
                    <a:cubicBezTo>
                      <a:pt x="40" y="95"/>
                      <a:pt x="40" y="95"/>
                      <a:pt x="40" y="95"/>
                    </a:cubicBezTo>
                    <a:cubicBezTo>
                      <a:pt x="39" y="96"/>
                      <a:pt x="38" y="96"/>
                      <a:pt x="36" y="96"/>
                    </a:cubicBezTo>
                    <a:close/>
                  </a:path>
                </a:pathLst>
              </a:custGeom>
              <a:solidFill>
                <a:srgbClr val="0F0F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sp>
            <p:nvSpPr>
              <p:cNvPr id="15" name="Freeform 94">
                <a:extLst>
                  <a:ext uri="{FF2B5EF4-FFF2-40B4-BE49-F238E27FC236}">
                    <a16:creationId xmlns:a16="http://schemas.microsoft.com/office/drawing/2014/main" id="{C935BC38-D918-C7E9-D8FB-E48BC2697572}"/>
                  </a:ext>
                </a:extLst>
              </p:cNvPr>
              <p:cNvSpPr>
                <a:spLocks noEditPoints="1"/>
              </p:cNvSpPr>
              <p:nvPr/>
            </p:nvSpPr>
            <p:spPr bwMode="auto">
              <a:xfrm>
                <a:off x="6546" y="1719"/>
                <a:ext cx="426"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224"/>
                      <a:pt x="224" y="288"/>
                      <a:pt x="144" y="288"/>
                    </a:cubicBezTo>
                    <a:close/>
                    <a:moveTo>
                      <a:pt x="144" y="12"/>
                    </a:moveTo>
                    <a:cubicBezTo>
                      <a:pt x="72" y="12"/>
                      <a:pt x="12" y="71"/>
                      <a:pt x="12" y="144"/>
                    </a:cubicBezTo>
                    <a:cubicBezTo>
                      <a:pt x="12" y="217"/>
                      <a:pt x="72" y="276"/>
                      <a:pt x="144" y="276"/>
                    </a:cubicBezTo>
                    <a:cubicBezTo>
                      <a:pt x="217" y="276"/>
                      <a:pt x="276" y="217"/>
                      <a:pt x="276" y="144"/>
                    </a:cubicBezTo>
                    <a:cubicBezTo>
                      <a:pt x="276" y="71"/>
                      <a:pt x="217" y="12"/>
                      <a:pt x="144" y="12"/>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grpSp>
      </p:grpSp>
      <p:grpSp>
        <p:nvGrpSpPr>
          <p:cNvPr id="16" name="Grupo 33">
            <a:extLst>
              <a:ext uri="{FF2B5EF4-FFF2-40B4-BE49-F238E27FC236}">
                <a16:creationId xmlns:a16="http://schemas.microsoft.com/office/drawing/2014/main" id="{32E65EE3-9D03-8405-7139-009D6E13530D}"/>
              </a:ext>
            </a:extLst>
          </p:cNvPr>
          <p:cNvGrpSpPr/>
          <p:nvPr/>
        </p:nvGrpSpPr>
        <p:grpSpPr>
          <a:xfrm>
            <a:off x="8153502" y="3381890"/>
            <a:ext cx="510030" cy="510030"/>
            <a:chOff x="1407175" y="2262967"/>
            <a:chExt cx="510030" cy="510030"/>
          </a:xfrm>
        </p:grpSpPr>
        <p:sp>
          <p:nvSpPr>
            <p:cNvPr id="17" name="Elipse 32">
              <a:extLst>
                <a:ext uri="{FF2B5EF4-FFF2-40B4-BE49-F238E27FC236}">
                  <a16:creationId xmlns:a16="http://schemas.microsoft.com/office/drawing/2014/main" id="{C166F15E-414C-E7A0-4F5F-CE8893566479}"/>
                </a:ext>
              </a:extLst>
            </p:cNvPr>
            <p:cNvSpPr/>
            <p:nvPr/>
          </p:nvSpPr>
          <p:spPr>
            <a:xfrm>
              <a:off x="1421045" y="2276837"/>
              <a:ext cx="482290" cy="4822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nvGrpSpPr>
            <p:cNvPr id="18" name="Group 92">
              <a:extLst>
                <a:ext uri="{FF2B5EF4-FFF2-40B4-BE49-F238E27FC236}">
                  <a16:creationId xmlns:a16="http://schemas.microsoft.com/office/drawing/2014/main" id="{331FD513-3208-0397-36F8-450D9E9D8AF6}"/>
                </a:ext>
              </a:extLst>
            </p:cNvPr>
            <p:cNvGrpSpPr>
              <a:grpSpLocks noChangeAspect="1"/>
            </p:cNvGrpSpPr>
            <p:nvPr/>
          </p:nvGrpSpPr>
          <p:grpSpPr bwMode="auto">
            <a:xfrm>
              <a:off x="1407175" y="2262967"/>
              <a:ext cx="510030" cy="510030"/>
              <a:chOff x="6546" y="1719"/>
              <a:chExt cx="426" cy="426"/>
            </a:xfrm>
            <a:solidFill>
              <a:schemeClr val="accent3"/>
            </a:solidFill>
          </p:grpSpPr>
          <p:sp>
            <p:nvSpPr>
              <p:cNvPr id="19" name="Freeform 93">
                <a:extLst>
                  <a:ext uri="{FF2B5EF4-FFF2-40B4-BE49-F238E27FC236}">
                    <a16:creationId xmlns:a16="http://schemas.microsoft.com/office/drawing/2014/main" id="{78DE04BD-F037-4F8D-798E-EA30B2769EF5}"/>
                  </a:ext>
                </a:extLst>
              </p:cNvPr>
              <p:cNvSpPr>
                <a:spLocks/>
              </p:cNvSpPr>
              <p:nvPr/>
            </p:nvSpPr>
            <p:spPr bwMode="auto">
              <a:xfrm>
                <a:off x="6662" y="1861"/>
                <a:ext cx="196" cy="142"/>
              </a:xfrm>
              <a:custGeom>
                <a:avLst/>
                <a:gdLst>
                  <a:gd name="T0" fmla="*/ 36 w 133"/>
                  <a:gd name="T1" fmla="*/ 96 h 96"/>
                  <a:gd name="T2" fmla="*/ 32 w 133"/>
                  <a:gd name="T3" fmla="*/ 94 h 96"/>
                  <a:gd name="T4" fmla="*/ 2 w 133"/>
                  <a:gd name="T5" fmla="*/ 64 h 96"/>
                  <a:gd name="T6" fmla="*/ 2 w 133"/>
                  <a:gd name="T7" fmla="*/ 56 h 96"/>
                  <a:gd name="T8" fmla="*/ 11 w 133"/>
                  <a:gd name="T9" fmla="*/ 56 h 96"/>
                  <a:gd name="T10" fmla="*/ 36 w 133"/>
                  <a:gd name="T11" fmla="*/ 82 h 96"/>
                  <a:gd name="T12" fmla="*/ 122 w 133"/>
                  <a:gd name="T13" fmla="*/ 2 h 96"/>
                  <a:gd name="T14" fmla="*/ 131 w 133"/>
                  <a:gd name="T15" fmla="*/ 2 h 96"/>
                  <a:gd name="T16" fmla="*/ 130 w 133"/>
                  <a:gd name="T17" fmla="*/ 11 h 96"/>
                  <a:gd name="T18" fmla="*/ 40 w 133"/>
                  <a:gd name="T19" fmla="*/ 95 h 96"/>
                  <a:gd name="T20" fmla="*/ 36 w 133"/>
                  <a:gd name="T21"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96">
                    <a:moveTo>
                      <a:pt x="36" y="96"/>
                    </a:moveTo>
                    <a:cubicBezTo>
                      <a:pt x="35" y="96"/>
                      <a:pt x="33" y="96"/>
                      <a:pt x="32" y="94"/>
                    </a:cubicBezTo>
                    <a:cubicBezTo>
                      <a:pt x="2" y="64"/>
                      <a:pt x="2" y="64"/>
                      <a:pt x="2" y="64"/>
                    </a:cubicBezTo>
                    <a:cubicBezTo>
                      <a:pt x="0" y="62"/>
                      <a:pt x="0" y="58"/>
                      <a:pt x="2" y="56"/>
                    </a:cubicBezTo>
                    <a:cubicBezTo>
                      <a:pt x="4" y="54"/>
                      <a:pt x="8" y="54"/>
                      <a:pt x="11" y="56"/>
                    </a:cubicBezTo>
                    <a:cubicBezTo>
                      <a:pt x="36" y="82"/>
                      <a:pt x="36" y="82"/>
                      <a:pt x="36" y="82"/>
                    </a:cubicBezTo>
                    <a:cubicBezTo>
                      <a:pt x="122" y="2"/>
                      <a:pt x="122" y="2"/>
                      <a:pt x="122" y="2"/>
                    </a:cubicBezTo>
                    <a:cubicBezTo>
                      <a:pt x="125" y="0"/>
                      <a:pt x="128" y="0"/>
                      <a:pt x="131" y="2"/>
                    </a:cubicBezTo>
                    <a:cubicBezTo>
                      <a:pt x="133" y="5"/>
                      <a:pt x="133" y="8"/>
                      <a:pt x="130" y="11"/>
                    </a:cubicBezTo>
                    <a:cubicBezTo>
                      <a:pt x="40" y="95"/>
                      <a:pt x="40" y="95"/>
                      <a:pt x="40" y="95"/>
                    </a:cubicBezTo>
                    <a:cubicBezTo>
                      <a:pt x="39" y="96"/>
                      <a:pt x="38" y="96"/>
                      <a:pt x="36" y="96"/>
                    </a:cubicBezTo>
                    <a:close/>
                  </a:path>
                </a:pathLst>
              </a:custGeom>
              <a:solidFill>
                <a:srgbClr val="0F0F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sp>
            <p:nvSpPr>
              <p:cNvPr id="20" name="Freeform 94">
                <a:extLst>
                  <a:ext uri="{FF2B5EF4-FFF2-40B4-BE49-F238E27FC236}">
                    <a16:creationId xmlns:a16="http://schemas.microsoft.com/office/drawing/2014/main" id="{79561437-0598-59AA-FD85-B80DEF2D0C5D}"/>
                  </a:ext>
                </a:extLst>
              </p:cNvPr>
              <p:cNvSpPr>
                <a:spLocks noEditPoints="1"/>
              </p:cNvSpPr>
              <p:nvPr/>
            </p:nvSpPr>
            <p:spPr bwMode="auto">
              <a:xfrm>
                <a:off x="6546" y="1719"/>
                <a:ext cx="426"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224"/>
                      <a:pt x="224" y="288"/>
                      <a:pt x="144" y="288"/>
                    </a:cubicBezTo>
                    <a:close/>
                    <a:moveTo>
                      <a:pt x="144" y="12"/>
                    </a:moveTo>
                    <a:cubicBezTo>
                      <a:pt x="72" y="12"/>
                      <a:pt x="12" y="71"/>
                      <a:pt x="12" y="144"/>
                    </a:cubicBezTo>
                    <a:cubicBezTo>
                      <a:pt x="12" y="217"/>
                      <a:pt x="72" y="276"/>
                      <a:pt x="144" y="276"/>
                    </a:cubicBezTo>
                    <a:cubicBezTo>
                      <a:pt x="217" y="276"/>
                      <a:pt x="276" y="217"/>
                      <a:pt x="276" y="144"/>
                    </a:cubicBezTo>
                    <a:cubicBezTo>
                      <a:pt x="276" y="71"/>
                      <a:pt x="217" y="12"/>
                      <a:pt x="144" y="12"/>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grpSp>
      </p:grpSp>
      <p:grpSp>
        <p:nvGrpSpPr>
          <p:cNvPr id="21" name="Grupo 33">
            <a:extLst>
              <a:ext uri="{FF2B5EF4-FFF2-40B4-BE49-F238E27FC236}">
                <a16:creationId xmlns:a16="http://schemas.microsoft.com/office/drawing/2014/main" id="{DD2B44CC-8290-9A96-34D6-C1BC078D61FF}"/>
              </a:ext>
            </a:extLst>
          </p:cNvPr>
          <p:cNvGrpSpPr/>
          <p:nvPr/>
        </p:nvGrpSpPr>
        <p:grpSpPr>
          <a:xfrm>
            <a:off x="10469980" y="3381890"/>
            <a:ext cx="510030" cy="510030"/>
            <a:chOff x="1407175" y="2262967"/>
            <a:chExt cx="510030" cy="510030"/>
          </a:xfrm>
        </p:grpSpPr>
        <p:sp>
          <p:nvSpPr>
            <p:cNvPr id="22" name="Elipse 32">
              <a:extLst>
                <a:ext uri="{FF2B5EF4-FFF2-40B4-BE49-F238E27FC236}">
                  <a16:creationId xmlns:a16="http://schemas.microsoft.com/office/drawing/2014/main" id="{177F56C6-BF47-8910-7472-CA126F80CA9C}"/>
                </a:ext>
              </a:extLst>
            </p:cNvPr>
            <p:cNvSpPr/>
            <p:nvPr/>
          </p:nvSpPr>
          <p:spPr>
            <a:xfrm>
              <a:off x="1421045" y="2276837"/>
              <a:ext cx="482290" cy="4822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nvGrpSpPr>
            <p:cNvPr id="23" name="Group 92">
              <a:extLst>
                <a:ext uri="{FF2B5EF4-FFF2-40B4-BE49-F238E27FC236}">
                  <a16:creationId xmlns:a16="http://schemas.microsoft.com/office/drawing/2014/main" id="{D47E5FA3-93FF-6B92-290E-1CB750A08693}"/>
                </a:ext>
              </a:extLst>
            </p:cNvPr>
            <p:cNvGrpSpPr>
              <a:grpSpLocks noChangeAspect="1"/>
            </p:cNvGrpSpPr>
            <p:nvPr/>
          </p:nvGrpSpPr>
          <p:grpSpPr bwMode="auto">
            <a:xfrm>
              <a:off x="1407175" y="2262967"/>
              <a:ext cx="510030" cy="510030"/>
              <a:chOff x="6546" y="1719"/>
              <a:chExt cx="426" cy="426"/>
            </a:xfrm>
            <a:solidFill>
              <a:schemeClr val="accent3"/>
            </a:solidFill>
          </p:grpSpPr>
          <p:sp>
            <p:nvSpPr>
              <p:cNvPr id="29" name="Freeform 93">
                <a:extLst>
                  <a:ext uri="{FF2B5EF4-FFF2-40B4-BE49-F238E27FC236}">
                    <a16:creationId xmlns:a16="http://schemas.microsoft.com/office/drawing/2014/main" id="{329A7665-AA40-E340-7946-2F217EA7F5A5}"/>
                  </a:ext>
                </a:extLst>
              </p:cNvPr>
              <p:cNvSpPr>
                <a:spLocks/>
              </p:cNvSpPr>
              <p:nvPr/>
            </p:nvSpPr>
            <p:spPr bwMode="auto">
              <a:xfrm>
                <a:off x="6662" y="1861"/>
                <a:ext cx="196" cy="142"/>
              </a:xfrm>
              <a:custGeom>
                <a:avLst/>
                <a:gdLst>
                  <a:gd name="T0" fmla="*/ 36 w 133"/>
                  <a:gd name="T1" fmla="*/ 96 h 96"/>
                  <a:gd name="T2" fmla="*/ 32 w 133"/>
                  <a:gd name="T3" fmla="*/ 94 h 96"/>
                  <a:gd name="T4" fmla="*/ 2 w 133"/>
                  <a:gd name="T5" fmla="*/ 64 h 96"/>
                  <a:gd name="T6" fmla="*/ 2 w 133"/>
                  <a:gd name="T7" fmla="*/ 56 h 96"/>
                  <a:gd name="T8" fmla="*/ 11 w 133"/>
                  <a:gd name="T9" fmla="*/ 56 h 96"/>
                  <a:gd name="T10" fmla="*/ 36 w 133"/>
                  <a:gd name="T11" fmla="*/ 82 h 96"/>
                  <a:gd name="T12" fmla="*/ 122 w 133"/>
                  <a:gd name="T13" fmla="*/ 2 h 96"/>
                  <a:gd name="T14" fmla="*/ 131 w 133"/>
                  <a:gd name="T15" fmla="*/ 2 h 96"/>
                  <a:gd name="T16" fmla="*/ 130 w 133"/>
                  <a:gd name="T17" fmla="*/ 11 h 96"/>
                  <a:gd name="T18" fmla="*/ 40 w 133"/>
                  <a:gd name="T19" fmla="*/ 95 h 96"/>
                  <a:gd name="T20" fmla="*/ 36 w 133"/>
                  <a:gd name="T21"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96">
                    <a:moveTo>
                      <a:pt x="36" y="96"/>
                    </a:moveTo>
                    <a:cubicBezTo>
                      <a:pt x="35" y="96"/>
                      <a:pt x="33" y="96"/>
                      <a:pt x="32" y="94"/>
                    </a:cubicBezTo>
                    <a:cubicBezTo>
                      <a:pt x="2" y="64"/>
                      <a:pt x="2" y="64"/>
                      <a:pt x="2" y="64"/>
                    </a:cubicBezTo>
                    <a:cubicBezTo>
                      <a:pt x="0" y="62"/>
                      <a:pt x="0" y="58"/>
                      <a:pt x="2" y="56"/>
                    </a:cubicBezTo>
                    <a:cubicBezTo>
                      <a:pt x="4" y="54"/>
                      <a:pt x="8" y="54"/>
                      <a:pt x="11" y="56"/>
                    </a:cubicBezTo>
                    <a:cubicBezTo>
                      <a:pt x="36" y="82"/>
                      <a:pt x="36" y="82"/>
                      <a:pt x="36" y="82"/>
                    </a:cubicBezTo>
                    <a:cubicBezTo>
                      <a:pt x="122" y="2"/>
                      <a:pt x="122" y="2"/>
                      <a:pt x="122" y="2"/>
                    </a:cubicBezTo>
                    <a:cubicBezTo>
                      <a:pt x="125" y="0"/>
                      <a:pt x="128" y="0"/>
                      <a:pt x="131" y="2"/>
                    </a:cubicBezTo>
                    <a:cubicBezTo>
                      <a:pt x="133" y="5"/>
                      <a:pt x="133" y="8"/>
                      <a:pt x="130" y="11"/>
                    </a:cubicBezTo>
                    <a:cubicBezTo>
                      <a:pt x="40" y="95"/>
                      <a:pt x="40" y="95"/>
                      <a:pt x="40" y="95"/>
                    </a:cubicBezTo>
                    <a:cubicBezTo>
                      <a:pt x="39" y="96"/>
                      <a:pt x="38" y="96"/>
                      <a:pt x="36" y="96"/>
                    </a:cubicBezTo>
                    <a:close/>
                  </a:path>
                </a:pathLst>
              </a:custGeom>
              <a:solidFill>
                <a:srgbClr val="0F0F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sp>
            <p:nvSpPr>
              <p:cNvPr id="56" name="Freeform 94">
                <a:extLst>
                  <a:ext uri="{FF2B5EF4-FFF2-40B4-BE49-F238E27FC236}">
                    <a16:creationId xmlns:a16="http://schemas.microsoft.com/office/drawing/2014/main" id="{92C50575-E9CD-4E48-09F6-AA2865AA9DEA}"/>
                  </a:ext>
                </a:extLst>
              </p:cNvPr>
              <p:cNvSpPr>
                <a:spLocks noEditPoints="1"/>
              </p:cNvSpPr>
              <p:nvPr/>
            </p:nvSpPr>
            <p:spPr bwMode="auto">
              <a:xfrm>
                <a:off x="6546" y="1719"/>
                <a:ext cx="426"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224"/>
                      <a:pt x="224" y="288"/>
                      <a:pt x="144" y="288"/>
                    </a:cubicBezTo>
                    <a:close/>
                    <a:moveTo>
                      <a:pt x="144" y="12"/>
                    </a:moveTo>
                    <a:cubicBezTo>
                      <a:pt x="72" y="12"/>
                      <a:pt x="12" y="71"/>
                      <a:pt x="12" y="144"/>
                    </a:cubicBezTo>
                    <a:cubicBezTo>
                      <a:pt x="12" y="217"/>
                      <a:pt x="72" y="276"/>
                      <a:pt x="144" y="276"/>
                    </a:cubicBezTo>
                    <a:cubicBezTo>
                      <a:pt x="217" y="276"/>
                      <a:pt x="276" y="217"/>
                      <a:pt x="276" y="144"/>
                    </a:cubicBezTo>
                    <a:cubicBezTo>
                      <a:pt x="276" y="71"/>
                      <a:pt x="217" y="12"/>
                      <a:pt x="144" y="12"/>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grpSp>
      </p:grpSp>
      <p:sp>
        <p:nvSpPr>
          <p:cNvPr id="36" name="Rectangle: Rounded Corners 11">
            <a:extLst>
              <a:ext uri="{FF2B5EF4-FFF2-40B4-BE49-F238E27FC236}">
                <a16:creationId xmlns:a16="http://schemas.microsoft.com/office/drawing/2014/main" id="{9DBFDEAA-1310-970F-4D17-1C2142141EBE}"/>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6">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17970935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E62A61FD-88BF-2C3B-BBB9-3A26D55D24B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7" name="Objeto 6" hidden="1">
                        <a:extLst>
                          <a:ext uri="{FF2B5EF4-FFF2-40B4-BE49-F238E27FC236}">
                            <a16:creationId xmlns:a16="http://schemas.microsoft.com/office/drawing/2014/main" id="{E62A61FD-88BF-2C3B-BBB9-3A26D55D24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2542AB70-2FB9-AEEB-1EC7-F54B276D2BE3}"/>
              </a:ext>
            </a:extLst>
          </p:cNvPr>
          <p:cNvSpPr>
            <a:spLocks noGrp="1"/>
          </p:cNvSpPr>
          <p:nvPr>
            <p:ph type="title"/>
          </p:nvPr>
        </p:nvSpPr>
        <p:spPr/>
        <p:txBody>
          <a:bodyPr vert="horz"/>
          <a:lstStyle/>
          <a:p>
            <a:r>
              <a:rPr lang="en-US" dirty="0"/>
              <a:t>Umbrex Services</a:t>
            </a:r>
          </a:p>
        </p:txBody>
      </p:sp>
      <p:sp>
        <p:nvSpPr>
          <p:cNvPr id="9" name="TextBox 24">
            <a:extLst>
              <a:ext uri="{FF2B5EF4-FFF2-40B4-BE49-F238E27FC236}">
                <a16:creationId xmlns:a16="http://schemas.microsoft.com/office/drawing/2014/main" id="{EDB6ED47-68D5-A479-B1FB-4F2C702136E4}"/>
              </a:ext>
            </a:extLst>
          </p:cNvPr>
          <p:cNvSpPr txBox="1"/>
          <p:nvPr/>
        </p:nvSpPr>
        <p:spPr>
          <a:xfrm>
            <a:off x="381308" y="1550050"/>
            <a:ext cx="1419287" cy="215444"/>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Strategy</a:t>
            </a:r>
          </a:p>
        </p:txBody>
      </p:sp>
      <p:cxnSp>
        <p:nvCxnSpPr>
          <p:cNvPr id="11" name="Conector recto 9">
            <a:extLst>
              <a:ext uri="{FF2B5EF4-FFF2-40B4-BE49-F238E27FC236}">
                <a16:creationId xmlns:a16="http://schemas.microsoft.com/office/drawing/2014/main" id="{4209729C-709E-A30F-E023-E6661396A39B}"/>
              </a:ext>
            </a:extLst>
          </p:cNvPr>
          <p:cNvCxnSpPr>
            <a:cxnSpLocks/>
          </p:cNvCxnSpPr>
          <p:nvPr/>
        </p:nvCxnSpPr>
        <p:spPr>
          <a:xfrm>
            <a:off x="1887684" y="1388631"/>
            <a:ext cx="0" cy="53828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25">
            <a:extLst>
              <a:ext uri="{FF2B5EF4-FFF2-40B4-BE49-F238E27FC236}">
                <a16:creationId xmlns:a16="http://schemas.microsoft.com/office/drawing/2014/main" id="{749CC112-2627-EDFC-25F7-28C4E52393EC}"/>
              </a:ext>
            </a:extLst>
          </p:cNvPr>
          <p:cNvSpPr txBox="1"/>
          <p:nvPr/>
        </p:nvSpPr>
        <p:spPr>
          <a:xfrm>
            <a:off x="2017486" y="1473106"/>
            <a:ext cx="3156065" cy="369332"/>
          </a:xfrm>
          <a:prstGeom prst="rect">
            <a:avLst/>
          </a:prstGeom>
          <a:noFill/>
        </p:spPr>
        <p:txBody>
          <a:bodyPr wrap="square" lIns="0" tIns="0" rIns="0" bIns="0" rtlCol="0" anchor="ctr">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Digital Strategy</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Growth Strategy</a:t>
            </a:r>
          </a:p>
        </p:txBody>
      </p:sp>
      <p:sp>
        <p:nvSpPr>
          <p:cNvPr id="13" name="TextBox 25">
            <a:extLst>
              <a:ext uri="{FF2B5EF4-FFF2-40B4-BE49-F238E27FC236}">
                <a16:creationId xmlns:a16="http://schemas.microsoft.com/office/drawing/2014/main" id="{0521168F-51AB-9D87-3A0E-66CA8ACC08C2}"/>
              </a:ext>
            </a:extLst>
          </p:cNvPr>
          <p:cNvSpPr txBox="1"/>
          <p:nvPr/>
        </p:nvSpPr>
        <p:spPr>
          <a:xfrm>
            <a:off x="5340972" y="1473106"/>
            <a:ext cx="3156065" cy="369332"/>
          </a:xfrm>
          <a:prstGeom prst="rect">
            <a:avLst/>
          </a:prstGeom>
          <a:noFill/>
        </p:spPr>
        <p:txBody>
          <a:bodyPr wrap="square" lIns="0" tIns="0" rIns="0" bIns="0" rtlCol="0" anchor="ctr">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Mergers &amp; Acquisitions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Risk Management</a:t>
            </a:r>
          </a:p>
        </p:txBody>
      </p:sp>
      <p:sp>
        <p:nvSpPr>
          <p:cNvPr id="14" name="TextBox 25">
            <a:extLst>
              <a:ext uri="{FF2B5EF4-FFF2-40B4-BE49-F238E27FC236}">
                <a16:creationId xmlns:a16="http://schemas.microsoft.com/office/drawing/2014/main" id="{B599257F-09B6-EE32-B1D0-1CDAD3546BCB}"/>
              </a:ext>
            </a:extLst>
          </p:cNvPr>
          <p:cNvSpPr txBox="1"/>
          <p:nvPr/>
        </p:nvSpPr>
        <p:spPr>
          <a:xfrm>
            <a:off x="8664459" y="1473106"/>
            <a:ext cx="3156065" cy="369332"/>
          </a:xfrm>
          <a:prstGeom prst="rect">
            <a:avLst/>
          </a:prstGeom>
          <a:noFill/>
        </p:spPr>
        <p:txBody>
          <a:bodyPr wrap="square" lIns="0" tIns="0" rIns="0" bIns="0" rtlCol="0" anchor="ctr">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Sustainability</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Technology</a:t>
            </a:r>
          </a:p>
        </p:txBody>
      </p:sp>
      <p:sp>
        <p:nvSpPr>
          <p:cNvPr id="85" name="TextBox 24">
            <a:extLst>
              <a:ext uri="{FF2B5EF4-FFF2-40B4-BE49-F238E27FC236}">
                <a16:creationId xmlns:a16="http://schemas.microsoft.com/office/drawing/2014/main" id="{3C9F896A-B4EC-2F12-B820-87659F5B9765}"/>
              </a:ext>
            </a:extLst>
          </p:cNvPr>
          <p:cNvSpPr txBox="1"/>
          <p:nvPr/>
        </p:nvSpPr>
        <p:spPr>
          <a:xfrm>
            <a:off x="381308" y="2374161"/>
            <a:ext cx="1419287" cy="215444"/>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Operations</a:t>
            </a:r>
          </a:p>
        </p:txBody>
      </p:sp>
      <p:cxnSp>
        <p:nvCxnSpPr>
          <p:cNvPr id="86" name="Conector recto 9">
            <a:extLst>
              <a:ext uri="{FF2B5EF4-FFF2-40B4-BE49-F238E27FC236}">
                <a16:creationId xmlns:a16="http://schemas.microsoft.com/office/drawing/2014/main" id="{E0A137B4-9621-AB8A-72A4-B3191043293C}"/>
              </a:ext>
            </a:extLst>
          </p:cNvPr>
          <p:cNvCxnSpPr>
            <a:cxnSpLocks/>
          </p:cNvCxnSpPr>
          <p:nvPr/>
        </p:nvCxnSpPr>
        <p:spPr>
          <a:xfrm>
            <a:off x="1887684" y="2212742"/>
            <a:ext cx="0" cy="53828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88" name="TextBox 25">
            <a:extLst>
              <a:ext uri="{FF2B5EF4-FFF2-40B4-BE49-F238E27FC236}">
                <a16:creationId xmlns:a16="http://schemas.microsoft.com/office/drawing/2014/main" id="{502A41C1-C9FF-415A-C676-AD5C1E126F57}"/>
              </a:ext>
            </a:extLst>
          </p:cNvPr>
          <p:cNvSpPr txBox="1"/>
          <p:nvPr/>
        </p:nvSpPr>
        <p:spPr>
          <a:xfrm>
            <a:off x="2017486" y="2297217"/>
            <a:ext cx="3156065" cy="369332"/>
          </a:xfrm>
          <a:prstGeom prst="rect">
            <a:avLst/>
          </a:prstGeom>
          <a:noFill/>
        </p:spPr>
        <p:txBody>
          <a:bodyPr wrap="square" lIns="0" tIns="0" rIns="0" bIns="0" rtlCol="0" anchor="ctr">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Data &amp; Analytics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Lean Operations</a:t>
            </a:r>
          </a:p>
        </p:txBody>
      </p:sp>
      <p:sp>
        <p:nvSpPr>
          <p:cNvPr id="89" name="TextBox 25">
            <a:extLst>
              <a:ext uri="{FF2B5EF4-FFF2-40B4-BE49-F238E27FC236}">
                <a16:creationId xmlns:a16="http://schemas.microsoft.com/office/drawing/2014/main" id="{13DA53F7-3589-3222-5C2F-C766DCFC263A}"/>
              </a:ext>
            </a:extLst>
          </p:cNvPr>
          <p:cNvSpPr txBox="1"/>
          <p:nvPr/>
        </p:nvSpPr>
        <p:spPr>
          <a:xfrm>
            <a:off x="5340972" y="2297217"/>
            <a:ext cx="3156065" cy="369332"/>
          </a:xfrm>
          <a:prstGeom prst="rect">
            <a:avLst/>
          </a:prstGeom>
          <a:noFill/>
        </p:spPr>
        <p:txBody>
          <a:bodyPr wrap="square" lIns="0" tIns="0" rIns="0" bIns="0" rtlCol="0" anchor="ctr">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Operations Transformation</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Procurement</a:t>
            </a:r>
          </a:p>
        </p:txBody>
      </p:sp>
      <p:sp>
        <p:nvSpPr>
          <p:cNvPr id="90" name="TextBox 25">
            <a:extLst>
              <a:ext uri="{FF2B5EF4-FFF2-40B4-BE49-F238E27FC236}">
                <a16:creationId xmlns:a16="http://schemas.microsoft.com/office/drawing/2014/main" id="{4DDB8F15-63A2-8F4B-48A6-6FBDB795F56F}"/>
              </a:ext>
            </a:extLst>
          </p:cNvPr>
          <p:cNvSpPr txBox="1"/>
          <p:nvPr/>
        </p:nvSpPr>
        <p:spPr>
          <a:xfrm>
            <a:off x="8664459" y="2297217"/>
            <a:ext cx="3156065" cy="369332"/>
          </a:xfrm>
          <a:prstGeom prst="rect">
            <a:avLst/>
          </a:prstGeom>
          <a:noFill/>
        </p:spPr>
        <p:txBody>
          <a:bodyPr wrap="square" lIns="0" tIns="0" rIns="0" bIns="0" rtlCol="0" anchor="ctr">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Project Management Office</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Supply Chain</a:t>
            </a:r>
          </a:p>
        </p:txBody>
      </p:sp>
      <p:sp>
        <p:nvSpPr>
          <p:cNvPr id="92" name="TextBox 24">
            <a:extLst>
              <a:ext uri="{FF2B5EF4-FFF2-40B4-BE49-F238E27FC236}">
                <a16:creationId xmlns:a16="http://schemas.microsoft.com/office/drawing/2014/main" id="{F1B2E009-27A9-6747-00EF-0B17E272B4D9}"/>
              </a:ext>
            </a:extLst>
          </p:cNvPr>
          <p:cNvSpPr txBox="1"/>
          <p:nvPr/>
        </p:nvSpPr>
        <p:spPr>
          <a:xfrm>
            <a:off x="381308" y="3198272"/>
            <a:ext cx="1419287" cy="215444"/>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Organization</a:t>
            </a:r>
          </a:p>
        </p:txBody>
      </p:sp>
      <p:cxnSp>
        <p:nvCxnSpPr>
          <p:cNvPr id="93" name="Conector recto 9">
            <a:extLst>
              <a:ext uri="{FF2B5EF4-FFF2-40B4-BE49-F238E27FC236}">
                <a16:creationId xmlns:a16="http://schemas.microsoft.com/office/drawing/2014/main" id="{C8F8B1AF-0309-E3F6-2C44-13B6B2A23828}"/>
              </a:ext>
            </a:extLst>
          </p:cNvPr>
          <p:cNvCxnSpPr>
            <a:cxnSpLocks/>
          </p:cNvCxnSpPr>
          <p:nvPr/>
        </p:nvCxnSpPr>
        <p:spPr>
          <a:xfrm>
            <a:off x="1887684" y="3036853"/>
            <a:ext cx="0" cy="53828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95" name="TextBox 25">
            <a:extLst>
              <a:ext uri="{FF2B5EF4-FFF2-40B4-BE49-F238E27FC236}">
                <a16:creationId xmlns:a16="http://schemas.microsoft.com/office/drawing/2014/main" id="{B0ED0838-2FE7-079A-E125-D4FB24E6605A}"/>
              </a:ext>
            </a:extLst>
          </p:cNvPr>
          <p:cNvSpPr txBox="1"/>
          <p:nvPr/>
        </p:nvSpPr>
        <p:spPr>
          <a:xfrm>
            <a:off x="2017486" y="3121328"/>
            <a:ext cx="3156065" cy="369332"/>
          </a:xfrm>
          <a:prstGeom prst="rect">
            <a:avLst/>
          </a:prstGeom>
          <a:noFill/>
        </p:spPr>
        <p:txBody>
          <a:bodyPr wrap="square" lIns="0" tIns="0" rIns="0" bIns="0" rtlCol="0" anchor="ctr">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Change Management</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Diversity &amp; Inclusion</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Interim Executives</a:t>
            </a:r>
          </a:p>
        </p:txBody>
      </p:sp>
      <p:sp>
        <p:nvSpPr>
          <p:cNvPr id="96" name="TextBox 25">
            <a:extLst>
              <a:ext uri="{FF2B5EF4-FFF2-40B4-BE49-F238E27FC236}">
                <a16:creationId xmlns:a16="http://schemas.microsoft.com/office/drawing/2014/main" id="{74DDB70B-C4DE-7AA9-2B72-E490F255147F}"/>
              </a:ext>
            </a:extLst>
          </p:cNvPr>
          <p:cNvSpPr txBox="1"/>
          <p:nvPr/>
        </p:nvSpPr>
        <p:spPr>
          <a:xfrm>
            <a:off x="5340972" y="3121328"/>
            <a:ext cx="3156065" cy="369332"/>
          </a:xfrm>
          <a:prstGeom prst="rect">
            <a:avLst/>
          </a:prstGeom>
          <a:noFill/>
        </p:spPr>
        <p:txBody>
          <a:bodyPr wrap="square" lIns="0" tIns="0" rIns="0" bIns="0" rtlCol="0" anchor="ctr">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Maternity &amp; Paternity Leave</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Organization Design</a:t>
            </a:r>
          </a:p>
        </p:txBody>
      </p:sp>
      <p:sp>
        <p:nvSpPr>
          <p:cNvPr id="97" name="TextBox 25">
            <a:extLst>
              <a:ext uri="{FF2B5EF4-FFF2-40B4-BE49-F238E27FC236}">
                <a16:creationId xmlns:a16="http://schemas.microsoft.com/office/drawing/2014/main" id="{8BBF9BA4-07DB-A9A7-7933-BD065F970152}"/>
              </a:ext>
            </a:extLst>
          </p:cNvPr>
          <p:cNvSpPr txBox="1"/>
          <p:nvPr/>
        </p:nvSpPr>
        <p:spPr>
          <a:xfrm>
            <a:off x="8664459" y="3121328"/>
            <a:ext cx="3156065" cy="369332"/>
          </a:xfrm>
          <a:prstGeom prst="rect">
            <a:avLst/>
          </a:prstGeom>
          <a:noFill/>
        </p:spPr>
        <p:txBody>
          <a:bodyPr wrap="square" lIns="0" tIns="0" rIns="0" bIns="0" rtlCol="0" anchor="ctr">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Talent Management</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Umbrex</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Academy</a:t>
            </a:r>
          </a:p>
        </p:txBody>
      </p:sp>
      <p:sp>
        <p:nvSpPr>
          <p:cNvPr id="99" name="TextBox 24">
            <a:extLst>
              <a:ext uri="{FF2B5EF4-FFF2-40B4-BE49-F238E27FC236}">
                <a16:creationId xmlns:a16="http://schemas.microsoft.com/office/drawing/2014/main" id="{F351829C-6A05-7901-F21B-99EB1C852ABC}"/>
              </a:ext>
            </a:extLst>
          </p:cNvPr>
          <p:cNvSpPr txBox="1"/>
          <p:nvPr/>
        </p:nvSpPr>
        <p:spPr>
          <a:xfrm>
            <a:off x="381308" y="4030003"/>
            <a:ext cx="1419287" cy="215444"/>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Marketing</a:t>
            </a:r>
          </a:p>
        </p:txBody>
      </p:sp>
      <p:cxnSp>
        <p:nvCxnSpPr>
          <p:cNvPr id="100" name="Conector recto 9">
            <a:extLst>
              <a:ext uri="{FF2B5EF4-FFF2-40B4-BE49-F238E27FC236}">
                <a16:creationId xmlns:a16="http://schemas.microsoft.com/office/drawing/2014/main" id="{F8291DED-0A68-86E9-B798-81BA607AEFEE}"/>
              </a:ext>
            </a:extLst>
          </p:cNvPr>
          <p:cNvCxnSpPr>
            <a:cxnSpLocks/>
          </p:cNvCxnSpPr>
          <p:nvPr/>
        </p:nvCxnSpPr>
        <p:spPr>
          <a:xfrm>
            <a:off x="1887684" y="3868584"/>
            <a:ext cx="0" cy="53828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02" name="TextBox 25">
            <a:extLst>
              <a:ext uri="{FF2B5EF4-FFF2-40B4-BE49-F238E27FC236}">
                <a16:creationId xmlns:a16="http://schemas.microsoft.com/office/drawing/2014/main" id="{8F0D7FDD-0815-89D2-01F0-8B874B43FEA4}"/>
              </a:ext>
            </a:extLst>
          </p:cNvPr>
          <p:cNvSpPr txBox="1"/>
          <p:nvPr/>
        </p:nvSpPr>
        <p:spPr>
          <a:xfrm>
            <a:off x="2017486" y="3953059"/>
            <a:ext cx="3156065" cy="369332"/>
          </a:xfrm>
          <a:prstGeom prst="rect">
            <a:avLst/>
          </a:prstGeom>
          <a:noFill/>
        </p:spPr>
        <p:txBody>
          <a:bodyPr wrap="square" lIns="0" tIns="0" rIns="0" bIns="0" rtlCol="0" anchor="ctr">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Branding</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Consumer Experience</a:t>
            </a:r>
          </a:p>
        </p:txBody>
      </p:sp>
      <p:sp>
        <p:nvSpPr>
          <p:cNvPr id="103" name="TextBox 25">
            <a:extLst>
              <a:ext uri="{FF2B5EF4-FFF2-40B4-BE49-F238E27FC236}">
                <a16:creationId xmlns:a16="http://schemas.microsoft.com/office/drawing/2014/main" id="{59FB6C60-79F7-E7F3-F9BF-8862A9241FC0}"/>
              </a:ext>
            </a:extLst>
          </p:cNvPr>
          <p:cNvSpPr txBox="1"/>
          <p:nvPr/>
        </p:nvSpPr>
        <p:spPr>
          <a:xfrm>
            <a:off x="5340972" y="3953059"/>
            <a:ext cx="3156065" cy="369332"/>
          </a:xfrm>
          <a:prstGeom prst="rect">
            <a:avLst/>
          </a:prstGeom>
          <a:noFill/>
        </p:spPr>
        <p:txBody>
          <a:bodyPr wrap="square" lIns="0" tIns="0" rIns="0" bIns="0" rtlCol="0" anchor="ctr">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Digital Marketing</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 Research</a:t>
            </a:r>
          </a:p>
        </p:txBody>
      </p:sp>
      <p:sp>
        <p:nvSpPr>
          <p:cNvPr id="104" name="TextBox 25">
            <a:extLst>
              <a:ext uri="{FF2B5EF4-FFF2-40B4-BE49-F238E27FC236}">
                <a16:creationId xmlns:a16="http://schemas.microsoft.com/office/drawing/2014/main" id="{7E064D4A-A59A-B9FC-37E0-130A730E25AD}"/>
              </a:ext>
            </a:extLst>
          </p:cNvPr>
          <p:cNvSpPr txBox="1"/>
          <p:nvPr/>
        </p:nvSpPr>
        <p:spPr>
          <a:xfrm>
            <a:off x="8664459" y="3953059"/>
            <a:ext cx="3156065" cy="369332"/>
          </a:xfrm>
          <a:prstGeom prst="rect">
            <a:avLst/>
          </a:prstGeom>
          <a:noFill/>
        </p:spPr>
        <p:txBody>
          <a:bodyPr wrap="square" lIns="0" tIns="0" rIns="0" bIns="0" rtlCol="0" anchor="ctr">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Pricing</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Product Management</a:t>
            </a:r>
          </a:p>
        </p:txBody>
      </p:sp>
      <p:sp>
        <p:nvSpPr>
          <p:cNvPr id="106" name="TextBox 24">
            <a:extLst>
              <a:ext uri="{FF2B5EF4-FFF2-40B4-BE49-F238E27FC236}">
                <a16:creationId xmlns:a16="http://schemas.microsoft.com/office/drawing/2014/main" id="{BF8B62BB-4065-CA8F-7AEB-3731B1F15C7B}"/>
              </a:ext>
            </a:extLst>
          </p:cNvPr>
          <p:cNvSpPr txBox="1"/>
          <p:nvPr/>
        </p:nvSpPr>
        <p:spPr>
          <a:xfrm>
            <a:off x="381308" y="4892214"/>
            <a:ext cx="1419287" cy="215444"/>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Sales</a:t>
            </a:r>
          </a:p>
        </p:txBody>
      </p:sp>
      <p:cxnSp>
        <p:nvCxnSpPr>
          <p:cNvPr id="107" name="Conector recto 9">
            <a:extLst>
              <a:ext uri="{FF2B5EF4-FFF2-40B4-BE49-F238E27FC236}">
                <a16:creationId xmlns:a16="http://schemas.microsoft.com/office/drawing/2014/main" id="{837EEF74-B105-C2D4-C168-EC1052D09531}"/>
              </a:ext>
            </a:extLst>
          </p:cNvPr>
          <p:cNvCxnSpPr>
            <a:cxnSpLocks/>
          </p:cNvCxnSpPr>
          <p:nvPr/>
        </p:nvCxnSpPr>
        <p:spPr>
          <a:xfrm>
            <a:off x="1887684" y="4730795"/>
            <a:ext cx="0" cy="53828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09" name="TextBox 25">
            <a:extLst>
              <a:ext uri="{FF2B5EF4-FFF2-40B4-BE49-F238E27FC236}">
                <a16:creationId xmlns:a16="http://schemas.microsoft.com/office/drawing/2014/main" id="{9E0843DE-F1EA-5327-D7B0-EA62EC2C9831}"/>
              </a:ext>
            </a:extLst>
          </p:cNvPr>
          <p:cNvSpPr txBox="1"/>
          <p:nvPr/>
        </p:nvSpPr>
        <p:spPr>
          <a:xfrm>
            <a:off x="2017486" y="4815270"/>
            <a:ext cx="3156065" cy="369332"/>
          </a:xfrm>
          <a:prstGeom prst="rect">
            <a:avLst/>
          </a:prstGeom>
          <a:noFill/>
        </p:spPr>
        <p:txBody>
          <a:bodyPr wrap="square" lIns="0" tIns="0" rIns="0" bIns="0" rtlCol="0" anchor="ctr">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Channel Management</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Sales Effectiveness</a:t>
            </a:r>
          </a:p>
        </p:txBody>
      </p:sp>
      <p:sp>
        <p:nvSpPr>
          <p:cNvPr id="113" name="TextBox 24">
            <a:extLst>
              <a:ext uri="{FF2B5EF4-FFF2-40B4-BE49-F238E27FC236}">
                <a16:creationId xmlns:a16="http://schemas.microsoft.com/office/drawing/2014/main" id="{A708EF4D-6E72-0317-A66E-0914FA15D8BA}"/>
              </a:ext>
            </a:extLst>
          </p:cNvPr>
          <p:cNvSpPr txBox="1"/>
          <p:nvPr/>
        </p:nvSpPr>
        <p:spPr>
          <a:xfrm>
            <a:off x="381308" y="5621563"/>
            <a:ext cx="1419287" cy="215444"/>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 bono</a:t>
            </a:r>
          </a:p>
        </p:txBody>
      </p:sp>
      <p:pic>
        <p:nvPicPr>
          <p:cNvPr id="31" name="Picture 2">
            <a:extLst>
              <a:ext uri="{FF2B5EF4-FFF2-40B4-BE49-F238E27FC236}">
                <a16:creationId xmlns:a16="http://schemas.microsoft.com/office/drawing/2014/main" id="{B87A7642-D6B5-495E-9DC0-63990B3B5E81}"/>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3555F38-9376-30EC-4917-B5CA1E769DBC}"/>
              </a:ext>
            </a:extLst>
          </p:cNvPr>
          <p:cNvSpPr/>
          <p:nvPr/>
        </p:nvSpPr>
        <p:spPr>
          <a:xfrm>
            <a:off x="121919" y="6225003"/>
            <a:ext cx="2406125" cy="5796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4" name="Picture 2">
            <a:extLst>
              <a:ext uri="{FF2B5EF4-FFF2-40B4-BE49-F238E27FC236}">
                <a16:creationId xmlns:a16="http://schemas.microsoft.com/office/drawing/2014/main" id="{41656605-E367-4863-42D9-DDED389BA551}"/>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11">
            <a:extLst>
              <a:ext uri="{FF2B5EF4-FFF2-40B4-BE49-F238E27FC236}">
                <a16:creationId xmlns:a16="http://schemas.microsoft.com/office/drawing/2014/main" id="{7EBA0D0E-1F90-FFE1-C05D-B09C03857834}"/>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6">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229650327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C0B7FD4F-8CA4-9501-B198-B2B4F8F4187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7" name="Objeto 6" hidden="1">
                        <a:extLst>
                          <a:ext uri="{FF2B5EF4-FFF2-40B4-BE49-F238E27FC236}">
                            <a16:creationId xmlns:a16="http://schemas.microsoft.com/office/drawing/2014/main" id="{C0B7FD4F-8CA4-9501-B198-B2B4F8F418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4F43DAE9-4BED-9805-85A5-3F46757BED3B}"/>
              </a:ext>
            </a:extLst>
          </p:cNvPr>
          <p:cNvSpPr>
            <a:spLocks noGrp="1"/>
          </p:cNvSpPr>
          <p:nvPr>
            <p:ph type="title"/>
          </p:nvPr>
        </p:nvSpPr>
        <p:spPr/>
        <p:txBody>
          <a:bodyPr vert="horz"/>
          <a:lstStyle/>
          <a:p>
            <a:r>
              <a:rPr lang="en-US" dirty="0"/>
              <a:t>Industries Umbrex Serves</a:t>
            </a:r>
          </a:p>
        </p:txBody>
      </p:sp>
      <p:sp>
        <p:nvSpPr>
          <p:cNvPr id="8" name="TextBox 25">
            <a:extLst>
              <a:ext uri="{FF2B5EF4-FFF2-40B4-BE49-F238E27FC236}">
                <a16:creationId xmlns:a16="http://schemas.microsoft.com/office/drawing/2014/main" id="{ED21F794-CCBB-1CC0-455D-505AFEE02B6B}"/>
              </a:ext>
            </a:extLst>
          </p:cNvPr>
          <p:cNvSpPr txBox="1"/>
          <p:nvPr/>
        </p:nvSpPr>
        <p:spPr>
          <a:xfrm>
            <a:off x="384174" y="1338994"/>
            <a:ext cx="3681906" cy="3908762"/>
          </a:xfrm>
          <a:prstGeom prst="rect">
            <a:avLst/>
          </a:prstGeom>
          <a:noFill/>
        </p:spPr>
        <p:txBody>
          <a:bodyPr wrap="square" lIns="0" tIns="0" rIns="0" bIns="0" rtlCol="0" anchor="t">
            <a:spAutoFit/>
          </a:bodyPr>
          <a:lstStyle/>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Aerospace &amp; Defense</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Agriculture</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Automotive</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Biotechnology</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Chemicals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Consumer Packaged Goods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Cosmetics &amp; Personal Care</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Education</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Energy</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Financial Services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Healthcare</a:t>
            </a:r>
          </a:p>
        </p:txBody>
      </p:sp>
      <p:sp>
        <p:nvSpPr>
          <p:cNvPr id="9" name="TextBox 25">
            <a:extLst>
              <a:ext uri="{FF2B5EF4-FFF2-40B4-BE49-F238E27FC236}">
                <a16:creationId xmlns:a16="http://schemas.microsoft.com/office/drawing/2014/main" id="{2242DBD1-BD08-93D6-A353-3883BA5D0F13}"/>
              </a:ext>
            </a:extLst>
          </p:cNvPr>
          <p:cNvSpPr txBox="1"/>
          <p:nvPr/>
        </p:nvSpPr>
        <p:spPr>
          <a:xfrm>
            <a:off x="4261395" y="1338994"/>
            <a:ext cx="3681906" cy="3908762"/>
          </a:xfrm>
          <a:prstGeom prst="rect">
            <a:avLst/>
          </a:prstGeom>
          <a:noFill/>
        </p:spPr>
        <p:txBody>
          <a:bodyPr wrap="square" lIns="0" tIns="0" rIns="0" bIns="0" rtlCol="0" anchor="t">
            <a:spAutoFit/>
          </a:bodyPr>
          <a:lstStyle/>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Insurance</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Manufacturing</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Media &amp; Entertainment</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Medical Devices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Metals &amp; Mining</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Nonprofit</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Oil &amp; Gas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Pharmaceuticals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Private Equity</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Professional Services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Pulp and Paper</a:t>
            </a:r>
          </a:p>
        </p:txBody>
      </p:sp>
      <p:sp>
        <p:nvSpPr>
          <p:cNvPr id="10" name="TextBox 25">
            <a:extLst>
              <a:ext uri="{FF2B5EF4-FFF2-40B4-BE49-F238E27FC236}">
                <a16:creationId xmlns:a16="http://schemas.microsoft.com/office/drawing/2014/main" id="{1020553B-7A5C-F8DA-483F-48725D4C012A}"/>
              </a:ext>
            </a:extLst>
          </p:cNvPr>
          <p:cNvSpPr txBox="1"/>
          <p:nvPr/>
        </p:nvSpPr>
        <p:spPr>
          <a:xfrm>
            <a:off x="8138618" y="1338994"/>
            <a:ext cx="3681906" cy="3539430"/>
          </a:xfrm>
          <a:prstGeom prst="rect">
            <a:avLst/>
          </a:prstGeom>
          <a:noFill/>
        </p:spPr>
        <p:txBody>
          <a:bodyPr wrap="square" lIns="0" tIns="0" rIns="0" bIns="0" rtlCol="0" anchor="t">
            <a:spAutoFit/>
          </a:bodyPr>
          <a:lstStyle/>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Real Estate &amp; Construction</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Restaurant</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Retail</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Social Sector &amp; NGOs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Software</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Technology</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Telecommunications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Travel &amp; Logistics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Waste Management</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Wine, Beer, and Spirits</a:t>
            </a:r>
          </a:p>
        </p:txBody>
      </p:sp>
      <p:pic>
        <p:nvPicPr>
          <p:cNvPr id="11" name="Picture 2">
            <a:extLst>
              <a:ext uri="{FF2B5EF4-FFF2-40B4-BE49-F238E27FC236}">
                <a16:creationId xmlns:a16="http://schemas.microsoft.com/office/drawing/2014/main" id="{D0DAB828-0FC5-4C90-B0DB-7F448DEFB786}"/>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A58686D-0866-896D-08B6-096D7F40EBE6}"/>
              </a:ext>
            </a:extLst>
          </p:cNvPr>
          <p:cNvSpPr/>
          <p:nvPr/>
        </p:nvSpPr>
        <p:spPr>
          <a:xfrm>
            <a:off x="121920" y="6400800"/>
            <a:ext cx="1805492"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5" name="Picture 2">
            <a:extLst>
              <a:ext uri="{FF2B5EF4-FFF2-40B4-BE49-F238E27FC236}">
                <a16:creationId xmlns:a16="http://schemas.microsoft.com/office/drawing/2014/main" id="{9FF6E30E-F88A-8F0D-71C1-CC8C1DBB94EE}"/>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11">
            <a:extLst>
              <a:ext uri="{FF2B5EF4-FFF2-40B4-BE49-F238E27FC236}">
                <a16:creationId xmlns:a16="http://schemas.microsoft.com/office/drawing/2014/main" id="{71CEA26A-AC0D-DC1C-11EE-6A0E0ABD83BB}"/>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6">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114288188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F748C09D-7D33-BA67-798B-80EBFEF9949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7" name="Objeto 6" hidden="1">
                        <a:extLst>
                          <a:ext uri="{FF2B5EF4-FFF2-40B4-BE49-F238E27FC236}">
                            <a16:creationId xmlns:a16="http://schemas.microsoft.com/office/drawing/2014/main" id="{F748C09D-7D33-BA67-798B-80EBFEF994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ángulo 9">
            <a:extLst>
              <a:ext uri="{FF2B5EF4-FFF2-40B4-BE49-F238E27FC236}">
                <a16:creationId xmlns:a16="http://schemas.microsoft.com/office/drawing/2014/main" id="{49975B6E-0885-D192-EF4F-F7F4CE3A27B6}"/>
              </a:ext>
            </a:extLst>
          </p:cNvPr>
          <p:cNvSpPr/>
          <p:nvPr/>
        </p:nvSpPr>
        <p:spPr>
          <a:xfrm>
            <a:off x="371475" y="1376363"/>
            <a:ext cx="11449050" cy="49323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mn-cs"/>
              <a:sym typeface="Verdana" panose="020B0604030504040204" pitchFamily="34" charset="0"/>
            </a:endParaRPr>
          </a:p>
        </p:txBody>
      </p:sp>
      <p:sp>
        <p:nvSpPr>
          <p:cNvPr id="3" name="Título 2">
            <a:extLst>
              <a:ext uri="{FF2B5EF4-FFF2-40B4-BE49-F238E27FC236}">
                <a16:creationId xmlns:a16="http://schemas.microsoft.com/office/drawing/2014/main" id="{045465C7-8945-2FDA-74AC-56273CFE27BA}"/>
              </a:ext>
            </a:extLst>
          </p:cNvPr>
          <p:cNvSpPr>
            <a:spLocks noGrp="1"/>
          </p:cNvSpPr>
          <p:nvPr>
            <p:ph type="title"/>
          </p:nvPr>
        </p:nvSpPr>
        <p:spPr/>
        <p:txBody>
          <a:bodyPr vert="horz"/>
          <a:lstStyle/>
          <a:p>
            <a:r>
              <a:rPr lang="en-US" dirty="0"/>
              <a:t>Umbrex offers flexible options to engage talent</a:t>
            </a:r>
          </a:p>
        </p:txBody>
      </p:sp>
      <p:pic>
        <p:nvPicPr>
          <p:cNvPr id="8" name="Picture 2">
            <a:extLst>
              <a:ext uri="{FF2B5EF4-FFF2-40B4-BE49-F238E27FC236}">
                <a16:creationId xmlns:a16="http://schemas.microsoft.com/office/drawing/2014/main" id="{01AE375A-B25A-4004-874A-358001D6DCD8}"/>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a:extLst>
              <a:ext uri="{FF2B5EF4-FFF2-40B4-BE49-F238E27FC236}">
                <a16:creationId xmlns:a16="http://schemas.microsoft.com/office/drawing/2014/main" id="{CDCB518E-7159-4A3E-B38C-308B65DCA08A}"/>
              </a:ext>
            </a:extLst>
          </p:cNvPr>
          <p:cNvCxnSpPr/>
          <p:nvPr/>
        </p:nvCxnSpPr>
        <p:spPr>
          <a:xfrm>
            <a:off x="618067" y="3811308"/>
            <a:ext cx="1083733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46A9659-27D7-4AF1-82AA-34A48E1DD8D9}"/>
              </a:ext>
            </a:extLst>
          </p:cNvPr>
          <p:cNvCxnSpPr/>
          <p:nvPr/>
        </p:nvCxnSpPr>
        <p:spPr>
          <a:xfrm>
            <a:off x="6096000" y="4302375"/>
            <a:ext cx="0" cy="148166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20C419C-81C9-4E21-88A2-AD3050D06EBC}"/>
              </a:ext>
            </a:extLst>
          </p:cNvPr>
          <p:cNvCxnSpPr/>
          <p:nvPr/>
        </p:nvCxnSpPr>
        <p:spPr>
          <a:xfrm>
            <a:off x="6096000" y="1838574"/>
            <a:ext cx="0" cy="148166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83E4314-D4CD-4EB0-80A6-AC92237EA5DB}"/>
              </a:ext>
            </a:extLst>
          </p:cNvPr>
          <p:cNvSpPr txBox="1"/>
          <p:nvPr/>
        </p:nvSpPr>
        <p:spPr>
          <a:xfrm>
            <a:off x="6080124" y="4146854"/>
            <a:ext cx="572452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dirty="0">
                <a:ln>
                  <a:noFill/>
                </a:ln>
                <a:solidFill>
                  <a:srgbClr val="0A1A49"/>
                </a:solidFill>
                <a:effectLst/>
                <a:uLnTx/>
                <a:uFillTx/>
                <a:latin typeface="Verdana"/>
                <a:ea typeface="+mn-ea"/>
                <a:cs typeface="+mn-cs"/>
              </a:rPr>
              <a:t>Location</a:t>
            </a:r>
          </a:p>
        </p:txBody>
      </p:sp>
      <p:sp>
        <p:nvSpPr>
          <p:cNvPr id="18" name="TextBox 17">
            <a:extLst>
              <a:ext uri="{FF2B5EF4-FFF2-40B4-BE49-F238E27FC236}">
                <a16:creationId xmlns:a16="http://schemas.microsoft.com/office/drawing/2014/main" id="{0D46B445-6B88-4DCE-9CE9-4C57979D27B6}"/>
              </a:ext>
            </a:extLst>
          </p:cNvPr>
          <p:cNvSpPr txBox="1"/>
          <p:nvPr/>
        </p:nvSpPr>
        <p:spPr>
          <a:xfrm>
            <a:off x="371475" y="4146854"/>
            <a:ext cx="572452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dirty="0">
                <a:ln>
                  <a:noFill/>
                </a:ln>
                <a:solidFill>
                  <a:srgbClr val="0A1A49"/>
                </a:solidFill>
                <a:effectLst/>
                <a:uLnTx/>
                <a:uFillTx/>
                <a:latin typeface="Verdana"/>
                <a:ea typeface="+mn-ea"/>
                <a:cs typeface="+mn-cs"/>
              </a:rPr>
              <a:t>Seniority</a:t>
            </a:r>
          </a:p>
        </p:txBody>
      </p:sp>
      <p:sp>
        <p:nvSpPr>
          <p:cNvPr id="19" name="TextBox 18">
            <a:extLst>
              <a:ext uri="{FF2B5EF4-FFF2-40B4-BE49-F238E27FC236}">
                <a16:creationId xmlns:a16="http://schemas.microsoft.com/office/drawing/2014/main" id="{B2665F01-922D-4AB7-A449-F4353A02187C}"/>
              </a:ext>
            </a:extLst>
          </p:cNvPr>
          <p:cNvSpPr txBox="1"/>
          <p:nvPr/>
        </p:nvSpPr>
        <p:spPr>
          <a:xfrm>
            <a:off x="6080124" y="1838574"/>
            <a:ext cx="572452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dirty="0">
                <a:ln>
                  <a:noFill/>
                </a:ln>
                <a:solidFill>
                  <a:srgbClr val="0A1A49"/>
                </a:solidFill>
                <a:effectLst/>
                <a:uLnTx/>
                <a:uFillTx/>
                <a:latin typeface="Verdana"/>
                <a:ea typeface="+mn-ea"/>
                <a:cs typeface="+mn-cs"/>
              </a:rPr>
              <a:t>Number of consultants</a:t>
            </a:r>
          </a:p>
        </p:txBody>
      </p:sp>
      <p:sp>
        <p:nvSpPr>
          <p:cNvPr id="20" name="TextBox 19">
            <a:extLst>
              <a:ext uri="{FF2B5EF4-FFF2-40B4-BE49-F238E27FC236}">
                <a16:creationId xmlns:a16="http://schemas.microsoft.com/office/drawing/2014/main" id="{9BD3979D-2C67-4D8F-8659-B3B476E9F2C0}"/>
              </a:ext>
            </a:extLst>
          </p:cNvPr>
          <p:cNvSpPr txBox="1"/>
          <p:nvPr/>
        </p:nvSpPr>
        <p:spPr>
          <a:xfrm>
            <a:off x="371475" y="1838574"/>
            <a:ext cx="572452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dirty="0">
                <a:ln>
                  <a:noFill/>
                </a:ln>
                <a:solidFill>
                  <a:srgbClr val="0A1A49"/>
                </a:solidFill>
                <a:effectLst/>
                <a:uLnTx/>
                <a:uFillTx/>
                <a:latin typeface="Verdana"/>
                <a:ea typeface="+mn-ea"/>
                <a:cs typeface="+mn-cs"/>
              </a:rPr>
              <a:t>Time commitment</a:t>
            </a:r>
          </a:p>
        </p:txBody>
      </p:sp>
      <p:graphicFrame>
        <p:nvGraphicFramePr>
          <p:cNvPr id="23" name="Chart 22">
            <a:extLst>
              <a:ext uri="{FF2B5EF4-FFF2-40B4-BE49-F238E27FC236}">
                <a16:creationId xmlns:a16="http://schemas.microsoft.com/office/drawing/2014/main" id="{9D843B5B-C243-4E2F-8B3D-98B768D6824E}"/>
              </a:ext>
            </a:extLst>
          </p:cNvPr>
          <p:cNvGraphicFramePr/>
          <p:nvPr/>
        </p:nvGraphicFramePr>
        <p:xfrm>
          <a:off x="1799153" y="1812732"/>
          <a:ext cx="2874968" cy="191664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4" name="Chart 23">
            <a:extLst>
              <a:ext uri="{FF2B5EF4-FFF2-40B4-BE49-F238E27FC236}">
                <a16:creationId xmlns:a16="http://schemas.microsoft.com/office/drawing/2014/main" id="{FBC43CEC-0FD0-4534-8963-E1A33E2E5F61}"/>
              </a:ext>
            </a:extLst>
          </p:cNvPr>
          <p:cNvGraphicFramePr/>
          <p:nvPr/>
        </p:nvGraphicFramePr>
        <p:xfrm>
          <a:off x="3529528" y="1812732"/>
          <a:ext cx="2874968" cy="191664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5" name="Chart 24">
            <a:extLst>
              <a:ext uri="{FF2B5EF4-FFF2-40B4-BE49-F238E27FC236}">
                <a16:creationId xmlns:a16="http://schemas.microsoft.com/office/drawing/2014/main" id="{000B5214-B4CE-4100-BE2D-F49FA6BD4078}"/>
              </a:ext>
            </a:extLst>
          </p:cNvPr>
          <p:cNvGraphicFramePr/>
          <p:nvPr/>
        </p:nvGraphicFramePr>
        <p:xfrm>
          <a:off x="68778" y="1812732"/>
          <a:ext cx="2874968" cy="1916646"/>
        </p:xfrm>
        <a:graphic>
          <a:graphicData uri="http://schemas.openxmlformats.org/drawingml/2006/chart">
            <c:chart xmlns:c="http://schemas.openxmlformats.org/drawingml/2006/chart" xmlns:r="http://schemas.openxmlformats.org/officeDocument/2006/relationships" r:id="rId8"/>
          </a:graphicData>
        </a:graphic>
      </p:graphicFrame>
      <p:sp>
        <p:nvSpPr>
          <p:cNvPr id="27" name="TextBox 26">
            <a:extLst>
              <a:ext uri="{FF2B5EF4-FFF2-40B4-BE49-F238E27FC236}">
                <a16:creationId xmlns:a16="http://schemas.microsoft.com/office/drawing/2014/main" id="{8130EFFB-042E-4A03-9F8B-F5A697CE7F3F}"/>
              </a:ext>
            </a:extLst>
          </p:cNvPr>
          <p:cNvSpPr txBox="1"/>
          <p:nvPr/>
        </p:nvSpPr>
        <p:spPr>
          <a:xfrm>
            <a:off x="9427224" y="3170701"/>
            <a:ext cx="1079260" cy="299079"/>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dirty="0">
                <a:ln>
                  <a:noFill/>
                </a:ln>
                <a:solidFill>
                  <a:srgbClr val="002060"/>
                </a:solidFill>
                <a:effectLst/>
                <a:uLnTx/>
                <a:uFillTx/>
                <a:latin typeface="Verdana"/>
                <a:ea typeface="+mn-ea"/>
                <a:cs typeface="+mn-cs"/>
              </a:rPr>
              <a:t>Team</a:t>
            </a:r>
          </a:p>
        </p:txBody>
      </p:sp>
      <p:sp>
        <p:nvSpPr>
          <p:cNvPr id="28" name="TextBox 27">
            <a:extLst>
              <a:ext uri="{FF2B5EF4-FFF2-40B4-BE49-F238E27FC236}">
                <a16:creationId xmlns:a16="http://schemas.microsoft.com/office/drawing/2014/main" id="{22171946-69DF-4AF9-9615-2276037BDCC8}"/>
              </a:ext>
            </a:extLst>
          </p:cNvPr>
          <p:cNvSpPr txBox="1"/>
          <p:nvPr/>
        </p:nvSpPr>
        <p:spPr>
          <a:xfrm>
            <a:off x="7378289" y="3170701"/>
            <a:ext cx="1079260" cy="299079"/>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dirty="0">
                <a:ln>
                  <a:noFill/>
                </a:ln>
                <a:solidFill>
                  <a:srgbClr val="002060"/>
                </a:solidFill>
                <a:effectLst/>
                <a:uLnTx/>
                <a:uFillTx/>
                <a:latin typeface="Verdana"/>
                <a:ea typeface="+mn-ea"/>
                <a:cs typeface="+mn-cs"/>
              </a:rPr>
              <a:t>Individual</a:t>
            </a:r>
          </a:p>
        </p:txBody>
      </p:sp>
      <p:pic>
        <p:nvPicPr>
          <p:cNvPr id="31" name="Graphic 30">
            <a:extLst>
              <a:ext uri="{FF2B5EF4-FFF2-40B4-BE49-F238E27FC236}">
                <a16:creationId xmlns:a16="http://schemas.microsoft.com/office/drawing/2014/main" id="{686E179A-E171-4782-9B0F-9A31306EB456}"/>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7611535" y="2337487"/>
            <a:ext cx="609600" cy="609600"/>
          </a:xfrm>
          <a:prstGeom prst="rect">
            <a:avLst/>
          </a:prstGeom>
        </p:spPr>
      </p:pic>
      <p:pic>
        <p:nvPicPr>
          <p:cNvPr id="33" name="Graphic 32">
            <a:extLst>
              <a:ext uri="{FF2B5EF4-FFF2-40B4-BE49-F238E27FC236}">
                <a16:creationId xmlns:a16="http://schemas.microsoft.com/office/drawing/2014/main" id="{BFF6EAC6-E319-405C-B225-2C1E176F4E89}"/>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597409" y="2310190"/>
            <a:ext cx="738889" cy="738889"/>
          </a:xfrm>
          <a:prstGeom prst="rect">
            <a:avLst/>
          </a:prstGeom>
        </p:spPr>
      </p:pic>
      <p:cxnSp>
        <p:nvCxnSpPr>
          <p:cNvPr id="38" name="Straight Connector 37">
            <a:extLst>
              <a:ext uri="{FF2B5EF4-FFF2-40B4-BE49-F238E27FC236}">
                <a16:creationId xmlns:a16="http://schemas.microsoft.com/office/drawing/2014/main" id="{141CFCCB-AAB8-4F6F-B090-E4248F7968DD}"/>
              </a:ext>
            </a:extLst>
          </p:cNvPr>
          <p:cNvCxnSpPr>
            <a:cxnSpLocks/>
          </p:cNvCxnSpPr>
          <p:nvPr/>
        </p:nvCxnSpPr>
        <p:spPr>
          <a:xfrm>
            <a:off x="2069598" y="5737854"/>
            <a:ext cx="260452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41" name="Freeform: Shape 40">
            <a:extLst>
              <a:ext uri="{FF2B5EF4-FFF2-40B4-BE49-F238E27FC236}">
                <a16:creationId xmlns:a16="http://schemas.microsoft.com/office/drawing/2014/main" id="{D5CFE2FF-BE00-44EF-9E81-637C6D79C9A3}"/>
              </a:ext>
            </a:extLst>
          </p:cNvPr>
          <p:cNvSpPr/>
          <p:nvPr/>
        </p:nvSpPr>
        <p:spPr>
          <a:xfrm>
            <a:off x="2251611" y="4710779"/>
            <a:ext cx="2166825" cy="1027075"/>
          </a:xfrm>
          <a:custGeom>
            <a:avLst/>
            <a:gdLst>
              <a:gd name="connsiteX0" fmla="*/ 0 w 2166825"/>
              <a:gd name="connsiteY0" fmla="*/ 1027075 h 1027075"/>
              <a:gd name="connsiteX1" fmla="*/ 0 w 2166825"/>
              <a:gd name="connsiteY1" fmla="*/ 771390 h 1027075"/>
              <a:gd name="connsiteX2" fmla="*/ 693384 w 2166825"/>
              <a:gd name="connsiteY2" fmla="*/ 793058 h 1027075"/>
              <a:gd name="connsiteX3" fmla="*/ 693384 w 2166825"/>
              <a:gd name="connsiteY3" fmla="*/ 446366 h 1027075"/>
              <a:gd name="connsiteX4" fmla="*/ 1395435 w 2166825"/>
              <a:gd name="connsiteY4" fmla="*/ 463701 h 1027075"/>
              <a:gd name="connsiteX5" fmla="*/ 1395435 w 2166825"/>
              <a:gd name="connsiteY5" fmla="*/ 0 h 1027075"/>
              <a:gd name="connsiteX6" fmla="*/ 2145157 w 2166825"/>
              <a:gd name="connsiteY6" fmla="*/ 8668 h 1027075"/>
              <a:gd name="connsiteX7" fmla="*/ 2166825 w 2166825"/>
              <a:gd name="connsiteY7" fmla="*/ 1022742 h 1027075"/>
              <a:gd name="connsiteX8" fmla="*/ 0 w 2166825"/>
              <a:gd name="connsiteY8" fmla="*/ 1027075 h 102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6825" h="1027075">
                <a:moveTo>
                  <a:pt x="0" y="1027075"/>
                </a:moveTo>
                <a:lnTo>
                  <a:pt x="0" y="771390"/>
                </a:lnTo>
                <a:lnTo>
                  <a:pt x="693384" y="793058"/>
                </a:lnTo>
                <a:lnTo>
                  <a:pt x="693384" y="446366"/>
                </a:lnTo>
                <a:lnTo>
                  <a:pt x="1395435" y="463701"/>
                </a:lnTo>
                <a:lnTo>
                  <a:pt x="1395435" y="0"/>
                </a:lnTo>
                <a:lnTo>
                  <a:pt x="2145157" y="8668"/>
                </a:lnTo>
                <a:lnTo>
                  <a:pt x="2166825" y="1022742"/>
                </a:lnTo>
                <a:lnTo>
                  <a:pt x="0" y="1027075"/>
                </a:lnTo>
                <a:close/>
              </a:path>
            </a:pathLst>
          </a:cu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2" name="TextBox 41">
            <a:extLst>
              <a:ext uri="{FF2B5EF4-FFF2-40B4-BE49-F238E27FC236}">
                <a16:creationId xmlns:a16="http://schemas.microsoft.com/office/drawing/2014/main" id="{2B971B3C-5FF6-493B-97C7-9F25CE25F2A1}"/>
              </a:ext>
            </a:extLst>
          </p:cNvPr>
          <p:cNvSpPr txBox="1"/>
          <p:nvPr/>
        </p:nvSpPr>
        <p:spPr>
          <a:xfrm>
            <a:off x="2175865" y="5292463"/>
            <a:ext cx="773464" cy="187360"/>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000" b="1" i="0" u="none" strike="noStrike" kern="1200" cap="none" spc="0" normalizeH="0" baseline="0" noProof="0" dirty="0">
                <a:ln>
                  <a:noFill/>
                </a:ln>
                <a:solidFill>
                  <a:srgbClr val="002060"/>
                </a:solidFill>
                <a:effectLst/>
                <a:uLnTx/>
                <a:uFillTx/>
                <a:latin typeface="Verdana"/>
                <a:ea typeface="+mn-ea"/>
                <a:cs typeface="+mn-cs"/>
              </a:rPr>
              <a:t>Associate</a:t>
            </a:r>
          </a:p>
        </p:txBody>
      </p:sp>
      <p:sp>
        <p:nvSpPr>
          <p:cNvPr id="43" name="TextBox 42">
            <a:extLst>
              <a:ext uri="{FF2B5EF4-FFF2-40B4-BE49-F238E27FC236}">
                <a16:creationId xmlns:a16="http://schemas.microsoft.com/office/drawing/2014/main" id="{EE367D9B-0273-4673-BD2C-633F0F594E31}"/>
              </a:ext>
            </a:extLst>
          </p:cNvPr>
          <p:cNvSpPr txBox="1"/>
          <p:nvPr/>
        </p:nvSpPr>
        <p:spPr>
          <a:xfrm>
            <a:off x="2900307" y="4943277"/>
            <a:ext cx="773464" cy="187360"/>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000" b="1" i="0" u="none" strike="noStrike" kern="1200" cap="none" spc="0" normalizeH="0" baseline="0" noProof="0" dirty="0">
                <a:ln>
                  <a:noFill/>
                </a:ln>
                <a:solidFill>
                  <a:srgbClr val="002060"/>
                </a:solidFill>
                <a:effectLst/>
                <a:uLnTx/>
                <a:uFillTx/>
                <a:latin typeface="Verdana"/>
                <a:ea typeface="+mn-ea"/>
                <a:cs typeface="+mn-cs"/>
              </a:rPr>
              <a:t>Manager</a:t>
            </a:r>
          </a:p>
        </p:txBody>
      </p:sp>
      <p:sp>
        <p:nvSpPr>
          <p:cNvPr id="44" name="TextBox 43">
            <a:extLst>
              <a:ext uri="{FF2B5EF4-FFF2-40B4-BE49-F238E27FC236}">
                <a16:creationId xmlns:a16="http://schemas.microsoft.com/office/drawing/2014/main" id="{06A3A105-52F7-4B76-BBDA-4B3C8FD31C5F}"/>
              </a:ext>
            </a:extLst>
          </p:cNvPr>
          <p:cNvSpPr txBox="1"/>
          <p:nvPr/>
        </p:nvSpPr>
        <p:spPr>
          <a:xfrm>
            <a:off x="3644972" y="4490016"/>
            <a:ext cx="773464" cy="187360"/>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000" b="1" i="0" u="none" strike="noStrike" kern="1200" cap="none" spc="0" normalizeH="0" baseline="0" noProof="0" dirty="0">
                <a:ln>
                  <a:noFill/>
                </a:ln>
                <a:solidFill>
                  <a:srgbClr val="002060"/>
                </a:solidFill>
                <a:effectLst/>
                <a:uLnTx/>
                <a:uFillTx/>
                <a:latin typeface="Verdana"/>
                <a:ea typeface="+mn-ea"/>
                <a:cs typeface="+mn-cs"/>
              </a:rPr>
              <a:t>Partner</a:t>
            </a:r>
          </a:p>
        </p:txBody>
      </p:sp>
      <p:sp>
        <p:nvSpPr>
          <p:cNvPr id="47" name="TextBox 46">
            <a:extLst>
              <a:ext uri="{FF2B5EF4-FFF2-40B4-BE49-F238E27FC236}">
                <a16:creationId xmlns:a16="http://schemas.microsoft.com/office/drawing/2014/main" id="{71012516-6B3B-4E31-B93A-07CC06535C40}"/>
              </a:ext>
            </a:extLst>
          </p:cNvPr>
          <p:cNvSpPr txBox="1"/>
          <p:nvPr/>
        </p:nvSpPr>
        <p:spPr>
          <a:xfrm>
            <a:off x="9427224" y="5438775"/>
            <a:ext cx="1079260" cy="299079"/>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dirty="0">
                <a:ln>
                  <a:noFill/>
                </a:ln>
                <a:solidFill>
                  <a:srgbClr val="002060"/>
                </a:solidFill>
                <a:effectLst/>
                <a:uLnTx/>
                <a:uFillTx/>
                <a:latin typeface="Verdana"/>
                <a:ea typeface="+mn-ea"/>
                <a:cs typeface="+mn-cs"/>
              </a:rPr>
              <a:t>On-site</a:t>
            </a:r>
          </a:p>
        </p:txBody>
      </p:sp>
      <p:sp>
        <p:nvSpPr>
          <p:cNvPr id="48" name="TextBox 47">
            <a:extLst>
              <a:ext uri="{FF2B5EF4-FFF2-40B4-BE49-F238E27FC236}">
                <a16:creationId xmlns:a16="http://schemas.microsoft.com/office/drawing/2014/main" id="{FB974C63-9D0D-4A1F-94B6-39E9D431EF40}"/>
              </a:ext>
            </a:extLst>
          </p:cNvPr>
          <p:cNvSpPr txBox="1"/>
          <p:nvPr/>
        </p:nvSpPr>
        <p:spPr>
          <a:xfrm>
            <a:off x="7378289" y="5438775"/>
            <a:ext cx="1079260" cy="299079"/>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dirty="0">
                <a:ln>
                  <a:noFill/>
                </a:ln>
                <a:solidFill>
                  <a:srgbClr val="002060"/>
                </a:solidFill>
                <a:effectLst/>
                <a:uLnTx/>
                <a:uFillTx/>
                <a:latin typeface="Verdana"/>
                <a:ea typeface="+mn-ea"/>
                <a:cs typeface="+mn-cs"/>
              </a:rPr>
              <a:t>Remote</a:t>
            </a:r>
          </a:p>
        </p:txBody>
      </p:sp>
      <p:pic>
        <p:nvPicPr>
          <p:cNvPr id="52" name="Graphic 51">
            <a:extLst>
              <a:ext uri="{FF2B5EF4-FFF2-40B4-BE49-F238E27FC236}">
                <a16:creationId xmlns:a16="http://schemas.microsoft.com/office/drawing/2014/main" id="{25A39B0C-8B0A-40FB-A564-1950B902CC03}"/>
              </a:ext>
            </a:extLst>
          </p:cNvPr>
          <p:cNvPicPr>
            <a:picLocks noChangeAspect="1"/>
          </p:cNvPicPr>
          <p:nvPr/>
        </p:nvPicPr>
        <p:blipFill rotWithShape="1">
          <a:blip r:embed="rId13">
            <a:extLst>
              <a:ext uri="{96DAC541-7B7A-43D3-8B79-37D633B846F1}">
                <asvg:svgBlip xmlns:asvg="http://schemas.microsoft.com/office/drawing/2016/SVG/main" r:embed="rId14"/>
              </a:ext>
            </a:extLst>
          </a:blip>
          <a:srcRect b="25834"/>
          <a:stretch/>
        </p:blipFill>
        <p:spPr>
          <a:xfrm>
            <a:off x="7467262" y="4677376"/>
            <a:ext cx="855376" cy="793005"/>
          </a:xfrm>
          <a:prstGeom prst="rect">
            <a:avLst/>
          </a:prstGeom>
        </p:spPr>
      </p:pic>
      <p:pic>
        <p:nvPicPr>
          <p:cNvPr id="54" name="Graphic 53">
            <a:extLst>
              <a:ext uri="{FF2B5EF4-FFF2-40B4-BE49-F238E27FC236}">
                <a16:creationId xmlns:a16="http://schemas.microsoft.com/office/drawing/2014/main" id="{6DD4CFED-6248-494E-9393-EC105DE95318}"/>
              </a:ext>
            </a:extLst>
          </p:cNvPr>
          <p:cNvPicPr>
            <a:picLocks noChangeAspect="1"/>
          </p:cNvPicPr>
          <p:nvPr/>
        </p:nvPicPr>
        <p:blipFill rotWithShape="1">
          <a:blip r:embed="rId15">
            <a:extLst>
              <a:ext uri="{96DAC541-7B7A-43D3-8B79-37D633B846F1}">
                <asvg:svgBlip xmlns:asvg="http://schemas.microsoft.com/office/drawing/2016/SVG/main" r:embed="rId16"/>
              </a:ext>
            </a:extLst>
          </a:blip>
          <a:srcRect b="20404"/>
          <a:stretch/>
        </p:blipFill>
        <p:spPr>
          <a:xfrm>
            <a:off x="9539165" y="4614764"/>
            <a:ext cx="855376" cy="841052"/>
          </a:xfrm>
          <a:prstGeom prst="rect">
            <a:avLst/>
          </a:prstGeom>
        </p:spPr>
      </p:pic>
      <p:sp>
        <p:nvSpPr>
          <p:cNvPr id="4" name="Rectangle 3">
            <a:extLst>
              <a:ext uri="{FF2B5EF4-FFF2-40B4-BE49-F238E27FC236}">
                <a16:creationId xmlns:a16="http://schemas.microsoft.com/office/drawing/2014/main" id="{0A6B3BF1-1047-5037-CC13-1E46294241B2}"/>
              </a:ext>
            </a:extLst>
          </p:cNvPr>
          <p:cNvSpPr/>
          <p:nvPr/>
        </p:nvSpPr>
        <p:spPr>
          <a:xfrm>
            <a:off x="121920" y="6400800"/>
            <a:ext cx="1787562"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5" name="Picture 2">
            <a:extLst>
              <a:ext uri="{FF2B5EF4-FFF2-40B4-BE49-F238E27FC236}">
                <a16:creationId xmlns:a16="http://schemas.microsoft.com/office/drawing/2014/main" id="{4232E8CA-F31A-C12A-C362-A292D0926874}"/>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1">
            <a:extLst>
              <a:ext uri="{FF2B5EF4-FFF2-40B4-BE49-F238E27FC236}">
                <a16:creationId xmlns:a16="http://schemas.microsoft.com/office/drawing/2014/main" id="{86293CE0-5E33-8DB4-8CF2-3F0B5DAC8737}"/>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17">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10007538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17F099A-F537-4B6A-9C76-E61610A6C5E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1" imgH="398" progId="TCLayout.ActiveDocument.1">
                  <p:embed/>
                </p:oleObj>
              </mc:Choice>
              <mc:Fallback>
                <p:oleObj name="think-cell Slide" r:id="rId3" imgW="401" imgH="398" progId="TCLayout.ActiveDocument.1">
                  <p:embed/>
                  <p:pic>
                    <p:nvPicPr>
                      <p:cNvPr id="7" name="Object 6" hidden="1">
                        <a:extLst>
                          <a:ext uri="{FF2B5EF4-FFF2-40B4-BE49-F238E27FC236}">
                            <a16:creationId xmlns:a16="http://schemas.microsoft.com/office/drawing/2014/main" id="{217F099A-F537-4B6A-9C76-E61610A6C5E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Rounded Corners 4">
            <a:extLst>
              <a:ext uri="{FF2B5EF4-FFF2-40B4-BE49-F238E27FC236}">
                <a16:creationId xmlns:a16="http://schemas.microsoft.com/office/drawing/2014/main" id="{B8DBB4B6-1BE5-22FE-9565-D60C65FBE8D1}"/>
              </a:ext>
            </a:extLst>
          </p:cNvPr>
          <p:cNvSpPr/>
          <p:nvPr/>
        </p:nvSpPr>
        <p:spPr>
          <a:xfrm>
            <a:off x="9140326" y="363307"/>
            <a:ext cx="2680198" cy="485776"/>
          </a:xfrm>
          <a:prstGeom prst="roundRect">
            <a:avLst>
              <a:gd name="adj" fmla="val 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5">
                  <a:extLst>
                    <a:ext uri="{A12FA001-AC4F-418D-AE19-62706E023703}">
                      <ahyp:hlinkClr xmlns:ahyp="http://schemas.microsoft.com/office/drawing/2018/hyperlinkcolor" val="tx"/>
                    </a:ext>
                  </a:extLst>
                </a:hlinkClick>
              </a:rPr>
              <a:t>Join our community</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
        <p:nvSpPr>
          <p:cNvPr id="12" name="Rectángulo 9">
            <a:extLst>
              <a:ext uri="{FF2B5EF4-FFF2-40B4-BE49-F238E27FC236}">
                <a16:creationId xmlns:a16="http://schemas.microsoft.com/office/drawing/2014/main" id="{582AE587-4550-4390-9492-1BEFD39D2CDE}"/>
              </a:ext>
            </a:extLst>
          </p:cNvPr>
          <p:cNvSpPr/>
          <p:nvPr/>
        </p:nvSpPr>
        <p:spPr>
          <a:xfrm>
            <a:off x="384174" y="1520825"/>
            <a:ext cx="11449050" cy="47878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0" marR="0" lvl="0" indent="0" algn="ctr" defTabSz="228554"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cs typeface="+mn-cs"/>
                <a:sym typeface="Verdana" panose="020B0604030504040204" pitchFamily="34" charset="0"/>
              </a:rPr>
              <a:t>We create opportunities for our members to meet,</a:t>
            </a:r>
          </a:p>
          <a:p>
            <a:pPr marL="0" marR="0" lvl="0" indent="0" algn="ctr" defTabSz="228554"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cs typeface="+mn-cs"/>
                <a:sym typeface="Verdana" panose="020B0604030504040204" pitchFamily="34" charset="0"/>
              </a:rPr>
              <a:t>build relationships, share lessons learned, and collaborate</a:t>
            </a:r>
          </a:p>
        </p:txBody>
      </p:sp>
      <p:sp>
        <p:nvSpPr>
          <p:cNvPr id="3" name="Title 2">
            <a:extLst>
              <a:ext uri="{FF2B5EF4-FFF2-40B4-BE49-F238E27FC236}">
                <a16:creationId xmlns:a16="http://schemas.microsoft.com/office/drawing/2014/main" id="{F545842F-05C9-41CF-B1B6-7BC0A58FD964}"/>
              </a:ext>
            </a:extLst>
          </p:cNvPr>
          <p:cNvSpPr>
            <a:spLocks noGrp="1"/>
          </p:cNvSpPr>
          <p:nvPr>
            <p:ph type="title"/>
          </p:nvPr>
        </p:nvSpPr>
        <p:spPr>
          <a:xfrm>
            <a:off x="384175" y="381000"/>
            <a:ext cx="8331242" cy="485775"/>
          </a:xfrm>
        </p:spPr>
        <p:txBody>
          <a:bodyPr vert="horz"/>
          <a:lstStyle/>
          <a:p>
            <a:r>
              <a:rPr lang="en-US" dirty="0" err="1"/>
              <a:t>Umbrex</a:t>
            </a:r>
            <a:r>
              <a:rPr lang="en-US" dirty="0"/>
              <a:t> connects you with a community of other top-tier independent consultants</a:t>
            </a:r>
          </a:p>
        </p:txBody>
      </p:sp>
      <p:pic>
        <p:nvPicPr>
          <p:cNvPr id="8" name="Picture 2">
            <a:extLst>
              <a:ext uri="{FF2B5EF4-FFF2-40B4-BE49-F238E27FC236}">
                <a16:creationId xmlns:a16="http://schemas.microsoft.com/office/drawing/2014/main" id="{18626E2C-F879-4A0D-A911-B6C6FCBAA170}"/>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pic>
        <p:nvPicPr>
          <p:cNvPr id="14" name="Graphic 13">
            <a:extLst>
              <a:ext uri="{FF2B5EF4-FFF2-40B4-BE49-F238E27FC236}">
                <a16:creationId xmlns:a16="http://schemas.microsoft.com/office/drawing/2014/main" id="{2E1E653C-A8D0-48E1-948F-D61B47E7E5A7}"/>
              </a:ext>
            </a:extLst>
          </p:cNvPr>
          <p:cNvPicPr>
            <a:picLocks noChangeAspect="1"/>
          </p:cNvPicPr>
          <p:nvPr/>
        </p:nvPicPr>
        <p:blipFill rotWithShape="1">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b="18609"/>
          <a:stretch/>
        </p:blipFill>
        <p:spPr>
          <a:xfrm>
            <a:off x="1803524" y="2846854"/>
            <a:ext cx="847476" cy="689772"/>
          </a:xfrm>
          <a:prstGeom prst="rect">
            <a:avLst/>
          </a:prstGeom>
        </p:spPr>
      </p:pic>
      <p:sp>
        <p:nvSpPr>
          <p:cNvPr id="15" name="TextBox 14">
            <a:extLst>
              <a:ext uri="{FF2B5EF4-FFF2-40B4-BE49-F238E27FC236}">
                <a16:creationId xmlns:a16="http://schemas.microsoft.com/office/drawing/2014/main" id="{7CFCBE2A-5736-4B24-BF9C-16718D40943C}"/>
              </a:ext>
            </a:extLst>
          </p:cNvPr>
          <p:cNvSpPr txBox="1"/>
          <p:nvPr/>
        </p:nvSpPr>
        <p:spPr>
          <a:xfrm>
            <a:off x="6926373" y="5277236"/>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Free access to resources</a:t>
            </a:r>
          </a:p>
        </p:txBody>
      </p:sp>
      <p:sp>
        <p:nvSpPr>
          <p:cNvPr id="17" name="TextBox 16">
            <a:extLst>
              <a:ext uri="{FF2B5EF4-FFF2-40B4-BE49-F238E27FC236}">
                <a16:creationId xmlns:a16="http://schemas.microsoft.com/office/drawing/2014/main" id="{5AF6DC2A-6C0D-4EDC-AD60-9DB7AF97A2CC}"/>
              </a:ext>
            </a:extLst>
          </p:cNvPr>
          <p:cNvSpPr txBox="1"/>
          <p:nvPr/>
        </p:nvSpPr>
        <p:spPr>
          <a:xfrm>
            <a:off x="2684353" y="5277236"/>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Mastermind Groups</a:t>
            </a:r>
          </a:p>
        </p:txBody>
      </p:sp>
      <p:sp>
        <p:nvSpPr>
          <p:cNvPr id="16" name="TextBox 15">
            <a:extLst>
              <a:ext uri="{FF2B5EF4-FFF2-40B4-BE49-F238E27FC236}">
                <a16:creationId xmlns:a16="http://schemas.microsoft.com/office/drawing/2014/main" id="{A9C02814-A9A3-4C97-BB88-243DD3ECDA4E}"/>
              </a:ext>
            </a:extLst>
          </p:cNvPr>
          <p:cNvSpPr txBox="1"/>
          <p:nvPr/>
        </p:nvSpPr>
        <p:spPr>
          <a:xfrm>
            <a:off x="895310" y="3710829"/>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In-person events</a:t>
            </a:r>
          </a:p>
        </p:txBody>
      </p:sp>
      <p:sp>
        <p:nvSpPr>
          <p:cNvPr id="18" name="TextBox 17">
            <a:extLst>
              <a:ext uri="{FF2B5EF4-FFF2-40B4-BE49-F238E27FC236}">
                <a16:creationId xmlns:a16="http://schemas.microsoft.com/office/drawing/2014/main" id="{87B07003-8AB8-4404-A323-7111E1A3007D}"/>
              </a:ext>
            </a:extLst>
          </p:cNvPr>
          <p:cNvSpPr txBox="1"/>
          <p:nvPr/>
        </p:nvSpPr>
        <p:spPr>
          <a:xfrm>
            <a:off x="8715416" y="3710829"/>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Private online forum</a:t>
            </a:r>
          </a:p>
        </p:txBody>
      </p:sp>
      <p:sp>
        <p:nvSpPr>
          <p:cNvPr id="19" name="TextBox 18">
            <a:extLst>
              <a:ext uri="{FF2B5EF4-FFF2-40B4-BE49-F238E27FC236}">
                <a16:creationId xmlns:a16="http://schemas.microsoft.com/office/drawing/2014/main" id="{81431F3A-5AE0-4B99-8F46-542772C75A08}"/>
              </a:ext>
            </a:extLst>
          </p:cNvPr>
          <p:cNvSpPr txBox="1"/>
          <p:nvPr/>
        </p:nvSpPr>
        <p:spPr>
          <a:xfrm>
            <a:off x="4805363" y="3710829"/>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Online events</a:t>
            </a:r>
          </a:p>
        </p:txBody>
      </p:sp>
      <p:pic>
        <p:nvPicPr>
          <p:cNvPr id="24" name="Graphic 23">
            <a:extLst>
              <a:ext uri="{FF2B5EF4-FFF2-40B4-BE49-F238E27FC236}">
                <a16:creationId xmlns:a16="http://schemas.microsoft.com/office/drawing/2014/main" id="{CCEFEA56-5BCA-4E8F-B146-A536CC02A122}"/>
              </a:ext>
            </a:extLst>
          </p:cNvPr>
          <p:cNvPicPr>
            <a:picLocks noChangeAspect="1"/>
          </p:cNvPicPr>
          <p:nvPr/>
        </p:nvPicPr>
        <p:blipFill rotWithShape="1">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rcRect b="24174"/>
          <a:stretch/>
        </p:blipFill>
        <p:spPr>
          <a:xfrm>
            <a:off x="5640221" y="2846140"/>
            <a:ext cx="911559" cy="691200"/>
          </a:xfrm>
          <a:prstGeom prst="rect">
            <a:avLst/>
          </a:prstGeom>
        </p:spPr>
      </p:pic>
      <p:pic>
        <p:nvPicPr>
          <p:cNvPr id="30" name="Graphic 29">
            <a:extLst>
              <a:ext uri="{FF2B5EF4-FFF2-40B4-BE49-F238E27FC236}">
                <a16:creationId xmlns:a16="http://schemas.microsoft.com/office/drawing/2014/main" id="{7647EC8D-E11F-4288-BE52-FEC5135036E3}"/>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660453" y="2846140"/>
            <a:ext cx="691200" cy="691200"/>
          </a:xfrm>
          <a:prstGeom prst="rect">
            <a:avLst/>
          </a:prstGeom>
        </p:spPr>
      </p:pic>
      <p:pic>
        <p:nvPicPr>
          <p:cNvPr id="32" name="Graphic 31">
            <a:extLst>
              <a:ext uri="{FF2B5EF4-FFF2-40B4-BE49-F238E27FC236}">
                <a16:creationId xmlns:a16="http://schemas.microsoft.com/office/drawing/2014/main" id="{802C6A3A-922C-4ECD-9E32-764EF5F31895}"/>
              </a:ext>
            </a:extLst>
          </p:cNvPr>
          <p:cNvPicPr>
            <a:picLocks noChangeAspect="1"/>
          </p:cNvPicPr>
          <p:nvPr/>
        </p:nvPicPr>
        <p:blipFill rotWithShape="1">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rcRect b="27594"/>
          <a:stretch/>
        </p:blipFill>
        <p:spPr>
          <a:xfrm>
            <a:off x="3497680" y="4481524"/>
            <a:ext cx="954620" cy="691200"/>
          </a:xfrm>
          <a:prstGeom prst="rect">
            <a:avLst/>
          </a:prstGeom>
        </p:spPr>
      </p:pic>
      <p:pic>
        <p:nvPicPr>
          <p:cNvPr id="34" name="Graphic 33">
            <a:extLst>
              <a:ext uri="{FF2B5EF4-FFF2-40B4-BE49-F238E27FC236}">
                <a16:creationId xmlns:a16="http://schemas.microsoft.com/office/drawing/2014/main" id="{1293861B-7E3F-4241-83FE-C8FD29EFCDC1}"/>
              </a:ext>
            </a:extLst>
          </p:cNvPr>
          <p:cNvPicPr>
            <a:picLocks noChangeAspect="1"/>
          </p:cNvPicPr>
          <p:nvPr/>
        </p:nvPicPr>
        <p:blipFill rotWithShape="1">
          <a:blip r:embed="rId15" cstate="email">
            <a:extLst>
              <a:ext uri="{28A0092B-C50C-407E-A947-70E740481C1C}">
                <a14:useLocalDpi xmlns:a14="http://schemas.microsoft.com/office/drawing/2010/main"/>
              </a:ext>
              <a:ext uri="{96DAC541-7B7A-43D3-8B79-37D633B846F1}">
                <asvg:svgBlip xmlns:asvg="http://schemas.microsoft.com/office/drawing/2016/SVG/main" r:embed="rId16"/>
              </a:ext>
            </a:extLst>
          </a:blip>
          <a:srcRect b="18319"/>
          <a:stretch/>
        </p:blipFill>
        <p:spPr>
          <a:xfrm>
            <a:off x="7793902" y="4481524"/>
            <a:ext cx="846217" cy="691200"/>
          </a:xfrm>
          <a:prstGeom prst="rect">
            <a:avLst/>
          </a:prstGeom>
        </p:spPr>
      </p:pic>
      <p:cxnSp>
        <p:nvCxnSpPr>
          <p:cNvPr id="35" name="Straight Connector 34">
            <a:extLst>
              <a:ext uri="{FF2B5EF4-FFF2-40B4-BE49-F238E27FC236}">
                <a16:creationId xmlns:a16="http://schemas.microsoft.com/office/drawing/2014/main" id="{A766EC68-224E-4F72-A4F3-1F1EDD44945D}"/>
              </a:ext>
            </a:extLst>
          </p:cNvPr>
          <p:cNvCxnSpPr/>
          <p:nvPr/>
        </p:nvCxnSpPr>
        <p:spPr>
          <a:xfrm>
            <a:off x="618067" y="4365413"/>
            <a:ext cx="1083733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AB24472-9348-4EF3-9DAA-BC8137AE253A}"/>
              </a:ext>
            </a:extLst>
          </p:cNvPr>
          <p:cNvCxnSpPr/>
          <p:nvPr/>
        </p:nvCxnSpPr>
        <p:spPr>
          <a:xfrm>
            <a:off x="8051027" y="2438400"/>
            <a:ext cx="0" cy="148166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5678644-CA98-4A01-978E-C07B9F666867}"/>
              </a:ext>
            </a:extLst>
          </p:cNvPr>
          <p:cNvCxnSpPr/>
          <p:nvPr/>
        </p:nvCxnSpPr>
        <p:spPr>
          <a:xfrm>
            <a:off x="4140974" y="2438400"/>
            <a:ext cx="0" cy="148166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B7FC9F8-7EC2-44CA-80CF-DB7B0C6CE4B7}"/>
              </a:ext>
            </a:extLst>
          </p:cNvPr>
          <p:cNvCxnSpPr/>
          <p:nvPr/>
        </p:nvCxnSpPr>
        <p:spPr>
          <a:xfrm>
            <a:off x="6096000" y="4683760"/>
            <a:ext cx="0" cy="148166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E6676F8A-A04A-D7D2-00E9-B1A11FD804FF}"/>
              </a:ext>
            </a:extLst>
          </p:cNvPr>
          <p:cNvSpPr/>
          <p:nvPr/>
        </p:nvSpPr>
        <p:spPr>
          <a:xfrm>
            <a:off x="121920" y="6400800"/>
            <a:ext cx="1787562"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4" name="Picture 2">
            <a:extLst>
              <a:ext uri="{FF2B5EF4-FFF2-40B4-BE49-F238E27FC236}">
                <a16:creationId xmlns:a16="http://schemas.microsoft.com/office/drawing/2014/main" id="{64AE205B-F279-4875-45C3-755BF419CBD9}"/>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568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217908A6-B554-106D-5A79-472829C977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7" name="Objeto 6" hidden="1">
                        <a:extLst>
                          <a:ext uri="{FF2B5EF4-FFF2-40B4-BE49-F238E27FC236}">
                            <a16:creationId xmlns:a16="http://schemas.microsoft.com/office/drawing/2014/main" id="{217908A6-B554-106D-5A79-472829C977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ángulo 9">
            <a:extLst>
              <a:ext uri="{FF2B5EF4-FFF2-40B4-BE49-F238E27FC236}">
                <a16:creationId xmlns:a16="http://schemas.microsoft.com/office/drawing/2014/main" id="{1A1C8E4D-2A64-E885-F82C-23CC38561BAF}"/>
              </a:ext>
            </a:extLst>
          </p:cNvPr>
          <p:cNvSpPr/>
          <p:nvPr/>
        </p:nvSpPr>
        <p:spPr>
          <a:xfrm>
            <a:off x="371474" y="1520825"/>
            <a:ext cx="11449051" cy="4787899"/>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0" marR="0" lvl="0" indent="0" algn="ctr" defTabSz="228600" rtl="0" eaLnBrk="1" fontAlgn="auto" latinLnBrk="0" hangingPunct="1">
              <a:lnSpc>
                <a:spcPct val="100000"/>
              </a:lnSpc>
              <a:spcBef>
                <a:spcPts val="0"/>
              </a:spcBef>
              <a:spcAft>
                <a:spcPts val="1200"/>
              </a:spcAft>
              <a:buClrTx/>
              <a:buSzTx/>
              <a:buFontTx/>
              <a:buNone/>
              <a:tabLst/>
              <a:defRPr/>
            </a:pPr>
            <a:endParaRPr kumimoji="0" lang="en-US" sz="1400" b="0" i="0" u="none" strike="noStrike" kern="1200" cap="none" spc="0" normalizeH="0" baseline="0" noProof="0" dirty="0">
              <a:ln>
                <a:noFill/>
              </a:ln>
              <a:solidFill>
                <a:srgbClr val="16207B"/>
              </a:solidFill>
              <a:effectLst/>
              <a:uLnTx/>
              <a:uFillTx/>
              <a:latin typeface="Verdana"/>
              <a:ea typeface="+mn-ea"/>
              <a:cs typeface="+mn-cs"/>
            </a:endParaRPr>
          </a:p>
        </p:txBody>
      </p:sp>
      <p:sp>
        <p:nvSpPr>
          <p:cNvPr id="14" name="Text Placeholder 13">
            <a:extLst>
              <a:ext uri="{FF2B5EF4-FFF2-40B4-BE49-F238E27FC236}">
                <a16:creationId xmlns:a16="http://schemas.microsoft.com/office/drawing/2014/main" id="{4DB6E595-15D9-453D-A1DF-3E8CBAA07BA6}"/>
              </a:ext>
            </a:extLst>
          </p:cNvPr>
          <p:cNvSpPr>
            <a:spLocks noGrp="1"/>
          </p:cNvSpPr>
          <p:nvPr>
            <p:ph type="body" sz="quarter" idx="14"/>
          </p:nvPr>
        </p:nvSpPr>
        <p:spPr>
          <a:xfrm>
            <a:off x="385762" y="802298"/>
            <a:ext cx="6980238" cy="576263"/>
          </a:xfrm>
        </p:spPr>
        <p:txBody>
          <a:bodyPr/>
          <a:lstStyle/>
          <a:p>
            <a:r>
              <a:rPr lang="en-US" dirty="0">
                <a:solidFill>
                  <a:srgbClr val="002060"/>
                </a:solidFill>
              </a:rPr>
              <a:t>Independent consultants available where you need them – in every global region</a:t>
            </a:r>
          </a:p>
          <a:p>
            <a:endParaRPr lang="en-US" dirty="0"/>
          </a:p>
        </p:txBody>
      </p:sp>
      <p:sp>
        <p:nvSpPr>
          <p:cNvPr id="3" name="Título 2">
            <a:extLst>
              <a:ext uri="{FF2B5EF4-FFF2-40B4-BE49-F238E27FC236}">
                <a16:creationId xmlns:a16="http://schemas.microsoft.com/office/drawing/2014/main" id="{D7435808-EB66-DC46-966C-AB37B312760F}"/>
              </a:ext>
            </a:extLst>
          </p:cNvPr>
          <p:cNvSpPr>
            <a:spLocks noGrp="1"/>
          </p:cNvSpPr>
          <p:nvPr>
            <p:ph type="title"/>
          </p:nvPr>
        </p:nvSpPr>
        <p:spPr/>
        <p:txBody>
          <a:bodyPr/>
          <a:lstStyle/>
          <a:p>
            <a:r>
              <a:rPr lang="en-US" dirty="0"/>
              <a:t>You're global and local - </a:t>
            </a:r>
            <a:r>
              <a:rPr lang="en-US" dirty="0" err="1"/>
              <a:t>Umbrex</a:t>
            </a:r>
            <a:r>
              <a:rPr lang="en-US" dirty="0"/>
              <a:t> is, too</a:t>
            </a:r>
          </a:p>
        </p:txBody>
      </p:sp>
      <p:pic>
        <p:nvPicPr>
          <p:cNvPr id="9" name="Imagen 8" descr="Mapa&#10;&#10;Descripción generada automáticamente">
            <a:extLst>
              <a:ext uri="{FF2B5EF4-FFF2-40B4-BE49-F238E27FC236}">
                <a16:creationId xmlns:a16="http://schemas.microsoft.com/office/drawing/2014/main" id="{A028C2B8-2E99-9346-E132-D879F7C935DD}"/>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t="27938" b="5673"/>
          <a:stretch/>
        </p:blipFill>
        <p:spPr>
          <a:xfrm>
            <a:off x="2273022" y="2119156"/>
            <a:ext cx="7645954" cy="4029224"/>
          </a:xfrm>
          <a:prstGeom prst="rect">
            <a:avLst/>
          </a:prstGeom>
        </p:spPr>
      </p:pic>
      <p:pic>
        <p:nvPicPr>
          <p:cNvPr id="8" name="Picture 2">
            <a:extLst>
              <a:ext uri="{FF2B5EF4-FFF2-40B4-BE49-F238E27FC236}">
                <a16:creationId xmlns:a16="http://schemas.microsoft.com/office/drawing/2014/main" id="{FA5ADC04-3293-4F41-9ED2-543D5D684F02}"/>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DDDB86A-7A0A-0DEB-519A-AB0C162CB898}"/>
              </a:ext>
            </a:extLst>
          </p:cNvPr>
          <p:cNvSpPr/>
          <p:nvPr/>
        </p:nvSpPr>
        <p:spPr>
          <a:xfrm>
            <a:off x="121919" y="6400800"/>
            <a:ext cx="1796527"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4" name="Picture 2">
            <a:extLst>
              <a:ext uri="{FF2B5EF4-FFF2-40B4-BE49-F238E27FC236}">
                <a16:creationId xmlns:a16="http://schemas.microsoft.com/office/drawing/2014/main" id="{B2481A89-A3D4-AD12-1202-DBFE44156532}"/>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Rounded Corners 11">
            <a:extLst>
              <a:ext uri="{FF2B5EF4-FFF2-40B4-BE49-F238E27FC236}">
                <a16:creationId xmlns:a16="http://schemas.microsoft.com/office/drawing/2014/main" id="{0F6FE987-1D97-FC43-B093-9F60F4C3AE5A}"/>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7">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144788759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9F7B1401-5724-33A7-1E2C-50D196A6C8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7" name="Objeto 6" hidden="1">
                        <a:extLst>
                          <a:ext uri="{FF2B5EF4-FFF2-40B4-BE49-F238E27FC236}">
                            <a16:creationId xmlns:a16="http://schemas.microsoft.com/office/drawing/2014/main" id="{9F7B1401-5724-33A7-1E2C-50D196A6C8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7D54399B-1119-17D7-3AAB-9D207264DC5E}"/>
              </a:ext>
            </a:extLst>
          </p:cNvPr>
          <p:cNvSpPr>
            <a:spLocks noGrp="1"/>
          </p:cNvSpPr>
          <p:nvPr>
            <p:ph type="title"/>
          </p:nvPr>
        </p:nvSpPr>
        <p:spPr>
          <a:xfrm>
            <a:off x="384174" y="381000"/>
            <a:ext cx="11420475" cy="485775"/>
          </a:xfrm>
        </p:spPr>
        <p:txBody>
          <a:bodyPr vert="horz"/>
          <a:lstStyle/>
          <a:p>
            <a:r>
              <a:rPr lang="en-US" dirty="0"/>
              <a:t>Umbrex thought leadership</a:t>
            </a:r>
          </a:p>
        </p:txBody>
      </p:sp>
      <p:pic>
        <p:nvPicPr>
          <p:cNvPr id="8" name="Picture 2">
            <a:extLst>
              <a:ext uri="{FF2B5EF4-FFF2-40B4-BE49-F238E27FC236}">
                <a16:creationId xmlns:a16="http://schemas.microsoft.com/office/drawing/2014/main" id="{DE999187-725F-4C30-BA96-0AAC013838A2}"/>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9">
            <a:extLst>
              <a:ext uri="{FF2B5EF4-FFF2-40B4-BE49-F238E27FC236}">
                <a16:creationId xmlns:a16="http://schemas.microsoft.com/office/drawing/2014/main" id="{D4925962-25FE-49FC-8F0E-BACABCC6D490}"/>
              </a:ext>
            </a:extLst>
          </p:cNvPr>
          <p:cNvSpPr/>
          <p:nvPr/>
        </p:nvSpPr>
        <p:spPr>
          <a:xfrm>
            <a:off x="371475" y="1217098"/>
            <a:ext cx="11449050" cy="42465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en-US" sz="1100" b="0"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mn-cs"/>
              <a:sym typeface="Verdana" panose="020B0604030504040204" pitchFamily="34" charset="0"/>
            </a:endParaRPr>
          </a:p>
        </p:txBody>
      </p:sp>
      <p:sp>
        <p:nvSpPr>
          <p:cNvPr id="15" name="TextBox 14">
            <a:extLst>
              <a:ext uri="{FF2B5EF4-FFF2-40B4-BE49-F238E27FC236}">
                <a16:creationId xmlns:a16="http://schemas.microsoft.com/office/drawing/2014/main" id="{A2699F08-A27F-4795-8111-661B24A7B3D6}"/>
              </a:ext>
            </a:extLst>
          </p:cNvPr>
          <p:cNvSpPr txBox="1"/>
          <p:nvPr/>
        </p:nvSpPr>
        <p:spPr>
          <a:xfrm>
            <a:off x="936625" y="2837968"/>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Produce </a:t>
            </a:r>
            <a:r>
              <a:rPr kumimoji="0" lang="en-US" sz="1200" b="1" i="0" u="none" strike="noStrike" kern="1200" cap="none" spc="0" normalizeH="0" baseline="0" noProof="0" dirty="0">
                <a:ln>
                  <a:noFill/>
                </a:ln>
                <a:solidFill>
                  <a:srgbClr val="0A1A49"/>
                </a:solidFill>
                <a:effectLst/>
                <a:uLnTx/>
                <a:uFillTx/>
                <a:latin typeface="Verdana"/>
                <a:ea typeface="+mn-ea"/>
                <a:cs typeface="+mn-cs"/>
              </a:rPr>
              <a:t>Unleashed, </a:t>
            </a:r>
            <a:r>
              <a:rPr kumimoji="0" lang="en-US" sz="1200" b="0" i="0" u="none" strike="noStrike" kern="1200" cap="none" spc="0" normalizeH="0" baseline="0" noProof="0" dirty="0">
                <a:ln>
                  <a:noFill/>
                </a:ln>
                <a:solidFill>
                  <a:srgbClr val="0A1A49"/>
                </a:solidFill>
                <a:effectLst/>
                <a:uLnTx/>
                <a:uFillTx/>
                <a:latin typeface="Verdana"/>
                <a:ea typeface="+mn-ea"/>
                <a:cs typeface="+mn-cs"/>
              </a:rPr>
              <a:t>the leading podcast on how to thrive as an independent professional</a:t>
            </a:r>
          </a:p>
        </p:txBody>
      </p:sp>
      <p:sp>
        <p:nvSpPr>
          <p:cNvPr id="20" name="TextBox 19">
            <a:extLst>
              <a:ext uri="{FF2B5EF4-FFF2-40B4-BE49-F238E27FC236}">
                <a16:creationId xmlns:a16="http://schemas.microsoft.com/office/drawing/2014/main" id="{3ABDDE02-5E14-4F1C-9515-E3E49EE9D197}"/>
              </a:ext>
            </a:extLst>
          </p:cNvPr>
          <p:cNvSpPr txBox="1"/>
          <p:nvPr/>
        </p:nvSpPr>
        <p:spPr>
          <a:xfrm>
            <a:off x="6942138" y="4535751"/>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Managing Partner Will Bachman recognized as a “</a:t>
            </a:r>
            <a:r>
              <a:rPr kumimoji="0" lang="en-US" sz="1200" b="1" i="0" u="none" strike="noStrike" kern="1200" cap="none" spc="0" normalizeH="0" baseline="0" noProof="0" dirty="0">
                <a:ln>
                  <a:noFill/>
                </a:ln>
                <a:solidFill>
                  <a:srgbClr val="0A1A49"/>
                </a:solidFill>
                <a:effectLst/>
                <a:uLnTx/>
                <a:uFillTx/>
                <a:latin typeface="Verdana"/>
                <a:ea typeface="+mn-ea"/>
                <a:cs typeface="+mn-cs"/>
              </a:rPr>
              <a:t>Power Player Consulting” </a:t>
            </a:r>
            <a:r>
              <a:rPr kumimoji="0" lang="en-US" sz="1200" b="0" i="0" u="none" strike="noStrike" kern="1200" cap="none" spc="0" normalizeH="0" baseline="0" noProof="0" dirty="0">
                <a:ln>
                  <a:noFill/>
                </a:ln>
                <a:solidFill>
                  <a:srgbClr val="0A1A49"/>
                </a:solidFill>
                <a:effectLst/>
                <a:uLnTx/>
                <a:uFillTx/>
                <a:latin typeface="Verdana"/>
                <a:ea typeface="+mn-ea"/>
                <a:cs typeface="+mn-cs"/>
              </a:rPr>
              <a:t>by Business Insider</a:t>
            </a:r>
          </a:p>
        </p:txBody>
      </p:sp>
      <p:sp>
        <p:nvSpPr>
          <p:cNvPr id="21" name="TextBox 20">
            <a:extLst>
              <a:ext uri="{FF2B5EF4-FFF2-40B4-BE49-F238E27FC236}">
                <a16:creationId xmlns:a16="http://schemas.microsoft.com/office/drawing/2014/main" id="{C33F0597-CE6E-4BC7-BB85-4B795C2315CB}"/>
              </a:ext>
            </a:extLst>
          </p:cNvPr>
          <p:cNvSpPr txBox="1"/>
          <p:nvPr/>
        </p:nvSpPr>
        <p:spPr>
          <a:xfrm>
            <a:off x="2668588" y="4535751"/>
            <a:ext cx="333692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1" i="0" u="none" strike="noStrike" kern="1200" cap="none" spc="0" normalizeH="0" baseline="0" noProof="0" dirty="0">
                <a:ln>
                  <a:noFill/>
                </a:ln>
                <a:solidFill>
                  <a:srgbClr val="0A1A49"/>
                </a:solidFill>
                <a:effectLst/>
                <a:uLnTx/>
                <a:uFillTx/>
                <a:latin typeface="Verdana"/>
                <a:ea typeface="+mn-ea"/>
                <a:cs typeface="+mn-cs"/>
              </a:rPr>
              <a:t>Invited speaker </a:t>
            </a:r>
            <a:r>
              <a:rPr kumimoji="0" lang="en-US" sz="1200" b="0" i="0" u="none" strike="noStrike" kern="1200" cap="none" spc="0" normalizeH="0" baseline="0" noProof="0" dirty="0">
                <a:ln>
                  <a:noFill/>
                </a:ln>
                <a:solidFill>
                  <a:srgbClr val="0A1A49"/>
                </a:solidFill>
                <a:effectLst/>
                <a:uLnTx/>
                <a:uFillTx/>
                <a:latin typeface="Verdana"/>
                <a:ea typeface="+mn-ea"/>
                <a:cs typeface="+mn-cs"/>
              </a:rPr>
              <a:t>on independent consulting at business schools including Harvard, Wharton, Columbia, </a:t>
            </a:r>
            <a:r>
              <a:rPr kumimoji="0" lang="en-US" sz="1200" b="0" i="0" u="none" strike="noStrike" kern="1200" cap="none" spc="0" normalizeH="0" baseline="0" noProof="0">
                <a:ln>
                  <a:noFill/>
                </a:ln>
                <a:solidFill>
                  <a:srgbClr val="0A1A49"/>
                </a:solidFill>
                <a:effectLst/>
                <a:uLnTx/>
                <a:uFillTx/>
                <a:latin typeface="Verdana"/>
                <a:ea typeface="+mn-ea"/>
                <a:cs typeface="+mn-cs"/>
              </a:rPr>
              <a:t>and Kellogg</a:t>
            </a:r>
            <a:endParaRPr kumimoji="0" lang="en-US" sz="1200" b="1" i="0" u="none" strike="noStrike" kern="1200" cap="none" spc="0" normalizeH="0" baseline="0" noProof="0" dirty="0">
              <a:ln>
                <a:noFill/>
              </a:ln>
              <a:solidFill>
                <a:srgbClr val="0A1A49"/>
              </a:solidFill>
              <a:effectLst/>
              <a:uLnTx/>
              <a:uFillTx/>
              <a:latin typeface="Verdana"/>
              <a:ea typeface="+mn-ea"/>
              <a:cs typeface="+mn-cs"/>
            </a:endParaRPr>
          </a:p>
        </p:txBody>
      </p:sp>
      <p:sp>
        <p:nvSpPr>
          <p:cNvPr id="22" name="TextBox 21">
            <a:extLst>
              <a:ext uri="{FF2B5EF4-FFF2-40B4-BE49-F238E27FC236}">
                <a16:creationId xmlns:a16="http://schemas.microsoft.com/office/drawing/2014/main" id="{08D7B445-11A4-40A2-9F9E-A57EED6917D1}"/>
              </a:ext>
            </a:extLst>
          </p:cNvPr>
          <p:cNvSpPr txBox="1"/>
          <p:nvPr/>
        </p:nvSpPr>
        <p:spPr>
          <a:xfrm>
            <a:off x="8394700" y="2837968"/>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Over 1,000 consultants have used our </a:t>
            </a:r>
            <a:r>
              <a:rPr kumimoji="0" lang="en-US" sz="1200" b="1" i="0" u="none" strike="noStrike" kern="1200" cap="none" spc="0" normalizeH="0" baseline="0" noProof="0" dirty="0">
                <a:ln>
                  <a:noFill/>
                </a:ln>
                <a:solidFill>
                  <a:srgbClr val="0A1A49"/>
                </a:solidFill>
                <a:effectLst/>
                <a:uLnTx/>
                <a:uFillTx/>
                <a:latin typeface="Verdana"/>
                <a:ea typeface="+mn-ea"/>
                <a:cs typeface="+mn-cs"/>
              </a:rPr>
              <a:t>video guide </a:t>
            </a:r>
            <a:r>
              <a:rPr kumimoji="0" lang="en-US" sz="1200" b="0" i="0" u="none" strike="noStrike" kern="1200" cap="none" spc="0" normalizeH="0" baseline="0" noProof="0" dirty="0">
                <a:ln>
                  <a:noFill/>
                </a:ln>
                <a:solidFill>
                  <a:srgbClr val="0A1A49"/>
                </a:solidFill>
                <a:effectLst/>
                <a:uLnTx/>
                <a:uFillTx/>
                <a:latin typeface="Verdana"/>
                <a:ea typeface="+mn-ea"/>
                <a:cs typeface="+mn-cs"/>
              </a:rPr>
              <a:t>to set up their own practice</a:t>
            </a:r>
          </a:p>
        </p:txBody>
      </p:sp>
      <p:sp>
        <p:nvSpPr>
          <p:cNvPr id="23" name="TextBox 22">
            <a:extLst>
              <a:ext uri="{FF2B5EF4-FFF2-40B4-BE49-F238E27FC236}">
                <a16:creationId xmlns:a16="http://schemas.microsoft.com/office/drawing/2014/main" id="{8FE3A791-5677-4DAC-93C3-C177BFB75D23}"/>
              </a:ext>
            </a:extLst>
          </p:cNvPr>
          <p:cNvSpPr txBox="1"/>
          <p:nvPr/>
        </p:nvSpPr>
        <p:spPr>
          <a:xfrm>
            <a:off x="4876800" y="2837968"/>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Organized </a:t>
            </a:r>
            <a:r>
              <a:rPr kumimoji="0" lang="en-US" sz="1200" b="1" i="0" u="none" strike="noStrike" kern="1200" cap="none" spc="0" normalizeH="0" baseline="0" noProof="0" dirty="0">
                <a:ln>
                  <a:noFill/>
                </a:ln>
                <a:solidFill>
                  <a:srgbClr val="0A1A49"/>
                </a:solidFill>
                <a:effectLst/>
                <a:uLnTx/>
                <a:uFillTx/>
                <a:latin typeface="Verdana"/>
                <a:ea typeface="+mn-ea"/>
                <a:cs typeface="+mn-cs"/>
              </a:rPr>
              <a:t>over 300 events </a:t>
            </a:r>
            <a:r>
              <a:rPr kumimoji="0" lang="en-US" sz="1200" b="0" i="0" u="none" strike="noStrike" kern="1200" cap="none" spc="0" normalizeH="0" baseline="0" noProof="0" dirty="0">
                <a:ln>
                  <a:noFill/>
                </a:ln>
                <a:solidFill>
                  <a:srgbClr val="0A1A49"/>
                </a:solidFill>
                <a:effectLst/>
                <a:uLnTx/>
                <a:uFillTx/>
                <a:latin typeface="Verdana"/>
                <a:ea typeface="+mn-ea"/>
                <a:cs typeface="+mn-cs"/>
              </a:rPr>
              <a:t>for independent consultants</a:t>
            </a:r>
          </a:p>
        </p:txBody>
      </p:sp>
      <p:pic>
        <p:nvPicPr>
          <p:cNvPr id="24" name="Graphic 23">
            <a:extLst>
              <a:ext uri="{FF2B5EF4-FFF2-40B4-BE49-F238E27FC236}">
                <a16:creationId xmlns:a16="http://schemas.microsoft.com/office/drawing/2014/main" id="{877BFC94-609E-45DD-A1BA-BBA263CCA85A}"/>
              </a:ext>
            </a:extLst>
          </p:cNvPr>
          <p:cNvPicPr>
            <a:picLocks noChangeAspect="1"/>
          </p:cNvPicPr>
          <p:nvPr/>
        </p:nvPicPr>
        <p:blipFill rotWithShape="1">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b="22176"/>
          <a:stretch/>
        </p:blipFill>
        <p:spPr>
          <a:xfrm>
            <a:off x="1764894" y="1970134"/>
            <a:ext cx="924736" cy="719667"/>
          </a:xfrm>
          <a:prstGeom prst="rect">
            <a:avLst/>
          </a:prstGeom>
        </p:spPr>
      </p:pic>
      <p:pic>
        <p:nvPicPr>
          <p:cNvPr id="26" name="Graphic 25">
            <a:extLst>
              <a:ext uri="{FF2B5EF4-FFF2-40B4-BE49-F238E27FC236}">
                <a16:creationId xmlns:a16="http://schemas.microsoft.com/office/drawing/2014/main" id="{D6F53778-E291-4550-B9D9-813F2C3BA486}"/>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866871" y="2064765"/>
            <a:ext cx="601133" cy="601133"/>
          </a:xfrm>
          <a:prstGeom prst="rect">
            <a:avLst/>
          </a:prstGeom>
        </p:spPr>
      </p:pic>
      <p:pic>
        <p:nvPicPr>
          <p:cNvPr id="28" name="Graphic 27">
            <a:extLst>
              <a:ext uri="{FF2B5EF4-FFF2-40B4-BE49-F238E27FC236}">
                <a16:creationId xmlns:a16="http://schemas.microsoft.com/office/drawing/2014/main" id="{AEA79DB0-87D8-4011-94C7-F628378009A1}"/>
              </a:ext>
            </a:extLst>
          </p:cNvPr>
          <p:cNvPicPr>
            <a:picLocks noChangeAspect="1"/>
          </p:cNvPicPr>
          <p:nvPr/>
        </p:nvPicPr>
        <p:blipFill rotWithShape="1">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rcRect b="25324"/>
          <a:stretch/>
        </p:blipFill>
        <p:spPr>
          <a:xfrm>
            <a:off x="9181802" y="1988562"/>
            <a:ext cx="1007070" cy="752039"/>
          </a:xfrm>
          <a:prstGeom prst="rect">
            <a:avLst/>
          </a:prstGeom>
        </p:spPr>
      </p:pic>
      <p:pic>
        <p:nvPicPr>
          <p:cNvPr id="30" name="Graphic 29">
            <a:extLst>
              <a:ext uri="{FF2B5EF4-FFF2-40B4-BE49-F238E27FC236}">
                <a16:creationId xmlns:a16="http://schemas.microsoft.com/office/drawing/2014/main" id="{1E2132D6-2194-468C-BA72-B9A58055DFC7}"/>
              </a:ext>
            </a:extLst>
          </p:cNvPr>
          <p:cNvPicPr>
            <a:picLocks noChangeAspect="1"/>
          </p:cNvPicPr>
          <p:nvPr/>
        </p:nvPicPr>
        <p:blipFill rotWithShape="1">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rcRect b="22176"/>
          <a:stretch/>
        </p:blipFill>
        <p:spPr>
          <a:xfrm>
            <a:off x="3749289" y="3545150"/>
            <a:ext cx="1175522" cy="914839"/>
          </a:xfrm>
          <a:prstGeom prst="rect">
            <a:avLst/>
          </a:prstGeom>
        </p:spPr>
      </p:pic>
      <p:pic>
        <p:nvPicPr>
          <p:cNvPr id="32" name="Graphic 31">
            <a:extLst>
              <a:ext uri="{FF2B5EF4-FFF2-40B4-BE49-F238E27FC236}">
                <a16:creationId xmlns:a16="http://schemas.microsoft.com/office/drawing/2014/main" id="{B72F5EBD-46EA-4911-9318-3EB6EDBBEB5D}"/>
              </a:ext>
            </a:extLst>
          </p:cNvPr>
          <p:cNvPicPr>
            <a:picLocks noChangeAspect="1"/>
          </p:cNvPicPr>
          <p:nvPr/>
        </p:nvPicPr>
        <p:blipFill rotWithShape="1">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rcRect b="21398"/>
          <a:stretch/>
        </p:blipFill>
        <p:spPr>
          <a:xfrm>
            <a:off x="7715779" y="3651880"/>
            <a:ext cx="1033992" cy="812739"/>
          </a:xfrm>
          <a:prstGeom prst="rect">
            <a:avLst/>
          </a:prstGeom>
        </p:spPr>
      </p:pic>
      <p:sp>
        <p:nvSpPr>
          <p:cNvPr id="4" name="Rectangle 3">
            <a:extLst>
              <a:ext uri="{FF2B5EF4-FFF2-40B4-BE49-F238E27FC236}">
                <a16:creationId xmlns:a16="http://schemas.microsoft.com/office/drawing/2014/main" id="{0DD745F9-3C2A-9646-68A9-656633F40A7E}"/>
              </a:ext>
            </a:extLst>
          </p:cNvPr>
          <p:cNvSpPr/>
          <p:nvPr/>
        </p:nvSpPr>
        <p:spPr>
          <a:xfrm>
            <a:off x="121919" y="6400800"/>
            <a:ext cx="1823421"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5" name="Picture 2">
            <a:extLst>
              <a:ext uri="{FF2B5EF4-FFF2-40B4-BE49-F238E27FC236}">
                <a16:creationId xmlns:a16="http://schemas.microsoft.com/office/drawing/2014/main" id="{7E955129-F747-4D4A-D9B8-596C9816BB83}"/>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Rounded Corners 11">
            <a:extLst>
              <a:ext uri="{FF2B5EF4-FFF2-40B4-BE49-F238E27FC236}">
                <a16:creationId xmlns:a16="http://schemas.microsoft.com/office/drawing/2014/main" id="{44C12A30-2BB2-1CBD-E6B8-69BF5CDEAB22}"/>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16">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18463097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o 8" hidden="1">
            <a:extLst>
              <a:ext uri="{FF2B5EF4-FFF2-40B4-BE49-F238E27FC236}">
                <a16:creationId xmlns:a16="http://schemas.microsoft.com/office/drawing/2014/main" id="{2748023A-036C-BDCA-514E-4D88AFBC2A1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9" name="Objeto 8" hidden="1">
                        <a:extLst>
                          <a:ext uri="{FF2B5EF4-FFF2-40B4-BE49-F238E27FC236}">
                            <a16:creationId xmlns:a16="http://schemas.microsoft.com/office/drawing/2014/main" id="{2748023A-036C-BDCA-514E-4D88AFBC2A1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ítulo 5">
            <a:extLst>
              <a:ext uri="{FF2B5EF4-FFF2-40B4-BE49-F238E27FC236}">
                <a16:creationId xmlns:a16="http://schemas.microsoft.com/office/drawing/2014/main" id="{7BDD465B-A1CB-A49E-366A-DEB8C016A6C7}"/>
              </a:ext>
            </a:extLst>
          </p:cNvPr>
          <p:cNvSpPr>
            <a:spLocks noGrp="1"/>
          </p:cNvSpPr>
          <p:nvPr>
            <p:ph type="title"/>
          </p:nvPr>
        </p:nvSpPr>
        <p:spPr>
          <a:xfrm>
            <a:off x="384174" y="381000"/>
            <a:ext cx="11420475" cy="485775"/>
          </a:xfrm>
        </p:spPr>
        <p:txBody>
          <a:bodyPr vert="horz"/>
          <a:lstStyle/>
          <a:p>
            <a:r>
              <a:rPr lang="en-US" dirty="0"/>
              <a:t>How </a:t>
            </a:r>
            <a:r>
              <a:rPr lang="en-US" dirty="0" err="1"/>
              <a:t>Umbrex</a:t>
            </a:r>
            <a:r>
              <a:rPr lang="en-US" dirty="0"/>
              <a:t> can help</a:t>
            </a:r>
          </a:p>
        </p:txBody>
      </p:sp>
      <p:sp>
        <p:nvSpPr>
          <p:cNvPr id="12" name="Marcador de texto 7">
            <a:extLst>
              <a:ext uri="{FF2B5EF4-FFF2-40B4-BE49-F238E27FC236}">
                <a16:creationId xmlns:a16="http://schemas.microsoft.com/office/drawing/2014/main" id="{C1C85348-16F7-699B-D812-057489C687AC}"/>
              </a:ext>
            </a:extLst>
          </p:cNvPr>
          <p:cNvSpPr txBox="1">
            <a:spLocks/>
          </p:cNvSpPr>
          <p:nvPr/>
        </p:nvSpPr>
        <p:spPr>
          <a:xfrm>
            <a:off x="6167439" y="1520825"/>
            <a:ext cx="5653088" cy="4192474"/>
          </a:xfrm>
          <a:prstGeom prst="rect">
            <a:avLst/>
          </a:prstGeom>
          <a:solidFill>
            <a:schemeClr val="bg1">
              <a:lumMod val="95000"/>
            </a:schemeClr>
          </a:solidFill>
        </p:spPr>
        <p:txBody>
          <a:bodyPr vert="horz" wrap="square" lIns="72000" tIns="540000" rIns="72000" bIns="72000" rtlCol="0">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For Consultants</a:t>
            </a:r>
          </a:p>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5" name="Marcador de texto 7">
            <a:extLst>
              <a:ext uri="{FF2B5EF4-FFF2-40B4-BE49-F238E27FC236}">
                <a16:creationId xmlns:a16="http://schemas.microsoft.com/office/drawing/2014/main" id="{CB06810F-6C42-82A5-9B60-058401FAA117}"/>
              </a:ext>
            </a:extLst>
          </p:cNvPr>
          <p:cNvSpPr txBox="1">
            <a:spLocks/>
          </p:cNvSpPr>
          <p:nvPr/>
        </p:nvSpPr>
        <p:spPr>
          <a:xfrm>
            <a:off x="384174" y="1520825"/>
            <a:ext cx="5653088" cy="4192474"/>
          </a:xfrm>
          <a:prstGeom prst="rect">
            <a:avLst/>
          </a:prstGeom>
          <a:solidFill>
            <a:schemeClr val="bg1">
              <a:lumMod val="95000"/>
            </a:schemeClr>
          </a:solidFill>
        </p:spPr>
        <p:txBody>
          <a:bodyPr vert="horz" wrap="square" lIns="72000" tIns="540000" rIns="72000" bIns="72000" rtlCol="0">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For Clients</a:t>
            </a:r>
          </a:p>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pic>
        <p:nvPicPr>
          <p:cNvPr id="52" name="Picture 2">
            <a:extLst>
              <a:ext uri="{FF2B5EF4-FFF2-40B4-BE49-F238E27FC236}">
                <a16:creationId xmlns:a16="http://schemas.microsoft.com/office/drawing/2014/main" id="{7450EA2F-F921-4B2B-9E55-8AFB6E3D73CA}"/>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636EEED4-4A36-69EB-D7FE-89461DBD935C}"/>
              </a:ext>
            </a:extLst>
          </p:cNvPr>
          <p:cNvSpPr/>
          <p:nvPr/>
        </p:nvSpPr>
        <p:spPr>
          <a:xfrm>
            <a:off x="121919" y="6400800"/>
            <a:ext cx="1748699"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3" name="Picture 2">
            <a:extLst>
              <a:ext uri="{FF2B5EF4-FFF2-40B4-BE49-F238E27FC236}">
                <a16:creationId xmlns:a16="http://schemas.microsoft.com/office/drawing/2014/main" id="{D4885CD2-4565-AA7D-43BE-563D2BB94370}"/>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Rounded Corners 9">
            <a:extLst>
              <a:ext uri="{FF2B5EF4-FFF2-40B4-BE49-F238E27FC236}">
                <a16:creationId xmlns:a16="http://schemas.microsoft.com/office/drawing/2014/main" id="{F9EA244A-32EC-2F92-0C8E-85567E07E68B}"/>
              </a:ext>
            </a:extLst>
          </p:cNvPr>
          <p:cNvSpPr/>
          <p:nvPr/>
        </p:nvSpPr>
        <p:spPr>
          <a:xfrm>
            <a:off x="1870619" y="3374174"/>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6">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
        <p:nvSpPr>
          <p:cNvPr id="11" name="Rectangle: Rounded Corners 10">
            <a:extLst>
              <a:ext uri="{FF2B5EF4-FFF2-40B4-BE49-F238E27FC236}">
                <a16:creationId xmlns:a16="http://schemas.microsoft.com/office/drawing/2014/main" id="{4BD95127-2A9D-EA40-D0E0-76A7F7A06084}"/>
              </a:ext>
            </a:extLst>
          </p:cNvPr>
          <p:cNvSpPr/>
          <p:nvPr/>
        </p:nvSpPr>
        <p:spPr>
          <a:xfrm>
            <a:off x="7653884" y="3330171"/>
            <a:ext cx="2680198" cy="485776"/>
          </a:xfrm>
          <a:prstGeom prst="roundRect">
            <a:avLst>
              <a:gd name="adj" fmla="val 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7">
                  <a:extLst>
                    <a:ext uri="{A12FA001-AC4F-418D-AE19-62706E023703}">
                      <ahyp:hlinkClr xmlns:ahyp="http://schemas.microsoft.com/office/drawing/2018/hyperlinkcolor" val="tx"/>
                    </a:ext>
                  </a:extLst>
                </a:hlinkClick>
              </a:rPr>
              <a:t>Join our community</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372054394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CACA4D61-F04B-42E7-2D40-8921075DCB7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17" imgH="318" progId="TCLayout.ActiveDocument.1">
                  <p:embed/>
                </p:oleObj>
              </mc:Choice>
              <mc:Fallback>
                <p:oleObj name="think-cell Slide" r:id="rId3" imgW="317" imgH="318" progId="TCLayout.ActiveDocument.1">
                  <p:embed/>
                  <p:pic>
                    <p:nvPicPr>
                      <p:cNvPr id="6" name="Objeto 5" hidden="1">
                        <a:extLst>
                          <a:ext uri="{FF2B5EF4-FFF2-40B4-BE49-F238E27FC236}">
                            <a16:creationId xmlns:a16="http://schemas.microsoft.com/office/drawing/2014/main" id="{CACA4D61-F04B-42E7-2D40-8921075DCB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DA889A8D-C759-4AFA-51E1-2F2D342A129A}"/>
              </a:ext>
            </a:extLst>
          </p:cNvPr>
          <p:cNvSpPr>
            <a:spLocks noGrp="1"/>
          </p:cNvSpPr>
          <p:nvPr>
            <p:ph type="title"/>
          </p:nvPr>
        </p:nvSpPr>
        <p:spPr/>
        <p:txBody>
          <a:bodyPr vert="horz"/>
          <a:lstStyle/>
          <a:p>
            <a:r>
              <a:rPr lang="en-US" dirty="0"/>
              <a:t>Umbrex provides resources to help consultants thrive</a:t>
            </a:r>
          </a:p>
        </p:txBody>
      </p:sp>
      <p:pic>
        <p:nvPicPr>
          <p:cNvPr id="288" name="Picture 2">
            <a:extLst>
              <a:ext uri="{FF2B5EF4-FFF2-40B4-BE49-F238E27FC236}">
                <a16:creationId xmlns:a16="http://schemas.microsoft.com/office/drawing/2014/main" id="{BFE21568-8B6C-4ADB-A950-5872FA7D7B10}"/>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290" name="Marcador de texto 7">
            <a:hlinkClick r:id="rId6"/>
            <a:extLst>
              <a:ext uri="{FF2B5EF4-FFF2-40B4-BE49-F238E27FC236}">
                <a16:creationId xmlns:a16="http://schemas.microsoft.com/office/drawing/2014/main" id="{E5465026-EB1D-47F6-95F2-05F78284C8D6}"/>
              </a:ext>
            </a:extLst>
          </p:cNvPr>
          <p:cNvSpPr txBox="1">
            <a:spLocks/>
          </p:cNvSpPr>
          <p:nvPr/>
        </p:nvSpPr>
        <p:spPr>
          <a:xfrm>
            <a:off x="6221819" y="3203978"/>
            <a:ext cx="5593939" cy="659273"/>
          </a:xfrm>
          <a:prstGeom prst="rect">
            <a:avLst/>
          </a:prstGeom>
          <a:solidFill>
            <a:schemeClr val="bg1">
              <a:lumMod val="95000"/>
            </a:schemeClr>
          </a:solidFill>
        </p:spPr>
        <p:txBody>
          <a:bodyPr vert="horz" wrap="square" lIns="57600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l"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Guide To Setting Up Your Own Practice</a:t>
            </a:r>
          </a:p>
        </p:txBody>
      </p:sp>
      <p:grpSp>
        <p:nvGrpSpPr>
          <p:cNvPr id="291" name="Group 82">
            <a:extLst>
              <a:ext uri="{FF2B5EF4-FFF2-40B4-BE49-F238E27FC236}">
                <a16:creationId xmlns:a16="http://schemas.microsoft.com/office/drawing/2014/main" id="{613FEA5C-88FC-485A-9408-CB8DCB9EEB73}"/>
              </a:ext>
            </a:extLst>
          </p:cNvPr>
          <p:cNvGrpSpPr>
            <a:grpSpLocks noChangeAspect="1"/>
          </p:cNvGrpSpPr>
          <p:nvPr/>
        </p:nvGrpSpPr>
        <p:grpSpPr bwMode="auto">
          <a:xfrm>
            <a:off x="6347550" y="3357301"/>
            <a:ext cx="264885" cy="352626"/>
            <a:chOff x="3489" y="1721"/>
            <a:chExt cx="320" cy="426"/>
          </a:xfrm>
          <a:solidFill>
            <a:schemeClr val="tx2"/>
          </a:solidFill>
        </p:grpSpPr>
        <p:sp>
          <p:nvSpPr>
            <p:cNvPr id="292" name="Freeform 83">
              <a:extLst>
                <a:ext uri="{FF2B5EF4-FFF2-40B4-BE49-F238E27FC236}">
                  <a16:creationId xmlns:a16="http://schemas.microsoft.com/office/drawing/2014/main" id="{F42DF837-35EA-482E-AC77-32836263F7C8}"/>
                </a:ext>
              </a:extLst>
            </p:cNvPr>
            <p:cNvSpPr>
              <a:spLocks/>
            </p:cNvSpPr>
            <p:nvPr/>
          </p:nvSpPr>
          <p:spPr bwMode="auto">
            <a:xfrm>
              <a:off x="3524" y="1756"/>
              <a:ext cx="231" cy="54"/>
            </a:xfrm>
            <a:custGeom>
              <a:avLst/>
              <a:gdLst>
                <a:gd name="T0" fmla="*/ 150 w 156"/>
                <a:gd name="T1" fmla="*/ 36 h 36"/>
                <a:gd name="T2" fmla="*/ 144 w 156"/>
                <a:gd name="T3" fmla="*/ 30 h 36"/>
                <a:gd name="T4" fmla="*/ 144 w 156"/>
                <a:gd name="T5" fmla="*/ 12 h 36"/>
                <a:gd name="T6" fmla="*/ 6 w 156"/>
                <a:gd name="T7" fmla="*/ 12 h 36"/>
                <a:gd name="T8" fmla="*/ 0 w 156"/>
                <a:gd name="T9" fmla="*/ 6 h 36"/>
                <a:gd name="T10" fmla="*/ 6 w 156"/>
                <a:gd name="T11" fmla="*/ 0 h 36"/>
                <a:gd name="T12" fmla="*/ 150 w 156"/>
                <a:gd name="T13" fmla="*/ 0 h 36"/>
                <a:gd name="T14" fmla="*/ 156 w 156"/>
                <a:gd name="T15" fmla="*/ 6 h 36"/>
                <a:gd name="T16" fmla="*/ 156 w 156"/>
                <a:gd name="T17" fmla="*/ 30 h 36"/>
                <a:gd name="T18" fmla="*/ 150 w 156"/>
                <a:gd name="T19"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36">
                  <a:moveTo>
                    <a:pt x="150" y="36"/>
                  </a:moveTo>
                  <a:cubicBezTo>
                    <a:pt x="147" y="36"/>
                    <a:pt x="144" y="33"/>
                    <a:pt x="144" y="30"/>
                  </a:cubicBezTo>
                  <a:cubicBezTo>
                    <a:pt x="144" y="12"/>
                    <a:pt x="144" y="12"/>
                    <a:pt x="144" y="12"/>
                  </a:cubicBezTo>
                  <a:cubicBezTo>
                    <a:pt x="6" y="12"/>
                    <a:pt x="6" y="12"/>
                    <a:pt x="6" y="12"/>
                  </a:cubicBezTo>
                  <a:cubicBezTo>
                    <a:pt x="3" y="12"/>
                    <a:pt x="0" y="9"/>
                    <a:pt x="0" y="6"/>
                  </a:cubicBezTo>
                  <a:cubicBezTo>
                    <a:pt x="0" y="2"/>
                    <a:pt x="3" y="0"/>
                    <a:pt x="6" y="0"/>
                  </a:cubicBezTo>
                  <a:cubicBezTo>
                    <a:pt x="150" y="0"/>
                    <a:pt x="150" y="0"/>
                    <a:pt x="150" y="0"/>
                  </a:cubicBezTo>
                  <a:cubicBezTo>
                    <a:pt x="154" y="0"/>
                    <a:pt x="156" y="2"/>
                    <a:pt x="156" y="6"/>
                  </a:cubicBezTo>
                  <a:cubicBezTo>
                    <a:pt x="156" y="30"/>
                    <a:pt x="156" y="30"/>
                    <a:pt x="156" y="30"/>
                  </a:cubicBezTo>
                  <a:cubicBezTo>
                    <a:pt x="156" y="33"/>
                    <a:pt x="154" y="36"/>
                    <a:pt x="150"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93" name="Freeform 84">
              <a:extLst>
                <a:ext uri="{FF2B5EF4-FFF2-40B4-BE49-F238E27FC236}">
                  <a16:creationId xmlns:a16="http://schemas.microsoft.com/office/drawing/2014/main" id="{37E1E551-A87B-4723-B85F-B96234D2528A}"/>
                </a:ext>
              </a:extLst>
            </p:cNvPr>
            <p:cNvSpPr>
              <a:spLocks noEditPoints="1"/>
            </p:cNvSpPr>
            <p:nvPr/>
          </p:nvSpPr>
          <p:spPr bwMode="auto">
            <a:xfrm>
              <a:off x="3489" y="1721"/>
              <a:ext cx="320" cy="426"/>
            </a:xfrm>
            <a:custGeom>
              <a:avLst/>
              <a:gdLst>
                <a:gd name="T0" fmla="*/ 210 w 216"/>
                <a:gd name="T1" fmla="*/ 288 h 288"/>
                <a:gd name="T2" fmla="*/ 30 w 216"/>
                <a:gd name="T3" fmla="*/ 288 h 288"/>
                <a:gd name="T4" fmla="*/ 0 w 216"/>
                <a:gd name="T5" fmla="*/ 258 h 288"/>
                <a:gd name="T6" fmla="*/ 0 w 216"/>
                <a:gd name="T7" fmla="*/ 30 h 288"/>
                <a:gd name="T8" fmla="*/ 30 w 216"/>
                <a:gd name="T9" fmla="*/ 0 h 288"/>
                <a:gd name="T10" fmla="*/ 198 w 216"/>
                <a:gd name="T11" fmla="*/ 0 h 288"/>
                <a:gd name="T12" fmla="*/ 204 w 216"/>
                <a:gd name="T13" fmla="*/ 6 h 288"/>
                <a:gd name="T14" fmla="*/ 204 w 216"/>
                <a:gd name="T15" fmla="*/ 48 h 288"/>
                <a:gd name="T16" fmla="*/ 210 w 216"/>
                <a:gd name="T17" fmla="*/ 48 h 288"/>
                <a:gd name="T18" fmla="*/ 216 w 216"/>
                <a:gd name="T19" fmla="*/ 54 h 288"/>
                <a:gd name="T20" fmla="*/ 216 w 216"/>
                <a:gd name="T21" fmla="*/ 282 h 288"/>
                <a:gd name="T22" fmla="*/ 210 w 216"/>
                <a:gd name="T23" fmla="*/ 288 h 288"/>
                <a:gd name="T24" fmla="*/ 12 w 216"/>
                <a:gd name="T25" fmla="*/ 54 h 288"/>
                <a:gd name="T26" fmla="*/ 12 w 216"/>
                <a:gd name="T27" fmla="*/ 258 h 288"/>
                <a:gd name="T28" fmla="*/ 30 w 216"/>
                <a:gd name="T29" fmla="*/ 276 h 288"/>
                <a:gd name="T30" fmla="*/ 204 w 216"/>
                <a:gd name="T31" fmla="*/ 276 h 288"/>
                <a:gd name="T32" fmla="*/ 204 w 216"/>
                <a:gd name="T33" fmla="*/ 60 h 288"/>
                <a:gd name="T34" fmla="*/ 30 w 216"/>
                <a:gd name="T35" fmla="*/ 60 h 288"/>
                <a:gd name="T36" fmla="*/ 12 w 216"/>
                <a:gd name="T37" fmla="*/ 54 h 288"/>
                <a:gd name="T38" fmla="*/ 30 w 216"/>
                <a:gd name="T39" fmla="*/ 12 h 288"/>
                <a:gd name="T40" fmla="*/ 12 w 216"/>
                <a:gd name="T41" fmla="*/ 30 h 288"/>
                <a:gd name="T42" fmla="*/ 30 w 216"/>
                <a:gd name="T43" fmla="*/ 48 h 288"/>
                <a:gd name="T44" fmla="*/ 192 w 216"/>
                <a:gd name="T45" fmla="*/ 48 h 288"/>
                <a:gd name="T46" fmla="*/ 192 w 216"/>
                <a:gd name="T47" fmla="*/ 12 h 288"/>
                <a:gd name="T48" fmla="*/ 30 w 216"/>
                <a:gd name="T4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6" h="288">
                  <a:moveTo>
                    <a:pt x="210" y="288"/>
                  </a:moveTo>
                  <a:cubicBezTo>
                    <a:pt x="30" y="288"/>
                    <a:pt x="30" y="288"/>
                    <a:pt x="30" y="288"/>
                  </a:cubicBezTo>
                  <a:cubicBezTo>
                    <a:pt x="14" y="288"/>
                    <a:pt x="0" y="274"/>
                    <a:pt x="0" y="258"/>
                  </a:cubicBezTo>
                  <a:cubicBezTo>
                    <a:pt x="0" y="30"/>
                    <a:pt x="0" y="30"/>
                    <a:pt x="0" y="30"/>
                  </a:cubicBezTo>
                  <a:cubicBezTo>
                    <a:pt x="0" y="13"/>
                    <a:pt x="14" y="0"/>
                    <a:pt x="30" y="0"/>
                  </a:cubicBezTo>
                  <a:cubicBezTo>
                    <a:pt x="198" y="0"/>
                    <a:pt x="198" y="0"/>
                    <a:pt x="198" y="0"/>
                  </a:cubicBezTo>
                  <a:cubicBezTo>
                    <a:pt x="202" y="0"/>
                    <a:pt x="204" y="2"/>
                    <a:pt x="204" y="6"/>
                  </a:cubicBezTo>
                  <a:cubicBezTo>
                    <a:pt x="204" y="48"/>
                    <a:pt x="204" y="48"/>
                    <a:pt x="204" y="48"/>
                  </a:cubicBezTo>
                  <a:cubicBezTo>
                    <a:pt x="210" y="48"/>
                    <a:pt x="210" y="48"/>
                    <a:pt x="210" y="48"/>
                  </a:cubicBezTo>
                  <a:cubicBezTo>
                    <a:pt x="214" y="48"/>
                    <a:pt x="216" y="50"/>
                    <a:pt x="216" y="54"/>
                  </a:cubicBezTo>
                  <a:cubicBezTo>
                    <a:pt x="216" y="282"/>
                    <a:pt x="216" y="282"/>
                    <a:pt x="216" y="282"/>
                  </a:cubicBezTo>
                  <a:cubicBezTo>
                    <a:pt x="216" y="285"/>
                    <a:pt x="214" y="288"/>
                    <a:pt x="210" y="288"/>
                  </a:cubicBezTo>
                  <a:close/>
                  <a:moveTo>
                    <a:pt x="12" y="54"/>
                  </a:moveTo>
                  <a:cubicBezTo>
                    <a:pt x="12" y="258"/>
                    <a:pt x="12" y="258"/>
                    <a:pt x="12" y="258"/>
                  </a:cubicBezTo>
                  <a:cubicBezTo>
                    <a:pt x="12" y="268"/>
                    <a:pt x="21" y="276"/>
                    <a:pt x="30" y="276"/>
                  </a:cubicBezTo>
                  <a:cubicBezTo>
                    <a:pt x="204" y="276"/>
                    <a:pt x="204" y="276"/>
                    <a:pt x="204" y="276"/>
                  </a:cubicBezTo>
                  <a:cubicBezTo>
                    <a:pt x="204" y="60"/>
                    <a:pt x="204" y="60"/>
                    <a:pt x="204" y="60"/>
                  </a:cubicBezTo>
                  <a:cubicBezTo>
                    <a:pt x="30" y="60"/>
                    <a:pt x="30" y="60"/>
                    <a:pt x="30" y="60"/>
                  </a:cubicBezTo>
                  <a:cubicBezTo>
                    <a:pt x="24" y="60"/>
                    <a:pt x="17" y="57"/>
                    <a:pt x="12" y="54"/>
                  </a:cubicBezTo>
                  <a:close/>
                  <a:moveTo>
                    <a:pt x="30" y="12"/>
                  </a:moveTo>
                  <a:cubicBezTo>
                    <a:pt x="21" y="12"/>
                    <a:pt x="12" y="20"/>
                    <a:pt x="12" y="30"/>
                  </a:cubicBezTo>
                  <a:cubicBezTo>
                    <a:pt x="12" y="40"/>
                    <a:pt x="21" y="48"/>
                    <a:pt x="30" y="48"/>
                  </a:cubicBezTo>
                  <a:cubicBezTo>
                    <a:pt x="192" y="48"/>
                    <a:pt x="192" y="48"/>
                    <a:pt x="192" y="48"/>
                  </a:cubicBezTo>
                  <a:cubicBezTo>
                    <a:pt x="192" y="12"/>
                    <a:pt x="192" y="12"/>
                    <a:pt x="192" y="12"/>
                  </a:cubicBezTo>
                  <a:lnTo>
                    <a:pt x="3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grpSp>
      <p:sp>
        <p:nvSpPr>
          <p:cNvPr id="295" name="Marcador de texto 7">
            <a:hlinkClick r:id="rId7"/>
            <a:extLst>
              <a:ext uri="{FF2B5EF4-FFF2-40B4-BE49-F238E27FC236}">
                <a16:creationId xmlns:a16="http://schemas.microsoft.com/office/drawing/2014/main" id="{71D8F5B1-C121-4752-AF25-740132C23D80}"/>
              </a:ext>
            </a:extLst>
          </p:cNvPr>
          <p:cNvSpPr txBox="1">
            <a:spLocks/>
          </p:cNvSpPr>
          <p:nvPr/>
        </p:nvSpPr>
        <p:spPr>
          <a:xfrm>
            <a:off x="6221819" y="2246787"/>
            <a:ext cx="5593939" cy="659273"/>
          </a:xfrm>
          <a:prstGeom prst="rect">
            <a:avLst/>
          </a:prstGeom>
          <a:solidFill>
            <a:schemeClr val="bg1">
              <a:lumMod val="95000"/>
            </a:schemeClr>
          </a:solidFill>
        </p:spPr>
        <p:txBody>
          <a:bodyPr vert="horz" wrap="square" lIns="57600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l"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How to Build a Consulting Website</a:t>
            </a:r>
          </a:p>
        </p:txBody>
      </p:sp>
      <p:grpSp>
        <p:nvGrpSpPr>
          <p:cNvPr id="296" name="Group 32">
            <a:extLst>
              <a:ext uri="{FF2B5EF4-FFF2-40B4-BE49-F238E27FC236}">
                <a16:creationId xmlns:a16="http://schemas.microsoft.com/office/drawing/2014/main" id="{5F0153FF-8696-4382-A8D7-939C67971D60}"/>
              </a:ext>
            </a:extLst>
          </p:cNvPr>
          <p:cNvGrpSpPr>
            <a:grpSpLocks noChangeAspect="1"/>
          </p:cNvGrpSpPr>
          <p:nvPr/>
        </p:nvGrpSpPr>
        <p:grpSpPr bwMode="auto">
          <a:xfrm>
            <a:off x="6292623" y="2412805"/>
            <a:ext cx="374738" cy="327237"/>
            <a:chOff x="3438" y="466"/>
            <a:chExt cx="426" cy="372"/>
          </a:xfrm>
          <a:solidFill>
            <a:schemeClr val="tx2"/>
          </a:solidFill>
        </p:grpSpPr>
        <p:sp>
          <p:nvSpPr>
            <p:cNvPr id="297" name="Freeform 33">
              <a:extLst>
                <a:ext uri="{FF2B5EF4-FFF2-40B4-BE49-F238E27FC236}">
                  <a16:creationId xmlns:a16="http://schemas.microsoft.com/office/drawing/2014/main" id="{34E53970-F20E-45F3-95A2-5D83939BCF1B}"/>
                </a:ext>
              </a:extLst>
            </p:cNvPr>
            <p:cNvSpPr>
              <a:spLocks noEditPoints="1"/>
            </p:cNvSpPr>
            <p:nvPr/>
          </p:nvSpPr>
          <p:spPr bwMode="auto">
            <a:xfrm>
              <a:off x="3438" y="581"/>
              <a:ext cx="426" cy="142"/>
            </a:xfrm>
            <a:custGeom>
              <a:avLst/>
              <a:gdLst>
                <a:gd name="T0" fmla="*/ 282 w 288"/>
                <a:gd name="T1" fmla="*/ 96 h 96"/>
                <a:gd name="T2" fmla="*/ 6 w 288"/>
                <a:gd name="T3" fmla="*/ 96 h 96"/>
                <a:gd name="T4" fmla="*/ 0 w 288"/>
                <a:gd name="T5" fmla="*/ 90 h 96"/>
                <a:gd name="T6" fmla="*/ 0 w 288"/>
                <a:gd name="T7" fmla="*/ 6 h 96"/>
                <a:gd name="T8" fmla="*/ 6 w 288"/>
                <a:gd name="T9" fmla="*/ 0 h 96"/>
                <a:gd name="T10" fmla="*/ 282 w 288"/>
                <a:gd name="T11" fmla="*/ 0 h 96"/>
                <a:gd name="T12" fmla="*/ 288 w 288"/>
                <a:gd name="T13" fmla="*/ 6 h 96"/>
                <a:gd name="T14" fmla="*/ 288 w 288"/>
                <a:gd name="T15" fmla="*/ 90 h 96"/>
                <a:gd name="T16" fmla="*/ 282 w 288"/>
                <a:gd name="T17" fmla="*/ 96 h 96"/>
                <a:gd name="T18" fmla="*/ 12 w 288"/>
                <a:gd name="T19" fmla="*/ 84 h 96"/>
                <a:gd name="T20" fmla="*/ 276 w 288"/>
                <a:gd name="T21" fmla="*/ 84 h 96"/>
                <a:gd name="T22" fmla="*/ 276 w 288"/>
                <a:gd name="T23" fmla="*/ 12 h 96"/>
                <a:gd name="T24" fmla="*/ 12 w 288"/>
                <a:gd name="T25" fmla="*/ 12 h 96"/>
                <a:gd name="T26" fmla="*/ 12 w 288"/>
                <a:gd name="T27"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96">
                  <a:moveTo>
                    <a:pt x="282" y="96"/>
                  </a:moveTo>
                  <a:cubicBezTo>
                    <a:pt x="6" y="96"/>
                    <a:pt x="6" y="96"/>
                    <a:pt x="6" y="96"/>
                  </a:cubicBezTo>
                  <a:cubicBezTo>
                    <a:pt x="3" y="96"/>
                    <a:pt x="0" y="94"/>
                    <a:pt x="0" y="90"/>
                  </a:cubicBezTo>
                  <a:cubicBezTo>
                    <a:pt x="0" y="6"/>
                    <a:pt x="0" y="6"/>
                    <a:pt x="0" y="6"/>
                  </a:cubicBezTo>
                  <a:cubicBezTo>
                    <a:pt x="0" y="3"/>
                    <a:pt x="3" y="0"/>
                    <a:pt x="6" y="0"/>
                  </a:cubicBezTo>
                  <a:cubicBezTo>
                    <a:pt x="282" y="0"/>
                    <a:pt x="282" y="0"/>
                    <a:pt x="282" y="0"/>
                  </a:cubicBezTo>
                  <a:cubicBezTo>
                    <a:pt x="286" y="0"/>
                    <a:pt x="288" y="3"/>
                    <a:pt x="288" y="6"/>
                  </a:cubicBezTo>
                  <a:cubicBezTo>
                    <a:pt x="288" y="90"/>
                    <a:pt x="288" y="90"/>
                    <a:pt x="288" y="90"/>
                  </a:cubicBezTo>
                  <a:cubicBezTo>
                    <a:pt x="288" y="94"/>
                    <a:pt x="286" y="96"/>
                    <a:pt x="282" y="96"/>
                  </a:cubicBezTo>
                  <a:close/>
                  <a:moveTo>
                    <a:pt x="12" y="84"/>
                  </a:moveTo>
                  <a:cubicBezTo>
                    <a:pt x="276" y="84"/>
                    <a:pt x="276" y="84"/>
                    <a:pt x="276" y="84"/>
                  </a:cubicBezTo>
                  <a:cubicBezTo>
                    <a:pt x="276" y="12"/>
                    <a:pt x="276" y="12"/>
                    <a:pt x="276"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98" name="Freeform 34">
              <a:extLst>
                <a:ext uri="{FF2B5EF4-FFF2-40B4-BE49-F238E27FC236}">
                  <a16:creationId xmlns:a16="http://schemas.microsoft.com/office/drawing/2014/main" id="{38C78808-0F9E-4299-9751-A057FC3E99F5}"/>
                </a:ext>
              </a:extLst>
            </p:cNvPr>
            <p:cNvSpPr>
              <a:spLocks/>
            </p:cNvSpPr>
            <p:nvPr/>
          </p:nvSpPr>
          <p:spPr bwMode="auto">
            <a:xfrm>
              <a:off x="3475" y="466"/>
              <a:ext cx="352" cy="127"/>
            </a:xfrm>
            <a:custGeom>
              <a:avLst/>
              <a:gdLst>
                <a:gd name="T0" fmla="*/ 226 w 238"/>
                <a:gd name="T1" fmla="*/ 86 h 86"/>
                <a:gd name="T2" fmla="*/ 119 w 238"/>
                <a:gd name="T3" fmla="*/ 12 h 86"/>
                <a:gd name="T4" fmla="*/ 115 w 238"/>
                <a:gd name="T5" fmla="*/ 12 h 86"/>
                <a:gd name="T6" fmla="*/ 12 w 238"/>
                <a:gd name="T7" fmla="*/ 86 h 86"/>
                <a:gd name="T8" fmla="*/ 0 w 238"/>
                <a:gd name="T9" fmla="*/ 82 h 86"/>
                <a:gd name="T10" fmla="*/ 114 w 238"/>
                <a:gd name="T11" fmla="*/ 0 h 86"/>
                <a:gd name="T12" fmla="*/ 119 w 238"/>
                <a:gd name="T13" fmla="*/ 0 h 86"/>
                <a:gd name="T14" fmla="*/ 238 w 238"/>
                <a:gd name="T15" fmla="*/ 82 h 86"/>
                <a:gd name="T16" fmla="*/ 226 w 238"/>
                <a:gd name="T1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 h="86">
                  <a:moveTo>
                    <a:pt x="226" y="86"/>
                  </a:moveTo>
                  <a:cubicBezTo>
                    <a:pt x="210" y="42"/>
                    <a:pt x="167" y="12"/>
                    <a:pt x="119" y="12"/>
                  </a:cubicBezTo>
                  <a:cubicBezTo>
                    <a:pt x="118" y="12"/>
                    <a:pt x="116" y="12"/>
                    <a:pt x="115" y="12"/>
                  </a:cubicBezTo>
                  <a:cubicBezTo>
                    <a:pt x="67" y="14"/>
                    <a:pt x="27" y="43"/>
                    <a:pt x="12" y="86"/>
                  </a:cubicBezTo>
                  <a:cubicBezTo>
                    <a:pt x="0" y="82"/>
                    <a:pt x="0" y="82"/>
                    <a:pt x="0" y="82"/>
                  </a:cubicBezTo>
                  <a:cubicBezTo>
                    <a:pt x="17" y="35"/>
                    <a:pt x="62" y="2"/>
                    <a:pt x="114" y="0"/>
                  </a:cubicBezTo>
                  <a:cubicBezTo>
                    <a:pt x="116" y="0"/>
                    <a:pt x="118" y="0"/>
                    <a:pt x="119" y="0"/>
                  </a:cubicBezTo>
                  <a:cubicBezTo>
                    <a:pt x="172" y="0"/>
                    <a:pt x="220" y="33"/>
                    <a:pt x="238" y="82"/>
                  </a:cubicBezTo>
                  <a:lnTo>
                    <a:pt x="226"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99" name="Freeform 35">
              <a:extLst>
                <a:ext uri="{FF2B5EF4-FFF2-40B4-BE49-F238E27FC236}">
                  <a16:creationId xmlns:a16="http://schemas.microsoft.com/office/drawing/2014/main" id="{1A3B81FB-CF0C-463A-ACB1-9F0B0692CFE8}"/>
                </a:ext>
              </a:extLst>
            </p:cNvPr>
            <p:cNvSpPr>
              <a:spLocks/>
            </p:cNvSpPr>
            <p:nvPr/>
          </p:nvSpPr>
          <p:spPr bwMode="auto">
            <a:xfrm>
              <a:off x="3478" y="711"/>
              <a:ext cx="348" cy="127"/>
            </a:xfrm>
            <a:custGeom>
              <a:avLst/>
              <a:gdLst>
                <a:gd name="T0" fmla="*/ 117 w 235"/>
                <a:gd name="T1" fmla="*/ 86 h 86"/>
                <a:gd name="T2" fmla="*/ 0 w 235"/>
                <a:gd name="T3" fmla="*/ 4 h 86"/>
                <a:gd name="T4" fmla="*/ 11 w 235"/>
                <a:gd name="T5" fmla="*/ 0 h 86"/>
                <a:gd name="T6" fmla="*/ 117 w 235"/>
                <a:gd name="T7" fmla="*/ 74 h 86"/>
                <a:gd name="T8" fmla="*/ 224 w 235"/>
                <a:gd name="T9" fmla="*/ 0 h 86"/>
                <a:gd name="T10" fmla="*/ 235 w 235"/>
                <a:gd name="T11" fmla="*/ 4 h 86"/>
                <a:gd name="T12" fmla="*/ 117 w 235"/>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235" h="86">
                  <a:moveTo>
                    <a:pt x="117" y="86"/>
                  </a:moveTo>
                  <a:cubicBezTo>
                    <a:pt x="66" y="86"/>
                    <a:pt x="19" y="53"/>
                    <a:pt x="0" y="4"/>
                  </a:cubicBezTo>
                  <a:cubicBezTo>
                    <a:pt x="11" y="0"/>
                    <a:pt x="11" y="0"/>
                    <a:pt x="11" y="0"/>
                  </a:cubicBezTo>
                  <a:cubicBezTo>
                    <a:pt x="28" y="44"/>
                    <a:pt x="71" y="74"/>
                    <a:pt x="117" y="74"/>
                  </a:cubicBezTo>
                  <a:cubicBezTo>
                    <a:pt x="164" y="74"/>
                    <a:pt x="207" y="44"/>
                    <a:pt x="224" y="0"/>
                  </a:cubicBezTo>
                  <a:cubicBezTo>
                    <a:pt x="235" y="4"/>
                    <a:pt x="235" y="4"/>
                    <a:pt x="235" y="4"/>
                  </a:cubicBezTo>
                  <a:cubicBezTo>
                    <a:pt x="217" y="53"/>
                    <a:pt x="169" y="86"/>
                    <a:pt x="117"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0" name="Freeform 36">
              <a:extLst>
                <a:ext uri="{FF2B5EF4-FFF2-40B4-BE49-F238E27FC236}">
                  <a16:creationId xmlns:a16="http://schemas.microsoft.com/office/drawing/2014/main" id="{9DA9F88A-1572-4AE4-BD84-04688B2D42E2}"/>
                </a:ext>
              </a:extLst>
            </p:cNvPr>
            <p:cNvSpPr>
              <a:spLocks/>
            </p:cNvSpPr>
            <p:nvPr/>
          </p:nvSpPr>
          <p:spPr bwMode="auto">
            <a:xfrm>
              <a:off x="3576" y="713"/>
              <a:ext cx="75" cy="123"/>
            </a:xfrm>
            <a:custGeom>
              <a:avLst/>
              <a:gdLst>
                <a:gd name="T0" fmla="*/ 41 w 51"/>
                <a:gd name="T1" fmla="*/ 83 h 83"/>
                <a:gd name="T2" fmla="*/ 0 w 51"/>
                <a:gd name="T3" fmla="*/ 3 h 83"/>
                <a:gd name="T4" fmla="*/ 12 w 51"/>
                <a:gd name="T5" fmla="*/ 0 h 83"/>
                <a:gd name="T6" fmla="*/ 51 w 51"/>
                <a:gd name="T7" fmla="*/ 76 h 83"/>
                <a:gd name="T8" fmla="*/ 41 w 51"/>
                <a:gd name="T9" fmla="*/ 83 h 83"/>
              </a:gdLst>
              <a:ahLst/>
              <a:cxnLst>
                <a:cxn ang="0">
                  <a:pos x="T0" y="T1"/>
                </a:cxn>
                <a:cxn ang="0">
                  <a:pos x="T2" y="T3"/>
                </a:cxn>
                <a:cxn ang="0">
                  <a:pos x="T4" y="T5"/>
                </a:cxn>
                <a:cxn ang="0">
                  <a:pos x="T6" y="T7"/>
                </a:cxn>
                <a:cxn ang="0">
                  <a:pos x="T8" y="T9"/>
                </a:cxn>
              </a:cxnLst>
              <a:rect l="0" t="0" r="r" b="b"/>
              <a:pathLst>
                <a:path w="51" h="83">
                  <a:moveTo>
                    <a:pt x="41" y="83"/>
                  </a:moveTo>
                  <a:cubicBezTo>
                    <a:pt x="22" y="57"/>
                    <a:pt x="8" y="30"/>
                    <a:pt x="0" y="3"/>
                  </a:cubicBezTo>
                  <a:cubicBezTo>
                    <a:pt x="12" y="0"/>
                    <a:pt x="12" y="0"/>
                    <a:pt x="12" y="0"/>
                  </a:cubicBezTo>
                  <a:cubicBezTo>
                    <a:pt x="19" y="25"/>
                    <a:pt x="32" y="51"/>
                    <a:pt x="51" y="76"/>
                  </a:cubicBezTo>
                  <a:lnTo>
                    <a:pt x="41"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1" name="Freeform 37">
              <a:extLst>
                <a:ext uri="{FF2B5EF4-FFF2-40B4-BE49-F238E27FC236}">
                  <a16:creationId xmlns:a16="http://schemas.microsoft.com/office/drawing/2014/main" id="{6E8D42C0-C0A1-4045-B314-FD9AF3ECE016}"/>
                </a:ext>
              </a:extLst>
            </p:cNvPr>
            <p:cNvSpPr>
              <a:spLocks/>
            </p:cNvSpPr>
            <p:nvPr/>
          </p:nvSpPr>
          <p:spPr bwMode="auto">
            <a:xfrm>
              <a:off x="3573" y="468"/>
              <a:ext cx="78" cy="125"/>
            </a:xfrm>
            <a:custGeom>
              <a:avLst/>
              <a:gdLst>
                <a:gd name="T0" fmla="*/ 11 w 53"/>
                <a:gd name="T1" fmla="*/ 84 h 84"/>
                <a:gd name="T2" fmla="*/ 0 w 53"/>
                <a:gd name="T3" fmla="*/ 81 h 84"/>
                <a:gd name="T4" fmla="*/ 44 w 53"/>
                <a:gd name="T5" fmla="*/ 0 h 84"/>
                <a:gd name="T6" fmla="*/ 53 w 53"/>
                <a:gd name="T7" fmla="*/ 8 h 84"/>
                <a:gd name="T8" fmla="*/ 11 w 53"/>
                <a:gd name="T9" fmla="*/ 84 h 84"/>
              </a:gdLst>
              <a:ahLst/>
              <a:cxnLst>
                <a:cxn ang="0">
                  <a:pos x="T0" y="T1"/>
                </a:cxn>
                <a:cxn ang="0">
                  <a:pos x="T2" y="T3"/>
                </a:cxn>
                <a:cxn ang="0">
                  <a:pos x="T4" y="T5"/>
                </a:cxn>
                <a:cxn ang="0">
                  <a:pos x="T6" y="T7"/>
                </a:cxn>
                <a:cxn ang="0">
                  <a:pos x="T8" y="T9"/>
                </a:cxn>
              </a:cxnLst>
              <a:rect l="0" t="0" r="r" b="b"/>
              <a:pathLst>
                <a:path w="53" h="84">
                  <a:moveTo>
                    <a:pt x="11" y="84"/>
                  </a:moveTo>
                  <a:cubicBezTo>
                    <a:pt x="0" y="81"/>
                    <a:pt x="0" y="81"/>
                    <a:pt x="0" y="81"/>
                  </a:cubicBezTo>
                  <a:cubicBezTo>
                    <a:pt x="7" y="52"/>
                    <a:pt x="21" y="25"/>
                    <a:pt x="44" y="0"/>
                  </a:cubicBezTo>
                  <a:cubicBezTo>
                    <a:pt x="53" y="8"/>
                    <a:pt x="53" y="8"/>
                    <a:pt x="53" y="8"/>
                  </a:cubicBezTo>
                  <a:cubicBezTo>
                    <a:pt x="32" y="31"/>
                    <a:pt x="18" y="56"/>
                    <a:pt x="11"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2" name="Freeform 38">
              <a:extLst>
                <a:ext uri="{FF2B5EF4-FFF2-40B4-BE49-F238E27FC236}">
                  <a16:creationId xmlns:a16="http://schemas.microsoft.com/office/drawing/2014/main" id="{544213C2-0BB5-4DFE-8C1D-F07CC43C05DC}"/>
                </a:ext>
              </a:extLst>
            </p:cNvPr>
            <p:cNvSpPr>
              <a:spLocks/>
            </p:cNvSpPr>
            <p:nvPr/>
          </p:nvSpPr>
          <p:spPr bwMode="auto">
            <a:xfrm>
              <a:off x="3653" y="713"/>
              <a:ext cx="75" cy="123"/>
            </a:xfrm>
            <a:custGeom>
              <a:avLst/>
              <a:gdLst>
                <a:gd name="T0" fmla="*/ 10 w 51"/>
                <a:gd name="T1" fmla="*/ 83 h 83"/>
                <a:gd name="T2" fmla="*/ 0 w 51"/>
                <a:gd name="T3" fmla="*/ 75 h 83"/>
                <a:gd name="T4" fmla="*/ 39 w 51"/>
                <a:gd name="T5" fmla="*/ 0 h 83"/>
                <a:gd name="T6" fmla="*/ 51 w 51"/>
                <a:gd name="T7" fmla="*/ 3 h 83"/>
                <a:gd name="T8" fmla="*/ 10 w 51"/>
                <a:gd name="T9" fmla="*/ 83 h 83"/>
              </a:gdLst>
              <a:ahLst/>
              <a:cxnLst>
                <a:cxn ang="0">
                  <a:pos x="T0" y="T1"/>
                </a:cxn>
                <a:cxn ang="0">
                  <a:pos x="T2" y="T3"/>
                </a:cxn>
                <a:cxn ang="0">
                  <a:pos x="T4" y="T5"/>
                </a:cxn>
                <a:cxn ang="0">
                  <a:pos x="T6" y="T7"/>
                </a:cxn>
                <a:cxn ang="0">
                  <a:pos x="T8" y="T9"/>
                </a:cxn>
              </a:cxnLst>
              <a:rect l="0" t="0" r="r" b="b"/>
              <a:pathLst>
                <a:path w="51" h="83">
                  <a:moveTo>
                    <a:pt x="10" y="83"/>
                  </a:moveTo>
                  <a:cubicBezTo>
                    <a:pt x="0" y="75"/>
                    <a:pt x="0" y="75"/>
                    <a:pt x="0" y="75"/>
                  </a:cubicBezTo>
                  <a:cubicBezTo>
                    <a:pt x="19" y="51"/>
                    <a:pt x="32" y="25"/>
                    <a:pt x="39" y="0"/>
                  </a:cubicBezTo>
                  <a:cubicBezTo>
                    <a:pt x="51" y="3"/>
                    <a:pt x="51" y="3"/>
                    <a:pt x="51" y="3"/>
                  </a:cubicBezTo>
                  <a:cubicBezTo>
                    <a:pt x="43" y="30"/>
                    <a:pt x="29" y="57"/>
                    <a:pt x="10"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3" name="Freeform 39">
              <a:extLst>
                <a:ext uri="{FF2B5EF4-FFF2-40B4-BE49-F238E27FC236}">
                  <a16:creationId xmlns:a16="http://schemas.microsoft.com/office/drawing/2014/main" id="{9B45E698-2AB6-46EF-A9F6-3E27CAC51A51}"/>
                </a:ext>
              </a:extLst>
            </p:cNvPr>
            <p:cNvSpPr>
              <a:spLocks/>
            </p:cNvSpPr>
            <p:nvPr/>
          </p:nvSpPr>
          <p:spPr bwMode="auto">
            <a:xfrm>
              <a:off x="3653" y="468"/>
              <a:ext cx="78" cy="125"/>
            </a:xfrm>
            <a:custGeom>
              <a:avLst/>
              <a:gdLst>
                <a:gd name="T0" fmla="*/ 42 w 53"/>
                <a:gd name="T1" fmla="*/ 84 h 84"/>
                <a:gd name="T2" fmla="*/ 0 w 53"/>
                <a:gd name="T3" fmla="*/ 8 h 84"/>
                <a:gd name="T4" fmla="*/ 9 w 53"/>
                <a:gd name="T5" fmla="*/ 0 h 84"/>
                <a:gd name="T6" fmla="*/ 53 w 53"/>
                <a:gd name="T7" fmla="*/ 81 h 84"/>
                <a:gd name="T8" fmla="*/ 42 w 53"/>
                <a:gd name="T9" fmla="*/ 84 h 84"/>
              </a:gdLst>
              <a:ahLst/>
              <a:cxnLst>
                <a:cxn ang="0">
                  <a:pos x="T0" y="T1"/>
                </a:cxn>
                <a:cxn ang="0">
                  <a:pos x="T2" y="T3"/>
                </a:cxn>
                <a:cxn ang="0">
                  <a:pos x="T4" y="T5"/>
                </a:cxn>
                <a:cxn ang="0">
                  <a:pos x="T6" y="T7"/>
                </a:cxn>
                <a:cxn ang="0">
                  <a:pos x="T8" y="T9"/>
                </a:cxn>
              </a:cxnLst>
              <a:rect l="0" t="0" r="r" b="b"/>
              <a:pathLst>
                <a:path w="53" h="84">
                  <a:moveTo>
                    <a:pt x="42" y="84"/>
                  </a:moveTo>
                  <a:cubicBezTo>
                    <a:pt x="35" y="56"/>
                    <a:pt x="21" y="31"/>
                    <a:pt x="0" y="8"/>
                  </a:cubicBezTo>
                  <a:cubicBezTo>
                    <a:pt x="9" y="0"/>
                    <a:pt x="9" y="0"/>
                    <a:pt x="9" y="0"/>
                  </a:cubicBezTo>
                  <a:cubicBezTo>
                    <a:pt x="32" y="25"/>
                    <a:pt x="46" y="52"/>
                    <a:pt x="53" y="81"/>
                  </a:cubicBezTo>
                  <a:lnTo>
                    <a:pt x="4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4" name="Rectangle 40">
              <a:extLst>
                <a:ext uri="{FF2B5EF4-FFF2-40B4-BE49-F238E27FC236}">
                  <a16:creationId xmlns:a16="http://schemas.microsoft.com/office/drawing/2014/main" id="{4D416949-0327-4188-A4CA-A52C32A44D43}"/>
                </a:ext>
              </a:extLst>
            </p:cNvPr>
            <p:cNvSpPr>
              <a:spLocks noChangeArrowheads="1"/>
            </p:cNvSpPr>
            <p:nvPr/>
          </p:nvSpPr>
          <p:spPr bwMode="auto">
            <a:xfrm>
              <a:off x="3505" y="741"/>
              <a:ext cx="29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5" name="Rectangle 41">
              <a:extLst>
                <a:ext uri="{FF2B5EF4-FFF2-40B4-BE49-F238E27FC236}">
                  <a16:creationId xmlns:a16="http://schemas.microsoft.com/office/drawing/2014/main" id="{78B2FA65-B832-423D-9BC0-7AB0289B9781}"/>
                </a:ext>
              </a:extLst>
            </p:cNvPr>
            <p:cNvSpPr>
              <a:spLocks noChangeArrowheads="1"/>
            </p:cNvSpPr>
            <p:nvPr/>
          </p:nvSpPr>
          <p:spPr bwMode="auto">
            <a:xfrm>
              <a:off x="3503" y="545"/>
              <a:ext cx="29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6" name="Freeform 42">
              <a:extLst>
                <a:ext uri="{FF2B5EF4-FFF2-40B4-BE49-F238E27FC236}">
                  <a16:creationId xmlns:a16="http://schemas.microsoft.com/office/drawing/2014/main" id="{B0742371-2F50-452E-A957-71A4203250C5}"/>
                </a:ext>
              </a:extLst>
            </p:cNvPr>
            <p:cNvSpPr>
              <a:spLocks/>
            </p:cNvSpPr>
            <p:nvPr/>
          </p:nvSpPr>
          <p:spPr bwMode="auto">
            <a:xfrm>
              <a:off x="3517" y="608"/>
              <a:ext cx="65" cy="88"/>
            </a:xfrm>
            <a:custGeom>
              <a:avLst/>
              <a:gdLst>
                <a:gd name="T0" fmla="*/ 15 w 44"/>
                <a:gd name="T1" fmla="*/ 60 h 60"/>
                <a:gd name="T2" fmla="*/ 14 w 44"/>
                <a:gd name="T3" fmla="*/ 60 h 60"/>
                <a:gd name="T4" fmla="*/ 9 w 44"/>
                <a:gd name="T5" fmla="*/ 55 h 60"/>
                <a:gd name="T6" fmla="*/ 1 w 44"/>
                <a:gd name="T7" fmla="*/ 7 h 60"/>
                <a:gd name="T8" fmla="*/ 6 w 44"/>
                <a:gd name="T9" fmla="*/ 0 h 60"/>
                <a:gd name="T10" fmla="*/ 13 w 44"/>
                <a:gd name="T11" fmla="*/ 5 h 60"/>
                <a:gd name="T12" fmla="*/ 16 w 44"/>
                <a:gd name="T13" fmla="*/ 28 h 60"/>
                <a:gd name="T14" fmla="*/ 22 w 44"/>
                <a:gd name="T15" fmla="*/ 24 h 60"/>
                <a:gd name="T16" fmla="*/ 22 w 44"/>
                <a:gd name="T17" fmla="*/ 24 h 60"/>
                <a:gd name="T18" fmla="*/ 28 w 44"/>
                <a:gd name="T19" fmla="*/ 28 h 60"/>
                <a:gd name="T20" fmla="*/ 32 w 44"/>
                <a:gd name="T21" fmla="*/ 5 h 60"/>
                <a:gd name="T22" fmla="*/ 38 w 44"/>
                <a:gd name="T23" fmla="*/ 0 h 60"/>
                <a:gd name="T24" fmla="*/ 43 w 44"/>
                <a:gd name="T25" fmla="*/ 7 h 60"/>
                <a:gd name="T26" fmla="*/ 36 w 44"/>
                <a:gd name="T27" fmla="*/ 55 h 60"/>
                <a:gd name="T28" fmla="*/ 30 w 44"/>
                <a:gd name="T29" fmla="*/ 60 h 60"/>
                <a:gd name="T30" fmla="*/ 24 w 44"/>
                <a:gd name="T31" fmla="*/ 56 h 60"/>
                <a:gd name="T32" fmla="*/ 22 w 44"/>
                <a:gd name="T33" fmla="*/ 50 h 60"/>
                <a:gd name="T34" fmla="*/ 20 w 44"/>
                <a:gd name="T35" fmla="*/ 56 h 60"/>
                <a:gd name="T36" fmla="*/ 15 w 44"/>
                <a:gd name="T3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60">
                  <a:moveTo>
                    <a:pt x="15" y="60"/>
                  </a:moveTo>
                  <a:cubicBezTo>
                    <a:pt x="14" y="60"/>
                    <a:pt x="14" y="60"/>
                    <a:pt x="14" y="60"/>
                  </a:cubicBezTo>
                  <a:cubicBezTo>
                    <a:pt x="11" y="60"/>
                    <a:pt x="9" y="58"/>
                    <a:pt x="9" y="55"/>
                  </a:cubicBezTo>
                  <a:cubicBezTo>
                    <a:pt x="1" y="7"/>
                    <a:pt x="1" y="7"/>
                    <a:pt x="1" y="7"/>
                  </a:cubicBezTo>
                  <a:cubicBezTo>
                    <a:pt x="0" y="4"/>
                    <a:pt x="3" y="1"/>
                    <a:pt x="6" y="0"/>
                  </a:cubicBezTo>
                  <a:cubicBezTo>
                    <a:pt x="9" y="0"/>
                    <a:pt x="12" y="2"/>
                    <a:pt x="13" y="5"/>
                  </a:cubicBezTo>
                  <a:cubicBezTo>
                    <a:pt x="16" y="28"/>
                    <a:pt x="16" y="28"/>
                    <a:pt x="16" y="28"/>
                  </a:cubicBezTo>
                  <a:cubicBezTo>
                    <a:pt x="17" y="26"/>
                    <a:pt x="20" y="24"/>
                    <a:pt x="22" y="24"/>
                  </a:cubicBezTo>
                  <a:cubicBezTo>
                    <a:pt x="22" y="24"/>
                    <a:pt x="22" y="24"/>
                    <a:pt x="22" y="24"/>
                  </a:cubicBezTo>
                  <a:cubicBezTo>
                    <a:pt x="25" y="24"/>
                    <a:pt x="27" y="26"/>
                    <a:pt x="28" y="28"/>
                  </a:cubicBezTo>
                  <a:cubicBezTo>
                    <a:pt x="32" y="5"/>
                    <a:pt x="32" y="5"/>
                    <a:pt x="32" y="5"/>
                  </a:cubicBezTo>
                  <a:cubicBezTo>
                    <a:pt x="32" y="2"/>
                    <a:pt x="35" y="0"/>
                    <a:pt x="38" y="0"/>
                  </a:cubicBezTo>
                  <a:cubicBezTo>
                    <a:pt x="42" y="1"/>
                    <a:pt x="44" y="4"/>
                    <a:pt x="43" y="7"/>
                  </a:cubicBezTo>
                  <a:cubicBezTo>
                    <a:pt x="36" y="55"/>
                    <a:pt x="36" y="55"/>
                    <a:pt x="36" y="55"/>
                  </a:cubicBezTo>
                  <a:cubicBezTo>
                    <a:pt x="35" y="58"/>
                    <a:pt x="33" y="60"/>
                    <a:pt x="30" y="60"/>
                  </a:cubicBezTo>
                  <a:cubicBezTo>
                    <a:pt x="27" y="60"/>
                    <a:pt x="25" y="59"/>
                    <a:pt x="24" y="56"/>
                  </a:cubicBezTo>
                  <a:cubicBezTo>
                    <a:pt x="22" y="50"/>
                    <a:pt x="22" y="50"/>
                    <a:pt x="22" y="50"/>
                  </a:cubicBezTo>
                  <a:cubicBezTo>
                    <a:pt x="20" y="56"/>
                    <a:pt x="20" y="56"/>
                    <a:pt x="20" y="56"/>
                  </a:cubicBezTo>
                  <a:cubicBezTo>
                    <a:pt x="19" y="59"/>
                    <a:pt x="17" y="60"/>
                    <a:pt x="15"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7" name="Freeform 43">
              <a:extLst>
                <a:ext uri="{FF2B5EF4-FFF2-40B4-BE49-F238E27FC236}">
                  <a16:creationId xmlns:a16="http://schemas.microsoft.com/office/drawing/2014/main" id="{FB6FDB0C-DCB7-4FE8-9FA3-84C92745C3FF}"/>
                </a:ext>
              </a:extLst>
            </p:cNvPr>
            <p:cNvSpPr>
              <a:spLocks/>
            </p:cNvSpPr>
            <p:nvPr/>
          </p:nvSpPr>
          <p:spPr bwMode="auto">
            <a:xfrm>
              <a:off x="3625" y="608"/>
              <a:ext cx="63" cy="88"/>
            </a:xfrm>
            <a:custGeom>
              <a:avLst/>
              <a:gdLst>
                <a:gd name="T0" fmla="*/ 14 w 43"/>
                <a:gd name="T1" fmla="*/ 60 h 60"/>
                <a:gd name="T2" fmla="*/ 13 w 43"/>
                <a:gd name="T3" fmla="*/ 60 h 60"/>
                <a:gd name="T4" fmla="*/ 8 w 43"/>
                <a:gd name="T5" fmla="*/ 55 h 60"/>
                <a:gd name="T6" fmla="*/ 0 w 43"/>
                <a:gd name="T7" fmla="*/ 7 h 60"/>
                <a:gd name="T8" fmla="*/ 5 w 43"/>
                <a:gd name="T9" fmla="*/ 0 h 60"/>
                <a:gd name="T10" fmla="*/ 12 w 43"/>
                <a:gd name="T11" fmla="*/ 5 h 60"/>
                <a:gd name="T12" fmla="*/ 16 w 43"/>
                <a:gd name="T13" fmla="*/ 28 h 60"/>
                <a:gd name="T14" fmla="*/ 21 w 43"/>
                <a:gd name="T15" fmla="*/ 24 h 60"/>
                <a:gd name="T16" fmla="*/ 21 w 43"/>
                <a:gd name="T17" fmla="*/ 24 h 60"/>
                <a:gd name="T18" fmla="*/ 27 w 43"/>
                <a:gd name="T19" fmla="*/ 28 h 60"/>
                <a:gd name="T20" fmla="*/ 31 w 43"/>
                <a:gd name="T21" fmla="*/ 5 h 60"/>
                <a:gd name="T22" fmla="*/ 38 w 43"/>
                <a:gd name="T23" fmla="*/ 0 h 60"/>
                <a:gd name="T24" fmla="*/ 43 w 43"/>
                <a:gd name="T25" fmla="*/ 7 h 60"/>
                <a:gd name="T26" fmla="*/ 35 w 43"/>
                <a:gd name="T27" fmla="*/ 55 h 60"/>
                <a:gd name="T28" fmla="*/ 30 w 43"/>
                <a:gd name="T29" fmla="*/ 60 h 60"/>
                <a:gd name="T30" fmla="*/ 23 w 43"/>
                <a:gd name="T31" fmla="*/ 56 h 60"/>
                <a:gd name="T32" fmla="*/ 21 w 43"/>
                <a:gd name="T33" fmla="*/ 50 h 60"/>
                <a:gd name="T34" fmla="*/ 19 w 43"/>
                <a:gd name="T35" fmla="*/ 56 h 60"/>
                <a:gd name="T36" fmla="*/ 14 w 43"/>
                <a:gd name="T3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60">
                  <a:moveTo>
                    <a:pt x="14" y="60"/>
                  </a:moveTo>
                  <a:cubicBezTo>
                    <a:pt x="14" y="60"/>
                    <a:pt x="13" y="60"/>
                    <a:pt x="13" y="60"/>
                  </a:cubicBezTo>
                  <a:cubicBezTo>
                    <a:pt x="11" y="60"/>
                    <a:pt x="8" y="58"/>
                    <a:pt x="8" y="55"/>
                  </a:cubicBezTo>
                  <a:cubicBezTo>
                    <a:pt x="0" y="7"/>
                    <a:pt x="0" y="7"/>
                    <a:pt x="0" y="7"/>
                  </a:cubicBezTo>
                  <a:cubicBezTo>
                    <a:pt x="0" y="4"/>
                    <a:pt x="2" y="1"/>
                    <a:pt x="5" y="0"/>
                  </a:cubicBezTo>
                  <a:cubicBezTo>
                    <a:pt x="8" y="0"/>
                    <a:pt x="12" y="2"/>
                    <a:pt x="12" y="5"/>
                  </a:cubicBezTo>
                  <a:cubicBezTo>
                    <a:pt x="16" y="28"/>
                    <a:pt x="16" y="28"/>
                    <a:pt x="16" y="28"/>
                  </a:cubicBezTo>
                  <a:cubicBezTo>
                    <a:pt x="17" y="26"/>
                    <a:pt x="19" y="24"/>
                    <a:pt x="21" y="24"/>
                  </a:cubicBezTo>
                  <a:cubicBezTo>
                    <a:pt x="21" y="24"/>
                    <a:pt x="21" y="24"/>
                    <a:pt x="21" y="24"/>
                  </a:cubicBezTo>
                  <a:cubicBezTo>
                    <a:pt x="24" y="24"/>
                    <a:pt x="26" y="26"/>
                    <a:pt x="27" y="28"/>
                  </a:cubicBezTo>
                  <a:cubicBezTo>
                    <a:pt x="31" y="5"/>
                    <a:pt x="31" y="5"/>
                    <a:pt x="31" y="5"/>
                  </a:cubicBezTo>
                  <a:cubicBezTo>
                    <a:pt x="31" y="2"/>
                    <a:pt x="34" y="0"/>
                    <a:pt x="38" y="0"/>
                  </a:cubicBezTo>
                  <a:cubicBezTo>
                    <a:pt x="41" y="1"/>
                    <a:pt x="43" y="4"/>
                    <a:pt x="43" y="7"/>
                  </a:cubicBezTo>
                  <a:cubicBezTo>
                    <a:pt x="35" y="55"/>
                    <a:pt x="35" y="55"/>
                    <a:pt x="35" y="55"/>
                  </a:cubicBezTo>
                  <a:cubicBezTo>
                    <a:pt x="35" y="58"/>
                    <a:pt x="32" y="60"/>
                    <a:pt x="30" y="60"/>
                  </a:cubicBezTo>
                  <a:cubicBezTo>
                    <a:pt x="27" y="60"/>
                    <a:pt x="24" y="59"/>
                    <a:pt x="23" y="56"/>
                  </a:cubicBezTo>
                  <a:cubicBezTo>
                    <a:pt x="21" y="50"/>
                    <a:pt x="21" y="50"/>
                    <a:pt x="21" y="50"/>
                  </a:cubicBezTo>
                  <a:cubicBezTo>
                    <a:pt x="19" y="56"/>
                    <a:pt x="19" y="56"/>
                    <a:pt x="19" y="56"/>
                  </a:cubicBezTo>
                  <a:cubicBezTo>
                    <a:pt x="19" y="59"/>
                    <a:pt x="16" y="60"/>
                    <a:pt x="1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8" name="Freeform 44">
              <a:extLst>
                <a:ext uri="{FF2B5EF4-FFF2-40B4-BE49-F238E27FC236}">
                  <a16:creationId xmlns:a16="http://schemas.microsoft.com/office/drawing/2014/main" id="{838F42A3-C67B-4A82-B7A3-2AB7069C5C04}"/>
                </a:ext>
              </a:extLst>
            </p:cNvPr>
            <p:cNvSpPr>
              <a:spLocks/>
            </p:cNvSpPr>
            <p:nvPr/>
          </p:nvSpPr>
          <p:spPr bwMode="auto">
            <a:xfrm>
              <a:off x="3731" y="608"/>
              <a:ext cx="64" cy="88"/>
            </a:xfrm>
            <a:custGeom>
              <a:avLst/>
              <a:gdLst>
                <a:gd name="T0" fmla="*/ 29 w 43"/>
                <a:gd name="T1" fmla="*/ 60 h 60"/>
                <a:gd name="T2" fmla="*/ 24 w 43"/>
                <a:gd name="T3" fmla="*/ 56 h 60"/>
                <a:gd name="T4" fmla="*/ 22 w 43"/>
                <a:gd name="T5" fmla="*/ 50 h 60"/>
                <a:gd name="T6" fmla="*/ 20 w 43"/>
                <a:gd name="T7" fmla="*/ 56 h 60"/>
                <a:gd name="T8" fmla="*/ 14 w 43"/>
                <a:gd name="T9" fmla="*/ 60 h 60"/>
                <a:gd name="T10" fmla="*/ 8 w 43"/>
                <a:gd name="T11" fmla="*/ 55 h 60"/>
                <a:gd name="T12" fmla="*/ 1 w 43"/>
                <a:gd name="T13" fmla="*/ 7 h 60"/>
                <a:gd name="T14" fmla="*/ 5 w 43"/>
                <a:gd name="T15" fmla="*/ 0 h 60"/>
                <a:gd name="T16" fmla="*/ 12 w 43"/>
                <a:gd name="T17" fmla="*/ 5 h 60"/>
                <a:gd name="T18" fmla="*/ 16 w 43"/>
                <a:gd name="T19" fmla="*/ 28 h 60"/>
                <a:gd name="T20" fmla="*/ 22 w 43"/>
                <a:gd name="T21" fmla="*/ 24 h 60"/>
                <a:gd name="T22" fmla="*/ 22 w 43"/>
                <a:gd name="T23" fmla="*/ 24 h 60"/>
                <a:gd name="T24" fmla="*/ 27 w 43"/>
                <a:gd name="T25" fmla="*/ 28 h 60"/>
                <a:gd name="T26" fmla="*/ 31 w 43"/>
                <a:gd name="T27" fmla="*/ 5 h 60"/>
                <a:gd name="T28" fmla="*/ 38 w 43"/>
                <a:gd name="T29" fmla="*/ 0 h 60"/>
                <a:gd name="T30" fmla="*/ 43 w 43"/>
                <a:gd name="T31" fmla="*/ 7 h 60"/>
                <a:gd name="T32" fmla="*/ 35 w 43"/>
                <a:gd name="T33" fmla="*/ 55 h 60"/>
                <a:gd name="T34" fmla="*/ 30 w 43"/>
                <a:gd name="T35" fmla="*/ 60 h 60"/>
                <a:gd name="T36" fmla="*/ 29 w 43"/>
                <a:gd name="T3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60">
                  <a:moveTo>
                    <a:pt x="29" y="60"/>
                  </a:moveTo>
                  <a:cubicBezTo>
                    <a:pt x="27" y="60"/>
                    <a:pt x="24" y="59"/>
                    <a:pt x="24" y="56"/>
                  </a:cubicBezTo>
                  <a:cubicBezTo>
                    <a:pt x="22" y="50"/>
                    <a:pt x="22" y="50"/>
                    <a:pt x="22" y="50"/>
                  </a:cubicBezTo>
                  <a:cubicBezTo>
                    <a:pt x="20" y="56"/>
                    <a:pt x="20" y="56"/>
                    <a:pt x="20" y="56"/>
                  </a:cubicBezTo>
                  <a:cubicBezTo>
                    <a:pt x="19" y="59"/>
                    <a:pt x="16" y="60"/>
                    <a:pt x="14" y="60"/>
                  </a:cubicBezTo>
                  <a:cubicBezTo>
                    <a:pt x="11" y="60"/>
                    <a:pt x="9" y="58"/>
                    <a:pt x="8" y="55"/>
                  </a:cubicBezTo>
                  <a:cubicBezTo>
                    <a:pt x="1" y="7"/>
                    <a:pt x="1" y="7"/>
                    <a:pt x="1" y="7"/>
                  </a:cubicBezTo>
                  <a:cubicBezTo>
                    <a:pt x="0" y="4"/>
                    <a:pt x="2" y="1"/>
                    <a:pt x="5" y="0"/>
                  </a:cubicBezTo>
                  <a:cubicBezTo>
                    <a:pt x="9" y="0"/>
                    <a:pt x="12" y="2"/>
                    <a:pt x="12" y="5"/>
                  </a:cubicBezTo>
                  <a:cubicBezTo>
                    <a:pt x="16" y="28"/>
                    <a:pt x="16" y="28"/>
                    <a:pt x="16" y="28"/>
                  </a:cubicBezTo>
                  <a:cubicBezTo>
                    <a:pt x="17" y="26"/>
                    <a:pt x="19" y="24"/>
                    <a:pt x="22" y="24"/>
                  </a:cubicBezTo>
                  <a:cubicBezTo>
                    <a:pt x="22" y="24"/>
                    <a:pt x="22" y="24"/>
                    <a:pt x="22" y="24"/>
                  </a:cubicBezTo>
                  <a:cubicBezTo>
                    <a:pt x="24" y="24"/>
                    <a:pt x="27" y="26"/>
                    <a:pt x="27" y="28"/>
                  </a:cubicBezTo>
                  <a:cubicBezTo>
                    <a:pt x="31" y="5"/>
                    <a:pt x="31" y="5"/>
                    <a:pt x="31" y="5"/>
                  </a:cubicBezTo>
                  <a:cubicBezTo>
                    <a:pt x="32" y="2"/>
                    <a:pt x="35" y="0"/>
                    <a:pt x="38" y="0"/>
                  </a:cubicBezTo>
                  <a:cubicBezTo>
                    <a:pt x="41" y="1"/>
                    <a:pt x="43" y="4"/>
                    <a:pt x="43" y="7"/>
                  </a:cubicBezTo>
                  <a:cubicBezTo>
                    <a:pt x="35" y="55"/>
                    <a:pt x="35" y="55"/>
                    <a:pt x="35" y="55"/>
                  </a:cubicBezTo>
                  <a:cubicBezTo>
                    <a:pt x="35" y="58"/>
                    <a:pt x="33" y="60"/>
                    <a:pt x="30" y="60"/>
                  </a:cubicBezTo>
                  <a:cubicBezTo>
                    <a:pt x="30" y="60"/>
                    <a:pt x="30" y="60"/>
                    <a:pt x="2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grpSp>
      <p:sp>
        <p:nvSpPr>
          <p:cNvPr id="310" name="Marcador de texto 7">
            <a:hlinkClick r:id="rId8"/>
            <a:extLst>
              <a:ext uri="{FF2B5EF4-FFF2-40B4-BE49-F238E27FC236}">
                <a16:creationId xmlns:a16="http://schemas.microsoft.com/office/drawing/2014/main" id="{660CEB8F-C8B8-482D-9DDD-6ED0268471BE}"/>
              </a:ext>
            </a:extLst>
          </p:cNvPr>
          <p:cNvSpPr txBox="1">
            <a:spLocks/>
          </p:cNvSpPr>
          <p:nvPr/>
        </p:nvSpPr>
        <p:spPr>
          <a:xfrm>
            <a:off x="384173" y="3203978"/>
            <a:ext cx="5593939" cy="659273"/>
          </a:xfrm>
          <a:prstGeom prst="rect">
            <a:avLst/>
          </a:prstGeom>
          <a:solidFill>
            <a:schemeClr val="bg1">
              <a:lumMod val="95000"/>
            </a:schemeClr>
          </a:solidFill>
        </p:spPr>
        <p:txBody>
          <a:bodyPr vert="horz" wrap="square" lIns="57600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l"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How to Write a Consulting Proposal: Guide and Templates</a:t>
            </a:r>
          </a:p>
        </p:txBody>
      </p:sp>
      <p:grpSp>
        <p:nvGrpSpPr>
          <p:cNvPr id="311" name="Group 57">
            <a:extLst>
              <a:ext uri="{FF2B5EF4-FFF2-40B4-BE49-F238E27FC236}">
                <a16:creationId xmlns:a16="http://schemas.microsoft.com/office/drawing/2014/main" id="{6B594FD4-D970-4B71-87F0-5944CEE0DA7B}"/>
              </a:ext>
            </a:extLst>
          </p:cNvPr>
          <p:cNvGrpSpPr>
            <a:grpSpLocks noChangeAspect="1"/>
          </p:cNvGrpSpPr>
          <p:nvPr/>
        </p:nvGrpSpPr>
        <p:grpSpPr bwMode="auto">
          <a:xfrm>
            <a:off x="498546" y="3343986"/>
            <a:ext cx="310214" cy="379257"/>
            <a:chOff x="6598" y="457"/>
            <a:chExt cx="319" cy="390"/>
          </a:xfrm>
          <a:solidFill>
            <a:schemeClr val="tx2"/>
          </a:solidFill>
        </p:grpSpPr>
        <p:sp>
          <p:nvSpPr>
            <p:cNvPr id="312" name="Freeform 58">
              <a:extLst>
                <a:ext uri="{FF2B5EF4-FFF2-40B4-BE49-F238E27FC236}">
                  <a16:creationId xmlns:a16="http://schemas.microsoft.com/office/drawing/2014/main" id="{5ED263DA-9FAE-403A-8F4B-ED870454F979}"/>
                </a:ext>
              </a:extLst>
            </p:cNvPr>
            <p:cNvSpPr>
              <a:spLocks noEditPoints="1"/>
            </p:cNvSpPr>
            <p:nvPr/>
          </p:nvSpPr>
          <p:spPr bwMode="auto">
            <a:xfrm>
              <a:off x="6669" y="457"/>
              <a:ext cx="248" cy="319"/>
            </a:xfrm>
            <a:custGeom>
              <a:avLst/>
              <a:gdLst>
                <a:gd name="T0" fmla="*/ 162 w 168"/>
                <a:gd name="T1" fmla="*/ 216 h 216"/>
                <a:gd name="T2" fmla="*/ 6 w 168"/>
                <a:gd name="T3" fmla="*/ 216 h 216"/>
                <a:gd name="T4" fmla="*/ 0 w 168"/>
                <a:gd name="T5" fmla="*/ 210 h 216"/>
                <a:gd name="T6" fmla="*/ 0 w 168"/>
                <a:gd name="T7" fmla="*/ 6 h 216"/>
                <a:gd name="T8" fmla="*/ 6 w 168"/>
                <a:gd name="T9" fmla="*/ 0 h 216"/>
                <a:gd name="T10" fmla="*/ 102 w 168"/>
                <a:gd name="T11" fmla="*/ 0 h 216"/>
                <a:gd name="T12" fmla="*/ 106 w 168"/>
                <a:gd name="T13" fmla="*/ 1 h 216"/>
                <a:gd name="T14" fmla="*/ 166 w 168"/>
                <a:gd name="T15" fmla="*/ 61 h 216"/>
                <a:gd name="T16" fmla="*/ 168 w 168"/>
                <a:gd name="T17" fmla="*/ 66 h 216"/>
                <a:gd name="T18" fmla="*/ 168 w 168"/>
                <a:gd name="T19" fmla="*/ 210 h 216"/>
                <a:gd name="T20" fmla="*/ 162 w 168"/>
                <a:gd name="T21" fmla="*/ 216 h 216"/>
                <a:gd name="T22" fmla="*/ 12 w 168"/>
                <a:gd name="T23" fmla="*/ 204 h 216"/>
                <a:gd name="T24" fmla="*/ 156 w 168"/>
                <a:gd name="T25" fmla="*/ 204 h 216"/>
                <a:gd name="T26" fmla="*/ 156 w 168"/>
                <a:gd name="T27" fmla="*/ 68 h 216"/>
                <a:gd name="T28" fmla="*/ 99 w 168"/>
                <a:gd name="T29" fmla="*/ 12 h 216"/>
                <a:gd name="T30" fmla="*/ 12 w 168"/>
                <a:gd name="T31" fmla="*/ 12 h 216"/>
                <a:gd name="T32" fmla="*/ 12 w 168"/>
                <a:gd name="T33" fmla="*/ 20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8" h="216">
                  <a:moveTo>
                    <a:pt x="162" y="216"/>
                  </a:moveTo>
                  <a:cubicBezTo>
                    <a:pt x="6" y="216"/>
                    <a:pt x="6" y="216"/>
                    <a:pt x="6" y="216"/>
                  </a:cubicBezTo>
                  <a:cubicBezTo>
                    <a:pt x="3" y="216"/>
                    <a:pt x="0" y="213"/>
                    <a:pt x="0" y="210"/>
                  </a:cubicBezTo>
                  <a:cubicBezTo>
                    <a:pt x="0" y="6"/>
                    <a:pt x="0" y="6"/>
                    <a:pt x="0" y="6"/>
                  </a:cubicBezTo>
                  <a:cubicBezTo>
                    <a:pt x="0" y="2"/>
                    <a:pt x="3" y="0"/>
                    <a:pt x="6" y="0"/>
                  </a:cubicBezTo>
                  <a:cubicBezTo>
                    <a:pt x="102" y="0"/>
                    <a:pt x="102" y="0"/>
                    <a:pt x="102" y="0"/>
                  </a:cubicBezTo>
                  <a:cubicBezTo>
                    <a:pt x="103" y="0"/>
                    <a:pt x="105" y="0"/>
                    <a:pt x="106" y="1"/>
                  </a:cubicBezTo>
                  <a:cubicBezTo>
                    <a:pt x="166" y="61"/>
                    <a:pt x="166" y="61"/>
                    <a:pt x="166" y="61"/>
                  </a:cubicBezTo>
                  <a:cubicBezTo>
                    <a:pt x="167" y="63"/>
                    <a:pt x="168" y="64"/>
                    <a:pt x="168" y="66"/>
                  </a:cubicBezTo>
                  <a:cubicBezTo>
                    <a:pt x="168" y="210"/>
                    <a:pt x="168" y="210"/>
                    <a:pt x="168" y="210"/>
                  </a:cubicBezTo>
                  <a:cubicBezTo>
                    <a:pt x="168" y="213"/>
                    <a:pt x="165" y="216"/>
                    <a:pt x="162" y="216"/>
                  </a:cubicBezTo>
                  <a:close/>
                  <a:moveTo>
                    <a:pt x="12" y="204"/>
                  </a:moveTo>
                  <a:cubicBezTo>
                    <a:pt x="156" y="204"/>
                    <a:pt x="156" y="204"/>
                    <a:pt x="156" y="204"/>
                  </a:cubicBezTo>
                  <a:cubicBezTo>
                    <a:pt x="156" y="68"/>
                    <a:pt x="156" y="68"/>
                    <a:pt x="156" y="68"/>
                  </a:cubicBezTo>
                  <a:cubicBezTo>
                    <a:pt x="99" y="12"/>
                    <a:pt x="99" y="12"/>
                    <a:pt x="99" y="12"/>
                  </a:cubicBezTo>
                  <a:cubicBezTo>
                    <a:pt x="12" y="12"/>
                    <a:pt x="12" y="12"/>
                    <a:pt x="12" y="12"/>
                  </a:cubicBezTo>
                  <a:lnTo>
                    <a:pt x="12"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13" name="Freeform 59">
              <a:extLst>
                <a:ext uri="{FF2B5EF4-FFF2-40B4-BE49-F238E27FC236}">
                  <a16:creationId xmlns:a16="http://schemas.microsoft.com/office/drawing/2014/main" id="{5939DB82-990B-4827-A820-918C9CC5D8FB}"/>
                </a:ext>
              </a:extLst>
            </p:cNvPr>
            <p:cNvSpPr>
              <a:spLocks/>
            </p:cNvSpPr>
            <p:nvPr/>
          </p:nvSpPr>
          <p:spPr bwMode="auto">
            <a:xfrm>
              <a:off x="6633" y="492"/>
              <a:ext cx="249" cy="320"/>
            </a:xfrm>
            <a:custGeom>
              <a:avLst/>
              <a:gdLst>
                <a:gd name="T0" fmla="*/ 162 w 168"/>
                <a:gd name="T1" fmla="*/ 216 h 216"/>
                <a:gd name="T2" fmla="*/ 6 w 168"/>
                <a:gd name="T3" fmla="*/ 216 h 216"/>
                <a:gd name="T4" fmla="*/ 0 w 168"/>
                <a:gd name="T5" fmla="*/ 210 h 216"/>
                <a:gd name="T6" fmla="*/ 0 w 168"/>
                <a:gd name="T7" fmla="*/ 6 h 216"/>
                <a:gd name="T8" fmla="*/ 6 w 168"/>
                <a:gd name="T9" fmla="*/ 0 h 216"/>
                <a:gd name="T10" fmla="*/ 30 w 168"/>
                <a:gd name="T11" fmla="*/ 0 h 216"/>
                <a:gd name="T12" fmla="*/ 36 w 168"/>
                <a:gd name="T13" fmla="*/ 6 h 216"/>
                <a:gd name="T14" fmla="*/ 30 w 168"/>
                <a:gd name="T15" fmla="*/ 12 h 216"/>
                <a:gd name="T16" fmla="*/ 12 w 168"/>
                <a:gd name="T17" fmla="*/ 12 h 216"/>
                <a:gd name="T18" fmla="*/ 12 w 168"/>
                <a:gd name="T19" fmla="*/ 204 h 216"/>
                <a:gd name="T20" fmla="*/ 156 w 168"/>
                <a:gd name="T21" fmla="*/ 204 h 216"/>
                <a:gd name="T22" fmla="*/ 156 w 168"/>
                <a:gd name="T23" fmla="*/ 186 h 216"/>
                <a:gd name="T24" fmla="*/ 162 w 168"/>
                <a:gd name="T25" fmla="*/ 180 h 216"/>
                <a:gd name="T26" fmla="*/ 168 w 168"/>
                <a:gd name="T27" fmla="*/ 186 h 216"/>
                <a:gd name="T28" fmla="*/ 168 w 168"/>
                <a:gd name="T29" fmla="*/ 210 h 216"/>
                <a:gd name="T30" fmla="*/ 162 w 168"/>
                <a:gd name="T31" fmla="*/ 21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8" h="216">
                  <a:moveTo>
                    <a:pt x="162" y="216"/>
                  </a:moveTo>
                  <a:cubicBezTo>
                    <a:pt x="6" y="216"/>
                    <a:pt x="6" y="216"/>
                    <a:pt x="6" y="216"/>
                  </a:cubicBezTo>
                  <a:cubicBezTo>
                    <a:pt x="3" y="216"/>
                    <a:pt x="0" y="213"/>
                    <a:pt x="0" y="210"/>
                  </a:cubicBezTo>
                  <a:cubicBezTo>
                    <a:pt x="0" y="6"/>
                    <a:pt x="0" y="6"/>
                    <a:pt x="0" y="6"/>
                  </a:cubicBezTo>
                  <a:cubicBezTo>
                    <a:pt x="0" y="2"/>
                    <a:pt x="3" y="0"/>
                    <a:pt x="6" y="0"/>
                  </a:cubicBezTo>
                  <a:cubicBezTo>
                    <a:pt x="30" y="0"/>
                    <a:pt x="30" y="0"/>
                    <a:pt x="30" y="0"/>
                  </a:cubicBezTo>
                  <a:cubicBezTo>
                    <a:pt x="33" y="0"/>
                    <a:pt x="36" y="2"/>
                    <a:pt x="36" y="6"/>
                  </a:cubicBezTo>
                  <a:cubicBezTo>
                    <a:pt x="36" y="9"/>
                    <a:pt x="33" y="12"/>
                    <a:pt x="30" y="12"/>
                  </a:cubicBezTo>
                  <a:cubicBezTo>
                    <a:pt x="12" y="12"/>
                    <a:pt x="12" y="12"/>
                    <a:pt x="12" y="12"/>
                  </a:cubicBezTo>
                  <a:cubicBezTo>
                    <a:pt x="12" y="204"/>
                    <a:pt x="12" y="204"/>
                    <a:pt x="12" y="204"/>
                  </a:cubicBezTo>
                  <a:cubicBezTo>
                    <a:pt x="156" y="204"/>
                    <a:pt x="156" y="204"/>
                    <a:pt x="156" y="204"/>
                  </a:cubicBezTo>
                  <a:cubicBezTo>
                    <a:pt x="156" y="186"/>
                    <a:pt x="156" y="186"/>
                    <a:pt x="156" y="186"/>
                  </a:cubicBezTo>
                  <a:cubicBezTo>
                    <a:pt x="156" y="182"/>
                    <a:pt x="159" y="180"/>
                    <a:pt x="162" y="180"/>
                  </a:cubicBezTo>
                  <a:cubicBezTo>
                    <a:pt x="165" y="180"/>
                    <a:pt x="168" y="182"/>
                    <a:pt x="168" y="186"/>
                  </a:cubicBezTo>
                  <a:cubicBezTo>
                    <a:pt x="168" y="210"/>
                    <a:pt x="168" y="210"/>
                    <a:pt x="168" y="210"/>
                  </a:cubicBezTo>
                  <a:cubicBezTo>
                    <a:pt x="168" y="213"/>
                    <a:pt x="165" y="216"/>
                    <a:pt x="162" y="2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14" name="Freeform 60">
              <a:extLst>
                <a:ext uri="{FF2B5EF4-FFF2-40B4-BE49-F238E27FC236}">
                  <a16:creationId xmlns:a16="http://schemas.microsoft.com/office/drawing/2014/main" id="{E339F2BC-D735-4FAD-BD90-5190B06E3790}"/>
                </a:ext>
              </a:extLst>
            </p:cNvPr>
            <p:cNvSpPr>
              <a:spLocks/>
            </p:cNvSpPr>
            <p:nvPr/>
          </p:nvSpPr>
          <p:spPr bwMode="auto">
            <a:xfrm>
              <a:off x="6598" y="528"/>
              <a:ext cx="248" cy="319"/>
            </a:xfrm>
            <a:custGeom>
              <a:avLst/>
              <a:gdLst>
                <a:gd name="T0" fmla="*/ 162 w 168"/>
                <a:gd name="T1" fmla="*/ 216 h 216"/>
                <a:gd name="T2" fmla="*/ 6 w 168"/>
                <a:gd name="T3" fmla="*/ 216 h 216"/>
                <a:gd name="T4" fmla="*/ 0 w 168"/>
                <a:gd name="T5" fmla="*/ 210 h 216"/>
                <a:gd name="T6" fmla="*/ 0 w 168"/>
                <a:gd name="T7" fmla="*/ 6 h 216"/>
                <a:gd name="T8" fmla="*/ 6 w 168"/>
                <a:gd name="T9" fmla="*/ 0 h 216"/>
                <a:gd name="T10" fmla="*/ 30 w 168"/>
                <a:gd name="T11" fmla="*/ 0 h 216"/>
                <a:gd name="T12" fmla="*/ 36 w 168"/>
                <a:gd name="T13" fmla="*/ 6 h 216"/>
                <a:gd name="T14" fmla="*/ 30 w 168"/>
                <a:gd name="T15" fmla="*/ 12 h 216"/>
                <a:gd name="T16" fmla="*/ 12 w 168"/>
                <a:gd name="T17" fmla="*/ 12 h 216"/>
                <a:gd name="T18" fmla="*/ 12 w 168"/>
                <a:gd name="T19" fmla="*/ 204 h 216"/>
                <a:gd name="T20" fmla="*/ 156 w 168"/>
                <a:gd name="T21" fmla="*/ 204 h 216"/>
                <a:gd name="T22" fmla="*/ 156 w 168"/>
                <a:gd name="T23" fmla="*/ 186 h 216"/>
                <a:gd name="T24" fmla="*/ 162 w 168"/>
                <a:gd name="T25" fmla="*/ 180 h 216"/>
                <a:gd name="T26" fmla="*/ 168 w 168"/>
                <a:gd name="T27" fmla="*/ 186 h 216"/>
                <a:gd name="T28" fmla="*/ 168 w 168"/>
                <a:gd name="T29" fmla="*/ 210 h 216"/>
                <a:gd name="T30" fmla="*/ 162 w 168"/>
                <a:gd name="T31" fmla="*/ 21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8" h="216">
                  <a:moveTo>
                    <a:pt x="162" y="216"/>
                  </a:moveTo>
                  <a:cubicBezTo>
                    <a:pt x="6" y="216"/>
                    <a:pt x="6" y="216"/>
                    <a:pt x="6" y="216"/>
                  </a:cubicBezTo>
                  <a:cubicBezTo>
                    <a:pt x="3" y="216"/>
                    <a:pt x="0" y="213"/>
                    <a:pt x="0" y="210"/>
                  </a:cubicBezTo>
                  <a:cubicBezTo>
                    <a:pt x="0" y="6"/>
                    <a:pt x="0" y="6"/>
                    <a:pt x="0" y="6"/>
                  </a:cubicBezTo>
                  <a:cubicBezTo>
                    <a:pt x="0" y="2"/>
                    <a:pt x="3" y="0"/>
                    <a:pt x="6" y="0"/>
                  </a:cubicBezTo>
                  <a:cubicBezTo>
                    <a:pt x="30" y="0"/>
                    <a:pt x="30" y="0"/>
                    <a:pt x="30" y="0"/>
                  </a:cubicBezTo>
                  <a:cubicBezTo>
                    <a:pt x="33" y="0"/>
                    <a:pt x="36" y="2"/>
                    <a:pt x="36" y="6"/>
                  </a:cubicBezTo>
                  <a:cubicBezTo>
                    <a:pt x="36" y="9"/>
                    <a:pt x="33" y="12"/>
                    <a:pt x="30" y="12"/>
                  </a:cubicBezTo>
                  <a:cubicBezTo>
                    <a:pt x="12" y="12"/>
                    <a:pt x="12" y="12"/>
                    <a:pt x="12" y="12"/>
                  </a:cubicBezTo>
                  <a:cubicBezTo>
                    <a:pt x="12" y="204"/>
                    <a:pt x="12" y="204"/>
                    <a:pt x="12" y="204"/>
                  </a:cubicBezTo>
                  <a:cubicBezTo>
                    <a:pt x="156" y="204"/>
                    <a:pt x="156" y="204"/>
                    <a:pt x="156" y="204"/>
                  </a:cubicBezTo>
                  <a:cubicBezTo>
                    <a:pt x="156" y="186"/>
                    <a:pt x="156" y="186"/>
                    <a:pt x="156" y="186"/>
                  </a:cubicBezTo>
                  <a:cubicBezTo>
                    <a:pt x="156" y="182"/>
                    <a:pt x="159" y="180"/>
                    <a:pt x="162" y="180"/>
                  </a:cubicBezTo>
                  <a:cubicBezTo>
                    <a:pt x="165" y="180"/>
                    <a:pt x="168" y="182"/>
                    <a:pt x="168" y="186"/>
                  </a:cubicBezTo>
                  <a:cubicBezTo>
                    <a:pt x="168" y="210"/>
                    <a:pt x="168" y="210"/>
                    <a:pt x="168" y="210"/>
                  </a:cubicBezTo>
                  <a:cubicBezTo>
                    <a:pt x="168" y="213"/>
                    <a:pt x="165" y="216"/>
                    <a:pt x="162" y="2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15" name="Freeform 61">
              <a:extLst>
                <a:ext uri="{FF2B5EF4-FFF2-40B4-BE49-F238E27FC236}">
                  <a16:creationId xmlns:a16="http://schemas.microsoft.com/office/drawing/2014/main" id="{4A36DEEF-BA8C-40D2-BFA7-45BD8A040701}"/>
                </a:ext>
              </a:extLst>
            </p:cNvPr>
            <p:cNvSpPr>
              <a:spLocks/>
            </p:cNvSpPr>
            <p:nvPr/>
          </p:nvSpPr>
          <p:spPr bwMode="auto">
            <a:xfrm>
              <a:off x="6811" y="457"/>
              <a:ext cx="106" cy="106"/>
            </a:xfrm>
            <a:custGeom>
              <a:avLst/>
              <a:gdLst>
                <a:gd name="T0" fmla="*/ 66 w 72"/>
                <a:gd name="T1" fmla="*/ 72 h 72"/>
                <a:gd name="T2" fmla="*/ 6 w 72"/>
                <a:gd name="T3" fmla="*/ 72 h 72"/>
                <a:gd name="T4" fmla="*/ 0 w 72"/>
                <a:gd name="T5" fmla="*/ 66 h 72"/>
                <a:gd name="T6" fmla="*/ 0 w 72"/>
                <a:gd name="T7" fmla="*/ 6 h 72"/>
                <a:gd name="T8" fmla="*/ 6 w 72"/>
                <a:gd name="T9" fmla="*/ 0 h 72"/>
                <a:gd name="T10" fmla="*/ 12 w 72"/>
                <a:gd name="T11" fmla="*/ 6 h 72"/>
                <a:gd name="T12" fmla="*/ 12 w 72"/>
                <a:gd name="T13" fmla="*/ 60 h 72"/>
                <a:gd name="T14" fmla="*/ 66 w 72"/>
                <a:gd name="T15" fmla="*/ 60 h 72"/>
                <a:gd name="T16" fmla="*/ 72 w 72"/>
                <a:gd name="T17" fmla="*/ 66 h 72"/>
                <a:gd name="T18" fmla="*/ 66 w 72"/>
                <a:gd name="T19"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66" y="72"/>
                  </a:moveTo>
                  <a:cubicBezTo>
                    <a:pt x="6" y="72"/>
                    <a:pt x="6" y="72"/>
                    <a:pt x="6" y="72"/>
                  </a:cubicBezTo>
                  <a:cubicBezTo>
                    <a:pt x="3" y="72"/>
                    <a:pt x="0" y="69"/>
                    <a:pt x="0" y="66"/>
                  </a:cubicBezTo>
                  <a:cubicBezTo>
                    <a:pt x="0" y="6"/>
                    <a:pt x="0" y="6"/>
                    <a:pt x="0" y="6"/>
                  </a:cubicBezTo>
                  <a:cubicBezTo>
                    <a:pt x="0" y="2"/>
                    <a:pt x="3" y="0"/>
                    <a:pt x="6" y="0"/>
                  </a:cubicBezTo>
                  <a:cubicBezTo>
                    <a:pt x="9" y="0"/>
                    <a:pt x="12" y="2"/>
                    <a:pt x="12" y="6"/>
                  </a:cubicBezTo>
                  <a:cubicBezTo>
                    <a:pt x="12" y="60"/>
                    <a:pt x="12" y="60"/>
                    <a:pt x="12" y="60"/>
                  </a:cubicBezTo>
                  <a:cubicBezTo>
                    <a:pt x="66" y="60"/>
                    <a:pt x="66" y="60"/>
                    <a:pt x="66" y="60"/>
                  </a:cubicBezTo>
                  <a:cubicBezTo>
                    <a:pt x="69" y="60"/>
                    <a:pt x="72" y="62"/>
                    <a:pt x="72" y="66"/>
                  </a:cubicBezTo>
                  <a:cubicBezTo>
                    <a:pt x="72" y="69"/>
                    <a:pt x="69" y="72"/>
                    <a:pt x="6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grpSp>
      <p:sp>
        <p:nvSpPr>
          <p:cNvPr id="320" name="Marcador de texto 7">
            <a:hlinkClick r:id="rId9"/>
            <a:extLst>
              <a:ext uri="{FF2B5EF4-FFF2-40B4-BE49-F238E27FC236}">
                <a16:creationId xmlns:a16="http://schemas.microsoft.com/office/drawing/2014/main" id="{8FF08C60-994E-49E9-89B3-5F9CB665D1A8}"/>
              </a:ext>
            </a:extLst>
          </p:cNvPr>
          <p:cNvSpPr txBox="1">
            <a:spLocks/>
          </p:cNvSpPr>
          <p:nvPr/>
        </p:nvSpPr>
        <p:spPr>
          <a:xfrm>
            <a:off x="384173" y="1289596"/>
            <a:ext cx="5593939" cy="659273"/>
          </a:xfrm>
          <a:prstGeom prst="rect">
            <a:avLst/>
          </a:prstGeom>
          <a:solidFill>
            <a:schemeClr val="bg1">
              <a:lumMod val="95000"/>
            </a:schemeClr>
          </a:solidFill>
        </p:spPr>
        <p:txBody>
          <a:bodyPr vert="horz" wrap="square" lIns="57600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l"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How To Set Consulting Fees</a:t>
            </a:r>
          </a:p>
        </p:txBody>
      </p:sp>
      <p:pic>
        <p:nvPicPr>
          <p:cNvPr id="321" name="Gráfico 155" descr="Calculadora contorno">
            <a:extLst>
              <a:ext uri="{FF2B5EF4-FFF2-40B4-BE49-F238E27FC236}">
                <a16:creationId xmlns:a16="http://schemas.microsoft.com/office/drawing/2014/main" id="{506B4F94-8746-4D5C-8A12-86B1A02463C9}"/>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9208" y="1364787"/>
            <a:ext cx="508891" cy="508891"/>
          </a:xfrm>
          <a:prstGeom prst="rect">
            <a:avLst/>
          </a:prstGeom>
        </p:spPr>
      </p:pic>
      <p:sp>
        <p:nvSpPr>
          <p:cNvPr id="326" name="Marcador de texto 7">
            <a:hlinkClick r:id="rId12"/>
            <a:extLst>
              <a:ext uri="{FF2B5EF4-FFF2-40B4-BE49-F238E27FC236}">
                <a16:creationId xmlns:a16="http://schemas.microsoft.com/office/drawing/2014/main" id="{19FB8F7C-F430-41D4-AE6B-598A7ACF1D70}"/>
              </a:ext>
            </a:extLst>
          </p:cNvPr>
          <p:cNvSpPr txBox="1">
            <a:spLocks/>
          </p:cNvSpPr>
          <p:nvPr/>
        </p:nvSpPr>
        <p:spPr>
          <a:xfrm>
            <a:off x="6221819" y="1289596"/>
            <a:ext cx="5593939" cy="659273"/>
          </a:xfrm>
          <a:prstGeom prst="rect">
            <a:avLst/>
          </a:prstGeom>
          <a:solidFill>
            <a:schemeClr val="bg1">
              <a:lumMod val="95000"/>
            </a:schemeClr>
          </a:solidFill>
        </p:spPr>
        <p:txBody>
          <a:bodyPr vert="horz" wrap="square" lIns="57600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l"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LinkedIn for Consultants: Best Practices to Optimize Your Profile</a:t>
            </a:r>
          </a:p>
        </p:txBody>
      </p:sp>
      <p:grpSp>
        <p:nvGrpSpPr>
          <p:cNvPr id="327" name="Group 149">
            <a:extLst>
              <a:ext uri="{FF2B5EF4-FFF2-40B4-BE49-F238E27FC236}">
                <a16:creationId xmlns:a16="http://schemas.microsoft.com/office/drawing/2014/main" id="{4E6D048B-BBBA-4FB2-AAA9-D32BE178A60D}"/>
              </a:ext>
            </a:extLst>
          </p:cNvPr>
          <p:cNvGrpSpPr>
            <a:grpSpLocks noChangeAspect="1"/>
          </p:cNvGrpSpPr>
          <p:nvPr/>
        </p:nvGrpSpPr>
        <p:grpSpPr bwMode="auto">
          <a:xfrm>
            <a:off x="6280107" y="1485506"/>
            <a:ext cx="399771" cy="267453"/>
            <a:chOff x="1370" y="3066"/>
            <a:chExt cx="426" cy="285"/>
          </a:xfrm>
          <a:solidFill>
            <a:schemeClr val="tx2"/>
          </a:solidFill>
        </p:grpSpPr>
        <p:sp>
          <p:nvSpPr>
            <p:cNvPr id="328" name="Freeform 150">
              <a:extLst>
                <a:ext uri="{FF2B5EF4-FFF2-40B4-BE49-F238E27FC236}">
                  <a16:creationId xmlns:a16="http://schemas.microsoft.com/office/drawing/2014/main" id="{C3B2A998-C8AF-4A4A-A937-D66E249C74B0}"/>
                </a:ext>
              </a:extLst>
            </p:cNvPr>
            <p:cNvSpPr>
              <a:spLocks noEditPoints="1"/>
            </p:cNvSpPr>
            <p:nvPr/>
          </p:nvSpPr>
          <p:spPr bwMode="auto">
            <a:xfrm>
              <a:off x="1370" y="3066"/>
              <a:ext cx="284" cy="285"/>
            </a:xfrm>
            <a:custGeom>
              <a:avLst/>
              <a:gdLst>
                <a:gd name="T0" fmla="*/ 138 w 192"/>
                <a:gd name="T1" fmla="*/ 192 h 192"/>
                <a:gd name="T2" fmla="*/ 54 w 192"/>
                <a:gd name="T3" fmla="*/ 192 h 192"/>
                <a:gd name="T4" fmla="*/ 0 w 192"/>
                <a:gd name="T5" fmla="*/ 138 h 192"/>
                <a:gd name="T6" fmla="*/ 0 w 192"/>
                <a:gd name="T7" fmla="*/ 54 h 192"/>
                <a:gd name="T8" fmla="*/ 54 w 192"/>
                <a:gd name="T9" fmla="*/ 0 h 192"/>
                <a:gd name="T10" fmla="*/ 138 w 192"/>
                <a:gd name="T11" fmla="*/ 0 h 192"/>
                <a:gd name="T12" fmla="*/ 192 w 192"/>
                <a:gd name="T13" fmla="*/ 54 h 192"/>
                <a:gd name="T14" fmla="*/ 192 w 192"/>
                <a:gd name="T15" fmla="*/ 138 h 192"/>
                <a:gd name="T16" fmla="*/ 138 w 192"/>
                <a:gd name="T17" fmla="*/ 192 h 192"/>
                <a:gd name="T18" fmla="*/ 54 w 192"/>
                <a:gd name="T19" fmla="*/ 12 h 192"/>
                <a:gd name="T20" fmla="*/ 12 w 192"/>
                <a:gd name="T21" fmla="*/ 54 h 192"/>
                <a:gd name="T22" fmla="*/ 12 w 192"/>
                <a:gd name="T23" fmla="*/ 138 h 192"/>
                <a:gd name="T24" fmla="*/ 54 w 192"/>
                <a:gd name="T25" fmla="*/ 180 h 192"/>
                <a:gd name="T26" fmla="*/ 138 w 192"/>
                <a:gd name="T27" fmla="*/ 180 h 192"/>
                <a:gd name="T28" fmla="*/ 180 w 192"/>
                <a:gd name="T29" fmla="*/ 138 h 192"/>
                <a:gd name="T30" fmla="*/ 180 w 192"/>
                <a:gd name="T31" fmla="*/ 54 h 192"/>
                <a:gd name="T32" fmla="*/ 138 w 192"/>
                <a:gd name="T33" fmla="*/ 12 h 192"/>
                <a:gd name="T34" fmla="*/ 54 w 192"/>
                <a:gd name="T35"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92">
                  <a:moveTo>
                    <a:pt x="138" y="192"/>
                  </a:moveTo>
                  <a:cubicBezTo>
                    <a:pt x="54" y="192"/>
                    <a:pt x="54" y="192"/>
                    <a:pt x="54" y="192"/>
                  </a:cubicBezTo>
                  <a:cubicBezTo>
                    <a:pt x="24" y="192"/>
                    <a:pt x="0" y="168"/>
                    <a:pt x="0" y="138"/>
                  </a:cubicBezTo>
                  <a:cubicBezTo>
                    <a:pt x="0" y="54"/>
                    <a:pt x="0" y="54"/>
                    <a:pt x="0" y="54"/>
                  </a:cubicBezTo>
                  <a:cubicBezTo>
                    <a:pt x="0" y="24"/>
                    <a:pt x="24" y="0"/>
                    <a:pt x="54" y="0"/>
                  </a:cubicBezTo>
                  <a:cubicBezTo>
                    <a:pt x="138" y="0"/>
                    <a:pt x="138" y="0"/>
                    <a:pt x="138" y="0"/>
                  </a:cubicBezTo>
                  <a:cubicBezTo>
                    <a:pt x="168" y="0"/>
                    <a:pt x="192" y="24"/>
                    <a:pt x="192" y="54"/>
                  </a:cubicBezTo>
                  <a:cubicBezTo>
                    <a:pt x="192" y="138"/>
                    <a:pt x="192" y="138"/>
                    <a:pt x="192" y="138"/>
                  </a:cubicBezTo>
                  <a:cubicBezTo>
                    <a:pt x="192" y="168"/>
                    <a:pt x="168" y="192"/>
                    <a:pt x="138" y="192"/>
                  </a:cubicBezTo>
                  <a:close/>
                  <a:moveTo>
                    <a:pt x="54" y="12"/>
                  </a:moveTo>
                  <a:cubicBezTo>
                    <a:pt x="31" y="12"/>
                    <a:pt x="12" y="31"/>
                    <a:pt x="12" y="54"/>
                  </a:cubicBezTo>
                  <a:cubicBezTo>
                    <a:pt x="12" y="138"/>
                    <a:pt x="12" y="138"/>
                    <a:pt x="12" y="138"/>
                  </a:cubicBezTo>
                  <a:cubicBezTo>
                    <a:pt x="12" y="161"/>
                    <a:pt x="31" y="180"/>
                    <a:pt x="54" y="180"/>
                  </a:cubicBezTo>
                  <a:cubicBezTo>
                    <a:pt x="138" y="180"/>
                    <a:pt x="138" y="180"/>
                    <a:pt x="138" y="180"/>
                  </a:cubicBezTo>
                  <a:cubicBezTo>
                    <a:pt x="161" y="180"/>
                    <a:pt x="180" y="161"/>
                    <a:pt x="180" y="138"/>
                  </a:cubicBezTo>
                  <a:cubicBezTo>
                    <a:pt x="180" y="54"/>
                    <a:pt x="180" y="54"/>
                    <a:pt x="180" y="54"/>
                  </a:cubicBezTo>
                  <a:cubicBezTo>
                    <a:pt x="180" y="31"/>
                    <a:pt x="161" y="12"/>
                    <a:pt x="138" y="12"/>
                  </a:cubicBezTo>
                  <a:lnTo>
                    <a:pt x="5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29" name="Freeform 151">
              <a:extLst>
                <a:ext uri="{FF2B5EF4-FFF2-40B4-BE49-F238E27FC236}">
                  <a16:creationId xmlns:a16="http://schemas.microsoft.com/office/drawing/2014/main" id="{1B04A566-B43F-432E-A26D-7435711B2E89}"/>
                </a:ext>
              </a:extLst>
            </p:cNvPr>
            <p:cNvSpPr>
              <a:spLocks/>
            </p:cNvSpPr>
            <p:nvPr/>
          </p:nvSpPr>
          <p:spPr bwMode="auto">
            <a:xfrm>
              <a:off x="1636" y="3066"/>
              <a:ext cx="89" cy="285"/>
            </a:xfrm>
            <a:custGeom>
              <a:avLst/>
              <a:gdLst>
                <a:gd name="T0" fmla="*/ 6 w 60"/>
                <a:gd name="T1" fmla="*/ 192 h 192"/>
                <a:gd name="T2" fmla="*/ 0 w 60"/>
                <a:gd name="T3" fmla="*/ 186 h 192"/>
                <a:gd name="T4" fmla="*/ 6 w 60"/>
                <a:gd name="T5" fmla="*/ 180 h 192"/>
                <a:gd name="T6" fmla="*/ 48 w 60"/>
                <a:gd name="T7" fmla="*/ 138 h 192"/>
                <a:gd name="T8" fmla="*/ 48 w 60"/>
                <a:gd name="T9" fmla="*/ 54 h 192"/>
                <a:gd name="T10" fmla="*/ 6 w 60"/>
                <a:gd name="T11" fmla="*/ 12 h 192"/>
                <a:gd name="T12" fmla="*/ 0 w 60"/>
                <a:gd name="T13" fmla="*/ 6 h 192"/>
                <a:gd name="T14" fmla="*/ 6 w 60"/>
                <a:gd name="T15" fmla="*/ 0 h 192"/>
                <a:gd name="T16" fmla="*/ 60 w 60"/>
                <a:gd name="T17" fmla="*/ 54 h 192"/>
                <a:gd name="T18" fmla="*/ 60 w 60"/>
                <a:gd name="T19" fmla="*/ 138 h 192"/>
                <a:gd name="T20" fmla="*/ 6 w 60"/>
                <a:gd name="T21"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192">
                  <a:moveTo>
                    <a:pt x="6" y="192"/>
                  </a:moveTo>
                  <a:cubicBezTo>
                    <a:pt x="3" y="192"/>
                    <a:pt x="0" y="189"/>
                    <a:pt x="0" y="186"/>
                  </a:cubicBezTo>
                  <a:cubicBezTo>
                    <a:pt x="0" y="183"/>
                    <a:pt x="3" y="180"/>
                    <a:pt x="6" y="180"/>
                  </a:cubicBezTo>
                  <a:cubicBezTo>
                    <a:pt x="29" y="180"/>
                    <a:pt x="48" y="161"/>
                    <a:pt x="48" y="138"/>
                  </a:cubicBezTo>
                  <a:cubicBezTo>
                    <a:pt x="48" y="54"/>
                    <a:pt x="48" y="54"/>
                    <a:pt x="48" y="54"/>
                  </a:cubicBezTo>
                  <a:cubicBezTo>
                    <a:pt x="48" y="31"/>
                    <a:pt x="29" y="12"/>
                    <a:pt x="6" y="12"/>
                  </a:cubicBezTo>
                  <a:cubicBezTo>
                    <a:pt x="3" y="12"/>
                    <a:pt x="0" y="9"/>
                    <a:pt x="0" y="6"/>
                  </a:cubicBezTo>
                  <a:cubicBezTo>
                    <a:pt x="0" y="3"/>
                    <a:pt x="3" y="0"/>
                    <a:pt x="6" y="0"/>
                  </a:cubicBezTo>
                  <a:cubicBezTo>
                    <a:pt x="36" y="0"/>
                    <a:pt x="60" y="24"/>
                    <a:pt x="60" y="54"/>
                  </a:cubicBezTo>
                  <a:cubicBezTo>
                    <a:pt x="60" y="138"/>
                    <a:pt x="60" y="138"/>
                    <a:pt x="60" y="138"/>
                  </a:cubicBezTo>
                  <a:cubicBezTo>
                    <a:pt x="60" y="168"/>
                    <a:pt x="36" y="192"/>
                    <a:pt x="6"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30" name="Freeform 152">
              <a:extLst>
                <a:ext uri="{FF2B5EF4-FFF2-40B4-BE49-F238E27FC236}">
                  <a16:creationId xmlns:a16="http://schemas.microsoft.com/office/drawing/2014/main" id="{214DF125-F53D-49F7-BCB5-FE8E822246FC}"/>
                </a:ext>
              </a:extLst>
            </p:cNvPr>
            <p:cNvSpPr>
              <a:spLocks/>
            </p:cNvSpPr>
            <p:nvPr/>
          </p:nvSpPr>
          <p:spPr bwMode="auto">
            <a:xfrm>
              <a:off x="1707" y="3066"/>
              <a:ext cx="89" cy="285"/>
            </a:xfrm>
            <a:custGeom>
              <a:avLst/>
              <a:gdLst>
                <a:gd name="T0" fmla="*/ 6 w 60"/>
                <a:gd name="T1" fmla="*/ 192 h 192"/>
                <a:gd name="T2" fmla="*/ 0 w 60"/>
                <a:gd name="T3" fmla="*/ 186 h 192"/>
                <a:gd name="T4" fmla="*/ 6 w 60"/>
                <a:gd name="T5" fmla="*/ 180 h 192"/>
                <a:gd name="T6" fmla="*/ 48 w 60"/>
                <a:gd name="T7" fmla="*/ 138 h 192"/>
                <a:gd name="T8" fmla="*/ 48 w 60"/>
                <a:gd name="T9" fmla="*/ 54 h 192"/>
                <a:gd name="T10" fmla="*/ 6 w 60"/>
                <a:gd name="T11" fmla="*/ 12 h 192"/>
                <a:gd name="T12" fmla="*/ 0 w 60"/>
                <a:gd name="T13" fmla="*/ 6 h 192"/>
                <a:gd name="T14" fmla="*/ 6 w 60"/>
                <a:gd name="T15" fmla="*/ 0 h 192"/>
                <a:gd name="T16" fmla="*/ 60 w 60"/>
                <a:gd name="T17" fmla="*/ 54 h 192"/>
                <a:gd name="T18" fmla="*/ 60 w 60"/>
                <a:gd name="T19" fmla="*/ 138 h 192"/>
                <a:gd name="T20" fmla="*/ 6 w 60"/>
                <a:gd name="T21"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192">
                  <a:moveTo>
                    <a:pt x="6" y="192"/>
                  </a:moveTo>
                  <a:cubicBezTo>
                    <a:pt x="3" y="192"/>
                    <a:pt x="0" y="189"/>
                    <a:pt x="0" y="186"/>
                  </a:cubicBezTo>
                  <a:cubicBezTo>
                    <a:pt x="0" y="183"/>
                    <a:pt x="3" y="180"/>
                    <a:pt x="6" y="180"/>
                  </a:cubicBezTo>
                  <a:cubicBezTo>
                    <a:pt x="29" y="180"/>
                    <a:pt x="48" y="161"/>
                    <a:pt x="48" y="138"/>
                  </a:cubicBezTo>
                  <a:cubicBezTo>
                    <a:pt x="48" y="54"/>
                    <a:pt x="48" y="54"/>
                    <a:pt x="48" y="54"/>
                  </a:cubicBezTo>
                  <a:cubicBezTo>
                    <a:pt x="48" y="31"/>
                    <a:pt x="29" y="12"/>
                    <a:pt x="6" y="12"/>
                  </a:cubicBezTo>
                  <a:cubicBezTo>
                    <a:pt x="3" y="12"/>
                    <a:pt x="0" y="9"/>
                    <a:pt x="0" y="6"/>
                  </a:cubicBezTo>
                  <a:cubicBezTo>
                    <a:pt x="0" y="3"/>
                    <a:pt x="3" y="0"/>
                    <a:pt x="6" y="0"/>
                  </a:cubicBezTo>
                  <a:cubicBezTo>
                    <a:pt x="36" y="0"/>
                    <a:pt x="60" y="24"/>
                    <a:pt x="60" y="54"/>
                  </a:cubicBezTo>
                  <a:cubicBezTo>
                    <a:pt x="60" y="138"/>
                    <a:pt x="60" y="138"/>
                    <a:pt x="60" y="138"/>
                  </a:cubicBezTo>
                  <a:cubicBezTo>
                    <a:pt x="60" y="168"/>
                    <a:pt x="36" y="192"/>
                    <a:pt x="6"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31" name="Freeform 153">
              <a:extLst>
                <a:ext uri="{FF2B5EF4-FFF2-40B4-BE49-F238E27FC236}">
                  <a16:creationId xmlns:a16="http://schemas.microsoft.com/office/drawing/2014/main" id="{8DEF609A-8466-4846-8990-E9086D1BFAE2}"/>
                </a:ext>
              </a:extLst>
            </p:cNvPr>
            <p:cNvSpPr>
              <a:spLocks noEditPoints="1"/>
            </p:cNvSpPr>
            <p:nvPr/>
          </p:nvSpPr>
          <p:spPr bwMode="auto">
            <a:xfrm>
              <a:off x="1459" y="3120"/>
              <a:ext cx="106" cy="106"/>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32" name="Freeform 154">
              <a:extLst>
                <a:ext uri="{FF2B5EF4-FFF2-40B4-BE49-F238E27FC236}">
                  <a16:creationId xmlns:a16="http://schemas.microsoft.com/office/drawing/2014/main" id="{FFF2762A-385B-47A2-B0D9-C37652BFAA66}"/>
                </a:ext>
              </a:extLst>
            </p:cNvPr>
            <p:cNvSpPr>
              <a:spLocks noEditPoints="1"/>
            </p:cNvSpPr>
            <p:nvPr/>
          </p:nvSpPr>
          <p:spPr bwMode="auto">
            <a:xfrm>
              <a:off x="1432" y="3208"/>
              <a:ext cx="160"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7"/>
                    <a:pt x="0" y="54"/>
                  </a:cubicBezTo>
                  <a:cubicBezTo>
                    <a:pt x="0" y="24"/>
                    <a:pt x="24" y="0"/>
                    <a:pt x="54" y="0"/>
                  </a:cubicBezTo>
                  <a:cubicBezTo>
                    <a:pt x="84" y="0"/>
                    <a:pt x="108" y="24"/>
                    <a:pt x="108" y="54"/>
                  </a:cubicBezTo>
                  <a:cubicBezTo>
                    <a:pt x="108" y="57"/>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grpSp>
      <p:sp>
        <p:nvSpPr>
          <p:cNvPr id="334" name="Marcador de texto 7">
            <a:hlinkClick r:id="rId13"/>
            <a:extLst>
              <a:ext uri="{FF2B5EF4-FFF2-40B4-BE49-F238E27FC236}">
                <a16:creationId xmlns:a16="http://schemas.microsoft.com/office/drawing/2014/main" id="{EC38AAE6-BBB5-4E59-A74A-24BA59AE2737}"/>
              </a:ext>
            </a:extLst>
          </p:cNvPr>
          <p:cNvSpPr txBox="1">
            <a:spLocks/>
          </p:cNvSpPr>
          <p:nvPr/>
        </p:nvSpPr>
        <p:spPr>
          <a:xfrm>
            <a:off x="384173" y="2246787"/>
            <a:ext cx="5593939" cy="659273"/>
          </a:xfrm>
          <a:prstGeom prst="rect">
            <a:avLst/>
          </a:prstGeom>
          <a:solidFill>
            <a:schemeClr val="bg1">
              <a:lumMod val="95000"/>
            </a:schemeClr>
          </a:solidFill>
        </p:spPr>
        <p:txBody>
          <a:bodyPr vert="horz" wrap="square" lIns="57600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l"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How To Find Clients For Your Consulting Practice</a:t>
            </a:r>
          </a:p>
        </p:txBody>
      </p:sp>
      <p:grpSp>
        <p:nvGrpSpPr>
          <p:cNvPr id="335" name="Group 193">
            <a:extLst>
              <a:ext uri="{FF2B5EF4-FFF2-40B4-BE49-F238E27FC236}">
                <a16:creationId xmlns:a16="http://schemas.microsoft.com/office/drawing/2014/main" id="{ACD9393C-5D26-4C65-B5A3-E299C2C75157}"/>
              </a:ext>
            </a:extLst>
          </p:cNvPr>
          <p:cNvGrpSpPr>
            <a:grpSpLocks noChangeAspect="1"/>
          </p:cNvGrpSpPr>
          <p:nvPr/>
        </p:nvGrpSpPr>
        <p:grpSpPr bwMode="auto">
          <a:xfrm>
            <a:off x="432926" y="2369150"/>
            <a:ext cx="441455" cy="414546"/>
            <a:chOff x="1551" y="3227"/>
            <a:chExt cx="443" cy="416"/>
          </a:xfrm>
          <a:solidFill>
            <a:schemeClr val="tx2"/>
          </a:solidFill>
        </p:grpSpPr>
        <p:sp>
          <p:nvSpPr>
            <p:cNvPr id="336" name="Freeform 194">
              <a:extLst>
                <a:ext uri="{FF2B5EF4-FFF2-40B4-BE49-F238E27FC236}">
                  <a16:creationId xmlns:a16="http://schemas.microsoft.com/office/drawing/2014/main" id="{C5544ADE-D108-4C40-B577-4EB99B26C812}"/>
                </a:ext>
              </a:extLst>
            </p:cNvPr>
            <p:cNvSpPr>
              <a:spLocks/>
            </p:cNvSpPr>
            <p:nvPr/>
          </p:nvSpPr>
          <p:spPr bwMode="auto">
            <a:xfrm>
              <a:off x="1725" y="3393"/>
              <a:ext cx="85" cy="75"/>
            </a:xfrm>
            <a:custGeom>
              <a:avLst/>
              <a:gdLst>
                <a:gd name="T0" fmla="*/ 51 w 55"/>
                <a:gd name="T1" fmla="*/ 50 h 50"/>
                <a:gd name="T2" fmla="*/ 4 w 55"/>
                <a:gd name="T3" fmla="*/ 33 h 50"/>
                <a:gd name="T4" fmla="*/ 0 w 55"/>
                <a:gd name="T5" fmla="*/ 27 h 50"/>
                <a:gd name="T6" fmla="*/ 0 w 55"/>
                <a:gd name="T7" fmla="*/ 0 h 50"/>
                <a:gd name="T8" fmla="*/ 12 w 55"/>
                <a:gd name="T9" fmla="*/ 0 h 50"/>
                <a:gd name="T10" fmla="*/ 12 w 55"/>
                <a:gd name="T11" fmla="*/ 23 h 50"/>
                <a:gd name="T12" fmla="*/ 55 w 55"/>
                <a:gd name="T13" fmla="*/ 39 h 50"/>
                <a:gd name="T14" fmla="*/ 51 w 55"/>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50">
                  <a:moveTo>
                    <a:pt x="51" y="50"/>
                  </a:moveTo>
                  <a:cubicBezTo>
                    <a:pt x="4" y="33"/>
                    <a:pt x="4" y="33"/>
                    <a:pt x="4" y="33"/>
                  </a:cubicBezTo>
                  <a:cubicBezTo>
                    <a:pt x="2" y="32"/>
                    <a:pt x="0" y="30"/>
                    <a:pt x="0" y="27"/>
                  </a:cubicBezTo>
                  <a:cubicBezTo>
                    <a:pt x="0" y="0"/>
                    <a:pt x="0" y="0"/>
                    <a:pt x="0" y="0"/>
                  </a:cubicBezTo>
                  <a:cubicBezTo>
                    <a:pt x="12" y="0"/>
                    <a:pt x="12" y="0"/>
                    <a:pt x="12" y="0"/>
                  </a:cubicBezTo>
                  <a:cubicBezTo>
                    <a:pt x="12" y="23"/>
                    <a:pt x="12" y="23"/>
                    <a:pt x="12" y="23"/>
                  </a:cubicBezTo>
                  <a:cubicBezTo>
                    <a:pt x="55" y="39"/>
                    <a:pt x="55" y="39"/>
                    <a:pt x="55" y="39"/>
                  </a:cubicBezTo>
                  <a:lnTo>
                    <a:pt x="51"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37" name="Freeform 195">
              <a:extLst>
                <a:ext uri="{FF2B5EF4-FFF2-40B4-BE49-F238E27FC236}">
                  <a16:creationId xmlns:a16="http://schemas.microsoft.com/office/drawing/2014/main" id="{BC8D4B52-40C9-4126-BFE8-D13731AF1B69}"/>
                </a:ext>
              </a:extLst>
            </p:cNvPr>
            <p:cNvSpPr>
              <a:spLocks/>
            </p:cNvSpPr>
            <p:nvPr/>
          </p:nvSpPr>
          <p:spPr bwMode="auto">
            <a:xfrm>
              <a:off x="1551" y="3395"/>
              <a:ext cx="202" cy="140"/>
            </a:xfrm>
            <a:custGeom>
              <a:avLst/>
              <a:gdLst>
                <a:gd name="T0" fmla="*/ 132 w 132"/>
                <a:gd name="T1" fmla="*/ 94 h 94"/>
                <a:gd name="T2" fmla="*/ 6 w 132"/>
                <a:gd name="T3" fmla="*/ 94 h 94"/>
                <a:gd name="T4" fmla="*/ 0 w 132"/>
                <a:gd name="T5" fmla="*/ 88 h 94"/>
                <a:gd name="T6" fmla="*/ 0 w 132"/>
                <a:gd name="T7" fmla="*/ 70 h 94"/>
                <a:gd name="T8" fmla="*/ 23 w 132"/>
                <a:gd name="T9" fmla="*/ 38 h 94"/>
                <a:gd name="T10" fmla="*/ 66 w 132"/>
                <a:gd name="T11" fmla="*/ 22 h 94"/>
                <a:gd name="T12" fmla="*/ 66 w 132"/>
                <a:gd name="T13" fmla="*/ 0 h 94"/>
                <a:gd name="T14" fmla="*/ 78 w 132"/>
                <a:gd name="T15" fmla="*/ 0 h 94"/>
                <a:gd name="T16" fmla="*/ 78 w 132"/>
                <a:gd name="T17" fmla="*/ 26 h 94"/>
                <a:gd name="T18" fmla="*/ 74 w 132"/>
                <a:gd name="T19" fmla="*/ 32 h 94"/>
                <a:gd name="T20" fmla="*/ 27 w 132"/>
                <a:gd name="T21" fmla="*/ 49 h 94"/>
                <a:gd name="T22" fmla="*/ 12 w 132"/>
                <a:gd name="T23" fmla="*/ 70 h 94"/>
                <a:gd name="T24" fmla="*/ 12 w 132"/>
                <a:gd name="T25" fmla="*/ 82 h 94"/>
                <a:gd name="T26" fmla="*/ 132 w 132"/>
                <a:gd name="T27" fmla="*/ 82 h 94"/>
                <a:gd name="T28" fmla="*/ 132 w 132"/>
                <a:gd name="T29"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2" h="94">
                  <a:moveTo>
                    <a:pt x="132" y="94"/>
                  </a:moveTo>
                  <a:cubicBezTo>
                    <a:pt x="6" y="94"/>
                    <a:pt x="6" y="94"/>
                    <a:pt x="6" y="94"/>
                  </a:cubicBezTo>
                  <a:cubicBezTo>
                    <a:pt x="3" y="94"/>
                    <a:pt x="0" y="91"/>
                    <a:pt x="0" y="88"/>
                  </a:cubicBezTo>
                  <a:cubicBezTo>
                    <a:pt x="0" y="70"/>
                    <a:pt x="0" y="70"/>
                    <a:pt x="0" y="70"/>
                  </a:cubicBezTo>
                  <a:cubicBezTo>
                    <a:pt x="0" y="56"/>
                    <a:pt x="9" y="43"/>
                    <a:pt x="23" y="38"/>
                  </a:cubicBezTo>
                  <a:cubicBezTo>
                    <a:pt x="66" y="22"/>
                    <a:pt x="66" y="22"/>
                    <a:pt x="66" y="22"/>
                  </a:cubicBezTo>
                  <a:cubicBezTo>
                    <a:pt x="66" y="0"/>
                    <a:pt x="66" y="0"/>
                    <a:pt x="66" y="0"/>
                  </a:cubicBezTo>
                  <a:cubicBezTo>
                    <a:pt x="78" y="0"/>
                    <a:pt x="78" y="0"/>
                    <a:pt x="78" y="0"/>
                  </a:cubicBezTo>
                  <a:cubicBezTo>
                    <a:pt x="78" y="26"/>
                    <a:pt x="78" y="26"/>
                    <a:pt x="78" y="26"/>
                  </a:cubicBezTo>
                  <a:cubicBezTo>
                    <a:pt x="78" y="29"/>
                    <a:pt x="76" y="31"/>
                    <a:pt x="74" y="32"/>
                  </a:cubicBezTo>
                  <a:cubicBezTo>
                    <a:pt x="27" y="49"/>
                    <a:pt x="27" y="49"/>
                    <a:pt x="27" y="49"/>
                  </a:cubicBezTo>
                  <a:cubicBezTo>
                    <a:pt x="18" y="52"/>
                    <a:pt x="12" y="61"/>
                    <a:pt x="12" y="70"/>
                  </a:cubicBezTo>
                  <a:cubicBezTo>
                    <a:pt x="12" y="82"/>
                    <a:pt x="12" y="82"/>
                    <a:pt x="12" y="82"/>
                  </a:cubicBezTo>
                  <a:cubicBezTo>
                    <a:pt x="132" y="82"/>
                    <a:pt x="132" y="82"/>
                    <a:pt x="132" y="82"/>
                  </a:cubicBezTo>
                  <a:lnTo>
                    <a:pt x="132" y="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38" name="Freeform 196">
              <a:extLst>
                <a:ext uri="{FF2B5EF4-FFF2-40B4-BE49-F238E27FC236}">
                  <a16:creationId xmlns:a16="http://schemas.microsoft.com/office/drawing/2014/main" id="{592279E3-D3D5-45EB-99C6-BDC6337BC3DF}"/>
                </a:ext>
              </a:extLst>
            </p:cNvPr>
            <p:cNvSpPr>
              <a:spLocks noEditPoints="1"/>
            </p:cNvSpPr>
            <p:nvPr/>
          </p:nvSpPr>
          <p:spPr bwMode="auto">
            <a:xfrm>
              <a:off x="1613" y="3227"/>
              <a:ext cx="165" cy="187"/>
            </a:xfrm>
            <a:custGeom>
              <a:avLst/>
              <a:gdLst>
                <a:gd name="T0" fmla="*/ 54 w 107"/>
                <a:gd name="T1" fmla="*/ 125 h 125"/>
                <a:gd name="T2" fmla="*/ 0 w 107"/>
                <a:gd name="T3" fmla="*/ 63 h 125"/>
                <a:gd name="T4" fmla="*/ 54 w 107"/>
                <a:gd name="T5" fmla="*/ 0 h 125"/>
                <a:gd name="T6" fmla="*/ 107 w 107"/>
                <a:gd name="T7" fmla="*/ 63 h 125"/>
                <a:gd name="T8" fmla="*/ 54 w 107"/>
                <a:gd name="T9" fmla="*/ 125 h 125"/>
                <a:gd name="T10" fmla="*/ 54 w 107"/>
                <a:gd name="T11" fmla="*/ 12 h 125"/>
                <a:gd name="T12" fmla="*/ 12 w 107"/>
                <a:gd name="T13" fmla="*/ 63 h 125"/>
                <a:gd name="T14" fmla="*/ 54 w 107"/>
                <a:gd name="T15" fmla="*/ 113 h 125"/>
                <a:gd name="T16" fmla="*/ 95 w 107"/>
                <a:gd name="T17" fmla="*/ 63 h 125"/>
                <a:gd name="T18" fmla="*/ 54 w 107"/>
                <a:gd name="T19" fmla="*/ 1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25">
                  <a:moveTo>
                    <a:pt x="54" y="125"/>
                  </a:moveTo>
                  <a:cubicBezTo>
                    <a:pt x="24" y="125"/>
                    <a:pt x="0" y="97"/>
                    <a:pt x="0" y="63"/>
                  </a:cubicBezTo>
                  <a:cubicBezTo>
                    <a:pt x="0" y="28"/>
                    <a:pt x="24" y="0"/>
                    <a:pt x="54" y="0"/>
                  </a:cubicBezTo>
                  <a:cubicBezTo>
                    <a:pt x="83" y="0"/>
                    <a:pt x="107" y="28"/>
                    <a:pt x="107" y="63"/>
                  </a:cubicBezTo>
                  <a:cubicBezTo>
                    <a:pt x="107" y="97"/>
                    <a:pt x="83" y="125"/>
                    <a:pt x="54" y="125"/>
                  </a:cubicBezTo>
                  <a:close/>
                  <a:moveTo>
                    <a:pt x="54" y="12"/>
                  </a:moveTo>
                  <a:cubicBezTo>
                    <a:pt x="31" y="12"/>
                    <a:pt x="12" y="35"/>
                    <a:pt x="12" y="63"/>
                  </a:cubicBezTo>
                  <a:cubicBezTo>
                    <a:pt x="12" y="91"/>
                    <a:pt x="31" y="113"/>
                    <a:pt x="54" y="113"/>
                  </a:cubicBezTo>
                  <a:cubicBezTo>
                    <a:pt x="77" y="113"/>
                    <a:pt x="95" y="91"/>
                    <a:pt x="95" y="63"/>
                  </a:cubicBezTo>
                  <a:cubicBezTo>
                    <a:pt x="95" y="35"/>
                    <a:pt x="7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39" name="Freeform 198">
              <a:extLst>
                <a:ext uri="{FF2B5EF4-FFF2-40B4-BE49-F238E27FC236}">
                  <a16:creationId xmlns:a16="http://schemas.microsoft.com/office/drawing/2014/main" id="{926B2665-531C-43BF-BAE9-83D857016234}"/>
                </a:ext>
              </a:extLst>
            </p:cNvPr>
            <p:cNvSpPr>
              <a:spLocks/>
            </p:cNvSpPr>
            <p:nvPr/>
          </p:nvSpPr>
          <p:spPr bwMode="auto">
            <a:xfrm>
              <a:off x="1845" y="3384"/>
              <a:ext cx="18" cy="40"/>
            </a:xfrm>
            <a:custGeom>
              <a:avLst/>
              <a:gdLst>
                <a:gd name="T0" fmla="*/ 6 w 12"/>
                <a:gd name="T1" fmla="*/ 27 h 27"/>
                <a:gd name="T2" fmla="*/ 0 w 12"/>
                <a:gd name="T3" fmla="*/ 21 h 27"/>
                <a:gd name="T4" fmla="*/ 0 w 12"/>
                <a:gd name="T5" fmla="*/ 6 h 27"/>
                <a:gd name="T6" fmla="*/ 6 w 12"/>
                <a:gd name="T7" fmla="*/ 0 h 27"/>
                <a:gd name="T8" fmla="*/ 12 w 12"/>
                <a:gd name="T9" fmla="*/ 6 h 27"/>
                <a:gd name="T10" fmla="*/ 12 w 12"/>
                <a:gd name="T11" fmla="*/ 21 h 27"/>
                <a:gd name="T12" fmla="*/ 6 w 12"/>
                <a:gd name="T13" fmla="*/ 27 h 27"/>
              </a:gdLst>
              <a:ahLst/>
              <a:cxnLst>
                <a:cxn ang="0">
                  <a:pos x="T0" y="T1"/>
                </a:cxn>
                <a:cxn ang="0">
                  <a:pos x="T2" y="T3"/>
                </a:cxn>
                <a:cxn ang="0">
                  <a:pos x="T4" y="T5"/>
                </a:cxn>
                <a:cxn ang="0">
                  <a:pos x="T6" y="T7"/>
                </a:cxn>
                <a:cxn ang="0">
                  <a:pos x="T8" y="T9"/>
                </a:cxn>
                <a:cxn ang="0">
                  <a:pos x="T10" y="T11"/>
                </a:cxn>
                <a:cxn ang="0">
                  <a:pos x="T12" y="T13"/>
                </a:cxn>
              </a:cxnLst>
              <a:rect l="0" t="0" r="r" b="b"/>
              <a:pathLst>
                <a:path w="12" h="27">
                  <a:moveTo>
                    <a:pt x="6" y="27"/>
                  </a:moveTo>
                  <a:cubicBezTo>
                    <a:pt x="3" y="27"/>
                    <a:pt x="0" y="25"/>
                    <a:pt x="0" y="21"/>
                  </a:cubicBezTo>
                  <a:cubicBezTo>
                    <a:pt x="0" y="6"/>
                    <a:pt x="0" y="6"/>
                    <a:pt x="0" y="6"/>
                  </a:cubicBezTo>
                  <a:cubicBezTo>
                    <a:pt x="0" y="2"/>
                    <a:pt x="3" y="0"/>
                    <a:pt x="6" y="0"/>
                  </a:cubicBezTo>
                  <a:cubicBezTo>
                    <a:pt x="9" y="0"/>
                    <a:pt x="12" y="2"/>
                    <a:pt x="12" y="6"/>
                  </a:cubicBezTo>
                  <a:cubicBezTo>
                    <a:pt x="12" y="21"/>
                    <a:pt x="12" y="21"/>
                    <a:pt x="12" y="21"/>
                  </a:cubicBezTo>
                  <a:cubicBezTo>
                    <a:pt x="12" y="25"/>
                    <a:pt x="9" y="27"/>
                    <a:pt x="6"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40" name="Freeform 199">
              <a:extLst>
                <a:ext uri="{FF2B5EF4-FFF2-40B4-BE49-F238E27FC236}">
                  <a16:creationId xmlns:a16="http://schemas.microsoft.com/office/drawing/2014/main" id="{932FCFDE-A929-4521-8126-168E1086B701}"/>
                </a:ext>
              </a:extLst>
            </p:cNvPr>
            <p:cNvSpPr>
              <a:spLocks/>
            </p:cNvSpPr>
            <p:nvPr/>
          </p:nvSpPr>
          <p:spPr bwMode="auto">
            <a:xfrm>
              <a:off x="1807" y="3227"/>
              <a:ext cx="90" cy="187"/>
            </a:xfrm>
            <a:custGeom>
              <a:avLst/>
              <a:gdLst>
                <a:gd name="T0" fmla="*/ 6 w 59"/>
                <a:gd name="T1" fmla="*/ 125 h 125"/>
                <a:gd name="T2" fmla="*/ 0 w 59"/>
                <a:gd name="T3" fmla="*/ 119 h 125"/>
                <a:gd name="T4" fmla="*/ 6 w 59"/>
                <a:gd name="T5" fmla="*/ 113 h 125"/>
                <a:gd name="T6" fmla="*/ 47 w 59"/>
                <a:gd name="T7" fmla="*/ 63 h 125"/>
                <a:gd name="T8" fmla="*/ 6 w 59"/>
                <a:gd name="T9" fmla="*/ 12 h 125"/>
                <a:gd name="T10" fmla="*/ 0 w 59"/>
                <a:gd name="T11" fmla="*/ 6 h 125"/>
                <a:gd name="T12" fmla="*/ 6 w 59"/>
                <a:gd name="T13" fmla="*/ 0 h 125"/>
                <a:gd name="T14" fmla="*/ 59 w 59"/>
                <a:gd name="T15" fmla="*/ 63 h 125"/>
                <a:gd name="T16" fmla="*/ 6 w 59"/>
                <a:gd name="T17"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125">
                  <a:moveTo>
                    <a:pt x="6" y="125"/>
                  </a:moveTo>
                  <a:cubicBezTo>
                    <a:pt x="3" y="125"/>
                    <a:pt x="0" y="123"/>
                    <a:pt x="0" y="119"/>
                  </a:cubicBezTo>
                  <a:cubicBezTo>
                    <a:pt x="0" y="116"/>
                    <a:pt x="3" y="113"/>
                    <a:pt x="6" y="113"/>
                  </a:cubicBezTo>
                  <a:cubicBezTo>
                    <a:pt x="29" y="113"/>
                    <a:pt x="47" y="91"/>
                    <a:pt x="47" y="63"/>
                  </a:cubicBezTo>
                  <a:cubicBezTo>
                    <a:pt x="47" y="35"/>
                    <a:pt x="29" y="12"/>
                    <a:pt x="6" y="12"/>
                  </a:cubicBezTo>
                  <a:cubicBezTo>
                    <a:pt x="3" y="12"/>
                    <a:pt x="0" y="9"/>
                    <a:pt x="0" y="6"/>
                  </a:cubicBezTo>
                  <a:cubicBezTo>
                    <a:pt x="0" y="2"/>
                    <a:pt x="3" y="0"/>
                    <a:pt x="6" y="0"/>
                  </a:cubicBezTo>
                  <a:cubicBezTo>
                    <a:pt x="35" y="0"/>
                    <a:pt x="59" y="28"/>
                    <a:pt x="59" y="63"/>
                  </a:cubicBezTo>
                  <a:cubicBezTo>
                    <a:pt x="59" y="97"/>
                    <a:pt x="35" y="125"/>
                    <a:pt x="6" y="1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41" name="Freeform 201">
              <a:extLst>
                <a:ext uri="{FF2B5EF4-FFF2-40B4-BE49-F238E27FC236}">
                  <a16:creationId xmlns:a16="http://schemas.microsoft.com/office/drawing/2014/main" id="{2DA25B81-FF29-4237-AF4B-76C4EA278899}"/>
                </a:ext>
              </a:extLst>
            </p:cNvPr>
            <p:cNvSpPr>
              <a:spLocks noEditPoints="1"/>
            </p:cNvSpPr>
            <p:nvPr/>
          </p:nvSpPr>
          <p:spPr bwMode="auto">
            <a:xfrm>
              <a:off x="1808" y="3463"/>
              <a:ext cx="147" cy="144"/>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4"/>
                    <a:pt x="0" y="48"/>
                  </a:cubicBezTo>
                  <a:cubicBezTo>
                    <a:pt x="0" y="21"/>
                    <a:pt x="22" y="0"/>
                    <a:pt x="48" y="0"/>
                  </a:cubicBezTo>
                  <a:cubicBezTo>
                    <a:pt x="75" y="0"/>
                    <a:pt x="96" y="21"/>
                    <a:pt x="96" y="48"/>
                  </a:cubicBezTo>
                  <a:cubicBezTo>
                    <a:pt x="96" y="74"/>
                    <a:pt x="75" y="96"/>
                    <a:pt x="48" y="96"/>
                  </a:cubicBezTo>
                  <a:close/>
                  <a:moveTo>
                    <a:pt x="48" y="12"/>
                  </a:moveTo>
                  <a:cubicBezTo>
                    <a:pt x="28" y="12"/>
                    <a:pt x="12" y="28"/>
                    <a:pt x="12" y="48"/>
                  </a:cubicBezTo>
                  <a:cubicBezTo>
                    <a:pt x="12" y="68"/>
                    <a:pt x="28" y="84"/>
                    <a:pt x="48" y="84"/>
                  </a:cubicBezTo>
                  <a:cubicBezTo>
                    <a:pt x="68" y="84"/>
                    <a:pt x="84" y="68"/>
                    <a:pt x="84" y="48"/>
                  </a:cubicBezTo>
                  <a:cubicBezTo>
                    <a:pt x="84" y="28"/>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42" name="Freeform 202">
              <a:extLst>
                <a:ext uri="{FF2B5EF4-FFF2-40B4-BE49-F238E27FC236}">
                  <a16:creationId xmlns:a16="http://schemas.microsoft.com/office/drawing/2014/main" id="{C0C78DC8-866A-41B9-B1FF-708B54D23F12}"/>
                </a:ext>
              </a:extLst>
            </p:cNvPr>
            <p:cNvSpPr>
              <a:spLocks/>
            </p:cNvSpPr>
            <p:nvPr/>
          </p:nvSpPr>
          <p:spPr bwMode="auto">
            <a:xfrm>
              <a:off x="1917" y="3570"/>
              <a:ext cx="77" cy="73"/>
            </a:xfrm>
            <a:custGeom>
              <a:avLst/>
              <a:gdLst>
                <a:gd name="T0" fmla="*/ 43 w 50"/>
                <a:gd name="T1" fmla="*/ 49 h 49"/>
                <a:gd name="T2" fmla="*/ 39 w 50"/>
                <a:gd name="T3" fmla="*/ 47 h 49"/>
                <a:gd name="T4" fmla="*/ 3 w 50"/>
                <a:gd name="T5" fmla="*/ 11 h 49"/>
                <a:gd name="T6" fmla="*/ 3 w 50"/>
                <a:gd name="T7" fmla="*/ 3 h 49"/>
                <a:gd name="T8" fmla="*/ 11 w 50"/>
                <a:gd name="T9" fmla="*/ 3 h 49"/>
                <a:gd name="T10" fmla="*/ 47 w 50"/>
                <a:gd name="T11" fmla="*/ 39 h 49"/>
                <a:gd name="T12" fmla="*/ 47 w 50"/>
                <a:gd name="T13" fmla="*/ 47 h 49"/>
                <a:gd name="T14" fmla="*/ 43 w 50"/>
                <a:gd name="T15" fmla="*/ 4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49">
                  <a:moveTo>
                    <a:pt x="43" y="49"/>
                  </a:moveTo>
                  <a:cubicBezTo>
                    <a:pt x="42" y="49"/>
                    <a:pt x="40" y="48"/>
                    <a:pt x="39" y="47"/>
                  </a:cubicBezTo>
                  <a:cubicBezTo>
                    <a:pt x="3" y="11"/>
                    <a:pt x="3" y="11"/>
                    <a:pt x="3" y="11"/>
                  </a:cubicBezTo>
                  <a:cubicBezTo>
                    <a:pt x="0" y="9"/>
                    <a:pt x="0" y="5"/>
                    <a:pt x="3" y="3"/>
                  </a:cubicBezTo>
                  <a:cubicBezTo>
                    <a:pt x="5" y="0"/>
                    <a:pt x="9" y="0"/>
                    <a:pt x="11" y="3"/>
                  </a:cubicBezTo>
                  <a:cubicBezTo>
                    <a:pt x="47" y="39"/>
                    <a:pt x="47" y="39"/>
                    <a:pt x="47" y="39"/>
                  </a:cubicBezTo>
                  <a:cubicBezTo>
                    <a:pt x="50" y="41"/>
                    <a:pt x="50" y="45"/>
                    <a:pt x="47" y="47"/>
                  </a:cubicBezTo>
                  <a:cubicBezTo>
                    <a:pt x="46" y="48"/>
                    <a:pt x="45" y="49"/>
                    <a:pt x="43"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grpSp>
      <p:sp>
        <p:nvSpPr>
          <p:cNvPr id="343" name="Marcador de texto 7">
            <a:extLst>
              <a:ext uri="{FF2B5EF4-FFF2-40B4-BE49-F238E27FC236}">
                <a16:creationId xmlns:a16="http://schemas.microsoft.com/office/drawing/2014/main" id="{7A5C3C11-BEF5-474C-A499-86344DC43BE5}"/>
              </a:ext>
            </a:extLst>
          </p:cNvPr>
          <p:cNvSpPr txBox="1">
            <a:spLocks/>
          </p:cNvSpPr>
          <p:nvPr/>
        </p:nvSpPr>
        <p:spPr>
          <a:xfrm>
            <a:off x="3372548" y="4178306"/>
            <a:ext cx="5593939" cy="659273"/>
          </a:xfrm>
          <a:prstGeom prst="rect">
            <a:avLst/>
          </a:prstGeom>
          <a:solidFill>
            <a:schemeClr val="bg1">
              <a:lumMod val="95000"/>
            </a:schemeClr>
          </a:solidFill>
        </p:spPr>
        <p:txBody>
          <a:bodyPr vert="horz" wrap="square" lIns="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And dozens more</a:t>
            </a:r>
          </a:p>
        </p:txBody>
      </p:sp>
      <p:sp>
        <p:nvSpPr>
          <p:cNvPr id="4" name="Rectangle 3">
            <a:extLst>
              <a:ext uri="{FF2B5EF4-FFF2-40B4-BE49-F238E27FC236}">
                <a16:creationId xmlns:a16="http://schemas.microsoft.com/office/drawing/2014/main" id="{854EFAB3-A54B-C40D-468F-17156FE9ACB8}"/>
              </a:ext>
            </a:extLst>
          </p:cNvPr>
          <p:cNvSpPr/>
          <p:nvPr/>
        </p:nvSpPr>
        <p:spPr>
          <a:xfrm>
            <a:off x="121919" y="6400800"/>
            <a:ext cx="1850315"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5" name="Picture 2">
            <a:extLst>
              <a:ext uri="{FF2B5EF4-FFF2-40B4-BE49-F238E27FC236}">
                <a16:creationId xmlns:a16="http://schemas.microsoft.com/office/drawing/2014/main" id="{42555A68-B45A-4B4E-9C1F-7AE30DA0E4A7}"/>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Rounded Corners 8">
            <a:extLst>
              <a:ext uri="{FF2B5EF4-FFF2-40B4-BE49-F238E27FC236}">
                <a16:creationId xmlns:a16="http://schemas.microsoft.com/office/drawing/2014/main" id="{17DE1D67-171F-E5EF-2580-791028243008}"/>
              </a:ext>
            </a:extLst>
          </p:cNvPr>
          <p:cNvSpPr/>
          <p:nvPr/>
        </p:nvSpPr>
        <p:spPr>
          <a:xfrm>
            <a:off x="4702579" y="5417521"/>
            <a:ext cx="2680198" cy="485776"/>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14">
                  <a:extLst>
                    <a:ext uri="{A12FA001-AC4F-418D-AE19-62706E023703}">
                      <ahyp:hlinkClr xmlns:ahyp="http://schemas.microsoft.com/office/drawing/2018/hyperlinkcolor" val="tx"/>
                    </a:ext>
                  </a:extLst>
                </a:hlinkClick>
              </a:rPr>
              <a:t>Access resources</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1029055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TBOX" val="buscar imgs nuevas para los slides que quedaron 1/2 pagina"/>
  <p:tag name="THINKCELLPRESENTATIONDONOTDELETE" val="&lt;?xml version=&quot;1.0&quot; encoding=&quot;UTF-16&quot; standalone=&quot;yes&quot;?&gt;&lt;root reqver=&quot;27037&quot;&gt;&lt;version val=&quot;3297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1&quot;/&gt;&lt;m_eweekdayFirstOfWeekend val=&quot;6&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IC TEMPLATE OK">
  <a:themeElements>
    <a:clrScheme name="Custom 61">
      <a:dk1>
        <a:srgbClr val="000000"/>
      </a:dk1>
      <a:lt1>
        <a:srgbClr val="FFFFFF"/>
      </a:lt1>
      <a:dk2>
        <a:srgbClr val="16207B"/>
      </a:dk2>
      <a:lt2>
        <a:srgbClr val="629CD0"/>
      </a:lt2>
      <a:accent1>
        <a:srgbClr val="0A1A49"/>
      </a:accent1>
      <a:accent2>
        <a:srgbClr val="629DD1"/>
      </a:accent2>
      <a:accent3>
        <a:srgbClr val="00D2C2"/>
      </a:accent3>
      <a:accent4>
        <a:srgbClr val="7F8FA9"/>
      </a:accent4>
      <a:accent5>
        <a:srgbClr val="5AA2AE"/>
      </a:accent5>
      <a:accent6>
        <a:srgbClr val="9D90A0"/>
      </a:accent6>
      <a:hlink>
        <a:srgbClr val="9454C3"/>
      </a:hlink>
      <a:folHlink>
        <a:srgbClr val="3EBBF0"/>
      </a:folHlink>
    </a:clrScheme>
    <a:fontScheme name="Custom 8">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IC TEMPLATE OK">
  <a:themeElements>
    <a:clrScheme name="Custom 61">
      <a:dk1>
        <a:srgbClr val="000000"/>
      </a:dk1>
      <a:lt1>
        <a:srgbClr val="FFFFFF"/>
      </a:lt1>
      <a:dk2>
        <a:srgbClr val="16207B"/>
      </a:dk2>
      <a:lt2>
        <a:srgbClr val="629CD0"/>
      </a:lt2>
      <a:accent1>
        <a:srgbClr val="0A1A49"/>
      </a:accent1>
      <a:accent2>
        <a:srgbClr val="629DD1"/>
      </a:accent2>
      <a:accent3>
        <a:srgbClr val="00D2C2"/>
      </a:accent3>
      <a:accent4>
        <a:srgbClr val="7F8FA9"/>
      </a:accent4>
      <a:accent5>
        <a:srgbClr val="5AA2AE"/>
      </a:accent5>
      <a:accent6>
        <a:srgbClr val="9D90A0"/>
      </a:accent6>
      <a:hlink>
        <a:srgbClr val="9454C3"/>
      </a:hlink>
      <a:folHlink>
        <a:srgbClr val="3EBBF0"/>
      </a:folHlink>
    </a:clrScheme>
    <a:fontScheme name="Custom 8">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IC TEMPLATE OK">
  <a:themeElements>
    <a:clrScheme name="Custom 61">
      <a:dk1>
        <a:srgbClr val="000000"/>
      </a:dk1>
      <a:lt1>
        <a:srgbClr val="FFFFFF"/>
      </a:lt1>
      <a:dk2>
        <a:srgbClr val="16207B"/>
      </a:dk2>
      <a:lt2>
        <a:srgbClr val="629CD0"/>
      </a:lt2>
      <a:accent1>
        <a:srgbClr val="0A1A49"/>
      </a:accent1>
      <a:accent2>
        <a:srgbClr val="629DD1"/>
      </a:accent2>
      <a:accent3>
        <a:srgbClr val="00D2C2"/>
      </a:accent3>
      <a:accent4>
        <a:srgbClr val="7F8FA9"/>
      </a:accent4>
      <a:accent5>
        <a:srgbClr val="5AA2AE"/>
      </a:accent5>
      <a:accent6>
        <a:srgbClr val="9D90A0"/>
      </a:accent6>
      <a:hlink>
        <a:srgbClr val="9454C3"/>
      </a:hlink>
      <a:folHlink>
        <a:srgbClr val="3EBBF0"/>
      </a:folHlink>
    </a:clrScheme>
    <a:fontScheme name="Custom 8">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IC TEMPLATE OK">
  <a:themeElements>
    <a:clrScheme name="Custom 61">
      <a:dk1>
        <a:srgbClr val="000000"/>
      </a:dk1>
      <a:lt1>
        <a:srgbClr val="FFFFFF"/>
      </a:lt1>
      <a:dk2>
        <a:srgbClr val="16207B"/>
      </a:dk2>
      <a:lt2>
        <a:srgbClr val="629CD0"/>
      </a:lt2>
      <a:accent1>
        <a:srgbClr val="0A1A49"/>
      </a:accent1>
      <a:accent2>
        <a:srgbClr val="629DD1"/>
      </a:accent2>
      <a:accent3>
        <a:srgbClr val="00D2C2"/>
      </a:accent3>
      <a:accent4>
        <a:srgbClr val="7F8FA9"/>
      </a:accent4>
      <a:accent5>
        <a:srgbClr val="5AA2AE"/>
      </a:accent5>
      <a:accent6>
        <a:srgbClr val="9D90A0"/>
      </a:accent6>
      <a:hlink>
        <a:srgbClr val="9454C3"/>
      </a:hlink>
      <a:folHlink>
        <a:srgbClr val="3EBBF0"/>
      </a:folHlink>
    </a:clrScheme>
    <a:fontScheme name="Custom 8">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solidFill>
          <a:schemeClr val="bg1">
            <a:lumMod val="95000"/>
          </a:schemeClr>
        </a:solidFill>
      </a:spPr>
      <a:bodyPr vert="horz" wrap="square" lIns="72000" tIns="36000" rIns="36000" bIns="36000" rtlCol="0" anchor="ctr">
        <a:noAutofit/>
      </a:bodyPr>
      <a:lstStyle>
        <a:defPPr marL="0" marR="0" indent="0" algn="ctr" defTabSz="228554" rtl="0" eaLnBrk="1" fontAlgn="auto" latinLnBrk="0" hangingPunct="1">
          <a:lnSpc>
            <a:spcPct val="100000"/>
          </a:lnSpc>
          <a:spcBef>
            <a:spcPts val="300"/>
          </a:spcBef>
          <a:spcAft>
            <a:spcPts val="0"/>
          </a:spcAft>
          <a:buClrTx/>
          <a:buSzTx/>
          <a:buFont typeface="Arial" panose="020B0604020202020204" pitchFamily="34" charset="0"/>
          <a:buNone/>
          <a:tabLst/>
          <a:defRPr kumimoji="0" sz="1400" i="0" u="none" strike="noStrike" kern="1200" cap="none" spc="0" normalizeH="0" baseline="0" noProof="0" dirty="0" smtClean="0">
            <a:ln>
              <a:noFill/>
            </a:ln>
            <a:solidFill>
              <a:schemeClr val="tx2"/>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37C6C0B81616847BA0BEF6AF9FD8D5E" ma:contentTypeVersion="14" ma:contentTypeDescription="Create a new document." ma:contentTypeScope="" ma:versionID="8f477840bf1b15ebcd7dea7e26e8de05">
  <xsd:schema xmlns:xsd="http://www.w3.org/2001/XMLSchema" xmlns:xs="http://www.w3.org/2001/XMLSchema" xmlns:p="http://schemas.microsoft.com/office/2006/metadata/properties" xmlns:ns3="2d175f5e-96b3-4161-9498-4ed8bb1684ef" xmlns:ns4="8cc5281a-0e22-4a5d-9b94-71566d8ffb39" targetNamespace="http://schemas.microsoft.com/office/2006/metadata/properties" ma:root="true" ma:fieldsID="626ffd4b232ece131a0e6b8ce18d05e9" ns3:_="" ns4:_="">
    <xsd:import namespace="2d175f5e-96b3-4161-9498-4ed8bb1684ef"/>
    <xsd:import namespace="8cc5281a-0e22-4a5d-9b94-71566d8ffb3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LengthInSeconds"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175f5e-96b3-4161-9498-4ed8bb1684e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cc5281a-0e22-4a5d-9b94-71566d8ffb39"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D9BADE-FB3C-4DFF-ABE8-CDDBBB754F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175f5e-96b3-4161-9498-4ed8bb1684ef"/>
    <ds:schemaRef ds:uri="8cc5281a-0e22-4a5d-9b94-71566d8ffb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FDBD43-137A-4241-BB3D-DE2C80A7631B}">
  <ds:schemaRefs>
    <ds:schemaRef ds:uri="8cc5281a-0e22-4a5d-9b94-71566d8ffb39"/>
    <ds:schemaRef ds:uri="2d175f5e-96b3-4161-9498-4ed8bb1684ef"/>
    <ds:schemaRef ds:uri="http://purl.org/dc/terms/"/>
    <ds:schemaRef ds:uri="http://schemas.microsoft.com/office/2006/documentManagement/types"/>
    <ds:schemaRef ds:uri="http://purl.org/dc/elements/1.1/"/>
    <ds:schemaRef ds:uri="http://purl.org/dc/dcmitype/"/>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021C9605-34E7-4B36-9570-2016EA898C8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21445</TotalTime>
  <Words>19493</Words>
  <Application>Microsoft Macintosh PowerPoint</Application>
  <PresentationFormat>Widescreen</PresentationFormat>
  <Paragraphs>1827</Paragraphs>
  <Slides>102</Slides>
  <Notes>2</Notes>
  <HiddenSlides>0</HiddenSlides>
  <MMClips>0</MMClips>
  <ScaleCrop>false</ScaleCrop>
  <HeadingPairs>
    <vt:vector size="8" baseType="variant">
      <vt:variant>
        <vt:lpstr>Fonts Used</vt:lpstr>
      </vt:variant>
      <vt:variant>
        <vt:i4>5</vt:i4>
      </vt:variant>
      <vt:variant>
        <vt:lpstr>Theme</vt:lpstr>
      </vt:variant>
      <vt:variant>
        <vt:i4>4</vt:i4>
      </vt:variant>
      <vt:variant>
        <vt:lpstr>Embedded OLE Servers</vt:lpstr>
      </vt:variant>
      <vt:variant>
        <vt:i4>2</vt:i4>
      </vt:variant>
      <vt:variant>
        <vt:lpstr>Slide Titles</vt:lpstr>
      </vt:variant>
      <vt:variant>
        <vt:i4>102</vt:i4>
      </vt:variant>
    </vt:vector>
  </HeadingPairs>
  <TitlesOfParts>
    <vt:vector size="113" baseType="lpstr">
      <vt:lpstr>Arial</vt:lpstr>
      <vt:lpstr>Franklin Gothic Medium</vt:lpstr>
      <vt:lpstr>Graphik</vt:lpstr>
      <vt:lpstr>Söhne</vt:lpstr>
      <vt:lpstr>Verdana</vt:lpstr>
      <vt:lpstr>BIC TEMPLATE OK</vt:lpstr>
      <vt:lpstr>1_BIC TEMPLATE OK</vt:lpstr>
      <vt:lpstr>2_BIC TEMPLATE OK</vt:lpstr>
      <vt:lpstr>3_BIC TEMPLATE OK</vt:lpstr>
      <vt:lpstr>think-cell Slide</vt:lpstr>
      <vt:lpstr>Diapositiva de think-cell</vt:lpstr>
      <vt:lpstr>PowerPoint Presentation</vt:lpstr>
      <vt:lpstr>Board Reporting Package </vt:lpstr>
      <vt:lpstr>Board Reporting Package Contents</vt:lpstr>
      <vt:lpstr>CEO Update</vt:lpstr>
      <vt:lpstr>Board Chair Update</vt:lpstr>
      <vt:lpstr>Board Reporting Package Contents</vt:lpstr>
      <vt:lpstr>Agenda</vt:lpstr>
      <vt:lpstr>Previous Meeting Minutes</vt:lpstr>
      <vt:lpstr>Board Reporting Package Contents</vt:lpstr>
      <vt:lpstr>Financial Overview</vt:lpstr>
      <vt:lpstr>Income Statement</vt:lpstr>
      <vt:lpstr>Income Statement (continued)</vt:lpstr>
      <vt:lpstr>Cash Flow Statement</vt:lpstr>
      <vt:lpstr>Balance Sheet</vt:lpstr>
      <vt:lpstr>Revenue Breakdown </vt:lpstr>
      <vt:lpstr>Operating Expenses Breakdown</vt:lpstr>
      <vt:lpstr>Cost Reduction Initiatives</vt:lpstr>
      <vt:lpstr>Profitability Analysis/ROI</vt:lpstr>
      <vt:lpstr>Working Capital Analysis</vt:lpstr>
      <vt:lpstr>Accounts Receivable</vt:lpstr>
      <vt:lpstr>Accounts Payable</vt:lpstr>
      <vt:lpstr>Capital Expenditures</vt:lpstr>
      <vt:lpstr>Capital Raising</vt:lpstr>
      <vt:lpstr>Debt Overview &amp; Refinancing</vt:lpstr>
      <vt:lpstr>Tax</vt:lpstr>
      <vt:lpstr>Property &amp; Real Estate Update</vt:lpstr>
      <vt:lpstr>Foreign Currency Exposure</vt:lpstr>
      <vt:lpstr>Board Reporting Package Contents</vt:lpstr>
      <vt:lpstr>Product Development Overview</vt:lpstr>
      <vt:lpstr>Research &amp; Development</vt:lpstr>
      <vt:lpstr>Product Roadmap</vt:lpstr>
      <vt:lpstr>Board Reporting Package Contents</vt:lpstr>
      <vt:lpstr>Market Overview</vt:lpstr>
      <vt:lpstr>Marketing Initiatives</vt:lpstr>
      <vt:lpstr>Market Expansion</vt:lpstr>
      <vt:lpstr>Marketing ROI</vt:lpstr>
      <vt:lpstr>Pricing Strategy</vt:lpstr>
      <vt:lpstr>Data &amp; Analytics</vt:lpstr>
      <vt:lpstr>Advertising</vt:lpstr>
      <vt:lpstr>Competitors</vt:lpstr>
      <vt:lpstr>Branding &amp; Marketing Materials</vt:lpstr>
      <vt:lpstr>Website</vt:lpstr>
      <vt:lpstr>Social Media</vt:lpstr>
      <vt:lpstr>Industry Events &amp; Conferences</vt:lpstr>
      <vt:lpstr>Public Relations</vt:lpstr>
      <vt:lpstr>Board Reporting Package Contents</vt:lpstr>
      <vt:lpstr>Sales Pipeline </vt:lpstr>
      <vt:lpstr>Sales Team Performance</vt:lpstr>
      <vt:lpstr>Sales by Region</vt:lpstr>
      <vt:lpstr>Sales by Channel</vt:lpstr>
      <vt:lpstr>Channel Partners</vt:lpstr>
      <vt:lpstr>Board Reporting Package Contents</vt:lpstr>
      <vt:lpstr>Operations Overview</vt:lpstr>
      <vt:lpstr>Supply Chain Management</vt:lpstr>
      <vt:lpstr>Emergency Preparedness</vt:lpstr>
      <vt:lpstr>Suppliers</vt:lpstr>
      <vt:lpstr>Worker Safety</vt:lpstr>
      <vt:lpstr>Board Reporting Package Contents</vt:lpstr>
      <vt:lpstr>Customer Service</vt:lpstr>
      <vt:lpstr>Customer Acquisition</vt:lpstr>
      <vt:lpstr>Customer Retention</vt:lpstr>
      <vt:lpstr>Customer Satisfaction</vt:lpstr>
      <vt:lpstr>Consumer Insights</vt:lpstr>
      <vt:lpstr>Customer Case Studies</vt:lpstr>
      <vt:lpstr>Board Reporting Package Contents</vt:lpstr>
      <vt:lpstr>Human Resources Overview</vt:lpstr>
      <vt:lpstr>Organizational Structure</vt:lpstr>
      <vt:lpstr>Leadership Team Overview</vt:lpstr>
      <vt:lpstr>Talent Acquisition</vt:lpstr>
      <vt:lpstr>Compensation &amp; Benefits</vt:lpstr>
      <vt:lpstr>Learning &amp; Development</vt:lpstr>
      <vt:lpstr>Employee Engagement</vt:lpstr>
      <vt:lpstr>Employee Retention</vt:lpstr>
      <vt:lpstr>Diversity, Equity &amp; Inclusion </vt:lpstr>
      <vt:lpstr>Board Reporting Package Contents</vt:lpstr>
      <vt:lpstr>IT Infrastructure</vt:lpstr>
      <vt:lpstr>Cybersecurity</vt:lpstr>
      <vt:lpstr>Board Reporting Package Contents</vt:lpstr>
      <vt:lpstr>Partnership &amp; Alliances</vt:lpstr>
      <vt:lpstr>Mergers &amp; Acquisitions</vt:lpstr>
      <vt:lpstr>Post-merger Integration</vt:lpstr>
      <vt:lpstr>Board Reporting Package Contents</vt:lpstr>
      <vt:lpstr>Intellectual Property</vt:lpstr>
      <vt:lpstr>Risk Management</vt:lpstr>
      <vt:lpstr>Legal and Regulatory</vt:lpstr>
      <vt:lpstr>Litigation</vt:lpstr>
      <vt:lpstr>Investor Relations</vt:lpstr>
      <vt:lpstr>Community Engagement</vt:lpstr>
      <vt:lpstr>Environmental, Social, and Governance (ESG) </vt:lpstr>
      <vt:lpstr>Sustainability</vt:lpstr>
      <vt:lpstr>Awards &amp; Recognition</vt:lpstr>
      <vt:lpstr>About Umbrex</vt:lpstr>
      <vt:lpstr>   </vt:lpstr>
      <vt:lpstr>Why Umbrex?</vt:lpstr>
      <vt:lpstr>Umbrex Services</vt:lpstr>
      <vt:lpstr>Industries Umbrex Serves</vt:lpstr>
      <vt:lpstr>Umbrex offers flexible options to engage talent</vt:lpstr>
      <vt:lpstr>Umbrex connects you with a community of other top-tier independent consultants</vt:lpstr>
      <vt:lpstr>You're global and local - Umbrex is, too</vt:lpstr>
      <vt:lpstr>Umbrex thought leadership</vt:lpstr>
      <vt:lpstr>How Umbrex can help</vt:lpstr>
      <vt:lpstr>Umbrex provides resources to help consultants thrive</vt:lpstr>
    </vt:vector>
  </TitlesOfParts>
  <Manager>Umbrex visit www.umbrex.com</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Umbrex visit www.umbrex.com</dc:creator>
  <cp:keywords/>
  <dc:description/>
  <cp:lastModifiedBy>shelley seale</cp:lastModifiedBy>
  <cp:revision>200</cp:revision>
  <dcterms:created xsi:type="dcterms:W3CDTF">2020-07-31T20:30:33Z</dcterms:created>
  <dcterms:modified xsi:type="dcterms:W3CDTF">2023-05-23T08:37:58Z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0x010100737C6C0B81616847BA0BEF6AF9FD8D5E</vt:lpwstr>
  </property>
  <property fmtid="{D5CDD505-2E9C-101B-9397-08002B2CF9AE}" pid="3" name="MediaServiceImageTags">
    <vt:lpwstr/>
  </property>
</Properties>
</file>