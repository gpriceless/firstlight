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21.xml" ContentType="application/vnd.openxmlformats-officedocument.presentationml.tags+xml"/>
  <Override PartName="/ppt/notesSlides/notesSlide1.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2.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3.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ink/ink1.xml" ContentType="application/inkml+xml"/>
  <Override PartName="/ppt/tags/tag40.xml" ContentType="application/vnd.openxmlformats-officedocument.presentationml.tags+xml"/>
  <Override PartName="/ppt/tags/tag41.xml" ContentType="application/vnd.openxmlformats-officedocument.presentationml.tags+xml"/>
  <Override PartName="/ppt/notesSlides/notesSlide4.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5.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6.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7.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8.xml" ContentType="application/vnd.openxmlformats-officedocument.presentationml.notesSlide+xml"/>
  <Override PartName="/ppt/tags/tag50.xml" ContentType="application/vnd.openxmlformats-officedocument.presentationml.tags+xml"/>
  <Override PartName="/ppt/notesSlides/notesSlide9.xml" ContentType="application/vnd.openxmlformats-officedocument.presentationml.notesSlide+xml"/>
  <Override PartName="/ppt/tags/tag51.xml" ContentType="application/vnd.openxmlformats-officedocument.presentationml.tags+xml"/>
  <Override PartName="/ppt/notesSlides/notesSlide10.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11.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12.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3.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notesSlides/notesSlide14.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5.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notesSlides/notesSlide16.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notesSlides/notesSlide17.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18.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19.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notesSlides/notesSlide20.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21.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22.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23.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24.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25.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26.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27.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28.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notesSlides/notesSlide29.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30.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31.xml" ContentType="application/vnd.openxmlformats-officedocument.presentationml.notesSlide+xml"/>
  <Override PartName="/ppt/tags/tag119.xml" ContentType="application/vnd.openxmlformats-officedocument.presentationml.tags+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50" r:id="rId4"/>
    <p:sldMasterId id="2147483997" r:id="rId5"/>
    <p:sldMasterId id="2147484003" r:id="rId6"/>
  </p:sldMasterIdLst>
  <p:notesMasterIdLst>
    <p:notesMasterId r:id="rId115"/>
  </p:notesMasterIdLst>
  <p:handoutMasterIdLst>
    <p:handoutMasterId r:id="rId116"/>
  </p:handoutMasterIdLst>
  <p:sldIdLst>
    <p:sldId id="2147472762" r:id="rId7"/>
    <p:sldId id="2147472686" r:id="rId8"/>
    <p:sldId id="2147473101" r:id="rId9"/>
    <p:sldId id="2147472913" r:id="rId10"/>
    <p:sldId id="2147472914" r:id="rId11"/>
    <p:sldId id="2147472876" r:id="rId12"/>
    <p:sldId id="2147472915" r:id="rId13"/>
    <p:sldId id="2147472916" r:id="rId14"/>
    <p:sldId id="2147472917" r:id="rId15"/>
    <p:sldId id="2147472918" r:id="rId16"/>
    <p:sldId id="2147472919" r:id="rId17"/>
    <p:sldId id="2147472920" r:id="rId18"/>
    <p:sldId id="2147472921" r:id="rId19"/>
    <p:sldId id="2147472922" r:id="rId20"/>
    <p:sldId id="2147472923" r:id="rId21"/>
    <p:sldId id="2147472924" r:id="rId22"/>
    <p:sldId id="2147472684" r:id="rId23"/>
    <p:sldId id="2147473078" r:id="rId24"/>
    <p:sldId id="2147472959" r:id="rId25"/>
    <p:sldId id="2147472960" r:id="rId26"/>
    <p:sldId id="2147472961" r:id="rId27"/>
    <p:sldId id="2147472962" r:id="rId28"/>
    <p:sldId id="2147472963" r:id="rId29"/>
    <p:sldId id="2147472964" r:id="rId30"/>
    <p:sldId id="2147472965" r:id="rId31"/>
    <p:sldId id="2147472966" r:id="rId32"/>
    <p:sldId id="2147472967" r:id="rId33"/>
    <p:sldId id="2147472968" r:id="rId34"/>
    <p:sldId id="2147472969" r:id="rId35"/>
    <p:sldId id="2147472970" r:id="rId36"/>
    <p:sldId id="2147472972" r:id="rId37"/>
    <p:sldId id="2147472973" r:id="rId38"/>
    <p:sldId id="2147472974" r:id="rId39"/>
    <p:sldId id="2147472971" r:id="rId40"/>
    <p:sldId id="2147473079" r:id="rId41"/>
    <p:sldId id="2147472986" r:id="rId42"/>
    <p:sldId id="2147473064" r:id="rId43"/>
    <p:sldId id="2147472977" r:id="rId44"/>
    <p:sldId id="2147472981" r:id="rId45"/>
    <p:sldId id="2147473080" r:id="rId46"/>
    <p:sldId id="2147472983" r:id="rId47"/>
    <p:sldId id="2147472987" r:id="rId48"/>
    <p:sldId id="2147473081" r:id="rId49"/>
    <p:sldId id="2147472990" r:id="rId50"/>
    <p:sldId id="2147472991" r:id="rId51"/>
    <p:sldId id="2147473082" r:id="rId52"/>
    <p:sldId id="2147472993" r:id="rId53"/>
    <p:sldId id="2147472994" r:id="rId54"/>
    <p:sldId id="2147473083" r:id="rId55"/>
    <p:sldId id="2147472996" r:id="rId56"/>
    <p:sldId id="2147472997" r:id="rId57"/>
    <p:sldId id="2147473084" r:id="rId58"/>
    <p:sldId id="2147472999" r:id="rId59"/>
    <p:sldId id="2147473000" r:id="rId60"/>
    <p:sldId id="2147473085" r:id="rId61"/>
    <p:sldId id="2147473002" r:id="rId62"/>
    <p:sldId id="2147473003" r:id="rId63"/>
    <p:sldId id="2147473086" r:id="rId64"/>
    <p:sldId id="2147473005" r:id="rId65"/>
    <p:sldId id="2147473066" r:id="rId66"/>
    <p:sldId id="2147473009" r:id="rId67"/>
    <p:sldId id="2147473087" r:id="rId68"/>
    <p:sldId id="2147473011" r:id="rId69"/>
    <p:sldId id="2147473067" r:id="rId70"/>
    <p:sldId id="2147473024" r:id="rId71"/>
    <p:sldId id="2147473088" r:id="rId72"/>
    <p:sldId id="2147473063" r:id="rId73"/>
    <p:sldId id="2147473069" r:id="rId74"/>
    <p:sldId id="2147473102" r:id="rId75"/>
    <p:sldId id="2147473027" r:id="rId76"/>
    <p:sldId id="2147473089" r:id="rId77"/>
    <p:sldId id="2147473029" r:id="rId78"/>
    <p:sldId id="2147473030" r:id="rId79"/>
    <p:sldId id="2147473090" r:id="rId80"/>
    <p:sldId id="2147473032" r:id="rId81"/>
    <p:sldId id="2147473100" r:id="rId82"/>
    <p:sldId id="2147473033" r:id="rId83"/>
    <p:sldId id="2147473091" r:id="rId84"/>
    <p:sldId id="2147473035" r:id="rId85"/>
    <p:sldId id="2147473039" r:id="rId86"/>
    <p:sldId id="2147473036" r:id="rId87"/>
    <p:sldId id="2147473092" r:id="rId88"/>
    <p:sldId id="2147473038" r:id="rId89"/>
    <p:sldId id="2147473040" r:id="rId90"/>
    <p:sldId id="2147473072" r:id="rId91"/>
    <p:sldId id="2147473041" r:id="rId92"/>
    <p:sldId id="2147473093" r:id="rId93"/>
    <p:sldId id="2147473043" r:id="rId94"/>
    <p:sldId id="2147473047" r:id="rId95"/>
    <p:sldId id="2147473048" r:id="rId96"/>
    <p:sldId id="2147473094" r:id="rId97"/>
    <p:sldId id="2147473050" r:id="rId98"/>
    <p:sldId id="2147473073" r:id="rId99"/>
    <p:sldId id="2147473051" r:id="rId100"/>
    <p:sldId id="2147473095" r:id="rId101"/>
    <p:sldId id="2147473053" r:id="rId102"/>
    <p:sldId id="2147473054" r:id="rId103"/>
    <p:sldId id="2147473096" r:id="rId104"/>
    <p:sldId id="2147473056" r:id="rId105"/>
    <p:sldId id="2147473057" r:id="rId106"/>
    <p:sldId id="2147473097" r:id="rId107"/>
    <p:sldId id="2147473059" r:id="rId108"/>
    <p:sldId id="2147473099" r:id="rId109"/>
    <p:sldId id="2147473060" r:id="rId110"/>
    <p:sldId id="2147473098" r:id="rId111"/>
    <p:sldId id="2147473062" r:id="rId112"/>
    <p:sldId id="2147472940" r:id="rId113"/>
    <p:sldId id="2147472941" r:id="rId114"/>
  </p:sldIdLst>
  <p:sldSz cx="12192000" cy="6858000"/>
  <p:notesSz cx="6858000" cy="9144000"/>
  <p:custDataLst>
    <p:tags r:id="rId1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726" userDrawn="1">
          <p15:clr>
            <a:srgbClr val="A4A3A4"/>
          </p15:clr>
        </p15:guide>
        <p15:guide id="5" pos="381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pasin, Alyssa P." initials="PAP" lastIdx="1" clrIdx="0">
    <p:extLst>
      <p:ext uri="{19B8F6BF-5375-455C-9EA6-DF929625EA0E}">
        <p15:presenceInfo xmlns:p15="http://schemas.microsoft.com/office/powerpoint/2012/main" userId="S::alyssa.p.papasin@accenture.com::6ae9f9dd-506d-4cbb-b0dc-8714429a2a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99EDE7"/>
    <a:srgbClr val="CCD2DD"/>
    <a:srgbClr val="FFFFFF"/>
    <a:srgbClr val="C0D7EC"/>
    <a:srgbClr val="121E69"/>
    <a:srgbClr val="FF0000"/>
    <a:srgbClr val="F9F9F9"/>
    <a:srgbClr val="3A5C87"/>
    <a:srgbClr val="EFFFFE"/>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03" autoAdjust="0"/>
    <p:restoredTop sz="95329" autoAdjust="0"/>
  </p:normalViewPr>
  <p:slideViewPr>
    <p:cSldViewPr snapToGrid="0">
      <p:cViewPr varScale="1">
        <p:scale>
          <a:sx n="152" d="100"/>
          <a:sy n="152" d="100"/>
        </p:scale>
        <p:origin x="224" y="288"/>
      </p:cViewPr>
      <p:guideLst>
        <p:guide orient="horz" pos="726"/>
        <p:guide pos="3817"/>
      </p:guideLst>
    </p:cSldViewPr>
  </p:slideViewPr>
  <p:outlineViewPr>
    <p:cViewPr>
      <p:scale>
        <a:sx n="33" d="100"/>
        <a:sy n="33" d="100"/>
      </p:scale>
      <p:origin x="0" y="-24624"/>
    </p:cViewPr>
  </p:outlineViewPr>
  <p:notesTextViewPr>
    <p:cViewPr>
      <p:scale>
        <a:sx n="1" d="1"/>
        <a:sy n="1" d="1"/>
      </p:scale>
      <p:origin x="0" y="0"/>
    </p:cViewPr>
  </p:notesTextViewPr>
  <p:sorterViewPr>
    <p:cViewPr>
      <p:scale>
        <a:sx n="75" d="100"/>
        <a:sy n="75" d="100"/>
      </p:scale>
      <p:origin x="0" y="-7248"/>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17" Type="http://schemas.openxmlformats.org/officeDocument/2006/relationships/tags" Target="tags/tag1.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12" Type="http://schemas.openxmlformats.org/officeDocument/2006/relationships/slide" Target="slides/slide106.xml"/><Relationship Id="rId16" Type="http://schemas.openxmlformats.org/officeDocument/2006/relationships/slide" Target="slides/slide10.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slide" Target="slides/slide96.xml"/><Relationship Id="rId5" Type="http://schemas.openxmlformats.org/officeDocument/2006/relationships/slideMaster" Target="slideMasters/slideMaster2.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113" Type="http://schemas.openxmlformats.org/officeDocument/2006/relationships/slide" Target="slides/slide107.xml"/><Relationship Id="rId118" Type="http://schemas.openxmlformats.org/officeDocument/2006/relationships/commentAuthors" Target="commentAuthors.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08" Type="http://schemas.openxmlformats.org/officeDocument/2006/relationships/slide" Target="slides/slide102.xml"/><Relationship Id="rId54" Type="http://schemas.openxmlformats.org/officeDocument/2006/relationships/slide" Target="slides/slide48.xml"/><Relationship Id="rId70" Type="http://schemas.openxmlformats.org/officeDocument/2006/relationships/slide" Target="slides/slide64.xml"/><Relationship Id="rId75" Type="http://schemas.openxmlformats.org/officeDocument/2006/relationships/slide" Target="slides/slide69.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7.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119" Type="http://schemas.openxmlformats.org/officeDocument/2006/relationships/presProps" Target="presProps.xml"/><Relationship Id="rId44" Type="http://schemas.openxmlformats.org/officeDocument/2006/relationships/slide" Target="slides/slide38.xml"/><Relationship Id="rId60" Type="http://schemas.openxmlformats.org/officeDocument/2006/relationships/slide" Target="slides/slide54.xml"/><Relationship Id="rId65" Type="http://schemas.openxmlformats.org/officeDocument/2006/relationships/slide" Target="slides/slide59.xml"/><Relationship Id="rId81" Type="http://schemas.openxmlformats.org/officeDocument/2006/relationships/slide" Target="slides/slide75.xml"/><Relationship Id="rId86" Type="http://schemas.openxmlformats.org/officeDocument/2006/relationships/slide" Target="slides/slide80.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120" Type="http://schemas.openxmlformats.org/officeDocument/2006/relationships/viewProps" Target="viewProps.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notesMaster" Target="notesMasters/notesMaster1.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theme" Target="theme/theme1.xml"/><Relationship Id="rId3" Type="http://schemas.openxmlformats.org/officeDocument/2006/relationships/customXml" Target="../customXml/item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handoutMaster" Target="handoutMasters/handoutMaster1.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78" Type="http://schemas.openxmlformats.org/officeDocument/2006/relationships/slide" Target="slides/slide72.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r>
              <a:rPr lang="en-US" sz="1400" b="1" baseline="0" dirty="0">
                <a:solidFill>
                  <a:srgbClr val="002060"/>
                </a:solidFill>
              </a:rPr>
              <a:t>20-80%</a:t>
            </a:r>
          </a:p>
        </c:rich>
      </c:tx>
      <c:layout>
        <c:manualLayout>
          <c:xMode val="edge"/>
          <c:yMode val="edge"/>
          <c:x val="0.35921060686588513"/>
          <c:y val="0.52297450859470129"/>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spPr>
            <a:solidFill>
              <a:srgbClr val="002060"/>
            </a:solidFill>
            <a:ln>
              <a:noFill/>
            </a:ln>
          </c:spPr>
          <c:dPt>
            <c:idx val="0"/>
            <c:bubble3D val="0"/>
            <c:spPr>
              <a:solidFill>
                <a:srgbClr val="002060"/>
              </a:solidFill>
              <a:ln w="19050">
                <a:noFill/>
              </a:ln>
              <a:effectLst/>
            </c:spPr>
            <c:extLst>
              <c:ext xmlns:c16="http://schemas.microsoft.com/office/drawing/2014/chart" uri="{C3380CC4-5D6E-409C-BE32-E72D297353CC}">
                <c16:uniqueId val="{00000002-1581-46C6-8770-95FEC814A4AD}"/>
              </c:ext>
            </c:extLst>
          </c:dPt>
          <c:dPt>
            <c:idx val="1"/>
            <c:bubble3D val="0"/>
            <c:spPr>
              <a:solidFill>
                <a:srgbClr val="002060"/>
              </a:solidFill>
              <a:ln w="19050">
                <a:noFill/>
              </a:ln>
              <a:effectLst/>
            </c:spPr>
            <c:extLst>
              <c:ext xmlns:c16="http://schemas.microsoft.com/office/drawing/2014/chart" uri="{C3380CC4-5D6E-409C-BE32-E72D297353CC}">
                <c16:uniqueId val="{00000003-1581-46C6-8770-95FEC814A4AD}"/>
              </c:ext>
            </c:extLst>
          </c:dPt>
          <c:dPt>
            <c:idx val="2"/>
            <c:bubble3D val="0"/>
            <c:spPr>
              <a:solidFill>
                <a:srgbClr val="002060"/>
              </a:solidFill>
              <a:ln w="19050">
                <a:noFill/>
              </a:ln>
              <a:effectLst/>
            </c:spPr>
            <c:extLst>
              <c:ext xmlns:c16="http://schemas.microsoft.com/office/drawing/2014/chart" uri="{C3380CC4-5D6E-409C-BE32-E72D297353CC}">
                <c16:uniqueId val="{00000005-F954-4FF0-BB57-7A98CD026CB5}"/>
              </c:ext>
            </c:extLst>
          </c:dPt>
          <c:dPt>
            <c:idx val="3"/>
            <c:bubble3D val="0"/>
            <c:spPr>
              <a:solidFill>
                <a:srgbClr val="002060"/>
              </a:solidFill>
              <a:ln w="19050">
                <a:noFill/>
              </a:ln>
              <a:effectLst/>
            </c:spPr>
            <c:extLst>
              <c:ext xmlns:c16="http://schemas.microsoft.com/office/drawing/2014/chart" uri="{C3380CC4-5D6E-409C-BE32-E72D297353CC}">
                <c16:uniqueId val="{00000007-F954-4FF0-BB57-7A98CD026CB5}"/>
              </c:ext>
            </c:extLst>
          </c:dPt>
          <c:cat>
            <c:strRef>
              <c:f>Sheet1!$A$2:$A$5</c:f>
              <c:strCache>
                <c:ptCount val="2"/>
                <c:pt idx="0">
                  <c:v>1st Qtr</c:v>
                </c:pt>
                <c:pt idx="1">
                  <c:v>2nd Qtr</c:v>
                </c:pt>
              </c:strCache>
            </c:strRef>
          </c:cat>
          <c:val>
            <c:numRef>
              <c:f>Sheet1!$B$2:$B$5</c:f>
              <c:numCache>
                <c:formatCode>General</c:formatCode>
                <c:ptCount val="4"/>
                <c:pt idx="0">
                  <c:v>20</c:v>
                </c:pt>
                <c:pt idx="1">
                  <c:v>50</c:v>
                </c:pt>
              </c:numCache>
            </c:numRef>
          </c:val>
          <c:extLst>
            <c:ext xmlns:c16="http://schemas.microsoft.com/office/drawing/2014/chart" uri="{C3380CC4-5D6E-409C-BE32-E72D297353CC}">
              <c16:uniqueId val="{00000000-1581-46C6-8770-95FEC814A4AD}"/>
            </c:ext>
          </c:extLst>
        </c:ser>
        <c:dLbls>
          <c:showLegendKey val="0"/>
          <c:showVal val="0"/>
          <c:showCatName val="0"/>
          <c:showSerName val="0"/>
          <c:showPercent val="0"/>
          <c:showBubbleSize val="0"/>
          <c:showLeaderLines val="1"/>
        </c:dLbls>
        <c:firstSliceAng val="232"/>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accent3"/>
                </a:solidFill>
                <a:latin typeface="+mn-lt"/>
                <a:ea typeface="+mn-ea"/>
                <a:cs typeface="+mn-cs"/>
              </a:defRPr>
            </a:pPr>
            <a:r>
              <a:rPr lang="en-US" sz="1400" b="1" baseline="0" dirty="0">
                <a:solidFill>
                  <a:srgbClr val="002060"/>
                </a:solidFill>
              </a:rPr>
              <a:t>100%</a:t>
            </a:r>
          </a:p>
        </c:rich>
      </c:tx>
      <c:layout>
        <c:manualLayout>
          <c:xMode val="edge"/>
          <c:yMode val="edge"/>
          <c:x val="0.37688036875540876"/>
          <c:y val="0.53622682540229127"/>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accent3"/>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spPr>
            <a:solidFill>
              <a:srgbClr val="002060"/>
            </a:solidFill>
            <a:ln>
              <a:noFill/>
            </a:ln>
          </c:spPr>
          <c:dPt>
            <c:idx val="0"/>
            <c:bubble3D val="0"/>
            <c:spPr>
              <a:solidFill>
                <a:srgbClr val="002060"/>
              </a:solidFill>
              <a:ln w="19050">
                <a:noFill/>
              </a:ln>
              <a:effectLst/>
            </c:spPr>
            <c:extLst>
              <c:ext xmlns:c16="http://schemas.microsoft.com/office/drawing/2014/chart" uri="{C3380CC4-5D6E-409C-BE32-E72D297353CC}">
                <c16:uniqueId val="{00000001-1AB8-4A76-983E-1EA4E4B9DC19}"/>
              </c:ext>
            </c:extLst>
          </c:dPt>
          <c:dPt>
            <c:idx val="1"/>
            <c:bubble3D val="0"/>
            <c:spPr>
              <a:solidFill>
                <a:srgbClr val="002060"/>
              </a:solidFill>
              <a:ln w="19050">
                <a:noFill/>
              </a:ln>
              <a:effectLst/>
            </c:spPr>
            <c:extLst>
              <c:ext xmlns:c16="http://schemas.microsoft.com/office/drawing/2014/chart" uri="{C3380CC4-5D6E-409C-BE32-E72D297353CC}">
                <c16:uniqueId val="{00000003-1AB8-4A76-983E-1EA4E4B9DC19}"/>
              </c:ext>
            </c:extLst>
          </c:dPt>
          <c:dPt>
            <c:idx val="2"/>
            <c:bubble3D val="0"/>
            <c:spPr>
              <a:solidFill>
                <a:srgbClr val="002060"/>
              </a:solidFill>
              <a:ln w="19050">
                <a:noFill/>
              </a:ln>
              <a:effectLst/>
            </c:spPr>
            <c:extLst>
              <c:ext xmlns:c16="http://schemas.microsoft.com/office/drawing/2014/chart" uri="{C3380CC4-5D6E-409C-BE32-E72D297353CC}">
                <c16:uniqueId val="{00000005-1AB8-4A76-983E-1EA4E4B9DC19}"/>
              </c:ext>
            </c:extLst>
          </c:dPt>
          <c:dPt>
            <c:idx val="3"/>
            <c:bubble3D val="0"/>
            <c:spPr>
              <a:solidFill>
                <a:srgbClr val="002060"/>
              </a:solidFill>
              <a:ln w="19050">
                <a:noFill/>
              </a:ln>
              <a:effectLst/>
            </c:spPr>
            <c:extLst>
              <c:ext xmlns:c16="http://schemas.microsoft.com/office/drawing/2014/chart" uri="{C3380CC4-5D6E-409C-BE32-E72D297353CC}">
                <c16:uniqueId val="{00000007-1AB8-4A76-983E-1EA4E4B9DC19}"/>
              </c:ext>
            </c:extLst>
          </c:dPt>
          <c:cat>
            <c:strRef>
              <c:f>Sheet1!$A$2:$A$5</c:f>
              <c:strCache>
                <c:ptCount val="2"/>
                <c:pt idx="0">
                  <c:v>1st Qtr</c:v>
                </c:pt>
                <c:pt idx="1">
                  <c:v>2nd Qtr</c:v>
                </c:pt>
              </c:strCache>
            </c:strRef>
          </c:cat>
          <c:val>
            <c:numRef>
              <c:f>Sheet1!$B$2:$B$5</c:f>
              <c:numCache>
                <c:formatCode>General</c:formatCode>
                <c:ptCount val="4"/>
                <c:pt idx="0">
                  <c:v>0</c:v>
                </c:pt>
                <c:pt idx="1">
                  <c:v>100</c:v>
                </c:pt>
              </c:numCache>
            </c:numRef>
          </c:val>
          <c:extLst>
            <c:ext xmlns:c16="http://schemas.microsoft.com/office/drawing/2014/chart" uri="{C3380CC4-5D6E-409C-BE32-E72D297353CC}">
              <c16:uniqueId val="{00000008-1AB8-4A76-983E-1EA4E4B9DC19}"/>
            </c:ext>
          </c:extLst>
        </c:ser>
        <c:dLbls>
          <c:showLegendKey val="0"/>
          <c:showVal val="0"/>
          <c:showCatName val="0"/>
          <c:showSerName val="0"/>
          <c:showPercent val="0"/>
          <c:showBubbleSize val="0"/>
          <c:showLeaderLines val="1"/>
        </c:dLbls>
        <c:firstSliceAng val="53"/>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r>
              <a:rPr lang="en-US" sz="1400" b="1" baseline="0" dirty="0">
                <a:solidFill>
                  <a:srgbClr val="002060"/>
                </a:solidFill>
              </a:rPr>
              <a:t>Hourly</a:t>
            </a:r>
          </a:p>
        </c:rich>
      </c:tx>
      <c:layout>
        <c:manualLayout>
          <c:xMode val="edge"/>
          <c:yMode val="edge"/>
          <c:x val="0.37688036875540876"/>
          <c:y val="0.53622682540229127"/>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spPr>
            <a:solidFill>
              <a:srgbClr val="002060"/>
            </a:solidFill>
            <a:ln>
              <a:noFill/>
            </a:ln>
          </c:spPr>
          <c:dPt>
            <c:idx val="0"/>
            <c:bubble3D val="0"/>
            <c:spPr>
              <a:solidFill>
                <a:srgbClr val="002060"/>
              </a:solidFill>
              <a:ln w="19050">
                <a:noFill/>
              </a:ln>
              <a:effectLst/>
            </c:spPr>
            <c:extLst>
              <c:ext xmlns:c16="http://schemas.microsoft.com/office/drawing/2014/chart" uri="{C3380CC4-5D6E-409C-BE32-E72D297353CC}">
                <c16:uniqueId val="{00000001-7D6B-4A8A-A5F5-B32E1779932F}"/>
              </c:ext>
            </c:extLst>
          </c:dPt>
          <c:dPt>
            <c:idx val="1"/>
            <c:bubble3D val="0"/>
            <c:spPr>
              <a:solidFill>
                <a:srgbClr val="002060"/>
              </a:solidFill>
              <a:ln w="19050">
                <a:noFill/>
              </a:ln>
              <a:effectLst/>
            </c:spPr>
            <c:extLst>
              <c:ext xmlns:c16="http://schemas.microsoft.com/office/drawing/2014/chart" uri="{C3380CC4-5D6E-409C-BE32-E72D297353CC}">
                <c16:uniqueId val="{00000003-7D6B-4A8A-A5F5-B32E1779932F}"/>
              </c:ext>
            </c:extLst>
          </c:dPt>
          <c:dPt>
            <c:idx val="2"/>
            <c:bubble3D val="0"/>
            <c:spPr>
              <a:solidFill>
                <a:srgbClr val="002060"/>
              </a:solidFill>
              <a:ln w="19050">
                <a:noFill/>
              </a:ln>
              <a:effectLst/>
            </c:spPr>
            <c:extLst>
              <c:ext xmlns:c16="http://schemas.microsoft.com/office/drawing/2014/chart" uri="{C3380CC4-5D6E-409C-BE32-E72D297353CC}">
                <c16:uniqueId val="{00000005-7D6B-4A8A-A5F5-B32E1779932F}"/>
              </c:ext>
            </c:extLst>
          </c:dPt>
          <c:dPt>
            <c:idx val="3"/>
            <c:bubble3D val="0"/>
            <c:spPr>
              <a:solidFill>
                <a:srgbClr val="002060"/>
              </a:solidFill>
              <a:ln w="19050">
                <a:noFill/>
              </a:ln>
              <a:effectLst/>
            </c:spPr>
            <c:extLst>
              <c:ext xmlns:c16="http://schemas.microsoft.com/office/drawing/2014/chart" uri="{C3380CC4-5D6E-409C-BE32-E72D297353CC}">
                <c16:uniqueId val="{00000007-7D6B-4A8A-A5F5-B32E1779932F}"/>
              </c:ext>
            </c:extLst>
          </c:dPt>
          <c:cat>
            <c:strRef>
              <c:f>Sheet1!$A$2:$A$5</c:f>
              <c:strCache>
                <c:ptCount val="2"/>
                <c:pt idx="0">
                  <c:v>1st Qtr</c:v>
                </c:pt>
                <c:pt idx="1">
                  <c:v>2nd Qtr</c:v>
                </c:pt>
              </c:strCache>
            </c:strRef>
          </c:cat>
          <c:val>
            <c:numRef>
              <c:f>Sheet1!$B$2:$B$5</c:f>
              <c:numCache>
                <c:formatCode>General</c:formatCode>
                <c:ptCount val="4"/>
                <c:pt idx="0">
                  <c:v>8.1999999999999993</c:v>
                </c:pt>
                <c:pt idx="1">
                  <c:v>1</c:v>
                </c:pt>
              </c:numCache>
            </c:numRef>
          </c:val>
          <c:extLst>
            <c:ext xmlns:c16="http://schemas.microsoft.com/office/drawing/2014/chart" uri="{C3380CC4-5D6E-409C-BE32-E72D297353CC}">
              <c16:uniqueId val="{00000008-7D6B-4A8A-A5F5-B32E1779932F}"/>
            </c:ext>
          </c:extLst>
        </c:ser>
        <c:dLbls>
          <c:showLegendKey val="0"/>
          <c:showVal val="0"/>
          <c:showCatName val="0"/>
          <c:showSerName val="0"/>
          <c:showPercent val="0"/>
          <c:showBubbleSize val="0"/>
          <c:showLeaderLines val="1"/>
        </c:dLbls>
        <c:firstSliceAng val="53"/>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Franklin Gothic Medium" panose="020B06030201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BD7333-DD87-4773-BED3-E2892A4094EE}" type="datetimeFigureOut">
              <a:rPr lang="en-US" smtClean="0">
                <a:latin typeface="Franklin Gothic Medium" panose="020B0603020102020204" pitchFamily="34" charset="0"/>
              </a:rPr>
              <a:t>4/7/23</a:t>
            </a:fld>
            <a:endParaRPr lang="en-US" dirty="0">
              <a:latin typeface="Franklin Gothic Medium" panose="020B06030201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Franklin Gothic Medium" panose="020B06030201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A0E21C-7E3E-40C1-A5B4-152F0F11E190}" type="slidenum">
              <a:rPr lang="en-US" smtClean="0">
                <a:latin typeface="Franklin Gothic Medium" panose="020B0603020102020204" pitchFamily="34" charset="0"/>
              </a:rPr>
              <a:t>‹#›</a:t>
            </a:fld>
            <a:endParaRPr lang="en-US" dirty="0">
              <a:latin typeface="Franklin Gothic Medium" panose="020B0603020102020204" pitchFamily="34" charset="0"/>
            </a:endParaRPr>
          </a:p>
        </p:txBody>
      </p:sp>
    </p:spTree>
    <p:extLst>
      <p:ext uri="{BB962C8B-B14F-4D97-AF65-F5344CB8AC3E}">
        <p14:creationId xmlns:p14="http://schemas.microsoft.com/office/powerpoint/2010/main" val="163504464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4T23:16:08.617"/>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fld id="{D39D084F-DC83-4EB0-8CED-52E9AA3ECA1C}" type="datetimeFigureOut">
              <a:rPr lang="en-US" smtClean="0"/>
              <a:pPr/>
              <a:t>4/7/23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fld id="{AC157E0A-F321-48DC-AF94-681D4DCF344D}" type="slidenum">
              <a:rPr lang="en-US" smtClean="0"/>
              <a:pPr/>
              <a:t>‹#›</a:t>
            </a:fld>
            <a:endParaRPr lang="en-US" dirty="0"/>
          </a:p>
        </p:txBody>
      </p:sp>
    </p:spTree>
    <p:extLst>
      <p:ext uri="{BB962C8B-B14F-4D97-AF65-F5344CB8AC3E}">
        <p14:creationId xmlns:p14="http://schemas.microsoft.com/office/powerpoint/2010/main" val="379690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457200" algn="l" defTabSz="914400" rtl="0" eaLnBrk="1" latinLnBrk="0" hangingPunct="1">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914400" algn="l" defTabSz="914400" rtl="0" eaLnBrk="1" latinLnBrk="0" hangingPunct="1">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1371600" algn="l" defTabSz="914400" rtl="0" eaLnBrk="1" latinLnBrk="0" hangingPunct="1">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1828800" algn="l" defTabSz="914400" rtl="0" eaLnBrk="1" latinLnBrk="0" hangingPunct="1">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1</a:t>
            </a:fld>
            <a:endParaRPr lang="en-US" dirty="0"/>
          </a:p>
        </p:txBody>
      </p:sp>
    </p:spTree>
    <p:extLst>
      <p:ext uri="{BB962C8B-B14F-4D97-AF65-F5344CB8AC3E}">
        <p14:creationId xmlns:p14="http://schemas.microsoft.com/office/powerpoint/2010/main" val="3777564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1183566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17</a:t>
            </a:fld>
            <a:endParaRPr lang="en-US" dirty="0"/>
          </a:p>
        </p:txBody>
      </p:sp>
    </p:spTree>
    <p:extLst>
      <p:ext uri="{BB962C8B-B14F-4D97-AF65-F5344CB8AC3E}">
        <p14:creationId xmlns:p14="http://schemas.microsoft.com/office/powerpoint/2010/main" val="3423687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21</a:t>
            </a:fld>
            <a:endParaRPr lang="en-US" dirty="0"/>
          </a:p>
        </p:txBody>
      </p:sp>
    </p:spTree>
    <p:extLst>
      <p:ext uri="{BB962C8B-B14F-4D97-AF65-F5344CB8AC3E}">
        <p14:creationId xmlns:p14="http://schemas.microsoft.com/office/powerpoint/2010/main" val="2646570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23</a:t>
            </a:fld>
            <a:endParaRPr lang="en-US" dirty="0"/>
          </a:p>
        </p:txBody>
      </p:sp>
    </p:spTree>
    <p:extLst>
      <p:ext uri="{BB962C8B-B14F-4D97-AF65-F5344CB8AC3E}">
        <p14:creationId xmlns:p14="http://schemas.microsoft.com/office/powerpoint/2010/main" val="45871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25</a:t>
            </a:fld>
            <a:endParaRPr lang="en-US" dirty="0"/>
          </a:p>
        </p:txBody>
      </p:sp>
    </p:spTree>
    <p:extLst>
      <p:ext uri="{BB962C8B-B14F-4D97-AF65-F5344CB8AC3E}">
        <p14:creationId xmlns:p14="http://schemas.microsoft.com/office/powerpoint/2010/main" val="3699278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27</a:t>
            </a:fld>
            <a:endParaRPr lang="en-US" dirty="0"/>
          </a:p>
        </p:txBody>
      </p:sp>
    </p:spTree>
    <p:extLst>
      <p:ext uri="{BB962C8B-B14F-4D97-AF65-F5344CB8AC3E}">
        <p14:creationId xmlns:p14="http://schemas.microsoft.com/office/powerpoint/2010/main" val="1238396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29</a:t>
            </a:fld>
            <a:endParaRPr lang="en-US" dirty="0"/>
          </a:p>
        </p:txBody>
      </p:sp>
    </p:spTree>
    <p:extLst>
      <p:ext uri="{BB962C8B-B14F-4D97-AF65-F5344CB8AC3E}">
        <p14:creationId xmlns:p14="http://schemas.microsoft.com/office/powerpoint/2010/main" val="306093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30</a:t>
            </a:fld>
            <a:endParaRPr lang="en-US" dirty="0"/>
          </a:p>
        </p:txBody>
      </p:sp>
    </p:spTree>
    <p:extLst>
      <p:ext uri="{BB962C8B-B14F-4D97-AF65-F5344CB8AC3E}">
        <p14:creationId xmlns:p14="http://schemas.microsoft.com/office/powerpoint/2010/main" val="1700876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31</a:t>
            </a:fld>
            <a:endParaRPr lang="en-US" dirty="0"/>
          </a:p>
        </p:txBody>
      </p:sp>
    </p:spTree>
    <p:extLst>
      <p:ext uri="{BB962C8B-B14F-4D97-AF65-F5344CB8AC3E}">
        <p14:creationId xmlns:p14="http://schemas.microsoft.com/office/powerpoint/2010/main" val="104279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34</a:t>
            </a:fld>
            <a:endParaRPr lang="en-US" dirty="0"/>
          </a:p>
        </p:txBody>
      </p:sp>
    </p:spTree>
    <p:extLst>
      <p:ext uri="{BB962C8B-B14F-4D97-AF65-F5344CB8AC3E}">
        <p14:creationId xmlns:p14="http://schemas.microsoft.com/office/powerpoint/2010/main" val="2587866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39</a:t>
            </a:fld>
            <a:endParaRPr lang="en-US" dirty="0"/>
          </a:p>
        </p:txBody>
      </p:sp>
    </p:spTree>
    <p:extLst>
      <p:ext uri="{BB962C8B-B14F-4D97-AF65-F5344CB8AC3E}">
        <p14:creationId xmlns:p14="http://schemas.microsoft.com/office/powerpoint/2010/main" val="35727187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42</a:t>
            </a:fld>
            <a:endParaRPr lang="en-US" dirty="0"/>
          </a:p>
        </p:txBody>
      </p:sp>
    </p:spTree>
    <p:extLst>
      <p:ext uri="{BB962C8B-B14F-4D97-AF65-F5344CB8AC3E}">
        <p14:creationId xmlns:p14="http://schemas.microsoft.com/office/powerpoint/2010/main" val="17569929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45</a:t>
            </a:fld>
            <a:endParaRPr lang="en-US" dirty="0"/>
          </a:p>
        </p:txBody>
      </p:sp>
    </p:spTree>
    <p:extLst>
      <p:ext uri="{BB962C8B-B14F-4D97-AF65-F5344CB8AC3E}">
        <p14:creationId xmlns:p14="http://schemas.microsoft.com/office/powerpoint/2010/main" val="2401508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48</a:t>
            </a:fld>
            <a:endParaRPr lang="en-US" dirty="0"/>
          </a:p>
        </p:txBody>
      </p:sp>
    </p:spTree>
    <p:extLst>
      <p:ext uri="{BB962C8B-B14F-4D97-AF65-F5344CB8AC3E}">
        <p14:creationId xmlns:p14="http://schemas.microsoft.com/office/powerpoint/2010/main" val="23933187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51</a:t>
            </a:fld>
            <a:endParaRPr lang="en-US" dirty="0"/>
          </a:p>
        </p:txBody>
      </p:sp>
    </p:spTree>
    <p:extLst>
      <p:ext uri="{BB962C8B-B14F-4D97-AF65-F5344CB8AC3E}">
        <p14:creationId xmlns:p14="http://schemas.microsoft.com/office/powerpoint/2010/main" val="1544529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54</a:t>
            </a:fld>
            <a:endParaRPr lang="en-US" dirty="0"/>
          </a:p>
        </p:txBody>
      </p:sp>
    </p:spTree>
    <p:extLst>
      <p:ext uri="{BB962C8B-B14F-4D97-AF65-F5344CB8AC3E}">
        <p14:creationId xmlns:p14="http://schemas.microsoft.com/office/powerpoint/2010/main" val="10517879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57</a:t>
            </a:fld>
            <a:endParaRPr lang="en-US" dirty="0"/>
          </a:p>
        </p:txBody>
      </p:sp>
    </p:spTree>
    <p:extLst>
      <p:ext uri="{BB962C8B-B14F-4D97-AF65-F5344CB8AC3E}">
        <p14:creationId xmlns:p14="http://schemas.microsoft.com/office/powerpoint/2010/main" val="39605874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61</a:t>
            </a:fld>
            <a:endParaRPr lang="en-US" dirty="0"/>
          </a:p>
        </p:txBody>
      </p:sp>
    </p:spTree>
    <p:extLst>
      <p:ext uri="{BB962C8B-B14F-4D97-AF65-F5344CB8AC3E}">
        <p14:creationId xmlns:p14="http://schemas.microsoft.com/office/powerpoint/2010/main" val="9983082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65</a:t>
            </a:fld>
            <a:endParaRPr lang="en-US" dirty="0"/>
          </a:p>
        </p:txBody>
      </p:sp>
    </p:spTree>
    <p:extLst>
      <p:ext uri="{BB962C8B-B14F-4D97-AF65-F5344CB8AC3E}">
        <p14:creationId xmlns:p14="http://schemas.microsoft.com/office/powerpoint/2010/main" val="27677575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70</a:t>
            </a:fld>
            <a:endParaRPr lang="en-US" dirty="0"/>
          </a:p>
        </p:txBody>
      </p:sp>
    </p:spTree>
    <p:extLst>
      <p:ext uri="{BB962C8B-B14F-4D97-AF65-F5344CB8AC3E}">
        <p14:creationId xmlns:p14="http://schemas.microsoft.com/office/powerpoint/2010/main" val="23781927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73</a:t>
            </a:fld>
            <a:endParaRPr lang="en-US" dirty="0"/>
          </a:p>
        </p:txBody>
      </p:sp>
    </p:spTree>
    <p:extLst>
      <p:ext uri="{BB962C8B-B14F-4D97-AF65-F5344CB8AC3E}">
        <p14:creationId xmlns:p14="http://schemas.microsoft.com/office/powerpoint/2010/main" val="22886606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77</a:t>
            </a:fld>
            <a:endParaRPr lang="en-US" dirty="0"/>
          </a:p>
        </p:txBody>
      </p:sp>
    </p:spTree>
    <p:extLst>
      <p:ext uri="{BB962C8B-B14F-4D97-AF65-F5344CB8AC3E}">
        <p14:creationId xmlns:p14="http://schemas.microsoft.com/office/powerpoint/2010/main" val="6304833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81</a:t>
            </a:fld>
            <a:endParaRPr lang="en-US" dirty="0"/>
          </a:p>
        </p:txBody>
      </p:sp>
    </p:spTree>
    <p:extLst>
      <p:ext uri="{BB962C8B-B14F-4D97-AF65-F5344CB8AC3E}">
        <p14:creationId xmlns:p14="http://schemas.microsoft.com/office/powerpoint/2010/main" val="36352129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86</a:t>
            </a:fld>
            <a:endParaRPr lang="en-US" dirty="0"/>
          </a:p>
        </p:txBody>
      </p:sp>
    </p:spTree>
    <p:extLst>
      <p:ext uri="{BB962C8B-B14F-4D97-AF65-F5344CB8AC3E}">
        <p14:creationId xmlns:p14="http://schemas.microsoft.com/office/powerpoint/2010/main" val="382098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90</a:t>
            </a:fld>
            <a:endParaRPr lang="en-US" dirty="0"/>
          </a:p>
        </p:txBody>
      </p:sp>
    </p:spTree>
    <p:extLst>
      <p:ext uri="{BB962C8B-B14F-4D97-AF65-F5344CB8AC3E}">
        <p14:creationId xmlns:p14="http://schemas.microsoft.com/office/powerpoint/2010/main" val="33980969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94</a:t>
            </a:fld>
            <a:endParaRPr lang="en-US" dirty="0"/>
          </a:p>
        </p:txBody>
      </p:sp>
    </p:spTree>
    <p:extLst>
      <p:ext uri="{BB962C8B-B14F-4D97-AF65-F5344CB8AC3E}">
        <p14:creationId xmlns:p14="http://schemas.microsoft.com/office/powerpoint/2010/main" val="28824383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97</a:t>
            </a:fld>
            <a:endParaRPr lang="en-US" dirty="0"/>
          </a:p>
        </p:txBody>
      </p:sp>
    </p:spTree>
    <p:extLst>
      <p:ext uri="{BB962C8B-B14F-4D97-AF65-F5344CB8AC3E}">
        <p14:creationId xmlns:p14="http://schemas.microsoft.com/office/powerpoint/2010/main" val="9467162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100</a:t>
            </a:fld>
            <a:endParaRPr lang="en-US" dirty="0"/>
          </a:p>
        </p:txBody>
      </p:sp>
    </p:spTree>
    <p:extLst>
      <p:ext uri="{BB962C8B-B14F-4D97-AF65-F5344CB8AC3E}">
        <p14:creationId xmlns:p14="http://schemas.microsoft.com/office/powerpoint/2010/main" val="20400076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104</a:t>
            </a:fld>
            <a:endParaRPr lang="en-US" dirty="0"/>
          </a:p>
        </p:txBody>
      </p:sp>
    </p:spTree>
    <p:extLst>
      <p:ext uri="{BB962C8B-B14F-4D97-AF65-F5344CB8AC3E}">
        <p14:creationId xmlns:p14="http://schemas.microsoft.com/office/powerpoint/2010/main" val="94724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107</a:t>
            </a:fld>
            <a:endPar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6049308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32706133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2.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xml"/><Relationship Id="rId1" Type="http://schemas.openxmlformats.org/officeDocument/2006/relationships/tags" Target="../tags/tag13.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2.xml"/><Relationship Id="rId1" Type="http://schemas.openxmlformats.org/officeDocument/2006/relationships/tags" Target="../tags/tag14.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18.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19.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20.xml"/><Relationship Id="rId5" Type="http://schemas.openxmlformats.org/officeDocument/2006/relationships/image" Target="../media/image4.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0_Cover">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9B4C446-2D8D-1D11-CD92-343462023C19}"/>
              </a:ext>
            </a:extLst>
          </p:cNvPr>
          <p:cNvGraphicFramePr>
            <a:graphicFrameLocks noChangeAspect="1"/>
          </p:cNvGraphicFramePr>
          <p:nvPr userDrawn="1">
            <p:custDataLst>
              <p:tags r:id="rId1"/>
            </p:custDataLst>
            <p:extLst>
              <p:ext uri="{D42A27DB-BD31-4B8C-83A1-F6EECF244321}">
                <p14:modId xmlns:p14="http://schemas.microsoft.com/office/powerpoint/2010/main" val="2326538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3" imgW="7772400" imgH="10058400" progId="TCLayout.ActiveDocument.1">
                  <p:embed/>
                </p:oleObj>
              </mc:Choice>
              <mc:Fallback>
                <p:oleObj name="Diapositiva de think-cell" r:id="rId3" imgW="7772400" imgH="10058400" progId="TCLayout.ActiveDocument.1">
                  <p:embed/>
                  <p:pic>
                    <p:nvPicPr>
                      <p:cNvPr id="2" name="Object 1" hidden="1">
                        <a:extLst>
                          <a:ext uri="{FF2B5EF4-FFF2-40B4-BE49-F238E27FC236}">
                            <a16:creationId xmlns:a16="http://schemas.microsoft.com/office/drawing/2014/main" id="{99B4C446-2D8D-1D11-CD92-343462023C1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Text Placeholder 8">
            <a:extLst>
              <a:ext uri="{FF2B5EF4-FFF2-40B4-BE49-F238E27FC236}">
                <a16:creationId xmlns:a16="http://schemas.microsoft.com/office/drawing/2014/main" id="{4697F97E-5ED0-44CE-8BF2-B61FF13412B3}"/>
              </a:ext>
            </a:extLst>
          </p:cNvPr>
          <p:cNvSpPr>
            <a:spLocks noGrp="1"/>
          </p:cNvSpPr>
          <p:nvPr>
            <p:ph type="body" sz="quarter" idx="14" hasCustomPrompt="1"/>
          </p:nvPr>
        </p:nvSpPr>
        <p:spPr>
          <a:xfrm>
            <a:off x="5678694" y="1520825"/>
            <a:ext cx="4727903" cy="1154074"/>
          </a:xfrm>
          <a:prstGeom prst="rect">
            <a:avLst/>
          </a:prstGeom>
        </p:spPr>
        <p:txBody>
          <a:bodyPr anchor="b"/>
          <a:lstStyle>
            <a:lvl1pPr algn="l">
              <a:lnSpc>
                <a:spcPct val="80000"/>
              </a:lnSpc>
              <a:spcBef>
                <a:spcPts val="0"/>
              </a:spcBef>
              <a:spcAft>
                <a:spcPts val="0"/>
              </a:spcAft>
              <a:defRPr sz="4400" b="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Click to edit master file</a:t>
            </a:r>
          </a:p>
        </p:txBody>
      </p:sp>
      <p:sp>
        <p:nvSpPr>
          <p:cNvPr id="29" name="Text Placeholder 6">
            <a:extLst>
              <a:ext uri="{FF2B5EF4-FFF2-40B4-BE49-F238E27FC236}">
                <a16:creationId xmlns:a16="http://schemas.microsoft.com/office/drawing/2014/main" id="{B56F6AFB-C491-4255-BEAD-ED366A6A08DC}"/>
              </a:ext>
            </a:extLst>
          </p:cNvPr>
          <p:cNvSpPr>
            <a:spLocks noGrp="1"/>
          </p:cNvSpPr>
          <p:nvPr>
            <p:ph type="body" sz="quarter" idx="15" hasCustomPrompt="1"/>
          </p:nvPr>
        </p:nvSpPr>
        <p:spPr>
          <a:xfrm>
            <a:off x="5683577" y="3165688"/>
            <a:ext cx="4727903" cy="466756"/>
          </a:xfrm>
          <a:prstGeom prst="rect">
            <a:avLst/>
          </a:prstGeom>
        </p:spPr>
        <p:txBody>
          <a:bodyPr/>
          <a:lstStyle>
            <a:lvl1pPr>
              <a:lnSpc>
                <a:spcPct val="80000"/>
              </a:lnSpc>
              <a:spcAft>
                <a:spcPts val="0"/>
              </a:spcAft>
              <a:defRPr sz="2400" b="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Click to edit master subtitle style</a:t>
            </a:r>
          </a:p>
        </p:txBody>
      </p:sp>
      <p:sp>
        <p:nvSpPr>
          <p:cNvPr id="4" name="Picture Placeholder 2">
            <a:extLst>
              <a:ext uri="{FF2B5EF4-FFF2-40B4-BE49-F238E27FC236}">
                <a16:creationId xmlns:a16="http://schemas.microsoft.com/office/drawing/2014/main" id="{30B82A15-2C6E-69D3-B787-949A464553E6}"/>
              </a:ext>
            </a:extLst>
          </p:cNvPr>
          <p:cNvSpPr>
            <a:spLocks noGrp="1"/>
          </p:cNvSpPr>
          <p:nvPr>
            <p:ph type="pic" sz="quarter" idx="13" hasCustomPrompt="1"/>
          </p:nvPr>
        </p:nvSpPr>
        <p:spPr>
          <a:xfrm>
            <a:off x="0" y="0"/>
            <a:ext cx="5351929" cy="6858000"/>
          </a:xfrm>
          <a:solidFill>
            <a:schemeClr val="accent1"/>
          </a:solidFill>
        </p:spPr>
        <p:txBody>
          <a:bodyPr anchor="ctr"/>
          <a:lstStyle>
            <a:lvl1pPr algn="ctr">
              <a:defRPr sz="180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Image</a:t>
            </a:r>
          </a:p>
        </p:txBody>
      </p:sp>
      <p:cxnSp>
        <p:nvCxnSpPr>
          <p:cNvPr id="7" name="Conector recto 6">
            <a:extLst>
              <a:ext uri="{FF2B5EF4-FFF2-40B4-BE49-F238E27FC236}">
                <a16:creationId xmlns:a16="http://schemas.microsoft.com/office/drawing/2014/main" id="{4CF7FCF0-F776-C2C9-4803-DA8D43688946}"/>
              </a:ext>
            </a:extLst>
          </p:cNvPr>
          <p:cNvCxnSpPr>
            <a:cxnSpLocks/>
          </p:cNvCxnSpPr>
          <p:nvPr userDrawn="1"/>
        </p:nvCxnSpPr>
        <p:spPr>
          <a:xfrm>
            <a:off x="5683577" y="2913529"/>
            <a:ext cx="4631580"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32" name="Rectangle 104">
            <a:extLst>
              <a:ext uri="{FF2B5EF4-FFF2-40B4-BE49-F238E27FC236}">
                <a16:creationId xmlns:a16="http://schemas.microsoft.com/office/drawing/2014/main" id="{FFE04BA0-A5F1-E5DE-52DC-63A51535E8A2}"/>
              </a:ext>
            </a:extLst>
          </p:cNvPr>
          <p:cNvSpPr/>
          <p:nvPr userDrawn="1"/>
        </p:nvSpPr>
        <p:spPr>
          <a:xfrm>
            <a:off x="5273072" y="1520826"/>
            <a:ext cx="159540" cy="1154074"/>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2206955647"/>
      </p:ext>
    </p:extLst>
  </p:cSld>
  <p:clrMapOvr>
    <a:masterClrMapping/>
  </p:clrMapOvr>
  <p:extLst>
    <p:ext uri="{DCECCB84-F9BA-43D5-87BE-67443E8EF086}">
      <p15:sldGuideLst xmlns:p15="http://schemas.microsoft.com/office/powerpoint/2012/main">
        <p15:guide id="1" pos="3386" userDrawn="1">
          <p15:clr>
            <a:srgbClr val="FBAE40"/>
          </p15:clr>
        </p15:guide>
        <p15:guide id="2" pos="3568" userDrawn="1">
          <p15:clr>
            <a:srgbClr val="FBAE40"/>
          </p15:clr>
        </p15:guide>
        <p15:guide id="3" pos="318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1305037196"/>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2" name="Footer Placeholder 5">
            <a:extLst>
              <a:ext uri="{FF2B5EF4-FFF2-40B4-BE49-F238E27FC236}">
                <a16:creationId xmlns:a16="http://schemas.microsoft.com/office/drawing/2014/main" id="{0AE24EED-ECF9-F8B6-E75D-D641EDC0DA15}"/>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dirty="0"/>
              <a:t>Source:_______</a:t>
            </a:r>
          </a:p>
        </p:txBody>
      </p:sp>
    </p:spTree>
    <p:extLst>
      <p:ext uri="{BB962C8B-B14F-4D97-AF65-F5344CB8AC3E}">
        <p14:creationId xmlns:p14="http://schemas.microsoft.com/office/powerpoint/2010/main" val="393134919"/>
      </p:ext>
    </p:extLst>
  </p:cSld>
  <p:clrMapOvr>
    <a:masterClrMapping/>
  </p:clrMapOvr>
  <p:extLst>
    <p:ext uri="{DCECCB84-F9BA-43D5-87BE-67443E8EF086}">
      <p15:sldGuideLst xmlns:p15="http://schemas.microsoft.com/office/powerpoint/2012/main">
        <p15:guide id="1" pos="3840" userDrawn="1">
          <p15:clr>
            <a:srgbClr val="FBAE40"/>
          </p15:clr>
        </p15:guide>
        <p15:guide id="2" pos="3885" userDrawn="1">
          <p15:clr>
            <a:srgbClr val="FBAE40"/>
          </p15:clr>
        </p15:guide>
        <p15:guide id="3" pos="3795"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OK_Overview">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466269002"/>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19" name="Marcador de texto 6">
            <a:extLst>
              <a:ext uri="{FF2B5EF4-FFF2-40B4-BE49-F238E27FC236}">
                <a16:creationId xmlns:a16="http://schemas.microsoft.com/office/drawing/2014/main" id="{62B3CFBF-B477-C879-85F6-43142EC5078F}"/>
              </a:ext>
            </a:extLst>
          </p:cNvPr>
          <p:cNvSpPr>
            <a:spLocks noGrp="1"/>
          </p:cNvSpPr>
          <p:nvPr>
            <p:ph type="body" sz="quarter" idx="18"/>
          </p:nvPr>
        </p:nvSpPr>
        <p:spPr>
          <a:xfrm>
            <a:off x="2206668" y="1155517"/>
            <a:ext cx="9613857" cy="576263"/>
          </a:xfrm>
          <a:noFill/>
        </p:spPr>
        <p:txBody>
          <a:bodyPr anchor="t">
            <a:noAutofit/>
          </a:bodyPr>
          <a:lstStyle>
            <a:lvl1pPr marL="177800" indent="-177800" rtl="0">
              <a:lnSpc>
                <a:spcPct val="100000"/>
              </a:lnSpc>
              <a:spcBef>
                <a:spcPts val="300"/>
              </a:spcBef>
              <a:spcAft>
                <a:spcPts val="0"/>
              </a:spcAft>
              <a:buFont typeface="Arial" panose="020B0604020202020204" pitchFamily="34" charset="0"/>
              <a:buChar char="•"/>
              <a:defRPr sz="1100" b="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endParaRPr lang="en-US" noProof="0" dirty="0"/>
          </a:p>
        </p:txBody>
      </p:sp>
      <p:sp>
        <p:nvSpPr>
          <p:cNvPr id="20" name="Marcador de texto 6">
            <a:extLst>
              <a:ext uri="{FF2B5EF4-FFF2-40B4-BE49-F238E27FC236}">
                <a16:creationId xmlns:a16="http://schemas.microsoft.com/office/drawing/2014/main" id="{345760BB-AE6A-F937-F9DE-DC9B2817D30F}"/>
              </a:ext>
            </a:extLst>
          </p:cNvPr>
          <p:cNvSpPr>
            <a:spLocks noGrp="1"/>
          </p:cNvSpPr>
          <p:nvPr>
            <p:ph type="body" sz="quarter" idx="19"/>
          </p:nvPr>
        </p:nvSpPr>
        <p:spPr>
          <a:xfrm>
            <a:off x="2206668" y="1828800"/>
            <a:ext cx="9613857" cy="2303273"/>
          </a:xfrm>
          <a:noFill/>
        </p:spPr>
        <p:txBody>
          <a:bodyPr anchor="t">
            <a:noAutofit/>
          </a:bodyPr>
          <a:lstStyle>
            <a:lvl1pPr marL="177800" indent="-177800" rtl="0">
              <a:lnSpc>
                <a:spcPct val="100000"/>
              </a:lnSpc>
              <a:spcBef>
                <a:spcPts val="400"/>
              </a:spcBef>
              <a:spcAft>
                <a:spcPts val="0"/>
              </a:spcAft>
              <a:buFont typeface="Arial" panose="020B0604020202020204" pitchFamily="34" charset="0"/>
              <a:buChar char="•"/>
              <a:defRPr sz="1100" b="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endParaRPr lang="en-US" noProof="0" dirty="0"/>
          </a:p>
        </p:txBody>
      </p:sp>
      <p:sp>
        <p:nvSpPr>
          <p:cNvPr id="21" name="Marcador de texto 6">
            <a:extLst>
              <a:ext uri="{FF2B5EF4-FFF2-40B4-BE49-F238E27FC236}">
                <a16:creationId xmlns:a16="http://schemas.microsoft.com/office/drawing/2014/main" id="{AEC3F4F3-98C1-FF87-F1A5-C0B0D17FA25C}"/>
              </a:ext>
            </a:extLst>
          </p:cNvPr>
          <p:cNvSpPr>
            <a:spLocks noGrp="1"/>
          </p:cNvSpPr>
          <p:nvPr>
            <p:ph type="body" sz="quarter" idx="20"/>
          </p:nvPr>
        </p:nvSpPr>
        <p:spPr>
          <a:xfrm>
            <a:off x="2206668" y="4229093"/>
            <a:ext cx="9613857" cy="2079633"/>
          </a:xfrm>
          <a:noFill/>
        </p:spPr>
        <p:txBody>
          <a:bodyPr anchor="t">
            <a:noAutofit/>
          </a:bodyPr>
          <a:lstStyle>
            <a:lvl1pPr marL="228600" indent="-228600" rtl="0">
              <a:lnSpc>
                <a:spcPct val="100000"/>
              </a:lnSpc>
              <a:spcBef>
                <a:spcPts val="400"/>
              </a:spcBef>
              <a:spcAft>
                <a:spcPts val="0"/>
              </a:spcAft>
              <a:buFont typeface="+mj-lt"/>
              <a:buAutoNum type="arabicPeriod"/>
              <a:defRPr sz="1100" b="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endParaRPr lang="en-US" noProof="0" dirty="0"/>
          </a:p>
        </p:txBody>
      </p:sp>
      <p:cxnSp>
        <p:nvCxnSpPr>
          <p:cNvPr id="29" name="Conector recto 28">
            <a:extLst>
              <a:ext uri="{FF2B5EF4-FFF2-40B4-BE49-F238E27FC236}">
                <a16:creationId xmlns:a16="http://schemas.microsoft.com/office/drawing/2014/main" id="{69B569BB-D93E-8F15-6289-B701708214ED}"/>
              </a:ext>
            </a:extLst>
          </p:cNvPr>
          <p:cNvCxnSpPr>
            <a:cxnSpLocks/>
          </p:cNvCxnSpPr>
          <p:nvPr userDrawn="1"/>
        </p:nvCxnSpPr>
        <p:spPr>
          <a:xfrm>
            <a:off x="2076866" y="1828801"/>
            <a:ext cx="0" cy="2303272"/>
          </a:xfrm>
          <a:prstGeom prst="line">
            <a:avLst/>
          </a:prstGeom>
          <a:noFill/>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80725077-4B52-A681-D149-28C5E4F94642}"/>
              </a:ext>
            </a:extLst>
          </p:cNvPr>
          <p:cNvCxnSpPr>
            <a:cxnSpLocks/>
          </p:cNvCxnSpPr>
          <p:nvPr userDrawn="1"/>
        </p:nvCxnSpPr>
        <p:spPr>
          <a:xfrm>
            <a:off x="2076866" y="1155517"/>
            <a:ext cx="0" cy="57626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6399A42A-92BD-B986-0200-8F47A675AA53}"/>
              </a:ext>
            </a:extLst>
          </p:cNvPr>
          <p:cNvCxnSpPr>
            <a:cxnSpLocks/>
          </p:cNvCxnSpPr>
          <p:nvPr userDrawn="1"/>
        </p:nvCxnSpPr>
        <p:spPr>
          <a:xfrm>
            <a:off x="2076866" y="4229093"/>
            <a:ext cx="0" cy="2079632"/>
          </a:xfrm>
          <a:prstGeom prst="line">
            <a:avLst/>
          </a:prstGeom>
          <a:noFill/>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Straight Connector 34">
            <a:extLst>
              <a:ext uri="{FF2B5EF4-FFF2-40B4-BE49-F238E27FC236}">
                <a16:creationId xmlns:a16="http://schemas.microsoft.com/office/drawing/2014/main" id="{07CD13FB-D375-1568-F3D3-03A729ADB40F}"/>
              </a:ext>
            </a:extLst>
          </p:cNvPr>
          <p:cNvCxnSpPr>
            <a:cxnSpLocks/>
          </p:cNvCxnSpPr>
          <p:nvPr userDrawn="1"/>
        </p:nvCxnSpPr>
        <p:spPr>
          <a:xfrm>
            <a:off x="2190792" y="1780291"/>
            <a:ext cx="9613857"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4">
            <a:extLst>
              <a:ext uri="{FF2B5EF4-FFF2-40B4-BE49-F238E27FC236}">
                <a16:creationId xmlns:a16="http://schemas.microsoft.com/office/drawing/2014/main" id="{E4D939DB-C39C-EA41-B6B7-B1AC3902997A}"/>
              </a:ext>
            </a:extLst>
          </p:cNvPr>
          <p:cNvCxnSpPr>
            <a:cxnSpLocks/>
          </p:cNvCxnSpPr>
          <p:nvPr userDrawn="1"/>
        </p:nvCxnSpPr>
        <p:spPr>
          <a:xfrm>
            <a:off x="2190792" y="4180583"/>
            <a:ext cx="9613857"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Marcador de texto 4">
            <a:extLst>
              <a:ext uri="{FF2B5EF4-FFF2-40B4-BE49-F238E27FC236}">
                <a16:creationId xmlns:a16="http://schemas.microsoft.com/office/drawing/2014/main" id="{B2D9DE78-F741-787A-49F3-BF22745466FA}"/>
              </a:ext>
            </a:extLst>
          </p:cNvPr>
          <p:cNvSpPr txBox="1">
            <a:spLocks/>
          </p:cNvSpPr>
          <p:nvPr userDrawn="1"/>
        </p:nvSpPr>
        <p:spPr>
          <a:xfrm>
            <a:off x="384174" y="1155517"/>
            <a:ext cx="1668515" cy="276999"/>
          </a:xfrm>
          <a:prstGeom prst="rect">
            <a:avLst/>
          </a:prstGeom>
          <a:noFill/>
        </p:spPr>
        <p:txBody>
          <a:bodyPr vert="horz" lIns="0" tIns="0" rIns="0" bIns="0" rtlCol="0">
            <a:sp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r>
              <a:rPr lang="en-US">
                <a:solidFill>
                  <a:schemeClr val="tx2"/>
                </a:solidFill>
              </a:rPr>
              <a:t>Source</a:t>
            </a:r>
            <a:endParaRPr lang="en-US" dirty="0">
              <a:solidFill>
                <a:schemeClr val="tx2"/>
              </a:solidFill>
            </a:endParaRPr>
          </a:p>
        </p:txBody>
      </p:sp>
      <p:sp>
        <p:nvSpPr>
          <p:cNvPr id="10" name="Marcador de texto 5">
            <a:extLst>
              <a:ext uri="{FF2B5EF4-FFF2-40B4-BE49-F238E27FC236}">
                <a16:creationId xmlns:a16="http://schemas.microsoft.com/office/drawing/2014/main" id="{B6BE5206-1BCC-6773-0F2E-38F809D3E89F}"/>
              </a:ext>
            </a:extLst>
          </p:cNvPr>
          <p:cNvSpPr txBox="1">
            <a:spLocks/>
          </p:cNvSpPr>
          <p:nvPr userDrawn="1"/>
        </p:nvSpPr>
        <p:spPr>
          <a:xfrm>
            <a:off x="384174" y="1828801"/>
            <a:ext cx="1668515" cy="276999"/>
          </a:xfrm>
          <a:prstGeom prst="rect">
            <a:avLst/>
          </a:prstGeom>
          <a:noFill/>
        </p:spPr>
        <p:txBody>
          <a:bodyPr vert="horz" lIns="0" tIns="0" rIns="0" bIns="0" rtlCol="0">
            <a:sp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r>
              <a:rPr lang="en-US" dirty="0">
                <a:solidFill>
                  <a:schemeClr val="tx2"/>
                </a:solidFill>
              </a:rPr>
              <a:t>Description</a:t>
            </a:r>
          </a:p>
        </p:txBody>
      </p:sp>
      <p:sp>
        <p:nvSpPr>
          <p:cNvPr id="11" name="Marcador de texto 6">
            <a:extLst>
              <a:ext uri="{FF2B5EF4-FFF2-40B4-BE49-F238E27FC236}">
                <a16:creationId xmlns:a16="http://schemas.microsoft.com/office/drawing/2014/main" id="{4A133DFF-FE4F-E1F0-64DA-9D495A8D0937}"/>
              </a:ext>
            </a:extLst>
          </p:cNvPr>
          <p:cNvSpPr txBox="1">
            <a:spLocks/>
          </p:cNvSpPr>
          <p:nvPr userDrawn="1"/>
        </p:nvSpPr>
        <p:spPr>
          <a:xfrm>
            <a:off x="384174" y="4229093"/>
            <a:ext cx="1668515" cy="276999"/>
          </a:xfrm>
          <a:prstGeom prst="rect">
            <a:avLst/>
          </a:prstGeom>
          <a:noFill/>
        </p:spPr>
        <p:txBody>
          <a:bodyPr vert="horz" lIns="0" tIns="0" rIns="0" bIns="0" rtlCol="0">
            <a:sp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r>
              <a:rPr lang="en-US" dirty="0">
                <a:solidFill>
                  <a:schemeClr val="tx2"/>
                </a:solidFill>
              </a:rPr>
              <a:t>Application</a:t>
            </a:r>
          </a:p>
        </p:txBody>
      </p:sp>
      <p:sp>
        <p:nvSpPr>
          <p:cNvPr id="24" name="Footer Placeholder 5">
            <a:extLst>
              <a:ext uri="{FF2B5EF4-FFF2-40B4-BE49-F238E27FC236}">
                <a16:creationId xmlns:a16="http://schemas.microsoft.com/office/drawing/2014/main" id="{34765EEC-B451-0A1E-0D1B-F8C701B60698}"/>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dirty="0"/>
              <a:t>Source:_______</a:t>
            </a:r>
          </a:p>
        </p:txBody>
      </p:sp>
    </p:spTree>
    <p:extLst>
      <p:ext uri="{BB962C8B-B14F-4D97-AF65-F5344CB8AC3E}">
        <p14:creationId xmlns:p14="http://schemas.microsoft.com/office/powerpoint/2010/main" val="1608889535"/>
      </p:ext>
    </p:extLst>
  </p:cSld>
  <p:clrMapOvr>
    <a:masterClrMapping/>
  </p:clrMapOvr>
  <p:extLst>
    <p:ext uri="{DCECCB84-F9BA-43D5-87BE-67443E8EF086}">
      <p15:sldGuideLst xmlns:p15="http://schemas.microsoft.com/office/powerpoint/2012/main">
        <p15:guide id="1" pos="3840" userDrawn="1">
          <p15:clr>
            <a:srgbClr val="FBAE40"/>
          </p15:clr>
        </p15:guide>
        <p15:guide id="2" pos="3885" userDrawn="1">
          <p15:clr>
            <a:srgbClr val="FBAE40"/>
          </p15:clr>
        </p15:guide>
        <p15:guide id="3" pos="379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3946528837"/>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Marcador de texto 6">
            <a:extLst>
              <a:ext uri="{FF2B5EF4-FFF2-40B4-BE49-F238E27FC236}">
                <a16:creationId xmlns:a16="http://schemas.microsoft.com/office/drawing/2014/main" id="{DBA6997E-A205-56C9-2D6E-F0AEED93B268}"/>
              </a:ext>
            </a:extLst>
          </p:cNvPr>
          <p:cNvSpPr>
            <a:spLocks noGrp="1"/>
          </p:cNvSpPr>
          <p:nvPr>
            <p:ph type="body" sz="quarter" idx="15"/>
          </p:nvPr>
        </p:nvSpPr>
        <p:spPr>
          <a:xfrm>
            <a:off x="371475" y="1520825"/>
            <a:ext cx="11449050" cy="4787900"/>
          </a:xfrm>
        </p:spPr>
        <p:txBody>
          <a:bodyPr/>
          <a:lstStyle>
            <a:lvl1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9" name="TextBox 8">
            <a:extLst>
              <a:ext uri="{FF2B5EF4-FFF2-40B4-BE49-F238E27FC236}">
                <a16:creationId xmlns:a16="http://schemas.microsoft.com/office/drawing/2014/main" id="{FAB07795-2FF5-56AA-0106-E7591702D28C}"/>
              </a:ext>
            </a:extLst>
          </p:cNvPr>
          <p:cNvSpPr txBox="1"/>
          <p:nvPr userDrawn="1"/>
        </p:nvSpPr>
        <p:spPr>
          <a:xfrm>
            <a:off x="1058779" y="6641432"/>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11" name="TextBox 10">
            <a:extLst>
              <a:ext uri="{FF2B5EF4-FFF2-40B4-BE49-F238E27FC236}">
                <a16:creationId xmlns:a16="http://schemas.microsoft.com/office/drawing/2014/main" id="{0CEDCA57-2639-3EF3-4B72-5A995CB0489C}"/>
              </a:ext>
            </a:extLst>
          </p:cNvPr>
          <p:cNvSpPr txBox="1"/>
          <p:nvPr userDrawn="1"/>
        </p:nvSpPr>
        <p:spPr>
          <a:xfrm>
            <a:off x="1379621" y="6609347"/>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4" name="Footer Placeholder 5">
            <a:extLst>
              <a:ext uri="{FF2B5EF4-FFF2-40B4-BE49-F238E27FC236}">
                <a16:creationId xmlns:a16="http://schemas.microsoft.com/office/drawing/2014/main" id="{792876C3-6BF8-879A-73D9-3D7064466168}"/>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dirty="0"/>
              <a:t>Source:_______</a:t>
            </a:r>
          </a:p>
        </p:txBody>
      </p:sp>
    </p:spTree>
    <p:extLst>
      <p:ext uri="{BB962C8B-B14F-4D97-AF65-F5344CB8AC3E}">
        <p14:creationId xmlns:p14="http://schemas.microsoft.com/office/powerpoint/2010/main" val="3921882846"/>
      </p:ext>
    </p:extLst>
  </p:cSld>
  <p:clrMapOvr>
    <a:masterClrMapping/>
  </p:clrMapOvr>
  <p:extLst>
    <p:ext uri="{DCECCB84-F9BA-43D5-87BE-67443E8EF086}">
      <p15:sldGuideLst xmlns:p15="http://schemas.microsoft.com/office/powerpoint/2012/main">
        <p15:guide id="1" pos="3840" userDrawn="1">
          <p15:clr>
            <a:srgbClr val="FBAE40"/>
          </p15:clr>
        </p15:guide>
        <p15:guide id="2" pos="3885" userDrawn="1">
          <p15:clr>
            <a:srgbClr val="FBAE40"/>
          </p15:clr>
        </p15:guide>
        <p15:guide id="3" pos="379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OK_content">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3308201933"/>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Marcador de texto 6">
            <a:extLst>
              <a:ext uri="{FF2B5EF4-FFF2-40B4-BE49-F238E27FC236}">
                <a16:creationId xmlns:a16="http://schemas.microsoft.com/office/drawing/2014/main" id="{DBA6997E-A205-56C9-2D6E-F0AEED93B268}"/>
              </a:ext>
            </a:extLst>
          </p:cNvPr>
          <p:cNvSpPr>
            <a:spLocks noGrp="1"/>
          </p:cNvSpPr>
          <p:nvPr>
            <p:ph type="body" sz="quarter" idx="15"/>
          </p:nvPr>
        </p:nvSpPr>
        <p:spPr>
          <a:xfrm>
            <a:off x="371475" y="1520825"/>
            <a:ext cx="11449050" cy="4787900"/>
          </a:xfrm>
        </p:spPr>
        <p:txBody>
          <a:bodyPr/>
          <a:lstStyle>
            <a:lvl1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2" name="TextBox 24">
            <a:extLst>
              <a:ext uri="{FF2B5EF4-FFF2-40B4-BE49-F238E27FC236}">
                <a16:creationId xmlns:a16="http://schemas.microsoft.com/office/drawing/2014/main" id="{2E127877-A0ED-018C-7E13-AE841D1B1F94}"/>
              </a:ext>
            </a:extLst>
          </p:cNvPr>
          <p:cNvSpPr txBox="1"/>
          <p:nvPr userDrawn="1"/>
        </p:nvSpPr>
        <p:spPr>
          <a:xfrm>
            <a:off x="8317890" y="6482080"/>
            <a:ext cx="3112110" cy="203203"/>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Copyright © 2023 All rights reserved.</a:t>
            </a:r>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 name="TextBox 25">
            <a:extLst>
              <a:ext uri="{FF2B5EF4-FFF2-40B4-BE49-F238E27FC236}">
                <a16:creationId xmlns:a16="http://schemas.microsoft.com/office/drawing/2014/main" id="{2993AF93-5C4D-06E3-95C9-81B423340839}"/>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pic>
        <p:nvPicPr>
          <p:cNvPr id="9" name="Picture 2" descr="Umbrex Consulting: Independent Management Consultants">
            <a:extLst>
              <a:ext uri="{FF2B5EF4-FFF2-40B4-BE49-F238E27FC236}">
                <a16:creationId xmlns:a16="http://schemas.microsoft.com/office/drawing/2014/main" id="{9F8C4C24-CBAB-25CB-D287-91B9D9AA27E5}"/>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71475" y="6467475"/>
            <a:ext cx="1008505" cy="285012"/>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2754287"/>
      </p:ext>
    </p:extLst>
  </p:cSld>
  <p:clrMapOvr>
    <a:masterClrMapping/>
  </p:clrMapOvr>
  <p:extLst>
    <p:ext uri="{DCECCB84-F9BA-43D5-87BE-67443E8EF086}">
      <p15:sldGuideLst xmlns:p15="http://schemas.microsoft.com/office/powerpoint/2012/main">
        <p15:guide id="1" pos="3840" userDrawn="1">
          <p15:clr>
            <a:srgbClr val="FBAE40"/>
          </p15:clr>
        </p15:guide>
        <p15:guide id="2" pos="3885" userDrawn="1">
          <p15:clr>
            <a:srgbClr val="FBAE40"/>
          </p15:clr>
        </p15:guide>
        <p15:guide id="3" pos="379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OK_content">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2127907363"/>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2" name="Picture Placeholder 2">
            <a:extLst>
              <a:ext uri="{FF2B5EF4-FFF2-40B4-BE49-F238E27FC236}">
                <a16:creationId xmlns:a16="http://schemas.microsoft.com/office/drawing/2014/main" id="{82F1D4E8-3401-21C3-350F-261805FCFF01}"/>
              </a:ext>
            </a:extLst>
          </p:cNvPr>
          <p:cNvSpPr>
            <a:spLocks noGrp="1"/>
          </p:cNvSpPr>
          <p:nvPr>
            <p:ph type="pic" sz="quarter" idx="13" hasCustomPrompt="1"/>
          </p:nvPr>
        </p:nvSpPr>
        <p:spPr>
          <a:xfrm>
            <a:off x="6840071" y="0"/>
            <a:ext cx="5351929" cy="6858000"/>
          </a:xfrm>
          <a:solidFill>
            <a:schemeClr val="accent1"/>
          </a:solidFill>
        </p:spPr>
        <p:txBody>
          <a:bodyPr anchor="ctr"/>
          <a:lstStyle>
            <a:lvl1pPr algn="ctr">
              <a:defRPr sz="180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Image</a:t>
            </a:r>
          </a:p>
        </p:txBody>
      </p:sp>
      <p:sp>
        <p:nvSpPr>
          <p:cNvPr id="11" name="TextBox 24">
            <a:extLst>
              <a:ext uri="{FF2B5EF4-FFF2-40B4-BE49-F238E27FC236}">
                <a16:creationId xmlns:a16="http://schemas.microsoft.com/office/drawing/2014/main" id="{DAB4AE32-26BB-8321-7EFA-E42B6212234A}"/>
              </a:ext>
            </a:extLst>
          </p:cNvPr>
          <p:cNvSpPr txBox="1"/>
          <p:nvPr userDrawn="1"/>
        </p:nvSpPr>
        <p:spPr>
          <a:xfrm>
            <a:off x="8317890" y="6482080"/>
            <a:ext cx="3112110" cy="203203"/>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Copyright © 2023 All rights reserved.</a:t>
            </a:r>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2" name="TextBox 25">
            <a:extLst>
              <a:ext uri="{FF2B5EF4-FFF2-40B4-BE49-F238E27FC236}">
                <a16:creationId xmlns:a16="http://schemas.microsoft.com/office/drawing/2014/main" id="{D1BECB90-2EFE-871B-2CB3-E5569A79DFCE}"/>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4" name="Rectángulo 3">
            <a:extLst>
              <a:ext uri="{FF2B5EF4-FFF2-40B4-BE49-F238E27FC236}">
                <a16:creationId xmlns:a16="http://schemas.microsoft.com/office/drawing/2014/main" id="{B822DFBA-5DF6-4A6B-CFEA-E177E759768F}"/>
              </a:ext>
            </a:extLst>
          </p:cNvPr>
          <p:cNvSpPr/>
          <p:nvPr userDrawn="1"/>
        </p:nvSpPr>
        <p:spPr>
          <a:xfrm>
            <a:off x="381001" y="6448425"/>
            <a:ext cx="1016793" cy="303439"/>
          </a:xfrm>
          <a:prstGeom prst="rect">
            <a:avLst/>
          </a:prstGeom>
          <a:solidFill>
            <a:srgbClr val="121E6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pic>
        <p:nvPicPr>
          <p:cNvPr id="7" name="Picture 2" descr="Umbrex Consulting: Independent Management Consultants">
            <a:extLst>
              <a:ext uri="{FF2B5EF4-FFF2-40B4-BE49-F238E27FC236}">
                <a16:creationId xmlns:a16="http://schemas.microsoft.com/office/drawing/2014/main" id="{728EF91A-88AB-A4F3-4E3B-11123CB487A9}"/>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71475" y="6467475"/>
            <a:ext cx="1008505" cy="285012"/>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9419291"/>
      </p:ext>
    </p:extLst>
  </p:cSld>
  <p:clrMapOvr>
    <a:masterClrMapping/>
  </p:clrMapOvr>
  <p:extLst>
    <p:ext uri="{DCECCB84-F9BA-43D5-87BE-67443E8EF086}">
      <p15:sldGuideLst xmlns:p15="http://schemas.microsoft.com/office/powerpoint/2012/main">
        <p15:guide id="1" pos="4112" userDrawn="1">
          <p15:clr>
            <a:srgbClr val="FBAE40"/>
          </p15:clr>
        </p15:guide>
        <p15:guide id="2" pos="449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0_Cover">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9B4C446-2D8D-1D11-CD92-343462023C19}"/>
              </a:ext>
            </a:extLst>
          </p:cNvPr>
          <p:cNvGraphicFramePr>
            <a:graphicFrameLocks noChangeAspect="1"/>
          </p:cNvGraphicFramePr>
          <p:nvPr userDrawn="1">
            <p:custDataLst>
              <p:tags r:id="rId1"/>
            </p:custDataLst>
            <p:extLst>
              <p:ext uri="{D42A27DB-BD31-4B8C-83A1-F6EECF244321}">
                <p14:modId xmlns:p14="http://schemas.microsoft.com/office/powerpoint/2010/main" val="2326538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3" imgW="7772400" imgH="10058400" progId="TCLayout.ActiveDocument.1">
                  <p:embed/>
                </p:oleObj>
              </mc:Choice>
              <mc:Fallback>
                <p:oleObj name="Diapositiva de think-cell" r:id="rId3" imgW="7772400" imgH="10058400" progId="TCLayout.ActiveDocument.1">
                  <p:embed/>
                  <p:pic>
                    <p:nvPicPr>
                      <p:cNvPr id="2" name="Object 1" hidden="1">
                        <a:extLst>
                          <a:ext uri="{FF2B5EF4-FFF2-40B4-BE49-F238E27FC236}">
                            <a16:creationId xmlns:a16="http://schemas.microsoft.com/office/drawing/2014/main" id="{99B4C446-2D8D-1D11-CD92-343462023C1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Text Placeholder 8">
            <a:extLst>
              <a:ext uri="{FF2B5EF4-FFF2-40B4-BE49-F238E27FC236}">
                <a16:creationId xmlns:a16="http://schemas.microsoft.com/office/drawing/2014/main" id="{4697F97E-5ED0-44CE-8BF2-B61FF13412B3}"/>
              </a:ext>
            </a:extLst>
          </p:cNvPr>
          <p:cNvSpPr>
            <a:spLocks noGrp="1"/>
          </p:cNvSpPr>
          <p:nvPr>
            <p:ph type="body" sz="quarter" idx="14" hasCustomPrompt="1"/>
          </p:nvPr>
        </p:nvSpPr>
        <p:spPr>
          <a:xfrm>
            <a:off x="5678694" y="1520825"/>
            <a:ext cx="4727903" cy="1154074"/>
          </a:xfrm>
          <a:prstGeom prst="rect">
            <a:avLst/>
          </a:prstGeom>
        </p:spPr>
        <p:txBody>
          <a:bodyPr anchor="b"/>
          <a:lstStyle>
            <a:lvl1pPr algn="l">
              <a:lnSpc>
                <a:spcPct val="80000"/>
              </a:lnSpc>
              <a:spcBef>
                <a:spcPts val="0"/>
              </a:spcBef>
              <a:spcAft>
                <a:spcPts val="0"/>
              </a:spcAft>
              <a:defRPr sz="4400" b="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Click to edit master file</a:t>
            </a:r>
          </a:p>
        </p:txBody>
      </p:sp>
      <p:sp>
        <p:nvSpPr>
          <p:cNvPr id="29" name="Text Placeholder 6">
            <a:extLst>
              <a:ext uri="{FF2B5EF4-FFF2-40B4-BE49-F238E27FC236}">
                <a16:creationId xmlns:a16="http://schemas.microsoft.com/office/drawing/2014/main" id="{B56F6AFB-C491-4255-BEAD-ED366A6A08DC}"/>
              </a:ext>
            </a:extLst>
          </p:cNvPr>
          <p:cNvSpPr>
            <a:spLocks noGrp="1"/>
          </p:cNvSpPr>
          <p:nvPr>
            <p:ph type="body" sz="quarter" idx="15" hasCustomPrompt="1"/>
          </p:nvPr>
        </p:nvSpPr>
        <p:spPr>
          <a:xfrm>
            <a:off x="5683577" y="3165688"/>
            <a:ext cx="4727903" cy="466756"/>
          </a:xfrm>
          <a:prstGeom prst="rect">
            <a:avLst/>
          </a:prstGeom>
        </p:spPr>
        <p:txBody>
          <a:bodyPr/>
          <a:lstStyle>
            <a:lvl1pPr>
              <a:lnSpc>
                <a:spcPct val="80000"/>
              </a:lnSpc>
              <a:spcAft>
                <a:spcPts val="0"/>
              </a:spcAft>
              <a:defRPr sz="2400" b="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Click to edit master subtitle style</a:t>
            </a:r>
          </a:p>
        </p:txBody>
      </p:sp>
      <p:sp>
        <p:nvSpPr>
          <p:cNvPr id="4" name="Picture Placeholder 2">
            <a:extLst>
              <a:ext uri="{FF2B5EF4-FFF2-40B4-BE49-F238E27FC236}">
                <a16:creationId xmlns:a16="http://schemas.microsoft.com/office/drawing/2014/main" id="{30B82A15-2C6E-69D3-B787-949A464553E6}"/>
              </a:ext>
            </a:extLst>
          </p:cNvPr>
          <p:cNvSpPr>
            <a:spLocks noGrp="1"/>
          </p:cNvSpPr>
          <p:nvPr>
            <p:ph type="pic" sz="quarter" idx="13" hasCustomPrompt="1"/>
          </p:nvPr>
        </p:nvSpPr>
        <p:spPr>
          <a:xfrm>
            <a:off x="0" y="0"/>
            <a:ext cx="5351929" cy="6858000"/>
          </a:xfrm>
          <a:solidFill>
            <a:schemeClr val="accent1"/>
          </a:solidFill>
        </p:spPr>
        <p:txBody>
          <a:bodyPr anchor="ctr"/>
          <a:lstStyle>
            <a:lvl1pPr algn="ctr">
              <a:defRPr sz="180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Image</a:t>
            </a:r>
          </a:p>
        </p:txBody>
      </p:sp>
      <p:cxnSp>
        <p:nvCxnSpPr>
          <p:cNvPr id="7" name="Conector recto 6">
            <a:extLst>
              <a:ext uri="{FF2B5EF4-FFF2-40B4-BE49-F238E27FC236}">
                <a16:creationId xmlns:a16="http://schemas.microsoft.com/office/drawing/2014/main" id="{4CF7FCF0-F776-C2C9-4803-DA8D43688946}"/>
              </a:ext>
            </a:extLst>
          </p:cNvPr>
          <p:cNvCxnSpPr>
            <a:cxnSpLocks/>
          </p:cNvCxnSpPr>
          <p:nvPr userDrawn="1"/>
        </p:nvCxnSpPr>
        <p:spPr>
          <a:xfrm>
            <a:off x="5683577" y="2913529"/>
            <a:ext cx="4631580"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ángulo 11">
            <a:extLst>
              <a:ext uri="{FF2B5EF4-FFF2-40B4-BE49-F238E27FC236}">
                <a16:creationId xmlns:a16="http://schemas.microsoft.com/office/drawing/2014/main" id="{58AAD7CE-DDD6-732E-B9F5-19087AF0D34E}"/>
              </a:ext>
            </a:extLst>
          </p:cNvPr>
          <p:cNvSpPr/>
          <p:nvPr userDrawn="1"/>
        </p:nvSpPr>
        <p:spPr>
          <a:xfrm>
            <a:off x="10406597" y="381000"/>
            <a:ext cx="1404402" cy="6247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1050"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Your logo here</a:t>
            </a:r>
          </a:p>
        </p:txBody>
      </p:sp>
      <p:sp>
        <p:nvSpPr>
          <p:cNvPr id="32" name="Rectangle 104">
            <a:extLst>
              <a:ext uri="{FF2B5EF4-FFF2-40B4-BE49-F238E27FC236}">
                <a16:creationId xmlns:a16="http://schemas.microsoft.com/office/drawing/2014/main" id="{FFE04BA0-A5F1-E5DE-52DC-63A51535E8A2}"/>
              </a:ext>
            </a:extLst>
          </p:cNvPr>
          <p:cNvSpPr/>
          <p:nvPr userDrawn="1"/>
        </p:nvSpPr>
        <p:spPr>
          <a:xfrm>
            <a:off x="5273072" y="1520826"/>
            <a:ext cx="159540" cy="1154074"/>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3821885991"/>
      </p:ext>
    </p:extLst>
  </p:cSld>
  <p:clrMapOvr>
    <a:masterClrMapping/>
  </p:clrMapOvr>
  <p:extLst>
    <p:ext uri="{DCECCB84-F9BA-43D5-87BE-67443E8EF086}">
      <p15:sldGuideLst xmlns:p15="http://schemas.microsoft.com/office/powerpoint/2012/main">
        <p15:guide id="1" pos="3386">
          <p15:clr>
            <a:srgbClr val="FBAE40"/>
          </p15:clr>
        </p15:guide>
        <p15:guide id="2" pos="3568">
          <p15:clr>
            <a:srgbClr val="FBAE40"/>
          </p15:clr>
        </p15:guide>
        <p15:guide id="3" pos="318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1305037196"/>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Footer Placeholder 5">
            <a:extLst>
              <a:ext uri="{FF2B5EF4-FFF2-40B4-BE49-F238E27FC236}">
                <a16:creationId xmlns:a16="http://schemas.microsoft.com/office/drawing/2014/main" id="{454F5C2C-AC0A-7D7F-CF6B-2E2F67252663}"/>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Source:_______</a:t>
            </a:r>
            <a:endParaRPr lang="en-US" dirty="0"/>
          </a:p>
        </p:txBody>
      </p:sp>
    </p:spTree>
    <p:extLst>
      <p:ext uri="{BB962C8B-B14F-4D97-AF65-F5344CB8AC3E}">
        <p14:creationId xmlns:p14="http://schemas.microsoft.com/office/powerpoint/2010/main" val="2609445056"/>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3946528837"/>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Marcador de texto 6">
            <a:extLst>
              <a:ext uri="{FF2B5EF4-FFF2-40B4-BE49-F238E27FC236}">
                <a16:creationId xmlns:a16="http://schemas.microsoft.com/office/drawing/2014/main" id="{DBA6997E-A205-56C9-2D6E-F0AEED93B268}"/>
              </a:ext>
            </a:extLst>
          </p:cNvPr>
          <p:cNvSpPr>
            <a:spLocks noGrp="1"/>
          </p:cNvSpPr>
          <p:nvPr>
            <p:ph type="body" sz="quarter" idx="15"/>
          </p:nvPr>
        </p:nvSpPr>
        <p:spPr>
          <a:xfrm>
            <a:off x="371475" y="1520825"/>
            <a:ext cx="11449050" cy="4787900"/>
          </a:xfrm>
        </p:spPr>
        <p:txBody>
          <a:bodyPr/>
          <a:lstStyle>
            <a:lvl1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8" name="Footer Placeholder 5">
            <a:extLst>
              <a:ext uri="{FF2B5EF4-FFF2-40B4-BE49-F238E27FC236}">
                <a16:creationId xmlns:a16="http://schemas.microsoft.com/office/drawing/2014/main" id="{F928C5C6-FF4B-B5D0-4EE6-2D88C88132CA}"/>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Source:_______</a:t>
            </a:r>
            <a:endParaRPr lang="en-US" dirty="0"/>
          </a:p>
        </p:txBody>
      </p:sp>
    </p:spTree>
    <p:extLst>
      <p:ext uri="{BB962C8B-B14F-4D97-AF65-F5344CB8AC3E}">
        <p14:creationId xmlns:p14="http://schemas.microsoft.com/office/powerpoint/2010/main" val="3597413618"/>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OK_content">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3308201933"/>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Marcador de texto 6">
            <a:extLst>
              <a:ext uri="{FF2B5EF4-FFF2-40B4-BE49-F238E27FC236}">
                <a16:creationId xmlns:a16="http://schemas.microsoft.com/office/drawing/2014/main" id="{DBA6997E-A205-56C9-2D6E-F0AEED93B268}"/>
              </a:ext>
            </a:extLst>
          </p:cNvPr>
          <p:cNvSpPr>
            <a:spLocks noGrp="1"/>
          </p:cNvSpPr>
          <p:nvPr>
            <p:ph type="body" sz="quarter" idx="15"/>
          </p:nvPr>
        </p:nvSpPr>
        <p:spPr>
          <a:xfrm>
            <a:off x="371475" y="1520825"/>
            <a:ext cx="11449050" cy="4787900"/>
          </a:xfrm>
        </p:spPr>
        <p:txBody>
          <a:bodyPr/>
          <a:lstStyle>
            <a:lvl1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2" name="TextBox 24">
            <a:extLst>
              <a:ext uri="{FF2B5EF4-FFF2-40B4-BE49-F238E27FC236}">
                <a16:creationId xmlns:a16="http://schemas.microsoft.com/office/drawing/2014/main" id="{2E127877-A0ED-018C-7E13-AE841D1B1F94}"/>
              </a:ext>
            </a:extLst>
          </p:cNvPr>
          <p:cNvSpPr txBox="1"/>
          <p:nvPr userDrawn="1"/>
        </p:nvSpPr>
        <p:spPr>
          <a:xfrm>
            <a:off x="8317890" y="6482080"/>
            <a:ext cx="3112110" cy="203203"/>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Copyright © 2022 All rights reserved.</a:t>
            </a:r>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 name="TextBox 25">
            <a:extLst>
              <a:ext uri="{FF2B5EF4-FFF2-40B4-BE49-F238E27FC236}">
                <a16:creationId xmlns:a16="http://schemas.microsoft.com/office/drawing/2014/main" id="{2993AF93-5C4D-06E3-95C9-81B423340839}"/>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Rectángulo 7">
            <a:extLst>
              <a:ext uri="{FF2B5EF4-FFF2-40B4-BE49-F238E27FC236}">
                <a16:creationId xmlns:a16="http://schemas.microsoft.com/office/drawing/2014/main" id="{BC9FA8A7-DF41-A176-7936-D2950A069FC1}"/>
              </a:ext>
            </a:extLst>
          </p:cNvPr>
          <p:cNvSpPr/>
          <p:nvPr userDrawn="1"/>
        </p:nvSpPr>
        <p:spPr>
          <a:xfrm>
            <a:off x="381001" y="6448425"/>
            <a:ext cx="1016793" cy="303439"/>
          </a:xfrm>
          <a:prstGeom prst="rect">
            <a:avLst/>
          </a:prstGeom>
          <a:solidFill>
            <a:srgbClr val="121E6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pic>
        <p:nvPicPr>
          <p:cNvPr id="10" name="Picture 2" descr="Umbrex Consulting: Independent Management Consultants">
            <a:extLst>
              <a:ext uri="{FF2B5EF4-FFF2-40B4-BE49-F238E27FC236}">
                <a16:creationId xmlns:a16="http://schemas.microsoft.com/office/drawing/2014/main" id="{918EA70D-34B0-84E9-A3AD-2F2BA6E9C6F6}"/>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71475" y="6467475"/>
            <a:ext cx="1008505" cy="285012"/>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0379289"/>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OK_content">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2127907363"/>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2" name="Picture Placeholder 2">
            <a:extLst>
              <a:ext uri="{FF2B5EF4-FFF2-40B4-BE49-F238E27FC236}">
                <a16:creationId xmlns:a16="http://schemas.microsoft.com/office/drawing/2014/main" id="{82F1D4E8-3401-21C3-350F-261805FCFF01}"/>
              </a:ext>
            </a:extLst>
          </p:cNvPr>
          <p:cNvSpPr>
            <a:spLocks noGrp="1"/>
          </p:cNvSpPr>
          <p:nvPr>
            <p:ph type="pic" sz="quarter" idx="13" hasCustomPrompt="1"/>
          </p:nvPr>
        </p:nvSpPr>
        <p:spPr>
          <a:xfrm>
            <a:off x="6840071" y="0"/>
            <a:ext cx="5351929" cy="6858000"/>
          </a:xfrm>
          <a:solidFill>
            <a:schemeClr val="accent1"/>
          </a:solidFill>
        </p:spPr>
        <p:txBody>
          <a:bodyPr anchor="ctr"/>
          <a:lstStyle>
            <a:lvl1pPr algn="ctr">
              <a:defRPr sz="180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Image</a:t>
            </a:r>
          </a:p>
        </p:txBody>
      </p:sp>
      <p:sp>
        <p:nvSpPr>
          <p:cNvPr id="11" name="TextBox 24">
            <a:extLst>
              <a:ext uri="{FF2B5EF4-FFF2-40B4-BE49-F238E27FC236}">
                <a16:creationId xmlns:a16="http://schemas.microsoft.com/office/drawing/2014/main" id="{DAB4AE32-26BB-8321-7EFA-E42B6212234A}"/>
              </a:ext>
            </a:extLst>
          </p:cNvPr>
          <p:cNvSpPr txBox="1"/>
          <p:nvPr userDrawn="1"/>
        </p:nvSpPr>
        <p:spPr>
          <a:xfrm>
            <a:off x="8317890" y="6482080"/>
            <a:ext cx="3112110" cy="203203"/>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Copyright © 2022 All rights reserved.</a:t>
            </a:r>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2" name="TextBox 25">
            <a:extLst>
              <a:ext uri="{FF2B5EF4-FFF2-40B4-BE49-F238E27FC236}">
                <a16:creationId xmlns:a16="http://schemas.microsoft.com/office/drawing/2014/main" id="{D1BECB90-2EFE-871B-2CB3-E5569A79DFCE}"/>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4" name="Rectángulo 3">
            <a:extLst>
              <a:ext uri="{FF2B5EF4-FFF2-40B4-BE49-F238E27FC236}">
                <a16:creationId xmlns:a16="http://schemas.microsoft.com/office/drawing/2014/main" id="{9B18630E-F4E3-F794-31ED-5FF7F2237652}"/>
              </a:ext>
            </a:extLst>
          </p:cNvPr>
          <p:cNvSpPr/>
          <p:nvPr userDrawn="1"/>
        </p:nvSpPr>
        <p:spPr>
          <a:xfrm>
            <a:off x="381001" y="6448425"/>
            <a:ext cx="1016793" cy="303439"/>
          </a:xfrm>
          <a:prstGeom prst="rect">
            <a:avLst/>
          </a:prstGeom>
          <a:solidFill>
            <a:srgbClr val="121E6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pic>
        <p:nvPicPr>
          <p:cNvPr id="8" name="Picture 2" descr="Umbrex Consulting: Independent Management Consultants">
            <a:extLst>
              <a:ext uri="{FF2B5EF4-FFF2-40B4-BE49-F238E27FC236}">
                <a16:creationId xmlns:a16="http://schemas.microsoft.com/office/drawing/2014/main" id="{E885C0CB-B4E8-1BDC-BD20-EEC09ED6CF2C}"/>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71475" y="6467475"/>
            <a:ext cx="1008505" cy="285012"/>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3718782"/>
      </p:ext>
    </p:extLst>
  </p:cSld>
  <p:clrMapOvr>
    <a:masterClrMapping/>
  </p:clrMapOvr>
  <p:extLst>
    <p:ext uri="{DCECCB84-F9BA-43D5-87BE-67443E8EF086}">
      <p15:sldGuideLst xmlns:p15="http://schemas.microsoft.com/office/powerpoint/2012/main">
        <p15:guide id="1" pos="4112">
          <p15:clr>
            <a:srgbClr val="FBAE40"/>
          </p15:clr>
        </p15:guide>
        <p15:guide id="2" pos="449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0_Cover">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9B4C446-2D8D-1D11-CD92-343462023C19}"/>
              </a:ext>
            </a:extLst>
          </p:cNvPr>
          <p:cNvGraphicFramePr>
            <a:graphicFrameLocks noChangeAspect="1"/>
          </p:cNvGraphicFramePr>
          <p:nvPr userDrawn="1">
            <p:custDataLst>
              <p:tags r:id="rId1"/>
            </p:custDataLst>
            <p:extLst>
              <p:ext uri="{D42A27DB-BD31-4B8C-83A1-F6EECF244321}">
                <p14:modId xmlns:p14="http://schemas.microsoft.com/office/powerpoint/2010/main" val="2326538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3" imgW="7772400" imgH="10058400" progId="TCLayout.ActiveDocument.1">
                  <p:embed/>
                </p:oleObj>
              </mc:Choice>
              <mc:Fallback>
                <p:oleObj name="Diapositiva de think-cell" r:id="rId3" imgW="7772400" imgH="10058400" progId="TCLayout.ActiveDocument.1">
                  <p:embed/>
                  <p:pic>
                    <p:nvPicPr>
                      <p:cNvPr id="2" name="Object 1" hidden="1">
                        <a:extLst>
                          <a:ext uri="{FF2B5EF4-FFF2-40B4-BE49-F238E27FC236}">
                            <a16:creationId xmlns:a16="http://schemas.microsoft.com/office/drawing/2014/main" id="{99B4C446-2D8D-1D11-CD92-343462023C1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Text Placeholder 8">
            <a:extLst>
              <a:ext uri="{FF2B5EF4-FFF2-40B4-BE49-F238E27FC236}">
                <a16:creationId xmlns:a16="http://schemas.microsoft.com/office/drawing/2014/main" id="{4697F97E-5ED0-44CE-8BF2-B61FF13412B3}"/>
              </a:ext>
            </a:extLst>
          </p:cNvPr>
          <p:cNvSpPr>
            <a:spLocks noGrp="1"/>
          </p:cNvSpPr>
          <p:nvPr>
            <p:ph type="body" sz="quarter" idx="14" hasCustomPrompt="1"/>
          </p:nvPr>
        </p:nvSpPr>
        <p:spPr>
          <a:xfrm>
            <a:off x="5678694" y="1520825"/>
            <a:ext cx="4727903" cy="1154074"/>
          </a:xfrm>
          <a:prstGeom prst="rect">
            <a:avLst/>
          </a:prstGeom>
        </p:spPr>
        <p:txBody>
          <a:bodyPr anchor="b"/>
          <a:lstStyle>
            <a:lvl1pPr algn="l">
              <a:lnSpc>
                <a:spcPct val="80000"/>
              </a:lnSpc>
              <a:spcBef>
                <a:spcPts val="0"/>
              </a:spcBef>
              <a:spcAft>
                <a:spcPts val="0"/>
              </a:spcAft>
              <a:defRPr sz="4400" b="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Click to edit master file</a:t>
            </a:r>
          </a:p>
        </p:txBody>
      </p:sp>
      <p:sp>
        <p:nvSpPr>
          <p:cNvPr id="29" name="Text Placeholder 6">
            <a:extLst>
              <a:ext uri="{FF2B5EF4-FFF2-40B4-BE49-F238E27FC236}">
                <a16:creationId xmlns:a16="http://schemas.microsoft.com/office/drawing/2014/main" id="{B56F6AFB-C491-4255-BEAD-ED366A6A08DC}"/>
              </a:ext>
            </a:extLst>
          </p:cNvPr>
          <p:cNvSpPr>
            <a:spLocks noGrp="1"/>
          </p:cNvSpPr>
          <p:nvPr>
            <p:ph type="body" sz="quarter" idx="15" hasCustomPrompt="1"/>
          </p:nvPr>
        </p:nvSpPr>
        <p:spPr>
          <a:xfrm>
            <a:off x="5683577" y="3165688"/>
            <a:ext cx="4727903" cy="466756"/>
          </a:xfrm>
          <a:prstGeom prst="rect">
            <a:avLst/>
          </a:prstGeom>
        </p:spPr>
        <p:txBody>
          <a:bodyPr/>
          <a:lstStyle>
            <a:lvl1pPr>
              <a:lnSpc>
                <a:spcPct val="80000"/>
              </a:lnSpc>
              <a:spcAft>
                <a:spcPts val="0"/>
              </a:spcAft>
              <a:defRPr sz="2400" b="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Click to edit master subtitle style</a:t>
            </a:r>
          </a:p>
        </p:txBody>
      </p:sp>
      <p:sp>
        <p:nvSpPr>
          <p:cNvPr id="4" name="Picture Placeholder 2">
            <a:extLst>
              <a:ext uri="{FF2B5EF4-FFF2-40B4-BE49-F238E27FC236}">
                <a16:creationId xmlns:a16="http://schemas.microsoft.com/office/drawing/2014/main" id="{30B82A15-2C6E-69D3-B787-949A464553E6}"/>
              </a:ext>
            </a:extLst>
          </p:cNvPr>
          <p:cNvSpPr>
            <a:spLocks noGrp="1"/>
          </p:cNvSpPr>
          <p:nvPr>
            <p:ph type="pic" sz="quarter" idx="13" hasCustomPrompt="1"/>
          </p:nvPr>
        </p:nvSpPr>
        <p:spPr>
          <a:xfrm>
            <a:off x="0" y="0"/>
            <a:ext cx="5351929" cy="6858000"/>
          </a:xfrm>
          <a:solidFill>
            <a:schemeClr val="accent1"/>
          </a:solidFill>
        </p:spPr>
        <p:txBody>
          <a:bodyPr anchor="ctr"/>
          <a:lstStyle>
            <a:lvl1pPr algn="ctr">
              <a:defRPr sz="180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Image</a:t>
            </a:r>
          </a:p>
        </p:txBody>
      </p:sp>
      <p:cxnSp>
        <p:nvCxnSpPr>
          <p:cNvPr id="7" name="Conector recto 6">
            <a:extLst>
              <a:ext uri="{FF2B5EF4-FFF2-40B4-BE49-F238E27FC236}">
                <a16:creationId xmlns:a16="http://schemas.microsoft.com/office/drawing/2014/main" id="{4CF7FCF0-F776-C2C9-4803-DA8D43688946}"/>
              </a:ext>
            </a:extLst>
          </p:cNvPr>
          <p:cNvCxnSpPr>
            <a:cxnSpLocks/>
          </p:cNvCxnSpPr>
          <p:nvPr userDrawn="1"/>
        </p:nvCxnSpPr>
        <p:spPr>
          <a:xfrm>
            <a:off x="5683577" y="2913529"/>
            <a:ext cx="4631580"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ángulo 11">
            <a:extLst>
              <a:ext uri="{FF2B5EF4-FFF2-40B4-BE49-F238E27FC236}">
                <a16:creationId xmlns:a16="http://schemas.microsoft.com/office/drawing/2014/main" id="{58AAD7CE-DDD6-732E-B9F5-19087AF0D34E}"/>
              </a:ext>
            </a:extLst>
          </p:cNvPr>
          <p:cNvSpPr/>
          <p:nvPr userDrawn="1"/>
        </p:nvSpPr>
        <p:spPr>
          <a:xfrm>
            <a:off x="10406597" y="381000"/>
            <a:ext cx="1404402" cy="6247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US" sz="1050" dirty="0">
                <a:solidFill>
                  <a:schemeClr val="accent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Your logo here</a:t>
            </a:r>
          </a:p>
        </p:txBody>
      </p:sp>
      <p:sp>
        <p:nvSpPr>
          <p:cNvPr id="32" name="Rectangle 104">
            <a:extLst>
              <a:ext uri="{FF2B5EF4-FFF2-40B4-BE49-F238E27FC236}">
                <a16:creationId xmlns:a16="http://schemas.microsoft.com/office/drawing/2014/main" id="{FFE04BA0-A5F1-E5DE-52DC-63A51535E8A2}"/>
              </a:ext>
            </a:extLst>
          </p:cNvPr>
          <p:cNvSpPr/>
          <p:nvPr userDrawn="1"/>
        </p:nvSpPr>
        <p:spPr>
          <a:xfrm>
            <a:off x="5273072" y="1520826"/>
            <a:ext cx="159540" cy="1154074"/>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defTabSz="914263"/>
            <a:endParaRPr lang="en-GB" sz="1000" b="1" dirty="0" err="1">
              <a:solidFill>
                <a:srgbClr val="FFFFFF"/>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964120866"/>
      </p:ext>
    </p:extLst>
  </p:cSld>
  <p:clrMapOvr>
    <a:masterClrMapping/>
  </p:clrMapOvr>
  <p:extLst>
    <p:ext uri="{DCECCB84-F9BA-43D5-87BE-67443E8EF086}">
      <p15:sldGuideLst xmlns:p15="http://schemas.microsoft.com/office/powerpoint/2012/main">
        <p15:guide id="1" pos="3386">
          <p15:clr>
            <a:srgbClr val="FBAE40"/>
          </p15:clr>
        </p15:guide>
        <p15:guide id="2" pos="3568">
          <p15:clr>
            <a:srgbClr val="FBAE40"/>
          </p15:clr>
        </p15:guide>
        <p15:guide id="3" pos="318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1305037196"/>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Footer Placeholder 5">
            <a:extLst>
              <a:ext uri="{FF2B5EF4-FFF2-40B4-BE49-F238E27FC236}">
                <a16:creationId xmlns:a16="http://schemas.microsoft.com/office/drawing/2014/main" id="{454F5C2C-AC0A-7D7F-CF6B-2E2F67252663}"/>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Source:_______</a:t>
            </a:r>
            <a:endParaRPr lang="en-US" dirty="0"/>
          </a:p>
        </p:txBody>
      </p:sp>
    </p:spTree>
    <p:extLst>
      <p:ext uri="{BB962C8B-B14F-4D97-AF65-F5344CB8AC3E}">
        <p14:creationId xmlns:p14="http://schemas.microsoft.com/office/powerpoint/2010/main" val="2710582657"/>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OK_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3946528837"/>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Marcador de texto 6">
            <a:extLst>
              <a:ext uri="{FF2B5EF4-FFF2-40B4-BE49-F238E27FC236}">
                <a16:creationId xmlns:a16="http://schemas.microsoft.com/office/drawing/2014/main" id="{DBA6997E-A205-56C9-2D6E-F0AEED93B268}"/>
              </a:ext>
            </a:extLst>
          </p:cNvPr>
          <p:cNvSpPr>
            <a:spLocks noGrp="1"/>
          </p:cNvSpPr>
          <p:nvPr>
            <p:ph type="body" sz="quarter" idx="15"/>
          </p:nvPr>
        </p:nvSpPr>
        <p:spPr>
          <a:xfrm>
            <a:off x="371475" y="1520825"/>
            <a:ext cx="11449050" cy="4787900"/>
          </a:xfrm>
        </p:spPr>
        <p:txBody>
          <a:bodyPr/>
          <a:lstStyle>
            <a:lvl1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sz="18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sz="160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8" name="Footer Placeholder 5">
            <a:extLst>
              <a:ext uri="{FF2B5EF4-FFF2-40B4-BE49-F238E27FC236}">
                <a16:creationId xmlns:a16="http://schemas.microsoft.com/office/drawing/2014/main" id="{F928C5C6-FF4B-B5D0-4EE6-2D88C88132CA}"/>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Source:_______</a:t>
            </a:r>
            <a:endParaRPr lang="en-US" dirty="0"/>
          </a:p>
        </p:txBody>
      </p:sp>
    </p:spTree>
    <p:extLst>
      <p:ext uri="{BB962C8B-B14F-4D97-AF65-F5344CB8AC3E}">
        <p14:creationId xmlns:p14="http://schemas.microsoft.com/office/powerpoint/2010/main" val="3644423031"/>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OK_content">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3308201933"/>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7" name="Marcador de texto 6">
            <a:extLst>
              <a:ext uri="{FF2B5EF4-FFF2-40B4-BE49-F238E27FC236}">
                <a16:creationId xmlns:a16="http://schemas.microsoft.com/office/drawing/2014/main" id="{DBA6997E-A205-56C9-2D6E-F0AEED93B268}"/>
              </a:ext>
            </a:extLst>
          </p:cNvPr>
          <p:cNvSpPr>
            <a:spLocks noGrp="1"/>
          </p:cNvSpPr>
          <p:nvPr>
            <p:ph type="body" sz="quarter" idx="15"/>
          </p:nvPr>
        </p:nvSpPr>
        <p:spPr>
          <a:xfrm>
            <a:off x="371475" y="1520825"/>
            <a:ext cx="11449050" cy="4787900"/>
          </a:xfrm>
        </p:spPr>
        <p:txBody>
          <a:bodyPr/>
          <a:lstStyle>
            <a:lvl1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a:defRPr>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2" name="TextBox 24">
            <a:extLst>
              <a:ext uri="{FF2B5EF4-FFF2-40B4-BE49-F238E27FC236}">
                <a16:creationId xmlns:a16="http://schemas.microsoft.com/office/drawing/2014/main" id="{2E127877-A0ED-018C-7E13-AE841D1B1F94}"/>
              </a:ext>
            </a:extLst>
          </p:cNvPr>
          <p:cNvSpPr txBox="1"/>
          <p:nvPr userDrawn="1"/>
        </p:nvSpPr>
        <p:spPr>
          <a:xfrm>
            <a:off x="8317890" y="6482080"/>
            <a:ext cx="3112110" cy="203203"/>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Copyright © 2022 All rights reserved.</a:t>
            </a:r>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 name="TextBox 25">
            <a:extLst>
              <a:ext uri="{FF2B5EF4-FFF2-40B4-BE49-F238E27FC236}">
                <a16:creationId xmlns:a16="http://schemas.microsoft.com/office/drawing/2014/main" id="{2993AF93-5C4D-06E3-95C9-81B423340839}"/>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Rectángulo 7">
            <a:extLst>
              <a:ext uri="{FF2B5EF4-FFF2-40B4-BE49-F238E27FC236}">
                <a16:creationId xmlns:a16="http://schemas.microsoft.com/office/drawing/2014/main" id="{65AB2FCE-9F3B-E27F-1D67-0C077236E8C2}"/>
              </a:ext>
            </a:extLst>
          </p:cNvPr>
          <p:cNvSpPr/>
          <p:nvPr userDrawn="1"/>
        </p:nvSpPr>
        <p:spPr>
          <a:xfrm>
            <a:off x="381001" y="6448425"/>
            <a:ext cx="1016793" cy="303439"/>
          </a:xfrm>
          <a:prstGeom prst="rect">
            <a:avLst/>
          </a:prstGeom>
          <a:solidFill>
            <a:srgbClr val="121E6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pic>
        <p:nvPicPr>
          <p:cNvPr id="10" name="Picture 2" descr="Umbrex Consulting: Independent Management Consultants">
            <a:extLst>
              <a:ext uri="{FF2B5EF4-FFF2-40B4-BE49-F238E27FC236}">
                <a16:creationId xmlns:a16="http://schemas.microsoft.com/office/drawing/2014/main" id="{E656167B-F2F5-2A71-3B3B-E0B9643A795A}"/>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71475" y="6467475"/>
            <a:ext cx="1008505" cy="285012"/>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5819915"/>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OK_content">
    <p:bg>
      <p:bgPr>
        <a:gradFill>
          <a:gsLst>
            <a:gs pos="0">
              <a:schemeClr val="tx2"/>
            </a:gs>
            <a:gs pos="99000">
              <a:schemeClr val="accent1"/>
            </a:gs>
          </a:gsLst>
          <a:lin ang="2700000" scaled="0"/>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8919E17-A30C-1C10-86B5-32F0E9F3C71B}"/>
              </a:ext>
            </a:extLst>
          </p:cNvPr>
          <p:cNvGraphicFramePr>
            <a:graphicFrameLocks noChangeAspect="1"/>
          </p:cNvGraphicFramePr>
          <p:nvPr userDrawn="1">
            <p:custDataLst>
              <p:tags r:id="rId1"/>
            </p:custDataLst>
            <p:extLst>
              <p:ext uri="{D42A27DB-BD31-4B8C-83A1-F6EECF244321}">
                <p14:modId xmlns:p14="http://schemas.microsoft.com/office/powerpoint/2010/main" val="2127907363"/>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3" name="Object 2" hidden="1">
                        <a:extLst>
                          <a:ext uri="{FF2B5EF4-FFF2-40B4-BE49-F238E27FC236}">
                            <a16:creationId xmlns:a16="http://schemas.microsoft.com/office/drawing/2014/main" id="{38919E17-A30C-1C10-86B5-32F0E9F3C71B}"/>
                          </a:ext>
                        </a:extLst>
                      </p:cNvPr>
                      <p:cNvPicPr/>
                      <p:nvPr/>
                    </p:nvPicPr>
                    <p:blipFill>
                      <a:blip r:embed="rId4"/>
                      <a:stretch>
                        <a:fillRect/>
                      </a:stretch>
                    </p:blipFill>
                    <p:spPr>
                      <a:xfrm>
                        <a:off x="794" y="794"/>
                        <a:ext cx="794" cy="794"/>
                      </a:xfrm>
                      <a:prstGeom prst="rect">
                        <a:avLst/>
                      </a:prstGeom>
                    </p:spPr>
                  </p:pic>
                </p:oleObj>
              </mc:Fallback>
            </mc:AlternateContent>
          </a:graphicData>
        </a:graphic>
      </p:graphicFrame>
      <p:sp>
        <p:nvSpPr>
          <p:cNvPr id="2" name="Picture Placeholder 2">
            <a:extLst>
              <a:ext uri="{FF2B5EF4-FFF2-40B4-BE49-F238E27FC236}">
                <a16:creationId xmlns:a16="http://schemas.microsoft.com/office/drawing/2014/main" id="{82F1D4E8-3401-21C3-350F-261805FCFF01}"/>
              </a:ext>
            </a:extLst>
          </p:cNvPr>
          <p:cNvSpPr>
            <a:spLocks noGrp="1"/>
          </p:cNvSpPr>
          <p:nvPr>
            <p:ph type="pic" sz="quarter" idx="13" hasCustomPrompt="1"/>
          </p:nvPr>
        </p:nvSpPr>
        <p:spPr>
          <a:xfrm>
            <a:off x="6840071" y="0"/>
            <a:ext cx="5351929" cy="6858000"/>
          </a:xfrm>
          <a:solidFill>
            <a:schemeClr val="accent1"/>
          </a:solidFill>
        </p:spPr>
        <p:txBody>
          <a:bodyPr anchor="ctr"/>
          <a:lstStyle>
            <a:lvl1pPr algn="ctr">
              <a:defRPr sz="1800">
                <a:solidFill>
                  <a:schemeClr val="bg1">
                    <a:lumMod val="9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Image</a:t>
            </a:r>
          </a:p>
        </p:txBody>
      </p:sp>
      <p:sp>
        <p:nvSpPr>
          <p:cNvPr id="11" name="TextBox 24">
            <a:extLst>
              <a:ext uri="{FF2B5EF4-FFF2-40B4-BE49-F238E27FC236}">
                <a16:creationId xmlns:a16="http://schemas.microsoft.com/office/drawing/2014/main" id="{DAB4AE32-26BB-8321-7EFA-E42B6212234A}"/>
              </a:ext>
            </a:extLst>
          </p:cNvPr>
          <p:cNvSpPr txBox="1"/>
          <p:nvPr userDrawn="1"/>
        </p:nvSpPr>
        <p:spPr>
          <a:xfrm>
            <a:off x="8317890" y="6482080"/>
            <a:ext cx="3112110" cy="203203"/>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Copyright © 2023 All rights reserved.</a:t>
            </a:r>
            <a:endParaRPr lang="en-US" sz="3599" noProof="0" dirty="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2" name="TextBox 25">
            <a:extLst>
              <a:ext uri="{FF2B5EF4-FFF2-40B4-BE49-F238E27FC236}">
                <a16:creationId xmlns:a16="http://schemas.microsoft.com/office/drawing/2014/main" id="{D1BECB90-2EFE-871B-2CB3-E5569A79DFCE}"/>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a:solidFill>
                <a:schemeClr val="bg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 name="Text Placeholder 6">
            <a:extLst>
              <a:ext uri="{FF2B5EF4-FFF2-40B4-BE49-F238E27FC236}">
                <a16:creationId xmlns:a16="http://schemas.microsoft.com/office/drawing/2014/main" id="{4D1BC210-4595-4FCE-91B3-FF9F214DD640}"/>
              </a:ext>
            </a:extLst>
          </p:cNvPr>
          <p:cNvSpPr>
            <a:spLocks noGrp="1"/>
          </p:cNvSpPr>
          <p:nvPr>
            <p:ph type="body" sz="quarter" idx="14" hasCustomPrompt="1"/>
          </p:nvPr>
        </p:nvSpPr>
        <p:spPr>
          <a:xfrm>
            <a:off x="385762" y="802298"/>
            <a:ext cx="11418888" cy="576263"/>
          </a:xfrm>
          <a:prstGeom prst="rect">
            <a:avLst/>
          </a:prstGeom>
        </p:spPr>
        <p:txBody>
          <a:bodyPr/>
          <a:lstStyle>
            <a:lvl1pPr>
              <a:defRPr sz="1800" b="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pPr lvl="0"/>
            <a:r>
              <a:rPr lang="en-US" dirty="0"/>
              <a:t>Subtitle</a:t>
            </a:r>
          </a:p>
        </p:txBody>
      </p:sp>
      <p:sp>
        <p:nvSpPr>
          <p:cNvPr id="6" name="Title 2">
            <a:extLst>
              <a:ext uri="{FF2B5EF4-FFF2-40B4-BE49-F238E27FC236}">
                <a16:creationId xmlns:a16="http://schemas.microsoft.com/office/drawing/2014/main" id="{A6323E3F-9150-4F6F-8C88-F81C3F5A7134}"/>
              </a:ext>
            </a:extLst>
          </p:cNvPr>
          <p:cNvSpPr>
            <a:spLocks noGrp="1"/>
          </p:cNvSpPr>
          <p:nvPr>
            <p:ph type="title" hasCustomPrompt="1"/>
          </p:nvPr>
        </p:nvSpPr>
        <p:spPr>
          <a:xfrm>
            <a:off x="384174" y="381000"/>
            <a:ext cx="11420475" cy="485775"/>
          </a:xfrm>
          <a:prstGeom prst="rect">
            <a:avLst/>
          </a:prstGeom>
        </p:spPr>
        <p:txBody>
          <a:bodyPr vert="horz"/>
          <a:lstStyle>
            <a:lvl1pPr>
              <a:defRPr sz="240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Template - [type of slide]</a:t>
            </a:r>
          </a:p>
        </p:txBody>
      </p:sp>
      <p:sp>
        <p:nvSpPr>
          <p:cNvPr id="4" name="TextBox 3">
            <a:extLst>
              <a:ext uri="{FF2B5EF4-FFF2-40B4-BE49-F238E27FC236}">
                <a16:creationId xmlns:a16="http://schemas.microsoft.com/office/drawing/2014/main" id="{179F5230-46A5-FE62-C3BC-7C0474038D35}"/>
              </a:ext>
            </a:extLst>
          </p:cNvPr>
          <p:cNvSpPr txBox="1"/>
          <p:nvPr userDrawn="1"/>
        </p:nvSpPr>
        <p:spPr>
          <a:xfrm>
            <a:off x="1343891" y="6594764"/>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7" name="TextBox 6">
            <a:extLst>
              <a:ext uri="{FF2B5EF4-FFF2-40B4-BE49-F238E27FC236}">
                <a16:creationId xmlns:a16="http://schemas.microsoft.com/office/drawing/2014/main" id="{4139796A-FB78-BB61-3AB8-716EEFF5AB30}"/>
              </a:ext>
            </a:extLst>
          </p:cNvPr>
          <p:cNvSpPr txBox="1"/>
          <p:nvPr userDrawn="1"/>
        </p:nvSpPr>
        <p:spPr>
          <a:xfrm>
            <a:off x="674557" y="6625652"/>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8" name="TextBox 7">
            <a:extLst>
              <a:ext uri="{FF2B5EF4-FFF2-40B4-BE49-F238E27FC236}">
                <a16:creationId xmlns:a16="http://schemas.microsoft.com/office/drawing/2014/main" id="{F81A54F4-8900-EB7E-520D-E380342F3E76}"/>
              </a:ext>
            </a:extLst>
          </p:cNvPr>
          <p:cNvSpPr txBox="1"/>
          <p:nvPr userDrawn="1"/>
        </p:nvSpPr>
        <p:spPr>
          <a:xfrm>
            <a:off x="570016" y="6602681"/>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9" name="Rectángulo 8">
            <a:extLst>
              <a:ext uri="{FF2B5EF4-FFF2-40B4-BE49-F238E27FC236}">
                <a16:creationId xmlns:a16="http://schemas.microsoft.com/office/drawing/2014/main" id="{2F668A90-8B18-3EDC-C6A0-E2A986047352}"/>
              </a:ext>
            </a:extLst>
          </p:cNvPr>
          <p:cNvSpPr/>
          <p:nvPr userDrawn="1"/>
        </p:nvSpPr>
        <p:spPr>
          <a:xfrm>
            <a:off x="381001" y="6448425"/>
            <a:ext cx="1016793" cy="303439"/>
          </a:xfrm>
          <a:prstGeom prst="rect">
            <a:avLst/>
          </a:prstGeom>
          <a:solidFill>
            <a:srgbClr val="121E6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pic>
        <p:nvPicPr>
          <p:cNvPr id="13" name="Picture 2" descr="Umbrex Consulting: Independent Management Consultants">
            <a:extLst>
              <a:ext uri="{FF2B5EF4-FFF2-40B4-BE49-F238E27FC236}">
                <a16:creationId xmlns:a16="http://schemas.microsoft.com/office/drawing/2014/main" id="{2EC0117A-3A57-68B7-5762-BA2E1EF1B8FF}"/>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71475" y="6467475"/>
            <a:ext cx="1008505" cy="285012"/>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9529023"/>
      </p:ext>
    </p:extLst>
  </p:cSld>
  <p:clrMapOvr>
    <a:masterClrMapping/>
  </p:clrMapOvr>
  <p:extLst>
    <p:ext uri="{DCECCB84-F9BA-43D5-87BE-67443E8EF086}">
      <p15:sldGuideLst xmlns:p15="http://schemas.microsoft.com/office/powerpoint/2012/main">
        <p15:guide id="1" pos="4112">
          <p15:clr>
            <a:srgbClr val="FBAE40"/>
          </p15:clr>
        </p15:guide>
        <p15:guide id="2" pos="449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slideLayout" Target="../slideLayouts/slideLayout9.xml"/><Relationship Id="rId7" Type="http://schemas.openxmlformats.org/officeDocument/2006/relationships/tags" Target="../tags/tag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2.xml"/><Relationship Id="rId5" Type="http://schemas.openxmlformats.org/officeDocument/2006/relationships/slideLayout" Target="../slideLayouts/slideLayout11.xml"/><Relationship Id="rId10" Type="http://schemas.openxmlformats.org/officeDocument/2006/relationships/image" Target="../media/image2.png"/><Relationship Id="rId4" Type="http://schemas.openxmlformats.org/officeDocument/2006/relationships/slideLayout" Target="../slideLayouts/slideLayout10.xml"/><Relationship Id="rId9"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slideLayout" Target="../slideLayouts/slideLayout14.xml"/><Relationship Id="rId7" Type="http://schemas.openxmlformats.org/officeDocument/2006/relationships/tags" Target="../tags/tag15.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10" Type="http://schemas.openxmlformats.org/officeDocument/2006/relationships/image" Target="../media/image2.png"/><Relationship Id="rId4" Type="http://schemas.openxmlformats.org/officeDocument/2006/relationships/slideLayout" Target="../slideLayouts/slideLayout15.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99024E93-9080-0DCF-3BF4-A70CB8A88582}"/>
              </a:ext>
            </a:extLst>
          </p:cNvPr>
          <p:cNvGraphicFramePr>
            <a:graphicFrameLocks noChangeAspect="1"/>
          </p:cNvGraphicFramePr>
          <p:nvPr userDrawn="1">
            <p:custDataLst>
              <p:tags r:id="rId8"/>
            </p:custDataLst>
            <p:extLst>
              <p:ext uri="{D42A27DB-BD31-4B8C-83A1-F6EECF244321}">
                <p14:modId xmlns:p14="http://schemas.microsoft.com/office/powerpoint/2010/main" val="4058538582"/>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9" imgW="317" imgH="318" progId="TCLayout.ActiveDocument.1">
                  <p:embed/>
                </p:oleObj>
              </mc:Choice>
              <mc:Fallback>
                <p:oleObj name="Diapositiva de think-cell" r:id="rId9" imgW="317" imgH="318" progId="TCLayout.ActiveDocument.1">
                  <p:embed/>
                  <p:pic>
                    <p:nvPicPr>
                      <p:cNvPr id="9" name="Object 8" hidden="1">
                        <a:extLst>
                          <a:ext uri="{FF2B5EF4-FFF2-40B4-BE49-F238E27FC236}">
                            <a16:creationId xmlns:a16="http://schemas.microsoft.com/office/drawing/2014/main" id="{99024E93-9080-0DCF-3BF4-A70CB8A88582}"/>
                          </a:ext>
                        </a:extLst>
                      </p:cNvPr>
                      <p:cNvPicPr/>
                      <p:nvPr/>
                    </p:nvPicPr>
                    <p:blipFill>
                      <a:blip r:embed="rId10"/>
                      <a:stretch>
                        <a:fillRect/>
                      </a:stretch>
                    </p:blipFill>
                    <p:spPr>
                      <a:xfrm>
                        <a:off x="794" y="794"/>
                        <a:ext cx="794" cy="794"/>
                      </a:xfrm>
                      <a:prstGeom prst="rect">
                        <a:avLst/>
                      </a:prstGeom>
                    </p:spPr>
                  </p:pic>
                </p:oleObj>
              </mc:Fallback>
            </mc:AlternateContent>
          </a:graphicData>
        </a:graphic>
      </p:graphicFrame>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dirty="0">
              <a:solidFill>
                <a:schemeClr val="tx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71475" y="390525"/>
            <a:ext cx="11449050" cy="990601"/>
          </a:xfrm>
          <a:prstGeom prst="rect">
            <a:avLst/>
          </a:prstGeom>
        </p:spPr>
        <p:txBody>
          <a:bodyPr vert="horz" lIns="0" tIns="0" rIns="0" bIns="0" rtlCol="0" anchor="t">
            <a:noAutofit/>
          </a:bodyPr>
          <a:lstStyle/>
          <a:p>
            <a:r>
              <a:rPr lang="en-US" dirty="0"/>
              <a:t>Template - [type of slide]</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71475" y="1520825"/>
            <a:ext cx="11449050" cy="4791075"/>
          </a:xfrm>
          <a:prstGeom prst="rect">
            <a:avLst/>
          </a:prstGeom>
        </p:spPr>
        <p:txBody>
          <a:bodyPr vert="horz" lIns="0" tIns="0" rIns="0" bIns="0" rtlCol="0">
            <a:noAutofit/>
          </a:bodyPr>
          <a:lstStyle/>
          <a:p>
            <a:pPr lvl="0"/>
            <a:r>
              <a:rPr lang="en-US" dirty="0"/>
              <a:t>First level (copy 20pt)</a:t>
            </a:r>
          </a:p>
          <a:p>
            <a:pPr lvl="1"/>
            <a:r>
              <a:rPr lang="en-US" dirty="0"/>
              <a:t>Second level (bullet 20pt)</a:t>
            </a:r>
          </a:p>
          <a:p>
            <a:pPr lvl="2"/>
            <a:r>
              <a:rPr lang="en-US" dirty="0"/>
              <a:t>Third level (bullet 20pt)</a:t>
            </a:r>
          </a:p>
          <a:p>
            <a:pPr lvl="3"/>
            <a:r>
              <a:rPr lang="en-US" dirty="0"/>
              <a:t>Fourth level (bullet 18pt)</a:t>
            </a:r>
          </a:p>
          <a:p>
            <a:pPr lvl="4"/>
            <a:r>
              <a:rPr lang="en-US" dirty="0"/>
              <a:t>Fifth level (bullet 18pt)</a:t>
            </a:r>
          </a:p>
          <a:p>
            <a:pPr lvl="5"/>
            <a:r>
              <a:rPr lang="en-US" dirty="0"/>
              <a:t>Sixth level (copy 16pt)</a:t>
            </a:r>
          </a:p>
          <a:p>
            <a:pPr lvl="6"/>
            <a:r>
              <a:rPr lang="en-US" dirty="0"/>
              <a:t>Seventh level (small copy 12pt)</a:t>
            </a:r>
          </a:p>
          <a:p>
            <a:pPr lvl="7"/>
            <a:r>
              <a:rPr lang="en-US" dirty="0"/>
              <a:t>EIGHT LEVEL (DESCRIPTOR 10PT)</a:t>
            </a:r>
          </a:p>
          <a:p>
            <a:pPr lvl="8"/>
            <a:r>
              <a:rPr lang="en-US" dirty="0"/>
              <a:t>Ninth level (footer 8pt)</a:t>
            </a:r>
          </a:p>
        </p:txBody>
      </p:sp>
      <p:pic>
        <p:nvPicPr>
          <p:cNvPr id="7" name="Picture 6" descr="A picture containing text&#10;&#10;Description automatically generated">
            <a:extLst>
              <a:ext uri="{FF2B5EF4-FFF2-40B4-BE49-F238E27FC236}">
                <a16:creationId xmlns:a16="http://schemas.microsoft.com/office/drawing/2014/main" id="{48954A4F-E926-C799-A5E9-2836AE134AAD}"/>
              </a:ext>
            </a:extLst>
          </p:cNvPr>
          <p:cNvPicPr>
            <a:picLocks noChangeAspect="1"/>
          </p:cNvPicPr>
          <p:nvPr userDrawn="1"/>
        </p:nvPicPr>
        <p:blipFill>
          <a:blip r:embed="rId11"/>
          <a:stretch>
            <a:fillRect/>
          </a:stretch>
        </p:blipFill>
        <p:spPr>
          <a:xfrm>
            <a:off x="371475" y="6467475"/>
            <a:ext cx="1008505" cy="285012"/>
          </a:xfrm>
          <a:prstGeom prst="rect">
            <a:avLst/>
          </a:prstGeom>
          <a:ln>
            <a:noFill/>
          </a:ln>
        </p:spPr>
      </p:pic>
      <p:sp>
        <p:nvSpPr>
          <p:cNvPr id="4" name="Footer Placeholder 5">
            <a:extLst>
              <a:ext uri="{FF2B5EF4-FFF2-40B4-BE49-F238E27FC236}">
                <a16:creationId xmlns:a16="http://schemas.microsoft.com/office/drawing/2014/main" id="{F8EEA708-D8F5-560B-EE0D-34EF38D9CC80}"/>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dirty="0"/>
              <a:t>Source:_______</a:t>
            </a:r>
          </a:p>
        </p:txBody>
      </p:sp>
    </p:spTree>
    <p:extLst>
      <p:ext uri="{BB962C8B-B14F-4D97-AF65-F5344CB8AC3E}">
        <p14:creationId xmlns:p14="http://schemas.microsoft.com/office/powerpoint/2010/main" val="657117285"/>
      </p:ext>
    </p:extLst>
  </p:cSld>
  <p:clrMap bg1="lt1" tx1="dk1" bg2="lt2" tx2="dk2" accent1="accent1" accent2="accent2" accent3="accent3" accent4="accent4" accent5="accent5" accent6="accent6" hlink="hlink" folHlink="folHlink"/>
  <p:sldLayoutIdLst>
    <p:sldLayoutId id="2147483951" r:id="rId1"/>
    <p:sldLayoutId id="2147483959" r:id="rId2"/>
    <p:sldLayoutId id="2147484009" r:id="rId3"/>
    <p:sldLayoutId id="2147483995" r:id="rId4"/>
    <p:sldLayoutId id="2147483996" r:id="rId5"/>
    <p:sldLayoutId id="2147483994" r:id="rId6"/>
  </p:sldLayoutIdLst>
  <p:hf sldNum="0" hdr="0" dt="0"/>
  <p:txStyles>
    <p:titleStyle>
      <a:lvl1pPr algn="l" defTabSz="914217" rtl="0" eaLnBrk="1" latinLnBrk="0" hangingPunct="1">
        <a:lnSpc>
          <a:spcPct val="80000"/>
        </a:lnSpc>
        <a:spcBef>
          <a:spcPct val="0"/>
        </a:spcBef>
        <a:buNone/>
        <a:defRPr sz="24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p:titleStyle>
    <p:body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3974" userDrawn="1">
          <p15:clr>
            <a:srgbClr val="5ACBF0"/>
          </p15:clr>
        </p15:guide>
        <p15:guide id="6" orient="horz" pos="7994">
          <p15:clr>
            <a:srgbClr val="5ACBF0"/>
          </p15:clr>
        </p15:guide>
        <p15:guide id="7" orient="horz" pos="8153">
          <p15:clr>
            <a:srgbClr val="5ACBF0"/>
          </p15:clr>
        </p15:guide>
        <p15:guide id="8" pos="14916">
          <p15:clr>
            <a:srgbClr val="5ACBF0"/>
          </p15:clr>
        </p15:guide>
        <p15:guide id="10" orient="horz" pos="867" userDrawn="1">
          <p15:clr>
            <a:srgbClr val="F26B43"/>
          </p15:clr>
        </p15:guide>
        <p15:guide id="15" pos="7446" userDrawn="1">
          <p15:clr>
            <a:srgbClr val="F26B43"/>
          </p15:clr>
        </p15:guide>
        <p15:guide id="16" orient="horz" pos="958" userDrawn="1">
          <p15:clr>
            <a:srgbClr val="F26B43"/>
          </p15:clr>
        </p15:guide>
        <p15:guide id="17" orient="horz" pos="232" userDrawn="1">
          <p15:clr>
            <a:srgbClr val="F26B43"/>
          </p15:clr>
        </p15:guide>
        <p15:guide id="19" orient="horz" pos="4156" userDrawn="1">
          <p15:clr>
            <a:srgbClr val="5ACBF0"/>
          </p15:clr>
        </p15:guide>
        <p15:guide id="20" pos="23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99024E93-9080-0DCF-3BF4-A70CB8A88582}"/>
              </a:ext>
            </a:extLst>
          </p:cNvPr>
          <p:cNvGraphicFramePr>
            <a:graphicFrameLocks noChangeAspect="1"/>
          </p:cNvGraphicFramePr>
          <p:nvPr userDrawn="1">
            <p:custDataLst>
              <p:tags r:id="rId7"/>
            </p:custDataLst>
            <p:extLst>
              <p:ext uri="{D42A27DB-BD31-4B8C-83A1-F6EECF244321}">
                <p14:modId xmlns:p14="http://schemas.microsoft.com/office/powerpoint/2010/main" val="4058538582"/>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8" imgW="317" imgH="318" progId="TCLayout.ActiveDocument.1">
                  <p:embed/>
                </p:oleObj>
              </mc:Choice>
              <mc:Fallback>
                <p:oleObj name="Diapositiva de think-cell" r:id="rId8" imgW="317" imgH="318" progId="TCLayout.ActiveDocument.1">
                  <p:embed/>
                  <p:pic>
                    <p:nvPicPr>
                      <p:cNvPr id="9" name="Object 8" hidden="1">
                        <a:extLst>
                          <a:ext uri="{FF2B5EF4-FFF2-40B4-BE49-F238E27FC236}">
                            <a16:creationId xmlns:a16="http://schemas.microsoft.com/office/drawing/2014/main" id="{99024E93-9080-0DCF-3BF4-A70CB8A88582}"/>
                          </a:ext>
                        </a:extLst>
                      </p:cNvPr>
                      <p:cNvPicPr/>
                      <p:nvPr/>
                    </p:nvPicPr>
                    <p:blipFill>
                      <a:blip r:embed="rId9"/>
                      <a:stretch>
                        <a:fillRect/>
                      </a:stretch>
                    </p:blipFill>
                    <p:spPr>
                      <a:xfrm>
                        <a:off x="794" y="794"/>
                        <a:ext cx="794" cy="794"/>
                      </a:xfrm>
                      <a:prstGeom prst="rect">
                        <a:avLst/>
                      </a:prstGeom>
                    </p:spPr>
                  </p:pic>
                </p:oleObj>
              </mc:Fallback>
            </mc:AlternateContent>
          </a:graphicData>
        </a:graphic>
      </p:graphicFrame>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dirty="0">
              <a:solidFill>
                <a:schemeClr val="tx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71475" y="390525"/>
            <a:ext cx="11449050" cy="990601"/>
          </a:xfrm>
          <a:prstGeom prst="rect">
            <a:avLst/>
          </a:prstGeom>
        </p:spPr>
        <p:txBody>
          <a:bodyPr vert="horz" lIns="0" tIns="0" rIns="0" bIns="0" rtlCol="0" anchor="t">
            <a:noAutofit/>
          </a:bodyPr>
          <a:lstStyle/>
          <a:p>
            <a:r>
              <a:rPr lang="en-US" dirty="0"/>
              <a:t>Template - [type of slide]</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71475" y="1520825"/>
            <a:ext cx="11449050" cy="4791075"/>
          </a:xfrm>
          <a:prstGeom prst="rect">
            <a:avLst/>
          </a:prstGeom>
        </p:spPr>
        <p:txBody>
          <a:bodyPr vert="horz" lIns="0" tIns="0" rIns="0" bIns="0" rtlCol="0">
            <a:noAutofit/>
          </a:bodyPr>
          <a:lstStyle/>
          <a:p>
            <a:pPr lvl="0"/>
            <a:r>
              <a:rPr lang="en-US" dirty="0"/>
              <a:t>First level (copy 20pt)</a:t>
            </a:r>
          </a:p>
          <a:p>
            <a:pPr lvl="1"/>
            <a:r>
              <a:rPr lang="en-US" dirty="0"/>
              <a:t>Second level (bullet 20pt)</a:t>
            </a:r>
          </a:p>
          <a:p>
            <a:pPr lvl="2"/>
            <a:r>
              <a:rPr lang="en-US" dirty="0"/>
              <a:t>Third level (bullet 20pt)</a:t>
            </a:r>
          </a:p>
          <a:p>
            <a:pPr lvl="3"/>
            <a:r>
              <a:rPr lang="en-US" dirty="0"/>
              <a:t>Fourth level (bullet 18pt)</a:t>
            </a:r>
          </a:p>
          <a:p>
            <a:pPr lvl="4"/>
            <a:r>
              <a:rPr lang="en-US" dirty="0"/>
              <a:t>Fifth level (bullet 18pt)</a:t>
            </a:r>
          </a:p>
          <a:p>
            <a:pPr lvl="5"/>
            <a:r>
              <a:rPr lang="en-US" dirty="0"/>
              <a:t>Sixth level (copy 16pt)</a:t>
            </a:r>
          </a:p>
          <a:p>
            <a:pPr lvl="6"/>
            <a:r>
              <a:rPr lang="en-US" dirty="0"/>
              <a:t>Seventh level (small copy 12pt)</a:t>
            </a:r>
          </a:p>
          <a:p>
            <a:pPr lvl="7"/>
            <a:r>
              <a:rPr lang="en-US" dirty="0"/>
              <a:t>EIGHT LEVEL (DESCRIPTOR 10PT)</a:t>
            </a:r>
          </a:p>
          <a:p>
            <a:pPr lvl="8"/>
            <a:r>
              <a:rPr lang="en-US" dirty="0"/>
              <a:t>Ninth level (footer 8pt)</a:t>
            </a:r>
          </a:p>
        </p:txBody>
      </p:sp>
      <p:sp>
        <p:nvSpPr>
          <p:cNvPr id="4" name="Footer Placeholder 5">
            <a:extLst>
              <a:ext uri="{FF2B5EF4-FFF2-40B4-BE49-F238E27FC236}">
                <a16:creationId xmlns:a16="http://schemas.microsoft.com/office/drawing/2014/main" id="{2EC74C13-59C6-D0ED-8482-5AB5AAA56CCF}"/>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Source:_______</a:t>
            </a:r>
            <a:endParaRPr lang="en-US" dirty="0"/>
          </a:p>
        </p:txBody>
      </p:sp>
      <p:pic>
        <p:nvPicPr>
          <p:cNvPr id="5" name="Picture 6" descr="A picture containing text&#10;&#10;Description automatically generated">
            <a:extLst>
              <a:ext uri="{FF2B5EF4-FFF2-40B4-BE49-F238E27FC236}">
                <a16:creationId xmlns:a16="http://schemas.microsoft.com/office/drawing/2014/main" id="{3A8D54DD-CD28-25CA-670E-EA3B39B314FC}"/>
              </a:ext>
            </a:extLst>
          </p:cNvPr>
          <p:cNvPicPr>
            <a:picLocks noChangeAspect="1"/>
          </p:cNvPicPr>
          <p:nvPr userDrawn="1"/>
        </p:nvPicPr>
        <p:blipFill>
          <a:blip r:embed="rId10"/>
          <a:stretch>
            <a:fillRect/>
          </a:stretch>
        </p:blipFill>
        <p:spPr>
          <a:xfrm>
            <a:off x="371475" y="6467475"/>
            <a:ext cx="1008505" cy="285012"/>
          </a:xfrm>
          <a:prstGeom prst="rect">
            <a:avLst/>
          </a:prstGeom>
        </p:spPr>
      </p:pic>
    </p:spTree>
    <p:extLst>
      <p:ext uri="{BB962C8B-B14F-4D97-AF65-F5344CB8AC3E}">
        <p14:creationId xmlns:p14="http://schemas.microsoft.com/office/powerpoint/2010/main" val="3070364208"/>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Lst>
  <p:hf sldNum="0" hdr="0" dt="0"/>
  <p:txStyles>
    <p:titleStyle>
      <a:lvl1pPr algn="l" defTabSz="914217" rtl="0" eaLnBrk="1" latinLnBrk="0" hangingPunct="1">
        <a:lnSpc>
          <a:spcPct val="80000"/>
        </a:lnSpc>
        <a:spcBef>
          <a:spcPct val="0"/>
        </a:spcBef>
        <a:buNone/>
        <a:defRPr sz="24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p:titleStyle>
    <p:body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3974">
          <p15:clr>
            <a:srgbClr val="5ACBF0"/>
          </p15:clr>
        </p15:guide>
        <p15:guide id="6" orient="horz" pos="7994">
          <p15:clr>
            <a:srgbClr val="5ACBF0"/>
          </p15:clr>
        </p15:guide>
        <p15:guide id="7" orient="horz" pos="8153">
          <p15:clr>
            <a:srgbClr val="5ACBF0"/>
          </p15:clr>
        </p15:guide>
        <p15:guide id="8" pos="14916">
          <p15:clr>
            <a:srgbClr val="5ACBF0"/>
          </p15:clr>
        </p15:guide>
        <p15:guide id="10" orient="horz" pos="867">
          <p15:clr>
            <a:srgbClr val="F26B43"/>
          </p15:clr>
        </p15:guide>
        <p15:guide id="15" pos="7446">
          <p15:clr>
            <a:srgbClr val="F26B43"/>
          </p15:clr>
        </p15:guide>
        <p15:guide id="16" orient="horz" pos="958">
          <p15:clr>
            <a:srgbClr val="F26B43"/>
          </p15:clr>
        </p15:guide>
        <p15:guide id="17" orient="horz" pos="232">
          <p15:clr>
            <a:srgbClr val="F26B43"/>
          </p15:clr>
        </p15:guide>
        <p15:guide id="19" orient="horz" pos="4156">
          <p15:clr>
            <a:srgbClr val="5ACBF0"/>
          </p15:clr>
        </p15:guide>
        <p15:guide id="20" pos="23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99024E93-9080-0DCF-3BF4-A70CB8A88582}"/>
              </a:ext>
            </a:extLst>
          </p:cNvPr>
          <p:cNvGraphicFramePr>
            <a:graphicFrameLocks noChangeAspect="1"/>
          </p:cNvGraphicFramePr>
          <p:nvPr userDrawn="1">
            <p:custDataLst>
              <p:tags r:id="rId7"/>
            </p:custDataLst>
            <p:extLst>
              <p:ext uri="{D42A27DB-BD31-4B8C-83A1-F6EECF244321}">
                <p14:modId xmlns:p14="http://schemas.microsoft.com/office/powerpoint/2010/main" val="4058538582"/>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Diapositiva de think-cell" r:id="rId8" imgW="317" imgH="318" progId="TCLayout.ActiveDocument.1">
                  <p:embed/>
                </p:oleObj>
              </mc:Choice>
              <mc:Fallback>
                <p:oleObj name="Diapositiva de think-cell" r:id="rId8" imgW="317" imgH="318" progId="TCLayout.ActiveDocument.1">
                  <p:embed/>
                  <p:pic>
                    <p:nvPicPr>
                      <p:cNvPr id="9" name="Object 8" hidden="1">
                        <a:extLst>
                          <a:ext uri="{FF2B5EF4-FFF2-40B4-BE49-F238E27FC236}">
                            <a16:creationId xmlns:a16="http://schemas.microsoft.com/office/drawing/2014/main" id="{99024E93-9080-0DCF-3BF4-A70CB8A88582}"/>
                          </a:ext>
                        </a:extLst>
                      </p:cNvPr>
                      <p:cNvPicPr/>
                      <p:nvPr/>
                    </p:nvPicPr>
                    <p:blipFill>
                      <a:blip r:embed="rId9"/>
                      <a:stretch>
                        <a:fillRect/>
                      </a:stretch>
                    </p:blipFill>
                    <p:spPr>
                      <a:xfrm>
                        <a:off x="794" y="794"/>
                        <a:ext cx="794" cy="794"/>
                      </a:xfrm>
                      <a:prstGeom prst="rect">
                        <a:avLst/>
                      </a:prstGeom>
                    </p:spPr>
                  </p:pic>
                </p:oleObj>
              </mc:Fallback>
            </mc:AlternateContent>
          </a:graphicData>
        </a:graphic>
      </p:graphicFrame>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4"/>
            <a:ext cx="381000" cy="205775"/>
          </a:xfrm>
          <a:prstGeom prst="rect">
            <a:avLst/>
          </a:prstGeom>
          <a:noFill/>
        </p:spPr>
        <p:txBody>
          <a:bodyPr wrap="square" lIns="0" tIns="0" rIns="0" bIns="0" rtlCol="0" anchor="ctr">
            <a:noAutofit/>
          </a:bodyPr>
          <a:lstStyle/>
          <a:p>
            <a:pPr marL="0" marR="0" lvl="0" indent="0" algn="r" defTabSz="22855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pPr marL="0" marR="0" lvl="0" indent="0" algn="r" defTabSz="228554" rtl="0" eaLnBrk="1" fontAlgn="auto" latinLnBrk="0" hangingPunct="1">
                <a:lnSpc>
                  <a:spcPct val="100000"/>
                </a:lnSpc>
                <a:spcBef>
                  <a:spcPts val="0"/>
                </a:spcBef>
                <a:spcAft>
                  <a:spcPts val="1200"/>
                </a:spcAft>
                <a:buClrTx/>
                <a:buSzTx/>
                <a:buFontTx/>
                <a:buNone/>
                <a:tabLst/>
                <a:defRPr/>
              </a:pPr>
              <a:t>‹#›</a:t>
            </a:fld>
            <a:endParaRPr lang="en-US" sz="3599" noProof="0" dirty="0">
              <a:solidFill>
                <a:schemeClr val="tx1">
                  <a:alpha val="75000"/>
                </a:schemeClr>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71475" y="390525"/>
            <a:ext cx="11449050" cy="990601"/>
          </a:xfrm>
          <a:prstGeom prst="rect">
            <a:avLst/>
          </a:prstGeom>
        </p:spPr>
        <p:txBody>
          <a:bodyPr vert="horz" lIns="0" tIns="0" rIns="0" bIns="0" rtlCol="0" anchor="t">
            <a:noAutofit/>
          </a:bodyPr>
          <a:lstStyle/>
          <a:p>
            <a:r>
              <a:rPr lang="en-US" dirty="0"/>
              <a:t>Template - [type of slide]</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71475" y="1520825"/>
            <a:ext cx="11449050" cy="4791075"/>
          </a:xfrm>
          <a:prstGeom prst="rect">
            <a:avLst/>
          </a:prstGeom>
        </p:spPr>
        <p:txBody>
          <a:bodyPr vert="horz" lIns="0" tIns="0" rIns="0" bIns="0" rtlCol="0">
            <a:noAutofit/>
          </a:bodyPr>
          <a:lstStyle/>
          <a:p>
            <a:pPr lvl="0"/>
            <a:r>
              <a:rPr lang="en-US" dirty="0"/>
              <a:t>First level (copy 20pt)</a:t>
            </a:r>
          </a:p>
          <a:p>
            <a:pPr lvl="1"/>
            <a:r>
              <a:rPr lang="en-US" dirty="0"/>
              <a:t>Second level (bullet 20pt)</a:t>
            </a:r>
          </a:p>
          <a:p>
            <a:pPr lvl="2"/>
            <a:r>
              <a:rPr lang="en-US" dirty="0"/>
              <a:t>Third level (bullet 20pt)</a:t>
            </a:r>
          </a:p>
          <a:p>
            <a:pPr lvl="3"/>
            <a:r>
              <a:rPr lang="en-US" dirty="0"/>
              <a:t>Fourth level (bullet 18pt)</a:t>
            </a:r>
          </a:p>
          <a:p>
            <a:pPr lvl="4"/>
            <a:r>
              <a:rPr lang="en-US" dirty="0"/>
              <a:t>Fifth level (bullet 18pt)</a:t>
            </a:r>
          </a:p>
          <a:p>
            <a:pPr lvl="5"/>
            <a:r>
              <a:rPr lang="en-US" dirty="0"/>
              <a:t>Sixth level (copy 16pt)</a:t>
            </a:r>
          </a:p>
          <a:p>
            <a:pPr lvl="6"/>
            <a:r>
              <a:rPr lang="en-US" dirty="0"/>
              <a:t>Seventh level (small copy 12pt)</a:t>
            </a:r>
          </a:p>
          <a:p>
            <a:pPr lvl="7"/>
            <a:r>
              <a:rPr lang="en-US" dirty="0"/>
              <a:t>EIGHT LEVEL (DESCRIPTOR 10PT)</a:t>
            </a:r>
          </a:p>
          <a:p>
            <a:pPr lvl="8"/>
            <a:r>
              <a:rPr lang="en-US" dirty="0"/>
              <a:t>Ninth level (footer 8pt)</a:t>
            </a:r>
          </a:p>
        </p:txBody>
      </p:sp>
      <p:sp>
        <p:nvSpPr>
          <p:cNvPr id="4" name="Footer Placeholder 5">
            <a:extLst>
              <a:ext uri="{FF2B5EF4-FFF2-40B4-BE49-F238E27FC236}">
                <a16:creationId xmlns:a16="http://schemas.microsoft.com/office/drawing/2014/main" id="{1C1CEEF9-2838-1E73-4D09-9579EC0FA290}"/>
              </a:ext>
            </a:extLst>
          </p:cNvPr>
          <p:cNvSpPr>
            <a:spLocks noGrp="1"/>
          </p:cNvSpPr>
          <p:nvPr>
            <p:ph type="ftr" sz="quarter" idx="3"/>
          </p:nvPr>
        </p:nvSpPr>
        <p:spPr>
          <a:xfrm>
            <a:off x="2318941" y="6460383"/>
            <a:ext cx="5847522" cy="24068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Source:_______</a:t>
            </a:r>
            <a:endParaRPr lang="en-US" dirty="0"/>
          </a:p>
        </p:txBody>
      </p:sp>
      <p:pic>
        <p:nvPicPr>
          <p:cNvPr id="5" name="Picture 6" descr="A picture containing text&#10;&#10;Description automatically generated">
            <a:extLst>
              <a:ext uri="{FF2B5EF4-FFF2-40B4-BE49-F238E27FC236}">
                <a16:creationId xmlns:a16="http://schemas.microsoft.com/office/drawing/2014/main" id="{C5F4ADFC-3B6B-6440-7726-28F382846F3F}"/>
              </a:ext>
            </a:extLst>
          </p:cNvPr>
          <p:cNvPicPr>
            <a:picLocks noChangeAspect="1"/>
          </p:cNvPicPr>
          <p:nvPr userDrawn="1"/>
        </p:nvPicPr>
        <p:blipFill>
          <a:blip r:embed="rId10"/>
          <a:stretch>
            <a:fillRect/>
          </a:stretch>
        </p:blipFill>
        <p:spPr>
          <a:xfrm>
            <a:off x="371475" y="6467475"/>
            <a:ext cx="1008505" cy="285012"/>
          </a:xfrm>
          <a:prstGeom prst="rect">
            <a:avLst/>
          </a:prstGeom>
        </p:spPr>
      </p:pic>
    </p:spTree>
    <p:extLst>
      <p:ext uri="{BB962C8B-B14F-4D97-AF65-F5344CB8AC3E}">
        <p14:creationId xmlns:p14="http://schemas.microsoft.com/office/powerpoint/2010/main" val="1062126388"/>
      </p:ext>
    </p:extLst>
  </p:cSld>
  <p:clrMap bg1="lt1" tx1="dk1" bg2="lt2" tx2="dk2" accent1="accent1" accent2="accent2" accent3="accent3" accent4="accent4" accent5="accent5" accent6="accent6" hlink="hlink" folHlink="folHlink"/>
  <p:sldLayoutIdLst>
    <p:sldLayoutId id="2147484004" r:id="rId1"/>
    <p:sldLayoutId id="2147484005" r:id="rId2"/>
    <p:sldLayoutId id="2147484006" r:id="rId3"/>
    <p:sldLayoutId id="2147484007" r:id="rId4"/>
    <p:sldLayoutId id="2147484008" r:id="rId5"/>
  </p:sldLayoutIdLst>
  <p:hf sldNum="0" hdr="0" dt="0"/>
  <p:txStyles>
    <p:titleStyle>
      <a:lvl1pPr algn="l" defTabSz="914217" rtl="0" eaLnBrk="1" latinLnBrk="0" hangingPunct="1">
        <a:lnSpc>
          <a:spcPct val="80000"/>
        </a:lnSpc>
        <a:spcBef>
          <a:spcPct val="0"/>
        </a:spcBef>
        <a:buNone/>
        <a:defRPr sz="24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p:titleStyle>
    <p:body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p:bodyStyle>
    <p:otherStyle>
      <a:defPPr>
        <a:defRPr lang="en-US"/>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3974">
          <p15:clr>
            <a:srgbClr val="5ACBF0"/>
          </p15:clr>
        </p15:guide>
        <p15:guide id="6" orient="horz" pos="7994">
          <p15:clr>
            <a:srgbClr val="5ACBF0"/>
          </p15:clr>
        </p15:guide>
        <p15:guide id="7" orient="horz" pos="8153">
          <p15:clr>
            <a:srgbClr val="5ACBF0"/>
          </p15:clr>
        </p15:guide>
        <p15:guide id="8" pos="14916">
          <p15:clr>
            <a:srgbClr val="5ACBF0"/>
          </p15:clr>
        </p15:guide>
        <p15:guide id="10" orient="horz" pos="867">
          <p15:clr>
            <a:srgbClr val="F26B43"/>
          </p15:clr>
        </p15:guide>
        <p15:guide id="15" pos="7446">
          <p15:clr>
            <a:srgbClr val="F26B43"/>
          </p15:clr>
        </p15:guide>
        <p15:guide id="16" orient="horz" pos="958">
          <p15:clr>
            <a:srgbClr val="F26B43"/>
          </p15:clr>
        </p15:guide>
        <p15:guide id="17" orient="horz" pos="232">
          <p15:clr>
            <a:srgbClr val="F26B43"/>
          </p15:clr>
        </p15:guide>
        <p15:guide id="19" orient="horz" pos="4156">
          <p15:clr>
            <a:srgbClr val="5ACBF0"/>
          </p15:clr>
        </p15:guide>
        <p15:guide id="20" pos="23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1.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20.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4.xml"/><Relationship Id="rId1" Type="http://schemas.openxmlformats.org/officeDocument/2006/relationships/tags" Target="../tags/tag22.xml"/><Relationship Id="rId4" Type="http://schemas.openxmlformats.org/officeDocument/2006/relationships/image" Target="../media/image7.emf"/></Relationships>
</file>

<file path=ppt/slides/_rels/slide3.xml.rels><?xml version="1.0" encoding="UTF-8" standalone="yes"?>
<Relationships xmlns="http://schemas.openxmlformats.org/package/2006/relationships"><Relationship Id="rId8" Type="http://schemas.openxmlformats.org/officeDocument/2006/relationships/slide" Target="slide30.xml"/><Relationship Id="rId13" Type="http://schemas.openxmlformats.org/officeDocument/2006/relationships/slide" Target="slide48.xml"/><Relationship Id="rId18" Type="http://schemas.openxmlformats.org/officeDocument/2006/relationships/slide" Target="slide65.xml"/><Relationship Id="rId26" Type="http://schemas.openxmlformats.org/officeDocument/2006/relationships/slide" Target="slide97.xml"/><Relationship Id="rId3" Type="http://schemas.openxmlformats.org/officeDocument/2006/relationships/oleObject" Target="../embeddings/oleObject22.bin"/><Relationship Id="rId21" Type="http://schemas.openxmlformats.org/officeDocument/2006/relationships/slide" Target="slide77.xml"/><Relationship Id="rId7" Type="http://schemas.openxmlformats.org/officeDocument/2006/relationships/slide" Target="slide18.xml"/><Relationship Id="rId12" Type="http://schemas.openxmlformats.org/officeDocument/2006/relationships/slide" Target="slide45.xml"/><Relationship Id="rId17" Type="http://schemas.openxmlformats.org/officeDocument/2006/relationships/slide" Target="slide61.xml"/><Relationship Id="rId25" Type="http://schemas.openxmlformats.org/officeDocument/2006/relationships/slide" Target="slide94.xml"/><Relationship Id="rId2" Type="http://schemas.openxmlformats.org/officeDocument/2006/relationships/slideLayout" Target="../slideLayouts/slideLayout14.xml"/><Relationship Id="rId16" Type="http://schemas.openxmlformats.org/officeDocument/2006/relationships/slide" Target="slide57.xml"/><Relationship Id="rId20" Type="http://schemas.openxmlformats.org/officeDocument/2006/relationships/slide" Target="slide73.xml"/><Relationship Id="rId1" Type="http://schemas.openxmlformats.org/officeDocument/2006/relationships/tags" Target="../tags/tag23.xml"/><Relationship Id="rId6" Type="http://schemas.openxmlformats.org/officeDocument/2006/relationships/slide" Target="slide17.xml"/><Relationship Id="rId11" Type="http://schemas.openxmlformats.org/officeDocument/2006/relationships/slide" Target="slide42.xml"/><Relationship Id="rId24" Type="http://schemas.openxmlformats.org/officeDocument/2006/relationships/slide" Target="slide90.xml"/><Relationship Id="rId5" Type="http://schemas.openxmlformats.org/officeDocument/2006/relationships/slide" Target="slide6.xml"/><Relationship Id="rId15" Type="http://schemas.openxmlformats.org/officeDocument/2006/relationships/slide" Target="slide54.xml"/><Relationship Id="rId23" Type="http://schemas.openxmlformats.org/officeDocument/2006/relationships/slide" Target="slide86.xml"/><Relationship Id="rId28" Type="http://schemas.openxmlformats.org/officeDocument/2006/relationships/slide" Target="slide104.xml"/><Relationship Id="rId10" Type="http://schemas.openxmlformats.org/officeDocument/2006/relationships/slide" Target="slide39.xml"/><Relationship Id="rId19" Type="http://schemas.openxmlformats.org/officeDocument/2006/relationships/slide" Target="slide70.xml"/><Relationship Id="rId4" Type="http://schemas.openxmlformats.org/officeDocument/2006/relationships/image" Target="../media/image8.emf"/><Relationship Id="rId9" Type="http://schemas.openxmlformats.org/officeDocument/2006/relationships/slide" Target="slide34.xml"/><Relationship Id="rId14" Type="http://schemas.openxmlformats.org/officeDocument/2006/relationships/slide" Target="slide51.xml"/><Relationship Id="rId22" Type="http://schemas.openxmlformats.org/officeDocument/2006/relationships/slide" Target="slide81.xml"/><Relationship Id="rId27" Type="http://schemas.openxmlformats.org/officeDocument/2006/relationships/slide" Target="slide100.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oleObject" Target="../embeddings/oleObject23.bin"/><Relationship Id="rId7" Type="http://schemas.openxmlformats.org/officeDocument/2006/relationships/image" Target="../media/image10.png"/><Relationship Id="rId2" Type="http://schemas.openxmlformats.org/officeDocument/2006/relationships/slideLayout" Target="../slideLayouts/slideLayout14.xml"/><Relationship Id="rId1" Type="http://schemas.openxmlformats.org/officeDocument/2006/relationships/tags" Target="../tags/tag24.xml"/><Relationship Id="rId6" Type="http://schemas.openxmlformats.org/officeDocument/2006/relationships/image" Target="../media/image9.png"/><Relationship Id="rId5" Type="http://schemas.openxmlformats.org/officeDocument/2006/relationships/hyperlink" Target="https://umbrex.com/resources/powerpoint-slides/powerpoint-templates-download/" TargetMode="External"/><Relationship Id="rId10" Type="http://schemas.openxmlformats.org/officeDocument/2006/relationships/image" Target="../media/image13.png"/><Relationship Id="rId4" Type="http://schemas.openxmlformats.org/officeDocument/2006/relationships/image" Target="../media/image8.emf"/><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hyperlink" Target="https://umbrex.com/resources/powerpoint-slides/powerpoint-templates-download/" TargetMode="External"/><Relationship Id="rId3" Type="http://schemas.openxmlformats.org/officeDocument/2006/relationships/oleObject" Target="../embeddings/oleObject24.bin"/><Relationship Id="rId7" Type="http://schemas.openxmlformats.org/officeDocument/2006/relationships/image" Target="../media/image15.png"/><Relationship Id="rId2" Type="http://schemas.openxmlformats.org/officeDocument/2006/relationships/slideLayout" Target="../slideLayouts/slideLayout14.xml"/><Relationship Id="rId1" Type="http://schemas.openxmlformats.org/officeDocument/2006/relationships/tags" Target="../tags/tag25.xml"/><Relationship Id="rId6" Type="http://schemas.openxmlformats.org/officeDocument/2006/relationships/image" Target="../media/image9.png"/><Relationship Id="rId5" Type="http://schemas.openxmlformats.org/officeDocument/2006/relationships/image" Target="../media/image14.png"/><Relationship Id="rId10" Type="http://schemas.openxmlformats.org/officeDocument/2006/relationships/image" Target="../media/image17.png"/><Relationship Id="rId4" Type="http://schemas.openxmlformats.org/officeDocument/2006/relationships/image" Target="../media/image8.emf"/><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6.xml"/><Relationship Id="rId1" Type="http://schemas.openxmlformats.org/officeDocument/2006/relationships/tags" Target="../tags/tag26.xml"/><Relationship Id="rId5" Type="http://schemas.openxmlformats.org/officeDocument/2006/relationships/image" Target="../media/image18.emf"/><Relationship Id="rId4" Type="http://schemas.openxmlformats.org/officeDocument/2006/relationships/oleObject" Target="../embeddings/oleObject25.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4.xml"/><Relationship Id="rId1" Type="http://schemas.openxmlformats.org/officeDocument/2006/relationships/tags" Target="../tags/tag27.xml"/><Relationship Id="rId6" Type="http://schemas.openxmlformats.org/officeDocument/2006/relationships/hyperlink" Target="https://umbrex.com/independent-management-consultants/?utm_source=deck&amp;utm_id=ppt" TargetMode="External"/><Relationship Id="rId5" Type="http://schemas.openxmlformats.org/officeDocument/2006/relationships/image" Target="../media/image19.png"/><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4.xml"/><Relationship Id="rId1" Type="http://schemas.openxmlformats.org/officeDocument/2006/relationships/tags" Target="../tags/tag28.xml"/><Relationship Id="rId6" Type="http://schemas.openxmlformats.org/officeDocument/2006/relationships/hyperlink" Target="https://umbrex.com/independent-management-consultants/?utm_source=deck&amp;utm_id=ppt" TargetMode="External"/><Relationship Id="rId5" Type="http://schemas.openxmlformats.org/officeDocument/2006/relationships/image" Target="../media/image19.png"/><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4.xml"/><Relationship Id="rId1" Type="http://schemas.openxmlformats.org/officeDocument/2006/relationships/tags" Target="../tags/tag29.xml"/><Relationship Id="rId6" Type="http://schemas.openxmlformats.org/officeDocument/2006/relationships/hyperlink" Target="https://umbrex.com/independent-management-consultants/?utm_source=deck&amp;utm_id=ppt" TargetMode="External"/><Relationship Id="rId5" Type="http://schemas.openxmlformats.org/officeDocument/2006/relationships/image" Target="../media/image19.png"/><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4.xml"/><Relationship Id="rId1" Type="http://schemas.openxmlformats.org/officeDocument/2006/relationships/tags" Target="../tags/tag30.xml"/><Relationship Id="rId6" Type="http://schemas.openxmlformats.org/officeDocument/2006/relationships/hyperlink" Target="https://umbrex.com/independent-management-consultants/?utm_source=deck&amp;utm_id=ppt" TargetMode="External"/><Relationship Id="rId5" Type="http://schemas.openxmlformats.org/officeDocument/2006/relationships/image" Target="../media/image19.png"/><Relationship Id="rId4" Type="http://schemas.openxmlformats.org/officeDocument/2006/relationships/image" Target="../media/image8.emf"/></Relationships>
</file>

<file path=ppt/slides/_rels/slide11.xml.rels><?xml version="1.0" encoding="UTF-8" standalone="yes"?>
<Relationships xmlns="http://schemas.openxmlformats.org/package/2006/relationships"><Relationship Id="rId8" Type="http://schemas.openxmlformats.org/officeDocument/2006/relationships/chart" Target="../charts/chart3.xml"/><Relationship Id="rId13" Type="http://schemas.openxmlformats.org/officeDocument/2006/relationships/image" Target="../media/image24.png"/><Relationship Id="rId3" Type="http://schemas.openxmlformats.org/officeDocument/2006/relationships/oleObject" Target="../embeddings/oleObject30.bin"/><Relationship Id="rId7" Type="http://schemas.openxmlformats.org/officeDocument/2006/relationships/chart" Target="../charts/chart2.xml"/><Relationship Id="rId12" Type="http://schemas.openxmlformats.org/officeDocument/2006/relationships/image" Target="../media/image23.svg"/><Relationship Id="rId17" Type="http://schemas.openxmlformats.org/officeDocument/2006/relationships/hyperlink" Target="https://umbrex.com/independent-management-consultants/?utm_source=deck&amp;utm_id=ppt" TargetMode="External"/><Relationship Id="rId2" Type="http://schemas.openxmlformats.org/officeDocument/2006/relationships/slideLayout" Target="../slideLayouts/slideLayout14.xml"/><Relationship Id="rId16" Type="http://schemas.openxmlformats.org/officeDocument/2006/relationships/image" Target="../media/image27.svg"/><Relationship Id="rId1" Type="http://schemas.openxmlformats.org/officeDocument/2006/relationships/tags" Target="../tags/tag31.xml"/><Relationship Id="rId6" Type="http://schemas.openxmlformats.org/officeDocument/2006/relationships/chart" Target="../charts/chart1.xml"/><Relationship Id="rId11" Type="http://schemas.openxmlformats.org/officeDocument/2006/relationships/image" Target="../media/image22.png"/><Relationship Id="rId5" Type="http://schemas.openxmlformats.org/officeDocument/2006/relationships/image" Target="../media/image19.png"/><Relationship Id="rId15" Type="http://schemas.openxmlformats.org/officeDocument/2006/relationships/image" Target="../media/image26.png"/><Relationship Id="rId10" Type="http://schemas.openxmlformats.org/officeDocument/2006/relationships/image" Target="../media/image21.svg"/><Relationship Id="rId4" Type="http://schemas.openxmlformats.org/officeDocument/2006/relationships/image" Target="../media/image8.emf"/><Relationship Id="rId9" Type="http://schemas.openxmlformats.org/officeDocument/2006/relationships/image" Target="../media/image20.png"/><Relationship Id="rId14" Type="http://schemas.openxmlformats.org/officeDocument/2006/relationships/image" Target="../media/image25.svg"/></Relationships>
</file>

<file path=ppt/slides/_rels/slide12.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5.png"/><Relationship Id="rId3" Type="http://schemas.openxmlformats.org/officeDocument/2006/relationships/oleObject" Target="../embeddings/oleObject31.bin"/><Relationship Id="rId7" Type="http://schemas.openxmlformats.org/officeDocument/2006/relationships/image" Target="../media/image29.png"/><Relationship Id="rId12" Type="http://schemas.openxmlformats.org/officeDocument/2006/relationships/image" Target="../media/image34.svg"/><Relationship Id="rId2" Type="http://schemas.openxmlformats.org/officeDocument/2006/relationships/slideLayout" Target="../slideLayouts/slideLayout14.xml"/><Relationship Id="rId16" Type="http://schemas.openxmlformats.org/officeDocument/2006/relationships/image" Target="../media/image38.svg"/><Relationship Id="rId1" Type="http://schemas.openxmlformats.org/officeDocument/2006/relationships/tags" Target="../tags/tag32.xml"/><Relationship Id="rId6" Type="http://schemas.openxmlformats.org/officeDocument/2006/relationships/image" Target="../media/image19.png"/><Relationship Id="rId11" Type="http://schemas.openxmlformats.org/officeDocument/2006/relationships/image" Target="../media/image33.png"/><Relationship Id="rId5" Type="http://schemas.openxmlformats.org/officeDocument/2006/relationships/hyperlink" Target="https://umbrex.com/join-our-community/?utm_source=deck&amp;utm_id=ppt" TargetMode="External"/><Relationship Id="rId15" Type="http://schemas.openxmlformats.org/officeDocument/2006/relationships/image" Target="../media/image37.png"/><Relationship Id="rId10" Type="http://schemas.openxmlformats.org/officeDocument/2006/relationships/image" Target="../media/image32.svg"/><Relationship Id="rId4" Type="http://schemas.openxmlformats.org/officeDocument/2006/relationships/image" Target="../media/image28.emf"/><Relationship Id="rId9" Type="http://schemas.openxmlformats.org/officeDocument/2006/relationships/image" Target="../media/image31.png"/><Relationship Id="rId14" Type="http://schemas.openxmlformats.org/officeDocument/2006/relationships/image" Target="../media/image36.sv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2.bin"/><Relationship Id="rId7" Type="http://schemas.openxmlformats.org/officeDocument/2006/relationships/hyperlink" Target="https://umbrex.com/independent-management-consultants/?utm_source=deck&amp;utm_id=ppt" TargetMode="External"/><Relationship Id="rId2" Type="http://schemas.openxmlformats.org/officeDocument/2006/relationships/slideLayout" Target="../slideLayouts/slideLayout14.xml"/><Relationship Id="rId1" Type="http://schemas.openxmlformats.org/officeDocument/2006/relationships/tags" Target="../tags/tag33.xml"/><Relationship Id="rId6" Type="http://schemas.openxmlformats.org/officeDocument/2006/relationships/image" Target="../media/image19.png"/><Relationship Id="rId5" Type="http://schemas.openxmlformats.org/officeDocument/2006/relationships/image" Target="../media/image39.png"/><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svg"/><Relationship Id="rId3" Type="http://schemas.openxmlformats.org/officeDocument/2006/relationships/oleObject" Target="../embeddings/oleObject33.bin"/><Relationship Id="rId7" Type="http://schemas.openxmlformats.org/officeDocument/2006/relationships/image" Target="../media/image41.svg"/><Relationship Id="rId12" Type="http://schemas.openxmlformats.org/officeDocument/2006/relationships/image" Target="../media/image46.png"/><Relationship Id="rId2" Type="http://schemas.openxmlformats.org/officeDocument/2006/relationships/slideLayout" Target="../slideLayouts/slideLayout14.xml"/><Relationship Id="rId16" Type="http://schemas.openxmlformats.org/officeDocument/2006/relationships/hyperlink" Target="https://umbrex.com/independent-management-consultants/?utm_source=deck&amp;utm_id=ppt" TargetMode="External"/><Relationship Id="rId1" Type="http://schemas.openxmlformats.org/officeDocument/2006/relationships/tags" Target="../tags/tag34.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19.png"/><Relationship Id="rId15" Type="http://schemas.openxmlformats.org/officeDocument/2006/relationships/image" Target="../media/image32.svg"/><Relationship Id="rId10" Type="http://schemas.openxmlformats.org/officeDocument/2006/relationships/image" Target="../media/image44.png"/><Relationship Id="rId4" Type="http://schemas.openxmlformats.org/officeDocument/2006/relationships/image" Target="../media/image8.emf"/><Relationship Id="rId9" Type="http://schemas.openxmlformats.org/officeDocument/2006/relationships/image" Target="../media/image43.svg"/><Relationship Id="rId1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4.bin"/><Relationship Id="rId7" Type="http://schemas.openxmlformats.org/officeDocument/2006/relationships/hyperlink" Target="https://umbrex.com/join-our-community/?utm_source=deck&amp;utm_id=ppt" TargetMode="External"/><Relationship Id="rId2" Type="http://schemas.openxmlformats.org/officeDocument/2006/relationships/slideLayout" Target="../slideLayouts/slideLayout14.xml"/><Relationship Id="rId1" Type="http://schemas.openxmlformats.org/officeDocument/2006/relationships/tags" Target="../tags/tag35.xml"/><Relationship Id="rId6" Type="http://schemas.openxmlformats.org/officeDocument/2006/relationships/hyperlink" Target="https://umbrex.com/independent-management-consultants/?utm_source=deck&amp;utm_id=ppt" TargetMode="External"/><Relationship Id="rId5" Type="http://schemas.openxmlformats.org/officeDocument/2006/relationships/image" Target="../media/image19.png"/><Relationship Id="rId4" Type="http://schemas.openxmlformats.org/officeDocument/2006/relationships/image" Target="../media/image8.emf"/></Relationships>
</file>

<file path=ppt/slides/_rels/slide16.xml.rels><?xml version="1.0" encoding="UTF-8" standalone="yes"?>
<Relationships xmlns="http://schemas.openxmlformats.org/package/2006/relationships"><Relationship Id="rId8" Type="http://schemas.openxmlformats.org/officeDocument/2006/relationships/hyperlink" Target="https://umbrex.com/resources/proposal-template/" TargetMode="External"/><Relationship Id="rId13" Type="http://schemas.openxmlformats.org/officeDocument/2006/relationships/hyperlink" Target="https://umbrex.com/resources/how-to-find-clients/" TargetMode="External"/><Relationship Id="rId3" Type="http://schemas.openxmlformats.org/officeDocument/2006/relationships/oleObject" Target="../embeddings/oleObject35.bin"/><Relationship Id="rId7" Type="http://schemas.openxmlformats.org/officeDocument/2006/relationships/hyperlink" Target="https://umbrex.com/resources/consulting-website/" TargetMode="External"/><Relationship Id="rId12" Type="http://schemas.openxmlformats.org/officeDocument/2006/relationships/hyperlink" Target="https://umbrex.com/resources/linkedin-best-practices/" TargetMode="External"/><Relationship Id="rId2" Type="http://schemas.openxmlformats.org/officeDocument/2006/relationships/slideLayout" Target="../slideLayouts/slideLayout14.xml"/><Relationship Id="rId1" Type="http://schemas.openxmlformats.org/officeDocument/2006/relationships/tags" Target="../tags/tag36.xml"/><Relationship Id="rId6" Type="http://schemas.openxmlformats.org/officeDocument/2006/relationships/hyperlink" Target="https://umbrex.com/become-a-consultant/setting-up-your-firm-course-introduction/" TargetMode="External"/><Relationship Id="rId11" Type="http://schemas.openxmlformats.org/officeDocument/2006/relationships/image" Target="../media/image49.svg"/><Relationship Id="rId5" Type="http://schemas.openxmlformats.org/officeDocument/2006/relationships/image" Target="../media/image19.png"/><Relationship Id="rId10" Type="http://schemas.openxmlformats.org/officeDocument/2006/relationships/image" Target="../media/image48.png"/><Relationship Id="rId4" Type="http://schemas.openxmlformats.org/officeDocument/2006/relationships/image" Target="../media/image8.emf"/><Relationship Id="rId9" Type="http://schemas.openxmlformats.org/officeDocument/2006/relationships/hyperlink" Target="https://umbrex.com/resources/consulting-fees/" TargetMode="External"/><Relationship Id="rId14" Type="http://schemas.openxmlformats.org/officeDocument/2006/relationships/hyperlink" Target="https://umbrex.com/resources/?utm_source=deck&amp;utm_id=ppt" TargetMode="Externa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37.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36.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3.xml"/><Relationship Id="rId1" Type="http://schemas.openxmlformats.org/officeDocument/2006/relationships/tags" Target="../tags/tag38.xml"/><Relationship Id="rId4" Type="http://schemas.openxmlformats.org/officeDocument/2006/relationships/image" Target="../media/image8.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8.bin"/><Relationship Id="rId17" Type="http://schemas.openxmlformats.org/officeDocument/2006/relationships/image" Target="../media/image62.png"/><Relationship Id="rId2" Type="http://schemas.openxmlformats.org/officeDocument/2006/relationships/slideLayout" Target="../slideLayouts/slideLayout4.xml"/><Relationship Id="rId1" Type="http://schemas.openxmlformats.org/officeDocument/2006/relationships/tags" Target="../tags/tag39.xml"/><Relationship Id="rId5" Type="http://schemas.openxmlformats.org/officeDocument/2006/relationships/customXml" Target="../ink/ink1.xml"/><Relationship Id="rId4" Type="http://schemas.openxmlformats.org/officeDocument/2006/relationships/image" Target="../media/image7.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4.xml"/><Relationship Id="rId1" Type="http://schemas.openxmlformats.org/officeDocument/2006/relationships/tags" Target="../tags/tag40.xml"/><Relationship Id="rId4" Type="http://schemas.openxmlformats.org/officeDocument/2006/relationships/image" Target="../media/image7.e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1.xml"/><Relationship Id="rId5" Type="http://schemas.openxmlformats.org/officeDocument/2006/relationships/image" Target="../media/image51.emf"/><Relationship Id="rId4" Type="http://schemas.openxmlformats.org/officeDocument/2006/relationships/oleObject" Target="../embeddings/oleObject40.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4.xml"/><Relationship Id="rId1" Type="http://schemas.openxmlformats.org/officeDocument/2006/relationships/tags" Target="../tags/tag42.xml"/><Relationship Id="rId4" Type="http://schemas.openxmlformats.org/officeDocument/2006/relationships/image" Target="../media/image7.e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3.xml"/><Relationship Id="rId5" Type="http://schemas.openxmlformats.org/officeDocument/2006/relationships/image" Target="../media/image51.emf"/><Relationship Id="rId4" Type="http://schemas.openxmlformats.org/officeDocument/2006/relationships/oleObject" Target="../embeddings/oleObject42.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4.xml"/><Relationship Id="rId1" Type="http://schemas.openxmlformats.org/officeDocument/2006/relationships/tags" Target="../tags/tag44.xml"/><Relationship Id="rId4" Type="http://schemas.openxmlformats.org/officeDocument/2006/relationships/image" Target="../media/image7.e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45.xml"/><Relationship Id="rId5" Type="http://schemas.openxmlformats.org/officeDocument/2006/relationships/image" Target="../media/image51.emf"/><Relationship Id="rId4" Type="http://schemas.openxmlformats.org/officeDocument/2006/relationships/oleObject" Target="../embeddings/oleObject44.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4.xml"/><Relationship Id="rId1" Type="http://schemas.openxmlformats.org/officeDocument/2006/relationships/tags" Target="../tags/tag46.xml"/><Relationship Id="rId4" Type="http://schemas.openxmlformats.org/officeDocument/2006/relationships/image" Target="../media/image7.e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47.xml"/><Relationship Id="rId5" Type="http://schemas.openxmlformats.org/officeDocument/2006/relationships/image" Target="../media/image51.emf"/><Relationship Id="rId4" Type="http://schemas.openxmlformats.org/officeDocument/2006/relationships/oleObject" Target="../embeddings/oleObject46.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4.xml"/><Relationship Id="rId1" Type="http://schemas.openxmlformats.org/officeDocument/2006/relationships/tags" Target="../tags/tag48.xml"/><Relationship Id="rId4" Type="http://schemas.openxmlformats.org/officeDocument/2006/relationships/image" Target="../media/image7.emf"/></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49.xml"/><Relationship Id="rId5" Type="http://schemas.openxmlformats.org/officeDocument/2006/relationships/image" Target="../media/image51.emf"/><Relationship Id="rId4" Type="http://schemas.openxmlformats.org/officeDocument/2006/relationships/oleObject" Target="../embeddings/oleObject48.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50.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49.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51.xml"/><Relationship Id="rId5" Type="http://schemas.openxmlformats.org/officeDocument/2006/relationships/image" Target="../media/image51.emf"/><Relationship Id="rId4" Type="http://schemas.openxmlformats.org/officeDocument/2006/relationships/oleObject" Target="../embeddings/oleObject50.bin"/></Relationships>
</file>

<file path=ppt/slides/_rels/slide3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oleObject" Target="../embeddings/oleObject51.bin"/><Relationship Id="rId7" Type="http://schemas.openxmlformats.org/officeDocument/2006/relationships/image" Target="../media/image54.png"/><Relationship Id="rId12" Type="http://schemas.openxmlformats.org/officeDocument/2006/relationships/image" Target="../media/image59.svg"/><Relationship Id="rId2" Type="http://schemas.openxmlformats.org/officeDocument/2006/relationships/slideLayout" Target="../slideLayouts/slideLayout2.xml"/><Relationship Id="rId1" Type="http://schemas.openxmlformats.org/officeDocument/2006/relationships/tags" Target="../tags/tag52.xml"/><Relationship Id="rId6" Type="http://schemas.openxmlformats.org/officeDocument/2006/relationships/image" Target="../media/image53.sv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8.emf"/><Relationship Id="rId9" Type="http://schemas.openxmlformats.org/officeDocument/2006/relationships/image" Target="../media/image5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53.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52.bin"/></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3.xml"/><Relationship Id="rId1" Type="http://schemas.openxmlformats.org/officeDocument/2006/relationships/tags" Target="../tags/tag54.xml"/><Relationship Id="rId4" Type="http://schemas.openxmlformats.org/officeDocument/2006/relationships/image" Target="../media/image8.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tags" Target="../tags/tag55.xml"/><Relationship Id="rId4" Type="http://schemas.openxmlformats.org/officeDocument/2006/relationships/image" Target="../media/image8.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tags" Target="../tags/tag56.xml"/><Relationship Id="rId4" Type="http://schemas.openxmlformats.org/officeDocument/2006/relationships/image" Target="../media/image8.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tags" Target="../tags/tag57.xml"/><Relationship Id="rId4" Type="http://schemas.openxmlformats.org/officeDocument/2006/relationships/image" Target="../media/image8.emf"/></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58.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57.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3.xml"/><Relationship Id="rId1" Type="http://schemas.openxmlformats.org/officeDocument/2006/relationships/tags" Target="../tags/tag59.xml"/><Relationship Id="rId4" Type="http://schemas.openxmlformats.org/officeDocument/2006/relationships/image" Target="../media/image8.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2.xml"/><Relationship Id="rId1" Type="http://schemas.openxmlformats.org/officeDocument/2006/relationships/tags" Target="../tags/tag60.xml"/><Relationship Id="rId4" Type="http://schemas.openxmlformats.org/officeDocument/2006/relationships/image" Target="../media/image8.emf"/></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tags" Target="../tags/tag61.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60.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3.xml"/><Relationship Id="rId1" Type="http://schemas.openxmlformats.org/officeDocument/2006/relationships/tags" Target="../tags/tag62.xml"/><Relationship Id="rId4" Type="http://schemas.openxmlformats.org/officeDocument/2006/relationships/image" Target="../media/image8.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tags" Target="../tags/tag63.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62.bin"/></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Layout" Target="../slideLayouts/slideLayout3.xml"/><Relationship Id="rId1" Type="http://schemas.openxmlformats.org/officeDocument/2006/relationships/tags" Target="../tags/tag64.xml"/><Relationship Id="rId4" Type="http://schemas.openxmlformats.org/officeDocument/2006/relationships/image" Target="../media/image8.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2.xml"/><Relationship Id="rId1" Type="http://schemas.openxmlformats.org/officeDocument/2006/relationships/tags" Target="../tags/tag65.xml"/><Relationship Id="rId4" Type="http://schemas.openxmlformats.org/officeDocument/2006/relationships/image" Target="../media/image8.emf"/></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tags" Target="../tags/tag66.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65.bin"/></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3.xml"/><Relationship Id="rId1" Type="http://schemas.openxmlformats.org/officeDocument/2006/relationships/tags" Target="../tags/tag67.xml"/><Relationship Id="rId4" Type="http://schemas.openxmlformats.org/officeDocument/2006/relationships/image" Target="../media/image8.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tags" Target="../tags/tag68.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67.bin"/></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3.xml"/><Relationship Id="rId1" Type="http://schemas.openxmlformats.org/officeDocument/2006/relationships/tags" Target="../tags/tag69.xml"/><Relationship Id="rId4" Type="http://schemas.openxmlformats.org/officeDocument/2006/relationships/image" Target="../media/image8.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70.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69.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3.xml"/><Relationship Id="rId1" Type="http://schemas.openxmlformats.org/officeDocument/2006/relationships/tags" Target="../tags/tag71.xml"/><Relationship Id="rId4" Type="http://schemas.openxmlformats.org/officeDocument/2006/relationships/image" Target="../media/image8.e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tags" Target="../tags/tag72.xml"/><Relationship Id="rId4" Type="http://schemas.openxmlformats.org/officeDocument/2006/relationships/image" Target="../media/image8.emf"/></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tags" Target="../tags/tag73.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72.bin"/></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3.xml"/><Relationship Id="rId1" Type="http://schemas.openxmlformats.org/officeDocument/2006/relationships/tags" Target="../tags/tag74.xml"/><Relationship Id="rId4" Type="http://schemas.openxmlformats.org/officeDocument/2006/relationships/image" Target="../media/image8.e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2.xml"/><Relationship Id="rId1" Type="http://schemas.openxmlformats.org/officeDocument/2006/relationships/tags" Target="../tags/tag75.xml"/><Relationship Id="rId4" Type="http://schemas.openxmlformats.org/officeDocument/2006/relationships/image" Target="../media/image8.e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2.xml"/><Relationship Id="rId1" Type="http://schemas.openxmlformats.org/officeDocument/2006/relationships/tags" Target="../tags/tag76.xml"/><Relationship Id="rId4" Type="http://schemas.openxmlformats.org/officeDocument/2006/relationships/image" Target="../media/image8.emf"/></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77.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76.bin"/></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3.xml"/><Relationship Id="rId1" Type="http://schemas.openxmlformats.org/officeDocument/2006/relationships/tags" Target="../tags/tag78.xml"/><Relationship Id="rId4" Type="http://schemas.openxmlformats.org/officeDocument/2006/relationships/image" Target="../media/image8.e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tags" Target="../tags/tag79.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78.bin"/></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3.xml"/><Relationship Id="rId1" Type="http://schemas.openxmlformats.org/officeDocument/2006/relationships/tags" Target="../tags/tag80.xml"/><Relationship Id="rId4" Type="http://schemas.openxmlformats.org/officeDocument/2006/relationships/image" Target="../media/image8.e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2.xml"/><Relationship Id="rId1" Type="http://schemas.openxmlformats.org/officeDocument/2006/relationships/tags" Target="../tags/tag81.xml"/><Relationship Id="rId4" Type="http://schemas.openxmlformats.org/officeDocument/2006/relationships/image" Target="../media/image8.e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Layout" Target="../slideLayouts/slideLayout2.xml"/><Relationship Id="rId1" Type="http://schemas.openxmlformats.org/officeDocument/2006/relationships/tags" Target="../tags/tag82.xml"/><Relationship Id="rId4" Type="http://schemas.openxmlformats.org/officeDocument/2006/relationships/image" Target="../media/image8.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2.xml"/><Relationship Id="rId1" Type="http://schemas.openxmlformats.org/officeDocument/2006/relationships/tags" Target="../tags/tag83.xml"/><Relationship Id="rId4" Type="http://schemas.openxmlformats.org/officeDocument/2006/relationships/image" Target="../media/image8.emf"/></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tags" Target="../tags/tag84.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83.bin"/></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3.xml"/><Relationship Id="rId1" Type="http://schemas.openxmlformats.org/officeDocument/2006/relationships/tags" Target="../tags/tag85.xml"/><Relationship Id="rId4" Type="http://schemas.openxmlformats.org/officeDocument/2006/relationships/image" Target="../media/image8.e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2.xml"/><Relationship Id="rId1" Type="http://schemas.openxmlformats.org/officeDocument/2006/relationships/tags" Target="../tags/tag86.xml"/><Relationship Id="rId4" Type="http://schemas.openxmlformats.org/officeDocument/2006/relationships/image" Target="../media/image8.emf"/></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tags" Target="../tags/tag87.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86.bin"/></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Layout" Target="../slideLayouts/slideLayout3.xml"/><Relationship Id="rId1" Type="http://schemas.openxmlformats.org/officeDocument/2006/relationships/tags" Target="../tags/tag88.xml"/><Relationship Id="rId4" Type="http://schemas.openxmlformats.org/officeDocument/2006/relationships/image" Target="../media/image8.e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2.xml"/><Relationship Id="rId1" Type="http://schemas.openxmlformats.org/officeDocument/2006/relationships/tags" Target="../tags/tag89.xml"/><Relationship Id="rId4" Type="http://schemas.openxmlformats.org/officeDocument/2006/relationships/image" Target="../media/image8.e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2.xml"/><Relationship Id="rId1" Type="http://schemas.openxmlformats.org/officeDocument/2006/relationships/tags" Target="../tags/tag90.xml"/><Relationship Id="rId4" Type="http://schemas.openxmlformats.org/officeDocument/2006/relationships/image" Target="../media/image8.emf"/></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tags" Target="../tags/tag91.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90.bin"/></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Layout" Target="../slideLayouts/slideLayout3.xml"/><Relationship Id="rId1" Type="http://schemas.openxmlformats.org/officeDocument/2006/relationships/tags" Target="../tags/tag92.xml"/><Relationship Id="rId4" Type="http://schemas.openxmlformats.org/officeDocument/2006/relationships/image" Target="../media/image8.e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2.xml"/><Relationship Id="rId1" Type="http://schemas.openxmlformats.org/officeDocument/2006/relationships/tags" Target="../tags/tag93.xml"/><Relationship Id="rId4" Type="http://schemas.openxmlformats.org/officeDocument/2006/relationships/image" Target="../media/image8.e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tags" Target="../tags/tag94.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93.bin"/></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3.xml"/><Relationship Id="rId1" Type="http://schemas.openxmlformats.org/officeDocument/2006/relationships/tags" Target="../tags/tag95.xml"/><Relationship Id="rId4" Type="http://schemas.openxmlformats.org/officeDocument/2006/relationships/image" Target="../media/image8.emf"/></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Layout" Target="../slideLayouts/slideLayout2.xml"/><Relationship Id="rId1" Type="http://schemas.openxmlformats.org/officeDocument/2006/relationships/tags" Target="../tags/tag96.xml"/><Relationship Id="rId4" Type="http://schemas.openxmlformats.org/officeDocument/2006/relationships/image" Target="../media/image8.emf"/></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2.xml"/><Relationship Id="rId1" Type="http://schemas.openxmlformats.org/officeDocument/2006/relationships/tags" Target="../tags/tag97.xml"/><Relationship Id="rId4" Type="http://schemas.openxmlformats.org/officeDocument/2006/relationships/image" Target="../media/image8.emf"/></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tags" Target="../tags/tag98.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97.bin"/></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Layout" Target="../slideLayouts/slideLayout3.xml"/><Relationship Id="rId1" Type="http://schemas.openxmlformats.org/officeDocument/2006/relationships/tags" Target="../tags/tag99.xml"/><Relationship Id="rId4" Type="http://schemas.openxmlformats.org/officeDocument/2006/relationships/image" Target="../media/image8.emf"/></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Layout" Target="../slideLayouts/slideLayout2.xml"/><Relationship Id="rId1" Type="http://schemas.openxmlformats.org/officeDocument/2006/relationships/tags" Target="../tags/tag100.xml"/><Relationship Id="rId4" Type="http://schemas.openxmlformats.org/officeDocument/2006/relationships/image" Target="../media/image8.emf"/></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100.bin"/><Relationship Id="rId2" Type="http://schemas.openxmlformats.org/officeDocument/2006/relationships/slideLayout" Target="../slideLayouts/slideLayout2.xml"/><Relationship Id="rId1" Type="http://schemas.openxmlformats.org/officeDocument/2006/relationships/tags" Target="../tags/tag101.xml"/><Relationship Id="rId4" Type="http://schemas.openxmlformats.org/officeDocument/2006/relationships/image" Target="../media/image8.emf"/></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tags" Target="../tags/tag102.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101.bin"/></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Layout" Target="../slideLayouts/slideLayout3.xml"/><Relationship Id="rId1" Type="http://schemas.openxmlformats.org/officeDocument/2006/relationships/tags" Target="../tags/tag103.xml"/><Relationship Id="rId4" Type="http://schemas.openxmlformats.org/officeDocument/2006/relationships/image" Target="../media/image8.emf"/></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103.bin"/><Relationship Id="rId2" Type="http://schemas.openxmlformats.org/officeDocument/2006/relationships/slideLayout" Target="../slideLayouts/slideLayout2.xml"/><Relationship Id="rId1" Type="http://schemas.openxmlformats.org/officeDocument/2006/relationships/tags" Target="../tags/tag104.xml"/><Relationship Id="rId4" Type="http://schemas.openxmlformats.org/officeDocument/2006/relationships/image" Target="../media/image8.emf"/></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Layout" Target="../slideLayouts/slideLayout2.xml"/><Relationship Id="rId1" Type="http://schemas.openxmlformats.org/officeDocument/2006/relationships/tags" Target="../tags/tag105.xml"/><Relationship Id="rId4" Type="http://schemas.openxmlformats.org/officeDocument/2006/relationships/image" Target="../media/image8.emf"/></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tags" Target="../tags/tag106.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105.bin"/></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106.bin"/><Relationship Id="rId2" Type="http://schemas.openxmlformats.org/officeDocument/2006/relationships/slideLayout" Target="../slideLayouts/slideLayout3.xml"/><Relationship Id="rId1" Type="http://schemas.openxmlformats.org/officeDocument/2006/relationships/tags" Target="../tags/tag107.xml"/><Relationship Id="rId4" Type="http://schemas.openxmlformats.org/officeDocument/2006/relationships/image" Target="../media/image8.emf"/></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slideLayout" Target="../slideLayouts/slideLayout2.xml"/><Relationship Id="rId1" Type="http://schemas.openxmlformats.org/officeDocument/2006/relationships/tags" Target="../tags/tag108.xml"/><Relationship Id="rId4" Type="http://schemas.openxmlformats.org/officeDocument/2006/relationships/image" Target="../media/image8.emf"/></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6.xml"/><Relationship Id="rId1" Type="http://schemas.openxmlformats.org/officeDocument/2006/relationships/tags" Target="../tags/tag109.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108.bin"/></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slideLayout" Target="../slideLayouts/slideLayout3.xml"/><Relationship Id="rId1" Type="http://schemas.openxmlformats.org/officeDocument/2006/relationships/tags" Target="../tags/tag110.xml"/><Relationship Id="rId4" Type="http://schemas.openxmlformats.org/officeDocument/2006/relationships/image" Target="../media/image8.em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tags" Target="../tags/tag111.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110.bin"/></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111.bin"/><Relationship Id="rId2" Type="http://schemas.openxmlformats.org/officeDocument/2006/relationships/slideLayout" Target="../slideLayouts/slideLayout3.xml"/><Relationship Id="rId1" Type="http://schemas.openxmlformats.org/officeDocument/2006/relationships/tags" Target="../tags/tag112.xml"/><Relationship Id="rId4" Type="http://schemas.openxmlformats.org/officeDocument/2006/relationships/image" Target="../media/image8.emf"/></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112.bin"/><Relationship Id="rId2" Type="http://schemas.openxmlformats.org/officeDocument/2006/relationships/slideLayout" Target="../slideLayouts/slideLayout2.xml"/><Relationship Id="rId1" Type="http://schemas.openxmlformats.org/officeDocument/2006/relationships/tags" Target="../tags/tag113.xml"/><Relationship Id="rId4" Type="http://schemas.openxmlformats.org/officeDocument/2006/relationships/image" Target="../media/image8.emf"/></Relationships>
</file>

<file path=ppt/slides/_rels/slide103.xml.rels><?xml version="1.0" encoding="UTF-8" standalone="yes"?>
<Relationships xmlns="http://schemas.openxmlformats.org/package/2006/relationships"><Relationship Id="rId3" Type="http://schemas.openxmlformats.org/officeDocument/2006/relationships/oleObject" Target="../embeddings/oleObject113.bin"/><Relationship Id="rId2" Type="http://schemas.openxmlformats.org/officeDocument/2006/relationships/slideLayout" Target="../slideLayouts/slideLayout2.xml"/><Relationship Id="rId1" Type="http://schemas.openxmlformats.org/officeDocument/2006/relationships/tags" Target="../tags/tag114.xml"/><Relationship Id="rId4" Type="http://schemas.openxmlformats.org/officeDocument/2006/relationships/image" Target="../media/image8.emf"/></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tags" Target="../tags/tag115.xml"/><Relationship Id="rId6" Type="http://schemas.openxmlformats.org/officeDocument/2006/relationships/image" Target="../media/image50.png"/><Relationship Id="rId5" Type="http://schemas.openxmlformats.org/officeDocument/2006/relationships/image" Target="../media/image18.emf"/><Relationship Id="rId4" Type="http://schemas.openxmlformats.org/officeDocument/2006/relationships/oleObject" Target="../embeddings/oleObject114.bin"/></Relationships>
</file>

<file path=ppt/slides/_rels/slide105.xml.rels><?xml version="1.0" encoding="UTF-8" standalone="yes"?>
<Relationships xmlns="http://schemas.openxmlformats.org/package/2006/relationships"><Relationship Id="rId3" Type="http://schemas.openxmlformats.org/officeDocument/2006/relationships/oleObject" Target="../embeddings/oleObject115.bin"/><Relationship Id="rId2" Type="http://schemas.openxmlformats.org/officeDocument/2006/relationships/slideLayout" Target="../slideLayouts/slideLayout3.xml"/><Relationship Id="rId1" Type="http://schemas.openxmlformats.org/officeDocument/2006/relationships/tags" Target="../tags/tag116.xml"/><Relationship Id="rId4" Type="http://schemas.openxmlformats.org/officeDocument/2006/relationships/image" Target="../media/image8.emf"/></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116.bin"/><Relationship Id="rId2" Type="http://schemas.openxmlformats.org/officeDocument/2006/relationships/slideLayout" Target="../slideLayouts/slideLayout2.xml"/><Relationship Id="rId1" Type="http://schemas.openxmlformats.org/officeDocument/2006/relationships/tags" Target="../tags/tag117.xml"/><Relationship Id="rId4" Type="http://schemas.openxmlformats.org/officeDocument/2006/relationships/image" Target="../media/image8.emf"/></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4.xml"/><Relationship Id="rId1" Type="http://schemas.openxmlformats.org/officeDocument/2006/relationships/tags" Target="../tags/tag118.xml"/><Relationship Id="rId5" Type="http://schemas.openxmlformats.org/officeDocument/2006/relationships/image" Target="../media/image60.emf"/><Relationship Id="rId4" Type="http://schemas.openxmlformats.org/officeDocument/2006/relationships/oleObject" Target="../embeddings/oleObject117.bin"/></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4.xml"/><Relationship Id="rId1" Type="http://schemas.openxmlformats.org/officeDocument/2006/relationships/tags" Target="../tags/tag119.xml"/><Relationship Id="rId5" Type="http://schemas.openxmlformats.org/officeDocument/2006/relationships/image" Target="../media/image60.emf"/><Relationship Id="rId4" Type="http://schemas.openxmlformats.org/officeDocument/2006/relationships/oleObject" Target="../embeddings/oleObject11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89D99533-1020-C958-F839-8B16DACCC459}"/>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7" name="Objeto 6" hidden="1">
                        <a:extLst>
                          <a:ext uri="{FF2B5EF4-FFF2-40B4-BE49-F238E27FC236}">
                            <a16:creationId xmlns:a16="http://schemas.microsoft.com/office/drawing/2014/main" id="{89D99533-1020-C958-F839-8B16DACCC45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 name="Picture Placeholder 2" descr="Text&#10;&#10;Description automatically generated with medium confidence">
            <a:extLst>
              <a:ext uri="{FF2B5EF4-FFF2-40B4-BE49-F238E27FC236}">
                <a16:creationId xmlns:a16="http://schemas.microsoft.com/office/drawing/2014/main" id="{D8D27C96-7905-8B30-B50A-BDAFDFCA8281}"/>
              </a:ext>
            </a:extLst>
          </p:cNvPr>
          <p:cNvPicPr>
            <a:picLocks noGrp="1" noChangeAspect="1"/>
          </p:cNvPicPr>
          <p:nvPr>
            <p:ph type="pic" sz="quarter" idx="13"/>
          </p:nvPr>
        </p:nvPicPr>
        <p:blipFill>
          <a:blip r:embed="rId6"/>
          <a:srcRect l="10984" r="10984"/>
          <a:stretch>
            <a:fillRect/>
          </a:stretch>
        </p:blipFill>
        <p:spPr/>
      </p:pic>
      <p:sp>
        <p:nvSpPr>
          <p:cNvPr id="5" name="Marcador de texto 4">
            <a:extLst>
              <a:ext uri="{FF2B5EF4-FFF2-40B4-BE49-F238E27FC236}">
                <a16:creationId xmlns:a16="http://schemas.microsoft.com/office/drawing/2014/main" id="{7A3128B5-8739-DBD2-0883-A4758098E679}"/>
              </a:ext>
            </a:extLst>
          </p:cNvPr>
          <p:cNvSpPr>
            <a:spLocks noGrp="1"/>
          </p:cNvSpPr>
          <p:nvPr>
            <p:ph type="body" sz="quarter" idx="14"/>
          </p:nvPr>
        </p:nvSpPr>
        <p:spPr>
          <a:xfrm>
            <a:off x="5683576" y="1437697"/>
            <a:ext cx="6231333" cy="1154074"/>
          </a:xfrm>
        </p:spPr>
        <p:txBody>
          <a:bodyPr/>
          <a:lstStyle/>
          <a:p>
            <a:r>
              <a:rPr lang="en-US" sz="3600" dirty="0" err="1">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Umbrex</a:t>
            </a:r>
            <a:r>
              <a:rPr lang="en-US" sz="36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Toolkit of Consulting Frameworks </a:t>
            </a:r>
          </a:p>
        </p:txBody>
      </p:sp>
      <p:sp>
        <p:nvSpPr>
          <p:cNvPr id="6" name="Marcador de texto 5">
            <a:extLst>
              <a:ext uri="{FF2B5EF4-FFF2-40B4-BE49-F238E27FC236}">
                <a16:creationId xmlns:a16="http://schemas.microsoft.com/office/drawing/2014/main" id="{F5B3CCD8-2147-B08A-1A51-C2936A6C900E}"/>
              </a:ext>
            </a:extLst>
          </p:cNvPr>
          <p:cNvSpPr>
            <a:spLocks noGrp="1"/>
          </p:cNvSpPr>
          <p:nvPr>
            <p:ph type="body" sz="quarter" idx="15"/>
          </p:nvPr>
        </p:nvSpPr>
        <p:spPr>
          <a:xfrm>
            <a:off x="5683577" y="3304234"/>
            <a:ext cx="5351928" cy="466756"/>
          </a:xfrm>
        </p:spPr>
        <p:txBody>
          <a:bodyPr/>
          <a:lstStyle/>
          <a:p>
            <a:r>
              <a:rPr lang="en-US" sz="2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Comprehensive toolkit of </a:t>
            </a:r>
          </a:p>
          <a:p>
            <a:r>
              <a:rPr lang="en-US" sz="2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frameworks &amp; templates for </a:t>
            </a:r>
          </a:p>
          <a:p>
            <a:r>
              <a:rPr lang="en-US" sz="20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Independent Management Consultants</a:t>
            </a:r>
          </a:p>
          <a:p>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TextBox 7">
            <a:extLst>
              <a:ext uri="{FF2B5EF4-FFF2-40B4-BE49-F238E27FC236}">
                <a16:creationId xmlns:a16="http://schemas.microsoft.com/office/drawing/2014/main" id="{4E1D0598-FC8F-D118-7FEF-A8AA703347EA}"/>
              </a:ext>
            </a:extLst>
          </p:cNvPr>
          <p:cNvSpPr txBox="1"/>
          <p:nvPr/>
        </p:nvSpPr>
        <p:spPr>
          <a:xfrm>
            <a:off x="11069782" y="706582"/>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9" name="TextBox 8">
            <a:extLst>
              <a:ext uri="{FF2B5EF4-FFF2-40B4-BE49-F238E27FC236}">
                <a16:creationId xmlns:a16="http://schemas.microsoft.com/office/drawing/2014/main" id="{8EE75AE7-720B-3841-717A-4661A92EB640}"/>
              </a:ext>
            </a:extLst>
          </p:cNvPr>
          <p:cNvSpPr txBox="1"/>
          <p:nvPr/>
        </p:nvSpPr>
        <p:spPr>
          <a:xfrm>
            <a:off x="11125200" y="969818"/>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10" name="TextBox 9">
            <a:extLst>
              <a:ext uri="{FF2B5EF4-FFF2-40B4-BE49-F238E27FC236}">
                <a16:creationId xmlns:a16="http://schemas.microsoft.com/office/drawing/2014/main" id="{2D9559AC-FF52-673E-1B50-BE7E25B952C8}"/>
              </a:ext>
            </a:extLst>
          </p:cNvPr>
          <p:cNvSpPr txBox="1"/>
          <p:nvPr/>
        </p:nvSpPr>
        <p:spPr>
          <a:xfrm>
            <a:off x="10861964" y="6096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11" name="TextBox 10">
            <a:extLst>
              <a:ext uri="{FF2B5EF4-FFF2-40B4-BE49-F238E27FC236}">
                <a16:creationId xmlns:a16="http://schemas.microsoft.com/office/drawing/2014/main" id="{467B99EF-A1BC-6D6E-37BB-44784F642F07}"/>
              </a:ext>
            </a:extLst>
          </p:cNvPr>
          <p:cNvSpPr txBox="1"/>
          <p:nvPr/>
        </p:nvSpPr>
        <p:spPr>
          <a:xfrm>
            <a:off x="10557164" y="928255"/>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12" name="TextBox 11">
            <a:extLst>
              <a:ext uri="{FF2B5EF4-FFF2-40B4-BE49-F238E27FC236}">
                <a16:creationId xmlns:a16="http://schemas.microsoft.com/office/drawing/2014/main" id="{C7D6A23E-2B50-371F-4EFC-A083555B6A6A}"/>
              </a:ext>
            </a:extLst>
          </p:cNvPr>
          <p:cNvSpPr txBox="1"/>
          <p:nvPr/>
        </p:nvSpPr>
        <p:spPr>
          <a:xfrm>
            <a:off x="11374582" y="789709"/>
            <a:ext cx="0" cy="0"/>
          </a:xfrm>
          <a:prstGeom prst="rect">
            <a:avLst/>
          </a:prstGeom>
          <a:noFill/>
        </p:spPr>
        <p:txBody>
          <a:bodyPr wrap="non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3357051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extLst>
              <p:ext uri="{D42A27DB-BD31-4B8C-83A1-F6EECF244321}">
                <p14:modId xmlns:p14="http://schemas.microsoft.com/office/powerpoint/2010/main" val="4486457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3" imgW="7772400" imgH="10058400" progId="TCLayout.ActiveDocument.1">
                  <p:embed/>
                </p:oleObj>
              </mc:Choice>
              <mc:Fallback>
                <p:oleObj name="Diapositiva de think-cell"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About the Consulting Frameworks Toolkit</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p:txBody>
          <a:bodyPr/>
          <a:lstStyle/>
          <a:p>
            <a:r>
              <a:rPr lang="en-US" b="0" dirty="0" err="1"/>
              <a:t>Umbrex</a:t>
            </a:r>
            <a:r>
              <a:rPr lang="en-US" b="0" dirty="0"/>
              <a:t> has developed this Consulting Frameworks Toolkit that includes more than two dozen business frameworks frequently used by independent management consultants.</a:t>
            </a:r>
          </a:p>
          <a:p>
            <a:endParaRPr lang="en-US" b="0" dirty="0"/>
          </a:p>
          <a:p>
            <a:r>
              <a:rPr lang="en-US" b="0" dirty="0"/>
              <a:t>This resource includes a PowerPoint deck with slide templates of each of these frameworks that you can download and customize for your own use.</a:t>
            </a:r>
          </a:p>
        </p:txBody>
      </p:sp>
    </p:spTree>
    <p:extLst>
      <p:ext uri="{BB962C8B-B14F-4D97-AF65-F5344CB8AC3E}">
        <p14:creationId xmlns:p14="http://schemas.microsoft.com/office/powerpoint/2010/main" val="1610629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E1122A46-26BF-5788-B071-1C314BD626A3}"/>
              </a:ext>
            </a:extLst>
          </p:cNvPr>
          <p:cNvGraphicFramePr>
            <a:graphicFrameLocks noChangeAspect="1"/>
          </p:cNvGraphicFramePr>
          <p:nvPr>
            <p:custDataLst>
              <p:tags r:id="rId1"/>
            </p:custDataLst>
            <p:extLst>
              <p:ext uri="{D42A27DB-BD31-4B8C-83A1-F6EECF244321}">
                <p14:modId xmlns:p14="http://schemas.microsoft.com/office/powerpoint/2010/main" val="13936209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000ADBBA-E23C-122C-A76A-C9E9B76108CC}"/>
              </a:ext>
            </a:extLst>
          </p:cNvPr>
          <p:cNvSpPr>
            <a:spLocks noGrp="1"/>
          </p:cNvSpPr>
          <p:nvPr>
            <p:ph type="title"/>
          </p:nvPr>
        </p:nvSpPr>
        <p:spPr/>
        <p:txBody>
          <a:bodyPr vert="horz"/>
          <a:lstStyle/>
          <a:p>
            <a:r>
              <a:rPr lang="en-US" dirty="0"/>
              <a:t>Table of Contents</a:t>
            </a:r>
          </a:p>
        </p:txBody>
      </p:sp>
      <p:sp>
        <p:nvSpPr>
          <p:cNvPr id="4" name="Marcador de texto 3">
            <a:extLst>
              <a:ext uri="{FF2B5EF4-FFF2-40B4-BE49-F238E27FC236}">
                <a16:creationId xmlns:a16="http://schemas.microsoft.com/office/drawing/2014/main" id="{99125BCB-1B68-8A6B-A517-7DCDE08CF59D}"/>
              </a:ext>
            </a:extLst>
          </p:cNvPr>
          <p:cNvSpPr>
            <a:spLocks noGrp="1"/>
          </p:cNvSpPr>
          <p:nvPr>
            <p:ph type="body" sz="quarter" idx="15"/>
          </p:nvPr>
        </p:nvSpPr>
        <p:spPr>
          <a:xfrm>
            <a:off x="385988" y="1066800"/>
            <a:ext cx="4795611" cy="5093702"/>
          </a:xfrm>
          <a:noFill/>
        </p:spPr>
        <p:txBody>
          <a:bodyPr>
            <a:spAutoFit/>
          </a:bodyPr>
          <a:lstStyle/>
          <a:p>
            <a:pPr>
              <a:spcBef>
                <a:spcPts val="300"/>
              </a:spcBef>
              <a:spcAft>
                <a:spcPts val="0"/>
              </a:spcAft>
            </a:pPr>
            <a:r>
              <a:rPr lang="en-US" sz="1200" dirty="0">
                <a:hlinkClick r:id="rId5" action="ppaction://hlinksldjump"/>
              </a:rPr>
              <a:t>About </a:t>
            </a:r>
            <a:r>
              <a:rPr lang="en-US" sz="1200" dirty="0" err="1">
                <a:hlinkClick r:id="rId5" action="ppaction://hlinksldjump"/>
              </a:rPr>
              <a:t>Umbrex</a:t>
            </a:r>
            <a:endParaRPr lang="en-US" sz="1200" dirty="0"/>
          </a:p>
          <a:p>
            <a:pPr>
              <a:spcBef>
                <a:spcPts val="300"/>
              </a:spcBef>
              <a:spcAft>
                <a:spcPts val="0"/>
              </a:spcAft>
            </a:pPr>
            <a:r>
              <a:rPr lang="en-US" sz="1200" dirty="0">
                <a:hlinkClick r:id="rId6" action="ppaction://hlinksldjump"/>
              </a:rPr>
              <a:t>Porter’s Five Forces</a:t>
            </a:r>
            <a:r>
              <a:rPr lang="en-US" sz="1200" dirty="0">
                <a:hlinkClick r:id="rId7" action="ppaction://hlinksldjump"/>
              </a:rPr>
              <a:t> </a:t>
            </a:r>
            <a:endParaRPr lang="en-US" sz="1200" dirty="0"/>
          </a:p>
          <a:p>
            <a:pPr>
              <a:spcBef>
                <a:spcPts val="300"/>
              </a:spcBef>
              <a:spcAft>
                <a:spcPts val="0"/>
              </a:spcAft>
            </a:pPr>
            <a:r>
              <a:rPr lang="en-US" sz="1200" dirty="0">
                <a:hlinkClick r:id="rId8" action="ppaction://hlinksldjump"/>
              </a:rPr>
              <a:t>BCG Growth Share Matrix</a:t>
            </a:r>
            <a:endParaRPr lang="en-US" sz="1200" dirty="0"/>
          </a:p>
          <a:p>
            <a:pPr>
              <a:spcBef>
                <a:spcPts val="300"/>
              </a:spcBef>
              <a:spcAft>
                <a:spcPts val="0"/>
              </a:spcAft>
            </a:pPr>
            <a:r>
              <a:rPr lang="en-US" sz="1200" dirty="0">
                <a:hlinkClick r:id="rId9" action="ppaction://hlinksldjump"/>
              </a:rPr>
              <a:t>McKinsey 7-S Framework</a:t>
            </a:r>
            <a:endParaRPr lang="en-US" sz="1200" dirty="0"/>
          </a:p>
          <a:p>
            <a:pPr>
              <a:spcBef>
                <a:spcPts val="300"/>
              </a:spcBef>
              <a:spcAft>
                <a:spcPts val="0"/>
              </a:spcAft>
            </a:pPr>
            <a:r>
              <a:rPr lang="en-US" sz="1200" dirty="0">
                <a:hlinkClick r:id="rId10" action="ppaction://hlinksldjump"/>
              </a:rPr>
              <a:t>Ansoff Matrix</a:t>
            </a:r>
            <a:endParaRPr lang="en-US" sz="1200" dirty="0"/>
          </a:p>
          <a:p>
            <a:pPr>
              <a:spcBef>
                <a:spcPts val="300"/>
              </a:spcBef>
              <a:spcAft>
                <a:spcPts val="0"/>
              </a:spcAft>
            </a:pPr>
            <a:r>
              <a:rPr lang="en-US" sz="1200" dirty="0">
                <a:hlinkClick r:id="rId11" action="ppaction://hlinksldjump"/>
              </a:rPr>
              <a:t>Force Field Analysis</a:t>
            </a:r>
            <a:endParaRPr lang="en-US" sz="1200" dirty="0"/>
          </a:p>
          <a:p>
            <a:pPr>
              <a:spcBef>
                <a:spcPts val="300"/>
              </a:spcBef>
              <a:spcAft>
                <a:spcPts val="0"/>
              </a:spcAft>
            </a:pPr>
            <a:r>
              <a:rPr lang="en-US" sz="1200" dirty="0">
                <a:hlinkClick r:id="rId12" action="ppaction://hlinksldjump"/>
              </a:rPr>
              <a:t>The 3 C’s</a:t>
            </a:r>
            <a:endParaRPr lang="en-US" sz="1200" dirty="0"/>
          </a:p>
          <a:p>
            <a:pPr>
              <a:spcBef>
                <a:spcPts val="300"/>
              </a:spcBef>
              <a:spcAft>
                <a:spcPts val="0"/>
              </a:spcAft>
            </a:pPr>
            <a:r>
              <a:rPr lang="en-US" sz="1200" dirty="0">
                <a:hlinkClick r:id="rId13" action="ppaction://hlinksldjump"/>
              </a:rPr>
              <a:t>The 4 Ps</a:t>
            </a:r>
            <a:endParaRPr lang="en-US" sz="1200" dirty="0"/>
          </a:p>
          <a:p>
            <a:pPr>
              <a:spcBef>
                <a:spcPts val="300"/>
              </a:spcBef>
              <a:spcAft>
                <a:spcPts val="0"/>
              </a:spcAft>
            </a:pPr>
            <a:r>
              <a:rPr lang="en-US" sz="1200" dirty="0">
                <a:hlinkClick r:id="rId14" action="ppaction://hlinksldjump"/>
              </a:rPr>
              <a:t>SWOT Analysis</a:t>
            </a:r>
            <a:endParaRPr lang="en-US" sz="1200" dirty="0"/>
          </a:p>
          <a:p>
            <a:pPr>
              <a:spcBef>
                <a:spcPts val="300"/>
              </a:spcBef>
              <a:spcAft>
                <a:spcPts val="0"/>
              </a:spcAft>
            </a:pPr>
            <a:r>
              <a:rPr lang="en-US" sz="1200" dirty="0">
                <a:hlinkClick r:id="rId15" action="ppaction://hlinksldjump"/>
              </a:rPr>
              <a:t>Profitability Framework</a:t>
            </a:r>
            <a:endParaRPr lang="en-US" sz="1200" dirty="0"/>
          </a:p>
          <a:p>
            <a:pPr>
              <a:spcBef>
                <a:spcPts val="300"/>
              </a:spcBef>
              <a:spcAft>
                <a:spcPts val="0"/>
              </a:spcAft>
            </a:pPr>
            <a:r>
              <a:rPr lang="en-US" sz="1200" dirty="0">
                <a:hlinkClick r:id="rId16" action="ppaction://hlinksldjump"/>
              </a:rPr>
              <a:t>Blue Ocean Strategy</a:t>
            </a:r>
            <a:endParaRPr lang="en-US" sz="1200" dirty="0"/>
          </a:p>
          <a:p>
            <a:pPr>
              <a:spcBef>
                <a:spcPts val="300"/>
              </a:spcBef>
              <a:spcAft>
                <a:spcPts val="0"/>
              </a:spcAft>
            </a:pPr>
            <a:r>
              <a:rPr lang="en-US" sz="1200" dirty="0">
                <a:hlinkClick r:id="rId17" action="ppaction://hlinksldjump"/>
              </a:rPr>
              <a:t>Value Disciplines Model</a:t>
            </a:r>
            <a:endParaRPr lang="en-US" sz="1200" dirty="0"/>
          </a:p>
          <a:p>
            <a:pPr>
              <a:spcBef>
                <a:spcPts val="300"/>
              </a:spcBef>
              <a:spcAft>
                <a:spcPts val="0"/>
              </a:spcAft>
            </a:pPr>
            <a:r>
              <a:rPr lang="en-US" sz="1200" dirty="0">
                <a:hlinkClick r:id="rId18" action="ppaction://hlinksldjump"/>
              </a:rPr>
              <a:t>Porter's Value Chain</a:t>
            </a:r>
            <a:endParaRPr lang="en-US" sz="1200" dirty="0"/>
          </a:p>
          <a:p>
            <a:pPr>
              <a:spcBef>
                <a:spcPts val="300"/>
              </a:spcBef>
              <a:spcAft>
                <a:spcPts val="0"/>
              </a:spcAft>
            </a:pPr>
            <a:r>
              <a:rPr lang="en-US" sz="1200" dirty="0">
                <a:hlinkClick r:id="rId19" action="ppaction://hlinksldjump"/>
              </a:rPr>
              <a:t>GE McKinsey Matrix</a:t>
            </a:r>
            <a:endParaRPr lang="en-US" sz="1200" dirty="0"/>
          </a:p>
          <a:p>
            <a:pPr>
              <a:spcBef>
                <a:spcPts val="300"/>
              </a:spcBef>
              <a:spcAft>
                <a:spcPts val="0"/>
              </a:spcAft>
            </a:pPr>
            <a:r>
              <a:rPr lang="en-US" sz="1200" dirty="0">
                <a:hlinkClick r:id="rId20" action="ppaction://hlinksldjump"/>
              </a:rPr>
              <a:t>Product Life Cycle</a:t>
            </a:r>
            <a:endParaRPr lang="en-US" sz="1200" dirty="0"/>
          </a:p>
          <a:p>
            <a:pPr>
              <a:spcBef>
                <a:spcPts val="300"/>
              </a:spcBef>
              <a:spcAft>
                <a:spcPts val="0"/>
              </a:spcAft>
            </a:pPr>
            <a:r>
              <a:rPr lang="en-US" sz="1200" dirty="0">
                <a:hlinkClick r:id="rId21" action="ppaction://hlinksldjump"/>
              </a:rPr>
              <a:t>Roger’s Five Factors</a:t>
            </a:r>
            <a:endParaRPr lang="en-US" sz="1200" dirty="0"/>
          </a:p>
          <a:p>
            <a:pPr>
              <a:spcBef>
                <a:spcPts val="300"/>
              </a:spcBef>
              <a:spcAft>
                <a:spcPts val="0"/>
              </a:spcAft>
            </a:pPr>
            <a:r>
              <a:rPr lang="en-US" sz="1200" dirty="0">
                <a:hlinkClick r:id="rId22" action="ppaction://hlinksldjump"/>
              </a:rPr>
              <a:t>SIPOC model</a:t>
            </a:r>
            <a:endParaRPr lang="en-US" sz="1200" dirty="0"/>
          </a:p>
          <a:p>
            <a:pPr>
              <a:spcBef>
                <a:spcPts val="300"/>
              </a:spcBef>
              <a:spcAft>
                <a:spcPts val="0"/>
              </a:spcAft>
            </a:pPr>
            <a:r>
              <a:rPr lang="en-US" sz="1200" dirty="0">
                <a:hlinkClick r:id="rId23" action="ppaction://hlinksldjump"/>
              </a:rPr>
              <a:t>PESTEL Analysis</a:t>
            </a:r>
            <a:endParaRPr lang="en-US" sz="1200" dirty="0"/>
          </a:p>
          <a:p>
            <a:pPr>
              <a:spcBef>
                <a:spcPts val="300"/>
              </a:spcBef>
              <a:spcAft>
                <a:spcPts val="0"/>
              </a:spcAft>
            </a:pPr>
            <a:r>
              <a:rPr lang="en-US" sz="1200" dirty="0" err="1">
                <a:hlinkClick r:id="rId24" action="ppaction://hlinksldjump"/>
              </a:rPr>
              <a:t>Lafley</a:t>
            </a:r>
            <a:r>
              <a:rPr lang="en-US" sz="1200" dirty="0">
                <a:hlinkClick r:id="rId24" action="ppaction://hlinksldjump"/>
              </a:rPr>
              <a:t> Strategy</a:t>
            </a:r>
            <a:endParaRPr lang="en-US" sz="1200" dirty="0"/>
          </a:p>
          <a:p>
            <a:pPr>
              <a:spcBef>
                <a:spcPts val="300"/>
              </a:spcBef>
              <a:spcAft>
                <a:spcPts val="0"/>
              </a:spcAft>
            </a:pPr>
            <a:r>
              <a:rPr lang="en-US" sz="1200" dirty="0">
                <a:hlinkClick r:id="rId25" action="ppaction://hlinksldjump"/>
              </a:rPr>
              <a:t>Three Horizons</a:t>
            </a:r>
            <a:endParaRPr lang="en-US" sz="1200" dirty="0"/>
          </a:p>
          <a:p>
            <a:pPr>
              <a:spcBef>
                <a:spcPts val="300"/>
              </a:spcBef>
              <a:spcAft>
                <a:spcPts val="0"/>
              </a:spcAft>
            </a:pPr>
            <a:r>
              <a:rPr lang="en-US" sz="1200" dirty="0">
                <a:hlinkClick r:id="rId26" action="ppaction://hlinksldjump"/>
              </a:rPr>
              <a:t>Seven Degrees of Freedom for Growth</a:t>
            </a:r>
            <a:endParaRPr lang="en-US" sz="1200" dirty="0"/>
          </a:p>
          <a:p>
            <a:pPr>
              <a:spcBef>
                <a:spcPts val="300"/>
              </a:spcBef>
              <a:spcAft>
                <a:spcPts val="0"/>
              </a:spcAft>
            </a:pPr>
            <a:r>
              <a:rPr lang="en-US" sz="1200" dirty="0">
                <a:hlinkClick r:id="rId27" action="ppaction://hlinksldjump"/>
              </a:rPr>
              <a:t>Porter's Generic Strategies</a:t>
            </a:r>
            <a:endParaRPr lang="en-US" sz="1200" dirty="0"/>
          </a:p>
          <a:p>
            <a:pPr>
              <a:spcBef>
                <a:spcPts val="300"/>
              </a:spcBef>
              <a:spcAft>
                <a:spcPts val="0"/>
              </a:spcAft>
            </a:pPr>
            <a:r>
              <a:rPr lang="en-US" sz="1200" dirty="0">
                <a:hlinkClick r:id="rId28" action="ppaction://hlinksldjump"/>
              </a:rPr>
              <a:t>Galbraith Star Model</a:t>
            </a:r>
            <a:endParaRPr lang="en-US" sz="1200" dirty="0"/>
          </a:p>
        </p:txBody>
      </p:sp>
      <p:sp>
        <p:nvSpPr>
          <p:cNvPr id="8" name="Marcador de texto 3">
            <a:extLst>
              <a:ext uri="{FF2B5EF4-FFF2-40B4-BE49-F238E27FC236}">
                <a16:creationId xmlns:a16="http://schemas.microsoft.com/office/drawing/2014/main" id="{19707013-E58F-55C1-A5E7-5AA231594907}"/>
              </a:ext>
            </a:extLst>
          </p:cNvPr>
          <p:cNvSpPr txBox="1">
            <a:spLocks/>
          </p:cNvSpPr>
          <p:nvPr/>
        </p:nvSpPr>
        <p:spPr>
          <a:xfrm>
            <a:off x="5440989" y="1066800"/>
            <a:ext cx="822028" cy="5093702"/>
          </a:xfrm>
          <a:prstGeom prst="rect">
            <a:avLst/>
          </a:prstGeom>
          <a:noFill/>
        </p:spPr>
        <p:txBody>
          <a:bodyPr vert="horz" lIns="0" tIns="0" rIns="0" bIns="0" rtlCol="0">
            <a:sp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a:spcBef>
                <a:spcPts val="300"/>
              </a:spcBef>
              <a:spcAft>
                <a:spcPts val="0"/>
              </a:spcAft>
            </a:pPr>
            <a:r>
              <a:rPr lang="en-US" sz="1200" b="0" dirty="0"/>
              <a:t>6</a:t>
            </a:r>
          </a:p>
          <a:p>
            <a:pPr>
              <a:spcBef>
                <a:spcPts val="300"/>
              </a:spcBef>
              <a:spcAft>
                <a:spcPts val="0"/>
              </a:spcAft>
            </a:pPr>
            <a:r>
              <a:rPr lang="en-US" sz="1200" b="0" dirty="0"/>
              <a:t>17</a:t>
            </a:r>
          </a:p>
          <a:p>
            <a:pPr>
              <a:spcBef>
                <a:spcPts val="300"/>
              </a:spcBef>
              <a:spcAft>
                <a:spcPts val="0"/>
              </a:spcAft>
            </a:pPr>
            <a:r>
              <a:rPr lang="en-US" sz="1200" b="0" dirty="0"/>
              <a:t>30</a:t>
            </a:r>
          </a:p>
          <a:p>
            <a:pPr>
              <a:spcBef>
                <a:spcPts val="300"/>
              </a:spcBef>
              <a:spcAft>
                <a:spcPts val="0"/>
              </a:spcAft>
            </a:pPr>
            <a:r>
              <a:rPr lang="en-US" sz="1200" b="0" dirty="0"/>
              <a:t>34</a:t>
            </a:r>
          </a:p>
          <a:p>
            <a:pPr>
              <a:spcBef>
                <a:spcPts val="300"/>
              </a:spcBef>
              <a:spcAft>
                <a:spcPts val="0"/>
              </a:spcAft>
            </a:pPr>
            <a:r>
              <a:rPr lang="en-US" sz="1200" b="0" dirty="0"/>
              <a:t>39</a:t>
            </a:r>
          </a:p>
          <a:p>
            <a:pPr>
              <a:spcBef>
                <a:spcPts val="300"/>
              </a:spcBef>
              <a:spcAft>
                <a:spcPts val="0"/>
              </a:spcAft>
            </a:pPr>
            <a:r>
              <a:rPr lang="en-US" sz="1200" b="0" dirty="0"/>
              <a:t>42</a:t>
            </a:r>
          </a:p>
          <a:p>
            <a:pPr>
              <a:spcBef>
                <a:spcPts val="300"/>
              </a:spcBef>
              <a:spcAft>
                <a:spcPts val="0"/>
              </a:spcAft>
            </a:pPr>
            <a:r>
              <a:rPr lang="en-US" sz="1200" b="0" dirty="0"/>
              <a:t>45</a:t>
            </a:r>
          </a:p>
          <a:p>
            <a:pPr>
              <a:spcBef>
                <a:spcPts val="300"/>
              </a:spcBef>
              <a:spcAft>
                <a:spcPts val="0"/>
              </a:spcAft>
            </a:pPr>
            <a:r>
              <a:rPr lang="en-US" sz="1200" b="0" dirty="0"/>
              <a:t>48</a:t>
            </a:r>
          </a:p>
          <a:p>
            <a:pPr>
              <a:spcBef>
                <a:spcPts val="300"/>
              </a:spcBef>
              <a:spcAft>
                <a:spcPts val="0"/>
              </a:spcAft>
            </a:pPr>
            <a:r>
              <a:rPr lang="en-US" sz="1200" b="0" dirty="0"/>
              <a:t>51</a:t>
            </a:r>
          </a:p>
          <a:p>
            <a:pPr>
              <a:spcBef>
                <a:spcPts val="300"/>
              </a:spcBef>
              <a:spcAft>
                <a:spcPts val="0"/>
              </a:spcAft>
            </a:pPr>
            <a:r>
              <a:rPr lang="en-US" sz="1200" b="0" dirty="0"/>
              <a:t>54</a:t>
            </a:r>
          </a:p>
          <a:p>
            <a:pPr>
              <a:spcBef>
                <a:spcPts val="300"/>
              </a:spcBef>
              <a:spcAft>
                <a:spcPts val="0"/>
              </a:spcAft>
            </a:pPr>
            <a:r>
              <a:rPr lang="en-US" sz="1200" b="0" dirty="0"/>
              <a:t>57</a:t>
            </a:r>
          </a:p>
          <a:p>
            <a:pPr>
              <a:spcBef>
                <a:spcPts val="300"/>
              </a:spcBef>
              <a:spcAft>
                <a:spcPts val="0"/>
              </a:spcAft>
            </a:pPr>
            <a:r>
              <a:rPr lang="en-US" sz="1200" b="0" dirty="0"/>
              <a:t>61</a:t>
            </a:r>
          </a:p>
          <a:p>
            <a:pPr>
              <a:spcBef>
                <a:spcPts val="300"/>
              </a:spcBef>
              <a:spcAft>
                <a:spcPts val="0"/>
              </a:spcAft>
            </a:pPr>
            <a:r>
              <a:rPr lang="en-US" sz="1200" b="0" dirty="0"/>
              <a:t>65</a:t>
            </a:r>
          </a:p>
          <a:p>
            <a:pPr>
              <a:spcBef>
                <a:spcPts val="300"/>
              </a:spcBef>
              <a:spcAft>
                <a:spcPts val="0"/>
              </a:spcAft>
            </a:pPr>
            <a:r>
              <a:rPr lang="en-US" sz="1200" b="0" dirty="0"/>
              <a:t>70</a:t>
            </a:r>
          </a:p>
          <a:p>
            <a:pPr>
              <a:spcBef>
                <a:spcPts val="300"/>
              </a:spcBef>
              <a:spcAft>
                <a:spcPts val="0"/>
              </a:spcAft>
            </a:pPr>
            <a:r>
              <a:rPr lang="en-US" sz="1200" b="0" dirty="0"/>
              <a:t>73</a:t>
            </a:r>
          </a:p>
          <a:p>
            <a:pPr>
              <a:spcBef>
                <a:spcPts val="300"/>
              </a:spcBef>
              <a:spcAft>
                <a:spcPts val="0"/>
              </a:spcAft>
            </a:pPr>
            <a:r>
              <a:rPr lang="en-US" sz="1200" b="0" dirty="0"/>
              <a:t>77</a:t>
            </a:r>
          </a:p>
          <a:p>
            <a:pPr>
              <a:spcBef>
                <a:spcPts val="300"/>
              </a:spcBef>
              <a:spcAft>
                <a:spcPts val="0"/>
              </a:spcAft>
            </a:pPr>
            <a:r>
              <a:rPr lang="en-US" sz="1200" b="0" dirty="0"/>
              <a:t>81</a:t>
            </a:r>
          </a:p>
          <a:p>
            <a:pPr>
              <a:spcBef>
                <a:spcPts val="300"/>
              </a:spcBef>
              <a:spcAft>
                <a:spcPts val="0"/>
              </a:spcAft>
            </a:pPr>
            <a:r>
              <a:rPr lang="en-US" sz="1200" b="0" dirty="0"/>
              <a:t>86</a:t>
            </a:r>
          </a:p>
          <a:p>
            <a:pPr>
              <a:spcBef>
                <a:spcPts val="300"/>
              </a:spcBef>
              <a:spcAft>
                <a:spcPts val="0"/>
              </a:spcAft>
            </a:pPr>
            <a:r>
              <a:rPr lang="en-US" sz="1200" b="0" dirty="0"/>
              <a:t>90</a:t>
            </a:r>
          </a:p>
          <a:p>
            <a:pPr>
              <a:spcBef>
                <a:spcPts val="300"/>
              </a:spcBef>
              <a:spcAft>
                <a:spcPts val="0"/>
              </a:spcAft>
            </a:pPr>
            <a:r>
              <a:rPr lang="en-US" sz="1200" b="0" dirty="0"/>
              <a:t>94</a:t>
            </a:r>
          </a:p>
          <a:p>
            <a:pPr>
              <a:spcBef>
                <a:spcPts val="300"/>
              </a:spcBef>
              <a:spcAft>
                <a:spcPts val="0"/>
              </a:spcAft>
            </a:pPr>
            <a:r>
              <a:rPr lang="en-US" sz="1200" b="0" dirty="0"/>
              <a:t>97</a:t>
            </a:r>
          </a:p>
          <a:p>
            <a:pPr>
              <a:spcBef>
                <a:spcPts val="300"/>
              </a:spcBef>
              <a:spcAft>
                <a:spcPts val="0"/>
              </a:spcAft>
            </a:pPr>
            <a:r>
              <a:rPr lang="en-US" sz="1200" b="0" dirty="0"/>
              <a:t>100</a:t>
            </a:r>
          </a:p>
          <a:p>
            <a:pPr>
              <a:spcBef>
                <a:spcPts val="300"/>
              </a:spcBef>
              <a:spcAft>
                <a:spcPts val="0"/>
              </a:spcAft>
            </a:pPr>
            <a:r>
              <a:rPr lang="en-US" sz="1200" b="0" dirty="0"/>
              <a:t>104</a:t>
            </a:r>
          </a:p>
        </p:txBody>
      </p:sp>
      <p:cxnSp>
        <p:nvCxnSpPr>
          <p:cNvPr id="10" name="Conector recto 9">
            <a:extLst>
              <a:ext uri="{FF2B5EF4-FFF2-40B4-BE49-F238E27FC236}">
                <a16:creationId xmlns:a16="http://schemas.microsoft.com/office/drawing/2014/main" id="{A338A57F-EEE4-523A-25E9-D6AA9B7C5A96}"/>
              </a:ext>
            </a:extLst>
          </p:cNvPr>
          <p:cNvCxnSpPr>
            <a:cxnSpLocks/>
          </p:cNvCxnSpPr>
          <p:nvPr/>
        </p:nvCxnSpPr>
        <p:spPr>
          <a:xfrm>
            <a:off x="385988" y="1266825"/>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1200487D-B42C-BA49-CEA3-55BF5119BB77}"/>
              </a:ext>
            </a:extLst>
          </p:cNvPr>
          <p:cNvCxnSpPr>
            <a:cxnSpLocks/>
          </p:cNvCxnSpPr>
          <p:nvPr/>
        </p:nvCxnSpPr>
        <p:spPr>
          <a:xfrm>
            <a:off x="385988" y="1481137"/>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900892F6-2F96-5248-A101-38D232EE1CA8}"/>
              </a:ext>
            </a:extLst>
          </p:cNvPr>
          <p:cNvCxnSpPr>
            <a:cxnSpLocks/>
          </p:cNvCxnSpPr>
          <p:nvPr/>
        </p:nvCxnSpPr>
        <p:spPr>
          <a:xfrm>
            <a:off x="385988" y="1700212"/>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794F2CF3-E638-2A4C-875E-D65ABAB07F06}"/>
              </a:ext>
            </a:extLst>
          </p:cNvPr>
          <p:cNvCxnSpPr>
            <a:cxnSpLocks/>
          </p:cNvCxnSpPr>
          <p:nvPr/>
        </p:nvCxnSpPr>
        <p:spPr>
          <a:xfrm>
            <a:off x="385988" y="1914524"/>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87F20C6B-8BEF-C309-790D-EFC901AD979D}"/>
              </a:ext>
            </a:extLst>
          </p:cNvPr>
          <p:cNvCxnSpPr>
            <a:cxnSpLocks/>
          </p:cNvCxnSpPr>
          <p:nvPr/>
        </p:nvCxnSpPr>
        <p:spPr>
          <a:xfrm>
            <a:off x="385988" y="2152651"/>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5A2F7B82-561F-4266-3185-48D64341EB25}"/>
              </a:ext>
            </a:extLst>
          </p:cNvPr>
          <p:cNvCxnSpPr>
            <a:cxnSpLocks/>
          </p:cNvCxnSpPr>
          <p:nvPr/>
        </p:nvCxnSpPr>
        <p:spPr>
          <a:xfrm>
            <a:off x="385988" y="2366963"/>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E556F115-6F36-96E7-550A-E21712612A05}"/>
              </a:ext>
            </a:extLst>
          </p:cNvPr>
          <p:cNvCxnSpPr>
            <a:cxnSpLocks/>
          </p:cNvCxnSpPr>
          <p:nvPr/>
        </p:nvCxnSpPr>
        <p:spPr>
          <a:xfrm>
            <a:off x="385988" y="2590801"/>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2A699D89-ABC6-7326-7CF0-1F4B641EEB23}"/>
              </a:ext>
            </a:extLst>
          </p:cNvPr>
          <p:cNvCxnSpPr>
            <a:cxnSpLocks/>
          </p:cNvCxnSpPr>
          <p:nvPr/>
        </p:nvCxnSpPr>
        <p:spPr>
          <a:xfrm>
            <a:off x="385988" y="2805113"/>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200BD8E5-9CC7-AE00-5073-EA304C4B995C}"/>
              </a:ext>
            </a:extLst>
          </p:cNvPr>
          <p:cNvCxnSpPr>
            <a:cxnSpLocks/>
          </p:cNvCxnSpPr>
          <p:nvPr/>
        </p:nvCxnSpPr>
        <p:spPr>
          <a:xfrm>
            <a:off x="385988" y="3033714"/>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973D5CF-E638-53EE-818F-63E7ED25A03D}"/>
              </a:ext>
            </a:extLst>
          </p:cNvPr>
          <p:cNvCxnSpPr>
            <a:cxnSpLocks/>
          </p:cNvCxnSpPr>
          <p:nvPr/>
        </p:nvCxnSpPr>
        <p:spPr>
          <a:xfrm>
            <a:off x="385988" y="3271841"/>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853AFC5A-B1AA-8941-4CB0-D31197F882E9}"/>
              </a:ext>
            </a:extLst>
          </p:cNvPr>
          <p:cNvCxnSpPr>
            <a:cxnSpLocks/>
          </p:cNvCxnSpPr>
          <p:nvPr/>
        </p:nvCxnSpPr>
        <p:spPr>
          <a:xfrm>
            <a:off x="385988" y="3486153"/>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9840176D-BA00-5500-875B-44096D48A643}"/>
              </a:ext>
            </a:extLst>
          </p:cNvPr>
          <p:cNvCxnSpPr>
            <a:cxnSpLocks/>
          </p:cNvCxnSpPr>
          <p:nvPr/>
        </p:nvCxnSpPr>
        <p:spPr>
          <a:xfrm>
            <a:off x="385988" y="3709991"/>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D7282012-6703-1B10-1591-77C52F4A3537}"/>
              </a:ext>
            </a:extLst>
          </p:cNvPr>
          <p:cNvCxnSpPr>
            <a:cxnSpLocks/>
          </p:cNvCxnSpPr>
          <p:nvPr/>
        </p:nvCxnSpPr>
        <p:spPr>
          <a:xfrm>
            <a:off x="385988" y="3924303"/>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F9BC6CA-20EB-88BC-BC05-50A6E2E40C3A}"/>
              </a:ext>
            </a:extLst>
          </p:cNvPr>
          <p:cNvCxnSpPr>
            <a:cxnSpLocks/>
          </p:cNvCxnSpPr>
          <p:nvPr/>
        </p:nvCxnSpPr>
        <p:spPr>
          <a:xfrm>
            <a:off x="385988" y="4138613"/>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09150D1A-E6AC-084A-04FC-9CD5BE2B738C}"/>
              </a:ext>
            </a:extLst>
          </p:cNvPr>
          <p:cNvCxnSpPr>
            <a:cxnSpLocks/>
          </p:cNvCxnSpPr>
          <p:nvPr/>
        </p:nvCxnSpPr>
        <p:spPr>
          <a:xfrm>
            <a:off x="385988" y="4376740"/>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F5BBE094-4322-3533-C643-566493C79947}"/>
              </a:ext>
            </a:extLst>
          </p:cNvPr>
          <p:cNvCxnSpPr>
            <a:cxnSpLocks/>
          </p:cNvCxnSpPr>
          <p:nvPr/>
        </p:nvCxnSpPr>
        <p:spPr>
          <a:xfrm>
            <a:off x="385988" y="4591052"/>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E83F7E75-F442-C0C9-DC00-5ED27F9870B6}"/>
              </a:ext>
            </a:extLst>
          </p:cNvPr>
          <p:cNvCxnSpPr>
            <a:cxnSpLocks/>
          </p:cNvCxnSpPr>
          <p:nvPr/>
        </p:nvCxnSpPr>
        <p:spPr>
          <a:xfrm>
            <a:off x="385988" y="4814890"/>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8EC46609-C121-C226-F417-A269385CB0E3}"/>
              </a:ext>
            </a:extLst>
          </p:cNvPr>
          <p:cNvCxnSpPr>
            <a:cxnSpLocks/>
          </p:cNvCxnSpPr>
          <p:nvPr/>
        </p:nvCxnSpPr>
        <p:spPr>
          <a:xfrm>
            <a:off x="385988" y="5029202"/>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1A9C1276-FB5B-71E1-AB77-199AAAB3A3F8}"/>
              </a:ext>
            </a:extLst>
          </p:cNvPr>
          <p:cNvCxnSpPr>
            <a:cxnSpLocks/>
          </p:cNvCxnSpPr>
          <p:nvPr/>
        </p:nvCxnSpPr>
        <p:spPr>
          <a:xfrm>
            <a:off x="385988" y="5253041"/>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2AA23D32-62A3-1F3D-BE3B-EF6A72402D6C}"/>
              </a:ext>
            </a:extLst>
          </p:cNvPr>
          <p:cNvCxnSpPr>
            <a:cxnSpLocks/>
          </p:cNvCxnSpPr>
          <p:nvPr/>
        </p:nvCxnSpPr>
        <p:spPr>
          <a:xfrm>
            <a:off x="385988" y="5491168"/>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28C7EB04-6AA9-8837-28CC-6F09E7352C08}"/>
              </a:ext>
            </a:extLst>
          </p:cNvPr>
          <p:cNvCxnSpPr>
            <a:cxnSpLocks/>
          </p:cNvCxnSpPr>
          <p:nvPr/>
        </p:nvCxnSpPr>
        <p:spPr>
          <a:xfrm>
            <a:off x="385988" y="5705480"/>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757D6784-1818-9563-E9E5-214D1DDFCB0A}"/>
              </a:ext>
            </a:extLst>
          </p:cNvPr>
          <p:cNvCxnSpPr>
            <a:cxnSpLocks/>
          </p:cNvCxnSpPr>
          <p:nvPr/>
        </p:nvCxnSpPr>
        <p:spPr>
          <a:xfrm>
            <a:off x="385988" y="5929318"/>
            <a:ext cx="537473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5326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3F23E3AE-4763-59BE-3BCC-8068BC9E82F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7" name="Objeto 6" hidden="1">
                        <a:extLst>
                          <a:ext uri="{FF2B5EF4-FFF2-40B4-BE49-F238E27FC236}">
                            <a16:creationId xmlns:a16="http://schemas.microsoft.com/office/drawing/2014/main" id="{3F23E3AE-4763-59BE-3BCC-8068BC9E82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D00E8B8D-65FD-4A06-FE94-ABFC4590E78C}"/>
              </a:ext>
            </a:extLst>
          </p:cNvPr>
          <p:cNvSpPr>
            <a:spLocks noGrp="1"/>
          </p:cNvSpPr>
          <p:nvPr>
            <p:ph type="title"/>
          </p:nvPr>
        </p:nvSpPr>
        <p:spPr/>
        <p:txBody>
          <a:bodyPr vert="horz"/>
          <a:lstStyle/>
          <a:p>
            <a:r>
              <a:rPr lang="en-US" dirty="0"/>
              <a:t>How to replace the placeholder logo in this template</a:t>
            </a:r>
          </a:p>
        </p:txBody>
      </p:sp>
      <p:sp>
        <p:nvSpPr>
          <p:cNvPr id="28" name="Rectangle: Rounded Corners 27">
            <a:extLst>
              <a:ext uri="{FF2B5EF4-FFF2-40B4-BE49-F238E27FC236}">
                <a16:creationId xmlns:a16="http://schemas.microsoft.com/office/drawing/2014/main" id="{29E8BBE2-5E3F-AD77-EF8C-4FB9BD978B04}"/>
              </a:ext>
            </a:extLst>
          </p:cNvPr>
          <p:cNvSpPr/>
          <p:nvPr/>
        </p:nvSpPr>
        <p:spPr>
          <a:xfrm>
            <a:off x="8552329" y="4961966"/>
            <a:ext cx="3268196" cy="1346760"/>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Verdana"/>
                <a:ea typeface="+mn-ea"/>
                <a:cs typeface="+mn-cs"/>
              </a:rPr>
              <a:t>Watch video: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Verdana"/>
                <a:ea typeface="+mn-ea"/>
                <a:cs typeface="+mn-cs"/>
                <a:hlinkClick r:id="rId5">
                  <a:extLst>
                    <a:ext uri="{A12FA001-AC4F-418D-AE19-62706E023703}">
                      <ahyp:hlinkClr xmlns:ahyp="http://schemas.microsoft.com/office/drawing/2018/hyperlinkcolor" val="tx"/>
                    </a:ext>
                  </a:extLst>
                </a:hlinkClick>
              </a:rPr>
              <a:t>How to replace the placeholder logo</a:t>
            </a:r>
            <a:endParaRPr kumimoji="0" lang="en-US" sz="1800" b="0" i="0" u="none" strike="noStrike" kern="1200" cap="none" spc="0" normalizeH="0" baseline="0" noProof="0" dirty="0">
              <a:ln>
                <a:noFill/>
              </a:ln>
              <a:solidFill>
                <a:srgbClr val="FFFFFF"/>
              </a:solidFill>
              <a:effectLst/>
              <a:uLnTx/>
              <a:uFillTx/>
              <a:latin typeface="Verdana"/>
              <a:ea typeface="+mn-ea"/>
              <a:cs typeface="+mn-cs"/>
            </a:endParaRPr>
          </a:p>
        </p:txBody>
      </p:sp>
      <p:sp>
        <p:nvSpPr>
          <p:cNvPr id="29" name="TextBox 28">
            <a:extLst>
              <a:ext uri="{FF2B5EF4-FFF2-40B4-BE49-F238E27FC236}">
                <a16:creationId xmlns:a16="http://schemas.microsoft.com/office/drawing/2014/main" id="{E048C7AD-C1DC-3362-0262-A4AFFCD57286}"/>
              </a:ext>
            </a:extLst>
          </p:cNvPr>
          <p:cNvSpPr txBox="1"/>
          <p:nvPr/>
        </p:nvSpPr>
        <p:spPr>
          <a:xfrm>
            <a:off x="911792" y="2757420"/>
            <a:ext cx="2720495" cy="243840"/>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View &gt; Slide Master</a:t>
            </a:r>
          </a:p>
        </p:txBody>
      </p:sp>
      <p:sp>
        <p:nvSpPr>
          <p:cNvPr id="30" name="Oval 22">
            <a:extLst>
              <a:ext uri="{FF2B5EF4-FFF2-40B4-BE49-F238E27FC236}">
                <a16:creationId xmlns:a16="http://schemas.microsoft.com/office/drawing/2014/main" id="{56381A0B-3873-FB71-D4F0-646BE6401765}"/>
              </a:ext>
            </a:extLst>
          </p:cNvPr>
          <p:cNvSpPr/>
          <p:nvPr/>
        </p:nvSpPr>
        <p:spPr>
          <a:xfrm>
            <a:off x="383111" y="1619239"/>
            <a:ext cx="461112" cy="461175"/>
          </a:xfrm>
          <a:prstGeom prst="ellipse">
            <a:avLst/>
          </a:prstGeom>
          <a:solidFill>
            <a:schemeClr val="accent1"/>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FFFF"/>
                </a:solidFill>
                <a:effectLst/>
                <a:uLnTx/>
                <a:uFillTx/>
                <a:latin typeface="Verdana"/>
                <a:ea typeface="+mn-ea"/>
                <a:cs typeface="+mn-cs"/>
              </a:rPr>
              <a:t>1</a:t>
            </a:r>
          </a:p>
        </p:txBody>
      </p:sp>
      <p:sp>
        <p:nvSpPr>
          <p:cNvPr id="32" name="TextBox 31">
            <a:extLst>
              <a:ext uri="{FF2B5EF4-FFF2-40B4-BE49-F238E27FC236}">
                <a16:creationId xmlns:a16="http://schemas.microsoft.com/office/drawing/2014/main" id="{31CB455B-2DAC-ADB4-D307-DA090B48027E}"/>
              </a:ext>
            </a:extLst>
          </p:cNvPr>
          <p:cNvSpPr txBox="1"/>
          <p:nvPr/>
        </p:nvSpPr>
        <p:spPr>
          <a:xfrm>
            <a:off x="2689723" y="4259513"/>
            <a:ext cx="713655" cy="531657"/>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Select the top Master slide</a:t>
            </a:r>
          </a:p>
        </p:txBody>
      </p:sp>
      <p:sp>
        <p:nvSpPr>
          <p:cNvPr id="33" name="Oval 22">
            <a:extLst>
              <a:ext uri="{FF2B5EF4-FFF2-40B4-BE49-F238E27FC236}">
                <a16:creationId xmlns:a16="http://schemas.microsoft.com/office/drawing/2014/main" id="{F34E56BC-DAAB-2695-27DB-4BBD30C42490}"/>
              </a:ext>
            </a:extLst>
          </p:cNvPr>
          <p:cNvSpPr/>
          <p:nvPr/>
        </p:nvSpPr>
        <p:spPr>
          <a:xfrm>
            <a:off x="4300289" y="1619239"/>
            <a:ext cx="461112" cy="461175"/>
          </a:xfrm>
          <a:prstGeom prst="ellipse">
            <a:avLst/>
          </a:prstGeom>
          <a:solidFill>
            <a:schemeClr val="accent1"/>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FFFF"/>
                </a:solidFill>
                <a:effectLst/>
                <a:uLnTx/>
                <a:uFillTx/>
                <a:latin typeface="Verdana"/>
                <a:ea typeface="+mn-ea"/>
                <a:cs typeface="+mn-cs"/>
              </a:rPr>
              <a:t>3</a:t>
            </a:r>
          </a:p>
        </p:txBody>
      </p:sp>
      <p:sp>
        <p:nvSpPr>
          <p:cNvPr id="34" name="TextBox 33">
            <a:extLst>
              <a:ext uri="{FF2B5EF4-FFF2-40B4-BE49-F238E27FC236}">
                <a16:creationId xmlns:a16="http://schemas.microsoft.com/office/drawing/2014/main" id="{4172A8C0-CBA0-1F55-5D7F-15F9501994E1}"/>
              </a:ext>
            </a:extLst>
          </p:cNvPr>
          <p:cNvSpPr txBox="1"/>
          <p:nvPr/>
        </p:nvSpPr>
        <p:spPr>
          <a:xfrm>
            <a:off x="4860554" y="3257793"/>
            <a:ext cx="2720495" cy="243840"/>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Delete placeholder logo from Master slide</a:t>
            </a:r>
          </a:p>
        </p:txBody>
      </p:sp>
      <p:sp>
        <p:nvSpPr>
          <p:cNvPr id="35" name="TextBox 34">
            <a:extLst>
              <a:ext uri="{FF2B5EF4-FFF2-40B4-BE49-F238E27FC236}">
                <a16:creationId xmlns:a16="http://schemas.microsoft.com/office/drawing/2014/main" id="{DA6DB320-8E9E-980B-25CF-F0DD51A4058C}"/>
              </a:ext>
            </a:extLst>
          </p:cNvPr>
          <p:cNvSpPr txBox="1"/>
          <p:nvPr/>
        </p:nvSpPr>
        <p:spPr>
          <a:xfrm>
            <a:off x="5144206" y="5592724"/>
            <a:ext cx="2720495" cy="243840"/>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Select Insert &gt; Pictures</a:t>
            </a:r>
          </a:p>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Browse and select </a:t>
            </a:r>
            <a:r>
              <a:rPr kumimoji="0" lang="en-US" sz="1200" b="0" i="0" u="none" strike="noStrike" kern="1200" cap="none" spc="0" normalizeH="0" baseline="0" noProof="0" dirty="0" err="1">
                <a:ln>
                  <a:noFill/>
                </a:ln>
                <a:solidFill>
                  <a:srgbClr val="000000"/>
                </a:solidFill>
                <a:effectLst/>
                <a:uLnTx/>
                <a:uFillTx/>
                <a:latin typeface="Verdana"/>
                <a:ea typeface="+mn-ea"/>
                <a:cs typeface="+mn-cs"/>
              </a:rPr>
              <a:t>your</a:t>
            </a:r>
            <a:r>
              <a:rPr kumimoji="0" lang="en-US" sz="1200" b="0" i="0" u="none" strike="noStrike" kern="1200" cap="none" spc="0" normalizeH="0" baseline="0" noProof="0" dirty="0">
                <a:ln>
                  <a:noFill/>
                </a:ln>
                <a:solidFill>
                  <a:srgbClr val="000000"/>
                </a:solidFill>
                <a:effectLst/>
                <a:uLnTx/>
                <a:uFillTx/>
                <a:latin typeface="Verdana"/>
                <a:ea typeface="+mn-ea"/>
                <a:cs typeface="+mn-cs"/>
              </a:rPr>
              <a:t> logo</a:t>
            </a:r>
          </a:p>
        </p:txBody>
      </p:sp>
      <p:sp>
        <p:nvSpPr>
          <p:cNvPr id="36" name="Oval 22">
            <a:extLst>
              <a:ext uri="{FF2B5EF4-FFF2-40B4-BE49-F238E27FC236}">
                <a16:creationId xmlns:a16="http://schemas.microsoft.com/office/drawing/2014/main" id="{3DC30BDC-8131-0CB9-6519-8D11BDB884DD}"/>
              </a:ext>
            </a:extLst>
          </p:cNvPr>
          <p:cNvSpPr/>
          <p:nvPr/>
        </p:nvSpPr>
        <p:spPr>
          <a:xfrm>
            <a:off x="4300289" y="4158734"/>
            <a:ext cx="461112" cy="461175"/>
          </a:xfrm>
          <a:prstGeom prst="ellipse">
            <a:avLst/>
          </a:prstGeom>
          <a:solidFill>
            <a:schemeClr val="accent1"/>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FFFF"/>
                </a:solidFill>
                <a:effectLst/>
                <a:uLnTx/>
                <a:uFillTx/>
                <a:latin typeface="Verdana"/>
                <a:ea typeface="+mn-ea"/>
                <a:cs typeface="+mn-cs"/>
              </a:rPr>
              <a:t>4</a:t>
            </a:r>
          </a:p>
        </p:txBody>
      </p:sp>
      <p:sp>
        <p:nvSpPr>
          <p:cNvPr id="38" name="Oval 22">
            <a:extLst>
              <a:ext uri="{FF2B5EF4-FFF2-40B4-BE49-F238E27FC236}">
                <a16:creationId xmlns:a16="http://schemas.microsoft.com/office/drawing/2014/main" id="{A2A78C68-48F7-794B-5D88-055B527A05A0}"/>
              </a:ext>
            </a:extLst>
          </p:cNvPr>
          <p:cNvSpPr/>
          <p:nvPr/>
        </p:nvSpPr>
        <p:spPr>
          <a:xfrm>
            <a:off x="8052796" y="1619239"/>
            <a:ext cx="461112" cy="461175"/>
          </a:xfrm>
          <a:prstGeom prst="ellipse">
            <a:avLst/>
          </a:prstGeom>
          <a:solidFill>
            <a:schemeClr val="accent1"/>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FFFF"/>
                </a:solidFill>
                <a:effectLst/>
                <a:uLnTx/>
                <a:uFillTx/>
                <a:latin typeface="Verdana"/>
                <a:ea typeface="+mn-ea"/>
                <a:cs typeface="+mn-cs"/>
              </a:rPr>
              <a:t>5</a:t>
            </a:r>
          </a:p>
        </p:txBody>
      </p:sp>
      <p:sp>
        <p:nvSpPr>
          <p:cNvPr id="41" name="TextBox 40">
            <a:extLst>
              <a:ext uri="{FF2B5EF4-FFF2-40B4-BE49-F238E27FC236}">
                <a16:creationId xmlns:a16="http://schemas.microsoft.com/office/drawing/2014/main" id="{7F9CD865-BF61-CB53-0B95-26884298AD86}"/>
              </a:ext>
            </a:extLst>
          </p:cNvPr>
          <p:cNvSpPr txBox="1"/>
          <p:nvPr/>
        </p:nvSpPr>
        <p:spPr>
          <a:xfrm>
            <a:off x="8619566" y="3257793"/>
            <a:ext cx="3146892" cy="171207"/>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Move your own logo into position on the Master slide. </a:t>
            </a:r>
          </a:p>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OR: Just delete the placeholder logo from the Master and leave that space blank.</a:t>
            </a:r>
          </a:p>
        </p:txBody>
      </p:sp>
      <p:pic>
        <p:nvPicPr>
          <p:cNvPr id="4" name="Picture 3">
            <a:extLst>
              <a:ext uri="{FF2B5EF4-FFF2-40B4-BE49-F238E27FC236}">
                <a16:creationId xmlns:a16="http://schemas.microsoft.com/office/drawing/2014/main" id="{8B6BE424-A3FE-264A-B502-E0E3984C2CB5}"/>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60004" y="1640031"/>
            <a:ext cx="2836141" cy="899682"/>
          </a:xfrm>
          <a:prstGeom prst="rect">
            <a:avLst/>
          </a:prstGeom>
        </p:spPr>
      </p:pic>
      <p:sp>
        <p:nvSpPr>
          <p:cNvPr id="5" name="Oval 4">
            <a:extLst>
              <a:ext uri="{FF2B5EF4-FFF2-40B4-BE49-F238E27FC236}">
                <a16:creationId xmlns:a16="http://schemas.microsoft.com/office/drawing/2014/main" id="{8474AF23-9468-774E-96CC-102601E890C5}"/>
              </a:ext>
            </a:extLst>
          </p:cNvPr>
          <p:cNvSpPr/>
          <p:nvPr/>
        </p:nvSpPr>
        <p:spPr>
          <a:xfrm>
            <a:off x="2798619" y="1856511"/>
            <a:ext cx="734289" cy="73428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nvGrpSpPr>
          <p:cNvPr id="21" name="Group 20">
            <a:extLst>
              <a:ext uri="{FF2B5EF4-FFF2-40B4-BE49-F238E27FC236}">
                <a16:creationId xmlns:a16="http://schemas.microsoft.com/office/drawing/2014/main" id="{4EC945BB-8843-1C89-5C4F-3B70334D1D25}"/>
              </a:ext>
            </a:extLst>
          </p:cNvPr>
          <p:cNvGrpSpPr/>
          <p:nvPr/>
        </p:nvGrpSpPr>
        <p:grpSpPr>
          <a:xfrm>
            <a:off x="383111" y="3442856"/>
            <a:ext cx="2143258" cy="2175163"/>
            <a:chOff x="383111" y="3442856"/>
            <a:chExt cx="2143258" cy="2175163"/>
          </a:xfrm>
        </p:grpSpPr>
        <p:sp>
          <p:nvSpPr>
            <p:cNvPr id="31" name="Oval 22">
              <a:extLst>
                <a:ext uri="{FF2B5EF4-FFF2-40B4-BE49-F238E27FC236}">
                  <a16:creationId xmlns:a16="http://schemas.microsoft.com/office/drawing/2014/main" id="{9259D10E-0D64-94DF-287D-C2A981C59571}"/>
                </a:ext>
              </a:extLst>
            </p:cNvPr>
            <p:cNvSpPr/>
            <p:nvPr/>
          </p:nvSpPr>
          <p:spPr>
            <a:xfrm>
              <a:off x="383111" y="3773058"/>
              <a:ext cx="461112" cy="461175"/>
            </a:xfrm>
            <a:prstGeom prst="ellipse">
              <a:avLst/>
            </a:prstGeom>
            <a:solidFill>
              <a:schemeClr val="accent1"/>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FFFF"/>
                  </a:solidFill>
                  <a:effectLst/>
                  <a:uLnTx/>
                  <a:uFillTx/>
                  <a:latin typeface="Verdana"/>
                  <a:ea typeface="+mn-ea"/>
                  <a:cs typeface="+mn-cs"/>
                </a:rPr>
                <a:t>2</a:t>
              </a:r>
            </a:p>
          </p:txBody>
        </p:sp>
        <p:pic>
          <p:nvPicPr>
            <p:cNvPr id="8" name="Picture 7">
              <a:extLst>
                <a:ext uri="{FF2B5EF4-FFF2-40B4-BE49-F238E27FC236}">
                  <a16:creationId xmlns:a16="http://schemas.microsoft.com/office/drawing/2014/main" id="{4F77A788-1369-A478-D14E-AB3B3C619158}"/>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44863" y="3664529"/>
              <a:ext cx="1481506" cy="1953490"/>
            </a:xfrm>
            <a:prstGeom prst="rect">
              <a:avLst/>
            </a:prstGeom>
          </p:spPr>
        </p:pic>
        <p:sp>
          <p:nvSpPr>
            <p:cNvPr id="9" name="Oval 8">
              <a:extLst>
                <a:ext uri="{FF2B5EF4-FFF2-40B4-BE49-F238E27FC236}">
                  <a16:creationId xmlns:a16="http://schemas.microsoft.com/office/drawing/2014/main" id="{77E6846F-71F6-18D2-293A-3045F7E33492}"/>
                </a:ext>
              </a:extLst>
            </p:cNvPr>
            <p:cNvSpPr/>
            <p:nvPr/>
          </p:nvSpPr>
          <p:spPr>
            <a:xfrm>
              <a:off x="1219201" y="3442856"/>
              <a:ext cx="1246908" cy="124690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pic>
        <p:nvPicPr>
          <p:cNvPr id="12" name="Picture 11">
            <a:extLst>
              <a:ext uri="{FF2B5EF4-FFF2-40B4-BE49-F238E27FC236}">
                <a16:creationId xmlns:a16="http://schemas.microsoft.com/office/drawing/2014/main" id="{546419F1-609A-EBB1-F028-2E23515DE96D}"/>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4890028" y="1648690"/>
            <a:ext cx="2549863" cy="1438088"/>
          </a:xfrm>
          <a:prstGeom prst="rect">
            <a:avLst/>
          </a:prstGeom>
        </p:spPr>
      </p:pic>
      <p:sp>
        <p:nvSpPr>
          <p:cNvPr id="13" name="Oval 12">
            <a:extLst>
              <a:ext uri="{FF2B5EF4-FFF2-40B4-BE49-F238E27FC236}">
                <a16:creationId xmlns:a16="http://schemas.microsoft.com/office/drawing/2014/main" id="{8AE46603-0960-07E4-B674-78B6F83C0903}"/>
              </a:ext>
            </a:extLst>
          </p:cNvPr>
          <p:cNvSpPr/>
          <p:nvPr/>
        </p:nvSpPr>
        <p:spPr>
          <a:xfrm>
            <a:off x="4890655" y="2812473"/>
            <a:ext cx="443345" cy="44334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15" name="Picture 14">
            <a:extLst>
              <a:ext uri="{FF2B5EF4-FFF2-40B4-BE49-F238E27FC236}">
                <a16:creationId xmlns:a16="http://schemas.microsoft.com/office/drawing/2014/main" id="{0F142946-4601-2D1A-37D1-34F291877DD1}"/>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5084042" y="4283363"/>
            <a:ext cx="2720084" cy="953655"/>
          </a:xfrm>
          <a:prstGeom prst="rect">
            <a:avLst/>
          </a:prstGeom>
        </p:spPr>
      </p:pic>
      <p:sp>
        <p:nvSpPr>
          <p:cNvPr id="17" name="Oval 16">
            <a:extLst>
              <a:ext uri="{FF2B5EF4-FFF2-40B4-BE49-F238E27FC236}">
                <a16:creationId xmlns:a16="http://schemas.microsoft.com/office/drawing/2014/main" id="{C730CAEB-CFC8-EFA5-51B1-A02B031DD1EC}"/>
              </a:ext>
            </a:extLst>
          </p:cNvPr>
          <p:cNvSpPr/>
          <p:nvPr/>
        </p:nvSpPr>
        <p:spPr>
          <a:xfrm>
            <a:off x="5070764" y="4281055"/>
            <a:ext cx="706581" cy="7065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19" name="Picture 18">
            <a:extLst>
              <a:ext uri="{FF2B5EF4-FFF2-40B4-BE49-F238E27FC236}">
                <a16:creationId xmlns:a16="http://schemas.microsoft.com/office/drawing/2014/main" id="{BAEB291C-5019-1DCA-473F-162D128ABEAB}"/>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8702545" y="1639114"/>
            <a:ext cx="3117979" cy="1144427"/>
          </a:xfrm>
          <a:prstGeom prst="rect">
            <a:avLst/>
          </a:prstGeom>
        </p:spPr>
      </p:pic>
      <p:sp>
        <p:nvSpPr>
          <p:cNvPr id="20" name="Oval 19">
            <a:extLst>
              <a:ext uri="{FF2B5EF4-FFF2-40B4-BE49-F238E27FC236}">
                <a16:creationId xmlns:a16="http://schemas.microsoft.com/office/drawing/2014/main" id="{2D725834-4A24-BA26-28EB-8D6CE4529521}"/>
              </a:ext>
            </a:extLst>
          </p:cNvPr>
          <p:cNvSpPr/>
          <p:nvPr/>
        </p:nvSpPr>
        <p:spPr>
          <a:xfrm>
            <a:off x="10144788" y="2255032"/>
            <a:ext cx="706581" cy="7065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 name="TextBox 1">
            <a:extLst>
              <a:ext uri="{FF2B5EF4-FFF2-40B4-BE49-F238E27FC236}">
                <a16:creationId xmlns:a16="http://schemas.microsoft.com/office/drawing/2014/main" id="{0D6FC0EC-22AF-A2FF-06AA-854730EBF3AC}"/>
              </a:ext>
            </a:extLst>
          </p:cNvPr>
          <p:cNvSpPr txBox="1"/>
          <p:nvPr/>
        </p:nvSpPr>
        <p:spPr>
          <a:xfrm>
            <a:off x="1066800" y="6608618"/>
            <a:ext cx="0" cy="0"/>
          </a:xfrm>
          <a:prstGeom prst="rect">
            <a:avLst/>
          </a:prstGeom>
          <a:noFill/>
        </p:spPr>
        <p:txBody>
          <a:bodyPr wrap="non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253011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CFA0E9F1-CBF7-EDDA-15DE-15FFC50FFBD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7" name="Objeto 6" hidden="1">
                        <a:extLst>
                          <a:ext uri="{FF2B5EF4-FFF2-40B4-BE49-F238E27FC236}">
                            <a16:creationId xmlns:a16="http://schemas.microsoft.com/office/drawing/2014/main" id="{CFA0E9F1-CBF7-EDDA-15DE-15FFC50FFBD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Marcador de texto 1">
            <a:extLst>
              <a:ext uri="{FF2B5EF4-FFF2-40B4-BE49-F238E27FC236}">
                <a16:creationId xmlns:a16="http://schemas.microsoft.com/office/drawing/2014/main" id="{E7CC9C6B-C882-6647-3313-7C1946EC1B10}"/>
              </a:ext>
            </a:extLst>
          </p:cNvPr>
          <p:cNvSpPr>
            <a:spLocks noGrp="1"/>
          </p:cNvSpPr>
          <p:nvPr>
            <p:ph type="body" sz="quarter" idx="14"/>
          </p:nvPr>
        </p:nvSpPr>
        <p:spPr/>
        <p:txBody>
          <a:bodyPr/>
          <a:lstStyle/>
          <a:p>
            <a:r>
              <a:rPr lang="en-US" dirty="0"/>
              <a:t>Subtitle</a:t>
            </a:r>
          </a:p>
        </p:txBody>
      </p:sp>
      <p:sp>
        <p:nvSpPr>
          <p:cNvPr id="3" name="Título 2">
            <a:extLst>
              <a:ext uri="{FF2B5EF4-FFF2-40B4-BE49-F238E27FC236}">
                <a16:creationId xmlns:a16="http://schemas.microsoft.com/office/drawing/2014/main" id="{BEC89403-8299-5EDE-ACD4-41A2AA50B689}"/>
              </a:ext>
            </a:extLst>
          </p:cNvPr>
          <p:cNvSpPr>
            <a:spLocks noGrp="1"/>
          </p:cNvSpPr>
          <p:nvPr>
            <p:ph type="title"/>
          </p:nvPr>
        </p:nvSpPr>
        <p:spPr/>
        <p:txBody>
          <a:bodyPr vert="horz"/>
          <a:lstStyle/>
          <a:p>
            <a:r>
              <a:rPr lang="en-US" dirty="0"/>
              <a:t>How to change the color scheme in this template</a:t>
            </a:r>
          </a:p>
        </p:txBody>
      </p:sp>
      <p:sp>
        <p:nvSpPr>
          <p:cNvPr id="19" name="TextBox 18">
            <a:extLst>
              <a:ext uri="{FF2B5EF4-FFF2-40B4-BE49-F238E27FC236}">
                <a16:creationId xmlns:a16="http://schemas.microsoft.com/office/drawing/2014/main" id="{22F07931-6BB2-61BB-A58D-86D789CE66A7}"/>
              </a:ext>
            </a:extLst>
          </p:cNvPr>
          <p:cNvSpPr txBox="1"/>
          <p:nvPr/>
        </p:nvSpPr>
        <p:spPr>
          <a:xfrm>
            <a:off x="911792" y="2757420"/>
            <a:ext cx="2720495" cy="243840"/>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View &gt; Slide Master</a:t>
            </a:r>
          </a:p>
        </p:txBody>
      </p:sp>
      <p:sp>
        <p:nvSpPr>
          <p:cNvPr id="20" name="Oval 22">
            <a:extLst>
              <a:ext uri="{FF2B5EF4-FFF2-40B4-BE49-F238E27FC236}">
                <a16:creationId xmlns:a16="http://schemas.microsoft.com/office/drawing/2014/main" id="{E541D692-E997-AE35-2EA5-3A78DE96C9D7}"/>
              </a:ext>
            </a:extLst>
          </p:cNvPr>
          <p:cNvSpPr/>
          <p:nvPr/>
        </p:nvSpPr>
        <p:spPr>
          <a:xfrm>
            <a:off x="383111" y="1615799"/>
            <a:ext cx="461112" cy="461175"/>
          </a:xfrm>
          <a:prstGeom prst="ellipse">
            <a:avLst/>
          </a:prstGeom>
          <a:solidFill>
            <a:schemeClr val="accent1"/>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FFFF"/>
                </a:solidFill>
                <a:effectLst/>
                <a:uLnTx/>
                <a:uFillTx/>
                <a:latin typeface="Verdana"/>
                <a:ea typeface="+mn-ea"/>
                <a:cs typeface="+mn-cs"/>
              </a:rPr>
              <a:t>1</a:t>
            </a:r>
          </a:p>
        </p:txBody>
      </p:sp>
      <p:sp>
        <p:nvSpPr>
          <p:cNvPr id="4" name="Oval 22">
            <a:extLst>
              <a:ext uri="{FF2B5EF4-FFF2-40B4-BE49-F238E27FC236}">
                <a16:creationId xmlns:a16="http://schemas.microsoft.com/office/drawing/2014/main" id="{D2885A0C-D724-84CA-8DAC-77A5B4B5AA7B}"/>
              </a:ext>
            </a:extLst>
          </p:cNvPr>
          <p:cNvSpPr/>
          <p:nvPr/>
        </p:nvSpPr>
        <p:spPr>
          <a:xfrm>
            <a:off x="383111" y="3537529"/>
            <a:ext cx="461112" cy="461175"/>
          </a:xfrm>
          <a:prstGeom prst="ellipse">
            <a:avLst/>
          </a:prstGeom>
          <a:solidFill>
            <a:schemeClr val="accent1"/>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FFFF"/>
                </a:solidFill>
                <a:effectLst/>
                <a:uLnTx/>
                <a:uFillTx/>
                <a:latin typeface="Verdana"/>
                <a:ea typeface="+mn-ea"/>
                <a:cs typeface="+mn-cs"/>
              </a:rPr>
              <a:t>2</a:t>
            </a:r>
          </a:p>
        </p:txBody>
      </p:sp>
      <p:sp>
        <p:nvSpPr>
          <p:cNvPr id="8" name="TextBox 7">
            <a:extLst>
              <a:ext uri="{FF2B5EF4-FFF2-40B4-BE49-F238E27FC236}">
                <a16:creationId xmlns:a16="http://schemas.microsoft.com/office/drawing/2014/main" id="{EF2F4E6B-E24E-8CC3-4B70-E023E21B34D7}"/>
              </a:ext>
            </a:extLst>
          </p:cNvPr>
          <p:cNvSpPr txBox="1"/>
          <p:nvPr/>
        </p:nvSpPr>
        <p:spPr>
          <a:xfrm>
            <a:off x="1005168" y="5214328"/>
            <a:ext cx="6098240" cy="276999"/>
          </a:xfrm>
          <a:prstGeom prst="rect">
            <a:avLst/>
          </a:prstGeom>
          <a:noFill/>
        </p:spPr>
        <p:txBody>
          <a:bodyPr wrap="square" lIns="0" tIns="0" rIns="0" bIns="0" rtlCol="0">
            <a:noAutofit/>
          </a:bodyPr>
          <a:lstStyle>
            <a:defPPr>
              <a:defRPr lang="en-US"/>
            </a:defPPr>
            <a:lvl1pPr defTabSz="228600">
              <a:spcAft>
                <a:spcPts val="1200"/>
              </a:spcAft>
              <a:defRPr sz="1200"/>
            </a:lvl1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Then Colors &gt; Customize colors</a:t>
            </a:r>
          </a:p>
        </p:txBody>
      </p:sp>
      <p:pic>
        <p:nvPicPr>
          <p:cNvPr id="10" name="Picture 9">
            <a:extLst>
              <a:ext uri="{FF2B5EF4-FFF2-40B4-BE49-F238E27FC236}">
                <a16:creationId xmlns:a16="http://schemas.microsoft.com/office/drawing/2014/main" id="{6B120E8F-4E68-648E-6354-7C356AC5BF7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71177" y="3429000"/>
            <a:ext cx="2235200" cy="1473200"/>
          </a:xfrm>
          <a:prstGeom prst="rect">
            <a:avLst/>
          </a:prstGeom>
        </p:spPr>
      </p:pic>
      <p:pic>
        <p:nvPicPr>
          <p:cNvPr id="11" name="Picture 10">
            <a:extLst>
              <a:ext uri="{FF2B5EF4-FFF2-40B4-BE49-F238E27FC236}">
                <a16:creationId xmlns:a16="http://schemas.microsoft.com/office/drawing/2014/main" id="{3E817AE2-2D81-1E4A-0311-EFAF7A039A50}"/>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60004" y="1640031"/>
            <a:ext cx="2836141" cy="899682"/>
          </a:xfrm>
          <a:prstGeom prst="rect">
            <a:avLst/>
          </a:prstGeom>
        </p:spPr>
      </p:pic>
      <p:sp>
        <p:nvSpPr>
          <p:cNvPr id="12" name="Oval 11">
            <a:extLst>
              <a:ext uri="{FF2B5EF4-FFF2-40B4-BE49-F238E27FC236}">
                <a16:creationId xmlns:a16="http://schemas.microsoft.com/office/drawing/2014/main" id="{5242493B-A992-11CA-57EB-BDF18A81C40F}"/>
              </a:ext>
            </a:extLst>
          </p:cNvPr>
          <p:cNvSpPr/>
          <p:nvPr/>
        </p:nvSpPr>
        <p:spPr>
          <a:xfrm>
            <a:off x="2798619" y="1856511"/>
            <a:ext cx="734289" cy="73428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3" name="Oval 12">
            <a:extLst>
              <a:ext uri="{FF2B5EF4-FFF2-40B4-BE49-F238E27FC236}">
                <a16:creationId xmlns:a16="http://schemas.microsoft.com/office/drawing/2014/main" id="{B43E31AD-2EBD-2213-455E-5191927688F9}"/>
              </a:ext>
            </a:extLst>
          </p:cNvPr>
          <p:cNvSpPr/>
          <p:nvPr/>
        </p:nvSpPr>
        <p:spPr>
          <a:xfrm>
            <a:off x="2036619" y="3429000"/>
            <a:ext cx="1042757" cy="104275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4" name="Oval 22">
            <a:extLst>
              <a:ext uri="{FF2B5EF4-FFF2-40B4-BE49-F238E27FC236}">
                <a16:creationId xmlns:a16="http://schemas.microsoft.com/office/drawing/2014/main" id="{10ADDD29-D16F-A28E-04B6-B2BD37BAA6C6}"/>
              </a:ext>
            </a:extLst>
          </p:cNvPr>
          <p:cNvSpPr/>
          <p:nvPr/>
        </p:nvSpPr>
        <p:spPr>
          <a:xfrm>
            <a:off x="4556182" y="1615799"/>
            <a:ext cx="461112" cy="461175"/>
          </a:xfrm>
          <a:prstGeom prst="ellipse">
            <a:avLst/>
          </a:prstGeom>
          <a:solidFill>
            <a:schemeClr val="accent1"/>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FFFF"/>
                </a:solidFill>
                <a:effectLst/>
                <a:uLnTx/>
                <a:uFillTx/>
                <a:latin typeface="Verdana"/>
                <a:ea typeface="+mn-ea"/>
                <a:cs typeface="+mn-cs"/>
              </a:rPr>
              <a:t>3</a:t>
            </a:r>
          </a:p>
        </p:txBody>
      </p:sp>
      <p:sp>
        <p:nvSpPr>
          <p:cNvPr id="15" name="Oval 22">
            <a:extLst>
              <a:ext uri="{FF2B5EF4-FFF2-40B4-BE49-F238E27FC236}">
                <a16:creationId xmlns:a16="http://schemas.microsoft.com/office/drawing/2014/main" id="{9A63766F-A53C-FA8B-48AF-E4AE1156FBF1}"/>
              </a:ext>
            </a:extLst>
          </p:cNvPr>
          <p:cNvSpPr/>
          <p:nvPr/>
        </p:nvSpPr>
        <p:spPr>
          <a:xfrm>
            <a:off x="8509618" y="1615799"/>
            <a:ext cx="461112" cy="461175"/>
          </a:xfrm>
          <a:prstGeom prst="ellipse">
            <a:avLst/>
          </a:prstGeom>
          <a:solidFill>
            <a:schemeClr val="accent1"/>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FFFF"/>
                </a:solidFill>
                <a:effectLst/>
                <a:uLnTx/>
                <a:uFillTx/>
                <a:latin typeface="Verdana"/>
                <a:ea typeface="+mn-ea"/>
                <a:cs typeface="+mn-cs"/>
              </a:rPr>
              <a:t>4</a:t>
            </a:r>
          </a:p>
        </p:txBody>
      </p:sp>
      <p:pic>
        <p:nvPicPr>
          <p:cNvPr id="17" name="Picture 16">
            <a:extLst>
              <a:ext uri="{FF2B5EF4-FFF2-40B4-BE49-F238E27FC236}">
                <a16:creationId xmlns:a16="http://schemas.microsoft.com/office/drawing/2014/main" id="{46F73A82-6C07-2C62-D937-13201FEAC7C8}"/>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984624" y="5520017"/>
            <a:ext cx="2471270" cy="538099"/>
          </a:xfrm>
          <a:prstGeom prst="rect">
            <a:avLst/>
          </a:prstGeom>
        </p:spPr>
      </p:pic>
      <p:sp>
        <p:nvSpPr>
          <p:cNvPr id="21" name="Oval 20">
            <a:extLst>
              <a:ext uri="{FF2B5EF4-FFF2-40B4-BE49-F238E27FC236}">
                <a16:creationId xmlns:a16="http://schemas.microsoft.com/office/drawing/2014/main" id="{3E4F1FF5-6AF9-7465-917B-0D3BC62C884F}"/>
              </a:ext>
            </a:extLst>
          </p:cNvPr>
          <p:cNvSpPr/>
          <p:nvPr/>
        </p:nvSpPr>
        <p:spPr>
          <a:xfrm>
            <a:off x="1059466" y="5405717"/>
            <a:ext cx="1414793" cy="56683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3" name="TextBox 22">
            <a:extLst>
              <a:ext uri="{FF2B5EF4-FFF2-40B4-BE49-F238E27FC236}">
                <a16:creationId xmlns:a16="http://schemas.microsoft.com/office/drawing/2014/main" id="{8D9F28C5-8C61-E33F-CB2C-871C264ED13C}"/>
              </a:ext>
            </a:extLst>
          </p:cNvPr>
          <p:cNvSpPr txBox="1"/>
          <p:nvPr/>
        </p:nvSpPr>
        <p:spPr>
          <a:xfrm>
            <a:off x="5230907" y="4788461"/>
            <a:ext cx="2622176" cy="415552"/>
          </a:xfrm>
          <a:prstGeom prst="rect">
            <a:avLst/>
          </a:prstGeom>
          <a:noFill/>
        </p:spPr>
        <p:txBody>
          <a:bodyPr wrap="square" lIns="0" tIns="0" rIns="0" bIns="0" rtlCol="0">
            <a:noAutofit/>
          </a:bodyPr>
          <a:lstStyle>
            <a:defPPr>
              <a:defRPr lang="en-US"/>
            </a:defPPr>
            <a:lvl1pPr defTabSz="228600">
              <a:spcAft>
                <a:spcPts val="1200"/>
              </a:spcAft>
              <a:defRPr sz="1200"/>
            </a:lvl1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Change each one of the color slots as explained in the video</a:t>
            </a:r>
          </a:p>
        </p:txBody>
      </p:sp>
      <p:sp>
        <p:nvSpPr>
          <p:cNvPr id="24" name="Rectangle: Rounded Corners 27">
            <a:extLst>
              <a:ext uri="{FF2B5EF4-FFF2-40B4-BE49-F238E27FC236}">
                <a16:creationId xmlns:a16="http://schemas.microsoft.com/office/drawing/2014/main" id="{4B7D335A-A51A-2438-6CF8-0FDD8A80466D}"/>
              </a:ext>
            </a:extLst>
          </p:cNvPr>
          <p:cNvSpPr/>
          <p:nvPr/>
        </p:nvSpPr>
        <p:spPr>
          <a:xfrm>
            <a:off x="8552329" y="4961966"/>
            <a:ext cx="3268196" cy="1346760"/>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Verdana"/>
                <a:ea typeface="+mn-ea"/>
                <a:cs typeface="+mn-cs"/>
              </a:rPr>
              <a:t>Watch video: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Verdana"/>
                <a:ea typeface="+mn-ea"/>
                <a:cs typeface="+mn-cs"/>
                <a:hlinkClick r:id="rId8">
                  <a:extLst>
                    <a:ext uri="{A12FA001-AC4F-418D-AE19-62706E023703}">
                      <ahyp:hlinkClr xmlns:ahyp="http://schemas.microsoft.com/office/drawing/2018/hyperlinkcolor" val="tx"/>
                    </a:ext>
                  </a:extLst>
                </a:hlinkClick>
              </a:rPr>
              <a:t>How to change the color palette</a:t>
            </a:r>
            <a:endParaRPr kumimoji="0" lang="en-US" sz="1800" b="0" i="0" u="none" strike="noStrike" kern="1200" cap="none" spc="0" normalizeH="0" baseline="0" noProof="0" dirty="0">
              <a:ln>
                <a:noFill/>
              </a:ln>
              <a:solidFill>
                <a:srgbClr val="FFFFFF"/>
              </a:solidFill>
              <a:effectLst/>
              <a:uLnTx/>
              <a:uFillTx/>
              <a:latin typeface="Verdana"/>
              <a:ea typeface="+mn-ea"/>
              <a:cs typeface="+mn-cs"/>
            </a:endParaRPr>
          </a:p>
        </p:txBody>
      </p:sp>
      <p:pic>
        <p:nvPicPr>
          <p:cNvPr id="26" name="Picture 25">
            <a:extLst>
              <a:ext uri="{FF2B5EF4-FFF2-40B4-BE49-F238E27FC236}">
                <a16:creationId xmlns:a16="http://schemas.microsoft.com/office/drawing/2014/main" id="{87370F25-37B4-6F7D-6E06-7DE82EF7D617}"/>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5247714" y="1641848"/>
            <a:ext cx="2712600" cy="2943599"/>
          </a:xfrm>
          <a:prstGeom prst="rect">
            <a:avLst/>
          </a:prstGeom>
        </p:spPr>
      </p:pic>
      <p:sp>
        <p:nvSpPr>
          <p:cNvPr id="27" name="Oval 26">
            <a:extLst>
              <a:ext uri="{FF2B5EF4-FFF2-40B4-BE49-F238E27FC236}">
                <a16:creationId xmlns:a16="http://schemas.microsoft.com/office/drawing/2014/main" id="{0225290D-BA33-E68D-B487-1D875A3FFE53}"/>
              </a:ext>
            </a:extLst>
          </p:cNvPr>
          <p:cNvSpPr/>
          <p:nvPr/>
        </p:nvSpPr>
        <p:spPr>
          <a:xfrm rot="5400000">
            <a:off x="4103089" y="2734129"/>
            <a:ext cx="2678605" cy="56683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8" name="TextBox 27">
            <a:extLst>
              <a:ext uri="{FF2B5EF4-FFF2-40B4-BE49-F238E27FC236}">
                <a16:creationId xmlns:a16="http://schemas.microsoft.com/office/drawing/2014/main" id="{17578727-84B7-9FC9-51F8-CC588309E625}"/>
              </a:ext>
            </a:extLst>
          </p:cNvPr>
          <p:cNvSpPr txBox="1"/>
          <p:nvPr/>
        </p:nvSpPr>
        <p:spPr>
          <a:xfrm>
            <a:off x="9243171" y="3536576"/>
            <a:ext cx="2577353" cy="461665"/>
          </a:xfrm>
          <a:prstGeom prst="rect">
            <a:avLst/>
          </a:prstGeom>
          <a:noFill/>
        </p:spPr>
        <p:txBody>
          <a:bodyPr wrap="square" lIns="0" tIns="0" rIns="0" bIns="0" rtlCol="0">
            <a:noAutofit/>
          </a:bodyPr>
          <a:lstStyle>
            <a:defPPr>
              <a:defRPr lang="en-US"/>
            </a:defPPr>
            <a:lvl1pPr defTabSz="228600">
              <a:spcAft>
                <a:spcPts val="1200"/>
              </a:spcAft>
              <a:defRPr sz="1200"/>
            </a:lvl1p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Use RBG / HEV color values</a:t>
            </a: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Or just use the color eyedrop to replace the existing colors </a:t>
            </a:r>
          </a:p>
        </p:txBody>
      </p:sp>
      <p:pic>
        <p:nvPicPr>
          <p:cNvPr id="30" name="Picture 29">
            <a:extLst>
              <a:ext uri="{FF2B5EF4-FFF2-40B4-BE49-F238E27FC236}">
                <a16:creationId xmlns:a16="http://schemas.microsoft.com/office/drawing/2014/main" id="{33F86C52-4A3D-1265-9003-D027D4D1B7E8}"/>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9199095" y="1628401"/>
            <a:ext cx="2621429" cy="1771770"/>
          </a:xfrm>
          <a:prstGeom prst="rect">
            <a:avLst/>
          </a:prstGeom>
        </p:spPr>
      </p:pic>
      <p:sp>
        <p:nvSpPr>
          <p:cNvPr id="31" name="Oval 30">
            <a:extLst>
              <a:ext uri="{FF2B5EF4-FFF2-40B4-BE49-F238E27FC236}">
                <a16:creationId xmlns:a16="http://schemas.microsoft.com/office/drawing/2014/main" id="{5D567A14-0096-D455-EA0B-932E468B98E3}"/>
              </a:ext>
            </a:extLst>
          </p:cNvPr>
          <p:cNvSpPr/>
          <p:nvPr/>
        </p:nvSpPr>
        <p:spPr>
          <a:xfrm>
            <a:off x="9177009" y="2910678"/>
            <a:ext cx="518322" cy="51832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756401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CD220C7E-5E37-3E55-F987-3DD7E3D1D0E6}"/>
              </a:ext>
            </a:extLst>
          </p:cNvPr>
          <p:cNvSpPr>
            <a:spLocks noGrp="1"/>
          </p:cNvSpPr>
          <p:nvPr>
            <p:ph type="title"/>
          </p:nvPr>
        </p:nvSpPr>
        <p:spPr/>
        <p:txBody>
          <a:bodyPr vert="horz"/>
          <a:lstStyle/>
          <a:p>
            <a:r>
              <a:rPr lang="en-US" dirty="0"/>
              <a:t>About Umbrex</a:t>
            </a:r>
          </a:p>
        </p:txBody>
      </p:sp>
      <p:sp>
        <p:nvSpPr>
          <p:cNvPr id="2" name="TextBox 1">
            <a:extLst>
              <a:ext uri="{FF2B5EF4-FFF2-40B4-BE49-F238E27FC236}">
                <a16:creationId xmlns:a16="http://schemas.microsoft.com/office/drawing/2014/main" id="{25D1AC94-73B8-F2D8-5807-F04B66AD519F}"/>
              </a:ext>
            </a:extLst>
          </p:cNvPr>
          <p:cNvSpPr txBox="1"/>
          <p:nvPr/>
        </p:nvSpPr>
        <p:spPr>
          <a:xfrm>
            <a:off x="1394085" y="6625652"/>
            <a:ext cx="0" cy="0"/>
          </a:xfrm>
          <a:prstGeom prst="rect">
            <a:avLst/>
          </a:prstGeom>
          <a:noFill/>
        </p:spPr>
        <p:txBody>
          <a:bodyPr wrap="non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3840255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3" imgW="7772400" imgH="10058400" progId="TCLayout.ActiveDocument.1">
                  <p:embed/>
                </p:oleObj>
              </mc:Choice>
              <mc:Fallback>
                <p:oleObj name="Diapositiva de think-cell"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a:xfrm>
            <a:off x="377825" y="381000"/>
            <a:ext cx="11420475" cy="485775"/>
          </a:xfrm>
        </p:spPr>
        <p:txBody>
          <a:bodyPr vert="horz"/>
          <a:lstStyle/>
          <a:p>
            <a:r>
              <a:rPr lang="en-US" dirty="0"/>
              <a:t>   </a:t>
            </a:r>
          </a:p>
        </p:txBody>
      </p:sp>
      <p:pic>
        <p:nvPicPr>
          <p:cNvPr id="6" name="Picture 2">
            <a:extLst>
              <a:ext uri="{FF2B5EF4-FFF2-40B4-BE49-F238E27FC236}">
                <a16:creationId xmlns:a16="http://schemas.microsoft.com/office/drawing/2014/main" id="{F44D1AAC-6698-46F6-9D99-6A79607F95A4}"/>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9422336-EECB-0927-FC48-D3B0BEDF8270}"/>
              </a:ext>
            </a:extLst>
          </p:cNvPr>
          <p:cNvSpPr txBox="1"/>
          <p:nvPr/>
        </p:nvSpPr>
        <p:spPr>
          <a:xfrm>
            <a:off x="1008205" y="2554613"/>
            <a:ext cx="10050780" cy="2537460"/>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3600" b="0" i="0" u="none" strike="noStrike" kern="1200" cap="none" spc="0" normalizeH="0" baseline="0" noProof="0" dirty="0">
                <a:ln>
                  <a:noFill/>
                </a:ln>
                <a:solidFill>
                  <a:srgbClr val="000000"/>
                </a:solidFill>
                <a:effectLst/>
                <a:uLnTx/>
                <a:uFillTx/>
                <a:latin typeface="Verdana"/>
                <a:ea typeface="+mn-ea"/>
                <a:cs typeface="+mn-cs"/>
              </a:rPr>
              <a:t>Umbrex is the fastest way to find </a:t>
            </a:r>
            <a:r>
              <a:rPr kumimoji="0" lang="en-US" sz="3600" b="0" i="0" u="none" strike="noStrike" kern="1200" cap="none" spc="0" normalizeH="0" baseline="0" noProof="0" dirty="0" err="1">
                <a:ln>
                  <a:noFill/>
                </a:ln>
                <a:solidFill>
                  <a:srgbClr val="000000"/>
                </a:solidFill>
                <a:effectLst/>
                <a:uLnTx/>
                <a:uFillTx/>
                <a:latin typeface="Verdana"/>
                <a:ea typeface="+mn-ea"/>
                <a:cs typeface="+mn-cs"/>
              </a:rPr>
              <a:t>th</a:t>
            </a:r>
            <a:r>
              <a:rPr kumimoji="0" lang="en-US" sz="3600" b="0" i="0" u="none" strike="noStrike" kern="1200" cap="none" spc="0" normalizeH="0" baseline="0" noProof="0" dirty="0">
                <a:ln>
                  <a:noFill/>
                </a:ln>
                <a:solidFill>
                  <a:srgbClr val="000000"/>
                </a:solidFill>
                <a:effectLst/>
                <a:uLnTx/>
                <a:uFillTx/>
                <a:latin typeface="Verdana"/>
                <a:ea typeface="+mn-ea"/>
                <a:cs typeface="+mn-cs"/>
              </a:rPr>
              <a:t>e right independent management consultant.</a:t>
            </a:r>
          </a:p>
        </p:txBody>
      </p:sp>
      <p:sp>
        <p:nvSpPr>
          <p:cNvPr id="4" name="Rectangle 3">
            <a:extLst>
              <a:ext uri="{FF2B5EF4-FFF2-40B4-BE49-F238E27FC236}">
                <a16:creationId xmlns:a16="http://schemas.microsoft.com/office/drawing/2014/main" id="{D04768F6-344D-0D8C-1AF2-5E568879C55C}"/>
              </a:ext>
            </a:extLst>
          </p:cNvPr>
          <p:cNvSpPr/>
          <p:nvPr/>
        </p:nvSpPr>
        <p:spPr>
          <a:xfrm>
            <a:off x="121919" y="6400800"/>
            <a:ext cx="1823421"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10" name="Picture 2">
            <a:extLst>
              <a:ext uri="{FF2B5EF4-FFF2-40B4-BE49-F238E27FC236}">
                <a16:creationId xmlns:a16="http://schemas.microsoft.com/office/drawing/2014/main" id="{578471E5-81F1-3112-D4E5-797D219F79D9}"/>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11">
            <a:extLst>
              <a:ext uri="{FF2B5EF4-FFF2-40B4-BE49-F238E27FC236}">
                <a16:creationId xmlns:a16="http://schemas.microsoft.com/office/drawing/2014/main" id="{2F89919E-4BC3-6BBD-8731-A4C5189F22CB}"/>
              </a:ext>
            </a:extLst>
          </p:cNvPr>
          <p:cNvSpPr/>
          <p:nvPr/>
        </p:nvSpPr>
        <p:spPr>
          <a:xfrm>
            <a:off x="9140327" y="368300"/>
            <a:ext cx="2680198" cy="485776"/>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6">
                  <a:extLst>
                    <a:ext uri="{A12FA001-AC4F-418D-AE19-62706E023703}">
                      <ahyp:hlinkClr xmlns:ahyp="http://schemas.microsoft.com/office/drawing/2018/hyperlinkcolor" val="tx"/>
                    </a:ext>
                  </a:extLst>
                </a:hlinkClick>
              </a:rPr>
              <a:t>Find a consultant now</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2689537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E82F19-C4E7-A466-8577-98D9F8B95CC8}"/>
              </a:ext>
            </a:extLst>
          </p:cNvPr>
          <p:cNvSpPr/>
          <p:nvPr/>
        </p:nvSpPr>
        <p:spPr>
          <a:xfrm>
            <a:off x="121919" y="6400800"/>
            <a:ext cx="1868245"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aphicFrame>
        <p:nvGraphicFramePr>
          <p:cNvPr id="9" name="Objeto 8" hidden="1">
            <a:extLst>
              <a:ext uri="{FF2B5EF4-FFF2-40B4-BE49-F238E27FC236}">
                <a16:creationId xmlns:a16="http://schemas.microsoft.com/office/drawing/2014/main" id="{07BA981F-D947-9371-C279-C8D436EC066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9" name="Objeto 8" hidden="1">
                        <a:extLst>
                          <a:ext uri="{FF2B5EF4-FFF2-40B4-BE49-F238E27FC236}">
                            <a16:creationId xmlns:a16="http://schemas.microsoft.com/office/drawing/2014/main" id="{07BA981F-D947-9371-C279-C8D436EC066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4B00ECBB-9C52-A827-F6FD-342C5B2C81EF}"/>
              </a:ext>
            </a:extLst>
          </p:cNvPr>
          <p:cNvSpPr>
            <a:spLocks noGrp="1"/>
          </p:cNvSpPr>
          <p:nvPr>
            <p:ph type="title"/>
          </p:nvPr>
        </p:nvSpPr>
        <p:spPr/>
        <p:txBody>
          <a:bodyPr vert="horz"/>
          <a:lstStyle/>
          <a:p>
            <a:r>
              <a:rPr lang="en-US" dirty="0"/>
              <a:t>Why </a:t>
            </a:r>
            <a:r>
              <a:rPr lang="en-US" dirty="0" err="1"/>
              <a:t>Umbrex</a:t>
            </a:r>
            <a:r>
              <a:rPr lang="en-US" dirty="0"/>
              <a:t>?</a:t>
            </a:r>
          </a:p>
        </p:txBody>
      </p:sp>
      <p:sp>
        <p:nvSpPr>
          <p:cNvPr id="13" name="Marcador de texto 12">
            <a:extLst>
              <a:ext uri="{FF2B5EF4-FFF2-40B4-BE49-F238E27FC236}">
                <a16:creationId xmlns:a16="http://schemas.microsoft.com/office/drawing/2014/main" id="{75BB6130-12C7-A661-677D-B90DB30BAE4B}"/>
              </a:ext>
            </a:extLst>
          </p:cNvPr>
          <p:cNvSpPr>
            <a:spLocks noGrp="1"/>
          </p:cNvSpPr>
          <p:nvPr>
            <p:ph type="body" sz="quarter" idx="15"/>
          </p:nvPr>
        </p:nvSpPr>
        <p:spPr>
          <a:xfrm>
            <a:off x="384174" y="948631"/>
            <a:ext cx="11449050" cy="1908215"/>
          </a:xfrm>
        </p:spPr>
        <p:txBody>
          <a:bodyPr>
            <a:spAutoFit/>
          </a:bodyPr>
          <a:lstStyle/>
          <a:p>
            <a:r>
              <a:rPr lang="en-US" sz="1400" b="0" dirty="0">
                <a:solidFill>
                  <a:srgbClr val="002060"/>
                </a:solidFill>
              </a:rPr>
              <a:t>Founded by McKinsey alums, Umbrex provides rapid access to independent management consultants with experience at top-tier consulting firms. </a:t>
            </a:r>
          </a:p>
          <a:p>
            <a:endParaRPr lang="en-US" sz="1400" b="0" dirty="0">
              <a:solidFill>
                <a:srgbClr val="002060"/>
              </a:solidFill>
            </a:endParaRPr>
          </a:p>
          <a:p>
            <a:r>
              <a:rPr lang="en-US" sz="1400" b="0" dirty="0">
                <a:solidFill>
                  <a:srgbClr val="002060"/>
                </a:solidFill>
              </a:rPr>
              <a:t>Over 90% of Umbrex consultants are alums of McKinsey, Bain, or BCG. </a:t>
            </a:r>
          </a:p>
          <a:p>
            <a:endParaRPr lang="en-US" sz="1400" b="0" dirty="0">
              <a:solidFill>
                <a:srgbClr val="002060"/>
              </a:solidFill>
            </a:endParaRPr>
          </a:p>
          <a:p>
            <a:r>
              <a:rPr lang="en-US" sz="1400" b="0" dirty="0">
                <a:solidFill>
                  <a:srgbClr val="002060"/>
                </a:solidFill>
              </a:rPr>
              <a:t>The majority also have experience in industry roles. Why should you consider working with </a:t>
            </a:r>
            <a:r>
              <a:rPr lang="en-US" sz="1400" b="0" dirty="0" err="1">
                <a:solidFill>
                  <a:srgbClr val="002060"/>
                </a:solidFill>
              </a:rPr>
              <a:t>Umbrex</a:t>
            </a:r>
            <a:r>
              <a:rPr lang="en-US" sz="1400" b="0" dirty="0">
                <a:solidFill>
                  <a:srgbClr val="002060"/>
                </a:solidFill>
              </a:rPr>
              <a:t>?</a:t>
            </a:r>
          </a:p>
        </p:txBody>
      </p:sp>
      <p:sp>
        <p:nvSpPr>
          <p:cNvPr id="24" name="Marcador de texto 12">
            <a:extLst>
              <a:ext uri="{FF2B5EF4-FFF2-40B4-BE49-F238E27FC236}">
                <a16:creationId xmlns:a16="http://schemas.microsoft.com/office/drawing/2014/main" id="{AB5562D2-8AB5-0184-4FD2-90DDD95BA93E}"/>
              </a:ext>
            </a:extLst>
          </p:cNvPr>
          <p:cNvSpPr txBox="1">
            <a:spLocks/>
          </p:cNvSpPr>
          <p:nvPr/>
        </p:nvSpPr>
        <p:spPr>
          <a:xfrm>
            <a:off x="371476" y="3636904"/>
            <a:ext cx="2191059" cy="2065141"/>
          </a:xfrm>
          <a:prstGeom prst="rect">
            <a:avLst/>
          </a:prstGeom>
          <a:solidFill>
            <a:schemeClr val="bg1">
              <a:lumMod val="95000"/>
            </a:schemeClr>
          </a:solidFill>
        </p:spPr>
        <p:txBody>
          <a:bodyPr vert="horz" wrap="square" lIns="72000" tIns="396000" rIns="72000" bIns="36000" rtlCol="0" anchor="t">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Because you need top-tier consultants.</a:t>
            </a:r>
          </a:p>
        </p:txBody>
      </p:sp>
      <p:sp>
        <p:nvSpPr>
          <p:cNvPr id="25" name="Marcador de texto 12">
            <a:extLst>
              <a:ext uri="{FF2B5EF4-FFF2-40B4-BE49-F238E27FC236}">
                <a16:creationId xmlns:a16="http://schemas.microsoft.com/office/drawing/2014/main" id="{40983DD0-2173-B1FB-5D9D-1EC5421E79BD}"/>
              </a:ext>
            </a:extLst>
          </p:cNvPr>
          <p:cNvSpPr txBox="1">
            <a:spLocks/>
          </p:cNvSpPr>
          <p:nvPr/>
        </p:nvSpPr>
        <p:spPr>
          <a:xfrm>
            <a:off x="2685974" y="3636904"/>
            <a:ext cx="2191059" cy="2065141"/>
          </a:xfrm>
          <a:prstGeom prst="rect">
            <a:avLst/>
          </a:prstGeom>
          <a:solidFill>
            <a:schemeClr val="bg1">
              <a:lumMod val="95000"/>
            </a:schemeClr>
          </a:solidFill>
        </p:spPr>
        <p:txBody>
          <a:bodyPr vert="horz" wrap="square" lIns="72000" tIns="396000" rIns="72000" bIns="36000" rtlCol="0" anchor="t">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You need the caliber of consulting talent that you would find at the highest-ranked global firms - without all the overhead.</a:t>
            </a:r>
          </a:p>
        </p:txBody>
      </p:sp>
      <p:sp>
        <p:nvSpPr>
          <p:cNvPr id="26" name="Marcador de texto 12">
            <a:extLst>
              <a:ext uri="{FF2B5EF4-FFF2-40B4-BE49-F238E27FC236}">
                <a16:creationId xmlns:a16="http://schemas.microsoft.com/office/drawing/2014/main" id="{F8CDF4AB-BBAB-14C0-662F-A746BF55CC8B}"/>
              </a:ext>
            </a:extLst>
          </p:cNvPr>
          <p:cNvSpPr txBox="1">
            <a:spLocks/>
          </p:cNvSpPr>
          <p:nvPr/>
        </p:nvSpPr>
        <p:spPr>
          <a:xfrm>
            <a:off x="5000472" y="3636904"/>
            <a:ext cx="2191059" cy="2065141"/>
          </a:xfrm>
          <a:prstGeom prst="rect">
            <a:avLst/>
          </a:prstGeom>
          <a:solidFill>
            <a:schemeClr val="bg1">
              <a:lumMod val="95000"/>
            </a:schemeClr>
          </a:solidFill>
        </p:spPr>
        <p:txBody>
          <a:bodyPr vert="horz" wrap="square" lIns="72000" tIns="396000" rIns="72000" bIns="36000" rtlCol="0" anchor="t">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You want a flexible solution tailored to your needs</a:t>
            </a:r>
          </a:p>
        </p:txBody>
      </p:sp>
      <p:sp>
        <p:nvSpPr>
          <p:cNvPr id="27" name="Marcador de texto 12">
            <a:extLst>
              <a:ext uri="{FF2B5EF4-FFF2-40B4-BE49-F238E27FC236}">
                <a16:creationId xmlns:a16="http://schemas.microsoft.com/office/drawing/2014/main" id="{F9AF3F95-4D0C-10BD-08B9-6176354CF686}"/>
              </a:ext>
            </a:extLst>
          </p:cNvPr>
          <p:cNvSpPr txBox="1">
            <a:spLocks/>
          </p:cNvSpPr>
          <p:nvPr/>
        </p:nvSpPr>
        <p:spPr>
          <a:xfrm>
            <a:off x="7314970" y="3636904"/>
            <a:ext cx="2191059" cy="2065141"/>
          </a:xfrm>
          <a:prstGeom prst="rect">
            <a:avLst/>
          </a:prstGeom>
          <a:solidFill>
            <a:schemeClr val="bg1">
              <a:lumMod val="95000"/>
            </a:schemeClr>
          </a:solidFill>
        </p:spPr>
        <p:txBody>
          <a:bodyPr vert="horz" wrap="square" lIns="72000" tIns="396000" rIns="72000" bIns="36000" rtlCol="0" anchor="t">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You need someone to start ASAP.</a:t>
            </a:r>
          </a:p>
        </p:txBody>
      </p:sp>
      <p:sp>
        <p:nvSpPr>
          <p:cNvPr id="28" name="Marcador de texto 12">
            <a:extLst>
              <a:ext uri="{FF2B5EF4-FFF2-40B4-BE49-F238E27FC236}">
                <a16:creationId xmlns:a16="http://schemas.microsoft.com/office/drawing/2014/main" id="{B1DA2A94-C7C7-36F0-5E1C-C31D55A7EAA2}"/>
              </a:ext>
            </a:extLst>
          </p:cNvPr>
          <p:cNvSpPr txBox="1">
            <a:spLocks/>
          </p:cNvSpPr>
          <p:nvPr/>
        </p:nvSpPr>
        <p:spPr>
          <a:xfrm>
            <a:off x="9629466" y="3636904"/>
            <a:ext cx="2191059" cy="2065141"/>
          </a:xfrm>
          <a:prstGeom prst="rect">
            <a:avLst/>
          </a:prstGeom>
          <a:solidFill>
            <a:schemeClr val="bg1">
              <a:lumMod val="95000"/>
            </a:schemeClr>
          </a:solidFill>
        </p:spPr>
        <p:txBody>
          <a:bodyPr vert="horz" wrap="square" lIns="72000" tIns="396000" rIns="72000" bIns="36000" rtlCol="0" anchor="t">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You don’t want to spend time sorting through 40 resumes.</a:t>
            </a:r>
          </a:p>
        </p:txBody>
      </p:sp>
      <p:grpSp>
        <p:nvGrpSpPr>
          <p:cNvPr id="34" name="Grupo 33">
            <a:extLst>
              <a:ext uri="{FF2B5EF4-FFF2-40B4-BE49-F238E27FC236}">
                <a16:creationId xmlns:a16="http://schemas.microsoft.com/office/drawing/2014/main" id="{F8561B17-2CB9-15D8-0D25-CF12FEF9EBCB}"/>
              </a:ext>
            </a:extLst>
          </p:cNvPr>
          <p:cNvGrpSpPr/>
          <p:nvPr/>
        </p:nvGrpSpPr>
        <p:grpSpPr>
          <a:xfrm>
            <a:off x="1211990" y="3381890"/>
            <a:ext cx="510030" cy="510030"/>
            <a:chOff x="1407175" y="2262967"/>
            <a:chExt cx="510030" cy="510030"/>
          </a:xfrm>
        </p:grpSpPr>
        <p:sp>
          <p:nvSpPr>
            <p:cNvPr id="33" name="Elipse 32">
              <a:extLst>
                <a:ext uri="{FF2B5EF4-FFF2-40B4-BE49-F238E27FC236}">
                  <a16:creationId xmlns:a16="http://schemas.microsoft.com/office/drawing/2014/main" id="{09EEF5B0-9C26-78E7-8E65-8268CB51015C}"/>
                </a:ext>
              </a:extLst>
            </p:cNvPr>
            <p:cNvSpPr/>
            <p:nvPr/>
          </p:nvSpPr>
          <p:spPr>
            <a:xfrm>
              <a:off x="1421045" y="2276837"/>
              <a:ext cx="482290" cy="4822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nvGrpSpPr>
            <p:cNvPr id="30" name="Group 92">
              <a:extLst>
                <a:ext uri="{FF2B5EF4-FFF2-40B4-BE49-F238E27FC236}">
                  <a16:creationId xmlns:a16="http://schemas.microsoft.com/office/drawing/2014/main" id="{A211B58C-412D-FB08-36E3-3580B2295856}"/>
                </a:ext>
              </a:extLst>
            </p:cNvPr>
            <p:cNvGrpSpPr>
              <a:grpSpLocks noChangeAspect="1"/>
            </p:cNvGrpSpPr>
            <p:nvPr/>
          </p:nvGrpSpPr>
          <p:grpSpPr bwMode="auto">
            <a:xfrm>
              <a:off x="1407175" y="2262967"/>
              <a:ext cx="510030" cy="510030"/>
              <a:chOff x="6546" y="1719"/>
              <a:chExt cx="426" cy="426"/>
            </a:xfrm>
            <a:solidFill>
              <a:schemeClr val="accent3"/>
            </a:solidFill>
          </p:grpSpPr>
          <p:sp>
            <p:nvSpPr>
              <p:cNvPr id="31" name="Freeform 93">
                <a:extLst>
                  <a:ext uri="{FF2B5EF4-FFF2-40B4-BE49-F238E27FC236}">
                    <a16:creationId xmlns:a16="http://schemas.microsoft.com/office/drawing/2014/main" id="{2A8391CC-9A3A-5B32-3CA2-AF15DB4681F8}"/>
                  </a:ext>
                </a:extLst>
              </p:cNvPr>
              <p:cNvSpPr>
                <a:spLocks/>
              </p:cNvSpPr>
              <p:nvPr/>
            </p:nvSpPr>
            <p:spPr bwMode="auto">
              <a:xfrm>
                <a:off x="6662" y="1861"/>
                <a:ext cx="196" cy="142"/>
              </a:xfrm>
              <a:custGeom>
                <a:avLst/>
                <a:gdLst>
                  <a:gd name="T0" fmla="*/ 36 w 133"/>
                  <a:gd name="T1" fmla="*/ 96 h 96"/>
                  <a:gd name="T2" fmla="*/ 32 w 133"/>
                  <a:gd name="T3" fmla="*/ 94 h 96"/>
                  <a:gd name="T4" fmla="*/ 2 w 133"/>
                  <a:gd name="T5" fmla="*/ 64 h 96"/>
                  <a:gd name="T6" fmla="*/ 2 w 133"/>
                  <a:gd name="T7" fmla="*/ 56 h 96"/>
                  <a:gd name="T8" fmla="*/ 11 w 133"/>
                  <a:gd name="T9" fmla="*/ 56 h 96"/>
                  <a:gd name="T10" fmla="*/ 36 w 133"/>
                  <a:gd name="T11" fmla="*/ 82 h 96"/>
                  <a:gd name="T12" fmla="*/ 122 w 133"/>
                  <a:gd name="T13" fmla="*/ 2 h 96"/>
                  <a:gd name="T14" fmla="*/ 131 w 133"/>
                  <a:gd name="T15" fmla="*/ 2 h 96"/>
                  <a:gd name="T16" fmla="*/ 130 w 133"/>
                  <a:gd name="T17" fmla="*/ 11 h 96"/>
                  <a:gd name="T18" fmla="*/ 40 w 133"/>
                  <a:gd name="T19" fmla="*/ 95 h 96"/>
                  <a:gd name="T20" fmla="*/ 36 w 133"/>
                  <a:gd name="T21"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96">
                    <a:moveTo>
                      <a:pt x="36" y="96"/>
                    </a:moveTo>
                    <a:cubicBezTo>
                      <a:pt x="35" y="96"/>
                      <a:pt x="33" y="96"/>
                      <a:pt x="32" y="94"/>
                    </a:cubicBezTo>
                    <a:cubicBezTo>
                      <a:pt x="2" y="64"/>
                      <a:pt x="2" y="64"/>
                      <a:pt x="2" y="64"/>
                    </a:cubicBezTo>
                    <a:cubicBezTo>
                      <a:pt x="0" y="62"/>
                      <a:pt x="0" y="58"/>
                      <a:pt x="2" y="56"/>
                    </a:cubicBezTo>
                    <a:cubicBezTo>
                      <a:pt x="4" y="54"/>
                      <a:pt x="8" y="54"/>
                      <a:pt x="11" y="56"/>
                    </a:cubicBezTo>
                    <a:cubicBezTo>
                      <a:pt x="36" y="82"/>
                      <a:pt x="36" y="82"/>
                      <a:pt x="36" y="82"/>
                    </a:cubicBezTo>
                    <a:cubicBezTo>
                      <a:pt x="122" y="2"/>
                      <a:pt x="122" y="2"/>
                      <a:pt x="122" y="2"/>
                    </a:cubicBezTo>
                    <a:cubicBezTo>
                      <a:pt x="125" y="0"/>
                      <a:pt x="128" y="0"/>
                      <a:pt x="131" y="2"/>
                    </a:cubicBezTo>
                    <a:cubicBezTo>
                      <a:pt x="133" y="5"/>
                      <a:pt x="133" y="8"/>
                      <a:pt x="130" y="11"/>
                    </a:cubicBezTo>
                    <a:cubicBezTo>
                      <a:pt x="40" y="95"/>
                      <a:pt x="40" y="95"/>
                      <a:pt x="40" y="95"/>
                    </a:cubicBezTo>
                    <a:cubicBezTo>
                      <a:pt x="39" y="96"/>
                      <a:pt x="38" y="96"/>
                      <a:pt x="36" y="96"/>
                    </a:cubicBezTo>
                    <a:close/>
                  </a:path>
                </a:pathLst>
              </a:custGeom>
              <a:solidFill>
                <a:srgbClr val="0F0F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sp>
            <p:nvSpPr>
              <p:cNvPr id="32" name="Freeform 94">
                <a:extLst>
                  <a:ext uri="{FF2B5EF4-FFF2-40B4-BE49-F238E27FC236}">
                    <a16:creationId xmlns:a16="http://schemas.microsoft.com/office/drawing/2014/main" id="{60BF155D-13ED-8B04-6322-0DED8D95761F}"/>
                  </a:ext>
                </a:extLst>
              </p:cNvPr>
              <p:cNvSpPr>
                <a:spLocks noEditPoints="1"/>
              </p:cNvSpPr>
              <p:nvPr/>
            </p:nvSpPr>
            <p:spPr bwMode="auto">
              <a:xfrm>
                <a:off x="6546" y="1719"/>
                <a:ext cx="426"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224"/>
                      <a:pt x="224" y="288"/>
                      <a:pt x="144" y="288"/>
                    </a:cubicBezTo>
                    <a:close/>
                    <a:moveTo>
                      <a:pt x="144" y="12"/>
                    </a:moveTo>
                    <a:cubicBezTo>
                      <a:pt x="72" y="12"/>
                      <a:pt x="12" y="71"/>
                      <a:pt x="12" y="144"/>
                    </a:cubicBezTo>
                    <a:cubicBezTo>
                      <a:pt x="12" y="217"/>
                      <a:pt x="72" y="276"/>
                      <a:pt x="144" y="276"/>
                    </a:cubicBezTo>
                    <a:cubicBezTo>
                      <a:pt x="217" y="276"/>
                      <a:pt x="276" y="217"/>
                      <a:pt x="276" y="144"/>
                    </a:cubicBezTo>
                    <a:cubicBezTo>
                      <a:pt x="276" y="71"/>
                      <a:pt x="217" y="12"/>
                      <a:pt x="144" y="12"/>
                    </a:cubicBez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grpSp>
      </p:grpSp>
      <p:pic>
        <p:nvPicPr>
          <p:cNvPr id="55" name="Picture 2">
            <a:extLst>
              <a:ext uri="{FF2B5EF4-FFF2-40B4-BE49-F238E27FC236}">
                <a16:creationId xmlns:a16="http://schemas.microsoft.com/office/drawing/2014/main" id="{B74FBAAB-21E3-4E4C-A372-C32E7EEA2599}"/>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upo 33">
            <a:extLst>
              <a:ext uri="{FF2B5EF4-FFF2-40B4-BE49-F238E27FC236}">
                <a16:creationId xmlns:a16="http://schemas.microsoft.com/office/drawing/2014/main" id="{E7314842-046A-0A33-F938-48DE15072F52}"/>
              </a:ext>
            </a:extLst>
          </p:cNvPr>
          <p:cNvGrpSpPr/>
          <p:nvPr/>
        </p:nvGrpSpPr>
        <p:grpSpPr>
          <a:xfrm>
            <a:off x="3571142" y="3381890"/>
            <a:ext cx="510030" cy="510030"/>
            <a:chOff x="1407175" y="2262967"/>
            <a:chExt cx="510030" cy="510030"/>
          </a:xfrm>
        </p:grpSpPr>
        <p:sp>
          <p:nvSpPr>
            <p:cNvPr id="5" name="Elipse 32">
              <a:extLst>
                <a:ext uri="{FF2B5EF4-FFF2-40B4-BE49-F238E27FC236}">
                  <a16:creationId xmlns:a16="http://schemas.microsoft.com/office/drawing/2014/main" id="{A1A212E3-45B0-3B75-441F-297EBA63C2F0}"/>
                </a:ext>
              </a:extLst>
            </p:cNvPr>
            <p:cNvSpPr/>
            <p:nvPr/>
          </p:nvSpPr>
          <p:spPr>
            <a:xfrm>
              <a:off x="1421045" y="2276837"/>
              <a:ext cx="482290" cy="4822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nvGrpSpPr>
            <p:cNvPr id="6" name="Group 92">
              <a:extLst>
                <a:ext uri="{FF2B5EF4-FFF2-40B4-BE49-F238E27FC236}">
                  <a16:creationId xmlns:a16="http://schemas.microsoft.com/office/drawing/2014/main" id="{E224E358-4769-C0D9-35DA-BDAFE7360F2B}"/>
                </a:ext>
              </a:extLst>
            </p:cNvPr>
            <p:cNvGrpSpPr>
              <a:grpSpLocks noChangeAspect="1"/>
            </p:cNvGrpSpPr>
            <p:nvPr/>
          </p:nvGrpSpPr>
          <p:grpSpPr bwMode="auto">
            <a:xfrm>
              <a:off x="1407175" y="2262967"/>
              <a:ext cx="510030" cy="510030"/>
              <a:chOff x="6546" y="1719"/>
              <a:chExt cx="426" cy="426"/>
            </a:xfrm>
            <a:solidFill>
              <a:schemeClr val="accent3"/>
            </a:solidFill>
          </p:grpSpPr>
          <p:sp>
            <p:nvSpPr>
              <p:cNvPr id="7" name="Freeform 93">
                <a:extLst>
                  <a:ext uri="{FF2B5EF4-FFF2-40B4-BE49-F238E27FC236}">
                    <a16:creationId xmlns:a16="http://schemas.microsoft.com/office/drawing/2014/main" id="{E99F15F9-7DBD-3160-B7D3-76140873119D}"/>
                  </a:ext>
                </a:extLst>
              </p:cNvPr>
              <p:cNvSpPr>
                <a:spLocks/>
              </p:cNvSpPr>
              <p:nvPr/>
            </p:nvSpPr>
            <p:spPr bwMode="auto">
              <a:xfrm>
                <a:off x="6662" y="1861"/>
                <a:ext cx="196" cy="142"/>
              </a:xfrm>
              <a:custGeom>
                <a:avLst/>
                <a:gdLst>
                  <a:gd name="T0" fmla="*/ 36 w 133"/>
                  <a:gd name="T1" fmla="*/ 96 h 96"/>
                  <a:gd name="T2" fmla="*/ 32 w 133"/>
                  <a:gd name="T3" fmla="*/ 94 h 96"/>
                  <a:gd name="T4" fmla="*/ 2 w 133"/>
                  <a:gd name="T5" fmla="*/ 64 h 96"/>
                  <a:gd name="T6" fmla="*/ 2 w 133"/>
                  <a:gd name="T7" fmla="*/ 56 h 96"/>
                  <a:gd name="T8" fmla="*/ 11 w 133"/>
                  <a:gd name="T9" fmla="*/ 56 h 96"/>
                  <a:gd name="T10" fmla="*/ 36 w 133"/>
                  <a:gd name="T11" fmla="*/ 82 h 96"/>
                  <a:gd name="T12" fmla="*/ 122 w 133"/>
                  <a:gd name="T13" fmla="*/ 2 h 96"/>
                  <a:gd name="T14" fmla="*/ 131 w 133"/>
                  <a:gd name="T15" fmla="*/ 2 h 96"/>
                  <a:gd name="T16" fmla="*/ 130 w 133"/>
                  <a:gd name="T17" fmla="*/ 11 h 96"/>
                  <a:gd name="T18" fmla="*/ 40 w 133"/>
                  <a:gd name="T19" fmla="*/ 95 h 96"/>
                  <a:gd name="T20" fmla="*/ 36 w 133"/>
                  <a:gd name="T21"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96">
                    <a:moveTo>
                      <a:pt x="36" y="96"/>
                    </a:moveTo>
                    <a:cubicBezTo>
                      <a:pt x="35" y="96"/>
                      <a:pt x="33" y="96"/>
                      <a:pt x="32" y="94"/>
                    </a:cubicBezTo>
                    <a:cubicBezTo>
                      <a:pt x="2" y="64"/>
                      <a:pt x="2" y="64"/>
                      <a:pt x="2" y="64"/>
                    </a:cubicBezTo>
                    <a:cubicBezTo>
                      <a:pt x="0" y="62"/>
                      <a:pt x="0" y="58"/>
                      <a:pt x="2" y="56"/>
                    </a:cubicBezTo>
                    <a:cubicBezTo>
                      <a:pt x="4" y="54"/>
                      <a:pt x="8" y="54"/>
                      <a:pt x="11" y="56"/>
                    </a:cubicBezTo>
                    <a:cubicBezTo>
                      <a:pt x="36" y="82"/>
                      <a:pt x="36" y="82"/>
                      <a:pt x="36" y="82"/>
                    </a:cubicBezTo>
                    <a:cubicBezTo>
                      <a:pt x="122" y="2"/>
                      <a:pt x="122" y="2"/>
                      <a:pt x="122" y="2"/>
                    </a:cubicBezTo>
                    <a:cubicBezTo>
                      <a:pt x="125" y="0"/>
                      <a:pt x="128" y="0"/>
                      <a:pt x="131" y="2"/>
                    </a:cubicBezTo>
                    <a:cubicBezTo>
                      <a:pt x="133" y="5"/>
                      <a:pt x="133" y="8"/>
                      <a:pt x="130" y="11"/>
                    </a:cubicBezTo>
                    <a:cubicBezTo>
                      <a:pt x="40" y="95"/>
                      <a:pt x="40" y="95"/>
                      <a:pt x="40" y="95"/>
                    </a:cubicBezTo>
                    <a:cubicBezTo>
                      <a:pt x="39" y="96"/>
                      <a:pt x="38" y="96"/>
                      <a:pt x="36" y="96"/>
                    </a:cubicBezTo>
                    <a:close/>
                  </a:path>
                </a:pathLst>
              </a:custGeom>
              <a:solidFill>
                <a:srgbClr val="0F0F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sp>
            <p:nvSpPr>
              <p:cNvPr id="8" name="Freeform 94">
                <a:extLst>
                  <a:ext uri="{FF2B5EF4-FFF2-40B4-BE49-F238E27FC236}">
                    <a16:creationId xmlns:a16="http://schemas.microsoft.com/office/drawing/2014/main" id="{7821DD0B-7728-F033-3C71-C0F6C3FCB9B1}"/>
                  </a:ext>
                </a:extLst>
              </p:cNvPr>
              <p:cNvSpPr>
                <a:spLocks noEditPoints="1"/>
              </p:cNvSpPr>
              <p:nvPr/>
            </p:nvSpPr>
            <p:spPr bwMode="auto">
              <a:xfrm>
                <a:off x="6546" y="1719"/>
                <a:ext cx="426"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224"/>
                      <a:pt x="224" y="288"/>
                      <a:pt x="144" y="288"/>
                    </a:cubicBezTo>
                    <a:close/>
                    <a:moveTo>
                      <a:pt x="144" y="12"/>
                    </a:moveTo>
                    <a:cubicBezTo>
                      <a:pt x="72" y="12"/>
                      <a:pt x="12" y="71"/>
                      <a:pt x="12" y="144"/>
                    </a:cubicBezTo>
                    <a:cubicBezTo>
                      <a:pt x="12" y="217"/>
                      <a:pt x="72" y="276"/>
                      <a:pt x="144" y="276"/>
                    </a:cubicBezTo>
                    <a:cubicBezTo>
                      <a:pt x="217" y="276"/>
                      <a:pt x="276" y="217"/>
                      <a:pt x="276" y="144"/>
                    </a:cubicBezTo>
                    <a:cubicBezTo>
                      <a:pt x="276" y="71"/>
                      <a:pt x="217" y="12"/>
                      <a:pt x="144" y="12"/>
                    </a:cubicBez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grpSp>
      </p:grpSp>
      <p:grpSp>
        <p:nvGrpSpPr>
          <p:cNvPr id="10" name="Grupo 33">
            <a:extLst>
              <a:ext uri="{FF2B5EF4-FFF2-40B4-BE49-F238E27FC236}">
                <a16:creationId xmlns:a16="http://schemas.microsoft.com/office/drawing/2014/main" id="{EE17C825-944A-F622-F31D-140BEAF7BFDC}"/>
              </a:ext>
            </a:extLst>
          </p:cNvPr>
          <p:cNvGrpSpPr/>
          <p:nvPr/>
        </p:nvGrpSpPr>
        <p:grpSpPr>
          <a:xfrm>
            <a:off x="5839396" y="3381890"/>
            <a:ext cx="510030" cy="510030"/>
            <a:chOff x="1407175" y="2262967"/>
            <a:chExt cx="510030" cy="510030"/>
          </a:xfrm>
        </p:grpSpPr>
        <p:sp>
          <p:nvSpPr>
            <p:cNvPr id="11" name="Elipse 32">
              <a:extLst>
                <a:ext uri="{FF2B5EF4-FFF2-40B4-BE49-F238E27FC236}">
                  <a16:creationId xmlns:a16="http://schemas.microsoft.com/office/drawing/2014/main" id="{FD8E0C76-868B-5C0D-3845-20A4BB561404}"/>
                </a:ext>
              </a:extLst>
            </p:cNvPr>
            <p:cNvSpPr/>
            <p:nvPr/>
          </p:nvSpPr>
          <p:spPr>
            <a:xfrm>
              <a:off x="1421045" y="2276837"/>
              <a:ext cx="482290" cy="4822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nvGrpSpPr>
            <p:cNvPr id="12" name="Group 92">
              <a:extLst>
                <a:ext uri="{FF2B5EF4-FFF2-40B4-BE49-F238E27FC236}">
                  <a16:creationId xmlns:a16="http://schemas.microsoft.com/office/drawing/2014/main" id="{CB0B4104-4A3B-D1FE-E546-E1B6A1BAAFBE}"/>
                </a:ext>
              </a:extLst>
            </p:cNvPr>
            <p:cNvGrpSpPr>
              <a:grpSpLocks noChangeAspect="1"/>
            </p:cNvGrpSpPr>
            <p:nvPr/>
          </p:nvGrpSpPr>
          <p:grpSpPr bwMode="auto">
            <a:xfrm>
              <a:off x="1407175" y="2262967"/>
              <a:ext cx="510030" cy="510030"/>
              <a:chOff x="6546" y="1719"/>
              <a:chExt cx="426" cy="426"/>
            </a:xfrm>
            <a:solidFill>
              <a:schemeClr val="accent3"/>
            </a:solidFill>
          </p:grpSpPr>
          <p:sp>
            <p:nvSpPr>
              <p:cNvPr id="14" name="Freeform 93">
                <a:extLst>
                  <a:ext uri="{FF2B5EF4-FFF2-40B4-BE49-F238E27FC236}">
                    <a16:creationId xmlns:a16="http://schemas.microsoft.com/office/drawing/2014/main" id="{C6FF4225-A63C-D372-2016-077ED838AEEA}"/>
                  </a:ext>
                </a:extLst>
              </p:cNvPr>
              <p:cNvSpPr>
                <a:spLocks/>
              </p:cNvSpPr>
              <p:nvPr/>
            </p:nvSpPr>
            <p:spPr bwMode="auto">
              <a:xfrm>
                <a:off x="6662" y="1861"/>
                <a:ext cx="196" cy="142"/>
              </a:xfrm>
              <a:custGeom>
                <a:avLst/>
                <a:gdLst>
                  <a:gd name="T0" fmla="*/ 36 w 133"/>
                  <a:gd name="T1" fmla="*/ 96 h 96"/>
                  <a:gd name="T2" fmla="*/ 32 w 133"/>
                  <a:gd name="T3" fmla="*/ 94 h 96"/>
                  <a:gd name="T4" fmla="*/ 2 w 133"/>
                  <a:gd name="T5" fmla="*/ 64 h 96"/>
                  <a:gd name="T6" fmla="*/ 2 w 133"/>
                  <a:gd name="T7" fmla="*/ 56 h 96"/>
                  <a:gd name="T8" fmla="*/ 11 w 133"/>
                  <a:gd name="T9" fmla="*/ 56 h 96"/>
                  <a:gd name="T10" fmla="*/ 36 w 133"/>
                  <a:gd name="T11" fmla="*/ 82 h 96"/>
                  <a:gd name="T12" fmla="*/ 122 w 133"/>
                  <a:gd name="T13" fmla="*/ 2 h 96"/>
                  <a:gd name="T14" fmla="*/ 131 w 133"/>
                  <a:gd name="T15" fmla="*/ 2 h 96"/>
                  <a:gd name="T16" fmla="*/ 130 w 133"/>
                  <a:gd name="T17" fmla="*/ 11 h 96"/>
                  <a:gd name="T18" fmla="*/ 40 w 133"/>
                  <a:gd name="T19" fmla="*/ 95 h 96"/>
                  <a:gd name="T20" fmla="*/ 36 w 133"/>
                  <a:gd name="T21"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96">
                    <a:moveTo>
                      <a:pt x="36" y="96"/>
                    </a:moveTo>
                    <a:cubicBezTo>
                      <a:pt x="35" y="96"/>
                      <a:pt x="33" y="96"/>
                      <a:pt x="32" y="94"/>
                    </a:cubicBezTo>
                    <a:cubicBezTo>
                      <a:pt x="2" y="64"/>
                      <a:pt x="2" y="64"/>
                      <a:pt x="2" y="64"/>
                    </a:cubicBezTo>
                    <a:cubicBezTo>
                      <a:pt x="0" y="62"/>
                      <a:pt x="0" y="58"/>
                      <a:pt x="2" y="56"/>
                    </a:cubicBezTo>
                    <a:cubicBezTo>
                      <a:pt x="4" y="54"/>
                      <a:pt x="8" y="54"/>
                      <a:pt x="11" y="56"/>
                    </a:cubicBezTo>
                    <a:cubicBezTo>
                      <a:pt x="36" y="82"/>
                      <a:pt x="36" y="82"/>
                      <a:pt x="36" y="82"/>
                    </a:cubicBezTo>
                    <a:cubicBezTo>
                      <a:pt x="122" y="2"/>
                      <a:pt x="122" y="2"/>
                      <a:pt x="122" y="2"/>
                    </a:cubicBezTo>
                    <a:cubicBezTo>
                      <a:pt x="125" y="0"/>
                      <a:pt x="128" y="0"/>
                      <a:pt x="131" y="2"/>
                    </a:cubicBezTo>
                    <a:cubicBezTo>
                      <a:pt x="133" y="5"/>
                      <a:pt x="133" y="8"/>
                      <a:pt x="130" y="11"/>
                    </a:cubicBezTo>
                    <a:cubicBezTo>
                      <a:pt x="40" y="95"/>
                      <a:pt x="40" y="95"/>
                      <a:pt x="40" y="95"/>
                    </a:cubicBezTo>
                    <a:cubicBezTo>
                      <a:pt x="39" y="96"/>
                      <a:pt x="38" y="96"/>
                      <a:pt x="36" y="96"/>
                    </a:cubicBezTo>
                    <a:close/>
                  </a:path>
                </a:pathLst>
              </a:custGeom>
              <a:solidFill>
                <a:srgbClr val="0F0F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sp>
            <p:nvSpPr>
              <p:cNvPr id="15" name="Freeform 94">
                <a:extLst>
                  <a:ext uri="{FF2B5EF4-FFF2-40B4-BE49-F238E27FC236}">
                    <a16:creationId xmlns:a16="http://schemas.microsoft.com/office/drawing/2014/main" id="{C935BC38-D918-C7E9-D8FB-E48BC2697572}"/>
                  </a:ext>
                </a:extLst>
              </p:cNvPr>
              <p:cNvSpPr>
                <a:spLocks noEditPoints="1"/>
              </p:cNvSpPr>
              <p:nvPr/>
            </p:nvSpPr>
            <p:spPr bwMode="auto">
              <a:xfrm>
                <a:off x="6546" y="1719"/>
                <a:ext cx="426"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224"/>
                      <a:pt x="224" y="288"/>
                      <a:pt x="144" y="288"/>
                    </a:cubicBezTo>
                    <a:close/>
                    <a:moveTo>
                      <a:pt x="144" y="12"/>
                    </a:moveTo>
                    <a:cubicBezTo>
                      <a:pt x="72" y="12"/>
                      <a:pt x="12" y="71"/>
                      <a:pt x="12" y="144"/>
                    </a:cubicBezTo>
                    <a:cubicBezTo>
                      <a:pt x="12" y="217"/>
                      <a:pt x="72" y="276"/>
                      <a:pt x="144" y="276"/>
                    </a:cubicBezTo>
                    <a:cubicBezTo>
                      <a:pt x="217" y="276"/>
                      <a:pt x="276" y="217"/>
                      <a:pt x="276" y="144"/>
                    </a:cubicBezTo>
                    <a:cubicBezTo>
                      <a:pt x="276" y="71"/>
                      <a:pt x="217" y="12"/>
                      <a:pt x="144" y="12"/>
                    </a:cubicBez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grpSp>
      </p:grpSp>
      <p:grpSp>
        <p:nvGrpSpPr>
          <p:cNvPr id="16" name="Grupo 33">
            <a:extLst>
              <a:ext uri="{FF2B5EF4-FFF2-40B4-BE49-F238E27FC236}">
                <a16:creationId xmlns:a16="http://schemas.microsoft.com/office/drawing/2014/main" id="{32E65EE3-9D03-8405-7139-009D6E13530D}"/>
              </a:ext>
            </a:extLst>
          </p:cNvPr>
          <p:cNvGrpSpPr/>
          <p:nvPr/>
        </p:nvGrpSpPr>
        <p:grpSpPr>
          <a:xfrm>
            <a:off x="8153502" y="3381890"/>
            <a:ext cx="510030" cy="510030"/>
            <a:chOff x="1407175" y="2262967"/>
            <a:chExt cx="510030" cy="510030"/>
          </a:xfrm>
        </p:grpSpPr>
        <p:sp>
          <p:nvSpPr>
            <p:cNvPr id="17" name="Elipse 32">
              <a:extLst>
                <a:ext uri="{FF2B5EF4-FFF2-40B4-BE49-F238E27FC236}">
                  <a16:creationId xmlns:a16="http://schemas.microsoft.com/office/drawing/2014/main" id="{C166F15E-414C-E7A0-4F5F-CE8893566479}"/>
                </a:ext>
              </a:extLst>
            </p:cNvPr>
            <p:cNvSpPr/>
            <p:nvPr/>
          </p:nvSpPr>
          <p:spPr>
            <a:xfrm>
              <a:off x="1421045" y="2276837"/>
              <a:ext cx="482290" cy="4822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nvGrpSpPr>
            <p:cNvPr id="18" name="Group 92">
              <a:extLst>
                <a:ext uri="{FF2B5EF4-FFF2-40B4-BE49-F238E27FC236}">
                  <a16:creationId xmlns:a16="http://schemas.microsoft.com/office/drawing/2014/main" id="{331FD513-3208-0397-36F8-450D9E9D8AF6}"/>
                </a:ext>
              </a:extLst>
            </p:cNvPr>
            <p:cNvGrpSpPr>
              <a:grpSpLocks noChangeAspect="1"/>
            </p:cNvGrpSpPr>
            <p:nvPr/>
          </p:nvGrpSpPr>
          <p:grpSpPr bwMode="auto">
            <a:xfrm>
              <a:off x="1407175" y="2262967"/>
              <a:ext cx="510030" cy="510030"/>
              <a:chOff x="6546" y="1719"/>
              <a:chExt cx="426" cy="426"/>
            </a:xfrm>
            <a:solidFill>
              <a:schemeClr val="accent3"/>
            </a:solidFill>
          </p:grpSpPr>
          <p:sp>
            <p:nvSpPr>
              <p:cNvPr id="19" name="Freeform 93">
                <a:extLst>
                  <a:ext uri="{FF2B5EF4-FFF2-40B4-BE49-F238E27FC236}">
                    <a16:creationId xmlns:a16="http://schemas.microsoft.com/office/drawing/2014/main" id="{78DE04BD-F037-4F8D-798E-EA30B2769EF5}"/>
                  </a:ext>
                </a:extLst>
              </p:cNvPr>
              <p:cNvSpPr>
                <a:spLocks/>
              </p:cNvSpPr>
              <p:nvPr/>
            </p:nvSpPr>
            <p:spPr bwMode="auto">
              <a:xfrm>
                <a:off x="6662" y="1861"/>
                <a:ext cx="196" cy="142"/>
              </a:xfrm>
              <a:custGeom>
                <a:avLst/>
                <a:gdLst>
                  <a:gd name="T0" fmla="*/ 36 w 133"/>
                  <a:gd name="T1" fmla="*/ 96 h 96"/>
                  <a:gd name="T2" fmla="*/ 32 w 133"/>
                  <a:gd name="T3" fmla="*/ 94 h 96"/>
                  <a:gd name="T4" fmla="*/ 2 w 133"/>
                  <a:gd name="T5" fmla="*/ 64 h 96"/>
                  <a:gd name="T6" fmla="*/ 2 w 133"/>
                  <a:gd name="T7" fmla="*/ 56 h 96"/>
                  <a:gd name="T8" fmla="*/ 11 w 133"/>
                  <a:gd name="T9" fmla="*/ 56 h 96"/>
                  <a:gd name="T10" fmla="*/ 36 w 133"/>
                  <a:gd name="T11" fmla="*/ 82 h 96"/>
                  <a:gd name="T12" fmla="*/ 122 w 133"/>
                  <a:gd name="T13" fmla="*/ 2 h 96"/>
                  <a:gd name="T14" fmla="*/ 131 w 133"/>
                  <a:gd name="T15" fmla="*/ 2 h 96"/>
                  <a:gd name="T16" fmla="*/ 130 w 133"/>
                  <a:gd name="T17" fmla="*/ 11 h 96"/>
                  <a:gd name="T18" fmla="*/ 40 w 133"/>
                  <a:gd name="T19" fmla="*/ 95 h 96"/>
                  <a:gd name="T20" fmla="*/ 36 w 133"/>
                  <a:gd name="T21"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96">
                    <a:moveTo>
                      <a:pt x="36" y="96"/>
                    </a:moveTo>
                    <a:cubicBezTo>
                      <a:pt x="35" y="96"/>
                      <a:pt x="33" y="96"/>
                      <a:pt x="32" y="94"/>
                    </a:cubicBezTo>
                    <a:cubicBezTo>
                      <a:pt x="2" y="64"/>
                      <a:pt x="2" y="64"/>
                      <a:pt x="2" y="64"/>
                    </a:cubicBezTo>
                    <a:cubicBezTo>
                      <a:pt x="0" y="62"/>
                      <a:pt x="0" y="58"/>
                      <a:pt x="2" y="56"/>
                    </a:cubicBezTo>
                    <a:cubicBezTo>
                      <a:pt x="4" y="54"/>
                      <a:pt x="8" y="54"/>
                      <a:pt x="11" y="56"/>
                    </a:cubicBezTo>
                    <a:cubicBezTo>
                      <a:pt x="36" y="82"/>
                      <a:pt x="36" y="82"/>
                      <a:pt x="36" y="82"/>
                    </a:cubicBezTo>
                    <a:cubicBezTo>
                      <a:pt x="122" y="2"/>
                      <a:pt x="122" y="2"/>
                      <a:pt x="122" y="2"/>
                    </a:cubicBezTo>
                    <a:cubicBezTo>
                      <a:pt x="125" y="0"/>
                      <a:pt x="128" y="0"/>
                      <a:pt x="131" y="2"/>
                    </a:cubicBezTo>
                    <a:cubicBezTo>
                      <a:pt x="133" y="5"/>
                      <a:pt x="133" y="8"/>
                      <a:pt x="130" y="11"/>
                    </a:cubicBezTo>
                    <a:cubicBezTo>
                      <a:pt x="40" y="95"/>
                      <a:pt x="40" y="95"/>
                      <a:pt x="40" y="95"/>
                    </a:cubicBezTo>
                    <a:cubicBezTo>
                      <a:pt x="39" y="96"/>
                      <a:pt x="38" y="96"/>
                      <a:pt x="36" y="96"/>
                    </a:cubicBezTo>
                    <a:close/>
                  </a:path>
                </a:pathLst>
              </a:custGeom>
              <a:solidFill>
                <a:srgbClr val="0F0F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sp>
            <p:nvSpPr>
              <p:cNvPr id="20" name="Freeform 94">
                <a:extLst>
                  <a:ext uri="{FF2B5EF4-FFF2-40B4-BE49-F238E27FC236}">
                    <a16:creationId xmlns:a16="http://schemas.microsoft.com/office/drawing/2014/main" id="{79561437-0598-59AA-FD85-B80DEF2D0C5D}"/>
                  </a:ext>
                </a:extLst>
              </p:cNvPr>
              <p:cNvSpPr>
                <a:spLocks noEditPoints="1"/>
              </p:cNvSpPr>
              <p:nvPr/>
            </p:nvSpPr>
            <p:spPr bwMode="auto">
              <a:xfrm>
                <a:off x="6546" y="1719"/>
                <a:ext cx="426"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224"/>
                      <a:pt x="224" y="288"/>
                      <a:pt x="144" y="288"/>
                    </a:cubicBezTo>
                    <a:close/>
                    <a:moveTo>
                      <a:pt x="144" y="12"/>
                    </a:moveTo>
                    <a:cubicBezTo>
                      <a:pt x="72" y="12"/>
                      <a:pt x="12" y="71"/>
                      <a:pt x="12" y="144"/>
                    </a:cubicBezTo>
                    <a:cubicBezTo>
                      <a:pt x="12" y="217"/>
                      <a:pt x="72" y="276"/>
                      <a:pt x="144" y="276"/>
                    </a:cubicBezTo>
                    <a:cubicBezTo>
                      <a:pt x="217" y="276"/>
                      <a:pt x="276" y="217"/>
                      <a:pt x="276" y="144"/>
                    </a:cubicBezTo>
                    <a:cubicBezTo>
                      <a:pt x="276" y="71"/>
                      <a:pt x="217" y="12"/>
                      <a:pt x="144" y="12"/>
                    </a:cubicBez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grpSp>
      </p:grpSp>
      <p:grpSp>
        <p:nvGrpSpPr>
          <p:cNvPr id="21" name="Grupo 33">
            <a:extLst>
              <a:ext uri="{FF2B5EF4-FFF2-40B4-BE49-F238E27FC236}">
                <a16:creationId xmlns:a16="http://schemas.microsoft.com/office/drawing/2014/main" id="{DD2B44CC-8290-9A96-34D6-C1BC078D61FF}"/>
              </a:ext>
            </a:extLst>
          </p:cNvPr>
          <p:cNvGrpSpPr/>
          <p:nvPr/>
        </p:nvGrpSpPr>
        <p:grpSpPr>
          <a:xfrm>
            <a:off x="10469980" y="3381890"/>
            <a:ext cx="510030" cy="510030"/>
            <a:chOff x="1407175" y="2262967"/>
            <a:chExt cx="510030" cy="510030"/>
          </a:xfrm>
        </p:grpSpPr>
        <p:sp>
          <p:nvSpPr>
            <p:cNvPr id="22" name="Elipse 32">
              <a:extLst>
                <a:ext uri="{FF2B5EF4-FFF2-40B4-BE49-F238E27FC236}">
                  <a16:creationId xmlns:a16="http://schemas.microsoft.com/office/drawing/2014/main" id="{177F56C6-BF47-8910-7472-CA126F80CA9C}"/>
                </a:ext>
              </a:extLst>
            </p:cNvPr>
            <p:cNvSpPr/>
            <p:nvPr/>
          </p:nvSpPr>
          <p:spPr>
            <a:xfrm>
              <a:off x="1421045" y="2276837"/>
              <a:ext cx="482290" cy="48229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nvGrpSpPr>
            <p:cNvPr id="23" name="Group 92">
              <a:extLst>
                <a:ext uri="{FF2B5EF4-FFF2-40B4-BE49-F238E27FC236}">
                  <a16:creationId xmlns:a16="http://schemas.microsoft.com/office/drawing/2014/main" id="{D47E5FA3-93FF-6B92-290E-1CB750A08693}"/>
                </a:ext>
              </a:extLst>
            </p:cNvPr>
            <p:cNvGrpSpPr>
              <a:grpSpLocks noChangeAspect="1"/>
            </p:cNvGrpSpPr>
            <p:nvPr/>
          </p:nvGrpSpPr>
          <p:grpSpPr bwMode="auto">
            <a:xfrm>
              <a:off x="1407175" y="2262967"/>
              <a:ext cx="510030" cy="510030"/>
              <a:chOff x="6546" y="1719"/>
              <a:chExt cx="426" cy="426"/>
            </a:xfrm>
            <a:solidFill>
              <a:schemeClr val="accent3"/>
            </a:solidFill>
          </p:grpSpPr>
          <p:sp>
            <p:nvSpPr>
              <p:cNvPr id="29" name="Freeform 93">
                <a:extLst>
                  <a:ext uri="{FF2B5EF4-FFF2-40B4-BE49-F238E27FC236}">
                    <a16:creationId xmlns:a16="http://schemas.microsoft.com/office/drawing/2014/main" id="{329A7665-AA40-E340-7946-2F217EA7F5A5}"/>
                  </a:ext>
                </a:extLst>
              </p:cNvPr>
              <p:cNvSpPr>
                <a:spLocks/>
              </p:cNvSpPr>
              <p:nvPr/>
            </p:nvSpPr>
            <p:spPr bwMode="auto">
              <a:xfrm>
                <a:off x="6662" y="1861"/>
                <a:ext cx="196" cy="142"/>
              </a:xfrm>
              <a:custGeom>
                <a:avLst/>
                <a:gdLst>
                  <a:gd name="T0" fmla="*/ 36 w 133"/>
                  <a:gd name="T1" fmla="*/ 96 h 96"/>
                  <a:gd name="T2" fmla="*/ 32 w 133"/>
                  <a:gd name="T3" fmla="*/ 94 h 96"/>
                  <a:gd name="T4" fmla="*/ 2 w 133"/>
                  <a:gd name="T5" fmla="*/ 64 h 96"/>
                  <a:gd name="T6" fmla="*/ 2 w 133"/>
                  <a:gd name="T7" fmla="*/ 56 h 96"/>
                  <a:gd name="T8" fmla="*/ 11 w 133"/>
                  <a:gd name="T9" fmla="*/ 56 h 96"/>
                  <a:gd name="T10" fmla="*/ 36 w 133"/>
                  <a:gd name="T11" fmla="*/ 82 h 96"/>
                  <a:gd name="T12" fmla="*/ 122 w 133"/>
                  <a:gd name="T13" fmla="*/ 2 h 96"/>
                  <a:gd name="T14" fmla="*/ 131 w 133"/>
                  <a:gd name="T15" fmla="*/ 2 h 96"/>
                  <a:gd name="T16" fmla="*/ 130 w 133"/>
                  <a:gd name="T17" fmla="*/ 11 h 96"/>
                  <a:gd name="T18" fmla="*/ 40 w 133"/>
                  <a:gd name="T19" fmla="*/ 95 h 96"/>
                  <a:gd name="T20" fmla="*/ 36 w 133"/>
                  <a:gd name="T21"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96">
                    <a:moveTo>
                      <a:pt x="36" y="96"/>
                    </a:moveTo>
                    <a:cubicBezTo>
                      <a:pt x="35" y="96"/>
                      <a:pt x="33" y="96"/>
                      <a:pt x="32" y="94"/>
                    </a:cubicBezTo>
                    <a:cubicBezTo>
                      <a:pt x="2" y="64"/>
                      <a:pt x="2" y="64"/>
                      <a:pt x="2" y="64"/>
                    </a:cubicBezTo>
                    <a:cubicBezTo>
                      <a:pt x="0" y="62"/>
                      <a:pt x="0" y="58"/>
                      <a:pt x="2" y="56"/>
                    </a:cubicBezTo>
                    <a:cubicBezTo>
                      <a:pt x="4" y="54"/>
                      <a:pt x="8" y="54"/>
                      <a:pt x="11" y="56"/>
                    </a:cubicBezTo>
                    <a:cubicBezTo>
                      <a:pt x="36" y="82"/>
                      <a:pt x="36" y="82"/>
                      <a:pt x="36" y="82"/>
                    </a:cubicBezTo>
                    <a:cubicBezTo>
                      <a:pt x="122" y="2"/>
                      <a:pt x="122" y="2"/>
                      <a:pt x="122" y="2"/>
                    </a:cubicBezTo>
                    <a:cubicBezTo>
                      <a:pt x="125" y="0"/>
                      <a:pt x="128" y="0"/>
                      <a:pt x="131" y="2"/>
                    </a:cubicBezTo>
                    <a:cubicBezTo>
                      <a:pt x="133" y="5"/>
                      <a:pt x="133" y="8"/>
                      <a:pt x="130" y="11"/>
                    </a:cubicBezTo>
                    <a:cubicBezTo>
                      <a:pt x="40" y="95"/>
                      <a:pt x="40" y="95"/>
                      <a:pt x="40" y="95"/>
                    </a:cubicBezTo>
                    <a:cubicBezTo>
                      <a:pt x="39" y="96"/>
                      <a:pt x="38" y="96"/>
                      <a:pt x="36" y="96"/>
                    </a:cubicBezTo>
                    <a:close/>
                  </a:path>
                </a:pathLst>
              </a:custGeom>
              <a:solidFill>
                <a:srgbClr val="0F0F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sp>
            <p:nvSpPr>
              <p:cNvPr id="56" name="Freeform 94">
                <a:extLst>
                  <a:ext uri="{FF2B5EF4-FFF2-40B4-BE49-F238E27FC236}">
                    <a16:creationId xmlns:a16="http://schemas.microsoft.com/office/drawing/2014/main" id="{92C50575-E9CD-4E48-09F6-AA2865AA9DEA}"/>
                  </a:ext>
                </a:extLst>
              </p:cNvPr>
              <p:cNvSpPr>
                <a:spLocks noEditPoints="1"/>
              </p:cNvSpPr>
              <p:nvPr/>
            </p:nvSpPr>
            <p:spPr bwMode="auto">
              <a:xfrm>
                <a:off x="6546" y="1719"/>
                <a:ext cx="426"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224"/>
                      <a:pt x="224" y="288"/>
                      <a:pt x="144" y="288"/>
                    </a:cubicBezTo>
                    <a:close/>
                    <a:moveTo>
                      <a:pt x="144" y="12"/>
                    </a:moveTo>
                    <a:cubicBezTo>
                      <a:pt x="72" y="12"/>
                      <a:pt x="12" y="71"/>
                      <a:pt x="12" y="144"/>
                    </a:cubicBezTo>
                    <a:cubicBezTo>
                      <a:pt x="12" y="217"/>
                      <a:pt x="72" y="276"/>
                      <a:pt x="144" y="276"/>
                    </a:cubicBezTo>
                    <a:cubicBezTo>
                      <a:pt x="217" y="276"/>
                      <a:pt x="276" y="217"/>
                      <a:pt x="276" y="144"/>
                    </a:cubicBezTo>
                    <a:cubicBezTo>
                      <a:pt x="276" y="71"/>
                      <a:pt x="217" y="12"/>
                      <a:pt x="144" y="12"/>
                    </a:cubicBez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629CD0"/>
                  </a:solidFill>
                  <a:effectLst/>
                  <a:uLnTx/>
                  <a:uFillTx/>
                  <a:latin typeface="Verdana"/>
                  <a:ea typeface="+mn-ea"/>
                  <a:cs typeface="+mn-cs"/>
                </a:endParaRPr>
              </a:p>
            </p:txBody>
          </p:sp>
        </p:grpSp>
      </p:grpSp>
      <p:sp>
        <p:nvSpPr>
          <p:cNvPr id="36" name="Rectangle: Rounded Corners 11">
            <a:extLst>
              <a:ext uri="{FF2B5EF4-FFF2-40B4-BE49-F238E27FC236}">
                <a16:creationId xmlns:a16="http://schemas.microsoft.com/office/drawing/2014/main" id="{9DBFDEAA-1310-970F-4D17-1C2142141EBE}"/>
              </a:ext>
            </a:extLst>
          </p:cNvPr>
          <p:cNvSpPr/>
          <p:nvPr/>
        </p:nvSpPr>
        <p:spPr>
          <a:xfrm>
            <a:off x="9140327" y="368300"/>
            <a:ext cx="2680198" cy="485776"/>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6">
                  <a:extLst>
                    <a:ext uri="{A12FA001-AC4F-418D-AE19-62706E023703}">
                      <ahyp:hlinkClr xmlns:ahyp="http://schemas.microsoft.com/office/drawing/2018/hyperlinkcolor" val="tx"/>
                    </a:ext>
                  </a:extLst>
                </a:hlinkClick>
              </a:rPr>
              <a:t>Find a consultant now</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1797093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E62A61FD-88BF-2C3B-BBB9-3A26D55D24B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7" name="Objeto 6" hidden="1">
                        <a:extLst>
                          <a:ext uri="{FF2B5EF4-FFF2-40B4-BE49-F238E27FC236}">
                            <a16:creationId xmlns:a16="http://schemas.microsoft.com/office/drawing/2014/main" id="{E62A61FD-88BF-2C3B-BBB9-3A26D55D24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2542AB70-2FB9-AEEB-1EC7-F54B276D2BE3}"/>
              </a:ext>
            </a:extLst>
          </p:cNvPr>
          <p:cNvSpPr>
            <a:spLocks noGrp="1"/>
          </p:cNvSpPr>
          <p:nvPr>
            <p:ph type="title"/>
          </p:nvPr>
        </p:nvSpPr>
        <p:spPr/>
        <p:txBody>
          <a:bodyPr vert="horz"/>
          <a:lstStyle/>
          <a:p>
            <a:r>
              <a:rPr lang="en-US" dirty="0"/>
              <a:t>Umbrex Services</a:t>
            </a:r>
          </a:p>
        </p:txBody>
      </p:sp>
      <p:sp>
        <p:nvSpPr>
          <p:cNvPr id="9" name="TextBox 24">
            <a:extLst>
              <a:ext uri="{FF2B5EF4-FFF2-40B4-BE49-F238E27FC236}">
                <a16:creationId xmlns:a16="http://schemas.microsoft.com/office/drawing/2014/main" id="{EDB6ED47-68D5-A479-B1FB-4F2C702136E4}"/>
              </a:ext>
            </a:extLst>
          </p:cNvPr>
          <p:cNvSpPr txBox="1"/>
          <p:nvPr/>
        </p:nvSpPr>
        <p:spPr>
          <a:xfrm>
            <a:off x="381308" y="1550050"/>
            <a:ext cx="1419287" cy="215444"/>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Strategy</a:t>
            </a:r>
          </a:p>
        </p:txBody>
      </p:sp>
      <p:cxnSp>
        <p:nvCxnSpPr>
          <p:cNvPr id="11" name="Conector recto 9">
            <a:extLst>
              <a:ext uri="{FF2B5EF4-FFF2-40B4-BE49-F238E27FC236}">
                <a16:creationId xmlns:a16="http://schemas.microsoft.com/office/drawing/2014/main" id="{4209729C-709E-A30F-E023-E6661396A39B}"/>
              </a:ext>
            </a:extLst>
          </p:cNvPr>
          <p:cNvCxnSpPr>
            <a:cxnSpLocks/>
          </p:cNvCxnSpPr>
          <p:nvPr/>
        </p:nvCxnSpPr>
        <p:spPr>
          <a:xfrm>
            <a:off x="1887684" y="1388631"/>
            <a:ext cx="0" cy="53828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25">
            <a:extLst>
              <a:ext uri="{FF2B5EF4-FFF2-40B4-BE49-F238E27FC236}">
                <a16:creationId xmlns:a16="http://schemas.microsoft.com/office/drawing/2014/main" id="{749CC112-2627-EDFC-25F7-28C4E52393EC}"/>
              </a:ext>
            </a:extLst>
          </p:cNvPr>
          <p:cNvSpPr txBox="1"/>
          <p:nvPr/>
        </p:nvSpPr>
        <p:spPr>
          <a:xfrm>
            <a:off x="2017486" y="1388631"/>
            <a:ext cx="3156065" cy="369332"/>
          </a:xfrm>
          <a:prstGeom prst="rect">
            <a:avLst/>
          </a:prstGeom>
          <a:noFill/>
        </p:spPr>
        <p:txBody>
          <a:bodyPr wrap="square" lIns="0" tIns="0" rIns="0" bIns="0" rtlCol="0" anchor="t">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Digital Strategy</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Growth Strategy</a:t>
            </a:r>
          </a:p>
        </p:txBody>
      </p:sp>
      <p:sp>
        <p:nvSpPr>
          <p:cNvPr id="13" name="TextBox 25">
            <a:extLst>
              <a:ext uri="{FF2B5EF4-FFF2-40B4-BE49-F238E27FC236}">
                <a16:creationId xmlns:a16="http://schemas.microsoft.com/office/drawing/2014/main" id="{0521168F-51AB-9D87-3A0E-66CA8ACC08C2}"/>
              </a:ext>
            </a:extLst>
          </p:cNvPr>
          <p:cNvSpPr txBox="1"/>
          <p:nvPr/>
        </p:nvSpPr>
        <p:spPr>
          <a:xfrm>
            <a:off x="5340972" y="1388631"/>
            <a:ext cx="3156065" cy="369332"/>
          </a:xfrm>
          <a:prstGeom prst="rect">
            <a:avLst/>
          </a:prstGeom>
          <a:noFill/>
        </p:spPr>
        <p:txBody>
          <a:bodyPr wrap="square" lIns="0" tIns="0" rIns="0" bIns="0" rtlCol="0" anchor="t">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Mergers &amp; Acquisitions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Risk Management</a:t>
            </a:r>
          </a:p>
        </p:txBody>
      </p:sp>
      <p:sp>
        <p:nvSpPr>
          <p:cNvPr id="14" name="TextBox 25">
            <a:extLst>
              <a:ext uri="{FF2B5EF4-FFF2-40B4-BE49-F238E27FC236}">
                <a16:creationId xmlns:a16="http://schemas.microsoft.com/office/drawing/2014/main" id="{B599257F-09B6-EE32-B1D0-1CDAD3546BCB}"/>
              </a:ext>
            </a:extLst>
          </p:cNvPr>
          <p:cNvSpPr txBox="1"/>
          <p:nvPr/>
        </p:nvSpPr>
        <p:spPr>
          <a:xfrm>
            <a:off x="8664459" y="1388631"/>
            <a:ext cx="3156065" cy="369332"/>
          </a:xfrm>
          <a:prstGeom prst="rect">
            <a:avLst/>
          </a:prstGeom>
          <a:noFill/>
        </p:spPr>
        <p:txBody>
          <a:bodyPr wrap="square" lIns="0" tIns="0" rIns="0" bIns="0" rtlCol="0" anchor="t">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Sustainability</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Technology</a:t>
            </a:r>
          </a:p>
        </p:txBody>
      </p:sp>
      <p:sp>
        <p:nvSpPr>
          <p:cNvPr id="85" name="TextBox 24">
            <a:extLst>
              <a:ext uri="{FF2B5EF4-FFF2-40B4-BE49-F238E27FC236}">
                <a16:creationId xmlns:a16="http://schemas.microsoft.com/office/drawing/2014/main" id="{3C9F896A-B4EC-2F12-B820-87659F5B9765}"/>
              </a:ext>
            </a:extLst>
          </p:cNvPr>
          <p:cNvSpPr txBox="1"/>
          <p:nvPr/>
        </p:nvSpPr>
        <p:spPr>
          <a:xfrm>
            <a:off x="381308" y="2374161"/>
            <a:ext cx="1419287" cy="215444"/>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Operations</a:t>
            </a:r>
          </a:p>
        </p:txBody>
      </p:sp>
      <p:cxnSp>
        <p:nvCxnSpPr>
          <p:cNvPr id="86" name="Conector recto 9">
            <a:extLst>
              <a:ext uri="{FF2B5EF4-FFF2-40B4-BE49-F238E27FC236}">
                <a16:creationId xmlns:a16="http://schemas.microsoft.com/office/drawing/2014/main" id="{E0A137B4-9621-AB8A-72A4-B3191043293C}"/>
              </a:ext>
            </a:extLst>
          </p:cNvPr>
          <p:cNvCxnSpPr>
            <a:cxnSpLocks/>
          </p:cNvCxnSpPr>
          <p:nvPr/>
        </p:nvCxnSpPr>
        <p:spPr>
          <a:xfrm>
            <a:off x="1887684" y="2212742"/>
            <a:ext cx="0" cy="53828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88" name="TextBox 25">
            <a:extLst>
              <a:ext uri="{FF2B5EF4-FFF2-40B4-BE49-F238E27FC236}">
                <a16:creationId xmlns:a16="http://schemas.microsoft.com/office/drawing/2014/main" id="{502A41C1-C9FF-415A-C676-AD5C1E126F57}"/>
              </a:ext>
            </a:extLst>
          </p:cNvPr>
          <p:cNvSpPr txBox="1"/>
          <p:nvPr/>
        </p:nvSpPr>
        <p:spPr>
          <a:xfrm>
            <a:off x="2017486" y="2212742"/>
            <a:ext cx="3156065" cy="369332"/>
          </a:xfrm>
          <a:prstGeom prst="rect">
            <a:avLst/>
          </a:prstGeom>
          <a:noFill/>
        </p:spPr>
        <p:txBody>
          <a:bodyPr wrap="square" lIns="0" tIns="0" rIns="0" bIns="0" rtlCol="0" anchor="t">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Data &amp; Analytics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Lean Operations</a:t>
            </a:r>
          </a:p>
        </p:txBody>
      </p:sp>
      <p:sp>
        <p:nvSpPr>
          <p:cNvPr id="89" name="TextBox 25">
            <a:extLst>
              <a:ext uri="{FF2B5EF4-FFF2-40B4-BE49-F238E27FC236}">
                <a16:creationId xmlns:a16="http://schemas.microsoft.com/office/drawing/2014/main" id="{13DA53F7-3589-3222-5C2F-C766DCFC263A}"/>
              </a:ext>
            </a:extLst>
          </p:cNvPr>
          <p:cNvSpPr txBox="1"/>
          <p:nvPr/>
        </p:nvSpPr>
        <p:spPr>
          <a:xfrm>
            <a:off x="5340972" y="2212742"/>
            <a:ext cx="3156065" cy="369332"/>
          </a:xfrm>
          <a:prstGeom prst="rect">
            <a:avLst/>
          </a:prstGeom>
          <a:noFill/>
        </p:spPr>
        <p:txBody>
          <a:bodyPr wrap="square" lIns="0" tIns="0" rIns="0" bIns="0" rtlCol="0" anchor="t">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Operations Transformation</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Procurement</a:t>
            </a:r>
          </a:p>
        </p:txBody>
      </p:sp>
      <p:sp>
        <p:nvSpPr>
          <p:cNvPr id="90" name="TextBox 25">
            <a:extLst>
              <a:ext uri="{FF2B5EF4-FFF2-40B4-BE49-F238E27FC236}">
                <a16:creationId xmlns:a16="http://schemas.microsoft.com/office/drawing/2014/main" id="{4DDB8F15-63A2-8F4B-48A6-6FBDB795F56F}"/>
              </a:ext>
            </a:extLst>
          </p:cNvPr>
          <p:cNvSpPr txBox="1"/>
          <p:nvPr/>
        </p:nvSpPr>
        <p:spPr>
          <a:xfrm>
            <a:off x="8664459" y="2212742"/>
            <a:ext cx="3156065" cy="369332"/>
          </a:xfrm>
          <a:prstGeom prst="rect">
            <a:avLst/>
          </a:prstGeom>
          <a:noFill/>
        </p:spPr>
        <p:txBody>
          <a:bodyPr wrap="square" lIns="0" tIns="0" rIns="0" bIns="0" rtlCol="0" anchor="t">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Project Management Office</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Supply Chain</a:t>
            </a:r>
          </a:p>
        </p:txBody>
      </p:sp>
      <p:sp>
        <p:nvSpPr>
          <p:cNvPr id="92" name="TextBox 24">
            <a:extLst>
              <a:ext uri="{FF2B5EF4-FFF2-40B4-BE49-F238E27FC236}">
                <a16:creationId xmlns:a16="http://schemas.microsoft.com/office/drawing/2014/main" id="{F1B2E009-27A9-6747-00EF-0B17E272B4D9}"/>
              </a:ext>
            </a:extLst>
          </p:cNvPr>
          <p:cNvSpPr txBox="1"/>
          <p:nvPr/>
        </p:nvSpPr>
        <p:spPr>
          <a:xfrm>
            <a:off x="381308" y="3198272"/>
            <a:ext cx="1419287" cy="215444"/>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Organization</a:t>
            </a:r>
          </a:p>
        </p:txBody>
      </p:sp>
      <p:cxnSp>
        <p:nvCxnSpPr>
          <p:cNvPr id="93" name="Conector recto 9">
            <a:extLst>
              <a:ext uri="{FF2B5EF4-FFF2-40B4-BE49-F238E27FC236}">
                <a16:creationId xmlns:a16="http://schemas.microsoft.com/office/drawing/2014/main" id="{C8F8B1AF-0309-E3F6-2C44-13B6B2A23828}"/>
              </a:ext>
            </a:extLst>
          </p:cNvPr>
          <p:cNvCxnSpPr>
            <a:cxnSpLocks/>
          </p:cNvCxnSpPr>
          <p:nvPr/>
        </p:nvCxnSpPr>
        <p:spPr>
          <a:xfrm>
            <a:off x="1887684" y="3036853"/>
            <a:ext cx="0" cy="53828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95" name="TextBox 25">
            <a:extLst>
              <a:ext uri="{FF2B5EF4-FFF2-40B4-BE49-F238E27FC236}">
                <a16:creationId xmlns:a16="http://schemas.microsoft.com/office/drawing/2014/main" id="{B0ED0838-2FE7-079A-E125-D4FB24E6605A}"/>
              </a:ext>
            </a:extLst>
          </p:cNvPr>
          <p:cNvSpPr txBox="1"/>
          <p:nvPr/>
        </p:nvSpPr>
        <p:spPr>
          <a:xfrm>
            <a:off x="2017486" y="3036853"/>
            <a:ext cx="3156065" cy="369332"/>
          </a:xfrm>
          <a:prstGeom prst="rect">
            <a:avLst/>
          </a:prstGeom>
          <a:noFill/>
        </p:spPr>
        <p:txBody>
          <a:bodyPr wrap="square" lIns="0" tIns="0" rIns="0" bIns="0" rtlCol="0" anchor="t">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Change Management</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Diversity &amp; Inclusion</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Interim Executives</a:t>
            </a:r>
          </a:p>
        </p:txBody>
      </p:sp>
      <p:sp>
        <p:nvSpPr>
          <p:cNvPr id="96" name="TextBox 25">
            <a:extLst>
              <a:ext uri="{FF2B5EF4-FFF2-40B4-BE49-F238E27FC236}">
                <a16:creationId xmlns:a16="http://schemas.microsoft.com/office/drawing/2014/main" id="{74DDB70B-C4DE-7AA9-2B72-E490F255147F}"/>
              </a:ext>
            </a:extLst>
          </p:cNvPr>
          <p:cNvSpPr txBox="1"/>
          <p:nvPr/>
        </p:nvSpPr>
        <p:spPr>
          <a:xfrm>
            <a:off x="5340972" y="3036853"/>
            <a:ext cx="3156065" cy="369332"/>
          </a:xfrm>
          <a:prstGeom prst="rect">
            <a:avLst/>
          </a:prstGeom>
          <a:noFill/>
        </p:spPr>
        <p:txBody>
          <a:bodyPr wrap="square" lIns="0" tIns="0" rIns="0" bIns="0" rtlCol="0" anchor="t">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Maternity &amp; Paternity Leave</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Organization Design</a:t>
            </a:r>
          </a:p>
        </p:txBody>
      </p:sp>
      <p:sp>
        <p:nvSpPr>
          <p:cNvPr id="97" name="TextBox 25">
            <a:extLst>
              <a:ext uri="{FF2B5EF4-FFF2-40B4-BE49-F238E27FC236}">
                <a16:creationId xmlns:a16="http://schemas.microsoft.com/office/drawing/2014/main" id="{8BBF9BA4-07DB-A9A7-7933-BD065F970152}"/>
              </a:ext>
            </a:extLst>
          </p:cNvPr>
          <p:cNvSpPr txBox="1"/>
          <p:nvPr/>
        </p:nvSpPr>
        <p:spPr>
          <a:xfrm>
            <a:off x="8664459" y="3036853"/>
            <a:ext cx="3156065" cy="369332"/>
          </a:xfrm>
          <a:prstGeom prst="rect">
            <a:avLst/>
          </a:prstGeom>
          <a:noFill/>
        </p:spPr>
        <p:txBody>
          <a:bodyPr wrap="square" lIns="0" tIns="0" rIns="0" bIns="0" rtlCol="0" anchor="t">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Talent Management</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Umbrex</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Academy</a:t>
            </a:r>
          </a:p>
        </p:txBody>
      </p:sp>
      <p:sp>
        <p:nvSpPr>
          <p:cNvPr id="99" name="TextBox 24">
            <a:extLst>
              <a:ext uri="{FF2B5EF4-FFF2-40B4-BE49-F238E27FC236}">
                <a16:creationId xmlns:a16="http://schemas.microsoft.com/office/drawing/2014/main" id="{F351829C-6A05-7901-F21B-99EB1C852ABC}"/>
              </a:ext>
            </a:extLst>
          </p:cNvPr>
          <p:cNvSpPr txBox="1"/>
          <p:nvPr/>
        </p:nvSpPr>
        <p:spPr>
          <a:xfrm>
            <a:off x="381308" y="4030003"/>
            <a:ext cx="1419287" cy="215444"/>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Marketing</a:t>
            </a:r>
          </a:p>
        </p:txBody>
      </p:sp>
      <p:cxnSp>
        <p:nvCxnSpPr>
          <p:cNvPr id="100" name="Conector recto 9">
            <a:extLst>
              <a:ext uri="{FF2B5EF4-FFF2-40B4-BE49-F238E27FC236}">
                <a16:creationId xmlns:a16="http://schemas.microsoft.com/office/drawing/2014/main" id="{F8291DED-0A68-86E9-B798-81BA607AEFEE}"/>
              </a:ext>
            </a:extLst>
          </p:cNvPr>
          <p:cNvCxnSpPr>
            <a:cxnSpLocks/>
          </p:cNvCxnSpPr>
          <p:nvPr/>
        </p:nvCxnSpPr>
        <p:spPr>
          <a:xfrm>
            <a:off x="1887684" y="3868584"/>
            <a:ext cx="0" cy="53828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02" name="TextBox 25">
            <a:extLst>
              <a:ext uri="{FF2B5EF4-FFF2-40B4-BE49-F238E27FC236}">
                <a16:creationId xmlns:a16="http://schemas.microsoft.com/office/drawing/2014/main" id="{8F0D7FDD-0815-89D2-01F0-8B874B43FEA4}"/>
              </a:ext>
            </a:extLst>
          </p:cNvPr>
          <p:cNvSpPr txBox="1"/>
          <p:nvPr/>
        </p:nvSpPr>
        <p:spPr>
          <a:xfrm>
            <a:off x="2017486" y="3868584"/>
            <a:ext cx="3156065" cy="369332"/>
          </a:xfrm>
          <a:prstGeom prst="rect">
            <a:avLst/>
          </a:prstGeom>
          <a:noFill/>
        </p:spPr>
        <p:txBody>
          <a:bodyPr wrap="square" lIns="0" tIns="0" rIns="0" bIns="0" rtlCol="0" anchor="t">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Branding</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Consumer Experience</a:t>
            </a:r>
          </a:p>
        </p:txBody>
      </p:sp>
      <p:sp>
        <p:nvSpPr>
          <p:cNvPr id="103" name="TextBox 25">
            <a:extLst>
              <a:ext uri="{FF2B5EF4-FFF2-40B4-BE49-F238E27FC236}">
                <a16:creationId xmlns:a16="http://schemas.microsoft.com/office/drawing/2014/main" id="{59FB6C60-79F7-E7F3-F9BF-8862A9241FC0}"/>
              </a:ext>
            </a:extLst>
          </p:cNvPr>
          <p:cNvSpPr txBox="1"/>
          <p:nvPr/>
        </p:nvSpPr>
        <p:spPr>
          <a:xfrm>
            <a:off x="5340972" y="3868584"/>
            <a:ext cx="3156065" cy="369332"/>
          </a:xfrm>
          <a:prstGeom prst="rect">
            <a:avLst/>
          </a:prstGeom>
          <a:noFill/>
        </p:spPr>
        <p:txBody>
          <a:bodyPr wrap="square" lIns="0" tIns="0" rIns="0" bIns="0" rtlCol="0" anchor="t">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Digital Marketing</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Market Research</a:t>
            </a:r>
          </a:p>
        </p:txBody>
      </p:sp>
      <p:sp>
        <p:nvSpPr>
          <p:cNvPr id="104" name="TextBox 25">
            <a:extLst>
              <a:ext uri="{FF2B5EF4-FFF2-40B4-BE49-F238E27FC236}">
                <a16:creationId xmlns:a16="http://schemas.microsoft.com/office/drawing/2014/main" id="{7E064D4A-A59A-B9FC-37E0-130A730E25AD}"/>
              </a:ext>
            </a:extLst>
          </p:cNvPr>
          <p:cNvSpPr txBox="1"/>
          <p:nvPr/>
        </p:nvSpPr>
        <p:spPr>
          <a:xfrm>
            <a:off x="8664459" y="3868584"/>
            <a:ext cx="3156065" cy="369332"/>
          </a:xfrm>
          <a:prstGeom prst="rect">
            <a:avLst/>
          </a:prstGeom>
          <a:noFill/>
        </p:spPr>
        <p:txBody>
          <a:bodyPr wrap="square" lIns="0" tIns="0" rIns="0" bIns="0" rtlCol="0" anchor="t">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Pricing</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Product Management</a:t>
            </a:r>
          </a:p>
        </p:txBody>
      </p:sp>
      <p:sp>
        <p:nvSpPr>
          <p:cNvPr id="106" name="TextBox 24">
            <a:extLst>
              <a:ext uri="{FF2B5EF4-FFF2-40B4-BE49-F238E27FC236}">
                <a16:creationId xmlns:a16="http://schemas.microsoft.com/office/drawing/2014/main" id="{BF8B62BB-4065-CA8F-7AEB-3731B1F15C7B}"/>
              </a:ext>
            </a:extLst>
          </p:cNvPr>
          <p:cNvSpPr txBox="1"/>
          <p:nvPr/>
        </p:nvSpPr>
        <p:spPr>
          <a:xfrm>
            <a:off x="381308" y="4892214"/>
            <a:ext cx="1419287" cy="215444"/>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Sales</a:t>
            </a:r>
          </a:p>
        </p:txBody>
      </p:sp>
      <p:cxnSp>
        <p:nvCxnSpPr>
          <p:cNvPr id="107" name="Conector recto 9">
            <a:extLst>
              <a:ext uri="{FF2B5EF4-FFF2-40B4-BE49-F238E27FC236}">
                <a16:creationId xmlns:a16="http://schemas.microsoft.com/office/drawing/2014/main" id="{837EEF74-B105-C2D4-C168-EC1052D09531}"/>
              </a:ext>
            </a:extLst>
          </p:cNvPr>
          <p:cNvCxnSpPr>
            <a:cxnSpLocks/>
          </p:cNvCxnSpPr>
          <p:nvPr/>
        </p:nvCxnSpPr>
        <p:spPr>
          <a:xfrm>
            <a:off x="1887684" y="4730795"/>
            <a:ext cx="0" cy="53828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09" name="TextBox 25">
            <a:extLst>
              <a:ext uri="{FF2B5EF4-FFF2-40B4-BE49-F238E27FC236}">
                <a16:creationId xmlns:a16="http://schemas.microsoft.com/office/drawing/2014/main" id="{9E0843DE-F1EA-5327-D7B0-EA62EC2C9831}"/>
              </a:ext>
            </a:extLst>
          </p:cNvPr>
          <p:cNvSpPr txBox="1"/>
          <p:nvPr/>
        </p:nvSpPr>
        <p:spPr>
          <a:xfrm>
            <a:off x="2017486" y="4730795"/>
            <a:ext cx="3156065" cy="369332"/>
          </a:xfrm>
          <a:prstGeom prst="rect">
            <a:avLst/>
          </a:prstGeom>
          <a:noFill/>
        </p:spPr>
        <p:txBody>
          <a:bodyPr wrap="square" lIns="0" tIns="0" rIns="0" bIns="0" rtlCol="0" anchor="t">
            <a:no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Channel Management</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Sales Effectiveness</a:t>
            </a:r>
          </a:p>
        </p:txBody>
      </p:sp>
      <p:sp>
        <p:nvSpPr>
          <p:cNvPr id="113" name="TextBox 24">
            <a:extLst>
              <a:ext uri="{FF2B5EF4-FFF2-40B4-BE49-F238E27FC236}">
                <a16:creationId xmlns:a16="http://schemas.microsoft.com/office/drawing/2014/main" id="{A708EF4D-6E72-0317-A66E-0914FA15D8BA}"/>
              </a:ext>
            </a:extLst>
          </p:cNvPr>
          <p:cNvSpPr txBox="1"/>
          <p:nvPr/>
        </p:nvSpPr>
        <p:spPr>
          <a:xfrm>
            <a:off x="381308" y="5621563"/>
            <a:ext cx="1419287" cy="215444"/>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 bono</a:t>
            </a:r>
          </a:p>
        </p:txBody>
      </p:sp>
      <p:pic>
        <p:nvPicPr>
          <p:cNvPr id="31" name="Picture 2">
            <a:extLst>
              <a:ext uri="{FF2B5EF4-FFF2-40B4-BE49-F238E27FC236}">
                <a16:creationId xmlns:a16="http://schemas.microsoft.com/office/drawing/2014/main" id="{B87A7642-D6B5-495E-9DC0-63990B3B5E81}"/>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3555F38-9376-30EC-4917-B5CA1E769DBC}"/>
              </a:ext>
            </a:extLst>
          </p:cNvPr>
          <p:cNvSpPr/>
          <p:nvPr/>
        </p:nvSpPr>
        <p:spPr>
          <a:xfrm>
            <a:off x="121919" y="6225003"/>
            <a:ext cx="2406125" cy="5796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4" name="Picture 2">
            <a:extLst>
              <a:ext uri="{FF2B5EF4-FFF2-40B4-BE49-F238E27FC236}">
                <a16:creationId xmlns:a16="http://schemas.microsoft.com/office/drawing/2014/main" id="{41656605-E367-4863-42D9-DDED389BA551}"/>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Rounded Corners 11">
            <a:extLst>
              <a:ext uri="{FF2B5EF4-FFF2-40B4-BE49-F238E27FC236}">
                <a16:creationId xmlns:a16="http://schemas.microsoft.com/office/drawing/2014/main" id="{7EBA0D0E-1F90-FFE1-C05D-B09C03857834}"/>
              </a:ext>
            </a:extLst>
          </p:cNvPr>
          <p:cNvSpPr/>
          <p:nvPr/>
        </p:nvSpPr>
        <p:spPr>
          <a:xfrm>
            <a:off x="9140327" y="368300"/>
            <a:ext cx="2680198" cy="485776"/>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6">
                  <a:extLst>
                    <a:ext uri="{A12FA001-AC4F-418D-AE19-62706E023703}">
                      <ahyp:hlinkClr xmlns:ahyp="http://schemas.microsoft.com/office/drawing/2018/hyperlinkcolor" val="tx"/>
                    </a:ext>
                  </a:extLst>
                </a:hlinkClick>
              </a:rPr>
              <a:t>Find a consultant now</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2296503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C0B7FD4F-8CA4-9501-B198-B2B4F8F4187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7" name="Objeto 6" hidden="1">
                        <a:extLst>
                          <a:ext uri="{FF2B5EF4-FFF2-40B4-BE49-F238E27FC236}">
                            <a16:creationId xmlns:a16="http://schemas.microsoft.com/office/drawing/2014/main" id="{C0B7FD4F-8CA4-9501-B198-B2B4F8F418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4F43DAE9-4BED-9805-85A5-3F46757BED3B}"/>
              </a:ext>
            </a:extLst>
          </p:cNvPr>
          <p:cNvSpPr>
            <a:spLocks noGrp="1"/>
          </p:cNvSpPr>
          <p:nvPr>
            <p:ph type="title"/>
          </p:nvPr>
        </p:nvSpPr>
        <p:spPr/>
        <p:txBody>
          <a:bodyPr vert="horz"/>
          <a:lstStyle/>
          <a:p>
            <a:r>
              <a:rPr lang="en-US" dirty="0"/>
              <a:t>Industries Umbrex Serves</a:t>
            </a:r>
          </a:p>
        </p:txBody>
      </p:sp>
      <p:sp>
        <p:nvSpPr>
          <p:cNvPr id="8" name="TextBox 25">
            <a:extLst>
              <a:ext uri="{FF2B5EF4-FFF2-40B4-BE49-F238E27FC236}">
                <a16:creationId xmlns:a16="http://schemas.microsoft.com/office/drawing/2014/main" id="{ED21F794-CCBB-1CC0-455D-505AFEE02B6B}"/>
              </a:ext>
            </a:extLst>
          </p:cNvPr>
          <p:cNvSpPr txBox="1"/>
          <p:nvPr/>
        </p:nvSpPr>
        <p:spPr>
          <a:xfrm>
            <a:off x="384174" y="1338994"/>
            <a:ext cx="3681906" cy="3908762"/>
          </a:xfrm>
          <a:prstGeom prst="rect">
            <a:avLst/>
          </a:prstGeom>
          <a:noFill/>
        </p:spPr>
        <p:txBody>
          <a:bodyPr wrap="square" lIns="0" tIns="0" rIns="0" bIns="0" rtlCol="0" anchor="t">
            <a:spAutoFit/>
          </a:bodyPr>
          <a:lstStyle/>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Aerospace &amp; Defense</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Agriculture</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Automotive</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Biotechnology</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Chemicals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Consumer Packaged Goods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Cosmetics &amp; Personal Care</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Education</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Energy</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Financial Services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Healthcare</a:t>
            </a:r>
          </a:p>
        </p:txBody>
      </p:sp>
      <p:sp>
        <p:nvSpPr>
          <p:cNvPr id="9" name="TextBox 25">
            <a:extLst>
              <a:ext uri="{FF2B5EF4-FFF2-40B4-BE49-F238E27FC236}">
                <a16:creationId xmlns:a16="http://schemas.microsoft.com/office/drawing/2014/main" id="{2242DBD1-BD08-93D6-A353-3883BA5D0F13}"/>
              </a:ext>
            </a:extLst>
          </p:cNvPr>
          <p:cNvSpPr txBox="1"/>
          <p:nvPr/>
        </p:nvSpPr>
        <p:spPr>
          <a:xfrm>
            <a:off x="4261395" y="1338994"/>
            <a:ext cx="3681906" cy="3908762"/>
          </a:xfrm>
          <a:prstGeom prst="rect">
            <a:avLst/>
          </a:prstGeom>
          <a:noFill/>
        </p:spPr>
        <p:txBody>
          <a:bodyPr wrap="square" lIns="0" tIns="0" rIns="0" bIns="0" rtlCol="0" anchor="t">
            <a:spAutoFit/>
          </a:bodyPr>
          <a:lstStyle/>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Insurance</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Manufacturing</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Media &amp; Entertainment</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Medical Devices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Metals &amp; Mining</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Nonprofit</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Oil &amp; Gas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Pharmaceuticals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Private Equity</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Professional Services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Pulp and Paper</a:t>
            </a:r>
          </a:p>
        </p:txBody>
      </p:sp>
      <p:sp>
        <p:nvSpPr>
          <p:cNvPr id="10" name="TextBox 25">
            <a:extLst>
              <a:ext uri="{FF2B5EF4-FFF2-40B4-BE49-F238E27FC236}">
                <a16:creationId xmlns:a16="http://schemas.microsoft.com/office/drawing/2014/main" id="{1020553B-7A5C-F8DA-483F-48725D4C012A}"/>
              </a:ext>
            </a:extLst>
          </p:cNvPr>
          <p:cNvSpPr txBox="1"/>
          <p:nvPr/>
        </p:nvSpPr>
        <p:spPr>
          <a:xfrm>
            <a:off x="8138618" y="1338994"/>
            <a:ext cx="3681906" cy="3539430"/>
          </a:xfrm>
          <a:prstGeom prst="rect">
            <a:avLst/>
          </a:prstGeom>
          <a:noFill/>
        </p:spPr>
        <p:txBody>
          <a:bodyPr wrap="square" lIns="0" tIns="0" rIns="0" bIns="0" rtlCol="0" anchor="t">
            <a:spAutoFit/>
          </a:bodyPr>
          <a:lstStyle/>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Real Estate &amp; Construction</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Restaurant</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Retail</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Social Sector &amp; NGOs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Software</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Technology</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Telecommunications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Travel &amp; Logistics</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Waste Management</a:t>
            </a:r>
          </a:p>
          <a:p>
            <a:pPr marL="171450" marR="0" lvl="0" indent="-1714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Wine, Beer, and Spirits</a:t>
            </a:r>
          </a:p>
        </p:txBody>
      </p:sp>
      <p:pic>
        <p:nvPicPr>
          <p:cNvPr id="11" name="Picture 2">
            <a:extLst>
              <a:ext uri="{FF2B5EF4-FFF2-40B4-BE49-F238E27FC236}">
                <a16:creationId xmlns:a16="http://schemas.microsoft.com/office/drawing/2014/main" id="{D0DAB828-0FC5-4C90-B0DB-7F448DEFB786}"/>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A58686D-0866-896D-08B6-096D7F40EBE6}"/>
              </a:ext>
            </a:extLst>
          </p:cNvPr>
          <p:cNvSpPr/>
          <p:nvPr/>
        </p:nvSpPr>
        <p:spPr>
          <a:xfrm>
            <a:off x="121920" y="6400800"/>
            <a:ext cx="1805492"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5" name="Picture 2">
            <a:extLst>
              <a:ext uri="{FF2B5EF4-FFF2-40B4-BE49-F238E27FC236}">
                <a16:creationId xmlns:a16="http://schemas.microsoft.com/office/drawing/2014/main" id="{9FF6E30E-F88A-8F0D-71C1-CC8C1DBB94EE}"/>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Rounded Corners 11">
            <a:extLst>
              <a:ext uri="{FF2B5EF4-FFF2-40B4-BE49-F238E27FC236}">
                <a16:creationId xmlns:a16="http://schemas.microsoft.com/office/drawing/2014/main" id="{71CEA26A-AC0D-DC1C-11EE-6A0E0ABD83BB}"/>
              </a:ext>
            </a:extLst>
          </p:cNvPr>
          <p:cNvSpPr/>
          <p:nvPr/>
        </p:nvSpPr>
        <p:spPr>
          <a:xfrm>
            <a:off x="9140327" y="368300"/>
            <a:ext cx="2680198" cy="485776"/>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6">
                  <a:extLst>
                    <a:ext uri="{A12FA001-AC4F-418D-AE19-62706E023703}">
                      <ahyp:hlinkClr xmlns:ahyp="http://schemas.microsoft.com/office/drawing/2018/hyperlinkcolor" val="tx"/>
                    </a:ext>
                  </a:extLst>
                </a:hlinkClick>
              </a:rPr>
              <a:t>Find a consultant now</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1142881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F748C09D-7D33-BA67-798B-80EBFEF9949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7" name="Objeto 6" hidden="1">
                        <a:extLst>
                          <a:ext uri="{FF2B5EF4-FFF2-40B4-BE49-F238E27FC236}">
                            <a16:creationId xmlns:a16="http://schemas.microsoft.com/office/drawing/2014/main" id="{F748C09D-7D33-BA67-798B-80EBFEF994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ángulo 9">
            <a:extLst>
              <a:ext uri="{FF2B5EF4-FFF2-40B4-BE49-F238E27FC236}">
                <a16:creationId xmlns:a16="http://schemas.microsoft.com/office/drawing/2014/main" id="{49975B6E-0885-D192-EF4F-F7F4CE3A27B6}"/>
              </a:ext>
            </a:extLst>
          </p:cNvPr>
          <p:cNvSpPr/>
          <p:nvPr/>
        </p:nvSpPr>
        <p:spPr>
          <a:xfrm>
            <a:off x="371475" y="1376363"/>
            <a:ext cx="11449050" cy="49323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endParaRPr kumimoji="0" lang="en-US" sz="1400" b="1"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mn-cs"/>
              <a:sym typeface="Verdana" panose="020B0604030504040204" pitchFamily="34" charset="0"/>
            </a:endParaRPr>
          </a:p>
        </p:txBody>
      </p:sp>
      <p:sp>
        <p:nvSpPr>
          <p:cNvPr id="3" name="Título 2">
            <a:extLst>
              <a:ext uri="{FF2B5EF4-FFF2-40B4-BE49-F238E27FC236}">
                <a16:creationId xmlns:a16="http://schemas.microsoft.com/office/drawing/2014/main" id="{045465C7-8945-2FDA-74AC-56273CFE27BA}"/>
              </a:ext>
            </a:extLst>
          </p:cNvPr>
          <p:cNvSpPr>
            <a:spLocks noGrp="1"/>
          </p:cNvSpPr>
          <p:nvPr>
            <p:ph type="title"/>
          </p:nvPr>
        </p:nvSpPr>
        <p:spPr/>
        <p:txBody>
          <a:bodyPr vert="horz"/>
          <a:lstStyle/>
          <a:p>
            <a:r>
              <a:rPr lang="en-US" dirty="0"/>
              <a:t>Umbrex offers flexible options to engage talent</a:t>
            </a:r>
          </a:p>
        </p:txBody>
      </p:sp>
      <p:pic>
        <p:nvPicPr>
          <p:cNvPr id="8" name="Picture 2">
            <a:extLst>
              <a:ext uri="{FF2B5EF4-FFF2-40B4-BE49-F238E27FC236}">
                <a16:creationId xmlns:a16="http://schemas.microsoft.com/office/drawing/2014/main" id="{01AE375A-B25A-4004-874A-358001D6DCD8}"/>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a:extLst>
              <a:ext uri="{FF2B5EF4-FFF2-40B4-BE49-F238E27FC236}">
                <a16:creationId xmlns:a16="http://schemas.microsoft.com/office/drawing/2014/main" id="{CDCB518E-7159-4A3E-B38C-308B65DCA08A}"/>
              </a:ext>
            </a:extLst>
          </p:cNvPr>
          <p:cNvCxnSpPr/>
          <p:nvPr/>
        </p:nvCxnSpPr>
        <p:spPr>
          <a:xfrm>
            <a:off x="618067" y="3811308"/>
            <a:ext cx="1083733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46A9659-27D7-4AF1-82AA-34A48E1DD8D9}"/>
              </a:ext>
            </a:extLst>
          </p:cNvPr>
          <p:cNvCxnSpPr/>
          <p:nvPr/>
        </p:nvCxnSpPr>
        <p:spPr>
          <a:xfrm>
            <a:off x="6096000" y="4302375"/>
            <a:ext cx="0" cy="148166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20C419C-81C9-4E21-88A2-AD3050D06EBC}"/>
              </a:ext>
            </a:extLst>
          </p:cNvPr>
          <p:cNvCxnSpPr/>
          <p:nvPr/>
        </p:nvCxnSpPr>
        <p:spPr>
          <a:xfrm>
            <a:off x="6096000" y="1838574"/>
            <a:ext cx="0" cy="148166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83E4314-D4CD-4EB0-80A6-AC92237EA5DB}"/>
              </a:ext>
            </a:extLst>
          </p:cNvPr>
          <p:cNvSpPr txBox="1"/>
          <p:nvPr/>
        </p:nvSpPr>
        <p:spPr>
          <a:xfrm>
            <a:off x="6080124" y="4146854"/>
            <a:ext cx="572452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dirty="0">
                <a:ln>
                  <a:noFill/>
                </a:ln>
                <a:solidFill>
                  <a:srgbClr val="0A1A49"/>
                </a:solidFill>
                <a:effectLst/>
                <a:uLnTx/>
                <a:uFillTx/>
                <a:latin typeface="Verdana"/>
                <a:ea typeface="+mn-ea"/>
                <a:cs typeface="+mn-cs"/>
              </a:rPr>
              <a:t>Location</a:t>
            </a:r>
          </a:p>
        </p:txBody>
      </p:sp>
      <p:sp>
        <p:nvSpPr>
          <p:cNvPr id="18" name="TextBox 17">
            <a:extLst>
              <a:ext uri="{FF2B5EF4-FFF2-40B4-BE49-F238E27FC236}">
                <a16:creationId xmlns:a16="http://schemas.microsoft.com/office/drawing/2014/main" id="{0D46B445-6B88-4DCE-9CE9-4C57979D27B6}"/>
              </a:ext>
            </a:extLst>
          </p:cNvPr>
          <p:cNvSpPr txBox="1"/>
          <p:nvPr/>
        </p:nvSpPr>
        <p:spPr>
          <a:xfrm>
            <a:off x="371475" y="4146854"/>
            <a:ext cx="572452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dirty="0">
                <a:ln>
                  <a:noFill/>
                </a:ln>
                <a:solidFill>
                  <a:srgbClr val="0A1A49"/>
                </a:solidFill>
                <a:effectLst/>
                <a:uLnTx/>
                <a:uFillTx/>
                <a:latin typeface="Verdana"/>
                <a:ea typeface="+mn-ea"/>
                <a:cs typeface="+mn-cs"/>
              </a:rPr>
              <a:t>Seniority</a:t>
            </a:r>
          </a:p>
        </p:txBody>
      </p:sp>
      <p:sp>
        <p:nvSpPr>
          <p:cNvPr id="19" name="TextBox 18">
            <a:extLst>
              <a:ext uri="{FF2B5EF4-FFF2-40B4-BE49-F238E27FC236}">
                <a16:creationId xmlns:a16="http://schemas.microsoft.com/office/drawing/2014/main" id="{B2665F01-922D-4AB7-A449-F4353A02187C}"/>
              </a:ext>
            </a:extLst>
          </p:cNvPr>
          <p:cNvSpPr txBox="1"/>
          <p:nvPr/>
        </p:nvSpPr>
        <p:spPr>
          <a:xfrm>
            <a:off x="6080124" y="1838574"/>
            <a:ext cx="572452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dirty="0">
                <a:ln>
                  <a:noFill/>
                </a:ln>
                <a:solidFill>
                  <a:srgbClr val="0A1A49"/>
                </a:solidFill>
                <a:effectLst/>
                <a:uLnTx/>
                <a:uFillTx/>
                <a:latin typeface="Verdana"/>
                <a:ea typeface="+mn-ea"/>
                <a:cs typeface="+mn-cs"/>
              </a:rPr>
              <a:t>Number of consultants</a:t>
            </a:r>
          </a:p>
        </p:txBody>
      </p:sp>
      <p:sp>
        <p:nvSpPr>
          <p:cNvPr id="20" name="TextBox 19">
            <a:extLst>
              <a:ext uri="{FF2B5EF4-FFF2-40B4-BE49-F238E27FC236}">
                <a16:creationId xmlns:a16="http://schemas.microsoft.com/office/drawing/2014/main" id="{9BD3979D-2C67-4D8F-8659-B3B476E9F2C0}"/>
              </a:ext>
            </a:extLst>
          </p:cNvPr>
          <p:cNvSpPr txBox="1"/>
          <p:nvPr/>
        </p:nvSpPr>
        <p:spPr>
          <a:xfrm>
            <a:off x="371475" y="1838574"/>
            <a:ext cx="572452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600" b="1" i="0" u="none" strike="noStrike" kern="1200" cap="none" spc="0" normalizeH="0" baseline="0" noProof="0" dirty="0">
                <a:ln>
                  <a:noFill/>
                </a:ln>
                <a:solidFill>
                  <a:srgbClr val="0A1A49"/>
                </a:solidFill>
                <a:effectLst/>
                <a:uLnTx/>
                <a:uFillTx/>
                <a:latin typeface="Verdana"/>
                <a:ea typeface="+mn-ea"/>
                <a:cs typeface="+mn-cs"/>
              </a:rPr>
              <a:t>Time commitment</a:t>
            </a:r>
          </a:p>
        </p:txBody>
      </p:sp>
      <p:graphicFrame>
        <p:nvGraphicFramePr>
          <p:cNvPr id="23" name="Chart 22">
            <a:extLst>
              <a:ext uri="{FF2B5EF4-FFF2-40B4-BE49-F238E27FC236}">
                <a16:creationId xmlns:a16="http://schemas.microsoft.com/office/drawing/2014/main" id="{9D843B5B-C243-4E2F-8B3D-98B768D6824E}"/>
              </a:ext>
            </a:extLst>
          </p:cNvPr>
          <p:cNvGraphicFramePr/>
          <p:nvPr/>
        </p:nvGraphicFramePr>
        <p:xfrm>
          <a:off x="1799153" y="1812732"/>
          <a:ext cx="2874968" cy="191664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4" name="Chart 23">
            <a:extLst>
              <a:ext uri="{FF2B5EF4-FFF2-40B4-BE49-F238E27FC236}">
                <a16:creationId xmlns:a16="http://schemas.microsoft.com/office/drawing/2014/main" id="{FBC43CEC-0FD0-4534-8963-E1A33E2E5F61}"/>
              </a:ext>
            </a:extLst>
          </p:cNvPr>
          <p:cNvGraphicFramePr/>
          <p:nvPr/>
        </p:nvGraphicFramePr>
        <p:xfrm>
          <a:off x="3529528" y="1812732"/>
          <a:ext cx="2874968" cy="1916646"/>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5" name="Chart 24">
            <a:extLst>
              <a:ext uri="{FF2B5EF4-FFF2-40B4-BE49-F238E27FC236}">
                <a16:creationId xmlns:a16="http://schemas.microsoft.com/office/drawing/2014/main" id="{000B5214-B4CE-4100-BE2D-F49FA6BD4078}"/>
              </a:ext>
            </a:extLst>
          </p:cNvPr>
          <p:cNvGraphicFramePr/>
          <p:nvPr/>
        </p:nvGraphicFramePr>
        <p:xfrm>
          <a:off x="68778" y="1812732"/>
          <a:ext cx="2874968" cy="1916646"/>
        </p:xfrm>
        <a:graphic>
          <a:graphicData uri="http://schemas.openxmlformats.org/drawingml/2006/chart">
            <c:chart xmlns:c="http://schemas.openxmlformats.org/drawingml/2006/chart" xmlns:r="http://schemas.openxmlformats.org/officeDocument/2006/relationships" r:id="rId8"/>
          </a:graphicData>
        </a:graphic>
      </p:graphicFrame>
      <p:sp>
        <p:nvSpPr>
          <p:cNvPr id="27" name="TextBox 26">
            <a:extLst>
              <a:ext uri="{FF2B5EF4-FFF2-40B4-BE49-F238E27FC236}">
                <a16:creationId xmlns:a16="http://schemas.microsoft.com/office/drawing/2014/main" id="{8130EFFB-042E-4A03-9F8B-F5A697CE7F3F}"/>
              </a:ext>
            </a:extLst>
          </p:cNvPr>
          <p:cNvSpPr txBox="1"/>
          <p:nvPr/>
        </p:nvSpPr>
        <p:spPr>
          <a:xfrm>
            <a:off x="9427224" y="3170701"/>
            <a:ext cx="1079260" cy="299079"/>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400" b="1" i="0" u="none" strike="noStrike" kern="1200" cap="none" spc="0" normalizeH="0" baseline="0" noProof="0" dirty="0">
                <a:ln>
                  <a:noFill/>
                </a:ln>
                <a:solidFill>
                  <a:srgbClr val="002060"/>
                </a:solidFill>
                <a:effectLst/>
                <a:uLnTx/>
                <a:uFillTx/>
                <a:latin typeface="Verdana"/>
                <a:ea typeface="+mn-ea"/>
                <a:cs typeface="+mn-cs"/>
              </a:rPr>
              <a:t>Team</a:t>
            </a:r>
          </a:p>
        </p:txBody>
      </p:sp>
      <p:sp>
        <p:nvSpPr>
          <p:cNvPr id="28" name="TextBox 27">
            <a:extLst>
              <a:ext uri="{FF2B5EF4-FFF2-40B4-BE49-F238E27FC236}">
                <a16:creationId xmlns:a16="http://schemas.microsoft.com/office/drawing/2014/main" id="{22171946-69DF-4AF9-9615-2276037BDCC8}"/>
              </a:ext>
            </a:extLst>
          </p:cNvPr>
          <p:cNvSpPr txBox="1"/>
          <p:nvPr/>
        </p:nvSpPr>
        <p:spPr>
          <a:xfrm>
            <a:off x="7378289" y="3170701"/>
            <a:ext cx="1079260" cy="299079"/>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400" b="1" i="0" u="none" strike="noStrike" kern="1200" cap="none" spc="0" normalizeH="0" baseline="0" noProof="0" dirty="0">
                <a:ln>
                  <a:noFill/>
                </a:ln>
                <a:solidFill>
                  <a:srgbClr val="002060"/>
                </a:solidFill>
                <a:effectLst/>
                <a:uLnTx/>
                <a:uFillTx/>
                <a:latin typeface="Verdana"/>
                <a:ea typeface="+mn-ea"/>
                <a:cs typeface="+mn-cs"/>
              </a:rPr>
              <a:t>Individual</a:t>
            </a:r>
          </a:p>
        </p:txBody>
      </p:sp>
      <p:pic>
        <p:nvPicPr>
          <p:cNvPr id="31" name="Graphic 30">
            <a:extLst>
              <a:ext uri="{FF2B5EF4-FFF2-40B4-BE49-F238E27FC236}">
                <a16:creationId xmlns:a16="http://schemas.microsoft.com/office/drawing/2014/main" id="{686E179A-E171-4782-9B0F-9A31306EB456}"/>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7611535" y="2337487"/>
            <a:ext cx="609600" cy="609600"/>
          </a:xfrm>
          <a:prstGeom prst="rect">
            <a:avLst/>
          </a:prstGeom>
        </p:spPr>
      </p:pic>
      <p:pic>
        <p:nvPicPr>
          <p:cNvPr id="33" name="Graphic 32">
            <a:extLst>
              <a:ext uri="{FF2B5EF4-FFF2-40B4-BE49-F238E27FC236}">
                <a16:creationId xmlns:a16="http://schemas.microsoft.com/office/drawing/2014/main" id="{BFF6EAC6-E319-405C-B225-2C1E176F4E89}"/>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597409" y="2310190"/>
            <a:ext cx="738889" cy="738889"/>
          </a:xfrm>
          <a:prstGeom prst="rect">
            <a:avLst/>
          </a:prstGeom>
        </p:spPr>
      </p:pic>
      <p:cxnSp>
        <p:nvCxnSpPr>
          <p:cNvPr id="38" name="Straight Connector 37">
            <a:extLst>
              <a:ext uri="{FF2B5EF4-FFF2-40B4-BE49-F238E27FC236}">
                <a16:creationId xmlns:a16="http://schemas.microsoft.com/office/drawing/2014/main" id="{141CFCCB-AAB8-4F6F-B090-E4248F7968DD}"/>
              </a:ext>
            </a:extLst>
          </p:cNvPr>
          <p:cNvCxnSpPr>
            <a:cxnSpLocks/>
          </p:cNvCxnSpPr>
          <p:nvPr/>
        </p:nvCxnSpPr>
        <p:spPr>
          <a:xfrm>
            <a:off x="2069598" y="5737854"/>
            <a:ext cx="260452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41" name="Freeform: Shape 40">
            <a:extLst>
              <a:ext uri="{FF2B5EF4-FFF2-40B4-BE49-F238E27FC236}">
                <a16:creationId xmlns:a16="http://schemas.microsoft.com/office/drawing/2014/main" id="{D5CFE2FF-BE00-44EF-9E81-637C6D79C9A3}"/>
              </a:ext>
            </a:extLst>
          </p:cNvPr>
          <p:cNvSpPr/>
          <p:nvPr/>
        </p:nvSpPr>
        <p:spPr>
          <a:xfrm>
            <a:off x="2251611" y="4710779"/>
            <a:ext cx="2166825" cy="1027075"/>
          </a:xfrm>
          <a:custGeom>
            <a:avLst/>
            <a:gdLst>
              <a:gd name="connsiteX0" fmla="*/ 0 w 2166825"/>
              <a:gd name="connsiteY0" fmla="*/ 1027075 h 1027075"/>
              <a:gd name="connsiteX1" fmla="*/ 0 w 2166825"/>
              <a:gd name="connsiteY1" fmla="*/ 771390 h 1027075"/>
              <a:gd name="connsiteX2" fmla="*/ 693384 w 2166825"/>
              <a:gd name="connsiteY2" fmla="*/ 793058 h 1027075"/>
              <a:gd name="connsiteX3" fmla="*/ 693384 w 2166825"/>
              <a:gd name="connsiteY3" fmla="*/ 446366 h 1027075"/>
              <a:gd name="connsiteX4" fmla="*/ 1395435 w 2166825"/>
              <a:gd name="connsiteY4" fmla="*/ 463701 h 1027075"/>
              <a:gd name="connsiteX5" fmla="*/ 1395435 w 2166825"/>
              <a:gd name="connsiteY5" fmla="*/ 0 h 1027075"/>
              <a:gd name="connsiteX6" fmla="*/ 2145157 w 2166825"/>
              <a:gd name="connsiteY6" fmla="*/ 8668 h 1027075"/>
              <a:gd name="connsiteX7" fmla="*/ 2166825 w 2166825"/>
              <a:gd name="connsiteY7" fmla="*/ 1022742 h 1027075"/>
              <a:gd name="connsiteX8" fmla="*/ 0 w 2166825"/>
              <a:gd name="connsiteY8" fmla="*/ 1027075 h 102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6825" h="1027075">
                <a:moveTo>
                  <a:pt x="0" y="1027075"/>
                </a:moveTo>
                <a:lnTo>
                  <a:pt x="0" y="771390"/>
                </a:lnTo>
                <a:lnTo>
                  <a:pt x="693384" y="793058"/>
                </a:lnTo>
                <a:lnTo>
                  <a:pt x="693384" y="446366"/>
                </a:lnTo>
                <a:lnTo>
                  <a:pt x="1395435" y="463701"/>
                </a:lnTo>
                <a:lnTo>
                  <a:pt x="1395435" y="0"/>
                </a:lnTo>
                <a:lnTo>
                  <a:pt x="2145157" y="8668"/>
                </a:lnTo>
                <a:lnTo>
                  <a:pt x="2166825" y="1022742"/>
                </a:lnTo>
                <a:lnTo>
                  <a:pt x="0" y="1027075"/>
                </a:lnTo>
                <a:close/>
              </a:path>
            </a:pathLst>
          </a:cu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2" name="TextBox 41">
            <a:extLst>
              <a:ext uri="{FF2B5EF4-FFF2-40B4-BE49-F238E27FC236}">
                <a16:creationId xmlns:a16="http://schemas.microsoft.com/office/drawing/2014/main" id="{2B971B3C-5FF6-493B-97C7-9F25CE25F2A1}"/>
              </a:ext>
            </a:extLst>
          </p:cNvPr>
          <p:cNvSpPr txBox="1"/>
          <p:nvPr/>
        </p:nvSpPr>
        <p:spPr>
          <a:xfrm>
            <a:off x="2175865" y="5292463"/>
            <a:ext cx="773464" cy="187360"/>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000" b="1" i="0" u="none" strike="noStrike" kern="1200" cap="none" spc="0" normalizeH="0" baseline="0" noProof="0" dirty="0">
                <a:ln>
                  <a:noFill/>
                </a:ln>
                <a:solidFill>
                  <a:srgbClr val="002060"/>
                </a:solidFill>
                <a:effectLst/>
                <a:uLnTx/>
                <a:uFillTx/>
                <a:latin typeface="Verdana"/>
                <a:ea typeface="+mn-ea"/>
                <a:cs typeface="+mn-cs"/>
              </a:rPr>
              <a:t>Associate</a:t>
            </a:r>
          </a:p>
        </p:txBody>
      </p:sp>
      <p:sp>
        <p:nvSpPr>
          <p:cNvPr id="43" name="TextBox 42">
            <a:extLst>
              <a:ext uri="{FF2B5EF4-FFF2-40B4-BE49-F238E27FC236}">
                <a16:creationId xmlns:a16="http://schemas.microsoft.com/office/drawing/2014/main" id="{EE367D9B-0273-4673-BD2C-633F0F594E31}"/>
              </a:ext>
            </a:extLst>
          </p:cNvPr>
          <p:cNvSpPr txBox="1"/>
          <p:nvPr/>
        </p:nvSpPr>
        <p:spPr>
          <a:xfrm>
            <a:off x="2900307" y="4943277"/>
            <a:ext cx="773464" cy="187360"/>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000" b="1" i="0" u="none" strike="noStrike" kern="1200" cap="none" spc="0" normalizeH="0" baseline="0" noProof="0" dirty="0">
                <a:ln>
                  <a:noFill/>
                </a:ln>
                <a:solidFill>
                  <a:srgbClr val="002060"/>
                </a:solidFill>
                <a:effectLst/>
                <a:uLnTx/>
                <a:uFillTx/>
                <a:latin typeface="Verdana"/>
                <a:ea typeface="+mn-ea"/>
                <a:cs typeface="+mn-cs"/>
              </a:rPr>
              <a:t>Manager</a:t>
            </a:r>
          </a:p>
        </p:txBody>
      </p:sp>
      <p:sp>
        <p:nvSpPr>
          <p:cNvPr id="44" name="TextBox 43">
            <a:extLst>
              <a:ext uri="{FF2B5EF4-FFF2-40B4-BE49-F238E27FC236}">
                <a16:creationId xmlns:a16="http://schemas.microsoft.com/office/drawing/2014/main" id="{06A3A105-52F7-4B76-BBDA-4B3C8FD31C5F}"/>
              </a:ext>
            </a:extLst>
          </p:cNvPr>
          <p:cNvSpPr txBox="1"/>
          <p:nvPr/>
        </p:nvSpPr>
        <p:spPr>
          <a:xfrm>
            <a:off x="3644972" y="4490016"/>
            <a:ext cx="773464" cy="187360"/>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000" b="1" i="0" u="none" strike="noStrike" kern="1200" cap="none" spc="0" normalizeH="0" baseline="0" noProof="0" dirty="0">
                <a:ln>
                  <a:noFill/>
                </a:ln>
                <a:solidFill>
                  <a:srgbClr val="002060"/>
                </a:solidFill>
                <a:effectLst/>
                <a:uLnTx/>
                <a:uFillTx/>
                <a:latin typeface="Verdana"/>
                <a:ea typeface="+mn-ea"/>
                <a:cs typeface="+mn-cs"/>
              </a:rPr>
              <a:t>Partner</a:t>
            </a:r>
          </a:p>
        </p:txBody>
      </p:sp>
      <p:sp>
        <p:nvSpPr>
          <p:cNvPr id="47" name="TextBox 46">
            <a:extLst>
              <a:ext uri="{FF2B5EF4-FFF2-40B4-BE49-F238E27FC236}">
                <a16:creationId xmlns:a16="http://schemas.microsoft.com/office/drawing/2014/main" id="{71012516-6B3B-4E31-B93A-07CC06535C40}"/>
              </a:ext>
            </a:extLst>
          </p:cNvPr>
          <p:cNvSpPr txBox="1"/>
          <p:nvPr/>
        </p:nvSpPr>
        <p:spPr>
          <a:xfrm>
            <a:off x="9427224" y="5438775"/>
            <a:ext cx="1079260" cy="299079"/>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400" b="1" i="0" u="none" strike="noStrike" kern="1200" cap="none" spc="0" normalizeH="0" baseline="0" noProof="0" dirty="0">
                <a:ln>
                  <a:noFill/>
                </a:ln>
                <a:solidFill>
                  <a:srgbClr val="002060"/>
                </a:solidFill>
                <a:effectLst/>
                <a:uLnTx/>
                <a:uFillTx/>
                <a:latin typeface="Verdana"/>
                <a:ea typeface="+mn-ea"/>
                <a:cs typeface="+mn-cs"/>
              </a:rPr>
              <a:t>On-site</a:t>
            </a:r>
          </a:p>
        </p:txBody>
      </p:sp>
      <p:sp>
        <p:nvSpPr>
          <p:cNvPr id="48" name="TextBox 47">
            <a:extLst>
              <a:ext uri="{FF2B5EF4-FFF2-40B4-BE49-F238E27FC236}">
                <a16:creationId xmlns:a16="http://schemas.microsoft.com/office/drawing/2014/main" id="{FB974C63-9D0D-4A1F-94B6-39E9D431EF40}"/>
              </a:ext>
            </a:extLst>
          </p:cNvPr>
          <p:cNvSpPr txBox="1"/>
          <p:nvPr/>
        </p:nvSpPr>
        <p:spPr>
          <a:xfrm>
            <a:off x="7378289" y="5438775"/>
            <a:ext cx="1079260" cy="299079"/>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400" b="1" i="0" u="none" strike="noStrike" kern="1200" cap="none" spc="0" normalizeH="0" baseline="0" noProof="0" dirty="0">
                <a:ln>
                  <a:noFill/>
                </a:ln>
                <a:solidFill>
                  <a:srgbClr val="002060"/>
                </a:solidFill>
                <a:effectLst/>
                <a:uLnTx/>
                <a:uFillTx/>
                <a:latin typeface="Verdana"/>
                <a:ea typeface="+mn-ea"/>
                <a:cs typeface="+mn-cs"/>
              </a:rPr>
              <a:t>Remote</a:t>
            </a:r>
          </a:p>
        </p:txBody>
      </p:sp>
      <p:pic>
        <p:nvPicPr>
          <p:cNvPr id="52" name="Graphic 51">
            <a:extLst>
              <a:ext uri="{FF2B5EF4-FFF2-40B4-BE49-F238E27FC236}">
                <a16:creationId xmlns:a16="http://schemas.microsoft.com/office/drawing/2014/main" id="{25A39B0C-8B0A-40FB-A564-1950B902CC03}"/>
              </a:ext>
            </a:extLst>
          </p:cNvPr>
          <p:cNvPicPr>
            <a:picLocks noChangeAspect="1"/>
          </p:cNvPicPr>
          <p:nvPr/>
        </p:nvPicPr>
        <p:blipFill rotWithShape="1">
          <a:blip r:embed="rId13">
            <a:extLst>
              <a:ext uri="{96DAC541-7B7A-43D3-8B79-37D633B846F1}">
                <asvg:svgBlip xmlns:asvg="http://schemas.microsoft.com/office/drawing/2016/SVG/main" r:embed="rId14"/>
              </a:ext>
            </a:extLst>
          </a:blip>
          <a:srcRect b="25834"/>
          <a:stretch/>
        </p:blipFill>
        <p:spPr>
          <a:xfrm>
            <a:off x="7467262" y="4677376"/>
            <a:ext cx="855376" cy="793005"/>
          </a:xfrm>
          <a:prstGeom prst="rect">
            <a:avLst/>
          </a:prstGeom>
        </p:spPr>
      </p:pic>
      <p:pic>
        <p:nvPicPr>
          <p:cNvPr id="54" name="Graphic 53">
            <a:extLst>
              <a:ext uri="{FF2B5EF4-FFF2-40B4-BE49-F238E27FC236}">
                <a16:creationId xmlns:a16="http://schemas.microsoft.com/office/drawing/2014/main" id="{6DD4CFED-6248-494E-9393-EC105DE95318}"/>
              </a:ext>
            </a:extLst>
          </p:cNvPr>
          <p:cNvPicPr>
            <a:picLocks noChangeAspect="1"/>
          </p:cNvPicPr>
          <p:nvPr/>
        </p:nvPicPr>
        <p:blipFill rotWithShape="1">
          <a:blip r:embed="rId15">
            <a:extLst>
              <a:ext uri="{96DAC541-7B7A-43D3-8B79-37D633B846F1}">
                <asvg:svgBlip xmlns:asvg="http://schemas.microsoft.com/office/drawing/2016/SVG/main" r:embed="rId16"/>
              </a:ext>
            </a:extLst>
          </a:blip>
          <a:srcRect b="20404"/>
          <a:stretch/>
        </p:blipFill>
        <p:spPr>
          <a:xfrm>
            <a:off x="9539165" y="4614764"/>
            <a:ext cx="855376" cy="841052"/>
          </a:xfrm>
          <a:prstGeom prst="rect">
            <a:avLst/>
          </a:prstGeom>
        </p:spPr>
      </p:pic>
      <p:sp>
        <p:nvSpPr>
          <p:cNvPr id="4" name="Rectangle 3">
            <a:extLst>
              <a:ext uri="{FF2B5EF4-FFF2-40B4-BE49-F238E27FC236}">
                <a16:creationId xmlns:a16="http://schemas.microsoft.com/office/drawing/2014/main" id="{0A6B3BF1-1047-5037-CC13-1E46294241B2}"/>
              </a:ext>
            </a:extLst>
          </p:cNvPr>
          <p:cNvSpPr/>
          <p:nvPr/>
        </p:nvSpPr>
        <p:spPr>
          <a:xfrm>
            <a:off x="121920" y="6400800"/>
            <a:ext cx="1787562"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5" name="Picture 2">
            <a:extLst>
              <a:ext uri="{FF2B5EF4-FFF2-40B4-BE49-F238E27FC236}">
                <a16:creationId xmlns:a16="http://schemas.microsoft.com/office/drawing/2014/main" id="{4232E8CA-F31A-C12A-C362-A292D0926874}"/>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1">
            <a:extLst>
              <a:ext uri="{FF2B5EF4-FFF2-40B4-BE49-F238E27FC236}">
                <a16:creationId xmlns:a16="http://schemas.microsoft.com/office/drawing/2014/main" id="{86293CE0-5E33-8DB4-8CF2-3F0B5DAC8737}"/>
              </a:ext>
            </a:extLst>
          </p:cNvPr>
          <p:cNvSpPr/>
          <p:nvPr/>
        </p:nvSpPr>
        <p:spPr>
          <a:xfrm>
            <a:off x="9140327" y="368300"/>
            <a:ext cx="2680198" cy="485776"/>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17">
                  <a:extLst>
                    <a:ext uri="{A12FA001-AC4F-418D-AE19-62706E023703}">
                      <ahyp:hlinkClr xmlns:ahyp="http://schemas.microsoft.com/office/drawing/2018/hyperlinkcolor" val="tx"/>
                    </a:ext>
                  </a:extLst>
                </a:hlinkClick>
              </a:rPr>
              <a:t>Find a consultant now</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1000753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17F099A-F537-4B6A-9C76-E61610A6C5E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01" imgH="398" progId="TCLayout.ActiveDocument.1">
                  <p:embed/>
                </p:oleObj>
              </mc:Choice>
              <mc:Fallback>
                <p:oleObj name="Diapositiva de think-cell" r:id="rId3" imgW="401" imgH="398" progId="TCLayout.ActiveDocument.1">
                  <p:embed/>
                  <p:pic>
                    <p:nvPicPr>
                      <p:cNvPr id="7" name="Object 6" hidden="1">
                        <a:extLst>
                          <a:ext uri="{FF2B5EF4-FFF2-40B4-BE49-F238E27FC236}">
                            <a16:creationId xmlns:a16="http://schemas.microsoft.com/office/drawing/2014/main" id="{217F099A-F537-4B6A-9C76-E61610A6C5E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Rounded Corners 4">
            <a:extLst>
              <a:ext uri="{FF2B5EF4-FFF2-40B4-BE49-F238E27FC236}">
                <a16:creationId xmlns:a16="http://schemas.microsoft.com/office/drawing/2014/main" id="{B8DBB4B6-1BE5-22FE-9565-D60C65FBE8D1}"/>
              </a:ext>
            </a:extLst>
          </p:cNvPr>
          <p:cNvSpPr/>
          <p:nvPr/>
        </p:nvSpPr>
        <p:spPr>
          <a:xfrm>
            <a:off x="9140326" y="363307"/>
            <a:ext cx="2680198" cy="485776"/>
          </a:xfrm>
          <a:prstGeom prst="roundRect">
            <a:avLst>
              <a:gd name="adj" fmla="val 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5">
                  <a:extLst>
                    <a:ext uri="{A12FA001-AC4F-418D-AE19-62706E023703}">
                      <ahyp:hlinkClr xmlns:ahyp="http://schemas.microsoft.com/office/drawing/2018/hyperlinkcolor" val="tx"/>
                    </a:ext>
                  </a:extLst>
                </a:hlinkClick>
              </a:rPr>
              <a:t>Join our community</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
        <p:nvSpPr>
          <p:cNvPr id="12" name="Rectángulo 9">
            <a:extLst>
              <a:ext uri="{FF2B5EF4-FFF2-40B4-BE49-F238E27FC236}">
                <a16:creationId xmlns:a16="http://schemas.microsoft.com/office/drawing/2014/main" id="{582AE587-4550-4390-9492-1BEFD39D2CDE}"/>
              </a:ext>
            </a:extLst>
          </p:cNvPr>
          <p:cNvSpPr/>
          <p:nvPr/>
        </p:nvSpPr>
        <p:spPr>
          <a:xfrm>
            <a:off x="384174" y="1520825"/>
            <a:ext cx="11449050" cy="47878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marL="0" marR="0" lvl="0" indent="0" algn="ctr" defTabSz="228554"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2060"/>
                </a:solidFill>
                <a:effectLst/>
                <a:uLnTx/>
                <a:uFillTx/>
                <a:latin typeface="Verdana" panose="020B0604030504040204" pitchFamily="34" charset="0"/>
                <a:ea typeface="Verdana" panose="020B0604030504040204" pitchFamily="34" charset="0"/>
                <a:cs typeface="+mn-cs"/>
                <a:sym typeface="Verdana" panose="020B0604030504040204" pitchFamily="34" charset="0"/>
              </a:rPr>
              <a:t>We create opportunities for our members to meet,</a:t>
            </a:r>
          </a:p>
          <a:p>
            <a:pPr marL="0" marR="0" lvl="0" indent="0" algn="ctr" defTabSz="228554"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2060"/>
                </a:solidFill>
                <a:effectLst/>
                <a:uLnTx/>
                <a:uFillTx/>
                <a:latin typeface="Verdana" panose="020B0604030504040204" pitchFamily="34" charset="0"/>
                <a:ea typeface="Verdana" panose="020B0604030504040204" pitchFamily="34" charset="0"/>
                <a:cs typeface="+mn-cs"/>
                <a:sym typeface="Verdana" panose="020B0604030504040204" pitchFamily="34" charset="0"/>
              </a:rPr>
              <a:t>build relationships, share lessons learned, and collaborate</a:t>
            </a:r>
          </a:p>
        </p:txBody>
      </p:sp>
      <p:sp>
        <p:nvSpPr>
          <p:cNvPr id="3" name="Title 2">
            <a:extLst>
              <a:ext uri="{FF2B5EF4-FFF2-40B4-BE49-F238E27FC236}">
                <a16:creationId xmlns:a16="http://schemas.microsoft.com/office/drawing/2014/main" id="{F545842F-05C9-41CF-B1B6-7BC0A58FD964}"/>
              </a:ext>
            </a:extLst>
          </p:cNvPr>
          <p:cNvSpPr>
            <a:spLocks noGrp="1"/>
          </p:cNvSpPr>
          <p:nvPr>
            <p:ph type="title"/>
          </p:nvPr>
        </p:nvSpPr>
        <p:spPr>
          <a:xfrm>
            <a:off x="384175" y="381000"/>
            <a:ext cx="8331242" cy="485775"/>
          </a:xfrm>
        </p:spPr>
        <p:txBody>
          <a:bodyPr vert="horz"/>
          <a:lstStyle/>
          <a:p>
            <a:r>
              <a:rPr lang="en-US" dirty="0" err="1"/>
              <a:t>Umbrex</a:t>
            </a:r>
            <a:r>
              <a:rPr lang="en-US" dirty="0"/>
              <a:t> connects you with a community of other top-tier independent consultants</a:t>
            </a:r>
          </a:p>
        </p:txBody>
      </p:sp>
      <p:pic>
        <p:nvPicPr>
          <p:cNvPr id="8" name="Picture 2">
            <a:extLst>
              <a:ext uri="{FF2B5EF4-FFF2-40B4-BE49-F238E27FC236}">
                <a16:creationId xmlns:a16="http://schemas.microsoft.com/office/drawing/2014/main" id="{18626E2C-F879-4A0D-A911-B6C6FCBAA170}"/>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pic>
        <p:nvPicPr>
          <p:cNvPr id="14" name="Graphic 13">
            <a:extLst>
              <a:ext uri="{FF2B5EF4-FFF2-40B4-BE49-F238E27FC236}">
                <a16:creationId xmlns:a16="http://schemas.microsoft.com/office/drawing/2014/main" id="{2E1E653C-A8D0-48E1-948F-D61B47E7E5A7}"/>
              </a:ext>
            </a:extLst>
          </p:cNvPr>
          <p:cNvPicPr>
            <a:picLocks noChangeAspect="1"/>
          </p:cNvPicPr>
          <p:nvPr/>
        </p:nvPicPr>
        <p:blipFill rotWithShape="1">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rcRect b="18609"/>
          <a:stretch/>
        </p:blipFill>
        <p:spPr>
          <a:xfrm>
            <a:off x="1803524" y="2846854"/>
            <a:ext cx="847476" cy="689772"/>
          </a:xfrm>
          <a:prstGeom prst="rect">
            <a:avLst/>
          </a:prstGeom>
        </p:spPr>
      </p:pic>
      <p:sp>
        <p:nvSpPr>
          <p:cNvPr id="15" name="TextBox 14">
            <a:extLst>
              <a:ext uri="{FF2B5EF4-FFF2-40B4-BE49-F238E27FC236}">
                <a16:creationId xmlns:a16="http://schemas.microsoft.com/office/drawing/2014/main" id="{7CFCBE2A-5736-4B24-BF9C-16718D40943C}"/>
              </a:ext>
            </a:extLst>
          </p:cNvPr>
          <p:cNvSpPr txBox="1"/>
          <p:nvPr/>
        </p:nvSpPr>
        <p:spPr>
          <a:xfrm>
            <a:off x="6926373" y="5277236"/>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Free access to resources</a:t>
            </a:r>
          </a:p>
        </p:txBody>
      </p:sp>
      <p:sp>
        <p:nvSpPr>
          <p:cNvPr id="17" name="TextBox 16">
            <a:extLst>
              <a:ext uri="{FF2B5EF4-FFF2-40B4-BE49-F238E27FC236}">
                <a16:creationId xmlns:a16="http://schemas.microsoft.com/office/drawing/2014/main" id="{5AF6DC2A-6C0D-4EDC-AD60-9DB7AF97A2CC}"/>
              </a:ext>
            </a:extLst>
          </p:cNvPr>
          <p:cNvSpPr txBox="1"/>
          <p:nvPr/>
        </p:nvSpPr>
        <p:spPr>
          <a:xfrm>
            <a:off x="2684353" y="5277236"/>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Mastermind Groups</a:t>
            </a:r>
          </a:p>
        </p:txBody>
      </p:sp>
      <p:sp>
        <p:nvSpPr>
          <p:cNvPr id="16" name="TextBox 15">
            <a:extLst>
              <a:ext uri="{FF2B5EF4-FFF2-40B4-BE49-F238E27FC236}">
                <a16:creationId xmlns:a16="http://schemas.microsoft.com/office/drawing/2014/main" id="{A9C02814-A9A3-4C97-BB88-243DD3ECDA4E}"/>
              </a:ext>
            </a:extLst>
          </p:cNvPr>
          <p:cNvSpPr txBox="1"/>
          <p:nvPr/>
        </p:nvSpPr>
        <p:spPr>
          <a:xfrm>
            <a:off x="895310" y="3710829"/>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In-person events</a:t>
            </a:r>
          </a:p>
        </p:txBody>
      </p:sp>
      <p:sp>
        <p:nvSpPr>
          <p:cNvPr id="18" name="TextBox 17">
            <a:extLst>
              <a:ext uri="{FF2B5EF4-FFF2-40B4-BE49-F238E27FC236}">
                <a16:creationId xmlns:a16="http://schemas.microsoft.com/office/drawing/2014/main" id="{87B07003-8AB8-4404-A323-7111E1A3007D}"/>
              </a:ext>
            </a:extLst>
          </p:cNvPr>
          <p:cNvSpPr txBox="1"/>
          <p:nvPr/>
        </p:nvSpPr>
        <p:spPr>
          <a:xfrm>
            <a:off x="8715416" y="3710829"/>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Private online forum</a:t>
            </a:r>
          </a:p>
        </p:txBody>
      </p:sp>
      <p:sp>
        <p:nvSpPr>
          <p:cNvPr id="19" name="TextBox 18">
            <a:extLst>
              <a:ext uri="{FF2B5EF4-FFF2-40B4-BE49-F238E27FC236}">
                <a16:creationId xmlns:a16="http://schemas.microsoft.com/office/drawing/2014/main" id="{81431F3A-5AE0-4B99-8F46-542772C75A08}"/>
              </a:ext>
            </a:extLst>
          </p:cNvPr>
          <p:cNvSpPr txBox="1"/>
          <p:nvPr/>
        </p:nvSpPr>
        <p:spPr>
          <a:xfrm>
            <a:off x="4805363" y="3710829"/>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Online events</a:t>
            </a:r>
          </a:p>
        </p:txBody>
      </p:sp>
      <p:pic>
        <p:nvPicPr>
          <p:cNvPr id="24" name="Graphic 23">
            <a:extLst>
              <a:ext uri="{FF2B5EF4-FFF2-40B4-BE49-F238E27FC236}">
                <a16:creationId xmlns:a16="http://schemas.microsoft.com/office/drawing/2014/main" id="{CCEFEA56-5BCA-4E8F-B146-A536CC02A122}"/>
              </a:ext>
            </a:extLst>
          </p:cNvPr>
          <p:cNvPicPr>
            <a:picLocks noChangeAspect="1"/>
          </p:cNvPicPr>
          <p:nvPr/>
        </p:nvPicPr>
        <p:blipFill rotWithShape="1">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rcRect b="24174"/>
          <a:stretch/>
        </p:blipFill>
        <p:spPr>
          <a:xfrm>
            <a:off x="5640221" y="2846140"/>
            <a:ext cx="911559" cy="691200"/>
          </a:xfrm>
          <a:prstGeom prst="rect">
            <a:avLst/>
          </a:prstGeom>
        </p:spPr>
      </p:pic>
      <p:pic>
        <p:nvPicPr>
          <p:cNvPr id="30" name="Graphic 29">
            <a:extLst>
              <a:ext uri="{FF2B5EF4-FFF2-40B4-BE49-F238E27FC236}">
                <a16:creationId xmlns:a16="http://schemas.microsoft.com/office/drawing/2014/main" id="{7647EC8D-E11F-4288-BE52-FEC5135036E3}"/>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660453" y="2846140"/>
            <a:ext cx="691200" cy="691200"/>
          </a:xfrm>
          <a:prstGeom prst="rect">
            <a:avLst/>
          </a:prstGeom>
        </p:spPr>
      </p:pic>
      <p:pic>
        <p:nvPicPr>
          <p:cNvPr id="32" name="Graphic 31">
            <a:extLst>
              <a:ext uri="{FF2B5EF4-FFF2-40B4-BE49-F238E27FC236}">
                <a16:creationId xmlns:a16="http://schemas.microsoft.com/office/drawing/2014/main" id="{802C6A3A-922C-4ECD-9E32-764EF5F31895}"/>
              </a:ext>
            </a:extLst>
          </p:cNvPr>
          <p:cNvPicPr>
            <a:picLocks noChangeAspect="1"/>
          </p:cNvPicPr>
          <p:nvPr/>
        </p:nvPicPr>
        <p:blipFill rotWithShape="1">
          <a:blip r:embed="rId13" cstate="email">
            <a:extLst>
              <a:ext uri="{28A0092B-C50C-407E-A947-70E740481C1C}">
                <a14:useLocalDpi xmlns:a14="http://schemas.microsoft.com/office/drawing/2010/main"/>
              </a:ext>
              <a:ext uri="{96DAC541-7B7A-43D3-8B79-37D633B846F1}">
                <asvg:svgBlip xmlns:asvg="http://schemas.microsoft.com/office/drawing/2016/SVG/main" r:embed="rId14"/>
              </a:ext>
            </a:extLst>
          </a:blip>
          <a:srcRect b="27594"/>
          <a:stretch/>
        </p:blipFill>
        <p:spPr>
          <a:xfrm>
            <a:off x="3497680" y="4481524"/>
            <a:ext cx="954620" cy="691200"/>
          </a:xfrm>
          <a:prstGeom prst="rect">
            <a:avLst/>
          </a:prstGeom>
        </p:spPr>
      </p:pic>
      <p:pic>
        <p:nvPicPr>
          <p:cNvPr id="34" name="Graphic 33">
            <a:extLst>
              <a:ext uri="{FF2B5EF4-FFF2-40B4-BE49-F238E27FC236}">
                <a16:creationId xmlns:a16="http://schemas.microsoft.com/office/drawing/2014/main" id="{1293861B-7E3F-4241-83FE-C8FD29EFCDC1}"/>
              </a:ext>
            </a:extLst>
          </p:cNvPr>
          <p:cNvPicPr>
            <a:picLocks noChangeAspect="1"/>
          </p:cNvPicPr>
          <p:nvPr/>
        </p:nvPicPr>
        <p:blipFill rotWithShape="1">
          <a:blip r:embed="rId15" cstate="email">
            <a:extLst>
              <a:ext uri="{28A0092B-C50C-407E-A947-70E740481C1C}">
                <a14:useLocalDpi xmlns:a14="http://schemas.microsoft.com/office/drawing/2010/main"/>
              </a:ext>
              <a:ext uri="{96DAC541-7B7A-43D3-8B79-37D633B846F1}">
                <asvg:svgBlip xmlns:asvg="http://schemas.microsoft.com/office/drawing/2016/SVG/main" r:embed="rId16"/>
              </a:ext>
            </a:extLst>
          </a:blip>
          <a:srcRect b="18319"/>
          <a:stretch/>
        </p:blipFill>
        <p:spPr>
          <a:xfrm>
            <a:off x="7793902" y="4481524"/>
            <a:ext cx="846217" cy="691200"/>
          </a:xfrm>
          <a:prstGeom prst="rect">
            <a:avLst/>
          </a:prstGeom>
        </p:spPr>
      </p:pic>
      <p:cxnSp>
        <p:nvCxnSpPr>
          <p:cNvPr id="35" name="Straight Connector 34">
            <a:extLst>
              <a:ext uri="{FF2B5EF4-FFF2-40B4-BE49-F238E27FC236}">
                <a16:creationId xmlns:a16="http://schemas.microsoft.com/office/drawing/2014/main" id="{A766EC68-224E-4F72-A4F3-1F1EDD44945D}"/>
              </a:ext>
            </a:extLst>
          </p:cNvPr>
          <p:cNvCxnSpPr/>
          <p:nvPr/>
        </p:nvCxnSpPr>
        <p:spPr>
          <a:xfrm>
            <a:off x="618067" y="4365413"/>
            <a:ext cx="1083733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AB24472-9348-4EF3-9DAA-BC8137AE253A}"/>
              </a:ext>
            </a:extLst>
          </p:cNvPr>
          <p:cNvCxnSpPr/>
          <p:nvPr/>
        </p:nvCxnSpPr>
        <p:spPr>
          <a:xfrm>
            <a:off x="8051027" y="2438400"/>
            <a:ext cx="0" cy="148166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5678644-CA98-4A01-978E-C07B9F666867}"/>
              </a:ext>
            </a:extLst>
          </p:cNvPr>
          <p:cNvCxnSpPr/>
          <p:nvPr/>
        </p:nvCxnSpPr>
        <p:spPr>
          <a:xfrm>
            <a:off x="4140974" y="2438400"/>
            <a:ext cx="0" cy="148166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B7FC9F8-7EC2-44CA-80CF-DB7B0C6CE4B7}"/>
              </a:ext>
            </a:extLst>
          </p:cNvPr>
          <p:cNvCxnSpPr/>
          <p:nvPr/>
        </p:nvCxnSpPr>
        <p:spPr>
          <a:xfrm>
            <a:off x="6096000" y="4683760"/>
            <a:ext cx="0" cy="1481667"/>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E6676F8A-A04A-D7D2-00E9-B1A11FD804FF}"/>
              </a:ext>
            </a:extLst>
          </p:cNvPr>
          <p:cNvSpPr/>
          <p:nvPr/>
        </p:nvSpPr>
        <p:spPr>
          <a:xfrm>
            <a:off x="121920" y="6400800"/>
            <a:ext cx="1787562"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4" name="Picture 2">
            <a:extLst>
              <a:ext uri="{FF2B5EF4-FFF2-40B4-BE49-F238E27FC236}">
                <a16:creationId xmlns:a16="http://schemas.microsoft.com/office/drawing/2014/main" id="{64AE205B-F279-4875-45C3-755BF419CBD9}"/>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556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217908A6-B554-106D-5A79-472829C977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7" name="Objeto 6" hidden="1">
                        <a:extLst>
                          <a:ext uri="{FF2B5EF4-FFF2-40B4-BE49-F238E27FC236}">
                            <a16:creationId xmlns:a16="http://schemas.microsoft.com/office/drawing/2014/main" id="{217908A6-B554-106D-5A79-472829C9778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ángulo 9">
            <a:extLst>
              <a:ext uri="{FF2B5EF4-FFF2-40B4-BE49-F238E27FC236}">
                <a16:creationId xmlns:a16="http://schemas.microsoft.com/office/drawing/2014/main" id="{1A1C8E4D-2A64-E885-F82C-23CC38561BAF}"/>
              </a:ext>
            </a:extLst>
          </p:cNvPr>
          <p:cNvSpPr/>
          <p:nvPr/>
        </p:nvSpPr>
        <p:spPr>
          <a:xfrm>
            <a:off x="371474" y="1520825"/>
            <a:ext cx="11449051" cy="4787899"/>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marL="0" marR="0" lvl="0" indent="0" algn="ctr" defTabSz="228600" rtl="0" eaLnBrk="1" fontAlgn="auto" latinLnBrk="0" hangingPunct="1">
              <a:lnSpc>
                <a:spcPct val="100000"/>
              </a:lnSpc>
              <a:spcBef>
                <a:spcPts val="0"/>
              </a:spcBef>
              <a:spcAft>
                <a:spcPts val="1200"/>
              </a:spcAft>
              <a:buClrTx/>
              <a:buSzTx/>
              <a:buFontTx/>
              <a:buNone/>
              <a:tabLst/>
              <a:defRPr/>
            </a:pPr>
            <a:endParaRPr kumimoji="0" lang="en-US" sz="1400" b="0" i="0" u="none" strike="noStrike" kern="1200" cap="none" spc="0" normalizeH="0" baseline="0" noProof="0" dirty="0">
              <a:ln>
                <a:noFill/>
              </a:ln>
              <a:solidFill>
                <a:srgbClr val="16207B"/>
              </a:solidFill>
              <a:effectLst/>
              <a:uLnTx/>
              <a:uFillTx/>
              <a:latin typeface="Verdana"/>
              <a:ea typeface="+mn-ea"/>
              <a:cs typeface="+mn-cs"/>
            </a:endParaRPr>
          </a:p>
        </p:txBody>
      </p:sp>
      <p:sp>
        <p:nvSpPr>
          <p:cNvPr id="14" name="Text Placeholder 13">
            <a:extLst>
              <a:ext uri="{FF2B5EF4-FFF2-40B4-BE49-F238E27FC236}">
                <a16:creationId xmlns:a16="http://schemas.microsoft.com/office/drawing/2014/main" id="{4DB6E595-15D9-453D-A1DF-3E8CBAA07BA6}"/>
              </a:ext>
            </a:extLst>
          </p:cNvPr>
          <p:cNvSpPr>
            <a:spLocks noGrp="1"/>
          </p:cNvSpPr>
          <p:nvPr>
            <p:ph type="body" sz="quarter" idx="14"/>
          </p:nvPr>
        </p:nvSpPr>
        <p:spPr>
          <a:xfrm>
            <a:off x="385762" y="802298"/>
            <a:ext cx="6980238" cy="576263"/>
          </a:xfrm>
        </p:spPr>
        <p:txBody>
          <a:bodyPr/>
          <a:lstStyle/>
          <a:p>
            <a:r>
              <a:rPr lang="en-US" dirty="0">
                <a:solidFill>
                  <a:srgbClr val="002060"/>
                </a:solidFill>
              </a:rPr>
              <a:t>Independent consultants available where you need them – in every global region</a:t>
            </a:r>
          </a:p>
          <a:p>
            <a:endParaRPr lang="en-US" dirty="0"/>
          </a:p>
        </p:txBody>
      </p:sp>
      <p:sp>
        <p:nvSpPr>
          <p:cNvPr id="3" name="Título 2">
            <a:extLst>
              <a:ext uri="{FF2B5EF4-FFF2-40B4-BE49-F238E27FC236}">
                <a16:creationId xmlns:a16="http://schemas.microsoft.com/office/drawing/2014/main" id="{D7435808-EB66-DC46-966C-AB37B312760F}"/>
              </a:ext>
            </a:extLst>
          </p:cNvPr>
          <p:cNvSpPr>
            <a:spLocks noGrp="1"/>
          </p:cNvSpPr>
          <p:nvPr>
            <p:ph type="title"/>
          </p:nvPr>
        </p:nvSpPr>
        <p:spPr/>
        <p:txBody>
          <a:bodyPr/>
          <a:lstStyle/>
          <a:p>
            <a:r>
              <a:rPr lang="en-US" dirty="0"/>
              <a:t>You're global and local - </a:t>
            </a:r>
            <a:r>
              <a:rPr lang="en-US" dirty="0" err="1"/>
              <a:t>Umbrex</a:t>
            </a:r>
            <a:r>
              <a:rPr lang="en-US" dirty="0"/>
              <a:t> is, too</a:t>
            </a:r>
          </a:p>
        </p:txBody>
      </p:sp>
      <p:pic>
        <p:nvPicPr>
          <p:cNvPr id="9" name="Imagen 8" descr="Mapa&#10;&#10;Descripción generada automáticamente">
            <a:extLst>
              <a:ext uri="{FF2B5EF4-FFF2-40B4-BE49-F238E27FC236}">
                <a16:creationId xmlns:a16="http://schemas.microsoft.com/office/drawing/2014/main" id="{A028C2B8-2E99-9346-E132-D879F7C935DD}"/>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t="27938" b="5673"/>
          <a:stretch/>
        </p:blipFill>
        <p:spPr>
          <a:xfrm>
            <a:off x="2273022" y="2119156"/>
            <a:ext cx="7645954" cy="4029224"/>
          </a:xfrm>
          <a:prstGeom prst="rect">
            <a:avLst/>
          </a:prstGeom>
        </p:spPr>
      </p:pic>
      <p:pic>
        <p:nvPicPr>
          <p:cNvPr id="8" name="Picture 2">
            <a:extLst>
              <a:ext uri="{FF2B5EF4-FFF2-40B4-BE49-F238E27FC236}">
                <a16:creationId xmlns:a16="http://schemas.microsoft.com/office/drawing/2014/main" id="{FA5ADC04-3293-4F41-9ED2-543D5D684F02}"/>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DDDB86A-7A0A-0DEB-519A-AB0C162CB898}"/>
              </a:ext>
            </a:extLst>
          </p:cNvPr>
          <p:cNvSpPr/>
          <p:nvPr/>
        </p:nvSpPr>
        <p:spPr>
          <a:xfrm>
            <a:off x="121919" y="6400800"/>
            <a:ext cx="1796527"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4" name="Picture 2">
            <a:extLst>
              <a:ext uri="{FF2B5EF4-FFF2-40B4-BE49-F238E27FC236}">
                <a16:creationId xmlns:a16="http://schemas.microsoft.com/office/drawing/2014/main" id="{B2481A89-A3D4-AD12-1202-DBFE44156532}"/>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Rounded Corners 11">
            <a:extLst>
              <a:ext uri="{FF2B5EF4-FFF2-40B4-BE49-F238E27FC236}">
                <a16:creationId xmlns:a16="http://schemas.microsoft.com/office/drawing/2014/main" id="{0F6FE987-1D97-FC43-B093-9F60F4C3AE5A}"/>
              </a:ext>
            </a:extLst>
          </p:cNvPr>
          <p:cNvSpPr/>
          <p:nvPr/>
        </p:nvSpPr>
        <p:spPr>
          <a:xfrm>
            <a:off x="9140327" y="368300"/>
            <a:ext cx="2680198" cy="485776"/>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7">
                  <a:extLst>
                    <a:ext uri="{A12FA001-AC4F-418D-AE19-62706E023703}">
                      <ahyp:hlinkClr xmlns:ahyp="http://schemas.microsoft.com/office/drawing/2018/hyperlinkcolor" val="tx"/>
                    </a:ext>
                  </a:extLst>
                </a:hlinkClick>
              </a:rPr>
              <a:t>Find a consultant now</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1447887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9F7B1401-5724-33A7-1E2C-50D196A6C8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7" name="Objeto 6" hidden="1">
                        <a:extLst>
                          <a:ext uri="{FF2B5EF4-FFF2-40B4-BE49-F238E27FC236}">
                            <a16:creationId xmlns:a16="http://schemas.microsoft.com/office/drawing/2014/main" id="{9F7B1401-5724-33A7-1E2C-50D196A6C8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7D54399B-1119-17D7-3AAB-9D207264DC5E}"/>
              </a:ext>
            </a:extLst>
          </p:cNvPr>
          <p:cNvSpPr>
            <a:spLocks noGrp="1"/>
          </p:cNvSpPr>
          <p:nvPr>
            <p:ph type="title"/>
          </p:nvPr>
        </p:nvSpPr>
        <p:spPr>
          <a:xfrm>
            <a:off x="384174" y="381000"/>
            <a:ext cx="11420475" cy="485775"/>
          </a:xfrm>
        </p:spPr>
        <p:txBody>
          <a:bodyPr vert="horz"/>
          <a:lstStyle/>
          <a:p>
            <a:r>
              <a:rPr lang="en-US" dirty="0"/>
              <a:t>Umbrex thought leadership</a:t>
            </a:r>
          </a:p>
        </p:txBody>
      </p:sp>
      <p:pic>
        <p:nvPicPr>
          <p:cNvPr id="8" name="Picture 2">
            <a:extLst>
              <a:ext uri="{FF2B5EF4-FFF2-40B4-BE49-F238E27FC236}">
                <a16:creationId xmlns:a16="http://schemas.microsoft.com/office/drawing/2014/main" id="{DE999187-725F-4C30-BA96-0AAC013838A2}"/>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9">
            <a:extLst>
              <a:ext uri="{FF2B5EF4-FFF2-40B4-BE49-F238E27FC236}">
                <a16:creationId xmlns:a16="http://schemas.microsoft.com/office/drawing/2014/main" id="{D4925962-25FE-49FC-8F0E-BACABCC6D490}"/>
              </a:ext>
            </a:extLst>
          </p:cNvPr>
          <p:cNvSpPr/>
          <p:nvPr/>
        </p:nvSpPr>
        <p:spPr>
          <a:xfrm>
            <a:off x="371475" y="1217098"/>
            <a:ext cx="11449050" cy="42465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endParaRPr kumimoji="0" lang="en-US" sz="1100" b="0"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mn-cs"/>
              <a:sym typeface="Verdana" panose="020B0604030504040204" pitchFamily="34" charset="0"/>
            </a:endParaRPr>
          </a:p>
        </p:txBody>
      </p:sp>
      <p:sp>
        <p:nvSpPr>
          <p:cNvPr id="15" name="TextBox 14">
            <a:extLst>
              <a:ext uri="{FF2B5EF4-FFF2-40B4-BE49-F238E27FC236}">
                <a16:creationId xmlns:a16="http://schemas.microsoft.com/office/drawing/2014/main" id="{A2699F08-A27F-4795-8111-661B24A7B3D6}"/>
              </a:ext>
            </a:extLst>
          </p:cNvPr>
          <p:cNvSpPr txBox="1"/>
          <p:nvPr/>
        </p:nvSpPr>
        <p:spPr>
          <a:xfrm>
            <a:off x="936625" y="2837968"/>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Produce </a:t>
            </a:r>
            <a:r>
              <a:rPr kumimoji="0" lang="en-US" sz="1200" b="1" i="0" u="none" strike="noStrike" kern="1200" cap="none" spc="0" normalizeH="0" baseline="0" noProof="0" dirty="0">
                <a:ln>
                  <a:noFill/>
                </a:ln>
                <a:solidFill>
                  <a:srgbClr val="0A1A49"/>
                </a:solidFill>
                <a:effectLst/>
                <a:uLnTx/>
                <a:uFillTx/>
                <a:latin typeface="Verdana"/>
                <a:ea typeface="+mn-ea"/>
                <a:cs typeface="+mn-cs"/>
              </a:rPr>
              <a:t>Unleashed, </a:t>
            </a:r>
            <a:r>
              <a:rPr kumimoji="0" lang="en-US" sz="1200" b="0" i="0" u="none" strike="noStrike" kern="1200" cap="none" spc="0" normalizeH="0" baseline="0" noProof="0" dirty="0">
                <a:ln>
                  <a:noFill/>
                </a:ln>
                <a:solidFill>
                  <a:srgbClr val="0A1A49"/>
                </a:solidFill>
                <a:effectLst/>
                <a:uLnTx/>
                <a:uFillTx/>
                <a:latin typeface="Verdana"/>
                <a:ea typeface="+mn-ea"/>
                <a:cs typeface="+mn-cs"/>
              </a:rPr>
              <a:t>the leading podcast on how to thrive as an independent professional</a:t>
            </a:r>
          </a:p>
        </p:txBody>
      </p:sp>
      <p:sp>
        <p:nvSpPr>
          <p:cNvPr id="20" name="TextBox 19">
            <a:extLst>
              <a:ext uri="{FF2B5EF4-FFF2-40B4-BE49-F238E27FC236}">
                <a16:creationId xmlns:a16="http://schemas.microsoft.com/office/drawing/2014/main" id="{3ABDDE02-5E14-4F1C-9515-E3E49EE9D197}"/>
              </a:ext>
            </a:extLst>
          </p:cNvPr>
          <p:cNvSpPr txBox="1"/>
          <p:nvPr/>
        </p:nvSpPr>
        <p:spPr>
          <a:xfrm>
            <a:off x="6942138" y="4535751"/>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Managing Partner Will Bachman recognized as a “</a:t>
            </a:r>
            <a:r>
              <a:rPr kumimoji="0" lang="en-US" sz="1200" b="1" i="0" u="none" strike="noStrike" kern="1200" cap="none" spc="0" normalizeH="0" baseline="0" noProof="0" dirty="0">
                <a:ln>
                  <a:noFill/>
                </a:ln>
                <a:solidFill>
                  <a:srgbClr val="0A1A49"/>
                </a:solidFill>
                <a:effectLst/>
                <a:uLnTx/>
                <a:uFillTx/>
                <a:latin typeface="Verdana"/>
                <a:ea typeface="+mn-ea"/>
                <a:cs typeface="+mn-cs"/>
              </a:rPr>
              <a:t>Power Player Consulting” </a:t>
            </a:r>
            <a:r>
              <a:rPr kumimoji="0" lang="en-US" sz="1200" b="0" i="0" u="none" strike="noStrike" kern="1200" cap="none" spc="0" normalizeH="0" baseline="0" noProof="0" dirty="0">
                <a:ln>
                  <a:noFill/>
                </a:ln>
                <a:solidFill>
                  <a:srgbClr val="0A1A49"/>
                </a:solidFill>
                <a:effectLst/>
                <a:uLnTx/>
                <a:uFillTx/>
                <a:latin typeface="Verdana"/>
                <a:ea typeface="+mn-ea"/>
                <a:cs typeface="+mn-cs"/>
              </a:rPr>
              <a:t>by Business Insider</a:t>
            </a:r>
          </a:p>
        </p:txBody>
      </p:sp>
      <p:sp>
        <p:nvSpPr>
          <p:cNvPr id="21" name="TextBox 20">
            <a:extLst>
              <a:ext uri="{FF2B5EF4-FFF2-40B4-BE49-F238E27FC236}">
                <a16:creationId xmlns:a16="http://schemas.microsoft.com/office/drawing/2014/main" id="{C33F0597-CE6E-4BC7-BB85-4B795C2315CB}"/>
              </a:ext>
            </a:extLst>
          </p:cNvPr>
          <p:cNvSpPr txBox="1"/>
          <p:nvPr/>
        </p:nvSpPr>
        <p:spPr>
          <a:xfrm>
            <a:off x="2668588" y="4535751"/>
            <a:ext cx="333692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1" i="0" u="none" strike="noStrike" kern="1200" cap="none" spc="0" normalizeH="0" baseline="0" noProof="0" dirty="0">
                <a:ln>
                  <a:noFill/>
                </a:ln>
                <a:solidFill>
                  <a:srgbClr val="0A1A49"/>
                </a:solidFill>
                <a:effectLst/>
                <a:uLnTx/>
                <a:uFillTx/>
                <a:latin typeface="Verdana"/>
                <a:ea typeface="+mn-ea"/>
                <a:cs typeface="+mn-cs"/>
              </a:rPr>
              <a:t>Invited speaker </a:t>
            </a:r>
            <a:r>
              <a:rPr kumimoji="0" lang="en-US" sz="1200" b="0" i="0" u="none" strike="noStrike" kern="1200" cap="none" spc="0" normalizeH="0" baseline="0" noProof="0" dirty="0">
                <a:ln>
                  <a:noFill/>
                </a:ln>
                <a:solidFill>
                  <a:srgbClr val="0A1A49"/>
                </a:solidFill>
                <a:effectLst/>
                <a:uLnTx/>
                <a:uFillTx/>
                <a:latin typeface="Verdana"/>
                <a:ea typeface="+mn-ea"/>
                <a:cs typeface="+mn-cs"/>
              </a:rPr>
              <a:t>on independent consulting at business schools including Harvard, Wharton, Columbia, and </a:t>
            </a:r>
            <a:r>
              <a:rPr kumimoji="0" lang="en-US" sz="1200" b="0" i="0" u="none" strike="noStrike" kern="1200" cap="none" spc="0" normalizeH="0" baseline="0" noProof="0" dirty="0" err="1">
                <a:ln>
                  <a:noFill/>
                </a:ln>
                <a:solidFill>
                  <a:srgbClr val="0A1A49"/>
                </a:solidFill>
                <a:effectLst/>
                <a:uLnTx/>
                <a:uFillTx/>
                <a:latin typeface="Verdana"/>
                <a:ea typeface="+mn-ea"/>
                <a:cs typeface="+mn-cs"/>
              </a:rPr>
              <a:t>Kellong</a:t>
            </a:r>
            <a:endParaRPr kumimoji="0" lang="en-US" sz="1200" b="1" i="0" u="none" strike="noStrike" kern="1200" cap="none" spc="0" normalizeH="0" baseline="0" noProof="0" dirty="0">
              <a:ln>
                <a:noFill/>
              </a:ln>
              <a:solidFill>
                <a:srgbClr val="0A1A49"/>
              </a:solidFill>
              <a:effectLst/>
              <a:uLnTx/>
              <a:uFillTx/>
              <a:latin typeface="Verdana"/>
              <a:ea typeface="+mn-ea"/>
              <a:cs typeface="+mn-cs"/>
            </a:endParaRPr>
          </a:p>
        </p:txBody>
      </p:sp>
      <p:sp>
        <p:nvSpPr>
          <p:cNvPr id="22" name="TextBox 21">
            <a:extLst>
              <a:ext uri="{FF2B5EF4-FFF2-40B4-BE49-F238E27FC236}">
                <a16:creationId xmlns:a16="http://schemas.microsoft.com/office/drawing/2014/main" id="{08D7B445-11A4-40A2-9F9E-A57EED6917D1}"/>
              </a:ext>
            </a:extLst>
          </p:cNvPr>
          <p:cNvSpPr txBox="1"/>
          <p:nvPr/>
        </p:nvSpPr>
        <p:spPr>
          <a:xfrm>
            <a:off x="8394700" y="2837968"/>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Over 1,000 consultants have used our </a:t>
            </a:r>
            <a:r>
              <a:rPr kumimoji="0" lang="en-US" sz="1200" b="1" i="0" u="none" strike="noStrike" kern="1200" cap="none" spc="0" normalizeH="0" baseline="0" noProof="0" dirty="0">
                <a:ln>
                  <a:noFill/>
                </a:ln>
                <a:solidFill>
                  <a:srgbClr val="0A1A49"/>
                </a:solidFill>
                <a:effectLst/>
                <a:uLnTx/>
                <a:uFillTx/>
                <a:latin typeface="Verdana"/>
                <a:ea typeface="+mn-ea"/>
                <a:cs typeface="+mn-cs"/>
              </a:rPr>
              <a:t>video guide </a:t>
            </a:r>
            <a:r>
              <a:rPr kumimoji="0" lang="en-US" sz="1200" b="0" i="0" u="none" strike="noStrike" kern="1200" cap="none" spc="0" normalizeH="0" baseline="0" noProof="0" dirty="0">
                <a:ln>
                  <a:noFill/>
                </a:ln>
                <a:solidFill>
                  <a:srgbClr val="0A1A49"/>
                </a:solidFill>
                <a:effectLst/>
                <a:uLnTx/>
                <a:uFillTx/>
                <a:latin typeface="Verdana"/>
                <a:ea typeface="+mn-ea"/>
                <a:cs typeface="+mn-cs"/>
              </a:rPr>
              <a:t>to set up their own practice</a:t>
            </a:r>
          </a:p>
        </p:txBody>
      </p:sp>
      <p:sp>
        <p:nvSpPr>
          <p:cNvPr id="23" name="TextBox 22">
            <a:extLst>
              <a:ext uri="{FF2B5EF4-FFF2-40B4-BE49-F238E27FC236}">
                <a16:creationId xmlns:a16="http://schemas.microsoft.com/office/drawing/2014/main" id="{8FE3A791-5677-4DAC-93C3-C177BFB75D23}"/>
              </a:ext>
            </a:extLst>
          </p:cNvPr>
          <p:cNvSpPr txBox="1"/>
          <p:nvPr/>
        </p:nvSpPr>
        <p:spPr>
          <a:xfrm>
            <a:off x="4876800" y="2837968"/>
            <a:ext cx="2581275" cy="30480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0A1A49"/>
                </a:solidFill>
                <a:effectLst/>
                <a:uLnTx/>
                <a:uFillTx/>
                <a:latin typeface="Verdana"/>
                <a:ea typeface="+mn-ea"/>
                <a:cs typeface="+mn-cs"/>
              </a:rPr>
              <a:t>Organized </a:t>
            </a:r>
            <a:r>
              <a:rPr kumimoji="0" lang="en-US" sz="1200" b="1" i="0" u="none" strike="noStrike" kern="1200" cap="none" spc="0" normalizeH="0" baseline="0" noProof="0" dirty="0">
                <a:ln>
                  <a:noFill/>
                </a:ln>
                <a:solidFill>
                  <a:srgbClr val="0A1A49"/>
                </a:solidFill>
                <a:effectLst/>
                <a:uLnTx/>
                <a:uFillTx/>
                <a:latin typeface="Verdana"/>
                <a:ea typeface="+mn-ea"/>
                <a:cs typeface="+mn-cs"/>
              </a:rPr>
              <a:t>over 300 events </a:t>
            </a:r>
            <a:r>
              <a:rPr kumimoji="0" lang="en-US" sz="1200" b="0" i="0" u="none" strike="noStrike" kern="1200" cap="none" spc="0" normalizeH="0" baseline="0" noProof="0" dirty="0">
                <a:ln>
                  <a:noFill/>
                </a:ln>
                <a:solidFill>
                  <a:srgbClr val="0A1A49"/>
                </a:solidFill>
                <a:effectLst/>
                <a:uLnTx/>
                <a:uFillTx/>
                <a:latin typeface="Verdana"/>
                <a:ea typeface="+mn-ea"/>
                <a:cs typeface="+mn-cs"/>
              </a:rPr>
              <a:t>for independent consultants</a:t>
            </a:r>
          </a:p>
        </p:txBody>
      </p:sp>
      <p:pic>
        <p:nvPicPr>
          <p:cNvPr id="24" name="Graphic 23">
            <a:extLst>
              <a:ext uri="{FF2B5EF4-FFF2-40B4-BE49-F238E27FC236}">
                <a16:creationId xmlns:a16="http://schemas.microsoft.com/office/drawing/2014/main" id="{877BFC94-609E-45DD-A1BA-BBA263CCA85A}"/>
              </a:ext>
            </a:extLst>
          </p:cNvPr>
          <p:cNvPicPr>
            <a:picLocks noChangeAspect="1"/>
          </p:cNvPicPr>
          <p:nvPr/>
        </p:nvPicPr>
        <p:blipFill rotWithShape="1">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b="22176"/>
          <a:stretch/>
        </p:blipFill>
        <p:spPr>
          <a:xfrm>
            <a:off x="1764894" y="1970134"/>
            <a:ext cx="924736" cy="719667"/>
          </a:xfrm>
          <a:prstGeom prst="rect">
            <a:avLst/>
          </a:prstGeom>
        </p:spPr>
      </p:pic>
      <p:pic>
        <p:nvPicPr>
          <p:cNvPr id="26" name="Graphic 25">
            <a:extLst>
              <a:ext uri="{FF2B5EF4-FFF2-40B4-BE49-F238E27FC236}">
                <a16:creationId xmlns:a16="http://schemas.microsoft.com/office/drawing/2014/main" id="{D6F53778-E291-4550-B9D9-813F2C3BA486}"/>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5866871" y="2064765"/>
            <a:ext cx="601133" cy="601133"/>
          </a:xfrm>
          <a:prstGeom prst="rect">
            <a:avLst/>
          </a:prstGeom>
        </p:spPr>
      </p:pic>
      <p:pic>
        <p:nvPicPr>
          <p:cNvPr id="28" name="Graphic 27">
            <a:extLst>
              <a:ext uri="{FF2B5EF4-FFF2-40B4-BE49-F238E27FC236}">
                <a16:creationId xmlns:a16="http://schemas.microsoft.com/office/drawing/2014/main" id="{AEA79DB0-87D8-4011-94C7-F628378009A1}"/>
              </a:ext>
            </a:extLst>
          </p:cNvPr>
          <p:cNvPicPr>
            <a:picLocks noChangeAspect="1"/>
          </p:cNvPicPr>
          <p:nvPr/>
        </p:nvPicPr>
        <p:blipFill rotWithShape="1">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rcRect b="25324"/>
          <a:stretch/>
        </p:blipFill>
        <p:spPr>
          <a:xfrm>
            <a:off x="9181802" y="1988562"/>
            <a:ext cx="1007070" cy="752039"/>
          </a:xfrm>
          <a:prstGeom prst="rect">
            <a:avLst/>
          </a:prstGeom>
        </p:spPr>
      </p:pic>
      <p:pic>
        <p:nvPicPr>
          <p:cNvPr id="30" name="Graphic 29">
            <a:extLst>
              <a:ext uri="{FF2B5EF4-FFF2-40B4-BE49-F238E27FC236}">
                <a16:creationId xmlns:a16="http://schemas.microsoft.com/office/drawing/2014/main" id="{1E2132D6-2194-468C-BA72-B9A58055DFC7}"/>
              </a:ext>
            </a:extLst>
          </p:cNvPr>
          <p:cNvPicPr>
            <a:picLocks noChangeAspect="1"/>
          </p:cNvPicPr>
          <p:nvPr/>
        </p:nvPicPr>
        <p:blipFill rotWithShape="1">
          <a:blip r:embed="rId12" cstate="email">
            <a:extLst>
              <a:ext uri="{28A0092B-C50C-407E-A947-70E740481C1C}">
                <a14:useLocalDpi xmlns:a14="http://schemas.microsoft.com/office/drawing/2010/main"/>
              </a:ext>
              <a:ext uri="{96DAC541-7B7A-43D3-8B79-37D633B846F1}">
                <asvg:svgBlip xmlns:asvg="http://schemas.microsoft.com/office/drawing/2016/SVG/main" r:embed="rId13"/>
              </a:ext>
            </a:extLst>
          </a:blip>
          <a:srcRect b="22176"/>
          <a:stretch/>
        </p:blipFill>
        <p:spPr>
          <a:xfrm>
            <a:off x="3749289" y="3545150"/>
            <a:ext cx="1175522" cy="914839"/>
          </a:xfrm>
          <a:prstGeom prst="rect">
            <a:avLst/>
          </a:prstGeom>
        </p:spPr>
      </p:pic>
      <p:pic>
        <p:nvPicPr>
          <p:cNvPr id="32" name="Graphic 31">
            <a:extLst>
              <a:ext uri="{FF2B5EF4-FFF2-40B4-BE49-F238E27FC236}">
                <a16:creationId xmlns:a16="http://schemas.microsoft.com/office/drawing/2014/main" id="{B72F5EBD-46EA-4911-9318-3EB6EDBBEB5D}"/>
              </a:ext>
            </a:extLst>
          </p:cNvPr>
          <p:cNvPicPr>
            <a:picLocks noChangeAspect="1"/>
          </p:cNvPicPr>
          <p:nvPr/>
        </p:nvPicPr>
        <p:blipFill rotWithShape="1">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rcRect b="21398"/>
          <a:stretch/>
        </p:blipFill>
        <p:spPr>
          <a:xfrm>
            <a:off x="7715779" y="3651880"/>
            <a:ext cx="1033992" cy="812739"/>
          </a:xfrm>
          <a:prstGeom prst="rect">
            <a:avLst/>
          </a:prstGeom>
        </p:spPr>
      </p:pic>
      <p:sp>
        <p:nvSpPr>
          <p:cNvPr id="4" name="Rectangle 3">
            <a:extLst>
              <a:ext uri="{FF2B5EF4-FFF2-40B4-BE49-F238E27FC236}">
                <a16:creationId xmlns:a16="http://schemas.microsoft.com/office/drawing/2014/main" id="{0DD745F9-3C2A-9646-68A9-656633F40A7E}"/>
              </a:ext>
            </a:extLst>
          </p:cNvPr>
          <p:cNvSpPr/>
          <p:nvPr/>
        </p:nvSpPr>
        <p:spPr>
          <a:xfrm>
            <a:off x="121919" y="6400800"/>
            <a:ext cx="1823421"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5" name="Picture 2">
            <a:extLst>
              <a:ext uri="{FF2B5EF4-FFF2-40B4-BE49-F238E27FC236}">
                <a16:creationId xmlns:a16="http://schemas.microsoft.com/office/drawing/2014/main" id="{7E955129-F747-4D4A-D9B8-596C9816BB83}"/>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Rounded Corners 11">
            <a:extLst>
              <a:ext uri="{FF2B5EF4-FFF2-40B4-BE49-F238E27FC236}">
                <a16:creationId xmlns:a16="http://schemas.microsoft.com/office/drawing/2014/main" id="{44C12A30-2BB2-1CBD-E6B8-69BF5CDEAB22}"/>
              </a:ext>
            </a:extLst>
          </p:cNvPr>
          <p:cNvSpPr/>
          <p:nvPr/>
        </p:nvSpPr>
        <p:spPr>
          <a:xfrm>
            <a:off x="9140327" y="368300"/>
            <a:ext cx="2680198" cy="485776"/>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16">
                  <a:extLst>
                    <a:ext uri="{A12FA001-AC4F-418D-AE19-62706E023703}">
                      <ahyp:hlinkClr xmlns:ahyp="http://schemas.microsoft.com/office/drawing/2018/hyperlinkcolor" val="tx"/>
                    </a:ext>
                  </a:extLst>
                </a:hlinkClick>
              </a:rPr>
              <a:t>Find a consultant now</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1846309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o 8" hidden="1">
            <a:extLst>
              <a:ext uri="{FF2B5EF4-FFF2-40B4-BE49-F238E27FC236}">
                <a16:creationId xmlns:a16="http://schemas.microsoft.com/office/drawing/2014/main" id="{2748023A-036C-BDCA-514E-4D88AFBC2A1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9" name="Objeto 8" hidden="1">
                        <a:extLst>
                          <a:ext uri="{FF2B5EF4-FFF2-40B4-BE49-F238E27FC236}">
                            <a16:creationId xmlns:a16="http://schemas.microsoft.com/office/drawing/2014/main" id="{2748023A-036C-BDCA-514E-4D88AFBC2A1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ítulo 5">
            <a:extLst>
              <a:ext uri="{FF2B5EF4-FFF2-40B4-BE49-F238E27FC236}">
                <a16:creationId xmlns:a16="http://schemas.microsoft.com/office/drawing/2014/main" id="{7BDD465B-A1CB-A49E-366A-DEB8C016A6C7}"/>
              </a:ext>
            </a:extLst>
          </p:cNvPr>
          <p:cNvSpPr>
            <a:spLocks noGrp="1"/>
          </p:cNvSpPr>
          <p:nvPr>
            <p:ph type="title"/>
          </p:nvPr>
        </p:nvSpPr>
        <p:spPr>
          <a:xfrm>
            <a:off x="384174" y="381000"/>
            <a:ext cx="11420475" cy="485775"/>
          </a:xfrm>
        </p:spPr>
        <p:txBody>
          <a:bodyPr vert="horz"/>
          <a:lstStyle/>
          <a:p>
            <a:r>
              <a:rPr lang="en-US" dirty="0"/>
              <a:t>How </a:t>
            </a:r>
            <a:r>
              <a:rPr lang="en-US" dirty="0" err="1"/>
              <a:t>Umbrex</a:t>
            </a:r>
            <a:r>
              <a:rPr lang="en-US" dirty="0"/>
              <a:t> can help</a:t>
            </a:r>
          </a:p>
        </p:txBody>
      </p:sp>
      <p:sp>
        <p:nvSpPr>
          <p:cNvPr id="12" name="Marcador de texto 7">
            <a:extLst>
              <a:ext uri="{FF2B5EF4-FFF2-40B4-BE49-F238E27FC236}">
                <a16:creationId xmlns:a16="http://schemas.microsoft.com/office/drawing/2014/main" id="{C1C85348-16F7-699B-D812-057489C687AC}"/>
              </a:ext>
            </a:extLst>
          </p:cNvPr>
          <p:cNvSpPr txBox="1">
            <a:spLocks/>
          </p:cNvSpPr>
          <p:nvPr/>
        </p:nvSpPr>
        <p:spPr>
          <a:xfrm>
            <a:off x="6167439" y="1520825"/>
            <a:ext cx="5653088" cy="4192474"/>
          </a:xfrm>
          <a:prstGeom prst="rect">
            <a:avLst/>
          </a:prstGeom>
          <a:solidFill>
            <a:schemeClr val="bg1">
              <a:lumMod val="95000"/>
            </a:schemeClr>
          </a:solidFill>
        </p:spPr>
        <p:txBody>
          <a:bodyPr vert="horz" wrap="square" lIns="72000" tIns="540000" rIns="72000" bIns="72000" rtlCol="0">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For Consultants</a:t>
            </a:r>
          </a:p>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endParaRPr kumimoji="0" lang="en-US" sz="1800" b="1"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endParaRPr kumimoji="0" lang="en-US" sz="1800" b="1"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5" name="Marcador de texto 7">
            <a:extLst>
              <a:ext uri="{FF2B5EF4-FFF2-40B4-BE49-F238E27FC236}">
                <a16:creationId xmlns:a16="http://schemas.microsoft.com/office/drawing/2014/main" id="{CB06810F-6C42-82A5-9B60-058401FAA117}"/>
              </a:ext>
            </a:extLst>
          </p:cNvPr>
          <p:cNvSpPr txBox="1">
            <a:spLocks/>
          </p:cNvSpPr>
          <p:nvPr/>
        </p:nvSpPr>
        <p:spPr>
          <a:xfrm>
            <a:off x="384174" y="1520825"/>
            <a:ext cx="5653088" cy="4192474"/>
          </a:xfrm>
          <a:prstGeom prst="rect">
            <a:avLst/>
          </a:prstGeom>
          <a:solidFill>
            <a:schemeClr val="bg1">
              <a:lumMod val="95000"/>
            </a:schemeClr>
          </a:solidFill>
        </p:spPr>
        <p:txBody>
          <a:bodyPr vert="horz" wrap="square" lIns="72000" tIns="540000" rIns="72000" bIns="72000" rtlCol="0">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For Clients</a:t>
            </a:r>
          </a:p>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endParaRPr kumimoji="0" lang="en-US" sz="1800" b="1"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endParaRPr kumimoji="0" lang="en-US" sz="1800" b="1"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pic>
        <p:nvPicPr>
          <p:cNvPr id="52" name="Picture 2">
            <a:extLst>
              <a:ext uri="{FF2B5EF4-FFF2-40B4-BE49-F238E27FC236}">
                <a16:creationId xmlns:a16="http://schemas.microsoft.com/office/drawing/2014/main" id="{7450EA2F-F921-4B2B-9E55-8AFB6E3D73CA}"/>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636EEED4-4A36-69EB-D7FE-89461DBD935C}"/>
              </a:ext>
            </a:extLst>
          </p:cNvPr>
          <p:cNvSpPr/>
          <p:nvPr/>
        </p:nvSpPr>
        <p:spPr>
          <a:xfrm>
            <a:off x="121919" y="6400800"/>
            <a:ext cx="1748699"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3" name="Picture 2">
            <a:extLst>
              <a:ext uri="{FF2B5EF4-FFF2-40B4-BE49-F238E27FC236}">
                <a16:creationId xmlns:a16="http://schemas.microsoft.com/office/drawing/2014/main" id="{D4885CD2-4565-AA7D-43BE-563D2BB94370}"/>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Rounded Corners 9">
            <a:extLst>
              <a:ext uri="{FF2B5EF4-FFF2-40B4-BE49-F238E27FC236}">
                <a16:creationId xmlns:a16="http://schemas.microsoft.com/office/drawing/2014/main" id="{F9EA244A-32EC-2F92-0C8E-85567E07E68B}"/>
              </a:ext>
            </a:extLst>
          </p:cNvPr>
          <p:cNvSpPr/>
          <p:nvPr/>
        </p:nvSpPr>
        <p:spPr>
          <a:xfrm>
            <a:off x="1870619" y="3374174"/>
            <a:ext cx="2680198" cy="485776"/>
          </a:xfrm>
          <a:prstGeom prst="roundRect">
            <a:avLst>
              <a:gd name="adj" fmla="val 0"/>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6">
                  <a:extLst>
                    <a:ext uri="{A12FA001-AC4F-418D-AE19-62706E023703}">
                      <ahyp:hlinkClr xmlns:ahyp="http://schemas.microsoft.com/office/drawing/2018/hyperlinkcolor" val="tx"/>
                    </a:ext>
                  </a:extLst>
                </a:hlinkClick>
              </a:rPr>
              <a:t>Find a consultant now</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
        <p:nvSpPr>
          <p:cNvPr id="11" name="Rectangle: Rounded Corners 10">
            <a:extLst>
              <a:ext uri="{FF2B5EF4-FFF2-40B4-BE49-F238E27FC236}">
                <a16:creationId xmlns:a16="http://schemas.microsoft.com/office/drawing/2014/main" id="{4BD95127-2A9D-EA40-D0E0-76A7F7A06084}"/>
              </a:ext>
            </a:extLst>
          </p:cNvPr>
          <p:cNvSpPr/>
          <p:nvPr/>
        </p:nvSpPr>
        <p:spPr>
          <a:xfrm>
            <a:off x="7653884" y="3330171"/>
            <a:ext cx="2680198" cy="485776"/>
          </a:xfrm>
          <a:prstGeom prst="roundRect">
            <a:avLst>
              <a:gd name="adj" fmla="val 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7">
                  <a:extLst>
                    <a:ext uri="{A12FA001-AC4F-418D-AE19-62706E023703}">
                      <ahyp:hlinkClr xmlns:ahyp="http://schemas.microsoft.com/office/drawing/2018/hyperlinkcolor" val="tx"/>
                    </a:ext>
                  </a:extLst>
                </a:hlinkClick>
              </a:rPr>
              <a:t>Join our community</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3720543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to 5" hidden="1">
            <a:extLst>
              <a:ext uri="{FF2B5EF4-FFF2-40B4-BE49-F238E27FC236}">
                <a16:creationId xmlns:a16="http://schemas.microsoft.com/office/drawing/2014/main" id="{CACA4D61-F04B-42E7-2D40-8921075DCB7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6" name="Objeto 5" hidden="1">
                        <a:extLst>
                          <a:ext uri="{FF2B5EF4-FFF2-40B4-BE49-F238E27FC236}">
                            <a16:creationId xmlns:a16="http://schemas.microsoft.com/office/drawing/2014/main" id="{CACA4D61-F04B-42E7-2D40-8921075DCB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DA889A8D-C759-4AFA-51E1-2F2D342A129A}"/>
              </a:ext>
            </a:extLst>
          </p:cNvPr>
          <p:cNvSpPr>
            <a:spLocks noGrp="1"/>
          </p:cNvSpPr>
          <p:nvPr>
            <p:ph type="title"/>
          </p:nvPr>
        </p:nvSpPr>
        <p:spPr/>
        <p:txBody>
          <a:bodyPr vert="horz"/>
          <a:lstStyle/>
          <a:p>
            <a:r>
              <a:rPr lang="en-US" dirty="0"/>
              <a:t>Umbrex provides resources to help consultants thrive</a:t>
            </a:r>
          </a:p>
        </p:txBody>
      </p:sp>
      <p:pic>
        <p:nvPicPr>
          <p:cNvPr id="288" name="Picture 2">
            <a:extLst>
              <a:ext uri="{FF2B5EF4-FFF2-40B4-BE49-F238E27FC236}">
                <a16:creationId xmlns:a16="http://schemas.microsoft.com/office/drawing/2014/main" id="{BFE21568-8B6C-4ADB-A950-5872FA7D7B10}"/>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91980" y="6480794"/>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290" name="Marcador de texto 7">
            <a:hlinkClick r:id="rId6"/>
            <a:extLst>
              <a:ext uri="{FF2B5EF4-FFF2-40B4-BE49-F238E27FC236}">
                <a16:creationId xmlns:a16="http://schemas.microsoft.com/office/drawing/2014/main" id="{E5465026-EB1D-47F6-95F2-05F78284C8D6}"/>
              </a:ext>
            </a:extLst>
          </p:cNvPr>
          <p:cNvSpPr txBox="1">
            <a:spLocks/>
          </p:cNvSpPr>
          <p:nvPr/>
        </p:nvSpPr>
        <p:spPr>
          <a:xfrm>
            <a:off x="6221819" y="3203978"/>
            <a:ext cx="5593939" cy="659273"/>
          </a:xfrm>
          <a:prstGeom prst="rect">
            <a:avLst/>
          </a:prstGeom>
          <a:solidFill>
            <a:schemeClr val="bg1">
              <a:lumMod val="95000"/>
            </a:schemeClr>
          </a:solidFill>
        </p:spPr>
        <p:txBody>
          <a:bodyPr vert="horz" wrap="square" lIns="576000" tIns="0" rIns="0" bIns="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l"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Guide To Setting Up Your Own Practice</a:t>
            </a:r>
          </a:p>
        </p:txBody>
      </p:sp>
      <p:grpSp>
        <p:nvGrpSpPr>
          <p:cNvPr id="291" name="Group 82">
            <a:extLst>
              <a:ext uri="{FF2B5EF4-FFF2-40B4-BE49-F238E27FC236}">
                <a16:creationId xmlns:a16="http://schemas.microsoft.com/office/drawing/2014/main" id="{613FEA5C-88FC-485A-9408-CB8DCB9EEB73}"/>
              </a:ext>
            </a:extLst>
          </p:cNvPr>
          <p:cNvGrpSpPr>
            <a:grpSpLocks noChangeAspect="1"/>
          </p:cNvGrpSpPr>
          <p:nvPr/>
        </p:nvGrpSpPr>
        <p:grpSpPr bwMode="auto">
          <a:xfrm>
            <a:off x="6347550" y="3357301"/>
            <a:ext cx="264885" cy="352626"/>
            <a:chOff x="3489" y="1721"/>
            <a:chExt cx="320" cy="426"/>
          </a:xfrm>
          <a:solidFill>
            <a:schemeClr val="tx2"/>
          </a:solidFill>
        </p:grpSpPr>
        <p:sp>
          <p:nvSpPr>
            <p:cNvPr id="292" name="Freeform 83">
              <a:extLst>
                <a:ext uri="{FF2B5EF4-FFF2-40B4-BE49-F238E27FC236}">
                  <a16:creationId xmlns:a16="http://schemas.microsoft.com/office/drawing/2014/main" id="{F42DF837-35EA-482E-AC77-32836263F7C8}"/>
                </a:ext>
              </a:extLst>
            </p:cNvPr>
            <p:cNvSpPr>
              <a:spLocks/>
            </p:cNvSpPr>
            <p:nvPr/>
          </p:nvSpPr>
          <p:spPr bwMode="auto">
            <a:xfrm>
              <a:off x="3524" y="1756"/>
              <a:ext cx="231" cy="54"/>
            </a:xfrm>
            <a:custGeom>
              <a:avLst/>
              <a:gdLst>
                <a:gd name="T0" fmla="*/ 150 w 156"/>
                <a:gd name="T1" fmla="*/ 36 h 36"/>
                <a:gd name="T2" fmla="*/ 144 w 156"/>
                <a:gd name="T3" fmla="*/ 30 h 36"/>
                <a:gd name="T4" fmla="*/ 144 w 156"/>
                <a:gd name="T5" fmla="*/ 12 h 36"/>
                <a:gd name="T6" fmla="*/ 6 w 156"/>
                <a:gd name="T7" fmla="*/ 12 h 36"/>
                <a:gd name="T8" fmla="*/ 0 w 156"/>
                <a:gd name="T9" fmla="*/ 6 h 36"/>
                <a:gd name="T10" fmla="*/ 6 w 156"/>
                <a:gd name="T11" fmla="*/ 0 h 36"/>
                <a:gd name="T12" fmla="*/ 150 w 156"/>
                <a:gd name="T13" fmla="*/ 0 h 36"/>
                <a:gd name="T14" fmla="*/ 156 w 156"/>
                <a:gd name="T15" fmla="*/ 6 h 36"/>
                <a:gd name="T16" fmla="*/ 156 w 156"/>
                <a:gd name="T17" fmla="*/ 30 h 36"/>
                <a:gd name="T18" fmla="*/ 150 w 156"/>
                <a:gd name="T19"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36">
                  <a:moveTo>
                    <a:pt x="150" y="36"/>
                  </a:moveTo>
                  <a:cubicBezTo>
                    <a:pt x="147" y="36"/>
                    <a:pt x="144" y="33"/>
                    <a:pt x="144" y="30"/>
                  </a:cubicBezTo>
                  <a:cubicBezTo>
                    <a:pt x="144" y="12"/>
                    <a:pt x="144" y="12"/>
                    <a:pt x="144" y="12"/>
                  </a:cubicBezTo>
                  <a:cubicBezTo>
                    <a:pt x="6" y="12"/>
                    <a:pt x="6" y="12"/>
                    <a:pt x="6" y="12"/>
                  </a:cubicBezTo>
                  <a:cubicBezTo>
                    <a:pt x="3" y="12"/>
                    <a:pt x="0" y="9"/>
                    <a:pt x="0" y="6"/>
                  </a:cubicBezTo>
                  <a:cubicBezTo>
                    <a:pt x="0" y="2"/>
                    <a:pt x="3" y="0"/>
                    <a:pt x="6" y="0"/>
                  </a:cubicBezTo>
                  <a:cubicBezTo>
                    <a:pt x="150" y="0"/>
                    <a:pt x="150" y="0"/>
                    <a:pt x="150" y="0"/>
                  </a:cubicBezTo>
                  <a:cubicBezTo>
                    <a:pt x="154" y="0"/>
                    <a:pt x="156" y="2"/>
                    <a:pt x="156" y="6"/>
                  </a:cubicBezTo>
                  <a:cubicBezTo>
                    <a:pt x="156" y="30"/>
                    <a:pt x="156" y="30"/>
                    <a:pt x="156" y="30"/>
                  </a:cubicBezTo>
                  <a:cubicBezTo>
                    <a:pt x="156" y="33"/>
                    <a:pt x="154" y="36"/>
                    <a:pt x="150"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293" name="Freeform 84">
              <a:extLst>
                <a:ext uri="{FF2B5EF4-FFF2-40B4-BE49-F238E27FC236}">
                  <a16:creationId xmlns:a16="http://schemas.microsoft.com/office/drawing/2014/main" id="{37E1E551-A87B-4723-B85F-B96234D2528A}"/>
                </a:ext>
              </a:extLst>
            </p:cNvPr>
            <p:cNvSpPr>
              <a:spLocks noEditPoints="1"/>
            </p:cNvSpPr>
            <p:nvPr/>
          </p:nvSpPr>
          <p:spPr bwMode="auto">
            <a:xfrm>
              <a:off x="3489" y="1721"/>
              <a:ext cx="320" cy="426"/>
            </a:xfrm>
            <a:custGeom>
              <a:avLst/>
              <a:gdLst>
                <a:gd name="T0" fmla="*/ 210 w 216"/>
                <a:gd name="T1" fmla="*/ 288 h 288"/>
                <a:gd name="T2" fmla="*/ 30 w 216"/>
                <a:gd name="T3" fmla="*/ 288 h 288"/>
                <a:gd name="T4" fmla="*/ 0 w 216"/>
                <a:gd name="T5" fmla="*/ 258 h 288"/>
                <a:gd name="T6" fmla="*/ 0 w 216"/>
                <a:gd name="T7" fmla="*/ 30 h 288"/>
                <a:gd name="T8" fmla="*/ 30 w 216"/>
                <a:gd name="T9" fmla="*/ 0 h 288"/>
                <a:gd name="T10" fmla="*/ 198 w 216"/>
                <a:gd name="T11" fmla="*/ 0 h 288"/>
                <a:gd name="T12" fmla="*/ 204 w 216"/>
                <a:gd name="T13" fmla="*/ 6 h 288"/>
                <a:gd name="T14" fmla="*/ 204 w 216"/>
                <a:gd name="T15" fmla="*/ 48 h 288"/>
                <a:gd name="T16" fmla="*/ 210 w 216"/>
                <a:gd name="T17" fmla="*/ 48 h 288"/>
                <a:gd name="T18" fmla="*/ 216 w 216"/>
                <a:gd name="T19" fmla="*/ 54 h 288"/>
                <a:gd name="T20" fmla="*/ 216 w 216"/>
                <a:gd name="T21" fmla="*/ 282 h 288"/>
                <a:gd name="T22" fmla="*/ 210 w 216"/>
                <a:gd name="T23" fmla="*/ 288 h 288"/>
                <a:gd name="T24" fmla="*/ 12 w 216"/>
                <a:gd name="T25" fmla="*/ 54 h 288"/>
                <a:gd name="T26" fmla="*/ 12 w 216"/>
                <a:gd name="T27" fmla="*/ 258 h 288"/>
                <a:gd name="T28" fmla="*/ 30 w 216"/>
                <a:gd name="T29" fmla="*/ 276 h 288"/>
                <a:gd name="T30" fmla="*/ 204 w 216"/>
                <a:gd name="T31" fmla="*/ 276 h 288"/>
                <a:gd name="T32" fmla="*/ 204 w 216"/>
                <a:gd name="T33" fmla="*/ 60 h 288"/>
                <a:gd name="T34" fmla="*/ 30 w 216"/>
                <a:gd name="T35" fmla="*/ 60 h 288"/>
                <a:gd name="T36" fmla="*/ 12 w 216"/>
                <a:gd name="T37" fmla="*/ 54 h 288"/>
                <a:gd name="T38" fmla="*/ 30 w 216"/>
                <a:gd name="T39" fmla="*/ 12 h 288"/>
                <a:gd name="T40" fmla="*/ 12 w 216"/>
                <a:gd name="T41" fmla="*/ 30 h 288"/>
                <a:gd name="T42" fmla="*/ 30 w 216"/>
                <a:gd name="T43" fmla="*/ 48 h 288"/>
                <a:gd name="T44" fmla="*/ 192 w 216"/>
                <a:gd name="T45" fmla="*/ 48 h 288"/>
                <a:gd name="T46" fmla="*/ 192 w 216"/>
                <a:gd name="T47" fmla="*/ 12 h 288"/>
                <a:gd name="T48" fmla="*/ 30 w 216"/>
                <a:gd name="T4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6" h="288">
                  <a:moveTo>
                    <a:pt x="210" y="288"/>
                  </a:moveTo>
                  <a:cubicBezTo>
                    <a:pt x="30" y="288"/>
                    <a:pt x="30" y="288"/>
                    <a:pt x="30" y="288"/>
                  </a:cubicBezTo>
                  <a:cubicBezTo>
                    <a:pt x="14" y="288"/>
                    <a:pt x="0" y="274"/>
                    <a:pt x="0" y="258"/>
                  </a:cubicBezTo>
                  <a:cubicBezTo>
                    <a:pt x="0" y="30"/>
                    <a:pt x="0" y="30"/>
                    <a:pt x="0" y="30"/>
                  </a:cubicBezTo>
                  <a:cubicBezTo>
                    <a:pt x="0" y="13"/>
                    <a:pt x="14" y="0"/>
                    <a:pt x="30" y="0"/>
                  </a:cubicBezTo>
                  <a:cubicBezTo>
                    <a:pt x="198" y="0"/>
                    <a:pt x="198" y="0"/>
                    <a:pt x="198" y="0"/>
                  </a:cubicBezTo>
                  <a:cubicBezTo>
                    <a:pt x="202" y="0"/>
                    <a:pt x="204" y="2"/>
                    <a:pt x="204" y="6"/>
                  </a:cubicBezTo>
                  <a:cubicBezTo>
                    <a:pt x="204" y="48"/>
                    <a:pt x="204" y="48"/>
                    <a:pt x="204" y="48"/>
                  </a:cubicBezTo>
                  <a:cubicBezTo>
                    <a:pt x="210" y="48"/>
                    <a:pt x="210" y="48"/>
                    <a:pt x="210" y="48"/>
                  </a:cubicBezTo>
                  <a:cubicBezTo>
                    <a:pt x="214" y="48"/>
                    <a:pt x="216" y="50"/>
                    <a:pt x="216" y="54"/>
                  </a:cubicBezTo>
                  <a:cubicBezTo>
                    <a:pt x="216" y="282"/>
                    <a:pt x="216" y="282"/>
                    <a:pt x="216" y="282"/>
                  </a:cubicBezTo>
                  <a:cubicBezTo>
                    <a:pt x="216" y="285"/>
                    <a:pt x="214" y="288"/>
                    <a:pt x="210" y="288"/>
                  </a:cubicBezTo>
                  <a:close/>
                  <a:moveTo>
                    <a:pt x="12" y="54"/>
                  </a:moveTo>
                  <a:cubicBezTo>
                    <a:pt x="12" y="258"/>
                    <a:pt x="12" y="258"/>
                    <a:pt x="12" y="258"/>
                  </a:cubicBezTo>
                  <a:cubicBezTo>
                    <a:pt x="12" y="268"/>
                    <a:pt x="21" y="276"/>
                    <a:pt x="30" y="276"/>
                  </a:cubicBezTo>
                  <a:cubicBezTo>
                    <a:pt x="204" y="276"/>
                    <a:pt x="204" y="276"/>
                    <a:pt x="204" y="276"/>
                  </a:cubicBezTo>
                  <a:cubicBezTo>
                    <a:pt x="204" y="60"/>
                    <a:pt x="204" y="60"/>
                    <a:pt x="204" y="60"/>
                  </a:cubicBezTo>
                  <a:cubicBezTo>
                    <a:pt x="30" y="60"/>
                    <a:pt x="30" y="60"/>
                    <a:pt x="30" y="60"/>
                  </a:cubicBezTo>
                  <a:cubicBezTo>
                    <a:pt x="24" y="60"/>
                    <a:pt x="17" y="57"/>
                    <a:pt x="12" y="54"/>
                  </a:cubicBezTo>
                  <a:close/>
                  <a:moveTo>
                    <a:pt x="30" y="12"/>
                  </a:moveTo>
                  <a:cubicBezTo>
                    <a:pt x="21" y="12"/>
                    <a:pt x="12" y="20"/>
                    <a:pt x="12" y="30"/>
                  </a:cubicBezTo>
                  <a:cubicBezTo>
                    <a:pt x="12" y="40"/>
                    <a:pt x="21" y="48"/>
                    <a:pt x="30" y="48"/>
                  </a:cubicBezTo>
                  <a:cubicBezTo>
                    <a:pt x="192" y="48"/>
                    <a:pt x="192" y="48"/>
                    <a:pt x="192" y="48"/>
                  </a:cubicBezTo>
                  <a:cubicBezTo>
                    <a:pt x="192" y="12"/>
                    <a:pt x="192" y="12"/>
                    <a:pt x="192" y="12"/>
                  </a:cubicBezTo>
                  <a:lnTo>
                    <a:pt x="3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grpSp>
      <p:sp>
        <p:nvSpPr>
          <p:cNvPr id="295" name="Marcador de texto 7">
            <a:hlinkClick r:id="rId7"/>
            <a:extLst>
              <a:ext uri="{FF2B5EF4-FFF2-40B4-BE49-F238E27FC236}">
                <a16:creationId xmlns:a16="http://schemas.microsoft.com/office/drawing/2014/main" id="{71D8F5B1-C121-4752-AF25-740132C23D80}"/>
              </a:ext>
            </a:extLst>
          </p:cNvPr>
          <p:cNvSpPr txBox="1">
            <a:spLocks/>
          </p:cNvSpPr>
          <p:nvPr/>
        </p:nvSpPr>
        <p:spPr>
          <a:xfrm>
            <a:off x="6221819" y="2246787"/>
            <a:ext cx="5593939" cy="659273"/>
          </a:xfrm>
          <a:prstGeom prst="rect">
            <a:avLst/>
          </a:prstGeom>
          <a:solidFill>
            <a:schemeClr val="bg1">
              <a:lumMod val="95000"/>
            </a:schemeClr>
          </a:solidFill>
        </p:spPr>
        <p:txBody>
          <a:bodyPr vert="horz" wrap="square" lIns="576000" tIns="0" rIns="0" bIns="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l"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How to Build a Consulting Website</a:t>
            </a:r>
          </a:p>
        </p:txBody>
      </p:sp>
      <p:grpSp>
        <p:nvGrpSpPr>
          <p:cNvPr id="296" name="Group 32">
            <a:extLst>
              <a:ext uri="{FF2B5EF4-FFF2-40B4-BE49-F238E27FC236}">
                <a16:creationId xmlns:a16="http://schemas.microsoft.com/office/drawing/2014/main" id="{5F0153FF-8696-4382-A8D7-939C67971D60}"/>
              </a:ext>
            </a:extLst>
          </p:cNvPr>
          <p:cNvGrpSpPr>
            <a:grpSpLocks noChangeAspect="1"/>
          </p:cNvGrpSpPr>
          <p:nvPr/>
        </p:nvGrpSpPr>
        <p:grpSpPr bwMode="auto">
          <a:xfrm>
            <a:off x="6292623" y="2412805"/>
            <a:ext cx="374738" cy="327237"/>
            <a:chOff x="3438" y="466"/>
            <a:chExt cx="426" cy="372"/>
          </a:xfrm>
          <a:solidFill>
            <a:schemeClr val="tx2"/>
          </a:solidFill>
        </p:grpSpPr>
        <p:sp>
          <p:nvSpPr>
            <p:cNvPr id="297" name="Freeform 33">
              <a:extLst>
                <a:ext uri="{FF2B5EF4-FFF2-40B4-BE49-F238E27FC236}">
                  <a16:creationId xmlns:a16="http://schemas.microsoft.com/office/drawing/2014/main" id="{34E53970-F20E-45F3-95A2-5D83939BCF1B}"/>
                </a:ext>
              </a:extLst>
            </p:cNvPr>
            <p:cNvSpPr>
              <a:spLocks noEditPoints="1"/>
            </p:cNvSpPr>
            <p:nvPr/>
          </p:nvSpPr>
          <p:spPr bwMode="auto">
            <a:xfrm>
              <a:off x="3438" y="581"/>
              <a:ext cx="426" cy="142"/>
            </a:xfrm>
            <a:custGeom>
              <a:avLst/>
              <a:gdLst>
                <a:gd name="T0" fmla="*/ 282 w 288"/>
                <a:gd name="T1" fmla="*/ 96 h 96"/>
                <a:gd name="T2" fmla="*/ 6 w 288"/>
                <a:gd name="T3" fmla="*/ 96 h 96"/>
                <a:gd name="T4" fmla="*/ 0 w 288"/>
                <a:gd name="T5" fmla="*/ 90 h 96"/>
                <a:gd name="T6" fmla="*/ 0 w 288"/>
                <a:gd name="T7" fmla="*/ 6 h 96"/>
                <a:gd name="T8" fmla="*/ 6 w 288"/>
                <a:gd name="T9" fmla="*/ 0 h 96"/>
                <a:gd name="T10" fmla="*/ 282 w 288"/>
                <a:gd name="T11" fmla="*/ 0 h 96"/>
                <a:gd name="T12" fmla="*/ 288 w 288"/>
                <a:gd name="T13" fmla="*/ 6 h 96"/>
                <a:gd name="T14" fmla="*/ 288 w 288"/>
                <a:gd name="T15" fmla="*/ 90 h 96"/>
                <a:gd name="T16" fmla="*/ 282 w 288"/>
                <a:gd name="T17" fmla="*/ 96 h 96"/>
                <a:gd name="T18" fmla="*/ 12 w 288"/>
                <a:gd name="T19" fmla="*/ 84 h 96"/>
                <a:gd name="T20" fmla="*/ 276 w 288"/>
                <a:gd name="T21" fmla="*/ 84 h 96"/>
                <a:gd name="T22" fmla="*/ 276 w 288"/>
                <a:gd name="T23" fmla="*/ 12 h 96"/>
                <a:gd name="T24" fmla="*/ 12 w 288"/>
                <a:gd name="T25" fmla="*/ 12 h 96"/>
                <a:gd name="T26" fmla="*/ 12 w 288"/>
                <a:gd name="T27"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96">
                  <a:moveTo>
                    <a:pt x="282" y="96"/>
                  </a:moveTo>
                  <a:cubicBezTo>
                    <a:pt x="6" y="96"/>
                    <a:pt x="6" y="96"/>
                    <a:pt x="6" y="96"/>
                  </a:cubicBezTo>
                  <a:cubicBezTo>
                    <a:pt x="3" y="96"/>
                    <a:pt x="0" y="94"/>
                    <a:pt x="0" y="90"/>
                  </a:cubicBezTo>
                  <a:cubicBezTo>
                    <a:pt x="0" y="6"/>
                    <a:pt x="0" y="6"/>
                    <a:pt x="0" y="6"/>
                  </a:cubicBezTo>
                  <a:cubicBezTo>
                    <a:pt x="0" y="3"/>
                    <a:pt x="3" y="0"/>
                    <a:pt x="6" y="0"/>
                  </a:cubicBezTo>
                  <a:cubicBezTo>
                    <a:pt x="282" y="0"/>
                    <a:pt x="282" y="0"/>
                    <a:pt x="282" y="0"/>
                  </a:cubicBezTo>
                  <a:cubicBezTo>
                    <a:pt x="286" y="0"/>
                    <a:pt x="288" y="3"/>
                    <a:pt x="288" y="6"/>
                  </a:cubicBezTo>
                  <a:cubicBezTo>
                    <a:pt x="288" y="90"/>
                    <a:pt x="288" y="90"/>
                    <a:pt x="288" y="90"/>
                  </a:cubicBezTo>
                  <a:cubicBezTo>
                    <a:pt x="288" y="94"/>
                    <a:pt x="286" y="96"/>
                    <a:pt x="282" y="96"/>
                  </a:cubicBezTo>
                  <a:close/>
                  <a:moveTo>
                    <a:pt x="12" y="84"/>
                  </a:moveTo>
                  <a:cubicBezTo>
                    <a:pt x="276" y="84"/>
                    <a:pt x="276" y="84"/>
                    <a:pt x="276" y="84"/>
                  </a:cubicBezTo>
                  <a:cubicBezTo>
                    <a:pt x="276" y="12"/>
                    <a:pt x="276" y="12"/>
                    <a:pt x="276"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298" name="Freeform 34">
              <a:extLst>
                <a:ext uri="{FF2B5EF4-FFF2-40B4-BE49-F238E27FC236}">
                  <a16:creationId xmlns:a16="http://schemas.microsoft.com/office/drawing/2014/main" id="{38C78808-0F9E-4299-9751-A057FC3E99F5}"/>
                </a:ext>
              </a:extLst>
            </p:cNvPr>
            <p:cNvSpPr>
              <a:spLocks/>
            </p:cNvSpPr>
            <p:nvPr/>
          </p:nvSpPr>
          <p:spPr bwMode="auto">
            <a:xfrm>
              <a:off x="3475" y="466"/>
              <a:ext cx="352" cy="127"/>
            </a:xfrm>
            <a:custGeom>
              <a:avLst/>
              <a:gdLst>
                <a:gd name="T0" fmla="*/ 226 w 238"/>
                <a:gd name="T1" fmla="*/ 86 h 86"/>
                <a:gd name="T2" fmla="*/ 119 w 238"/>
                <a:gd name="T3" fmla="*/ 12 h 86"/>
                <a:gd name="T4" fmla="*/ 115 w 238"/>
                <a:gd name="T5" fmla="*/ 12 h 86"/>
                <a:gd name="T6" fmla="*/ 12 w 238"/>
                <a:gd name="T7" fmla="*/ 86 h 86"/>
                <a:gd name="T8" fmla="*/ 0 w 238"/>
                <a:gd name="T9" fmla="*/ 82 h 86"/>
                <a:gd name="T10" fmla="*/ 114 w 238"/>
                <a:gd name="T11" fmla="*/ 0 h 86"/>
                <a:gd name="T12" fmla="*/ 119 w 238"/>
                <a:gd name="T13" fmla="*/ 0 h 86"/>
                <a:gd name="T14" fmla="*/ 238 w 238"/>
                <a:gd name="T15" fmla="*/ 82 h 86"/>
                <a:gd name="T16" fmla="*/ 226 w 238"/>
                <a:gd name="T1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8" h="86">
                  <a:moveTo>
                    <a:pt x="226" y="86"/>
                  </a:moveTo>
                  <a:cubicBezTo>
                    <a:pt x="210" y="42"/>
                    <a:pt x="167" y="12"/>
                    <a:pt x="119" y="12"/>
                  </a:cubicBezTo>
                  <a:cubicBezTo>
                    <a:pt x="118" y="12"/>
                    <a:pt x="116" y="12"/>
                    <a:pt x="115" y="12"/>
                  </a:cubicBezTo>
                  <a:cubicBezTo>
                    <a:pt x="67" y="14"/>
                    <a:pt x="27" y="43"/>
                    <a:pt x="12" y="86"/>
                  </a:cubicBezTo>
                  <a:cubicBezTo>
                    <a:pt x="0" y="82"/>
                    <a:pt x="0" y="82"/>
                    <a:pt x="0" y="82"/>
                  </a:cubicBezTo>
                  <a:cubicBezTo>
                    <a:pt x="17" y="35"/>
                    <a:pt x="62" y="2"/>
                    <a:pt x="114" y="0"/>
                  </a:cubicBezTo>
                  <a:cubicBezTo>
                    <a:pt x="116" y="0"/>
                    <a:pt x="118" y="0"/>
                    <a:pt x="119" y="0"/>
                  </a:cubicBezTo>
                  <a:cubicBezTo>
                    <a:pt x="172" y="0"/>
                    <a:pt x="220" y="33"/>
                    <a:pt x="238" y="82"/>
                  </a:cubicBezTo>
                  <a:lnTo>
                    <a:pt x="226"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299" name="Freeform 35">
              <a:extLst>
                <a:ext uri="{FF2B5EF4-FFF2-40B4-BE49-F238E27FC236}">
                  <a16:creationId xmlns:a16="http://schemas.microsoft.com/office/drawing/2014/main" id="{1A3B81FB-CF0C-463A-ACB1-9F0B0692CFE8}"/>
                </a:ext>
              </a:extLst>
            </p:cNvPr>
            <p:cNvSpPr>
              <a:spLocks/>
            </p:cNvSpPr>
            <p:nvPr/>
          </p:nvSpPr>
          <p:spPr bwMode="auto">
            <a:xfrm>
              <a:off x="3478" y="711"/>
              <a:ext cx="348" cy="127"/>
            </a:xfrm>
            <a:custGeom>
              <a:avLst/>
              <a:gdLst>
                <a:gd name="T0" fmla="*/ 117 w 235"/>
                <a:gd name="T1" fmla="*/ 86 h 86"/>
                <a:gd name="T2" fmla="*/ 0 w 235"/>
                <a:gd name="T3" fmla="*/ 4 h 86"/>
                <a:gd name="T4" fmla="*/ 11 w 235"/>
                <a:gd name="T5" fmla="*/ 0 h 86"/>
                <a:gd name="T6" fmla="*/ 117 w 235"/>
                <a:gd name="T7" fmla="*/ 74 h 86"/>
                <a:gd name="T8" fmla="*/ 224 w 235"/>
                <a:gd name="T9" fmla="*/ 0 h 86"/>
                <a:gd name="T10" fmla="*/ 235 w 235"/>
                <a:gd name="T11" fmla="*/ 4 h 86"/>
                <a:gd name="T12" fmla="*/ 117 w 235"/>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235" h="86">
                  <a:moveTo>
                    <a:pt x="117" y="86"/>
                  </a:moveTo>
                  <a:cubicBezTo>
                    <a:pt x="66" y="86"/>
                    <a:pt x="19" y="53"/>
                    <a:pt x="0" y="4"/>
                  </a:cubicBezTo>
                  <a:cubicBezTo>
                    <a:pt x="11" y="0"/>
                    <a:pt x="11" y="0"/>
                    <a:pt x="11" y="0"/>
                  </a:cubicBezTo>
                  <a:cubicBezTo>
                    <a:pt x="28" y="44"/>
                    <a:pt x="71" y="74"/>
                    <a:pt x="117" y="74"/>
                  </a:cubicBezTo>
                  <a:cubicBezTo>
                    <a:pt x="164" y="74"/>
                    <a:pt x="207" y="44"/>
                    <a:pt x="224" y="0"/>
                  </a:cubicBezTo>
                  <a:cubicBezTo>
                    <a:pt x="235" y="4"/>
                    <a:pt x="235" y="4"/>
                    <a:pt x="235" y="4"/>
                  </a:cubicBezTo>
                  <a:cubicBezTo>
                    <a:pt x="217" y="53"/>
                    <a:pt x="169" y="86"/>
                    <a:pt x="117"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0" name="Freeform 36">
              <a:extLst>
                <a:ext uri="{FF2B5EF4-FFF2-40B4-BE49-F238E27FC236}">
                  <a16:creationId xmlns:a16="http://schemas.microsoft.com/office/drawing/2014/main" id="{9DA9F88A-1572-4AE4-BD84-04688B2D42E2}"/>
                </a:ext>
              </a:extLst>
            </p:cNvPr>
            <p:cNvSpPr>
              <a:spLocks/>
            </p:cNvSpPr>
            <p:nvPr/>
          </p:nvSpPr>
          <p:spPr bwMode="auto">
            <a:xfrm>
              <a:off x="3576" y="713"/>
              <a:ext cx="75" cy="123"/>
            </a:xfrm>
            <a:custGeom>
              <a:avLst/>
              <a:gdLst>
                <a:gd name="T0" fmla="*/ 41 w 51"/>
                <a:gd name="T1" fmla="*/ 83 h 83"/>
                <a:gd name="T2" fmla="*/ 0 w 51"/>
                <a:gd name="T3" fmla="*/ 3 h 83"/>
                <a:gd name="T4" fmla="*/ 12 w 51"/>
                <a:gd name="T5" fmla="*/ 0 h 83"/>
                <a:gd name="T6" fmla="*/ 51 w 51"/>
                <a:gd name="T7" fmla="*/ 76 h 83"/>
                <a:gd name="T8" fmla="*/ 41 w 51"/>
                <a:gd name="T9" fmla="*/ 83 h 83"/>
              </a:gdLst>
              <a:ahLst/>
              <a:cxnLst>
                <a:cxn ang="0">
                  <a:pos x="T0" y="T1"/>
                </a:cxn>
                <a:cxn ang="0">
                  <a:pos x="T2" y="T3"/>
                </a:cxn>
                <a:cxn ang="0">
                  <a:pos x="T4" y="T5"/>
                </a:cxn>
                <a:cxn ang="0">
                  <a:pos x="T6" y="T7"/>
                </a:cxn>
                <a:cxn ang="0">
                  <a:pos x="T8" y="T9"/>
                </a:cxn>
              </a:cxnLst>
              <a:rect l="0" t="0" r="r" b="b"/>
              <a:pathLst>
                <a:path w="51" h="83">
                  <a:moveTo>
                    <a:pt x="41" y="83"/>
                  </a:moveTo>
                  <a:cubicBezTo>
                    <a:pt x="22" y="57"/>
                    <a:pt x="8" y="30"/>
                    <a:pt x="0" y="3"/>
                  </a:cubicBezTo>
                  <a:cubicBezTo>
                    <a:pt x="12" y="0"/>
                    <a:pt x="12" y="0"/>
                    <a:pt x="12" y="0"/>
                  </a:cubicBezTo>
                  <a:cubicBezTo>
                    <a:pt x="19" y="25"/>
                    <a:pt x="32" y="51"/>
                    <a:pt x="51" y="76"/>
                  </a:cubicBezTo>
                  <a:lnTo>
                    <a:pt x="41"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1" name="Freeform 37">
              <a:extLst>
                <a:ext uri="{FF2B5EF4-FFF2-40B4-BE49-F238E27FC236}">
                  <a16:creationId xmlns:a16="http://schemas.microsoft.com/office/drawing/2014/main" id="{6E8D42C0-C0A1-4045-B314-FD9AF3ECE016}"/>
                </a:ext>
              </a:extLst>
            </p:cNvPr>
            <p:cNvSpPr>
              <a:spLocks/>
            </p:cNvSpPr>
            <p:nvPr/>
          </p:nvSpPr>
          <p:spPr bwMode="auto">
            <a:xfrm>
              <a:off x="3573" y="468"/>
              <a:ext cx="78" cy="125"/>
            </a:xfrm>
            <a:custGeom>
              <a:avLst/>
              <a:gdLst>
                <a:gd name="T0" fmla="*/ 11 w 53"/>
                <a:gd name="T1" fmla="*/ 84 h 84"/>
                <a:gd name="T2" fmla="*/ 0 w 53"/>
                <a:gd name="T3" fmla="*/ 81 h 84"/>
                <a:gd name="T4" fmla="*/ 44 w 53"/>
                <a:gd name="T5" fmla="*/ 0 h 84"/>
                <a:gd name="T6" fmla="*/ 53 w 53"/>
                <a:gd name="T7" fmla="*/ 8 h 84"/>
                <a:gd name="T8" fmla="*/ 11 w 53"/>
                <a:gd name="T9" fmla="*/ 84 h 84"/>
              </a:gdLst>
              <a:ahLst/>
              <a:cxnLst>
                <a:cxn ang="0">
                  <a:pos x="T0" y="T1"/>
                </a:cxn>
                <a:cxn ang="0">
                  <a:pos x="T2" y="T3"/>
                </a:cxn>
                <a:cxn ang="0">
                  <a:pos x="T4" y="T5"/>
                </a:cxn>
                <a:cxn ang="0">
                  <a:pos x="T6" y="T7"/>
                </a:cxn>
                <a:cxn ang="0">
                  <a:pos x="T8" y="T9"/>
                </a:cxn>
              </a:cxnLst>
              <a:rect l="0" t="0" r="r" b="b"/>
              <a:pathLst>
                <a:path w="53" h="84">
                  <a:moveTo>
                    <a:pt x="11" y="84"/>
                  </a:moveTo>
                  <a:cubicBezTo>
                    <a:pt x="0" y="81"/>
                    <a:pt x="0" y="81"/>
                    <a:pt x="0" y="81"/>
                  </a:cubicBezTo>
                  <a:cubicBezTo>
                    <a:pt x="7" y="52"/>
                    <a:pt x="21" y="25"/>
                    <a:pt x="44" y="0"/>
                  </a:cubicBezTo>
                  <a:cubicBezTo>
                    <a:pt x="53" y="8"/>
                    <a:pt x="53" y="8"/>
                    <a:pt x="53" y="8"/>
                  </a:cubicBezTo>
                  <a:cubicBezTo>
                    <a:pt x="32" y="31"/>
                    <a:pt x="18" y="56"/>
                    <a:pt x="11"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2" name="Freeform 38">
              <a:extLst>
                <a:ext uri="{FF2B5EF4-FFF2-40B4-BE49-F238E27FC236}">
                  <a16:creationId xmlns:a16="http://schemas.microsoft.com/office/drawing/2014/main" id="{544213C2-0BB5-4DFE-8C1D-F07CC43C05DC}"/>
                </a:ext>
              </a:extLst>
            </p:cNvPr>
            <p:cNvSpPr>
              <a:spLocks/>
            </p:cNvSpPr>
            <p:nvPr/>
          </p:nvSpPr>
          <p:spPr bwMode="auto">
            <a:xfrm>
              <a:off x="3653" y="713"/>
              <a:ext cx="75" cy="123"/>
            </a:xfrm>
            <a:custGeom>
              <a:avLst/>
              <a:gdLst>
                <a:gd name="T0" fmla="*/ 10 w 51"/>
                <a:gd name="T1" fmla="*/ 83 h 83"/>
                <a:gd name="T2" fmla="*/ 0 w 51"/>
                <a:gd name="T3" fmla="*/ 75 h 83"/>
                <a:gd name="T4" fmla="*/ 39 w 51"/>
                <a:gd name="T5" fmla="*/ 0 h 83"/>
                <a:gd name="T6" fmla="*/ 51 w 51"/>
                <a:gd name="T7" fmla="*/ 3 h 83"/>
                <a:gd name="T8" fmla="*/ 10 w 51"/>
                <a:gd name="T9" fmla="*/ 83 h 83"/>
              </a:gdLst>
              <a:ahLst/>
              <a:cxnLst>
                <a:cxn ang="0">
                  <a:pos x="T0" y="T1"/>
                </a:cxn>
                <a:cxn ang="0">
                  <a:pos x="T2" y="T3"/>
                </a:cxn>
                <a:cxn ang="0">
                  <a:pos x="T4" y="T5"/>
                </a:cxn>
                <a:cxn ang="0">
                  <a:pos x="T6" y="T7"/>
                </a:cxn>
                <a:cxn ang="0">
                  <a:pos x="T8" y="T9"/>
                </a:cxn>
              </a:cxnLst>
              <a:rect l="0" t="0" r="r" b="b"/>
              <a:pathLst>
                <a:path w="51" h="83">
                  <a:moveTo>
                    <a:pt x="10" y="83"/>
                  </a:moveTo>
                  <a:cubicBezTo>
                    <a:pt x="0" y="75"/>
                    <a:pt x="0" y="75"/>
                    <a:pt x="0" y="75"/>
                  </a:cubicBezTo>
                  <a:cubicBezTo>
                    <a:pt x="19" y="51"/>
                    <a:pt x="32" y="25"/>
                    <a:pt x="39" y="0"/>
                  </a:cubicBezTo>
                  <a:cubicBezTo>
                    <a:pt x="51" y="3"/>
                    <a:pt x="51" y="3"/>
                    <a:pt x="51" y="3"/>
                  </a:cubicBezTo>
                  <a:cubicBezTo>
                    <a:pt x="43" y="30"/>
                    <a:pt x="29" y="57"/>
                    <a:pt x="10"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3" name="Freeform 39">
              <a:extLst>
                <a:ext uri="{FF2B5EF4-FFF2-40B4-BE49-F238E27FC236}">
                  <a16:creationId xmlns:a16="http://schemas.microsoft.com/office/drawing/2014/main" id="{9B45E698-2AB6-46EF-A9F6-3E27CAC51A51}"/>
                </a:ext>
              </a:extLst>
            </p:cNvPr>
            <p:cNvSpPr>
              <a:spLocks/>
            </p:cNvSpPr>
            <p:nvPr/>
          </p:nvSpPr>
          <p:spPr bwMode="auto">
            <a:xfrm>
              <a:off x="3653" y="468"/>
              <a:ext cx="78" cy="125"/>
            </a:xfrm>
            <a:custGeom>
              <a:avLst/>
              <a:gdLst>
                <a:gd name="T0" fmla="*/ 42 w 53"/>
                <a:gd name="T1" fmla="*/ 84 h 84"/>
                <a:gd name="T2" fmla="*/ 0 w 53"/>
                <a:gd name="T3" fmla="*/ 8 h 84"/>
                <a:gd name="T4" fmla="*/ 9 w 53"/>
                <a:gd name="T5" fmla="*/ 0 h 84"/>
                <a:gd name="T6" fmla="*/ 53 w 53"/>
                <a:gd name="T7" fmla="*/ 81 h 84"/>
                <a:gd name="T8" fmla="*/ 42 w 53"/>
                <a:gd name="T9" fmla="*/ 84 h 84"/>
              </a:gdLst>
              <a:ahLst/>
              <a:cxnLst>
                <a:cxn ang="0">
                  <a:pos x="T0" y="T1"/>
                </a:cxn>
                <a:cxn ang="0">
                  <a:pos x="T2" y="T3"/>
                </a:cxn>
                <a:cxn ang="0">
                  <a:pos x="T4" y="T5"/>
                </a:cxn>
                <a:cxn ang="0">
                  <a:pos x="T6" y="T7"/>
                </a:cxn>
                <a:cxn ang="0">
                  <a:pos x="T8" y="T9"/>
                </a:cxn>
              </a:cxnLst>
              <a:rect l="0" t="0" r="r" b="b"/>
              <a:pathLst>
                <a:path w="53" h="84">
                  <a:moveTo>
                    <a:pt x="42" y="84"/>
                  </a:moveTo>
                  <a:cubicBezTo>
                    <a:pt x="35" y="56"/>
                    <a:pt x="21" y="31"/>
                    <a:pt x="0" y="8"/>
                  </a:cubicBezTo>
                  <a:cubicBezTo>
                    <a:pt x="9" y="0"/>
                    <a:pt x="9" y="0"/>
                    <a:pt x="9" y="0"/>
                  </a:cubicBezTo>
                  <a:cubicBezTo>
                    <a:pt x="32" y="25"/>
                    <a:pt x="46" y="52"/>
                    <a:pt x="53" y="81"/>
                  </a:cubicBezTo>
                  <a:lnTo>
                    <a:pt x="4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4" name="Rectangle 40">
              <a:extLst>
                <a:ext uri="{FF2B5EF4-FFF2-40B4-BE49-F238E27FC236}">
                  <a16:creationId xmlns:a16="http://schemas.microsoft.com/office/drawing/2014/main" id="{4D416949-0327-4188-A4CA-A52C32A44D43}"/>
                </a:ext>
              </a:extLst>
            </p:cNvPr>
            <p:cNvSpPr>
              <a:spLocks noChangeArrowheads="1"/>
            </p:cNvSpPr>
            <p:nvPr/>
          </p:nvSpPr>
          <p:spPr bwMode="auto">
            <a:xfrm>
              <a:off x="3505" y="741"/>
              <a:ext cx="294"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5" name="Rectangle 41">
              <a:extLst>
                <a:ext uri="{FF2B5EF4-FFF2-40B4-BE49-F238E27FC236}">
                  <a16:creationId xmlns:a16="http://schemas.microsoft.com/office/drawing/2014/main" id="{78B2FA65-B832-423D-9BC0-7AB0289B9781}"/>
                </a:ext>
              </a:extLst>
            </p:cNvPr>
            <p:cNvSpPr>
              <a:spLocks noChangeArrowheads="1"/>
            </p:cNvSpPr>
            <p:nvPr/>
          </p:nvSpPr>
          <p:spPr bwMode="auto">
            <a:xfrm>
              <a:off x="3503" y="545"/>
              <a:ext cx="295"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6" name="Freeform 42">
              <a:extLst>
                <a:ext uri="{FF2B5EF4-FFF2-40B4-BE49-F238E27FC236}">
                  <a16:creationId xmlns:a16="http://schemas.microsoft.com/office/drawing/2014/main" id="{B0742371-2F50-452E-A957-71A4203250C5}"/>
                </a:ext>
              </a:extLst>
            </p:cNvPr>
            <p:cNvSpPr>
              <a:spLocks/>
            </p:cNvSpPr>
            <p:nvPr/>
          </p:nvSpPr>
          <p:spPr bwMode="auto">
            <a:xfrm>
              <a:off x="3517" y="608"/>
              <a:ext cx="65" cy="88"/>
            </a:xfrm>
            <a:custGeom>
              <a:avLst/>
              <a:gdLst>
                <a:gd name="T0" fmla="*/ 15 w 44"/>
                <a:gd name="T1" fmla="*/ 60 h 60"/>
                <a:gd name="T2" fmla="*/ 14 w 44"/>
                <a:gd name="T3" fmla="*/ 60 h 60"/>
                <a:gd name="T4" fmla="*/ 9 w 44"/>
                <a:gd name="T5" fmla="*/ 55 h 60"/>
                <a:gd name="T6" fmla="*/ 1 w 44"/>
                <a:gd name="T7" fmla="*/ 7 h 60"/>
                <a:gd name="T8" fmla="*/ 6 w 44"/>
                <a:gd name="T9" fmla="*/ 0 h 60"/>
                <a:gd name="T10" fmla="*/ 13 w 44"/>
                <a:gd name="T11" fmla="*/ 5 h 60"/>
                <a:gd name="T12" fmla="*/ 16 w 44"/>
                <a:gd name="T13" fmla="*/ 28 h 60"/>
                <a:gd name="T14" fmla="*/ 22 w 44"/>
                <a:gd name="T15" fmla="*/ 24 h 60"/>
                <a:gd name="T16" fmla="*/ 22 w 44"/>
                <a:gd name="T17" fmla="*/ 24 h 60"/>
                <a:gd name="T18" fmla="*/ 28 w 44"/>
                <a:gd name="T19" fmla="*/ 28 h 60"/>
                <a:gd name="T20" fmla="*/ 32 w 44"/>
                <a:gd name="T21" fmla="*/ 5 h 60"/>
                <a:gd name="T22" fmla="*/ 38 w 44"/>
                <a:gd name="T23" fmla="*/ 0 h 60"/>
                <a:gd name="T24" fmla="*/ 43 w 44"/>
                <a:gd name="T25" fmla="*/ 7 h 60"/>
                <a:gd name="T26" fmla="*/ 36 w 44"/>
                <a:gd name="T27" fmla="*/ 55 h 60"/>
                <a:gd name="T28" fmla="*/ 30 w 44"/>
                <a:gd name="T29" fmla="*/ 60 h 60"/>
                <a:gd name="T30" fmla="*/ 24 w 44"/>
                <a:gd name="T31" fmla="*/ 56 h 60"/>
                <a:gd name="T32" fmla="*/ 22 w 44"/>
                <a:gd name="T33" fmla="*/ 50 h 60"/>
                <a:gd name="T34" fmla="*/ 20 w 44"/>
                <a:gd name="T35" fmla="*/ 56 h 60"/>
                <a:gd name="T36" fmla="*/ 15 w 44"/>
                <a:gd name="T3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60">
                  <a:moveTo>
                    <a:pt x="15" y="60"/>
                  </a:moveTo>
                  <a:cubicBezTo>
                    <a:pt x="14" y="60"/>
                    <a:pt x="14" y="60"/>
                    <a:pt x="14" y="60"/>
                  </a:cubicBezTo>
                  <a:cubicBezTo>
                    <a:pt x="11" y="60"/>
                    <a:pt x="9" y="58"/>
                    <a:pt x="9" y="55"/>
                  </a:cubicBezTo>
                  <a:cubicBezTo>
                    <a:pt x="1" y="7"/>
                    <a:pt x="1" y="7"/>
                    <a:pt x="1" y="7"/>
                  </a:cubicBezTo>
                  <a:cubicBezTo>
                    <a:pt x="0" y="4"/>
                    <a:pt x="3" y="1"/>
                    <a:pt x="6" y="0"/>
                  </a:cubicBezTo>
                  <a:cubicBezTo>
                    <a:pt x="9" y="0"/>
                    <a:pt x="12" y="2"/>
                    <a:pt x="13" y="5"/>
                  </a:cubicBezTo>
                  <a:cubicBezTo>
                    <a:pt x="16" y="28"/>
                    <a:pt x="16" y="28"/>
                    <a:pt x="16" y="28"/>
                  </a:cubicBezTo>
                  <a:cubicBezTo>
                    <a:pt x="17" y="26"/>
                    <a:pt x="20" y="24"/>
                    <a:pt x="22" y="24"/>
                  </a:cubicBezTo>
                  <a:cubicBezTo>
                    <a:pt x="22" y="24"/>
                    <a:pt x="22" y="24"/>
                    <a:pt x="22" y="24"/>
                  </a:cubicBezTo>
                  <a:cubicBezTo>
                    <a:pt x="25" y="24"/>
                    <a:pt x="27" y="26"/>
                    <a:pt x="28" y="28"/>
                  </a:cubicBezTo>
                  <a:cubicBezTo>
                    <a:pt x="32" y="5"/>
                    <a:pt x="32" y="5"/>
                    <a:pt x="32" y="5"/>
                  </a:cubicBezTo>
                  <a:cubicBezTo>
                    <a:pt x="32" y="2"/>
                    <a:pt x="35" y="0"/>
                    <a:pt x="38" y="0"/>
                  </a:cubicBezTo>
                  <a:cubicBezTo>
                    <a:pt x="42" y="1"/>
                    <a:pt x="44" y="4"/>
                    <a:pt x="43" y="7"/>
                  </a:cubicBezTo>
                  <a:cubicBezTo>
                    <a:pt x="36" y="55"/>
                    <a:pt x="36" y="55"/>
                    <a:pt x="36" y="55"/>
                  </a:cubicBezTo>
                  <a:cubicBezTo>
                    <a:pt x="35" y="58"/>
                    <a:pt x="33" y="60"/>
                    <a:pt x="30" y="60"/>
                  </a:cubicBezTo>
                  <a:cubicBezTo>
                    <a:pt x="27" y="60"/>
                    <a:pt x="25" y="59"/>
                    <a:pt x="24" y="56"/>
                  </a:cubicBezTo>
                  <a:cubicBezTo>
                    <a:pt x="22" y="50"/>
                    <a:pt x="22" y="50"/>
                    <a:pt x="22" y="50"/>
                  </a:cubicBezTo>
                  <a:cubicBezTo>
                    <a:pt x="20" y="56"/>
                    <a:pt x="20" y="56"/>
                    <a:pt x="20" y="56"/>
                  </a:cubicBezTo>
                  <a:cubicBezTo>
                    <a:pt x="19" y="59"/>
                    <a:pt x="17" y="60"/>
                    <a:pt x="15"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7" name="Freeform 43">
              <a:extLst>
                <a:ext uri="{FF2B5EF4-FFF2-40B4-BE49-F238E27FC236}">
                  <a16:creationId xmlns:a16="http://schemas.microsoft.com/office/drawing/2014/main" id="{FB6FDB0C-DCB7-4FE8-9FA3-84C92745C3FF}"/>
                </a:ext>
              </a:extLst>
            </p:cNvPr>
            <p:cNvSpPr>
              <a:spLocks/>
            </p:cNvSpPr>
            <p:nvPr/>
          </p:nvSpPr>
          <p:spPr bwMode="auto">
            <a:xfrm>
              <a:off x="3625" y="608"/>
              <a:ext cx="63" cy="88"/>
            </a:xfrm>
            <a:custGeom>
              <a:avLst/>
              <a:gdLst>
                <a:gd name="T0" fmla="*/ 14 w 43"/>
                <a:gd name="T1" fmla="*/ 60 h 60"/>
                <a:gd name="T2" fmla="*/ 13 w 43"/>
                <a:gd name="T3" fmla="*/ 60 h 60"/>
                <a:gd name="T4" fmla="*/ 8 w 43"/>
                <a:gd name="T5" fmla="*/ 55 h 60"/>
                <a:gd name="T6" fmla="*/ 0 w 43"/>
                <a:gd name="T7" fmla="*/ 7 h 60"/>
                <a:gd name="T8" fmla="*/ 5 w 43"/>
                <a:gd name="T9" fmla="*/ 0 h 60"/>
                <a:gd name="T10" fmla="*/ 12 w 43"/>
                <a:gd name="T11" fmla="*/ 5 h 60"/>
                <a:gd name="T12" fmla="*/ 16 w 43"/>
                <a:gd name="T13" fmla="*/ 28 h 60"/>
                <a:gd name="T14" fmla="*/ 21 w 43"/>
                <a:gd name="T15" fmla="*/ 24 h 60"/>
                <a:gd name="T16" fmla="*/ 21 w 43"/>
                <a:gd name="T17" fmla="*/ 24 h 60"/>
                <a:gd name="T18" fmla="*/ 27 w 43"/>
                <a:gd name="T19" fmla="*/ 28 h 60"/>
                <a:gd name="T20" fmla="*/ 31 w 43"/>
                <a:gd name="T21" fmla="*/ 5 h 60"/>
                <a:gd name="T22" fmla="*/ 38 w 43"/>
                <a:gd name="T23" fmla="*/ 0 h 60"/>
                <a:gd name="T24" fmla="*/ 43 w 43"/>
                <a:gd name="T25" fmla="*/ 7 h 60"/>
                <a:gd name="T26" fmla="*/ 35 w 43"/>
                <a:gd name="T27" fmla="*/ 55 h 60"/>
                <a:gd name="T28" fmla="*/ 30 w 43"/>
                <a:gd name="T29" fmla="*/ 60 h 60"/>
                <a:gd name="T30" fmla="*/ 23 w 43"/>
                <a:gd name="T31" fmla="*/ 56 h 60"/>
                <a:gd name="T32" fmla="*/ 21 w 43"/>
                <a:gd name="T33" fmla="*/ 50 h 60"/>
                <a:gd name="T34" fmla="*/ 19 w 43"/>
                <a:gd name="T35" fmla="*/ 56 h 60"/>
                <a:gd name="T36" fmla="*/ 14 w 43"/>
                <a:gd name="T3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60">
                  <a:moveTo>
                    <a:pt x="14" y="60"/>
                  </a:moveTo>
                  <a:cubicBezTo>
                    <a:pt x="14" y="60"/>
                    <a:pt x="13" y="60"/>
                    <a:pt x="13" y="60"/>
                  </a:cubicBezTo>
                  <a:cubicBezTo>
                    <a:pt x="11" y="60"/>
                    <a:pt x="8" y="58"/>
                    <a:pt x="8" y="55"/>
                  </a:cubicBezTo>
                  <a:cubicBezTo>
                    <a:pt x="0" y="7"/>
                    <a:pt x="0" y="7"/>
                    <a:pt x="0" y="7"/>
                  </a:cubicBezTo>
                  <a:cubicBezTo>
                    <a:pt x="0" y="4"/>
                    <a:pt x="2" y="1"/>
                    <a:pt x="5" y="0"/>
                  </a:cubicBezTo>
                  <a:cubicBezTo>
                    <a:pt x="8" y="0"/>
                    <a:pt x="12" y="2"/>
                    <a:pt x="12" y="5"/>
                  </a:cubicBezTo>
                  <a:cubicBezTo>
                    <a:pt x="16" y="28"/>
                    <a:pt x="16" y="28"/>
                    <a:pt x="16" y="28"/>
                  </a:cubicBezTo>
                  <a:cubicBezTo>
                    <a:pt x="17" y="26"/>
                    <a:pt x="19" y="24"/>
                    <a:pt x="21" y="24"/>
                  </a:cubicBezTo>
                  <a:cubicBezTo>
                    <a:pt x="21" y="24"/>
                    <a:pt x="21" y="24"/>
                    <a:pt x="21" y="24"/>
                  </a:cubicBezTo>
                  <a:cubicBezTo>
                    <a:pt x="24" y="24"/>
                    <a:pt x="26" y="26"/>
                    <a:pt x="27" y="28"/>
                  </a:cubicBezTo>
                  <a:cubicBezTo>
                    <a:pt x="31" y="5"/>
                    <a:pt x="31" y="5"/>
                    <a:pt x="31" y="5"/>
                  </a:cubicBezTo>
                  <a:cubicBezTo>
                    <a:pt x="31" y="2"/>
                    <a:pt x="34" y="0"/>
                    <a:pt x="38" y="0"/>
                  </a:cubicBezTo>
                  <a:cubicBezTo>
                    <a:pt x="41" y="1"/>
                    <a:pt x="43" y="4"/>
                    <a:pt x="43" y="7"/>
                  </a:cubicBezTo>
                  <a:cubicBezTo>
                    <a:pt x="35" y="55"/>
                    <a:pt x="35" y="55"/>
                    <a:pt x="35" y="55"/>
                  </a:cubicBezTo>
                  <a:cubicBezTo>
                    <a:pt x="35" y="58"/>
                    <a:pt x="32" y="60"/>
                    <a:pt x="30" y="60"/>
                  </a:cubicBezTo>
                  <a:cubicBezTo>
                    <a:pt x="27" y="60"/>
                    <a:pt x="24" y="59"/>
                    <a:pt x="23" y="56"/>
                  </a:cubicBezTo>
                  <a:cubicBezTo>
                    <a:pt x="21" y="50"/>
                    <a:pt x="21" y="50"/>
                    <a:pt x="21" y="50"/>
                  </a:cubicBezTo>
                  <a:cubicBezTo>
                    <a:pt x="19" y="56"/>
                    <a:pt x="19" y="56"/>
                    <a:pt x="19" y="56"/>
                  </a:cubicBezTo>
                  <a:cubicBezTo>
                    <a:pt x="19" y="59"/>
                    <a:pt x="16" y="60"/>
                    <a:pt x="14"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08" name="Freeform 44">
              <a:extLst>
                <a:ext uri="{FF2B5EF4-FFF2-40B4-BE49-F238E27FC236}">
                  <a16:creationId xmlns:a16="http://schemas.microsoft.com/office/drawing/2014/main" id="{838F42A3-C67B-4A82-B7A3-2AB7069C5C04}"/>
                </a:ext>
              </a:extLst>
            </p:cNvPr>
            <p:cNvSpPr>
              <a:spLocks/>
            </p:cNvSpPr>
            <p:nvPr/>
          </p:nvSpPr>
          <p:spPr bwMode="auto">
            <a:xfrm>
              <a:off x="3731" y="608"/>
              <a:ext cx="64" cy="88"/>
            </a:xfrm>
            <a:custGeom>
              <a:avLst/>
              <a:gdLst>
                <a:gd name="T0" fmla="*/ 29 w 43"/>
                <a:gd name="T1" fmla="*/ 60 h 60"/>
                <a:gd name="T2" fmla="*/ 24 w 43"/>
                <a:gd name="T3" fmla="*/ 56 h 60"/>
                <a:gd name="T4" fmla="*/ 22 w 43"/>
                <a:gd name="T5" fmla="*/ 50 h 60"/>
                <a:gd name="T6" fmla="*/ 20 w 43"/>
                <a:gd name="T7" fmla="*/ 56 h 60"/>
                <a:gd name="T8" fmla="*/ 14 w 43"/>
                <a:gd name="T9" fmla="*/ 60 h 60"/>
                <a:gd name="T10" fmla="*/ 8 w 43"/>
                <a:gd name="T11" fmla="*/ 55 h 60"/>
                <a:gd name="T12" fmla="*/ 1 w 43"/>
                <a:gd name="T13" fmla="*/ 7 h 60"/>
                <a:gd name="T14" fmla="*/ 5 w 43"/>
                <a:gd name="T15" fmla="*/ 0 h 60"/>
                <a:gd name="T16" fmla="*/ 12 w 43"/>
                <a:gd name="T17" fmla="*/ 5 h 60"/>
                <a:gd name="T18" fmla="*/ 16 w 43"/>
                <a:gd name="T19" fmla="*/ 28 h 60"/>
                <a:gd name="T20" fmla="*/ 22 w 43"/>
                <a:gd name="T21" fmla="*/ 24 h 60"/>
                <a:gd name="T22" fmla="*/ 22 w 43"/>
                <a:gd name="T23" fmla="*/ 24 h 60"/>
                <a:gd name="T24" fmla="*/ 27 w 43"/>
                <a:gd name="T25" fmla="*/ 28 h 60"/>
                <a:gd name="T26" fmla="*/ 31 w 43"/>
                <a:gd name="T27" fmla="*/ 5 h 60"/>
                <a:gd name="T28" fmla="*/ 38 w 43"/>
                <a:gd name="T29" fmla="*/ 0 h 60"/>
                <a:gd name="T30" fmla="*/ 43 w 43"/>
                <a:gd name="T31" fmla="*/ 7 h 60"/>
                <a:gd name="T32" fmla="*/ 35 w 43"/>
                <a:gd name="T33" fmla="*/ 55 h 60"/>
                <a:gd name="T34" fmla="*/ 30 w 43"/>
                <a:gd name="T35" fmla="*/ 60 h 60"/>
                <a:gd name="T36" fmla="*/ 29 w 43"/>
                <a:gd name="T3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60">
                  <a:moveTo>
                    <a:pt x="29" y="60"/>
                  </a:moveTo>
                  <a:cubicBezTo>
                    <a:pt x="27" y="60"/>
                    <a:pt x="24" y="59"/>
                    <a:pt x="24" y="56"/>
                  </a:cubicBezTo>
                  <a:cubicBezTo>
                    <a:pt x="22" y="50"/>
                    <a:pt x="22" y="50"/>
                    <a:pt x="22" y="50"/>
                  </a:cubicBezTo>
                  <a:cubicBezTo>
                    <a:pt x="20" y="56"/>
                    <a:pt x="20" y="56"/>
                    <a:pt x="20" y="56"/>
                  </a:cubicBezTo>
                  <a:cubicBezTo>
                    <a:pt x="19" y="59"/>
                    <a:pt x="16" y="60"/>
                    <a:pt x="14" y="60"/>
                  </a:cubicBezTo>
                  <a:cubicBezTo>
                    <a:pt x="11" y="60"/>
                    <a:pt x="9" y="58"/>
                    <a:pt x="8" y="55"/>
                  </a:cubicBezTo>
                  <a:cubicBezTo>
                    <a:pt x="1" y="7"/>
                    <a:pt x="1" y="7"/>
                    <a:pt x="1" y="7"/>
                  </a:cubicBezTo>
                  <a:cubicBezTo>
                    <a:pt x="0" y="4"/>
                    <a:pt x="2" y="1"/>
                    <a:pt x="5" y="0"/>
                  </a:cubicBezTo>
                  <a:cubicBezTo>
                    <a:pt x="9" y="0"/>
                    <a:pt x="12" y="2"/>
                    <a:pt x="12" y="5"/>
                  </a:cubicBezTo>
                  <a:cubicBezTo>
                    <a:pt x="16" y="28"/>
                    <a:pt x="16" y="28"/>
                    <a:pt x="16" y="28"/>
                  </a:cubicBezTo>
                  <a:cubicBezTo>
                    <a:pt x="17" y="26"/>
                    <a:pt x="19" y="24"/>
                    <a:pt x="22" y="24"/>
                  </a:cubicBezTo>
                  <a:cubicBezTo>
                    <a:pt x="22" y="24"/>
                    <a:pt x="22" y="24"/>
                    <a:pt x="22" y="24"/>
                  </a:cubicBezTo>
                  <a:cubicBezTo>
                    <a:pt x="24" y="24"/>
                    <a:pt x="27" y="26"/>
                    <a:pt x="27" y="28"/>
                  </a:cubicBezTo>
                  <a:cubicBezTo>
                    <a:pt x="31" y="5"/>
                    <a:pt x="31" y="5"/>
                    <a:pt x="31" y="5"/>
                  </a:cubicBezTo>
                  <a:cubicBezTo>
                    <a:pt x="32" y="2"/>
                    <a:pt x="35" y="0"/>
                    <a:pt x="38" y="0"/>
                  </a:cubicBezTo>
                  <a:cubicBezTo>
                    <a:pt x="41" y="1"/>
                    <a:pt x="43" y="4"/>
                    <a:pt x="43" y="7"/>
                  </a:cubicBezTo>
                  <a:cubicBezTo>
                    <a:pt x="35" y="55"/>
                    <a:pt x="35" y="55"/>
                    <a:pt x="35" y="55"/>
                  </a:cubicBezTo>
                  <a:cubicBezTo>
                    <a:pt x="35" y="58"/>
                    <a:pt x="33" y="60"/>
                    <a:pt x="30" y="60"/>
                  </a:cubicBezTo>
                  <a:cubicBezTo>
                    <a:pt x="30" y="60"/>
                    <a:pt x="30" y="60"/>
                    <a:pt x="29"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grpSp>
      <p:sp>
        <p:nvSpPr>
          <p:cNvPr id="310" name="Marcador de texto 7">
            <a:hlinkClick r:id="rId8"/>
            <a:extLst>
              <a:ext uri="{FF2B5EF4-FFF2-40B4-BE49-F238E27FC236}">
                <a16:creationId xmlns:a16="http://schemas.microsoft.com/office/drawing/2014/main" id="{660CEB8F-C8B8-482D-9DDD-6ED0268471BE}"/>
              </a:ext>
            </a:extLst>
          </p:cNvPr>
          <p:cNvSpPr txBox="1">
            <a:spLocks/>
          </p:cNvSpPr>
          <p:nvPr/>
        </p:nvSpPr>
        <p:spPr>
          <a:xfrm>
            <a:off x="384173" y="3203978"/>
            <a:ext cx="5593939" cy="659273"/>
          </a:xfrm>
          <a:prstGeom prst="rect">
            <a:avLst/>
          </a:prstGeom>
          <a:solidFill>
            <a:schemeClr val="bg1">
              <a:lumMod val="95000"/>
            </a:schemeClr>
          </a:solidFill>
        </p:spPr>
        <p:txBody>
          <a:bodyPr vert="horz" wrap="square" lIns="576000" tIns="0" rIns="0" bIns="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l"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How to Write a Consulting Proposal: Guide and Templates</a:t>
            </a:r>
          </a:p>
        </p:txBody>
      </p:sp>
      <p:grpSp>
        <p:nvGrpSpPr>
          <p:cNvPr id="311" name="Group 57">
            <a:extLst>
              <a:ext uri="{FF2B5EF4-FFF2-40B4-BE49-F238E27FC236}">
                <a16:creationId xmlns:a16="http://schemas.microsoft.com/office/drawing/2014/main" id="{6B594FD4-D970-4B71-87F0-5944CEE0DA7B}"/>
              </a:ext>
            </a:extLst>
          </p:cNvPr>
          <p:cNvGrpSpPr>
            <a:grpSpLocks noChangeAspect="1"/>
          </p:cNvGrpSpPr>
          <p:nvPr/>
        </p:nvGrpSpPr>
        <p:grpSpPr bwMode="auto">
          <a:xfrm>
            <a:off x="498546" y="3343986"/>
            <a:ext cx="310214" cy="379257"/>
            <a:chOff x="6598" y="457"/>
            <a:chExt cx="319" cy="390"/>
          </a:xfrm>
          <a:solidFill>
            <a:schemeClr val="tx2"/>
          </a:solidFill>
        </p:grpSpPr>
        <p:sp>
          <p:nvSpPr>
            <p:cNvPr id="312" name="Freeform 58">
              <a:extLst>
                <a:ext uri="{FF2B5EF4-FFF2-40B4-BE49-F238E27FC236}">
                  <a16:creationId xmlns:a16="http://schemas.microsoft.com/office/drawing/2014/main" id="{5ED263DA-9FAE-403A-8F4B-ED870454F979}"/>
                </a:ext>
              </a:extLst>
            </p:cNvPr>
            <p:cNvSpPr>
              <a:spLocks noEditPoints="1"/>
            </p:cNvSpPr>
            <p:nvPr/>
          </p:nvSpPr>
          <p:spPr bwMode="auto">
            <a:xfrm>
              <a:off x="6669" y="457"/>
              <a:ext cx="248" cy="319"/>
            </a:xfrm>
            <a:custGeom>
              <a:avLst/>
              <a:gdLst>
                <a:gd name="T0" fmla="*/ 162 w 168"/>
                <a:gd name="T1" fmla="*/ 216 h 216"/>
                <a:gd name="T2" fmla="*/ 6 w 168"/>
                <a:gd name="T3" fmla="*/ 216 h 216"/>
                <a:gd name="T4" fmla="*/ 0 w 168"/>
                <a:gd name="T5" fmla="*/ 210 h 216"/>
                <a:gd name="T6" fmla="*/ 0 w 168"/>
                <a:gd name="T7" fmla="*/ 6 h 216"/>
                <a:gd name="T8" fmla="*/ 6 w 168"/>
                <a:gd name="T9" fmla="*/ 0 h 216"/>
                <a:gd name="T10" fmla="*/ 102 w 168"/>
                <a:gd name="T11" fmla="*/ 0 h 216"/>
                <a:gd name="T12" fmla="*/ 106 w 168"/>
                <a:gd name="T13" fmla="*/ 1 h 216"/>
                <a:gd name="T14" fmla="*/ 166 w 168"/>
                <a:gd name="T15" fmla="*/ 61 h 216"/>
                <a:gd name="T16" fmla="*/ 168 w 168"/>
                <a:gd name="T17" fmla="*/ 66 h 216"/>
                <a:gd name="T18" fmla="*/ 168 w 168"/>
                <a:gd name="T19" fmla="*/ 210 h 216"/>
                <a:gd name="T20" fmla="*/ 162 w 168"/>
                <a:gd name="T21" fmla="*/ 216 h 216"/>
                <a:gd name="T22" fmla="*/ 12 w 168"/>
                <a:gd name="T23" fmla="*/ 204 h 216"/>
                <a:gd name="T24" fmla="*/ 156 w 168"/>
                <a:gd name="T25" fmla="*/ 204 h 216"/>
                <a:gd name="T26" fmla="*/ 156 w 168"/>
                <a:gd name="T27" fmla="*/ 68 h 216"/>
                <a:gd name="T28" fmla="*/ 99 w 168"/>
                <a:gd name="T29" fmla="*/ 12 h 216"/>
                <a:gd name="T30" fmla="*/ 12 w 168"/>
                <a:gd name="T31" fmla="*/ 12 h 216"/>
                <a:gd name="T32" fmla="*/ 12 w 168"/>
                <a:gd name="T33" fmla="*/ 204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8" h="216">
                  <a:moveTo>
                    <a:pt x="162" y="216"/>
                  </a:moveTo>
                  <a:cubicBezTo>
                    <a:pt x="6" y="216"/>
                    <a:pt x="6" y="216"/>
                    <a:pt x="6" y="216"/>
                  </a:cubicBezTo>
                  <a:cubicBezTo>
                    <a:pt x="3" y="216"/>
                    <a:pt x="0" y="213"/>
                    <a:pt x="0" y="210"/>
                  </a:cubicBezTo>
                  <a:cubicBezTo>
                    <a:pt x="0" y="6"/>
                    <a:pt x="0" y="6"/>
                    <a:pt x="0" y="6"/>
                  </a:cubicBezTo>
                  <a:cubicBezTo>
                    <a:pt x="0" y="2"/>
                    <a:pt x="3" y="0"/>
                    <a:pt x="6" y="0"/>
                  </a:cubicBezTo>
                  <a:cubicBezTo>
                    <a:pt x="102" y="0"/>
                    <a:pt x="102" y="0"/>
                    <a:pt x="102" y="0"/>
                  </a:cubicBezTo>
                  <a:cubicBezTo>
                    <a:pt x="103" y="0"/>
                    <a:pt x="105" y="0"/>
                    <a:pt x="106" y="1"/>
                  </a:cubicBezTo>
                  <a:cubicBezTo>
                    <a:pt x="166" y="61"/>
                    <a:pt x="166" y="61"/>
                    <a:pt x="166" y="61"/>
                  </a:cubicBezTo>
                  <a:cubicBezTo>
                    <a:pt x="167" y="63"/>
                    <a:pt x="168" y="64"/>
                    <a:pt x="168" y="66"/>
                  </a:cubicBezTo>
                  <a:cubicBezTo>
                    <a:pt x="168" y="210"/>
                    <a:pt x="168" y="210"/>
                    <a:pt x="168" y="210"/>
                  </a:cubicBezTo>
                  <a:cubicBezTo>
                    <a:pt x="168" y="213"/>
                    <a:pt x="165" y="216"/>
                    <a:pt x="162" y="216"/>
                  </a:cubicBezTo>
                  <a:close/>
                  <a:moveTo>
                    <a:pt x="12" y="204"/>
                  </a:moveTo>
                  <a:cubicBezTo>
                    <a:pt x="156" y="204"/>
                    <a:pt x="156" y="204"/>
                    <a:pt x="156" y="204"/>
                  </a:cubicBezTo>
                  <a:cubicBezTo>
                    <a:pt x="156" y="68"/>
                    <a:pt x="156" y="68"/>
                    <a:pt x="156" y="68"/>
                  </a:cubicBezTo>
                  <a:cubicBezTo>
                    <a:pt x="99" y="12"/>
                    <a:pt x="99" y="12"/>
                    <a:pt x="99" y="12"/>
                  </a:cubicBezTo>
                  <a:cubicBezTo>
                    <a:pt x="12" y="12"/>
                    <a:pt x="12" y="12"/>
                    <a:pt x="12" y="12"/>
                  </a:cubicBezTo>
                  <a:lnTo>
                    <a:pt x="12"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13" name="Freeform 59">
              <a:extLst>
                <a:ext uri="{FF2B5EF4-FFF2-40B4-BE49-F238E27FC236}">
                  <a16:creationId xmlns:a16="http://schemas.microsoft.com/office/drawing/2014/main" id="{5939DB82-990B-4827-A820-918C9CC5D8FB}"/>
                </a:ext>
              </a:extLst>
            </p:cNvPr>
            <p:cNvSpPr>
              <a:spLocks/>
            </p:cNvSpPr>
            <p:nvPr/>
          </p:nvSpPr>
          <p:spPr bwMode="auto">
            <a:xfrm>
              <a:off x="6633" y="492"/>
              <a:ext cx="249" cy="320"/>
            </a:xfrm>
            <a:custGeom>
              <a:avLst/>
              <a:gdLst>
                <a:gd name="T0" fmla="*/ 162 w 168"/>
                <a:gd name="T1" fmla="*/ 216 h 216"/>
                <a:gd name="T2" fmla="*/ 6 w 168"/>
                <a:gd name="T3" fmla="*/ 216 h 216"/>
                <a:gd name="T4" fmla="*/ 0 w 168"/>
                <a:gd name="T5" fmla="*/ 210 h 216"/>
                <a:gd name="T6" fmla="*/ 0 w 168"/>
                <a:gd name="T7" fmla="*/ 6 h 216"/>
                <a:gd name="T8" fmla="*/ 6 w 168"/>
                <a:gd name="T9" fmla="*/ 0 h 216"/>
                <a:gd name="T10" fmla="*/ 30 w 168"/>
                <a:gd name="T11" fmla="*/ 0 h 216"/>
                <a:gd name="T12" fmla="*/ 36 w 168"/>
                <a:gd name="T13" fmla="*/ 6 h 216"/>
                <a:gd name="T14" fmla="*/ 30 w 168"/>
                <a:gd name="T15" fmla="*/ 12 h 216"/>
                <a:gd name="T16" fmla="*/ 12 w 168"/>
                <a:gd name="T17" fmla="*/ 12 h 216"/>
                <a:gd name="T18" fmla="*/ 12 w 168"/>
                <a:gd name="T19" fmla="*/ 204 h 216"/>
                <a:gd name="T20" fmla="*/ 156 w 168"/>
                <a:gd name="T21" fmla="*/ 204 h 216"/>
                <a:gd name="T22" fmla="*/ 156 w 168"/>
                <a:gd name="T23" fmla="*/ 186 h 216"/>
                <a:gd name="T24" fmla="*/ 162 w 168"/>
                <a:gd name="T25" fmla="*/ 180 h 216"/>
                <a:gd name="T26" fmla="*/ 168 w 168"/>
                <a:gd name="T27" fmla="*/ 186 h 216"/>
                <a:gd name="T28" fmla="*/ 168 w 168"/>
                <a:gd name="T29" fmla="*/ 210 h 216"/>
                <a:gd name="T30" fmla="*/ 162 w 168"/>
                <a:gd name="T31" fmla="*/ 21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8" h="216">
                  <a:moveTo>
                    <a:pt x="162" y="216"/>
                  </a:moveTo>
                  <a:cubicBezTo>
                    <a:pt x="6" y="216"/>
                    <a:pt x="6" y="216"/>
                    <a:pt x="6" y="216"/>
                  </a:cubicBezTo>
                  <a:cubicBezTo>
                    <a:pt x="3" y="216"/>
                    <a:pt x="0" y="213"/>
                    <a:pt x="0" y="210"/>
                  </a:cubicBezTo>
                  <a:cubicBezTo>
                    <a:pt x="0" y="6"/>
                    <a:pt x="0" y="6"/>
                    <a:pt x="0" y="6"/>
                  </a:cubicBezTo>
                  <a:cubicBezTo>
                    <a:pt x="0" y="2"/>
                    <a:pt x="3" y="0"/>
                    <a:pt x="6" y="0"/>
                  </a:cubicBezTo>
                  <a:cubicBezTo>
                    <a:pt x="30" y="0"/>
                    <a:pt x="30" y="0"/>
                    <a:pt x="30" y="0"/>
                  </a:cubicBezTo>
                  <a:cubicBezTo>
                    <a:pt x="33" y="0"/>
                    <a:pt x="36" y="2"/>
                    <a:pt x="36" y="6"/>
                  </a:cubicBezTo>
                  <a:cubicBezTo>
                    <a:pt x="36" y="9"/>
                    <a:pt x="33" y="12"/>
                    <a:pt x="30" y="12"/>
                  </a:cubicBezTo>
                  <a:cubicBezTo>
                    <a:pt x="12" y="12"/>
                    <a:pt x="12" y="12"/>
                    <a:pt x="12" y="12"/>
                  </a:cubicBezTo>
                  <a:cubicBezTo>
                    <a:pt x="12" y="204"/>
                    <a:pt x="12" y="204"/>
                    <a:pt x="12" y="204"/>
                  </a:cubicBezTo>
                  <a:cubicBezTo>
                    <a:pt x="156" y="204"/>
                    <a:pt x="156" y="204"/>
                    <a:pt x="156" y="204"/>
                  </a:cubicBezTo>
                  <a:cubicBezTo>
                    <a:pt x="156" y="186"/>
                    <a:pt x="156" y="186"/>
                    <a:pt x="156" y="186"/>
                  </a:cubicBezTo>
                  <a:cubicBezTo>
                    <a:pt x="156" y="182"/>
                    <a:pt x="159" y="180"/>
                    <a:pt x="162" y="180"/>
                  </a:cubicBezTo>
                  <a:cubicBezTo>
                    <a:pt x="165" y="180"/>
                    <a:pt x="168" y="182"/>
                    <a:pt x="168" y="186"/>
                  </a:cubicBezTo>
                  <a:cubicBezTo>
                    <a:pt x="168" y="210"/>
                    <a:pt x="168" y="210"/>
                    <a:pt x="168" y="210"/>
                  </a:cubicBezTo>
                  <a:cubicBezTo>
                    <a:pt x="168" y="213"/>
                    <a:pt x="165" y="216"/>
                    <a:pt x="162" y="2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14" name="Freeform 60">
              <a:extLst>
                <a:ext uri="{FF2B5EF4-FFF2-40B4-BE49-F238E27FC236}">
                  <a16:creationId xmlns:a16="http://schemas.microsoft.com/office/drawing/2014/main" id="{E339F2BC-D735-4FAD-BD90-5190B06E3790}"/>
                </a:ext>
              </a:extLst>
            </p:cNvPr>
            <p:cNvSpPr>
              <a:spLocks/>
            </p:cNvSpPr>
            <p:nvPr/>
          </p:nvSpPr>
          <p:spPr bwMode="auto">
            <a:xfrm>
              <a:off x="6598" y="528"/>
              <a:ext cx="248" cy="319"/>
            </a:xfrm>
            <a:custGeom>
              <a:avLst/>
              <a:gdLst>
                <a:gd name="T0" fmla="*/ 162 w 168"/>
                <a:gd name="T1" fmla="*/ 216 h 216"/>
                <a:gd name="T2" fmla="*/ 6 w 168"/>
                <a:gd name="T3" fmla="*/ 216 h 216"/>
                <a:gd name="T4" fmla="*/ 0 w 168"/>
                <a:gd name="T5" fmla="*/ 210 h 216"/>
                <a:gd name="T6" fmla="*/ 0 w 168"/>
                <a:gd name="T7" fmla="*/ 6 h 216"/>
                <a:gd name="T8" fmla="*/ 6 w 168"/>
                <a:gd name="T9" fmla="*/ 0 h 216"/>
                <a:gd name="T10" fmla="*/ 30 w 168"/>
                <a:gd name="T11" fmla="*/ 0 h 216"/>
                <a:gd name="T12" fmla="*/ 36 w 168"/>
                <a:gd name="T13" fmla="*/ 6 h 216"/>
                <a:gd name="T14" fmla="*/ 30 w 168"/>
                <a:gd name="T15" fmla="*/ 12 h 216"/>
                <a:gd name="T16" fmla="*/ 12 w 168"/>
                <a:gd name="T17" fmla="*/ 12 h 216"/>
                <a:gd name="T18" fmla="*/ 12 w 168"/>
                <a:gd name="T19" fmla="*/ 204 h 216"/>
                <a:gd name="T20" fmla="*/ 156 w 168"/>
                <a:gd name="T21" fmla="*/ 204 h 216"/>
                <a:gd name="T22" fmla="*/ 156 w 168"/>
                <a:gd name="T23" fmla="*/ 186 h 216"/>
                <a:gd name="T24" fmla="*/ 162 w 168"/>
                <a:gd name="T25" fmla="*/ 180 h 216"/>
                <a:gd name="T26" fmla="*/ 168 w 168"/>
                <a:gd name="T27" fmla="*/ 186 h 216"/>
                <a:gd name="T28" fmla="*/ 168 w 168"/>
                <a:gd name="T29" fmla="*/ 210 h 216"/>
                <a:gd name="T30" fmla="*/ 162 w 168"/>
                <a:gd name="T31" fmla="*/ 21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8" h="216">
                  <a:moveTo>
                    <a:pt x="162" y="216"/>
                  </a:moveTo>
                  <a:cubicBezTo>
                    <a:pt x="6" y="216"/>
                    <a:pt x="6" y="216"/>
                    <a:pt x="6" y="216"/>
                  </a:cubicBezTo>
                  <a:cubicBezTo>
                    <a:pt x="3" y="216"/>
                    <a:pt x="0" y="213"/>
                    <a:pt x="0" y="210"/>
                  </a:cubicBezTo>
                  <a:cubicBezTo>
                    <a:pt x="0" y="6"/>
                    <a:pt x="0" y="6"/>
                    <a:pt x="0" y="6"/>
                  </a:cubicBezTo>
                  <a:cubicBezTo>
                    <a:pt x="0" y="2"/>
                    <a:pt x="3" y="0"/>
                    <a:pt x="6" y="0"/>
                  </a:cubicBezTo>
                  <a:cubicBezTo>
                    <a:pt x="30" y="0"/>
                    <a:pt x="30" y="0"/>
                    <a:pt x="30" y="0"/>
                  </a:cubicBezTo>
                  <a:cubicBezTo>
                    <a:pt x="33" y="0"/>
                    <a:pt x="36" y="2"/>
                    <a:pt x="36" y="6"/>
                  </a:cubicBezTo>
                  <a:cubicBezTo>
                    <a:pt x="36" y="9"/>
                    <a:pt x="33" y="12"/>
                    <a:pt x="30" y="12"/>
                  </a:cubicBezTo>
                  <a:cubicBezTo>
                    <a:pt x="12" y="12"/>
                    <a:pt x="12" y="12"/>
                    <a:pt x="12" y="12"/>
                  </a:cubicBezTo>
                  <a:cubicBezTo>
                    <a:pt x="12" y="204"/>
                    <a:pt x="12" y="204"/>
                    <a:pt x="12" y="204"/>
                  </a:cubicBezTo>
                  <a:cubicBezTo>
                    <a:pt x="156" y="204"/>
                    <a:pt x="156" y="204"/>
                    <a:pt x="156" y="204"/>
                  </a:cubicBezTo>
                  <a:cubicBezTo>
                    <a:pt x="156" y="186"/>
                    <a:pt x="156" y="186"/>
                    <a:pt x="156" y="186"/>
                  </a:cubicBezTo>
                  <a:cubicBezTo>
                    <a:pt x="156" y="182"/>
                    <a:pt x="159" y="180"/>
                    <a:pt x="162" y="180"/>
                  </a:cubicBezTo>
                  <a:cubicBezTo>
                    <a:pt x="165" y="180"/>
                    <a:pt x="168" y="182"/>
                    <a:pt x="168" y="186"/>
                  </a:cubicBezTo>
                  <a:cubicBezTo>
                    <a:pt x="168" y="210"/>
                    <a:pt x="168" y="210"/>
                    <a:pt x="168" y="210"/>
                  </a:cubicBezTo>
                  <a:cubicBezTo>
                    <a:pt x="168" y="213"/>
                    <a:pt x="165" y="216"/>
                    <a:pt x="162" y="2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15" name="Freeform 61">
              <a:extLst>
                <a:ext uri="{FF2B5EF4-FFF2-40B4-BE49-F238E27FC236}">
                  <a16:creationId xmlns:a16="http://schemas.microsoft.com/office/drawing/2014/main" id="{4A36DEEF-BA8C-40D2-BFA7-45BD8A040701}"/>
                </a:ext>
              </a:extLst>
            </p:cNvPr>
            <p:cNvSpPr>
              <a:spLocks/>
            </p:cNvSpPr>
            <p:nvPr/>
          </p:nvSpPr>
          <p:spPr bwMode="auto">
            <a:xfrm>
              <a:off x="6811" y="457"/>
              <a:ext cx="106" cy="106"/>
            </a:xfrm>
            <a:custGeom>
              <a:avLst/>
              <a:gdLst>
                <a:gd name="T0" fmla="*/ 66 w 72"/>
                <a:gd name="T1" fmla="*/ 72 h 72"/>
                <a:gd name="T2" fmla="*/ 6 w 72"/>
                <a:gd name="T3" fmla="*/ 72 h 72"/>
                <a:gd name="T4" fmla="*/ 0 w 72"/>
                <a:gd name="T5" fmla="*/ 66 h 72"/>
                <a:gd name="T6" fmla="*/ 0 w 72"/>
                <a:gd name="T7" fmla="*/ 6 h 72"/>
                <a:gd name="T8" fmla="*/ 6 w 72"/>
                <a:gd name="T9" fmla="*/ 0 h 72"/>
                <a:gd name="T10" fmla="*/ 12 w 72"/>
                <a:gd name="T11" fmla="*/ 6 h 72"/>
                <a:gd name="T12" fmla="*/ 12 w 72"/>
                <a:gd name="T13" fmla="*/ 60 h 72"/>
                <a:gd name="T14" fmla="*/ 66 w 72"/>
                <a:gd name="T15" fmla="*/ 60 h 72"/>
                <a:gd name="T16" fmla="*/ 72 w 72"/>
                <a:gd name="T17" fmla="*/ 66 h 72"/>
                <a:gd name="T18" fmla="*/ 66 w 72"/>
                <a:gd name="T19"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66" y="72"/>
                  </a:moveTo>
                  <a:cubicBezTo>
                    <a:pt x="6" y="72"/>
                    <a:pt x="6" y="72"/>
                    <a:pt x="6" y="72"/>
                  </a:cubicBezTo>
                  <a:cubicBezTo>
                    <a:pt x="3" y="72"/>
                    <a:pt x="0" y="69"/>
                    <a:pt x="0" y="66"/>
                  </a:cubicBezTo>
                  <a:cubicBezTo>
                    <a:pt x="0" y="6"/>
                    <a:pt x="0" y="6"/>
                    <a:pt x="0" y="6"/>
                  </a:cubicBezTo>
                  <a:cubicBezTo>
                    <a:pt x="0" y="2"/>
                    <a:pt x="3" y="0"/>
                    <a:pt x="6" y="0"/>
                  </a:cubicBezTo>
                  <a:cubicBezTo>
                    <a:pt x="9" y="0"/>
                    <a:pt x="12" y="2"/>
                    <a:pt x="12" y="6"/>
                  </a:cubicBezTo>
                  <a:cubicBezTo>
                    <a:pt x="12" y="60"/>
                    <a:pt x="12" y="60"/>
                    <a:pt x="12" y="60"/>
                  </a:cubicBezTo>
                  <a:cubicBezTo>
                    <a:pt x="66" y="60"/>
                    <a:pt x="66" y="60"/>
                    <a:pt x="66" y="60"/>
                  </a:cubicBezTo>
                  <a:cubicBezTo>
                    <a:pt x="69" y="60"/>
                    <a:pt x="72" y="62"/>
                    <a:pt x="72" y="66"/>
                  </a:cubicBezTo>
                  <a:cubicBezTo>
                    <a:pt x="72" y="69"/>
                    <a:pt x="69" y="72"/>
                    <a:pt x="6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grpSp>
      <p:sp>
        <p:nvSpPr>
          <p:cNvPr id="320" name="Marcador de texto 7">
            <a:hlinkClick r:id="rId9"/>
            <a:extLst>
              <a:ext uri="{FF2B5EF4-FFF2-40B4-BE49-F238E27FC236}">
                <a16:creationId xmlns:a16="http://schemas.microsoft.com/office/drawing/2014/main" id="{8FF08C60-994E-49E9-89B3-5F9CB665D1A8}"/>
              </a:ext>
            </a:extLst>
          </p:cNvPr>
          <p:cNvSpPr txBox="1">
            <a:spLocks/>
          </p:cNvSpPr>
          <p:nvPr/>
        </p:nvSpPr>
        <p:spPr>
          <a:xfrm>
            <a:off x="384173" y="1289596"/>
            <a:ext cx="5593939" cy="659273"/>
          </a:xfrm>
          <a:prstGeom prst="rect">
            <a:avLst/>
          </a:prstGeom>
          <a:solidFill>
            <a:schemeClr val="bg1">
              <a:lumMod val="95000"/>
            </a:schemeClr>
          </a:solidFill>
        </p:spPr>
        <p:txBody>
          <a:bodyPr vert="horz" wrap="square" lIns="576000" tIns="0" rIns="0" bIns="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l"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How To Set Consulting Fees</a:t>
            </a:r>
          </a:p>
        </p:txBody>
      </p:sp>
      <p:pic>
        <p:nvPicPr>
          <p:cNvPr id="321" name="Gráfico 155" descr="Calculadora contorno">
            <a:extLst>
              <a:ext uri="{FF2B5EF4-FFF2-40B4-BE49-F238E27FC236}">
                <a16:creationId xmlns:a16="http://schemas.microsoft.com/office/drawing/2014/main" id="{506B4F94-8746-4D5C-8A12-86B1A02463C9}"/>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9208" y="1364787"/>
            <a:ext cx="508891" cy="508891"/>
          </a:xfrm>
          <a:prstGeom prst="rect">
            <a:avLst/>
          </a:prstGeom>
        </p:spPr>
      </p:pic>
      <p:sp>
        <p:nvSpPr>
          <p:cNvPr id="326" name="Marcador de texto 7">
            <a:hlinkClick r:id="rId12"/>
            <a:extLst>
              <a:ext uri="{FF2B5EF4-FFF2-40B4-BE49-F238E27FC236}">
                <a16:creationId xmlns:a16="http://schemas.microsoft.com/office/drawing/2014/main" id="{19FB8F7C-F430-41D4-AE6B-598A7ACF1D70}"/>
              </a:ext>
            </a:extLst>
          </p:cNvPr>
          <p:cNvSpPr txBox="1">
            <a:spLocks/>
          </p:cNvSpPr>
          <p:nvPr/>
        </p:nvSpPr>
        <p:spPr>
          <a:xfrm>
            <a:off x="6221819" y="1289596"/>
            <a:ext cx="5593939" cy="659273"/>
          </a:xfrm>
          <a:prstGeom prst="rect">
            <a:avLst/>
          </a:prstGeom>
          <a:solidFill>
            <a:schemeClr val="bg1">
              <a:lumMod val="95000"/>
            </a:schemeClr>
          </a:solidFill>
        </p:spPr>
        <p:txBody>
          <a:bodyPr vert="horz" wrap="square" lIns="576000" tIns="0" rIns="0" bIns="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l"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LinkedIn for Consultants: Best Practices to Optimize Your Profile</a:t>
            </a:r>
          </a:p>
        </p:txBody>
      </p:sp>
      <p:grpSp>
        <p:nvGrpSpPr>
          <p:cNvPr id="327" name="Group 149">
            <a:extLst>
              <a:ext uri="{FF2B5EF4-FFF2-40B4-BE49-F238E27FC236}">
                <a16:creationId xmlns:a16="http://schemas.microsoft.com/office/drawing/2014/main" id="{4E6D048B-BBBA-4FB2-AAA9-D32BE178A60D}"/>
              </a:ext>
            </a:extLst>
          </p:cNvPr>
          <p:cNvGrpSpPr>
            <a:grpSpLocks noChangeAspect="1"/>
          </p:cNvGrpSpPr>
          <p:nvPr/>
        </p:nvGrpSpPr>
        <p:grpSpPr bwMode="auto">
          <a:xfrm>
            <a:off x="6280107" y="1485506"/>
            <a:ext cx="399771" cy="267453"/>
            <a:chOff x="1370" y="3066"/>
            <a:chExt cx="426" cy="285"/>
          </a:xfrm>
          <a:solidFill>
            <a:schemeClr val="tx2"/>
          </a:solidFill>
        </p:grpSpPr>
        <p:sp>
          <p:nvSpPr>
            <p:cNvPr id="328" name="Freeform 150">
              <a:extLst>
                <a:ext uri="{FF2B5EF4-FFF2-40B4-BE49-F238E27FC236}">
                  <a16:creationId xmlns:a16="http://schemas.microsoft.com/office/drawing/2014/main" id="{C3B2A998-C8AF-4A4A-A937-D66E249C74B0}"/>
                </a:ext>
              </a:extLst>
            </p:cNvPr>
            <p:cNvSpPr>
              <a:spLocks noEditPoints="1"/>
            </p:cNvSpPr>
            <p:nvPr/>
          </p:nvSpPr>
          <p:spPr bwMode="auto">
            <a:xfrm>
              <a:off x="1370" y="3066"/>
              <a:ext cx="284" cy="285"/>
            </a:xfrm>
            <a:custGeom>
              <a:avLst/>
              <a:gdLst>
                <a:gd name="T0" fmla="*/ 138 w 192"/>
                <a:gd name="T1" fmla="*/ 192 h 192"/>
                <a:gd name="T2" fmla="*/ 54 w 192"/>
                <a:gd name="T3" fmla="*/ 192 h 192"/>
                <a:gd name="T4" fmla="*/ 0 w 192"/>
                <a:gd name="T5" fmla="*/ 138 h 192"/>
                <a:gd name="T6" fmla="*/ 0 w 192"/>
                <a:gd name="T7" fmla="*/ 54 h 192"/>
                <a:gd name="T8" fmla="*/ 54 w 192"/>
                <a:gd name="T9" fmla="*/ 0 h 192"/>
                <a:gd name="T10" fmla="*/ 138 w 192"/>
                <a:gd name="T11" fmla="*/ 0 h 192"/>
                <a:gd name="T12" fmla="*/ 192 w 192"/>
                <a:gd name="T13" fmla="*/ 54 h 192"/>
                <a:gd name="T14" fmla="*/ 192 w 192"/>
                <a:gd name="T15" fmla="*/ 138 h 192"/>
                <a:gd name="T16" fmla="*/ 138 w 192"/>
                <a:gd name="T17" fmla="*/ 192 h 192"/>
                <a:gd name="T18" fmla="*/ 54 w 192"/>
                <a:gd name="T19" fmla="*/ 12 h 192"/>
                <a:gd name="T20" fmla="*/ 12 w 192"/>
                <a:gd name="T21" fmla="*/ 54 h 192"/>
                <a:gd name="T22" fmla="*/ 12 w 192"/>
                <a:gd name="T23" fmla="*/ 138 h 192"/>
                <a:gd name="T24" fmla="*/ 54 w 192"/>
                <a:gd name="T25" fmla="*/ 180 h 192"/>
                <a:gd name="T26" fmla="*/ 138 w 192"/>
                <a:gd name="T27" fmla="*/ 180 h 192"/>
                <a:gd name="T28" fmla="*/ 180 w 192"/>
                <a:gd name="T29" fmla="*/ 138 h 192"/>
                <a:gd name="T30" fmla="*/ 180 w 192"/>
                <a:gd name="T31" fmla="*/ 54 h 192"/>
                <a:gd name="T32" fmla="*/ 138 w 192"/>
                <a:gd name="T33" fmla="*/ 12 h 192"/>
                <a:gd name="T34" fmla="*/ 54 w 192"/>
                <a:gd name="T35"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192">
                  <a:moveTo>
                    <a:pt x="138" y="192"/>
                  </a:moveTo>
                  <a:cubicBezTo>
                    <a:pt x="54" y="192"/>
                    <a:pt x="54" y="192"/>
                    <a:pt x="54" y="192"/>
                  </a:cubicBezTo>
                  <a:cubicBezTo>
                    <a:pt x="24" y="192"/>
                    <a:pt x="0" y="168"/>
                    <a:pt x="0" y="138"/>
                  </a:cubicBezTo>
                  <a:cubicBezTo>
                    <a:pt x="0" y="54"/>
                    <a:pt x="0" y="54"/>
                    <a:pt x="0" y="54"/>
                  </a:cubicBezTo>
                  <a:cubicBezTo>
                    <a:pt x="0" y="24"/>
                    <a:pt x="24" y="0"/>
                    <a:pt x="54" y="0"/>
                  </a:cubicBezTo>
                  <a:cubicBezTo>
                    <a:pt x="138" y="0"/>
                    <a:pt x="138" y="0"/>
                    <a:pt x="138" y="0"/>
                  </a:cubicBezTo>
                  <a:cubicBezTo>
                    <a:pt x="168" y="0"/>
                    <a:pt x="192" y="24"/>
                    <a:pt x="192" y="54"/>
                  </a:cubicBezTo>
                  <a:cubicBezTo>
                    <a:pt x="192" y="138"/>
                    <a:pt x="192" y="138"/>
                    <a:pt x="192" y="138"/>
                  </a:cubicBezTo>
                  <a:cubicBezTo>
                    <a:pt x="192" y="168"/>
                    <a:pt x="168" y="192"/>
                    <a:pt x="138" y="192"/>
                  </a:cubicBezTo>
                  <a:close/>
                  <a:moveTo>
                    <a:pt x="54" y="12"/>
                  </a:moveTo>
                  <a:cubicBezTo>
                    <a:pt x="31" y="12"/>
                    <a:pt x="12" y="31"/>
                    <a:pt x="12" y="54"/>
                  </a:cubicBezTo>
                  <a:cubicBezTo>
                    <a:pt x="12" y="138"/>
                    <a:pt x="12" y="138"/>
                    <a:pt x="12" y="138"/>
                  </a:cubicBezTo>
                  <a:cubicBezTo>
                    <a:pt x="12" y="161"/>
                    <a:pt x="31" y="180"/>
                    <a:pt x="54" y="180"/>
                  </a:cubicBezTo>
                  <a:cubicBezTo>
                    <a:pt x="138" y="180"/>
                    <a:pt x="138" y="180"/>
                    <a:pt x="138" y="180"/>
                  </a:cubicBezTo>
                  <a:cubicBezTo>
                    <a:pt x="161" y="180"/>
                    <a:pt x="180" y="161"/>
                    <a:pt x="180" y="138"/>
                  </a:cubicBezTo>
                  <a:cubicBezTo>
                    <a:pt x="180" y="54"/>
                    <a:pt x="180" y="54"/>
                    <a:pt x="180" y="54"/>
                  </a:cubicBezTo>
                  <a:cubicBezTo>
                    <a:pt x="180" y="31"/>
                    <a:pt x="161" y="12"/>
                    <a:pt x="138" y="12"/>
                  </a:cubicBezTo>
                  <a:lnTo>
                    <a:pt x="5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29" name="Freeform 151">
              <a:extLst>
                <a:ext uri="{FF2B5EF4-FFF2-40B4-BE49-F238E27FC236}">
                  <a16:creationId xmlns:a16="http://schemas.microsoft.com/office/drawing/2014/main" id="{1B04A566-B43F-432E-A26D-7435711B2E89}"/>
                </a:ext>
              </a:extLst>
            </p:cNvPr>
            <p:cNvSpPr>
              <a:spLocks/>
            </p:cNvSpPr>
            <p:nvPr/>
          </p:nvSpPr>
          <p:spPr bwMode="auto">
            <a:xfrm>
              <a:off x="1636" y="3066"/>
              <a:ext cx="89" cy="285"/>
            </a:xfrm>
            <a:custGeom>
              <a:avLst/>
              <a:gdLst>
                <a:gd name="T0" fmla="*/ 6 w 60"/>
                <a:gd name="T1" fmla="*/ 192 h 192"/>
                <a:gd name="T2" fmla="*/ 0 w 60"/>
                <a:gd name="T3" fmla="*/ 186 h 192"/>
                <a:gd name="T4" fmla="*/ 6 w 60"/>
                <a:gd name="T5" fmla="*/ 180 h 192"/>
                <a:gd name="T6" fmla="*/ 48 w 60"/>
                <a:gd name="T7" fmla="*/ 138 h 192"/>
                <a:gd name="T8" fmla="*/ 48 w 60"/>
                <a:gd name="T9" fmla="*/ 54 h 192"/>
                <a:gd name="T10" fmla="*/ 6 w 60"/>
                <a:gd name="T11" fmla="*/ 12 h 192"/>
                <a:gd name="T12" fmla="*/ 0 w 60"/>
                <a:gd name="T13" fmla="*/ 6 h 192"/>
                <a:gd name="T14" fmla="*/ 6 w 60"/>
                <a:gd name="T15" fmla="*/ 0 h 192"/>
                <a:gd name="T16" fmla="*/ 60 w 60"/>
                <a:gd name="T17" fmla="*/ 54 h 192"/>
                <a:gd name="T18" fmla="*/ 60 w 60"/>
                <a:gd name="T19" fmla="*/ 138 h 192"/>
                <a:gd name="T20" fmla="*/ 6 w 60"/>
                <a:gd name="T21"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192">
                  <a:moveTo>
                    <a:pt x="6" y="192"/>
                  </a:moveTo>
                  <a:cubicBezTo>
                    <a:pt x="3" y="192"/>
                    <a:pt x="0" y="189"/>
                    <a:pt x="0" y="186"/>
                  </a:cubicBezTo>
                  <a:cubicBezTo>
                    <a:pt x="0" y="183"/>
                    <a:pt x="3" y="180"/>
                    <a:pt x="6" y="180"/>
                  </a:cubicBezTo>
                  <a:cubicBezTo>
                    <a:pt x="29" y="180"/>
                    <a:pt x="48" y="161"/>
                    <a:pt x="48" y="138"/>
                  </a:cubicBezTo>
                  <a:cubicBezTo>
                    <a:pt x="48" y="54"/>
                    <a:pt x="48" y="54"/>
                    <a:pt x="48" y="54"/>
                  </a:cubicBezTo>
                  <a:cubicBezTo>
                    <a:pt x="48" y="31"/>
                    <a:pt x="29" y="12"/>
                    <a:pt x="6" y="12"/>
                  </a:cubicBezTo>
                  <a:cubicBezTo>
                    <a:pt x="3" y="12"/>
                    <a:pt x="0" y="9"/>
                    <a:pt x="0" y="6"/>
                  </a:cubicBezTo>
                  <a:cubicBezTo>
                    <a:pt x="0" y="3"/>
                    <a:pt x="3" y="0"/>
                    <a:pt x="6" y="0"/>
                  </a:cubicBezTo>
                  <a:cubicBezTo>
                    <a:pt x="36" y="0"/>
                    <a:pt x="60" y="24"/>
                    <a:pt x="60" y="54"/>
                  </a:cubicBezTo>
                  <a:cubicBezTo>
                    <a:pt x="60" y="138"/>
                    <a:pt x="60" y="138"/>
                    <a:pt x="60" y="138"/>
                  </a:cubicBezTo>
                  <a:cubicBezTo>
                    <a:pt x="60" y="168"/>
                    <a:pt x="36" y="192"/>
                    <a:pt x="6"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30" name="Freeform 152">
              <a:extLst>
                <a:ext uri="{FF2B5EF4-FFF2-40B4-BE49-F238E27FC236}">
                  <a16:creationId xmlns:a16="http://schemas.microsoft.com/office/drawing/2014/main" id="{214DF125-F53D-49F7-BCB5-FE8E822246FC}"/>
                </a:ext>
              </a:extLst>
            </p:cNvPr>
            <p:cNvSpPr>
              <a:spLocks/>
            </p:cNvSpPr>
            <p:nvPr/>
          </p:nvSpPr>
          <p:spPr bwMode="auto">
            <a:xfrm>
              <a:off x="1707" y="3066"/>
              <a:ext cx="89" cy="285"/>
            </a:xfrm>
            <a:custGeom>
              <a:avLst/>
              <a:gdLst>
                <a:gd name="T0" fmla="*/ 6 w 60"/>
                <a:gd name="T1" fmla="*/ 192 h 192"/>
                <a:gd name="T2" fmla="*/ 0 w 60"/>
                <a:gd name="T3" fmla="*/ 186 h 192"/>
                <a:gd name="T4" fmla="*/ 6 w 60"/>
                <a:gd name="T5" fmla="*/ 180 h 192"/>
                <a:gd name="T6" fmla="*/ 48 w 60"/>
                <a:gd name="T7" fmla="*/ 138 h 192"/>
                <a:gd name="T8" fmla="*/ 48 w 60"/>
                <a:gd name="T9" fmla="*/ 54 h 192"/>
                <a:gd name="T10" fmla="*/ 6 w 60"/>
                <a:gd name="T11" fmla="*/ 12 h 192"/>
                <a:gd name="T12" fmla="*/ 0 w 60"/>
                <a:gd name="T13" fmla="*/ 6 h 192"/>
                <a:gd name="T14" fmla="*/ 6 w 60"/>
                <a:gd name="T15" fmla="*/ 0 h 192"/>
                <a:gd name="T16" fmla="*/ 60 w 60"/>
                <a:gd name="T17" fmla="*/ 54 h 192"/>
                <a:gd name="T18" fmla="*/ 60 w 60"/>
                <a:gd name="T19" fmla="*/ 138 h 192"/>
                <a:gd name="T20" fmla="*/ 6 w 60"/>
                <a:gd name="T21"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192">
                  <a:moveTo>
                    <a:pt x="6" y="192"/>
                  </a:moveTo>
                  <a:cubicBezTo>
                    <a:pt x="3" y="192"/>
                    <a:pt x="0" y="189"/>
                    <a:pt x="0" y="186"/>
                  </a:cubicBezTo>
                  <a:cubicBezTo>
                    <a:pt x="0" y="183"/>
                    <a:pt x="3" y="180"/>
                    <a:pt x="6" y="180"/>
                  </a:cubicBezTo>
                  <a:cubicBezTo>
                    <a:pt x="29" y="180"/>
                    <a:pt x="48" y="161"/>
                    <a:pt x="48" y="138"/>
                  </a:cubicBezTo>
                  <a:cubicBezTo>
                    <a:pt x="48" y="54"/>
                    <a:pt x="48" y="54"/>
                    <a:pt x="48" y="54"/>
                  </a:cubicBezTo>
                  <a:cubicBezTo>
                    <a:pt x="48" y="31"/>
                    <a:pt x="29" y="12"/>
                    <a:pt x="6" y="12"/>
                  </a:cubicBezTo>
                  <a:cubicBezTo>
                    <a:pt x="3" y="12"/>
                    <a:pt x="0" y="9"/>
                    <a:pt x="0" y="6"/>
                  </a:cubicBezTo>
                  <a:cubicBezTo>
                    <a:pt x="0" y="3"/>
                    <a:pt x="3" y="0"/>
                    <a:pt x="6" y="0"/>
                  </a:cubicBezTo>
                  <a:cubicBezTo>
                    <a:pt x="36" y="0"/>
                    <a:pt x="60" y="24"/>
                    <a:pt x="60" y="54"/>
                  </a:cubicBezTo>
                  <a:cubicBezTo>
                    <a:pt x="60" y="138"/>
                    <a:pt x="60" y="138"/>
                    <a:pt x="60" y="138"/>
                  </a:cubicBezTo>
                  <a:cubicBezTo>
                    <a:pt x="60" y="168"/>
                    <a:pt x="36" y="192"/>
                    <a:pt x="6"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31" name="Freeform 153">
              <a:extLst>
                <a:ext uri="{FF2B5EF4-FFF2-40B4-BE49-F238E27FC236}">
                  <a16:creationId xmlns:a16="http://schemas.microsoft.com/office/drawing/2014/main" id="{8DEF609A-8466-4846-8990-E9086D1BFAE2}"/>
                </a:ext>
              </a:extLst>
            </p:cNvPr>
            <p:cNvSpPr>
              <a:spLocks noEditPoints="1"/>
            </p:cNvSpPr>
            <p:nvPr/>
          </p:nvSpPr>
          <p:spPr bwMode="auto">
            <a:xfrm>
              <a:off x="1459" y="3120"/>
              <a:ext cx="106" cy="106"/>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32" name="Freeform 154">
              <a:extLst>
                <a:ext uri="{FF2B5EF4-FFF2-40B4-BE49-F238E27FC236}">
                  <a16:creationId xmlns:a16="http://schemas.microsoft.com/office/drawing/2014/main" id="{FFF2762A-385B-47A2-B0D9-C37652BFAA66}"/>
                </a:ext>
              </a:extLst>
            </p:cNvPr>
            <p:cNvSpPr>
              <a:spLocks noEditPoints="1"/>
            </p:cNvSpPr>
            <p:nvPr/>
          </p:nvSpPr>
          <p:spPr bwMode="auto">
            <a:xfrm>
              <a:off x="1432" y="3208"/>
              <a:ext cx="160"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7"/>
                    <a:pt x="0" y="54"/>
                  </a:cubicBezTo>
                  <a:cubicBezTo>
                    <a:pt x="0" y="24"/>
                    <a:pt x="24" y="0"/>
                    <a:pt x="54" y="0"/>
                  </a:cubicBezTo>
                  <a:cubicBezTo>
                    <a:pt x="84" y="0"/>
                    <a:pt x="108" y="24"/>
                    <a:pt x="108" y="54"/>
                  </a:cubicBezTo>
                  <a:cubicBezTo>
                    <a:pt x="108" y="57"/>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Verdana"/>
                <a:ea typeface="+mn-ea"/>
                <a:cs typeface="+mn-cs"/>
              </a:endParaRPr>
            </a:p>
          </p:txBody>
        </p:sp>
      </p:grpSp>
      <p:sp>
        <p:nvSpPr>
          <p:cNvPr id="334" name="Marcador de texto 7">
            <a:hlinkClick r:id="rId13"/>
            <a:extLst>
              <a:ext uri="{FF2B5EF4-FFF2-40B4-BE49-F238E27FC236}">
                <a16:creationId xmlns:a16="http://schemas.microsoft.com/office/drawing/2014/main" id="{EC38AAE6-BBB5-4E59-A74A-24BA59AE2737}"/>
              </a:ext>
            </a:extLst>
          </p:cNvPr>
          <p:cNvSpPr txBox="1">
            <a:spLocks/>
          </p:cNvSpPr>
          <p:nvPr/>
        </p:nvSpPr>
        <p:spPr>
          <a:xfrm>
            <a:off x="384173" y="2246787"/>
            <a:ext cx="5593939" cy="659273"/>
          </a:xfrm>
          <a:prstGeom prst="rect">
            <a:avLst/>
          </a:prstGeom>
          <a:solidFill>
            <a:schemeClr val="bg1">
              <a:lumMod val="95000"/>
            </a:schemeClr>
          </a:solidFill>
        </p:spPr>
        <p:txBody>
          <a:bodyPr vert="horz" wrap="square" lIns="576000" tIns="0" rIns="0" bIns="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l"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How To Find Clients For Your Consulting Practice</a:t>
            </a:r>
          </a:p>
        </p:txBody>
      </p:sp>
      <p:grpSp>
        <p:nvGrpSpPr>
          <p:cNvPr id="335" name="Group 193">
            <a:extLst>
              <a:ext uri="{FF2B5EF4-FFF2-40B4-BE49-F238E27FC236}">
                <a16:creationId xmlns:a16="http://schemas.microsoft.com/office/drawing/2014/main" id="{ACD9393C-5D26-4C65-B5A3-E299C2C75157}"/>
              </a:ext>
            </a:extLst>
          </p:cNvPr>
          <p:cNvGrpSpPr>
            <a:grpSpLocks noChangeAspect="1"/>
          </p:cNvGrpSpPr>
          <p:nvPr/>
        </p:nvGrpSpPr>
        <p:grpSpPr bwMode="auto">
          <a:xfrm>
            <a:off x="432926" y="2369150"/>
            <a:ext cx="441455" cy="414546"/>
            <a:chOff x="1551" y="3227"/>
            <a:chExt cx="443" cy="416"/>
          </a:xfrm>
          <a:solidFill>
            <a:schemeClr val="tx2"/>
          </a:solidFill>
        </p:grpSpPr>
        <p:sp>
          <p:nvSpPr>
            <p:cNvPr id="336" name="Freeform 194">
              <a:extLst>
                <a:ext uri="{FF2B5EF4-FFF2-40B4-BE49-F238E27FC236}">
                  <a16:creationId xmlns:a16="http://schemas.microsoft.com/office/drawing/2014/main" id="{C5544ADE-D108-4C40-B577-4EB99B26C812}"/>
                </a:ext>
              </a:extLst>
            </p:cNvPr>
            <p:cNvSpPr>
              <a:spLocks/>
            </p:cNvSpPr>
            <p:nvPr/>
          </p:nvSpPr>
          <p:spPr bwMode="auto">
            <a:xfrm>
              <a:off x="1725" y="3393"/>
              <a:ext cx="85" cy="75"/>
            </a:xfrm>
            <a:custGeom>
              <a:avLst/>
              <a:gdLst>
                <a:gd name="T0" fmla="*/ 51 w 55"/>
                <a:gd name="T1" fmla="*/ 50 h 50"/>
                <a:gd name="T2" fmla="*/ 4 w 55"/>
                <a:gd name="T3" fmla="*/ 33 h 50"/>
                <a:gd name="T4" fmla="*/ 0 w 55"/>
                <a:gd name="T5" fmla="*/ 27 h 50"/>
                <a:gd name="T6" fmla="*/ 0 w 55"/>
                <a:gd name="T7" fmla="*/ 0 h 50"/>
                <a:gd name="T8" fmla="*/ 12 w 55"/>
                <a:gd name="T9" fmla="*/ 0 h 50"/>
                <a:gd name="T10" fmla="*/ 12 w 55"/>
                <a:gd name="T11" fmla="*/ 23 h 50"/>
                <a:gd name="T12" fmla="*/ 55 w 55"/>
                <a:gd name="T13" fmla="*/ 39 h 50"/>
                <a:gd name="T14" fmla="*/ 51 w 55"/>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 h="50">
                  <a:moveTo>
                    <a:pt x="51" y="50"/>
                  </a:moveTo>
                  <a:cubicBezTo>
                    <a:pt x="4" y="33"/>
                    <a:pt x="4" y="33"/>
                    <a:pt x="4" y="33"/>
                  </a:cubicBezTo>
                  <a:cubicBezTo>
                    <a:pt x="2" y="32"/>
                    <a:pt x="0" y="30"/>
                    <a:pt x="0" y="27"/>
                  </a:cubicBezTo>
                  <a:cubicBezTo>
                    <a:pt x="0" y="0"/>
                    <a:pt x="0" y="0"/>
                    <a:pt x="0" y="0"/>
                  </a:cubicBezTo>
                  <a:cubicBezTo>
                    <a:pt x="12" y="0"/>
                    <a:pt x="12" y="0"/>
                    <a:pt x="12" y="0"/>
                  </a:cubicBezTo>
                  <a:cubicBezTo>
                    <a:pt x="12" y="23"/>
                    <a:pt x="12" y="23"/>
                    <a:pt x="12" y="23"/>
                  </a:cubicBezTo>
                  <a:cubicBezTo>
                    <a:pt x="55" y="39"/>
                    <a:pt x="55" y="39"/>
                    <a:pt x="55" y="39"/>
                  </a:cubicBezTo>
                  <a:lnTo>
                    <a:pt x="51"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37" name="Freeform 195">
              <a:extLst>
                <a:ext uri="{FF2B5EF4-FFF2-40B4-BE49-F238E27FC236}">
                  <a16:creationId xmlns:a16="http://schemas.microsoft.com/office/drawing/2014/main" id="{BC8D4B52-40C9-4126-BFE8-D13731AF1B69}"/>
                </a:ext>
              </a:extLst>
            </p:cNvPr>
            <p:cNvSpPr>
              <a:spLocks/>
            </p:cNvSpPr>
            <p:nvPr/>
          </p:nvSpPr>
          <p:spPr bwMode="auto">
            <a:xfrm>
              <a:off x="1551" y="3395"/>
              <a:ext cx="202" cy="140"/>
            </a:xfrm>
            <a:custGeom>
              <a:avLst/>
              <a:gdLst>
                <a:gd name="T0" fmla="*/ 132 w 132"/>
                <a:gd name="T1" fmla="*/ 94 h 94"/>
                <a:gd name="T2" fmla="*/ 6 w 132"/>
                <a:gd name="T3" fmla="*/ 94 h 94"/>
                <a:gd name="T4" fmla="*/ 0 w 132"/>
                <a:gd name="T5" fmla="*/ 88 h 94"/>
                <a:gd name="T6" fmla="*/ 0 w 132"/>
                <a:gd name="T7" fmla="*/ 70 h 94"/>
                <a:gd name="T8" fmla="*/ 23 w 132"/>
                <a:gd name="T9" fmla="*/ 38 h 94"/>
                <a:gd name="T10" fmla="*/ 66 w 132"/>
                <a:gd name="T11" fmla="*/ 22 h 94"/>
                <a:gd name="T12" fmla="*/ 66 w 132"/>
                <a:gd name="T13" fmla="*/ 0 h 94"/>
                <a:gd name="T14" fmla="*/ 78 w 132"/>
                <a:gd name="T15" fmla="*/ 0 h 94"/>
                <a:gd name="T16" fmla="*/ 78 w 132"/>
                <a:gd name="T17" fmla="*/ 26 h 94"/>
                <a:gd name="T18" fmla="*/ 74 w 132"/>
                <a:gd name="T19" fmla="*/ 32 h 94"/>
                <a:gd name="T20" fmla="*/ 27 w 132"/>
                <a:gd name="T21" fmla="*/ 49 h 94"/>
                <a:gd name="T22" fmla="*/ 12 w 132"/>
                <a:gd name="T23" fmla="*/ 70 h 94"/>
                <a:gd name="T24" fmla="*/ 12 w 132"/>
                <a:gd name="T25" fmla="*/ 82 h 94"/>
                <a:gd name="T26" fmla="*/ 132 w 132"/>
                <a:gd name="T27" fmla="*/ 82 h 94"/>
                <a:gd name="T28" fmla="*/ 132 w 132"/>
                <a:gd name="T29"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2" h="94">
                  <a:moveTo>
                    <a:pt x="132" y="94"/>
                  </a:moveTo>
                  <a:cubicBezTo>
                    <a:pt x="6" y="94"/>
                    <a:pt x="6" y="94"/>
                    <a:pt x="6" y="94"/>
                  </a:cubicBezTo>
                  <a:cubicBezTo>
                    <a:pt x="3" y="94"/>
                    <a:pt x="0" y="91"/>
                    <a:pt x="0" y="88"/>
                  </a:cubicBezTo>
                  <a:cubicBezTo>
                    <a:pt x="0" y="70"/>
                    <a:pt x="0" y="70"/>
                    <a:pt x="0" y="70"/>
                  </a:cubicBezTo>
                  <a:cubicBezTo>
                    <a:pt x="0" y="56"/>
                    <a:pt x="9" y="43"/>
                    <a:pt x="23" y="38"/>
                  </a:cubicBezTo>
                  <a:cubicBezTo>
                    <a:pt x="66" y="22"/>
                    <a:pt x="66" y="22"/>
                    <a:pt x="66" y="22"/>
                  </a:cubicBezTo>
                  <a:cubicBezTo>
                    <a:pt x="66" y="0"/>
                    <a:pt x="66" y="0"/>
                    <a:pt x="66" y="0"/>
                  </a:cubicBezTo>
                  <a:cubicBezTo>
                    <a:pt x="78" y="0"/>
                    <a:pt x="78" y="0"/>
                    <a:pt x="78" y="0"/>
                  </a:cubicBezTo>
                  <a:cubicBezTo>
                    <a:pt x="78" y="26"/>
                    <a:pt x="78" y="26"/>
                    <a:pt x="78" y="26"/>
                  </a:cubicBezTo>
                  <a:cubicBezTo>
                    <a:pt x="78" y="29"/>
                    <a:pt x="76" y="31"/>
                    <a:pt x="74" y="32"/>
                  </a:cubicBezTo>
                  <a:cubicBezTo>
                    <a:pt x="27" y="49"/>
                    <a:pt x="27" y="49"/>
                    <a:pt x="27" y="49"/>
                  </a:cubicBezTo>
                  <a:cubicBezTo>
                    <a:pt x="18" y="52"/>
                    <a:pt x="12" y="61"/>
                    <a:pt x="12" y="70"/>
                  </a:cubicBezTo>
                  <a:cubicBezTo>
                    <a:pt x="12" y="82"/>
                    <a:pt x="12" y="82"/>
                    <a:pt x="12" y="82"/>
                  </a:cubicBezTo>
                  <a:cubicBezTo>
                    <a:pt x="132" y="82"/>
                    <a:pt x="132" y="82"/>
                    <a:pt x="132" y="82"/>
                  </a:cubicBezTo>
                  <a:lnTo>
                    <a:pt x="132" y="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38" name="Freeform 196">
              <a:extLst>
                <a:ext uri="{FF2B5EF4-FFF2-40B4-BE49-F238E27FC236}">
                  <a16:creationId xmlns:a16="http://schemas.microsoft.com/office/drawing/2014/main" id="{592279E3-D3D5-45EB-99C6-BDC6337BC3DF}"/>
                </a:ext>
              </a:extLst>
            </p:cNvPr>
            <p:cNvSpPr>
              <a:spLocks noEditPoints="1"/>
            </p:cNvSpPr>
            <p:nvPr/>
          </p:nvSpPr>
          <p:spPr bwMode="auto">
            <a:xfrm>
              <a:off x="1613" y="3227"/>
              <a:ext cx="165" cy="187"/>
            </a:xfrm>
            <a:custGeom>
              <a:avLst/>
              <a:gdLst>
                <a:gd name="T0" fmla="*/ 54 w 107"/>
                <a:gd name="T1" fmla="*/ 125 h 125"/>
                <a:gd name="T2" fmla="*/ 0 w 107"/>
                <a:gd name="T3" fmla="*/ 63 h 125"/>
                <a:gd name="T4" fmla="*/ 54 w 107"/>
                <a:gd name="T5" fmla="*/ 0 h 125"/>
                <a:gd name="T6" fmla="*/ 107 w 107"/>
                <a:gd name="T7" fmla="*/ 63 h 125"/>
                <a:gd name="T8" fmla="*/ 54 w 107"/>
                <a:gd name="T9" fmla="*/ 125 h 125"/>
                <a:gd name="T10" fmla="*/ 54 w 107"/>
                <a:gd name="T11" fmla="*/ 12 h 125"/>
                <a:gd name="T12" fmla="*/ 12 w 107"/>
                <a:gd name="T13" fmla="*/ 63 h 125"/>
                <a:gd name="T14" fmla="*/ 54 w 107"/>
                <a:gd name="T15" fmla="*/ 113 h 125"/>
                <a:gd name="T16" fmla="*/ 95 w 107"/>
                <a:gd name="T17" fmla="*/ 63 h 125"/>
                <a:gd name="T18" fmla="*/ 54 w 107"/>
                <a:gd name="T19" fmla="*/ 1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25">
                  <a:moveTo>
                    <a:pt x="54" y="125"/>
                  </a:moveTo>
                  <a:cubicBezTo>
                    <a:pt x="24" y="125"/>
                    <a:pt x="0" y="97"/>
                    <a:pt x="0" y="63"/>
                  </a:cubicBezTo>
                  <a:cubicBezTo>
                    <a:pt x="0" y="28"/>
                    <a:pt x="24" y="0"/>
                    <a:pt x="54" y="0"/>
                  </a:cubicBezTo>
                  <a:cubicBezTo>
                    <a:pt x="83" y="0"/>
                    <a:pt x="107" y="28"/>
                    <a:pt x="107" y="63"/>
                  </a:cubicBezTo>
                  <a:cubicBezTo>
                    <a:pt x="107" y="97"/>
                    <a:pt x="83" y="125"/>
                    <a:pt x="54" y="125"/>
                  </a:cubicBezTo>
                  <a:close/>
                  <a:moveTo>
                    <a:pt x="54" y="12"/>
                  </a:moveTo>
                  <a:cubicBezTo>
                    <a:pt x="31" y="12"/>
                    <a:pt x="12" y="35"/>
                    <a:pt x="12" y="63"/>
                  </a:cubicBezTo>
                  <a:cubicBezTo>
                    <a:pt x="12" y="91"/>
                    <a:pt x="31" y="113"/>
                    <a:pt x="54" y="113"/>
                  </a:cubicBezTo>
                  <a:cubicBezTo>
                    <a:pt x="77" y="113"/>
                    <a:pt x="95" y="91"/>
                    <a:pt x="95" y="63"/>
                  </a:cubicBezTo>
                  <a:cubicBezTo>
                    <a:pt x="95" y="35"/>
                    <a:pt x="7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39" name="Freeform 198">
              <a:extLst>
                <a:ext uri="{FF2B5EF4-FFF2-40B4-BE49-F238E27FC236}">
                  <a16:creationId xmlns:a16="http://schemas.microsoft.com/office/drawing/2014/main" id="{926B2665-531C-43BF-BAE9-83D857016234}"/>
                </a:ext>
              </a:extLst>
            </p:cNvPr>
            <p:cNvSpPr>
              <a:spLocks/>
            </p:cNvSpPr>
            <p:nvPr/>
          </p:nvSpPr>
          <p:spPr bwMode="auto">
            <a:xfrm>
              <a:off x="1845" y="3384"/>
              <a:ext cx="18" cy="40"/>
            </a:xfrm>
            <a:custGeom>
              <a:avLst/>
              <a:gdLst>
                <a:gd name="T0" fmla="*/ 6 w 12"/>
                <a:gd name="T1" fmla="*/ 27 h 27"/>
                <a:gd name="T2" fmla="*/ 0 w 12"/>
                <a:gd name="T3" fmla="*/ 21 h 27"/>
                <a:gd name="T4" fmla="*/ 0 w 12"/>
                <a:gd name="T5" fmla="*/ 6 h 27"/>
                <a:gd name="T6" fmla="*/ 6 w 12"/>
                <a:gd name="T7" fmla="*/ 0 h 27"/>
                <a:gd name="T8" fmla="*/ 12 w 12"/>
                <a:gd name="T9" fmla="*/ 6 h 27"/>
                <a:gd name="T10" fmla="*/ 12 w 12"/>
                <a:gd name="T11" fmla="*/ 21 h 27"/>
                <a:gd name="T12" fmla="*/ 6 w 12"/>
                <a:gd name="T13" fmla="*/ 27 h 27"/>
              </a:gdLst>
              <a:ahLst/>
              <a:cxnLst>
                <a:cxn ang="0">
                  <a:pos x="T0" y="T1"/>
                </a:cxn>
                <a:cxn ang="0">
                  <a:pos x="T2" y="T3"/>
                </a:cxn>
                <a:cxn ang="0">
                  <a:pos x="T4" y="T5"/>
                </a:cxn>
                <a:cxn ang="0">
                  <a:pos x="T6" y="T7"/>
                </a:cxn>
                <a:cxn ang="0">
                  <a:pos x="T8" y="T9"/>
                </a:cxn>
                <a:cxn ang="0">
                  <a:pos x="T10" y="T11"/>
                </a:cxn>
                <a:cxn ang="0">
                  <a:pos x="T12" y="T13"/>
                </a:cxn>
              </a:cxnLst>
              <a:rect l="0" t="0" r="r" b="b"/>
              <a:pathLst>
                <a:path w="12" h="27">
                  <a:moveTo>
                    <a:pt x="6" y="27"/>
                  </a:moveTo>
                  <a:cubicBezTo>
                    <a:pt x="3" y="27"/>
                    <a:pt x="0" y="25"/>
                    <a:pt x="0" y="21"/>
                  </a:cubicBezTo>
                  <a:cubicBezTo>
                    <a:pt x="0" y="6"/>
                    <a:pt x="0" y="6"/>
                    <a:pt x="0" y="6"/>
                  </a:cubicBezTo>
                  <a:cubicBezTo>
                    <a:pt x="0" y="2"/>
                    <a:pt x="3" y="0"/>
                    <a:pt x="6" y="0"/>
                  </a:cubicBezTo>
                  <a:cubicBezTo>
                    <a:pt x="9" y="0"/>
                    <a:pt x="12" y="2"/>
                    <a:pt x="12" y="6"/>
                  </a:cubicBezTo>
                  <a:cubicBezTo>
                    <a:pt x="12" y="21"/>
                    <a:pt x="12" y="21"/>
                    <a:pt x="12" y="21"/>
                  </a:cubicBezTo>
                  <a:cubicBezTo>
                    <a:pt x="12" y="25"/>
                    <a:pt x="9" y="27"/>
                    <a:pt x="6"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40" name="Freeform 199">
              <a:extLst>
                <a:ext uri="{FF2B5EF4-FFF2-40B4-BE49-F238E27FC236}">
                  <a16:creationId xmlns:a16="http://schemas.microsoft.com/office/drawing/2014/main" id="{932FCFDE-A929-4521-8126-168E1086B701}"/>
                </a:ext>
              </a:extLst>
            </p:cNvPr>
            <p:cNvSpPr>
              <a:spLocks/>
            </p:cNvSpPr>
            <p:nvPr/>
          </p:nvSpPr>
          <p:spPr bwMode="auto">
            <a:xfrm>
              <a:off x="1807" y="3227"/>
              <a:ext cx="90" cy="187"/>
            </a:xfrm>
            <a:custGeom>
              <a:avLst/>
              <a:gdLst>
                <a:gd name="T0" fmla="*/ 6 w 59"/>
                <a:gd name="T1" fmla="*/ 125 h 125"/>
                <a:gd name="T2" fmla="*/ 0 w 59"/>
                <a:gd name="T3" fmla="*/ 119 h 125"/>
                <a:gd name="T4" fmla="*/ 6 w 59"/>
                <a:gd name="T5" fmla="*/ 113 h 125"/>
                <a:gd name="T6" fmla="*/ 47 w 59"/>
                <a:gd name="T7" fmla="*/ 63 h 125"/>
                <a:gd name="T8" fmla="*/ 6 w 59"/>
                <a:gd name="T9" fmla="*/ 12 h 125"/>
                <a:gd name="T10" fmla="*/ 0 w 59"/>
                <a:gd name="T11" fmla="*/ 6 h 125"/>
                <a:gd name="T12" fmla="*/ 6 w 59"/>
                <a:gd name="T13" fmla="*/ 0 h 125"/>
                <a:gd name="T14" fmla="*/ 59 w 59"/>
                <a:gd name="T15" fmla="*/ 63 h 125"/>
                <a:gd name="T16" fmla="*/ 6 w 59"/>
                <a:gd name="T17"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125">
                  <a:moveTo>
                    <a:pt x="6" y="125"/>
                  </a:moveTo>
                  <a:cubicBezTo>
                    <a:pt x="3" y="125"/>
                    <a:pt x="0" y="123"/>
                    <a:pt x="0" y="119"/>
                  </a:cubicBezTo>
                  <a:cubicBezTo>
                    <a:pt x="0" y="116"/>
                    <a:pt x="3" y="113"/>
                    <a:pt x="6" y="113"/>
                  </a:cubicBezTo>
                  <a:cubicBezTo>
                    <a:pt x="29" y="113"/>
                    <a:pt x="47" y="91"/>
                    <a:pt x="47" y="63"/>
                  </a:cubicBezTo>
                  <a:cubicBezTo>
                    <a:pt x="47" y="35"/>
                    <a:pt x="29" y="12"/>
                    <a:pt x="6" y="12"/>
                  </a:cubicBezTo>
                  <a:cubicBezTo>
                    <a:pt x="3" y="12"/>
                    <a:pt x="0" y="9"/>
                    <a:pt x="0" y="6"/>
                  </a:cubicBezTo>
                  <a:cubicBezTo>
                    <a:pt x="0" y="2"/>
                    <a:pt x="3" y="0"/>
                    <a:pt x="6" y="0"/>
                  </a:cubicBezTo>
                  <a:cubicBezTo>
                    <a:pt x="35" y="0"/>
                    <a:pt x="59" y="28"/>
                    <a:pt x="59" y="63"/>
                  </a:cubicBezTo>
                  <a:cubicBezTo>
                    <a:pt x="59" y="97"/>
                    <a:pt x="35" y="125"/>
                    <a:pt x="6" y="1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41" name="Freeform 201">
              <a:extLst>
                <a:ext uri="{FF2B5EF4-FFF2-40B4-BE49-F238E27FC236}">
                  <a16:creationId xmlns:a16="http://schemas.microsoft.com/office/drawing/2014/main" id="{2DA25B81-FF29-4237-AF4B-76C4EA278899}"/>
                </a:ext>
              </a:extLst>
            </p:cNvPr>
            <p:cNvSpPr>
              <a:spLocks noEditPoints="1"/>
            </p:cNvSpPr>
            <p:nvPr/>
          </p:nvSpPr>
          <p:spPr bwMode="auto">
            <a:xfrm>
              <a:off x="1808" y="3463"/>
              <a:ext cx="147" cy="144"/>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2" y="96"/>
                    <a:pt x="0" y="74"/>
                    <a:pt x="0" y="48"/>
                  </a:cubicBezTo>
                  <a:cubicBezTo>
                    <a:pt x="0" y="21"/>
                    <a:pt x="22" y="0"/>
                    <a:pt x="48" y="0"/>
                  </a:cubicBezTo>
                  <a:cubicBezTo>
                    <a:pt x="75" y="0"/>
                    <a:pt x="96" y="21"/>
                    <a:pt x="96" y="48"/>
                  </a:cubicBezTo>
                  <a:cubicBezTo>
                    <a:pt x="96" y="74"/>
                    <a:pt x="75" y="96"/>
                    <a:pt x="48" y="96"/>
                  </a:cubicBezTo>
                  <a:close/>
                  <a:moveTo>
                    <a:pt x="48" y="12"/>
                  </a:moveTo>
                  <a:cubicBezTo>
                    <a:pt x="28" y="12"/>
                    <a:pt x="12" y="28"/>
                    <a:pt x="12" y="48"/>
                  </a:cubicBezTo>
                  <a:cubicBezTo>
                    <a:pt x="12" y="68"/>
                    <a:pt x="28" y="84"/>
                    <a:pt x="48" y="84"/>
                  </a:cubicBezTo>
                  <a:cubicBezTo>
                    <a:pt x="68" y="84"/>
                    <a:pt x="84" y="68"/>
                    <a:pt x="84" y="48"/>
                  </a:cubicBezTo>
                  <a:cubicBezTo>
                    <a:pt x="84" y="28"/>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342" name="Freeform 202">
              <a:extLst>
                <a:ext uri="{FF2B5EF4-FFF2-40B4-BE49-F238E27FC236}">
                  <a16:creationId xmlns:a16="http://schemas.microsoft.com/office/drawing/2014/main" id="{C0C78DC8-866A-41B9-B1FF-708B54D23F12}"/>
                </a:ext>
              </a:extLst>
            </p:cNvPr>
            <p:cNvSpPr>
              <a:spLocks/>
            </p:cNvSpPr>
            <p:nvPr/>
          </p:nvSpPr>
          <p:spPr bwMode="auto">
            <a:xfrm>
              <a:off x="1917" y="3570"/>
              <a:ext cx="77" cy="73"/>
            </a:xfrm>
            <a:custGeom>
              <a:avLst/>
              <a:gdLst>
                <a:gd name="T0" fmla="*/ 43 w 50"/>
                <a:gd name="T1" fmla="*/ 49 h 49"/>
                <a:gd name="T2" fmla="*/ 39 w 50"/>
                <a:gd name="T3" fmla="*/ 47 h 49"/>
                <a:gd name="T4" fmla="*/ 3 w 50"/>
                <a:gd name="T5" fmla="*/ 11 h 49"/>
                <a:gd name="T6" fmla="*/ 3 w 50"/>
                <a:gd name="T7" fmla="*/ 3 h 49"/>
                <a:gd name="T8" fmla="*/ 11 w 50"/>
                <a:gd name="T9" fmla="*/ 3 h 49"/>
                <a:gd name="T10" fmla="*/ 47 w 50"/>
                <a:gd name="T11" fmla="*/ 39 h 49"/>
                <a:gd name="T12" fmla="*/ 47 w 50"/>
                <a:gd name="T13" fmla="*/ 47 h 49"/>
                <a:gd name="T14" fmla="*/ 43 w 50"/>
                <a:gd name="T15" fmla="*/ 4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49">
                  <a:moveTo>
                    <a:pt x="43" y="49"/>
                  </a:moveTo>
                  <a:cubicBezTo>
                    <a:pt x="42" y="49"/>
                    <a:pt x="40" y="48"/>
                    <a:pt x="39" y="47"/>
                  </a:cubicBezTo>
                  <a:cubicBezTo>
                    <a:pt x="3" y="11"/>
                    <a:pt x="3" y="11"/>
                    <a:pt x="3" y="11"/>
                  </a:cubicBezTo>
                  <a:cubicBezTo>
                    <a:pt x="0" y="9"/>
                    <a:pt x="0" y="5"/>
                    <a:pt x="3" y="3"/>
                  </a:cubicBezTo>
                  <a:cubicBezTo>
                    <a:pt x="5" y="0"/>
                    <a:pt x="9" y="0"/>
                    <a:pt x="11" y="3"/>
                  </a:cubicBezTo>
                  <a:cubicBezTo>
                    <a:pt x="47" y="39"/>
                    <a:pt x="47" y="39"/>
                    <a:pt x="47" y="39"/>
                  </a:cubicBezTo>
                  <a:cubicBezTo>
                    <a:pt x="50" y="41"/>
                    <a:pt x="50" y="45"/>
                    <a:pt x="47" y="47"/>
                  </a:cubicBezTo>
                  <a:cubicBezTo>
                    <a:pt x="46" y="48"/>
                    <a:pt x="45" y="49"/>
                    <a:pt x="43"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Verdana"/>
                <a:ea typeface="+mn-ea"/>
                <a:cs typeface="+mn-cs"/>
              </a:endParaRPr>
            </a:p>
          </p:txBody>
        </p:sp>
      </p:grpSp>
      <p:sp>
        <p:nvSpPr>
          <p:cNvPr id="343" name="Marcador de texto 7">
            <a:extLst>
              <a:ext uri="{FF2B5EF4-FFF2-40B4-BE49-F238E27FC236}">
                <a16:creationId xmlns:a16="http://schemas.microsoft.com/office/drawing/2014/main" id="{7A5C3C11-BEF5-474C-A499-86344DC43BE5}"/>
              </a:ext>
            </a:extLst>
          </p:cNvPr>
          <p:cNvSpPr txBox="1">
            <a:spLocks/>
          </p:cNvSpPr>
          <p:nvPr/>
        </p:nvSpPr>
        <p:spPr>
          <a:xfrm>
            <a:off x="3372548" y="4178306"/>
            <a:ext cx="5593939" cy="659273"/>
          </a:xfrm>
          <a:prstGeom prst="rect">
            <a:avLst/>
          </a:prstGeom>
          <a:solidFill>
            <a:schemeClr val="bg1">
              <a:lumMod val="95000"/>
            </a:schemeClr>
          </a:solidFill>
        </p:spPr>
        <p:txBody>
          <a:bodyPr vert="horz" wrap="square" lIns="0" tIns="0" rIns="0" bIns="0" rtlCol="0" anchor="ctr">
            <a:noAutofit/>
          </a:bodyPr>
          <a:lstStyle>
            <a:lvl1pPr marL="0" indent="0" algn="l" defTabSz="228554" rtl="0" eaLnBrk="1" latinLnBrk="0" hangingPunct="1">
              <a:lnSpc>
                <a:spcPct val="100000"/>
              </a:lnSpc>
              <a:spcBef>
                <a:spcPts val="0"/>
              </a:spcBef>
              <a:spcAft>
                <a:spcPts val="1200"/>
              </a:spcAft>
              <a:buFont typeface="Arial" panose="020B0604020202020204" pitchFamily="34" charset="0"/>
              <a:buNone/>
              <a:defRPr sz="18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vl2pPr marL="228554" indent="-228554" algn="l" defTabSz="228554" rtl="0" eaLnBrk="1" latinLnBrk="0" hangingPunct="1">
              <a:lnSpc>
                <a:spcPct val="100000"/>
              </a:lnSpc>
              <a:spcBef>
                <a:spcPts val="0"/>
              </a:spcBef>
              <a:spcAft>
                <a:spcPts val="1200"/>
              </a:spcAft>
              <a:buClrTx/>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2pPr>
            <a:lvl3pPr marL="457109" indent="-228554" algn="l" defTabSz="228554" rtl="0" eaLnBrk="1" latinLnBrk="0" hangingPunct="1">
              <a:lnSpc>
                <a:spcPct val="100000"/>
              </a:lnSpc>
              <a:spcBef>
                <a:spcPts val="0"/>
              </a:spcBef>
              <a:spcAft>
                <a:spcPts val="1200"/>
              </a:spcAft>
              <a:buFont typeface="Verdana"/>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3pPr>
            <a:lvl4pPr marL="685663" indent="-228554" algn="l" defTabSz="228554"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4pPr>
            <a:lvl5pPr marL="914217" indent="-228554" algn="l" defTabSz="228554" rtl="0" eaLnBrk="1" latinLnBrk="0" hangingPunct="1">
              <a:lnSpc>
                <a:spcPct val="100000"/>
              </a:lnSpc>
              <a:spcBef>
                <a:spcPts val="0"/>
              </a:spcBef>
              <a:spcAft>
                <a:spcPts val="1200"/>
              </a:spcAft>
              <a:buFont typeface="Verdana"/>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5pPr>
            <a:lvl6pPr marL="11111" indent="0" algn="l" defTabSz="228554" rtl="0" eaLnBrk="1" latinLnBrk="0" hangingPunct="1">
              <a:lnSpc>
                <a:spcPct val="90000"/>
              </a:lnSpc>
              <a:spcBef>
                <a:spcPts val="0"/>
              </a:spcBef>
              <a:spcAft>
                <a:spcPts val="1200"/>
              </a:spcAft>
              <a:buFont typeface="Graphik" panose="020B0503030202060203" pitchFamily="34" charset="0"/>
              <a:buNone/>
              <a:tabLst/>
              <a:defRPr sz="14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6pPr>
            <a:lvl7pPr marL="0" indent="0" algn="l" defTabSz="22855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7pPr>
            <a:lvl8pPr marL="0" indent="0" algn="l" defTabSz="22855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8pPr>
            <a:lvl9pPr marL="0" indent="0" algn="l" defTabSz="22855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9pPr>
          </a:lstStyle>
          <a:p>
            <a:pPr marL="0" marR="0" lvl="0" indent="0" algn="ctr" defTabSz="228554" rtl="0" eaLnBrk="1" fontAlgn="auto" latinLnBrk="0" hangingPunct="1">
              <a:lnSpc>
                <a:spcPct val="100000"/>
              </a:lnSpc>
              <a:spcBef>
                <a:spcPts val="0"/>
              </a:spcBef>
              <a:spcAft>
                <a:spcPts val="12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And dozens more</a:t>
            </a:r>
          </a:p>
        </p:txBody>
      </p:sp>
      <p:sp>
        <p:nvSpPr>
          <p:cNvPr id="4" name="Rectangle 3">
            <a:extLst>
              <a:ext uri="{FF2B5EF4-FFF2-40B4-BE49-F238E27FC236}">
                <a16:creationId xmlns:a16="http://schemas.microsoft.com/office/drawing/2014/main" id="{854EFAB3-A54B-C40D-468F-17156FE9ACB8}"/>
              </a:ext>
            </a:extLst>
          </p:cNvPr>
          <p:cNvSpPr/>
          <p:nvPr/>
        </p:nvSpPr>
        <p:spPr>
          <a:xfrm>
            <a:off x="121919" y="6400800"/>
            <a:ext cx="1850315" cy="403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pic>
        <p:nvPicPr>
          <p:cNvPr id="5" name="Picture 2">
            <a:extLst>
              <a:ext uri="{FF2B5EF4-FFF2-40B4-BE49-F238E27FC236}">
                <a16:creationId xmlns:a16="http://schemas.microsoft.com/office/drawing/2014/main" id="{42555A68-B45A-4B4E-9C1F-7AE30DA0E4A7}"/>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17725" y="6469380"/>
            <a:ext cx="851635" cy="24068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Rounded Corners 8">
            <a:extLst>
              <a:ext uri="{FF2B5EF4-FFF2-40B4-BE49-F238E27FC236}">
                <a16:creationId xmlns:a16="http://schemas.microsoft.com/office/drawing/2014/main" id="{17DE1D67-171F-E5EF-2580-791028243008}"/>
              </a:ext>
            </a:extLst>
          </p:cNvPr>
          <p:cNvSpPr/>
          <p:nvPr/>
        </p:nvSpPr>
        <p:spPr>
          <a:xfrm>
            <a:off x="4702579" y="5417521"/>
            <a:ext cx="2680198" cy="485776"/>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Verdana"/>
                <a:ea typeface="+mn-ea"/>
                <a:cs typeface="+mn-cs"/>
                <a:hlinkClick r:id="rId14">
                  <a:extLst>
                    <a:ext uri="{A12FA001-AC4F-418D-AE19-62706E023703}">
                      <ahyp:hlinkClr xmlns:ahyp="http://schemas.microsoft.com/office/drawing/2018/hyperlinkcolor" val="tx"/>
                    </a:ext>
                  </a:extLst>
                </a:hlinkClick>
              </a:rPr>
              <a:t>Access resources</a:t>
            </a: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102905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extLst>
              <p:ext uri="{D42A27DB-BD31-4B8C-83A1-F6EECF244321}">
                <p14:modId xmlns:p14="http://schemas.microsoft.com/office/powerpoint/2010/main" val="89609871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28835"/>
            <a:ext cx="12192000" cy="1200329"/>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Porter’s</a:t>
            </a:r>
            <a:r>
              <a:rPr lang="en-US" sz="72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Five Forces</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1811224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D62F2E4B-84AB-912E-3BB2-F548CD7F2D44}"/>
              </a:ext>
            </a:extLst>
          </p:cNvPr>
          <p:cNvGraphicFramePr>
            <a:graphicFrameLocks noChangeAspect="1"/>
          </p:cNvGraphicFramePr>
          <p:nvPr>
            <p:custDataLst>
              <p:tags r:id="rId1"/>
            </p:custDataLst>
            <p:extLst>
              <p:ext uri="{D42A27DB-BD31-4B8C-83A1-F6EECF244321}">
                <p14:modId xmlns:p14="http://schemas.microsoft.com/office/powerpoint/2010/main" val="1074659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84BB2D9B-7AAF-C2B0-3305-77D255CE8E69}"/>
              </a:ext>
            </a:extLst>
          </p:cNvPr>
          <p:cNvSpPr>
            <a:spLocks noGrp="1"/>
          </p:cNvSpPr>
          <p:nvPr>
            <p:ph type="title"/>
          </p:nvPr>
        </p:nvSpPr>
        <p:spPr/>
        <p:txBody>
          <a:bodyPr vert="horz"/>
          <a:lstStyle/>
          <a:p>
            <a:r>
              <a:rPr lang="en-US" dirty="0"/>
              <a:t>Porter’s Five Forces — Overview </a:t>
            </a:r>
          </a:p>
        </p:txBody>
      </p:sp>
      <p:sp>
        <p:nvSpPr>
          <p:cNvPr id="3" name="Marcador de texto 2">
            <a:extLst>
              <a:ext uri="{FF2B5EF4-FFF2-40B4-BE49-F238E27FC236}">
                <a16:creationId xmlns:a16="http://schemas.microsoft.com/office/drawing/2014/main" id="{CBF5FA09-9A86-BD2E-1A45-1AD36603971E}"/>
              </a:ext>
            </a:extLst>
          </p:cNvPr>
          <p:cNvSpPr>
            <a:spLocks noGrp="1"/>
          </p:cNvSpPr>
          <p:nvPr>
            <p:ph type="body" sz="quarter" idx="18"/>
          </p:nvPr>
        </p:nvSpPr>
        <p:spPr>
          <a:xfrm>
            <a:off x="2206668" y="1155517"/>
            <a:ext cx="9613857" cy="576263"/>
          </a:xfrm>
        </p:spPr>
        <p:txBody>
          <a:bodyPr/>
          <a:lstStyle/>
          <a:p>
            <a:r>
              <a:rPr lang="en-US" dirty="0"/>
              <a:t>Named after Harvard Business School professor Michael E. Porter, popularized in his 1980 book Competitive Strategy.</a:t>
            </a:r>
          </a:p>
        </p:txBody>
      </p:sp>
      <p:sp>
        <p:nvSpPr>
          <p:cNvPr id="4" name="Marcador de texto 3">
            <a:extLst>
              <a:ext uri="{FF2B5EF4-FFF2-40B4-BE49-F238E27FC236}">
                <a16:creationId xmlns:a16="http://schemas.microsoft.com/office/drawing/2014/main" id="{E2DA2D57-DCC5-2AC4-BB3A-B02BAA9DEE35}"/>
              </a:ext>
            </a:extLst>
          </p:cNvPr>
          <p:cNvSpPr>
            <a:spLocks noGrp="1"/>
          </p:cNvSpPr>
          <p:nvPr>
            <p:ph type="body" sz="quarter" idx="19"/>
          </p:nvPr>
        </p:nvSpPr>
        <p:spPr/>
        <p:txBody>
          <a:bodyPr/>
          <a:lstStyle/>
          <a:p>
            <a:pPr marL="0" indent="0">
              <a:buNone/>
            </a:pPr>
            <a:r>
              <a:rPr lang="en-US" dirty="0"/>
              <a:t>Porter's Five Forces is a framework that helps us understand the competitive dynamics of an industry. It involves analyzing five different forces that shape competition in an industry, namely:</a:t>
            </a:r>
          </a:p>
          <a:p>
            <a:pPr marL="228600" indent="-228600">
              <a:buFont typeface="+mj-lt"/>
              <a:buAutoNum type="arabicPeriod"/>
            </a:pPr>
            <a:r>
              <a:rPr lang="en-US" dirty="0"/>
              <a:t>The threat of new entrants: How easy or difficult is it for new players to enter the industry? Are there any barriers to entry, such as high capital requirements or strong brand recognition?</a:t>
            </a:r>
          </a:p>
          <a:p>
            <a:pPr marL="228600" indent="-228600">
              <a:buFont typeface="+mj-lt"/>
              <a:buAutoNum type="arabicPeriod"/>
            </a:pPr>
            <a:r>
              <a:rPr lang="en-US" dirty="0"/>
              <a:t>The bargaining power of suppliers: How much bargaining power do suppliers have over firms in the industry? Are there only a few dominant suppliers or is there a large number of suppliers with similar offerings?</a:t>
            </a:r>
          </a:p>
          <a:p>
            <a:pPr marL="228600" indent="-228600">
              <a:buFont typeface="+mj-lt"/>
              <a:buAutoNum type="arabicPeriod"/>
            </a:pPr>
            <a:r>
              <a:rPr lang="en-US" dirty="0"/>
              <a:t>The bargaining power of buyers: How much bargaining power do buyers have over firms in the industry? Are buyers able to easily switch to competitors or are they locked into existing relationships?</a:t>
            </a:r>
          </a:p>
          <a:p>
            <a:pPr marL="228600" indent="-228600">
              <a:buFont typeface="+mj-lt"/>
              <a:buAutoNum type="arabicPeriod"/>
            </a:pPr>
            <a:r>
              <a:rPr lang="en-US" dirty="0"/>
              <a:t>The threat of substitutes: How much of a threat do substitute products or services pose to the industry? Are there many substitutes available, or are customers limited in their options?</a:t>
            </a:r>
          </a:p>
          <a:p>
            <a:pPr marL="228600" indent="-228600">
              <a:buFont typeface="+mj-lt"/>
              <a:buAutoNum type="arabicPeriod"/>
            </a:pPr>
            <a:r>
              <a:rPr lang="en-US" dirty="0"/>
              <a:t>The intensity of competitive rivalry: How intense is the competition among firms in the industry? Are there many players with similar offerings or only a few dominant players?</a:t>
            </a:r>
          </a:p>
        </p:txBody>
      </p:sp>
      <p:sp>
        <p:nvSpPr>
          <p:cNvPr id="5" name="Marcador de texto 4">
            <a:extLst>
              <a:ext uri="{FF2B5EF4-FFF2-40B4-BE49-F238E27FC236}">
                <a16:creationId xmlns:a16="http://schemas.microsoft.com/office/drawing/2014/main" id="{97DF2B07-234A-0738-65E6-8E20BF4F295E}"/>
              </a:ext>
            </a:extLst>
          </p:cNvPr>
          <p:cNvSpPr>
            <a:spLocks noGrp="1"/>
          </p:cNvSpPr>
          <p:nvPr>
            <p:ph type="body" sz="quarter" idx="20"/>
          </p:nvPr>
        </p:nvSpPr>
        <p:spPr/>
        <p:txBody>
          <a:bodyPr/>
          <a:lstStyle/>
          <a:p>
            <a:r>
              <a:rPr lang="en-US" b="1" dirty="0"/>
              <a:t>Market entry strategy: </a:t>
            </a:r>
            <a:r>
              <a:rPr lang="en-US" dirty="0"/>
              <a:t>When a client is considering entering a new market, we use Porter's Five Forces to understand the competitive dynamics of the industry and assess the potential profitability of the venture.</a:t>
            </a:r>
          </a:p>
          <a:p>
            <a:r>
              <a:rPr lang="en-US" b="1" dirty="0"/>
              <a:t>Industry analysis: </a:t>
            </a:r>
            <a:r>
              <a:rPr lang="en-US" dirty="0"/>
              <a:t>When a client wants to understand the competitive landscape of their industry, we use Porter's Five Forces to analyze the strength of each force and identify areas where they may be able to gain a competitive advantage.</a:t>
            </a:r>
          </a:p>
          <a:p>
            <a:r>
              <a:rPr lang="en-US" b="1" dirty="0"/>
              <a:t>Mergers and acquisitions: </a:t>
            </a:r>
            <a:r>
              <a:rPr lang="en-US" dirty="0"/>
              <a:t>When a client is considering acquiring or merging with another company, we use Porter's Five Forces to analyze the competitive dynamics of the combined entity and assess the potential synergies.</a:t>
            </a:r>
          </a:p>
        </p:txBody>
      </p:sp>
    </p:spTree>
    <p:extLst>
      <p:ext uri="{BB962C8B-B14F-4D97-AF65-F5344CB8AC3E}">
        <p14:creationId xmlns:p14="http://schemas.microsoft.com/office/powerpoint/2010/main" val="2728315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extLst>
              <p:ext uri="{D42A27DB-BD31-4B8C-83A1-F6EECF244321}">
                <p14:modId xmlns:p14="http://schemas.microsoft.com/office/powerpoint/2010/main" val="39039300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3" imgW="7772400" imgH="10058400" progId="TCLayout.ActiveDocument.1">
                  <p:embed/>
                </p:oleObj>
              </mc:Choice>
              <mc:Fallback>
                <p:oleObj name="Diapositiva de think-cell"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3" name="Rectángulo 12">
            <a:extLst>
              <a:ext uri="{FF2B5EF4-FFF2-40B4-BE49-F238E27FC236}">
                <a16:creationId xmlns:a16="http://schemas.microsoft.com/office/drawing/2014/main" id="{7F8768EF-4E47-054C-1D91-8C3DB362C178}"/>
              </a:ext>
            </a:extLst>
          </p:cNvPr>
          <p:cNvSpPr/>
          <p:nvPr/>
        </p:nvSpPr>
        <p:spPr>
          <a:xfrm>
            <a:off x="384173" y="3775075"/>
            <a:ext cx="5680077" cy="2533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r>
              <a:rPr lang="de-DE" sz="1600" b="1" dirty="0">
                <a:solidFill>
                  <a:schemeClr val="tx2"/>
                </a:solidFill>
              </a:rPr>
              <a:t>Bargaining power </a:t>
            </a:r>
            <a:r>
              <a:rPr lang="de-DE" sz="1600" b="1" dirty="0" err="1">
                <a:solidFill>
                  <a:schemeClr val="tx2"/>
                </a:solidFill>
              </a:rPr>
              <a:t>of</a:t>
            </a:r>
            <a:r>
              <a:rPr lang="de-DE" sz="1600" b="1" dirty="0">
                <a:solidFill>
                  <a:schemeClr val="tx2"/>
                </a:solidFill>
              </a:rPr>
              <a:t> </a:t>
            </a:r>
            <a:r>
              <a:rPr lang="de-DE" sz="1600" b="1" dirty="0" err="1">
                <a:solidFill>
                  <a:schemeClr val="tx2"/>
                </a:solidFill>
              </a:rPr>
              <a:t>suppliers</a:t>
            </a:r>
            <a:endParaRPr lang="de-DE" sz="1600" b="1" dirty="0">
              <a:solidFill>
                <a:schemeClr val="tx2"/>
              </a:solidFill>
            </a:endParaRPr>
          </a:p>
        </p:txBody>
      </p:sp>
      <p:sp>
        <p:nvSpPr>
          <p:cNvPr id="11" name="Rectángulo 10">
            <a:extLst>
              <a:ext uri="{FF2B5EF4-FFF2-40B4-BE49-F238E27FC236}">
                <a16:creationId xmlns:a16="http://schemas.microsoft.com/office/drawing/2014/main" id="{C2308DD6-747E-346E-6B0D-74BA46621962}"/>
              </a:ext>
            </a:extLst>
          </p:cNvPr>
          <p:cNvSpPr/>
          <p:nvPr/>
        </p:nvSpPr>
        <p:spPr>
          <a:xfrm>
            <a:off x="384173" y="1152525"/>
            <a:ext cx="5680077" cy="2533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r>
              <a:rPr lang="de-DE" sz="1600" b="1" dirty="0">
                <a:solidFill>
                  <a:schemeClr val="tx2"/>
                </a:solidFill>
              </a:rPr>
              <a:t>Threat of new entrants</a:t>
            </a:r>
          </a:p>
        </p:txBody>
      </p:sp>
      <p:sp>
        <p:nvSpPr>
          <p:cNvPr id="12" name="Rectángulo 11">
            <a:extLst>
              <a:ext uri="{FF2B5EF4-FFF2-40B4-BE49-F238E27FC236}">
                <a16:creationId xmlns:a16="http://schemas.microsoft.com/office/drawing/2014/main" id="{EEE09D9D-6106-54F8-6D44-3B2DF68A0F55}"/>
              </a:ext>
            </a:extLst>
          </p:cNvPr>
          <p:cNvSpPr/>
          <p:nvPr/>
        </p:nvSpPr>
        <p:spPr>
          <a:xfrm>
            <a:off x="6140448" y="1152525"/>
            <a:ext cx="5680077" cy="2533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r"/>
            <a:r>
              <a:rPr lang="de-DE" sz="1600" b="1" dirty="0">
                <a:solidFill>
                  <a:schemeClr val="tx2"/>
                </a:solidFill>
              </a:rPr>
              <a:t>Bargaining power of buyers</a:t>
            </a:r>
          </a:p>
        </p:txBody>
      </p:sp>
      <p:sp>
        <p:nvSpPr>
          <p:cNvPr id="14" name="Rectángulo 13">
            <a:extLst>
              <a:ext uri="{FF2B5EF4-FFF2-40B4-BE49-F238E27FC236}">
                <a16:creationId xmlns:a16="http://schemas.microsoft.com/office/drawing/2014/main" id="{F7544DA7-719A-39C9-81AD-2C13D10BCCC3}"/>
              </a:ext>
            </a:extLst>
          </p:cNvPr>
          <p:cNvSpPr/>
          <p:nvPr/>
        </p:nvSpPr>
        <p:spPr>
          <a:xfrm>
            <a:off x="6140448" y="3775075"/>
            <a:ext cx="5680077" cy="2533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r"/>
            <a:r>
              <a:rPr lang="de-DE" sz="1600" b="1" dirty="0">
                <a:solidFill>
                  <a:schemeClr val="tx2"/>
                </a:solidFill>
              </a:rPr>
              <a:t>Threat of substitutes</a:t>
            </a:r>
          </a:p>
        </p:txBody>
      </p:sp>
      <p:sp>
        <p:nvSpPr>
          <p:cNvPr id="17" name="TextBox 18">
            <a:extLst>
              <a:ext uri="{FF2B5EF4-FFF2-40B4-BE49-F238E27FC236}">
                <a16:creationId xmlns:a16="http://schemas.microsoft.com/office/drawing/2014/main" id="{3ECAB7AD-8765-15F7-7D73-6BEAFB2ECD3F}"/>
              </a:ext>
            </a:extLst>
          </p:cNvPr>
          <p:cNvSpPr txBox="1"/>
          <p:nvPr/>
        </p:nvSpPr>
        <p:spPr>
          <a:xfrm>
            <a:off x="7750684" y="1649450"/>
            <a:ext cx="4069841" cy="505464"/>
          </a:xfrm>
          <a:prstGeom prst="rect">
            <a:avLst/>
          </a:prstGeom>
          <a:noFill/>
        </p:spPr>
        <p:txBody>
          <a:bodyPr wrap="square" lIns="72000" tIns="0" rIns="72000" bIns="0" rtlCol="0" anchor="t">
            <a:spAutoFit/>
          </a:bodyPr>
          <a:lstStyle/>
          <a:p>
            <a:pPr defTabSz="228600">
              <a:spcBef>
                <a:spcPts val="300"/>
              </a:spcBef>
              <a:defRPr/>
            </a:pPr>
            <a:r>
              <a:rPr kumimoji="0" lang="en-US" sz="1400" b="1" i="0" u="none" strike="noStrike" kern="1200" cap="none" spc="0" normalizeH="0" baseline="0" noProof="0" dirty="0">
                <a:ln>
                  <a:noFill/>
                </a:ln>
                <a:effectLst/>
                <a:uLnTx/>
                <a:uFillTx/>
                <a:latin typeface="Verdana"/>
                <a:ea typeface="+mn-ea"/>
                <a:cs typeface="+mn-cs"/>
              </a:rPr>
              <a:t>Low, moderate, or high</a:t>
            </a:r>
          </a:p>
          <a:p>
            <a:pPr marL="177800" marR="0" lvl="0" indent="-177800" defTabSz="228600" rtl="0" eaLnBrk="1" fontAlgn="auto" latinLnBrk="0" hangingPunct="1">
              <a:lnSpc>
                <a:spcPct val="100000"/>
              </a:lnSpc>
              <a:spcBef>
                <a:spcPts val="300"/>
              </a:spcBef>
              <a:buClrTx/>
              <a:buSzTx/>
              <a:buFont typeface="Arial" panose="020B0604020202020204" pitchFamily="34" charset="0"/>
              <a:buChar char="•"/>
              <a:tabLst/>
              <a:defRPr/>
            </a:pPr>
            <a:r>
              <a:rPr lang="en-US" sz="1400" dirty="0">
                <a:latin typeface="Verdana"/>
              </a:rPr>
              <a:t>XXX</a:t>
            </a:r>
            <a:endParaRPr kumimoji="0" lang="en-US" sz="1400" i="0" u="none" strike="noStrike" kern="1200" cap="none" spc="0" normalizeH="0" baseline="0" noProof="0" dirty="0">
              <a:ln>
                <a:noFill/>
              </a:ln>
              <a:effectLst/>
              <a:uLnTx/>
              <a:uFillTx/>
              <a:latin typeface="Verdana"/>
              <a:ea typeface="+mn-ea"/>
              <a:cs typeface="+mn-cs"/>
            </a:endParaRPr>
          </a:p>
        </p:txBody>
      </p:sp>
      <p:sp>
        <p:nvSpPr>
          <p:cNvPr id="18" name="TextBox 18">
            <a:extLst>
              <a:ext uri="{FF2B5EF4-FFF2-40B4-BE49-F238E27FC236}">
                <a16:creationId xmlns:a16="http://schemas.microsoft.com/office/drawing/2014/main" id="{6C8828D1-9B33-0023-2339-F38F41C9DFB2}"/>
              </a:ext>
            </a:extLst>
          </p:cNvPr>
          <p:cNvSpPr txBox="1"/>
          <p:nvPr/>
        </p:nvSpPr>
        <p:spPr>
          <a:xfrm>
            <a:off x="384173" y="1649450"/>
            <a:ext cx="4069841" cy="505464"/>
          </a:xfrm>
          <a:prstGeom prst="rect">
            <a:avLst/>
          </a:prstGeom>
          <a:noFill/>
        </p:spPr>
        <p:txBody>
          <a:bodyPr wrap="square" lIns="72000" tIns="0" rIns="72000" bIns="0" rtlCol="0" anchor="t">
            <a:spAutoFit/>
          </a:bodyPr>
          <a:lstStyle/>
          <a:p>
            <a:pPr marR="0" lvl="0" defTabSz="228600" rtl="0" eaLnBrk="1" fontAlgn="auto" latinLnBrk="0" hangingPunct="1">
              <a:lnSpc>
                <a:spcPct val="100000"/>
              </a:lnSpc>
              <a:spcBef>
                <a:spcPts val="300"/>
              </a:spcBef>
              <a:buClrTx/>
              <a:buSzTx/>
              <a:tabLst/>
              <a:defRPr/>
            </a:pPr>
            <a:r>
              <a:rPr kumimoji="0" lang="en-US" sz="1400" b="1" i="0" u="none" strike="noStrike" kern="1200" cap="none" spc="0" normalizeH="0" baseline="0" noProof="0" dirty="0">
                <a:ln>
                  <a:noFill/>
                </a:ln>
                <a:effectLst/>
                <a:uLnTx/>
                <a:uFillTx/>
                <a:latin typeface="Verdana"/>
                <a:ea typeface="+mn-ea"/>
                <a:cs typeface="+mn-cs"/>
              </a:rPr>
              <a:t>Low, moderate, or high</a:t>
            </a:r>
          </a:p>
          <a:p>
            <a:pPr marL="177800" marR="0" lvl="0" indent="-177800" defTabSz="228600" rtl="0" eaLnBrk="1" fontAlgn="auto" latinLnBrk="0" hangingPunct="1">
              <a:lnSpc>
                <a:spcPct val="100000"/>
              </a:lnSpc>
              <a:spcBef>
                <a:spcPts val="300"/>
              </a:spcBef>
              <a:buClrTx/>
              <a:buSzTx/>
              <a:buFont typeface="Arial" panose="020B0604020202020204" pitchFamily="34" charset="0"/>
              <a:buChar char="•"/>
              <a:tabLst/>
              <a:defRPr/>
            </a:pPr>
            <a:r>
              <a:rPr lang="en-US" sz="1400" dirty="0">
                <a:latin typeface="Verdana"/>
              </a:rPr>
              <a:t>XXX</a:t>
            </a:r>
            <a:endParaRPr kumimoji="0" lang="en-US" sz="1400" i="0" u="none" strike="noStrike" kern="1200" cap="none" spc="0" normalizeH="0" baseline="0" noProof="0" dirty="0">
              <a:ln>
                <a:noFill/>
              </a:ln>
              <a:effectLst/>
              <a:uLnTx/>
              <a:uFillTx/>
              <a:latin typeface="Verdana"/>
              <a:ea typeface="+mn-ea"/>
              <a:cs typeface="+mn-cs"/>
            </a:endParaRPr>
          </a:p>
        </p:txBody>
      </p:sp>
      <p:sp>
        <p:nvSpPr>
          <p:cNvPr id="19" name="TextBox 18">
            <a:extLst>
              <a:ext uri="{FF2B5EF4-FFF2-40B4-BE49-F238E27FC236}">
                <a16:creationId xmlns:a16="http://schemas.microsoft.com/office/drawing/2014/main" id="{DE5DF6BD-9904-FE80-B3A4-E5E376034329}"/>
              </a:ext>
            </a:extLst>
          </p:cNvPr>
          <p:cNvSpPr txBox="1"/>
          <p:nvPr/>
        </p:nvSpPr>
        <p:spPr>
          <a:xfrm>
            <a:off x="7750684" y="4289196"/>
            <a:ext cx="4069841" cy="505464"/>
          </a:xfrm>
          <a:prstGeom prst="rect">
            <a:avLst/>
          </a:prstGeom>
          <a:noFill/>
        </p:spPr>
        <p:txBody>
          <a:bodyPr wrap="square" lIns="72000" tIns="0" rIns="72000" bIns="0" rtlCol="0" anchor="t">
            <a:spAutoFit/>
          </a:bodyPr>
          <a:lstStyle/>
          <a:p>
            <a:pPr defTabSz="228600">
              <a:spcBef>
                <a:spcPts val="300"/>
              </a:spcBef>
              <a:defRPr/>
            </a:pPr>
            <a:r>
              <a:rPr kumimoji="0" lang="en-US" sz="1400" b="1" i="0" u="none" strike="noStrike" kern="1200" cap="none" spc="0" normalizeH="0" baseline="0" noProof="0" dirty="0">
                <a:ln>
                  <a:noFill/>
                </a:ln>
                <a:effectLst/>
                <a:uLnTx/>
                <a:uFillTx/>
                <a:latin typeface="Verdana"/>
                <a:ea typeface="+mn-ea"/>
                <a:cs typeface="+mn-cs"/>
              </a:rPr>
              <a:t>Low, moderate, or high</a:t>
            </a:r>
          </a:p>
          <a:p>
            <a:pPr marL="177800" marR="0" lvl="0" indent="-177800" defTabSz="228600" rtl="0" eaLnBrk="1" fontAlgn="auto" latinLnBrk="0" hangingPunct="1">
              <a:lnSpc>
                <a:spcPct val="100000"/>
              </a:lnSpc>
              <a:spcBef>
                <a:spcPts val="300"/>
              </a:spcBef>
              <a:buClrTx/>
              <a:buSzTx/>
              <a:buFont typeface="Arial" panose="020B0604020202020204" pitchFamily="34" charset="0"/>
              <a:buChar char="•"/>
              <a:tabLst/>
              <a:defRPr/>
            </a:pPr>
            <a:r>
              <a:rPr lang="en-US" sz="1400" dirty="0">
                <a:latin typeface="Verdana"/>
              </a:rPr>
              <a:t>XXX</a:t>
            </a:r>
            <a:endParaRPr kumimoji="0" lang="en-US" sz="1400" i="0" u="none" strike="noStrike" kern="1200" cap="none" spc="0" normalizeH="0" baseline="0" noProof="0" dirty="0">
              <a:ln>
                <a:noFill/>
              </a:ln>
              <a:effectLst/>
              <a:uLnTx/>
              <a:uFillTx/>
              <a:latin typeface="Verdana"/>
              <a:ea typeface="+mn-ea"/>
              <a:cs typeface="+mn-cs"/>
            </a:endParaRPr>
          </a:p>
        </p:txBody>
      </p:sp>
      <p:sp>
        <p:nvSpPr>
          <p:cNvPr id="20" name="TextBox 18">
            <a:extLst>
              <a:ext uri="{FF2B5EF4-FFF2-40B4-BE49-F238E27FC236}">
                <a16:creationId xmlns:a16="http://schemas.microsoft.com/office/drawing/2014/main" id="{A0EBBF6F-7C5E-0CD8-B8EB-59CBE45156B8}"/>
              </a:ext>
            </a:extLst>
          </p:cNvPr>
          <p:cNvSpPr txBox="1"/>
          <p:nvPr/>
        </p:nvSpPr>
        <p:spPr>
          <a:xfrm>
            <a:off x="384173" y="4289196"/>
            <a:ext cx="4069841" cy="505464"/>
          </a:xfrm>
          <a:prstGeom prst="rect">
            <a:avLst/>
          </a:prstGeom>
          <a:noFill/>
        </p:spPr>
        <p:txBody>
          <a:bodyPr wrap="square" lIns="72000" tIns="0" rIns="72000" bIns="0" rtlCol="0" anchor="t">
            <a:spAutoFit/>
          </a:bodyPr>
          <a:lstStyle/>
          <a:p>
            <a:pPr marR="0" lvl="0" defTabSz="228600" rtl="0" eaLnBrk="1" fontAlgn="auto" latinLnBrk="0" hangingPunct="1">
              <a:lnSpc>
                <a:spcPct val="100000"/>
              </a:lnSpc>
              <a:spcBef>
                <a:spcPts val="300"/>
              </a:spcBef>
              <a:buClrTx/>
              <a:buSzTx/>
              <a:tabLst/>
              <a:defRPr/>
            </a:pPr>
            <a:r>
              <a:rPr kumimoji="0" lang="en-US" sz="1400" b="1" i="0" u="none" strike="noStrike" kern="1200" cap="none" spc="0" normalizeH="0" baseline="0" noProof="0" dirty="0">
                <a:ln>
                  <a:noFill/>
                </a:ln>
                <a:effectLst/>
                <a:uLnTx/>
                <a:uFillTx/>
                <a:latin typeface="Verdana"/>
                <a:ea typeface="+mn-ea"/>
                <a:cs typeface="+mn-cs"/>
              </a:rPr>
              <a:t>Low, moderate, or high</a:t>
            </a:r>
          </a:p>
          <a:p>
            <a:pPr marL="177800" marR="0" lvl="0" indent="-177800" defTabSz="228600" rtl="0" eaLnBrk="1" fontAlgn="auto" latinLnBrk="0" hangingPunct="1">
              <a:lnSpc>
                <a:spcPct val="100000"/>
              </a:lnSpc>
              <a:spcBef>
                <a:spcPts val="300"/>
              </a:spcBef>
              <a:buClrTx/>
              <a:buSzTx/>
              <a:buFont typeface="Arial" panose="020B0604020202020204" pitchFamily="34" charset="0"/>
              <a:buChar char="•"/>
              <a:tabLst/>
              <a:defRPr/>
            </a:pPr>
            <a:r>
              <a:rPr lang="en-US" sz="1400" dirty="0">
                <a:latin typeface="Verdana"/>
              </a:rPr>
              <a:t>XXX</a:t>
            </a:r>
            <a:endParaRPr kumimoji="0" lang="en-US" sz="1400" i="0" u="none" strike="noStrike" kern="1200" cap="none" spc="0" normalizeH="0" baseline="0" noProof="0" dirty="0">
              <a:ln>
                <a:noFill/>
              </a:ln>
              <a:effectLst/>
              <a:uLnTx/>
              <a:uFillTx/>
              <a:latin typeface="Verdana"/>
              <a:ea typeface="+mn-ea"/>
              <a:cs typeface="+mn-cs"/>
            </a:endParaRPr>
          </a:p>
        </p:txBody>
      </p:sp>
      <p:sp>
        <p:nvSpPr>
          <p:cNvPr id="6" name="Título 2">
            <a:extLst>
              <a:ext uri="{FF2B5EF4-FFF2-40B4-BE49-F238E27FC236}">
                <a16:creationId xmlns:a16="http://schemas.microsoft.com/office/drawing/2014/main" id="{FE0E35DD-9DF5-C54B-2CC8-ACD1D140D816}"/>
              </a:ext>
            </a:extLst>
          </p:cNvPr>
          <p:cNvSpPr txBox="1">
            <a:spLocks/>
          </p:cNvSpPr>
          <p:nvPr/>
        </p:nvSpPr>
        <p:spPr>
          <a:xfrm>
            <a:off x="371475" y="549275"/>
            <a:ext cx="11420475" cy="485775"/>
          </a:xfrm>
          <a:prstGeom prst="rect">
            <a:avLst/>
          </a:prstGeom>
        </p:spPr>
        <p:txBody>
          <a:bodyPr vert="horz" lIns="0" tIns="0" rIns="0" bIns="0" rtlCol="0" anchor="t">
            <a:noAutofit/>
          </a:bodyPr>
          <a:lstStyle>
            <a:lvl1pPr algn="l" defTabSz="914217" rtl="0" eaLnBrk="1" latinLnBrk="0" hangingPunct="1">
              <a:lnSpc>
                <a:spcPct val="80000"/>
              </a:lnSpc>
              <a:spcBef>
                <a:spcPct val="0"/>
              </a:spcBef>
              <a:buNone/>
              <a:defRPr sz="2400" b="1" kern="120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dirty="0"/>
              <a:t>Porter’s Five Forces — Template</a:t>
            </a: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06C11698-DCC2-A6A6-94CE-6CBF740B55AE}"/>
                  </a:ext>
                </a:extLst>
              </p14:cNvPr>
              <p14:cNvContentPartPr/>
              <p14:nvPr/>
            </p14:nvContentPartPr>
            <p14:xfrm>
              <a:off x="4397913" y="-723371"/>
              <a:ext cx="360" cy="360"/>
            </p14:xfrm>
          </p:contentPart>
        </mc:Choice>
        <mc:Fallback xmlns="">
          <p:pic>
            <p:nvPicPr>
              <p:cNvPr id="2" name="Ink 1">
                <a:extLst>
                  <a:ext uri="{FF2B5EF4-FFF2-40B4-BE49-F238E27FC236}">
                    <a16:creationId xmlns:a16="http://schemas.microsoft.com/office/drawing/2014/main" id="{06C11698-DCC2-A6A6-94CE-6CBF740B55AE}"/>
                  </a:ext>
                </a:extLst>
              </p:cNvPr>
              <p:cNvPicPr/>
              <p:nvPr/>
            </p:nvPicPr>
            <p:blipFill>
              <a:blip r:embed="rId17"/>
              <a:stretch>
                <a:fillRect/>
              </a:stretch>
            </p:blipFill>
            <p:spPr>
              <a:xfrm>
                <a:off x="4389273" y="-732371"/>
                <a:ext cx="18000" cy="18000"/>
              </a:xfrm>
              <a:prstGeom prst="rect">
                <a:avLst/>
              </a:prstGeom>
            </p:spPr>
          </p:pic>
        </mc:Fallback>
      </mc:AlternateContent>
      <p:sp>
        <p:nvSpPr>
          <p:cNvPr id="16" name="Elipse 15">
            <a:extLst>
              <a:ext uri="{FF2B5EF4-FFF2-40B4-BE49-F238E27FC236}">
                <a16:creationId xmlns:a16="http://schemas.microsoft.com/office/drawing/2014/main" id="{3ADEAA5C-EC82-DDE5-BD60-3E0E1C5EEFC6}"/>
              </a:ext>
            </a:extLst>
          </p:cNvPr>
          <p:cNvSpPr/>
          <p:nvPr/>
        </p:nvSpPr>
        <p:spPr>
          <a:xfrm>
            <a:off x="4568062" y="2196338"/>
            <a:ext cx="3068574" cy="3068574"/>
          </a:xfrm>
          <a:prstGeom prst="ellipse">
            <a:avLst/>
          </a:prstGeom>
          <a:solidFill>
            <a:schemeClr val="bg1"/>
          </a:solidFill>
          <a:ln w="571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tIns="0" rIns="0" bIns="0" rtlCol="0" anchor="t"/>
          <a:lstStyle/>
          <a:p>
            <a:pPr algn="ctr"/>
            <a:r>
              <a:rPr lang="en-US" sz="1600" b="1" dirty="0">
                <a:solidFill>
                  <a:schemeClr val="accent1"/>
                </a:solidFill>
              </a:rPr>
              <a:t>Intensity of competition from existing competitors</a:t>
            </a:r>
          </a:p>
        </p:txBody>
      </p:sp>
      <p:sp>
        <p:nvSpPr>
          <p:cNvPr id="21" name="TextBox 18">
            <a:extLst>
              <a:ext uri="{FF2B5EF4-FFF2-40B4-BE49-F238E27FC236}">
                <a16:creationId xmlns:a16="http://schemas.microsoft.com/office/drawing/2014/main" id="{C4FEE613-B67F-EB46-6D5D-2E9A46EA89FD}"/>
              </a:ext>
            </a:extLst>
          </p:cNvPr>
          <p:cNvSpPr txBox="1"/>
          <p:nvPr/>
        </p:nvSpPr>
        <p:spPr>
          <a:xfrm>
            <a:off x="4568062" y="3790284"/>
            <a:ext cx="3068575" cy="469359"/>
          </a:xfrm>
          <a:prstGeom prst="rect">
            <a:avLst/>
          </a:prstGeom>
          <a:noFill/>
        </p:spPr>
        <p:txBody>
          <a:bodyPr wrap="square" lIns="72000" tIns="0" rIns="72000" bIns="0" rtlCol="0" anchor="t">
            <a:spAutoFit/>
          </a:bodyPr>
          <a:lstStyle/>
          <a:p>
            <a:pPr algn="ctr" defTabSz="228600">
              <a:spcBef>
                <a:spcPts val="300"/>
              </a:spcBef>
              <a:defRPr/>
            </a:pPr>
            <a:r>
              <a:rPr kumimoji="0" lang="en-US" sz="1400" b="1" i="0" u="none" strike="noStrike" kern="1200" cap="none" spc="0" normalizeH="0" baseline="0" noProof="0" dirty="0">
                <a:ln>
                  <a:noFill/>
                </a:ln>
                <a:effectLst/>
                <a:uLnTx/>
                <a:uFillTx/>
                <a:latin typeface="Verdana"/>
                <a:ea typeface="+mn-ea"/>
                <a:cs typeface="+mn-cs"/>
              </a:rPr>
              <a:t>Low, moderate, or high</a:t>
            </a:r>
          </a:p>
          <a:p>
            <a:pPr marR="0" lvl="0" algn="ctr" defTabSz="228600" rtl="0" eaLnBrk="1" fontAlgn="auto" latinLnBrk="0" hangingPunct="1">
              <a:lnSpc>
                <a:spcPct val="100000"/>
              </a:lnSpc>
              <a:spcBef>
                <a:spcPts val="300"/>
              </a:spcBef>
              <a:buClrTx/>
              <a:buSzTx/>
              <a:tabLst/>
              <a:defRPr/>
            </a:pPr>
            <a:r>
              <a:rPr lang="en-US" sz="1400" dirty="0">
                <a:latin typeface="Verdana"/>
              </a:rPr>
              <a:t>XXX</a:t>
            </a:r>
            <a:endParaRPr kumimoji="0" lang="en-US" sz="1400" i="0" u="none" strike="noStrike" kern="1200" cap="none" spc="0" normalizeH="0" baseline="0" noProof="0" dirty="0">
              <a:ln>
                <a:noFill/>
              </a:ln>
              <a:effectLst/>
              <a:uLnTx/>
              <a:uFillTx/>
              <a:latin typeface="Verdana"/>
              <a:ea typeface="+mn-ea"/>
              <a:cs typeface="+mn-cs"/>
            </a:endParaRPr>
          </a:p>
        </p:txBody>
      </p:sp>
      <p:sp>
        <p:nvSpPr>
          <p:cNvPr id="15" name="Marcador de pie de página 14">
            <a:extLst>
              <a:ext uri="{FF2B5EF4-FFF2-40B4-BE49-F238E27FC236}">
                <a16:creationId xmlns:a16="http://schemas.microsoft.com/office/drawing/2014/main" id="{DF91AC12-CB8A-BD11-DCDB-2EB0C1515726}"/>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559864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3" imgW="7772400" imgH="10058400" progId="TCLayout.ActiveDocument.1">
                  <p:embed/>
                </p:oleObj>
              </mc:Choice>
              <mc:Fallback>
                <p:oleObj name="Diapositiva de think-cell"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Marcador de texto 2">
            <a:extLst>
              <a:ext uri="{FF2B5EF4-FFF2-40B4-BE49-F238E27FC236}">
                <a16:creationId xmlns:a16="http://schemas.microsoft.com/office/drawing/2014/main" id="{41AB0A6A-49CF-2011-10E9-7FB531D78C0B}"/>
              </a:ext>
            </a:extLst>
          </p:cNvPr>
          <p:cNvSpPr>
            <a:spLocks noGrp="1"/>
          </p:cNvSpPr>
          <p:nvPr>
            <p:ph type="body" sz="quarter" idx="14"/>
          </p:nvPr>
        </p:nvSpPr>
        <p:spPr/>
        <p:txBody>
          <a:bodyPr/>
          <a:lstStyle/>
          <a:p>
            <a:r>
              <a:rPr lang="en-US" dirty="0"/>
              <a:t>Porter’s Five Forces Analysis</a:t>
            </a:r>
          </a:p>
        </p:txBody>
      </p:sp>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Threat of new entrants – Questions to consider</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p:txBody>
          <a:bodyPr/>
          <a:lstStyle/>
          <a:p>
            <a:pPr marL="228600" indent="-228600">
              <a:buFont typeface="+mj-lt"/>
              <a:buAutoNum type="arabicPeriod"/>
            </a:pPr>
            <a:r>
              <a:rPr lang="en-US" sz="1200" b="0" dirty="0"/>
              <a:t>What is the level of barriers to entry in the industry, such as economies of scale, capital requirements, or regulations?</a:t>
            </a:r>
          </a:p>
          <a:p>
            <a:pPr marL="228600" indent="-228600">
              <a:buFont typeface="+mj-lt"/>
              <a:buAutoNum type="arabicPeriod"/>
            </a:pPr>
            <a:r>
              <a:rPr lang="en-US" sz="1200" b="0" dirty="0"/>
              <a:t>How easy is it for new entrants to access the necessary resources, such as distribution channels or raw materials?</a:t>
            </a:r>
          </a:p>
          <a:p>
            <a:pPr marL="228600" indent="-228600">
              <a:buFont typeface="+mj-lt"/>
              <a:buAutoNum type="arabicPeriod"/>
            </a:pPr>
            <a:r>
              <a:rPr lang="en-US" sz="1200" b="0" dirty="0"/>
              <a:t>What is the level of brand recognition or customer loyalty in the industry, and how does it affect the threat of new entrants?</a:t>
            </a:r>
          </a:p>
          <a:p>
            <a:pPr marL="228600" indent="-228600">
              <a:buFont typeface="+mj-lt"/>
              <a:buAutoNum type="arabicPeriod"/>
            </a:pPr>
            <a:r>
              <a:rPr lang="en-US" sz="1200" b="0" dirty="0"/>
              <a:t>What is the level of product differentiation in the industry, and how does it affect the threat of new entrants?</a:t>
            </a:r>
          </a:p>
          <a:p>
            <a:pPr marL="228600" indent="-228600">
              <a:buFont typeface="+mj-lt"/>
              <a:buAutoNum type="arabicPeriod"/>
            </a:pPr>
            <a:r>
              <a:rPr lang="en-US" sz="1200" b="0" dirty="0"/>
              <a:t>What is the level of patent protection or proprietary technology in the industry, and how does it affect the threat of new entrants?</a:t>
            </a:r>
          </a:p>
          <a:p>
            <a:pPr marL="228600" indent="-228600">
              <a:buFont typeface="+mj-lt"/>
              <a:buAutoNum type="arabicPeriod"/>
            </a:pPr>
            <a:r>
              <a:rPr lang="en-US" sz="1200" b="0" dirty="0"/>
              <a:t>What is the level of government regulation or industry standards in the industry, and how does it affect the threat of new entrants?</a:t>
            </a:r>
          </a:p>
          <a:p>
            <a:pPr marL="228600" indent="-228600">
              <a:buFont typeface="+mj-lt"/>
              <a:buAutoNum type="arabicPeriod"/>
            </a:pPr>
            <a:r>
              <a:rPr lang="en-US" sz="1200" b="0" dirty="0"/>
              <a:t>What is the level of customer switching costs or loyalty to existing companies, and how does it affect the threat of new entrants?</a:t>
            </a:r>
          </a:p>
          <a:p>
            <a:pPr marL="228600" indent="-228600">
              <a:buFont typeface="+mj-lt"/>
              <a:buAutoNum type="arabicPeriod"/>
            </a:pPr>
            <a:r>
              <a:rPr lang="en-US" sz="1200" b="0" dirty="0"/>
              <a:t>What is the level of network effects or economies of scope in the industry, and how does it affect the threat of new entrants?</a:t>
            </a:r>
          </a:p>
          <a:p>
            <a:pPr marL="228600" indent="-228600">
              <a:buFont typeface="+mj-lt"/>
              <a:buAutoNum type="arabicPeriod"/>
            </a:pPr>
            <a:r>
              <a:rPr lang="en-US" sz="1200" b="0" dirty="0"/>
              <a:t>What is the level of industry growth or potential for growth, and how does it affect the threat of new entrants?</a:t>
            </a:r>
          </a:p>
          <a:p>
            <a:pPr marL="228600" indent="-228600">
              <a:buFont typeface="+mj-lt"/>
              <a:buAutoNum type="arabicPeriod"/>
            </a:pPr>
            <a:r>
              <a:rPr lang="en-US" sz="1200" b="0" dirty="0"/>
              <a:t>What is the level of existing capacity utilization in the industry, and how does it affect the threat of new entrants?</a:t>
            </a:r>
          </a:p>
        </p:txBody>
      </p:sp>
      <p:sp>
        <p:nvSpPr>
          <p:cNvPr id="6" name="Marcador de pie de página 5">
            <a:extLst>
              <a:ext uri="{FF2B5EF4-FFF2-40B4-BE49-F238E27FC236}">
                <a16:creationId xmlns:a16="http://schemas.microsoft.com/office/drawing/2014/main" id="{01D8CA29-8209-85D3-2674-6BF92A7D667F}"/>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826927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EEA9A65-A84B-8CDC-A00E-C5B2B57E2FF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4" name="Object 3" hidden="1">
                        <a:extLst>
                          <a:ext uri="{FF2B5EF4-FFF2-40B4-BE49-F238E27FC236}">
                            <a16:creationId xmlns:a16="http://schemas.microsoft.com/office/drawing/2014/main" id="{BEEA9A65-A84B-8CDC-A00E-C5B2B57E2FF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02" name="Marcador de texto 2">
            <a:extLst>
              <a:ext uri="{FF2B5EF4-FFF2-40B4-BE49-F238E27FC236}">
                <a16:creationId xmlns:a16="http://schemas.microsoft.com/office/drawing/2014/main" id="{B13E6E7A-5127-3F51-2383-D996F9AEFF6F}"/>
              </a:ext>
            </a:extLst>
          </p:cNvPr>
          <p:cNvSpPr>
            <a:spLocks noGrp="1"/>
          </p:cNvSpPr>
          <p:nvPr>
            <p:ph type="body" sz="quarter" idx="14"/>
          </p:nvPr>
        </p:nvSpPr>
        <p:spPr/>
        <p:txBody>
          <a:bodyPr/>
          <a:lstStyle/>
          <a:p>
            <a:r>
              <a:rPr lang="en-US" dirty="0"/>
              <a:t>Backup to Porter’s Five Forces Analysis</a:t>
            </a:r>
          </a:p>
        </p:txBody>
      </p:sp>
      <p:sp>
        <p:nvSpPr>
          <p:cNvPr id="3" name="Título 2">
            <a:extLst>
              <a:ext uri="{FF2B5EF4-FFF2-40B4-BE49-F238E27FC236}">
                <a16:creationId xmlns:a16="http://schemas.microsoft.com/office/drawing/2014/main" id="{36E824DB-66E0-6298-27A8-F059BBF1F348}"/>
              </a:ext>
            </a:extLst>
          </p:cNvPr>
          <p:cNvSpPr>
            <a:spLocks noGrp="1"/>
          </p:cNvSpPr>
          <p:nvPr>
            <p:ph type="title"/>
          </p:nvPr>
        </p:nvSpPr>
        <p:spPr/>
        <p:txBody>
          <a:bodyPr vert="horz"/>
          <a:lstStyle/>
          <a:p>
            <a:r>
              <a:rPr lang="en-US" dirty="0"/>
              <a:t>Threat of new entrants – [industry]</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Text Placeholder 6">
            <a:extLst>
              <a:ext uri="{FF2B5EF4-FFF2-40B4-BE49-F238E27FC236}">
                <a16:creationId xmlns:a16="http://schemas.microsoft.com/office/drawing/2014/main" id="{1CE093A3-A4E7-ED72-B70B-0CB3F3449146}"/>
              </a:ext>
            </a:extLst>
          </p:cNvPr>
          <p:cNvSpPr txBox="1">
            <a:spLocks/>
          </p:cNvSpPr>
          <p:nvPr/>
        </p:nvSpPr>
        <p:spPr>
          <a:xfrm>
            <a:off x="374014" y="189653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 name="Rectangle 89">
            <a:extLst>
              <a:ext uri="{FF2B5EF4-FFF2-40B4-BE49-F238E27FC236}">
                <a16:creationId xmlns:a16="http://schemas.microsoft.com/office/drawing/2014/main" id="{0ECCBAAC-6E26-65EC-968A-810CBB9ACB1C}"/>
              </a:ext>
            </a:extLst>
          </p:cNvPr>
          <p:cNvSpPr/>
          <p:nvPr/>
        </p:nvSpPr>
        <p:spPr>
          <a:xfrm>
            <a:off x="2819587" y="1928537"/>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6" name="TextBox 24">
            <a:extLst>
              <a:ext uri="{FF2B5EF4-FFF2-40B4-BE49-F238E27FC236}">
                <a16:creationId xmlns:a16="http://schemas.microsoft.com/office/drawing/2014/main" id="{A1FCD546-7266-F9CA-CC1A-1EEF3811C21D}"/>
              </a:ext>
            </a:extLst>
          </p:cNvPr>
          <p:cNvSpPr txBox="1"/>
          <p:nvPr/>
        </p:nvSpPr>
        <p:spPr>
          <a:xfrm>
            <a:off x="374014" y="1389623"/>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Factor</a:t>
            </a:r>
          </a:p>
        </p:txBody>
      </p:sp>
      <p:cxnSp>
        <p:nvCxnSpPr>
          <p:cNvPr id="7" name="Conector recto 9">
            <a:extLst>
              <a:ext uri="{FF2B5EF4-FFF2-40B4-BE49-F238E27FC236}">
                <a16:creationId xmlns:a16="http://schemas.microsoft.com/office/drawing/2014/main" id="{D53D8713-E08F-9566-166A-5A48F109F304}"/>
              </a:ext>
            </a:extLst>
          </p:cNvPr>
          <p:cNvCxnSpPr>
            <a:cxnSpLocks/>
          </p:cNvCxnSpPr>
          <p:nvPr/>
        </p:nvCxnSpPr>
        <p:spPr>
          <a:xfrm>
            <a:off x="364181" y="1732070"/>
            <a:ext cx="174683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4" name="TextBox 24">
            <a:extLst>
              <a:ext uri="{FF2B5EF4-FFF2-40B4-BE49-F238E27FC236}">
                <a16:creationId xmlns:a16="http://schemas.microsoft.com/office/drawing/2014/main" id="{45E25133-FAF6-166D-4106-1C2D8BA3CA2E}"/>
              </a:ext>
            </a:extLst>
          </p:cNvPr>
          <p:cNvSpPr txBox="1"/>
          <p:nvPr/>
        </p:nvSpPr>
        <p:spPr>
          <a:xfrm>
            <a:off x="2961301" y="1398252"/>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Details</a:t>
            </a:r>
          </a:p>
        </p:txBody>
      </p:sp>
      <p:cxnSp>
        <p:nvCxnSpPr>
          <p:cNvPr id="25" name="Conector recto 9">
            <a:extLst>
              <a:ext uri="{FF2B5EF4-FFF2-40B4-BE49-F238E27FC236}">
                <a16:creationId xmlns:a16="http://schemas.microsoft.com/office/drawing/2014/main" id="{171F11E6-4411-07F9-8D69-48157F8F96FD}"/>
              </a:ext>
            </a:extLst>
          </p:cNvPr>
          <p:cNvCxnSpPr>
            <a:cxnSpLocks/>
          </p:cNvCxnSpPr>
          <p:nvPr/>
        </p:nvCxnSpPr>
        <p:spPr>
          <a:xfrm>
            <a:off x="2248665" y="1740699"/>
            <a:ext cx="955598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CA6EF9FA-4ADC-BA28-660F-C0DD6682C452}"/>
              </a:ext>
            </a:extLst>
          </p:cNvPr>
          <p:cNvGrpSpPr/>
          <p:nvPr/>
        </p:nvGrpSpPr>
        <p:grpSpPr>
          <a:xfrm>
            <a:off x="2220381" y="1898308"/>
            <a:ext cx="540517" cy="299743"/>
            <a:chOff x="2220381" y="1898308"/>
            <a:chExt cx="540517" cy="299743"/>
          </a:xfrm>
        </p:grpSpPr>
        <p:sp>
          <p:nvSpPr>
            <p:cNvPr id="13" name="Minus 15">
              <a:extLst>
                <a:ext uri="{FF2B5EF4-FFF2-40B4-BE49-F238E27FC236}">
                  <a16:creationId xmlns:a16="http://schemas.microsoft.com/office/drawing/2014/main" id="{798897E1-F559-4920-5D5E-1B9FB849632A}"/>
                </a:ext>
              </a:extLst>
            </p:cNvPr>
            <p:cNvSpPr/>
            <p:nvPr/>
          </p:nvSpPr>
          <p:spPr>
            <a:xfrm rot="16200000">
              <a:off x="2173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3" name="Minus 15">
              <a:extLst>
                <a:ext uri="{FF2B5EF4-FFF2-40B4-BE49-F238E27FC236}">
                  <a16:creationId xmlns:a16="http://schemas.microsoft.com/office/drawing/2014/main" id="{D3EFAD32-EF2A-D796-B3AA-1F5806DB7536}"/>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6" name="Minus 15">
              <a:extLst>
                <a:ext uri="{FF2B5EF4-FFF2-40B4-BE49-F238E27FC236}">
                  <a16:creationId xmlns:a16="http://schemas.microsoft.com/office/drawing/2014/main" id="{7DD40494-DE78-68A9-CE3D-E02EB2912436}"/>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7" name="Minus 15">
              <a:extLst>
                <a:ext uri="{FF2B5EF4-FFF2-40B4-BE49-F238E27FC236}">
                  <a16:creationId xmlns:a16="http://schemas.microsoft.com/office/drawing/2014/main" id="{9BB7686E-1C64-A774-213C-001472A8BF4B}"/>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sp>
        <p:nvSpPr>
          <p:cNvPr id="30" name="Rectangle 89">
            <a:extLst>
              <a:ext uri="{FF2B5EF4-FFF2-40B4-BE49-F238E27FC236}">
                <a16:creationId xmlns:a16="http://schemas.microsoft.com/office/drawing/2014/main" id="{C5F33008-6A14-1909-1BDB-D107577AD6D5}"/>
              </a:ext>
            </a:extLst>
          </p:cNvPr>
          <p:cNvSpPr/>
          <p:nvPr/>
        </p:nvSpPr>
        <p:spPr>
          <a:xfrm>
            <a:off x="2819587" y="2394301"/>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31" name="Group 30">
            <a:extLst>
              <a:ext uri="{FF2B5EF4-FFF2-40B4-BE49-F238E27FC236}">
                <a16:creationId xmlns:a16="http://schemas.microsoft.com/office/drawing/2014/main" id="{25EE8254-0A0E-2E84-4744-0BD661EA3A15}"/>
              </a:ext>
            </a:extLst>
          </p:cNvPr>
          <p:cNvGrpSpPr/>
          <p:nvPr/>
        </p:nvGrpSpPr>
        <p:grpSpPr>
          <a:xfrm>
            <a:off x="2220381" y="2364072"/>
            <a:ext cx="540517" cy="299743"/>
            <a:chOff x="2220381" y="1898308"/>
            <a:chExt cx="540517" cy="299743"/>
          </a:xfrm>
        </p:grpSpPr>
        <p:sp>
          <p:nvSpPr>
            <p:cNvPr id="32" name="Minus 15">
              <a:extLst>
                <a:ext uri="{FF2B5EF4-FFF2-40B4-BE49-F238E27FC236}">
                  <a16:creationId xmlns:a16="http://schemas.microsoft.com/office/drawing/2014/main" id="{FED6A283-F616-0C96-52B7-DB370023DE52}"/>
                </a:ext>
              </a:extLst>
            </p:cNvPr>
            <p:cNvSpPr/>
            <p:nvPr/>
          </p:nvSpPr>
          <p:spPr>
            <a:xfrm rot="16200000">
              <a:off x="2173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33" name="Minus 15">
              <a:extLst>
                <a:ext uri="{FF2B5EF4-FFF2-40B4-BE49-F238E27FC236}">
                  <a16:creationId xmlns:a16="http://schemas.microsoft.com/office/drawing/2014/main" id="{C69013A7-AB71-96D7-DAC3-72CD57B70E8B}"/>
                </a:ext>
              </a:extLst>
            </p:cNvPr>
            <p:cNvSpPr/>
            <p:nvPr/>
          </p:nvSpPr>
          <p:spPr>
            <a:xfrm rot="16200000">
              <a:off x="2282589"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34" name="Minus 15">
              <a:extLst>
                <a:ext uri="{FF2B5EF4-FFF2-40B4-BE49-F238E27FC236}">
                  <a16:creationId xmlns:a16="http://schemas.microsoft.com/office/drawing/2014/main" id="{508B4597-7C3B-B74C-B274-5E08DF32E77D}"/>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35" name="Minus 15">
              <a:extLst>
                <a:ext uri="{FF2B5EF4-FFF2-40B4-BE49-F238E27FC236}">
                  <a16:creationId xmlns:a16="http://schemas.microsoft.com/office/drawing/2014/main" id="{4D2C9B22-20D4-85F0-4EFB-F780BE1D2819}"/>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sp>
        <p:nvSpPr>
          <p:cNvPr id="37" name="Rectangle 89">
            <a:extLst>
              <a:ext uri="{FF2B5EF4-FFF2-40B4-BE49-F238E27FC236}">
                <a16:creationId xmlns:a16="http://schemas.microsoft.com/office/drawing/2014/main" id="{D1A56B6A-9A9A-AD3B-4A62-7432802F9609}"/>
              </a:ext>
            </a:extLst>
          </p:cNvPr>
          <p:cNvSpPr/>
          <p:nvPr/>
        </p:nvSpPr>
        <p:spPr>
          <a:xfrm>
            <a:off x="2819587" y="2860065"/>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38" name="Group 37">
            <a:extLst>
              <a:ext uri="{FF2B5EF4-FFF2-40B4-BE49-F238E27FC236}">
                <a16:creationId xmlns:a16="http://schemas.microsoft.com/office/drawing/2014/main" id="{18DD7930-529F-6796-3E21-BBC009888901}"/>
              </a:ext>
            </a:extLst>
          </p:cNvPr>
          <p:cNvGrpSpPr/>
          <p:nvPr/>
        </p:nvGrpSpPr>
        <p:grpSpPr>
          <a:xfrm>
            <a:off x="2220381" y="2829836"/>
            <a:ext cx="540517" cy="299743"/>
            <a:chOff x="2220381" y="1898308"/>
            <a:chExt cx="540517" cy="299743"/>
          </a:xfrm>
        </p:grpSpPr>
        <p:sp>
          <p:nvSpPr>
            <p:cNvPr id="39" name="Minus 15">
              <a:extLst>
                <a:ext uri="{FF2B5EF4-FFF2-40B4-BE49-F238E27FC236}">
                  <a16:creationId xmlns:a16="http://schemas.microsoft.com/office/drawing/2014/main" id="{D3255198-B46A-C4AB-F560-55C403104B09}"/>
                </a:ext>
              </a:extLst>
            </p:cNvPr>
            <p:cNvSpPr/>
            <p:nvPr/>
          </p:nvSpPr>
          <p:spPr>
            <a:xfrm rot="16200000">
              <a:off x="2173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0" name="Minus 15">
              <a:extLst>
                <a:ext uri="{FF2B5EF4-FFF2-40B4-BE49-F238E27FC236}">
                  <a16:creationId xmlns:a16="http://schemas.microsoft.com/office/drawing/2014/main" id="{E13AFAEC-B508-8717-D5F0-B44318E19284}"/>
                </a:ext>
              </a:extLst>
            </p:cNvPr>
            <p:cNvSpPr/>
            <p:nvPr/>
          </p:nvSpPr>
          <p:spPr>
            <a:xfrm rot="16200000">
              <a:off x="2282589"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1" name="Minus 15">
              <a:extLst>
                <a:ext uri="{FF2B5EF4-FFF2-40B4-BE49-F238E27FC236}">
                  <a16:creationId xmlns:a16="http://schemas.microsoft.com/office/drawing/2014/main" id="{3309E7E2-17DF-FA04-ACF9-1EE19C780848}"/>
                </a:ext>
              </a:extLst>
            </p:cNvPr>
            <p:cNvSpPr/>
            <p:nvPr/>
          </p:nvSpPr>
          <p:spPr>
            <a:xfrm rot="16200000">
              <a:off x="2401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2" name="Minus 15">
              <a:extLst>
                <a:ext uri="{FF2B5EF4-FFF2-40B4-BE49-F238E27FC236}">
                  <a16:creationId xmlns:a16="http://schemas.microsoft.com/office/drawing/2014/main" id="{318163F1-7904-66D7-CF57-499A67E2C0E0}"/>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sp>
        <p:nvSpPr>
          <p:cNvPr id="44" name="Rectangle 89">
            <a:extLst>
              <a:ext uri="{FF2B5EF4-FFF2-40B4-BE49-F238E27FC236}">
                <a16:creationId xmlns:a16="http://schemas.microsoft.com/office/drawing/2014/main" id="{B0286453-51F2-3BF1-7532-B778AB976363}"/>
              </a:ext>
            </a:extLst>
          </p:cNvPr>
          <p:cNvSpPr/>
          <p:nvPr/>
        </p:nvSpPr>
        <p:spPr>
          <a:xfrm>
            <a:off x="2819587" y="3264597"/>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45" name="Group 44">
            <a:extLst>
              <a:ext uri="{FF2B5EF4-FFF2-40B4-BE49-F238E27FC236}">
                <a16:creationId xmlns:a16="http://schemas.microsoft.com/office/drawing/2014/main" id="{133D544E-7BAE-6CCB-1230-644582A86CCD}"/>
              </a:ext>
            </a:extLst>
          </p:cNvPr>
          <p:cNvGrpSpPr/>
          <p:nvPr/>
        </p:nvGrpSpPr>
        <p:grpSpPr>
          <a:xfrm>
            <a:off x="2220381" y="3234368"/>
            <a:ext cx="540517" cy="299743"/>
            <a:chOff x="2220381" y="1898308"/>
            <a:chExt cx="540517" cy="299743"/>
          </a:xfrm>
          <a:solidFill>
            <a:schemeClr val="tx1"/>
          </a:solidFill>
        </p:grpSpPr>
        <p:sp>
          <p:nvSpPr>
            <p:cNvPr id="46" name="Minus 15">
              <a:extLst>
                <a:ext uri="{FF2B5EF4-FFF2-40B4-BE49-F238E27FC236}">
                  <a16:creationId xmlns:a16="http://schemas.microsoft.com/office/drawing/2014/main" id="{BCE6349B-AB47-8112-9F53-4BF2CB154FDD}"/>
                </a:ext>
              </a:extLst>
            </p:cNvPr>
            <p:cNvSpPr/>
            <p:nvPr/>
          </p:nvSpPr>
          <p:spPr>
            <a:xfrm rot="16200000">
              <a:off x="2173223"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7" name="Minus 15">
              <a:extLst>
                <a:ext uri="{FF2B5EF4-FFF2-40B4-BE49-F238E27FC236}">
                  <a16:creationId xmlns:a16="http://schemas.microsoft.com/office/drawing/2014/main" id="{CB9BC860-7151-8BB4-BAF1-7A790A005AEC}"/>
                </a:ext>
              </a:extLst>
            </p:cNvPr>
            <p:cNvSpPr/>
            <p:nvPr/>
          </p:nvSpPr>
          <p:spPr>
            <a:xfrm rot="16200000">
              <a:off x="2282589"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8" name="Minus 15">
              <a:extLst>
                <a:ext uri="{FF2B5EF4-FFF2-40B4-BE49-F238E27FC236}">
                  <a16:creationId xmlns:a16="http://schemas.microsoft.com/office/drawing/2014/main" id="{7AF8DB1D-434B-7E26-C407-71840E77F83F}"/>
                </a:ext>
              </a:extLst>
            </p:cNvPr>
            <p:cNvSpPr/>
            <p:nvPr/>
          </p:nvSpPr>
          <p:spPr>
            <a:xfrm rot="16200000">
              <a:off x="2401223"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9" name="Minus 15">
              <a:extLst>
                <a:ext uri="{FF2B5EF4-FFF2-40B4-BE49-F238E27FC236}">
                  <a16:creationId xmlns:a16="http://schemas.microsoft.com/office/drawing/2014/main" id="{D6997EE8-C4A4-0082-9DC4-CD987C389196}"/>
                </a:ext>
              </a:extLst>
            </p:cNvPr>
            <p:cNvSpPr/>
            <p:nvPr/>
          </p:nvSpPr>
          <p:spPr>
            <a:xfrm rot="16200000">
              <a:off x="2508313"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sp>
        <p:nvSpPr>
          <p:cNvPr id="51" name="Rectangle 89">
            <a:extLst>
              <a:ext uri="{FF2B5EF4-FFF2-40B4-BE49-F238E27FC236}">
                <a16:creationId xmlns:a16="http://schemas.microsoft.com/office/drawing/2014/main" id="{33EF0A4F-EC93-3A31-AE3D-A1A8243E92FF}"/>
              </a:ext>
            </a:extLst>
          </p:cNvPr>
          <p:cNvSpPr/>
          <p:nvPr/>
        </p:nvSpPr>
        <p:spPr>
          <a:xfrm>
            <a:off x="2819587" y="3752196"/>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52" name="Group 51">
            <a:extLst>
              <a:ext uri="{FF2B5EF4-FFF2-40B4-BE49-F238E27FC236}">
                <a16:creationId xmlns:a16="http://schemas.microsoft.com/office/drawing/2014/main" id="{DCB29040-3215-9052-210F-4A0CB3B07FCB}"/>
              </a:ext>
            </a:extLst>
          </p:cNvPr>
          <p:cNvGrpSpPr/>
          <p:nvPr/>
        </p:nvGrpSpPr>
        <p:grpSpPr>
          <a:xfrm>
            <a:off x="2220381" y="3721967"/>
            <a:ext cx="540517" cy="299743"/>
            <a:chOff x="2220381" y="1898308"/>
            <a:chExt cx="540517" cy="299743"/>
          </a:xfrm>
        </p:grpSpPr>
        <p:sp>
          <p:nvSpPr>
            <p:cNvPr id="53" name="Minus 15">
              <a:extLst>
                <a:ext uri="{FF2B5EF4-FFF2-40B4-BE49-F238E27FC236}">
                  <a16:creationId xmlns:a16="http://schemas.microsoft.com/office/drawing/2014/main" id="{B52E44EA-436C-55DD-1722-F6B676470A5C}"/>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4" name="Minus 15">
              <a:extLst>
                <a:ext uri="{FF2B5EF4-FFF2-40B4-BE49-F238E27FC236}">
                  <a16:creationId xmlns:a16="http://schemas.microsoft.com/office/drawing/2014/main" id="{C3FE404B-072B-BABF-499C-70AC2BC9FDE1}"/>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5" name="Minus 15">
              <a:extLst>
                <a:ext uri="{FF2B5EF4-FFF2-40B4-BE49-F238E27FC236}">
                  <a16:creationId xmlns:a16="http://schemas.microsoft.com/office/drawing/2014/main" id="{F9582FA8-C447-DBAE-009A-F4F47E6B30D0}"/>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6" name="Minus 15">
              <a:extLst>
                <a:ext uri="{FF2B5EF4-FFF2-40B4-BE49-F238E27FC236}">
                  <a16:creationId xmlns:a16="http://schemas.microsoft.com/office/drawing/2014/main" id="{D928193F-667B-F023-C368-E6D07DF5C4AC}"/>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sp>
        <p:nvSpPr>
          <p:cNvPr id="58" name="Rectangle 89">
            <a:extLst>
              <a:ext uri="{FF2B5EF4-FFF2-40B4-BE49-F238E27FC236}">
                <a16:creationId xmlns:a16="http://schemas.microsoft.com/office/drawing/2014/main" id="{66D3D57B-78D3-CB22-FCE8-27C6B5F97203}"/>
              </a:ext>
            </a:extLst>
          </p:cNvPr>
          <p:cNvSpPr/>
          <p:nvPr/>
        </p:nvSpPr>
        <p:spPr>
          <a:xfrm>
            <a:off x="2819587" y="4213136"/>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59" name="Group 58">
            <a:extLst>
              <a:ext uri="{FF2B5EF4-FFF2-40B4-BE49-F238E27FC236}">
                <a16:creationId xmlns:a16="http://schemas.microsoft.com/office/drawing/2014/main" id="{C998F774-F91E-95DC-3E4B-A0B0904C160F}"/>
              </a:ext>
            </a:extLst>
          </p:cNvPr>
          <p:cNvGrpSpPr/>
          <p:nvPr/>
        </p:nvGrpSpPr>
        <p:grpSpPr>
          <a:xfrm>
            <a:off x="2220381" y="4182907"/>
            <a:ext cx="540517" cy="299743"/>
            <a:chOff x="2220381" y="1898308"/>
            <a:chExt cx="540517" cy="299743"/>
          </a:xfrm>
        </p:grpSpPr>
        <p:sp>
          <p:nvSpPr>
            <p:cNvPr id="60" name="Minus 15">
              <a:extLst>
                <a:ext uri="{FF2B5EF4-FFF2-40B4-BE49-F238E27FC236}">
                  <a16:creationId xmlns:a16="http://schemas.microsoft.com/office/drawing/2014/main" id="{7C1483A2-145C-89FD-3153-B0A8FDEDA6B5}"/>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1" name="Minus 15">
              <a:extLst>
                <a:ext uri="{FF2B5EF4-FFF2-40B4-BE49-F238E27FC236}">
                  <a16:creationId xmlns:a16="http://schemas.microsoft.com/office/drawing/2014/main" id="{EEAD72DA-106C-F853-1B89-3451AFFB7432}"/>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2" name="Minus 15">
              <a:extLst>
                <a:ext uri="{FF2B5EF4-FFF2-40B4-BE49-F238E27FC236}">
                  <a16:creationId xmlns:a16="http://schemas.microsoft.com/office/drawing/2014/main" id="{351008AF-546D-7E16-4A56-5DF44F1B61FF}"/>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3" name="Minus 15">
              <a:extLst>
                <a:ext uri="{FF2B5EF4-FFF2-40B4-BE49-F238E27FC236}">
                  <a16:creationId xmlns:a16="http://schemas.microsoft.com/office/drawing/2014/main" id="{FF5128E9-2AF4-E01F-405C-0F973EC7388A}"/>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sp>
        <p:nvSpPr>
          <p:cNvPr id="65" name="Rectangle 89">
            <a:extLst>
              <a:ext uri="{FF2B5EF4-FFF2-40B4-BE49-F238E27FC236}">
                <a16:creationId xmlns:a16="http://schemas.microsoft.com/office/drawing/2014/main" id="{D92D5C84-584E-EDC8-2725-A931BB05E17E}"/>
              </a:ext>
            </a:extLst>
          </p:cNvPr>
          <p:cNvSpPr/>
          <p:nvPr/>
        </p:nvSpPr>
        <p:spPr>
          <a:xfrm>
            <a:off x="2819587" y="4674076"/>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66" name="Group 65">
            <a:extLst>
              <a:ext uri="{FF2B5EF4-FFF2-40B4-BE49-F238E27FC236}">
                <a16:creationId xmlns:a16="http://schemas.microsoft.com/office/drawing/2014/main" id="{DCB7094D-AE91-2CD9-9C87-29CC19B6D47B}"/>
              </a:ext>
            </a:extLst>
          </p:cNvPr>
          <p:cNvGrpSpPr/>
          <p:nvPr/>
        </p:nvGrpSpPr>
        <p:grpSpPr>
          <a:xfrm>
            <a:off x="2220381" y="4643847"/>
            <a:ext cx="540517" cy="299743"/>
            <a:chOff x="2220381" y="1898308"/>
            <a:chExt cx="540517" cy="299743"/>
          </a:xfrm>
        </p:grpSpPr>
        <p:sp>
          <p:nvSpPr>
            <p:cNvPr id="67" name="Minus 15">
              <a:extLst>
                <a:ext uri="{FF2B5EF4-FFF2-40B4-BE49-F238E27FC236}">
                  <a16:creationId xmlns:a16="http://schemas.microsoft.com/office/drawing/2014/main" id="{80237D25-CF22-A875-F0C6-08ACF69828D8}"/>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8" name="Minus 15">
              <a:extLst>
                <a:ext uri="{FF2B5EF4-FFF2-40B4-BE49-F238E27FC236}">
                  <a16:creationId xmlns:a16="http://schemas.microsoft.com/office/drawing/2014/main" id="{F2299EBA-3704-FD90-9D25-B7F68CC51D21}"/>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9" name="Minus 15">
              <a:extLst>
                <a:ext uri="{FF2B5EF4-FFF2-40B4-BE49-F238E27FC236}">
                  <a16:creationId xmlns:a16="http://schemas.microsoft.com/office/drawing/2014/main" id="{0252A724-E913-DDA8-9FEE-D392925BFDA9}"/>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0" name="Minus 15">
              <a:extLst>
                <a:ext uri="{FF2B5EF4-FFF2-40B4-BE49-F238E27FC236}">
                  <a16:creationId xmlns:a16="http://schemas.microsoft.com/office/drawing/2014/main" id="{C9D24AA7-7B85-28F0-420D-8A0E15C8929C}"/>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sp>
        <p:nvSpPr>
          <p:cNvPr id="72" name="Rectangle 89">
            <a:extLst>
              <a:ext uri="{FF2B5EF4-FFF2-40B4-BE49-F238E27FC236}">
                <a16:creationId xmlns:a16="http://schemas.microsoft.com/office/drawing/2014/main" id="{1BA806A9-76DD-C2AF-BD85-2A2DD61FBD0C}"/>
              </a:ext>
            </a:extLst>
          </p:cNvPr>
          <p:cNvSpPr/>
          <p:nvPr/>
        </p:nvSpPr>
        <p:spPr>
          <a:xfrm>
            <a:off x="2819587" y="5135164"/>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73" name="Group 72">
            <a:extLst>
              <a:ext uri="{FF2B5EF4-FFF2-40B4-BE49-F238E27FC236}">
                <a16:creationId xmlns:a16="http://schemas.microsoft.com/office/drawing/2014/main" id="{48315A5E-F2AF-15EC-2FE9-71613C151CBF}"/>
              </a:ext>
            </a:extLst>
          </p:cNvPr>
          <p:cNvGrpSpPr/>
          <p:nvPr/>
        </p:nvGrpSpPr>
        <p:grpSpPr>
          <a:xfrm>
            <a:off x="2220381" y="5104935"/>
            <a:ext cx="540517" cy="299743"/>
            <a:chOff x="2220381" y="1898308"/>
            <a:chExt cx="540517" cy="299743"/>
          </a:xfrm>
        </p:grpSpPr>
        <p:sp>
          <p:nvSpPr>
            <p:cNvPr id="74" name="Minus 15">
              <a:extLst>
                <a:ext uri="{FF2B5EF4-FFF2-40B4-BE49-F238E27FC236}">
                  <a16:creationId xmlns:a16="http://schemas.microsoft.com/office/drawing/2014/main" id="{1080FD4C-CA1C-D105-F11C-B7DCCCF72143}"/>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5" name="Minus 15">
              <a:extLst>
                <a:ext uri="{FF2B5EF4-FFF2-40B4-BE49-F238E27FC236}">
                  <a16:creationId xmlns:a16="http://schemas.microsoft.com/office/drawing/2014/main" id="{6F067EB4-5808-2B86-113D-E99565F5B4D4}"/>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6" name="Minus 15">
              <a:extLst>
                <a:ext uri="{FF2B5EF4-FFF2-40B4-BE49-F238E27FC236}">
                  <a16:creationId xmlns:a16="http://schemas.microsoft.com/office/drawing/2014/main" id="{CAA4431A-1FE6-4B50-F4EB-481A316DD00A}"/>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7" name="Minus 15">
              <a:extLst>
                <a:ext uri="{FF2B5EF4-FFF2-40B4-BE49-F238E27FC236}">
                  <a16:creationId xmlns:a16="http://schemas.microsoft.com/office/drawing/2014/main" id="{7F9B764C-4AA9-48F3-3232-34436B7FDEE0}"/>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sp>
        <p:nvSpPr>
          <p:cNvPr id="79" name="Rectangle 89">
            <a:extLst>
              <a:ext uri="{FF2B5EF4-FFF2-40B4-BE49-F238E27FC236}">
                <a16:creationId xmlns:a16="http://schemas.microsoft.com/office/drawing/2014/main" id="{60F695B5-C8D4-724F-8C78-FCB09A8557E1}"/>
              </a:ext>
            </a:extLst>
          </p:cNvPr>
          <p:cNvSpPr/>
          <p:nvPr/>
        </p:nvSpPr>
        <p:spPr>
          <a:xfrm>
            <a:off x="2819587" y="5642288"/>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80" name="Group 79">
            <a:extLst>
              <a:ext uri="{FF2B5EF4-FFF2-40B4-BE49-F238E27FC236}">
                <a16:creationId xmlns:a16="http://schemas.microsoft.com/office/drawing/2014/main" id="{0A8A82E9-0E8D-6840-4DB4-4F2855D5B4AB}"/>
              </a:ext>
            </a:extLst>
          </p:cNvPr>
          <p:cNvGrpSpPr/>
          <p:nvPr/>
        </p:nvGrpSpPr>
        <p:grpSpPr>
          <a:xfrm>
            <a:off x="2220381" y="5612059"/>
            <a:ext cx="540517" cy="299743"/>
            <a:chOff x="2220381" y="1898308"/>
            <a:chExt cx="540517" cy="299743"/>
          </a:xfrm>
        </p:grpSpPr>
        <p:sp>
          <p:nvSpPr>
            <p:cNvPr id="81" name="Minus 15">
              <a:extLst>
                <a:ext uri="{FF2B5EF4-FFF2-40B4-BE49-F238E27FC236}">
                  <a16:creationId xmlns:a16="http://schemas.microsoft.com/office/drawing/2014/main" id="{8538291A-D347-509F-1F43-686A7FC7908C}"/>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2" name="Minus 15">
              <a:extLst>
                <a:ext uri="{FF2B5EF4-FFF2-40B4-BE49-F238E27FC236}">
                  <a16:creationId xmlns:a16="http://schemas.microsoft.com/office/drawing/2014/main" id="{0153B9F2-5B10-E0F8-2908-02787D4B991C}"/>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3" name="Minus 15">
              <a:extLst>
                <a:ext uri="{FF2B5EF4-FFF2-40B4-BE49-F238E27FC236}">
                  <a16:creationId xmlns:a16="http://schemas.microsoft.com/office/drawing/2014/main" id="{BCE06522-B0C2-D38E-E15A-76B4B33D32C9}"/>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4" name="Minus 15">
              <a:extLst>
                <a:ext uri="{FF2B5EF4-FFF2-40B4-BE49-F238E27FC236}">
                  <a16:creationId xmlns:a16="http://schemas.microsoft.com/office/drawing/2014/main" id="{C9C860A4-DDD6-A895-A5A2-3EA8B1F3A998}"/>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sp>
        <p:nvSpPr>
          <p:cNvPr id="86" name="Rectangle 89">
            <a:extLst>
              <a:ext uri="{FF2B5EF4-FFF2-40B4-BE49-F238E27FC236}">
                <a16:creationId xmlns:a16="http://schemas.microsoft.com/office/drawing/2014/main" id="{E2FC3F0D-889A-3D88-7651-6E15834A5018}"/>
              </a:ext>
            </a:extLst>
          </p:cNvPr>
          <p:cNvSpPr/>
          <p:nvPr/>
        </p:nvSpPr>
        <p:spPr>
          <a:xfrm>
            <a:off x="2819587" y="6111505"/>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nvGrpSpPr>
          <p:cNvPr id="87" name="Group 86">
            <a:extLst>
              <a:ext uri="{FF2B5EF4-FFF2-40B4-BE49-F238E27FC236}">
                <a16:creationId xmlns:a16="http://schemas.microsoft.com/office/drawing/2014/main" id="{150D4404-E4BD-B0DB-EBC7-337A64509307}"/>
              </a:ext>
            </a:extLst>
          </p:cNvPr>
          <p:cNvGrpSpPr/>
          <p:nvPr/>
        </p:nvGrpSpPr>
        <p:grpSpPr>
          <a:xfrm>
            <a:off x="2220381" y="6081276"/>
            <a:ext cx="540517" cy="299743"/>
            <a:chOff x="2220381" y="1898308"/>
            <a:chExt cx="540517" cy="299743"/>
          </a:xfrm>
        </p:grpSpPr>
        <p:sp>
          <p:nvSpPr>
            <p:cNvPr id="88" name="Minus 15">
              <a:extLst>
                <a:ext uri="{FF2B5EF4-FFF2-40B4-BE49-F238E27FC236}">
                  <a16:creationId xmlns:a16="http://schemas.microsoft.com/office/drawing/2014/main" id="{BD5FA7BB-2C18-6B03-3AD4-303ADCF6AD83}"/>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9" name="Minus 15">
              <a:extLst>
                <a:ext uri="{FF2B5EF4-FFF2-40B4-BE49-F238E27FC236}">
                  <a16:creationId xmlns:a16="http://schemas.microsoft.com/office/drawing/2014/main" id="{1C9C2B56-A0C8-87AE-E25E-A368B9FC8DE5}"/>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90" name="Minus 15">
              <a:extLst>
                <a:ext uri="{FF2B5EF4-FFF2-40B4-BE49-F238E27FC236}">
                  <a16:creationId xmlns:a16="http://schemas.microsoft.com/office/drawing/2014/main" id="{86C30993-E552-F935-BE0C-BCCB171DFA38}"/>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91" name="Minus 15">
              <a:extLst>
                <a:ext uri="{FF2B5EF4-FFF2-40B4-BE49-F238E27FC236}">
                  <a16:creationId xmlns:a16="http://schemas.microsoft.com/office/drawing/2014/main" id="{650EB050-19B9-9F27-2788-AEC316018166}"/>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sp>
        <p:nvSpPr>
          <p:cNvPr id="92" name="Text Placeholder 6">
            <a:extLst>
              <a:ext uri="{FF2B5EF4-FFF2-40B4-BE49-F238E27FC236}">
                <a16:creationId xmlns:a16="http://schemas.microsoft.com/office/drawing/2014/main" id="{A6F04B41-C7F6-892C-0B3B-62FADA95291B}"/>
              </a:ext>
            </a:extLst>
          </p:cNvPr>
          <p:cNvSpPr txBox="1">
            <a:spLocks/>
          </p:cNvSpPr>
          <p:nvPr/>
        </p:nvSpPr>
        <p:spPr>
          <a:xfrm>
            <a:off x="394311" y="189653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Switching costs</a:t>
            </a:r>
          </a:p>
        </p:txBody>
      </p:sp>
      <p:sp>
        <p:nvSpPr>
          <p:cNvPr id="93" name="Text Placeholder 6">
            <a:extLst>
              <a:ext uri="{FF2B5EF4-FFF2-40B4-BE49-F238E27FC236}">
                <a16:creationId xmlns:a16="http://schemas.microsoft.com/office/drawing/2014/main" id="{F9DED2BD-31CB-E4E2-403F-8214CD18F25F}"/>
              </a:ext>
            </a:extLst>
          </p:cNvPr>
          <p:cNvSpPr txBox="1">
            <a:spLocks/>
          </p:cNvSpPr>
          <p:nvPr/>
        </p:nvSpPr>
        <p:spPr>
          <a:xfrm>
            <a:off x="394311" y="2361896"/>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Economies of scale</a:t>
            </a:r>
          </a:p>
        </p:txBody>
      </p:sp>
      <p:sp>
        <p:nvSpPr>
          <p:cNvPr id="94" name="Text Placeholder 6">
            <a:extLst>
              <a:ext uri="{FF2B5EF4-FFF2-40B4-BE49-F238E27FC236}">
                <a16:creationId xmlns:a16="http://schemas.microsoft.com/office/drawing/2014/main" id="{B72CC163-8364-7DBB-7A3B-B0B8CF68F4D9}"/>
              </a:ext>
            </a:extLst>
          </p:cNvPr>
          <p:cNvSpPr txBox="1">
            <a:spLocks/>
          </p:cNvSpPr>
          <p:nvPr/>
        </p:nvSpPr>
        <p:spPr>
          <a:xfrm>
            <a:off x="394311" y="2805864"/>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Brand recognition</a:t>
            </a:r>
          </a:p>
        </p:txBody>
      </p:sp>
      <p:sp>
        <p:nvSpPr>
          <p:cNvPr id="95" name="Text Placeholder 6">
            <a:extLst>
              <a:ext uri="{FF2B5EF4-FFF2-40B4-BE49-F238E27FC236}">
                <a16:creationId xmlns:a16="http://schemas.microsoft.com/office/drawing/2014/main" id="{B689A851-3340-B161-54C0-072E6336731F}"/>
              </a:ext>
            </a:extLst>
          </p:cNvPr>
          <p:cNvSpPr txBox="1">
            <a:spLocks/>
          </p:cNvSpPr>
          <p:nvPr/>
        </p:nvSpPr>
        <p:spPr>
          <a:xfrm>
            <a:off x="394311" y="3251629"/>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Regulatory barriers</a:t>
            </a:r>
          </a:p>
        </p:txBody>
      </p:sp>
      <p:sp>
        <p:nvSpPr>
          <p:cNvPr id="96" name="Text Placeholder 6">
            <a:extLst>
              <a:ext uri="{FF2B5EF4-FFF2-40B4-BE49-F238E27FC236}">
                <a16:creationId xmlns:a16="http://schemas.microsoft.com/office/drawing/2014/main" id="{59E548F3-A8F2-16E9-0867-DF648264D1B2}"/>
              </a:ext>
            </a:extLst>
          </p:cNvPr>
          <p:cNvSpPr txBox="1">
            <a:spLocks/>
          </p:cNvSpPr>
          <p:nvPr/>
        </p:nvSpPr>
        <p:spPr>
          <a:xfrm>
            <a:off x="394311" y="3709981"/>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Capital investment</a:t>
            </a:r>
          </a:p>
        </p:txBody>
      </p:sp>
      <p:sp>
        <p:nvSpPr>
          <p:cNvPr id="97" name="Text Placeholder 6">
            <a:extLst>
              <a:ext uri="{FF2B5EF4-FFF2-40B4-BE49-F238E27FC236}">
                <a16:creationId xmlns:a16="http://schemas.microsoft.com/office/drawing/2014/main" id="{E560D0B9-60D8-B6C4-3486-90814808924F}"/>
              </a:ext>
            </a:extLst>
          </p:cNvPr>
          <p:cNvSpPr txBox="1">
            <a:spLocks/>
          </p:cNvSpPr>
          <p:nvPr/>
        </p:nvSpPr>
        <p:spPr>
          <a:xfrm>
            <a:off x="394311" y="4182907"/>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Technology barriers</a:t>
            </a:r>
          </a:p>
        </p:txBody>
      </p:sp>
      <p:sp>
        <p:nvSpPr>
          <p:cNvPr id="98" name="Text Placeholder 6">
            <a:extLst>
              <a:ext uri="{FF2B5EF4-FFF2-40B4-BE49-F238E27FC236}">
                <a16:creationId xmlns:a16="http://schemas.microsoft.com/office/drawing/2014/main" id="{33956C57-3B73-3904-1EB0-EC9B3B5F8894}"/>
              </a:ext>
            </a:extLst>
          </p:cNvPr>
          <p:cNvSpPr txBox="1">
            <a:spLocks/>
          </p:cNvSpPr>
          <p:nvPr/>
        </p:nvSpPr>
        <p:spPr>
          <a:xfrm>
            <a:off x="394311" y="465583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Distribution channels</a:t>
            </a:r>
          </a:p>
        </p:txBody>
      </p:sp>
      <p:sp>
        <p:nvSpPr>
          <p:cNvPr id="99" name="Text Placeholder 6">
            <a:extLst>
              <a:ext uri="{FF2B5EF4-FFF2-40B4-BE49-F238E27FC236}">
                <a16:creationId xmlns:a16="http://schemas.microsoft.com/office/drawing/2014/main" id="{102FD908-B7DB-0DB1-5FD8-A4D72B33BADA}"/>
              </a:ext>
            </a:extLst>
          </p:cNvPr>
          <p:cNvSpPr txBox="1">
            <a:spLocks/>
          </p:cNvSpPr>
          <p:nvPr/>
        </p:nvSpPr>
        <p:spPr>
          <a:xfrm>
            <a:off x="394311" y="5084961"/>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Patents, trademarks</a:t>
            </a:r>
          </a:p>
        </p:txBody>
      </p:sp>
      <p:sp>
        <p:nvSpPr>
          <p:cNvPr id="100" name="Text Placeholder 6">
            <a:extLst>
              <a:ext uri="{FF2B5EF4-FFF2-40B4-BE49-F238E27FC236}">
                <a16:creationId xmlns:a16="http://schemas.microsoft.com/office/drawing/2014/main" id="{DC2AD284-7CEF-DFB2-1129-950C4162E36F}"/>
              </a:ext>
            </a:extLst>
          </p:cNvPr>
          <p:cNvSpPr txBox="1">
            <a:spLocks/>
          </p:cNvSpPr>
          <p:nvPr/>
        </p:nvSpPr>
        <p:spPr>
          <a:xfrm>
            <a:off x="394311" y="561996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Network effects</a:t>
            </a:r>
          </a:p>
        </p:txBody>
      </p:sp>
      <p:sp>
        <p:nvSpPr>
          <p:cNvPr id="101" name="Text Placeholder 6">
            <a:extLst>
              <a:ext uri="{FF2B5EF4-FFF2-40B4-BE49-F238E27FC236}">
                <a16:creationId xmlns:a16="http://schemas.microsoft.com/office/drawing/2014/main" id="{9080C594-7CE8-9803-27EF-87945BB21E90}"/>
              </a:ext>
            </a:extLst>
          </p:cNvPr>
          <p:cNvSpPr txBox="1">
            <a:spLocks/>
          </p:cNvSpPr>
          <p:nvPr/>
        </p:nvSpPr>
        <p:spPr>
          <a:xfrm>
            <a:off x="394311" y="6081275"/>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Talent availability</a:t>
            </a:r>
          </a:p>
        </p:txBody>
      </p:sp>
      <p:sp>
        <p:nvSpPr>
          <p:cNvPr id="2" name="Marcador de pie de página 1">
            <a:extLst>
              <a:ext uri="{FF2B5EF4-FFF2-40B4-BE49-F238E27FC236}">
                <a16:creationId xmlns:a16="http://schemas.microsoft.com/office/drawing/2014/main" id="{B17777AA-1434-10FC-20F8-F917BFE3A40E}"/>
              </a:ext>
            </a:extLst>
          </p:cNvPr>
          <p:cNvSpPr>
            <a:spLocks noGrp="1"/>
          </p:cNvSpPr>
          <p:nvPr>
            <p:ph type="ftr" sz="quarter" idx="3"/>
          </p:nvPr>
        </p:nvSpPr>
        <p:spPr/>
        <p:txBody>
          <a:bodyPr/>
          <a:lstStyle/>
          <a:p>
            <a:r>
              <a:rPr lang="en-US" dirty="0"/>
              <a:t>Source:_______</a:t>
            </a:r>
          </a:p>
        </p:txBody>
      </p:sp>
    </p:spTree>
    <p:extLst>
      <p:ext uri="{BB962C8B-B14F-4D97-AF65-F5344CB8AC3E}">
        <p14:creationId xmlns:p14="http://schemas.microsoft.com/office/powerpoint/2010/main" val="1680238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3" imgW="7772400" imgH="10058400" progId="TCLayout.ActiveDocument.1">
                  <p:embed/>
                </p:oleObj>
              </mc:Choice>
              <mc:Fallback>
                <p:oleObj name="Diapositiva de think-cell"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Marcador de texto 2">
            <a:extLst>
              <a:ext uri="{FF2B5EF4-FFF2-40B4-BE49-F238E27FC236}">
                <a16:creationId xmlns:a16="http://schemas.microsoft.com/office/drawing/2014/main" id="{41AB0A6A-49CF-2011-10E9-7FB531D78C0B}"/>
              </a:ext>
            </a:extLst>
          </p:cNvPr>
          <p:cNvSpPr>
            <a:spLocks noGrp="1"/>
          </p:cNvSpPr>
          <p:nvPr>
            <p:ph type="body" sz="quarter" idx="14"/>
          </p:nvPr>
        </p:nvSpPr>
        <p:spPr/>
        <p:txBody>
          <a:bodyPr/>
          <a:lstStyle/>
          <a:p>
            <a:r>
              <a:rPr lang="en-US" dirty="0"/>
              <a:t>Porter’s Five Forces Analysis</a:t>
            </a:r>
          </a:p>
        </p:txBody>
      </p:sp>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Bargaining power of buyers – Questions to consider</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p:txBody>
          <a:bodyPr/>
          <a:lstStyle/>
          <a:p>
            <a:pPr marL="228600" indent="-228600">
              <a:buFont typeface="+mj-lt"/>
              <a:buAutoNum type="arabicPeriod"/>
            </a:pPr>
            <a:r>
              <a:rPr lang="en-US" sz="1200" b="0" dirty="0"/>
              <a:t>How many buyers are there in the industry, and how concentrated are they?</a:t>
            </a:r>
          </a:p>
          <a:p>
            <a:pPr marL="228600" indent="-228600">
              <a:buFont typeface="+mj-lt"/>
              <a:buAutoNum type="arabicPeriod"/>
            </a:pPr>
            <a:r>
              <a:rPr lang="en-US" sz="1200" b="0" dirty="0"/>
              <a:t>Are there any dominant buyers in the industry, or is the buying power relatively dispersed?</a:t>
            </a:r>
          </a:p>
          <a:p>
            <a:pPr marL="228600" indent="-228600">
              <a:buFont typeface="+mj-lt"/>
              <a:buAutoNum type="arabicPeriod"/>
            </a:pPr>
            <a:r>
              <a:rPr lang="en-US" sz="1200" b="0" dirty="0"/>
              <a:t>Are the buyers able to negotiate prices and terms with suppliers, or are they constrained by other factors such as regulations or supply chain limitations?</a:t>
            </a:r>
          </a:p>
          <a:p>
            <a:pPr marL="228600" indent="-228600">
              <a:buFont typeface="+mj-lt"/>
              <a:buAutoNum type="arabicPeriod"/>
            </a:pPr>
            <a:r>
              <a:rPr lang="en-US" sz="1200" b="0" dirty="0"/>
              <a:t>Are there any substitutes available to buyers, either within the industry or outside of it?</a:t>
            </a:r>
          </a:p>
          <a:p>
            <a:pPr marL="228600" indent="-228600">
              <a:buFont typeface="+mj-lt"/>
              <a:buAutoNum type="arabicPeriod"/>
            </a:pPr>
            <a:r>
              <a:rPr lang="en-US" sz="1200" b="0" dirty="0"/>
              <a:t>How much information do buyers have about the product, industry, and suppliers? Are they able to make informed decisions about their purchases?</a:t>
            </a:r>
          </a:p>
          <a:p>
            <a:pPr marL="228600" indent="-228600">
              <a:buFont typeface="+mj-lt"/>
              <a:buAutoNum type="arabicPeriod"/>
            </a:pPr>
            <a:r>
              <a:rPr lang="en-US" sz="1200" b="0" dirty="0"/>
              <a:t>What is the size and frequency of the buyers' purchases, and how important are they to the suppliers?</a:t>
            </a:r>
          </a:p>
          <a:p>
            <a:pPr marL="228600" indent="-228600">
              <a:buFont typeface="+mj-lt"/>
              <a:buAutoNum type="arabicPeriod"/>
            </a:pPr>
            <a:r>
              <a:rPr lang="en-US" sz="1200" b="0" dirty="0"/>
              <a:t>Are there any switching costs for buyers to move from one supplier to another? If so, how high are they?</a:t>
            </a:r>
          </a:p>
          <a:p>
            <a:pPr marL="228600" indent="-228600">
              <a:buFont typeface="+mj-lt"/>
              <a:buAutoNum type="arabicPeriod"/>
            </a:pPr>
            <a:r>
              <a:rPr lang="en-US" sz="1200" b="0" dirty="0"/>
              <a:t>How much bargaining power do buyers have in terms of price negotiation? Are they able to easily negotiate discounts or other favorable terms?</a:t>
            </a:r>
          </a:p>
          <a:p>
            <a:pPr marL="228600" indent="-228600">
              <a:buFont typeface="+mj-lt"/>
              <a:buAutoNum type="arabicPeriod"/>
            </a:pPr>
            <a:r>
              <a:rPr lang="en-US" sz="1200" b="0" dirty="0"/>
              <a:t>Are there any joint ventures or other forms of collaboration between suppliers and buyers that could affect bargaining power?</a:t>
            </a:r>
          </a:p>
          <a:p>
            <a:pPr marL="228600" indent="-228600">
              <a:buFont typeface="+mj-lt"/>
              <a:buAutoNum type="arabicPeriod"/>
            </a:pPr>
            <a:r>
              <a:rPr lang="en-US" sz="1200" b="0" dirty="0"/>
              <a:t>What is the level of differentiation among suppliers in the industry, and are there any unique or specialized products or services that could affect buyers' bargaining power?</a:t>
            </a:r>
          </a:p>
          <a:p>
            <a:pPr marL="228600" indent="-228600">
              <a:buFont typeface="+mj-lt"/>
              <a:buAutoNum type="arabicPeriod"/>
            </a:pPr>
            <a:endParaRPr lang="en-US" sz="1200" b="0" dirty="0"/>
          </a:p>
        </p:txBody>
      </p:sp>
      <p:sp>
        <p:nvSpPr>
          <p:cNvPr id="6" name="Marcador de pie de página 5">
            <a:extLst>
              <a:ext uri="{FF2B5EF4-FFF2-40B4-BE49-F238E27FC236}">
                <a16:creationId xmlns:a16="http://schemas.microsoft.com/office/drawing/2014/main" id="{EC88F5F7-D724-76C8-A3FA-F1DAB6E6E156}"/>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614252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EEA9A65-A84B-8CDC-A00E-C5B2B57E2FF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4" name="Object 3" hidden="1">
                        <a:extLst>
                          <a:ext uri="{FF2B5EF4-FFF2-40B4-BE49-F238E27FC236}">
                            <a16:creationId xmlns:a16="http://schemas.microsoft.com/office/drawing/2014/main" id="{BEEA9A65-A84B-8CDC-A00E-C5B2B57E2FF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36E824DB-66E0-6298-27A8-F059BBF1F348}"/>
              </a:ext>
            </a:extLst>
          </p:cNvPr>
          <p:cNvSpPr>
            <a:spLocks noGrp="1"/>
          </p:cNvSpPr>
          <p:nvPr>
            <p:ph type="title"/>
          </p:nvPr>
        </p:nvSpPr>
        <p:spPr/>
        <p:txBody>
          <a:bodyPr vert="horz"/>
          <a:lstStyle/>
          <a:p>
            <a:r>
              <a:rPr lang="en-US" dirty="0"/>
              <a:t>Bargaining power of buyers -  [industry]</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Text Placeholder 6">
            <a:extLst>
              <a:ext uri="{FF2B5EF4-FFF2-40B4-BE49-F238E27FC236}">
                <a16:creationId xmlns:a16="http://schemas.microsoft.com/office/drawing/2014/main" id="{1CE093A3-A4E7-ED72-B70B-0CB3F3449146}"/>
              </a:ext>
            </a:extLst>
          </p:cNvPr>
          <p:cNvSpPr txBox="1">
            <a:spLocks/>
          </p:cNvSpPr>
          <p:nvPr/>
        </p:nvSpPr>
        <p:spPr>
          <a:xfrm>
            <a:off x="374014" y="189653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6" name="TextBox 24">
            <a:extLst>
              <a:ext uri="{FF2B5EF4-FFF2-40B4-BE49-F238E27FC236}">
                <a16:creationId xmlns:a16="http://schemas.microsoft.com/office/drawing/2014/main" id="{A1FCD546-7266-F9CA-CC1A-1EEF3811C21D}"/>
              </a:ext>
            </a:extLst>
          </p:cNvPr>
          <p:cNvSpPr txBox="1"/>
          <p:nvPr/>
        </p:nvSpPr>
        <p:spPr>
          <a:xfrm>
            <a:off x="374014" y="1389623"/>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Factor</a:t>
            </a:r>
          </a:p>
        </p:txBody>
      </p:sp>
      <p:cxnSp>
        <p:nvCxnSpPr>
          <p:cNvPr id="7" name="Conector recto 9">
            <a:extLst>
              <a:ext uri="{FF2B5EF4-FFF2-40B4-BE49-F238E27FC236}">
                <a16:creationId xmlns:a16="http://schemas.microsoft.com/office/drawing/2014/main" id="{D53D8713-E08F-9566-166A-5A48F109F304}"/>
              </a:ext>
            </a:extLst>
          </p:cNvPr>
          <p:cNvCxnSpPr>
            <a:cxnSpLocks/>
          </p:cNvCxnSpPr>
          <p:nvPr/>
        </p:nvCxnSpPr>
        <p:spPr>
          <a:xfrm>
            <a:off x="364181" y="1732070"/>
            <a:ext cx="174683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4" name="TextBox 24">
            <a:extLst>
              <a:ext uri="{FF2B5EF4-FFF2-40B4-BE49-F238E27FC236}">
                <a16:creationId xmlns:a16="http://schemas.microsoft.com/office/drawing/2014/main" id="{45E25133-FAF6-166D-4106-1C2D8BA3CA2E}"/>
              </a:ext>
            </a:extLst>
          </p:cNvPr>
          <p:cNvSpPr txBox="1"/>
          <p:nvPr/>
        </p:nvSpPr>
        <p:spPr>
          <a:xfrm>
            <a:off x="2961301" y="1398252"/>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Details</a:t>
            </a:r>
          </a:p>
        </p:txBody>
      </p:sp>
      <p:cxnSp>
        <p:nvCxnSpPr>
          <p:cNvPr id="25" name="Conector recto 9">
            <a:extLst>
              <a:ext uri="{FF2B5EF4-FFF2-40B4-BE49-F238E27FC236}">
                <a16:creationId xmlns:a16="http://schemas.microsoft.com/office/drawing/2014/main" id="{171F11E6-4411-07F9-8D69-48157F8F96FD}"/>
              </a:ext>
            </a:extLst>
          </p:cNvPr>
          <p:cNvCxnSpPr>
            <a:cxnSpLocks/>
          </p:cNvCxnSpPr>
          <p:nvPr/>
        </p:nvCxnSpPr>
        <p:spPr>
          <a:xfrm>
            <a:off x="2248665" y="1740699"/>
            <a:ext cx="955598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CA6EF9FA-4ADC-BA28-660F-C0DD6682C452}"/>
              </a:ext>
            </a:extLst>
          </p:cNvPr>
          <p:cNvGrpSpPr/>
          <p:nvPr/>
        </p:nvGrpSpPr>
        <p:grpSpPr>
          <a:xfrm>
            <a:off x="2220381" y="1898308"/>
            <a:ext cx="540517" cy="299743"/>
            <a:chOff x="2220381" y="1898308"/>
            <a:chExt cx="540517" cy="299743"/>
          </a:xfrm>
        </p:grpSpPr>
        <p:sp>
          <p:nvSpPr>
            <p:cNvPr id="13" name="Minus 15">
              <a:extLst>
                <a:ext uri="{FF2B5EF4-FFF2-40B4-BE49-F238E27FC236}">
                  <a16:creationId xmlns:a16="http://schemas.microsoft.com/office/drawing/2014/main" id="{798897E1-F559-4920-5D5E-1B9FB849632A}"/>
                </a:ext>
              </a:extLst>
            </p:cNvPr>
            <p:cNvSpPr/>
            <p:nvPr/>
          </p:nvSpPr>
          <p:spPr>
            <a:xfrm rot="16200000">
              <a:off x="2173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3" name="Minus 15">
              <a:extLst>
                <a:ext uri="{FF2B5EF4-FFF2-40B4-BE49-F238E27FC236}">
                  <a16:creationId xmlns:a16="http://schemas.microsoft.com/office/drawing/2014/main" id="{D3EFAD32-EF2A-D796-B3AA-1F5806DB7536}"/>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6" name="Minus 15">
              <a:extLst>
                <a:ext uri="{FF2B5EF4-FFF2-40B4-BE49-F238E27FC236}">
                  <a16:creationId xmlns:a16="http://schemas.microsoft.com/office/drawing/2014/main" id="{7DD40494-DE78-68A9-CE3D-E02EB2912436}"/>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7" name="Minus 15">
              <a:extLst>
                <a:ext uri="{FF2B5EF4-FFF2-40B4-BE49-F238E27FC236}">
                  <a16:creationId xmlns:a16="http://schemas.microsoft.com/office/drawing/2014/main" id="{9BB7686E-1C64-A774-213C-001472A8BF4B}"/>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31" name="Group 30">
            <a:extLst>
              <a:ext uri="{FF2B5EF4-FFF2-40B4-BE49-F238E27FC236}">
                <a16:creationId xmlns:a16="http://schemas.microsoft.com/office/drawing/2014/main" id="{25EE8254-0A0E-2E84-4744-0BD661EA3A15}"/>
              </a:ext>
            </a:extLst>
          </p:cNvPr>
          <p:cNvGrpSpPr/>
          <p:nvPr/>
        </p:nvGrpSpPr>
        <p:grpSpPr>
          <a:xfrm>
            <a:off x="2220381" y="2364072"/>
            <a:ext cx="540517" cy="299743"/>
            <a:chOff x="2220381" y="1898308"/>
            <a:chExt cx="540517" cy="299743"/>
          </a:xfrm>
        </p:grpSpPr>
        <p:sp>
          <p:nvSpPr>
            <p:cNvPr id="32" name="Minus 15">
              <a:extLst>
                <a:ext uri="{FF2B5EF4-FFF2-40B4-BE49-F238E27FC236}">
                  <a16:creationId xmlns:a16="http://schemas.microsoft.com/office/drawing/2014/main" id="{FED6A283-F616-0C96-52B7-DB370023DE52}"/>
                </a:ext>
              </a:extLst>
            </p:cNvPr>
            <p:cNvSpPr/>
            <p:nvPr/>
          </p:nvSpPr>
          <p:spPr>
            <a:xfrm rot="16200000">
              <a:off x="2173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33" name="Minus 15">
              <a:extLst>
                <a:ext uri="{FF2B5EF4-FFF2-40B4-BE49-F238E27FC236}">
                  <a16:creationId xmlns:a16="http://schemas.microsoft.com/office/drawing/2014/main" id="{C69013A7-AB71-96D7-DAC3-72CD57B70E8B}"/>
                </a:ext>
              </a:extLst>
            </p:cNvPr>
            <p:cNvSpPr/>
            <p:nvPr/>
          </p:nvSpPr>
          <p:spPr>
            <a:xfrm rot="16200000">
              <a:off x="2282589"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34" name="Minus 15">
              <a:extLst>
                <a:ext uri="{FF2B5EF4-FFF2-40B4-BE49-F238E27FC236}">
                  <a16:creationId xmlns:a16="http://schemas.microsoft.com/office/drawing/2014/main" id="{508B4597-7C3B-B74C-B274-5E08DF32E77D}"/>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35" name="Minus 15">
              <a:extLst>
                <a:ext uri="{FF2B5EF4-FFF2-40B4-BE49-F238E27FC236}">
                  <a16:creationId xmlns:a16="http://schemas.microsoft.com/office/drawing/2014/main" id="{4D2C9B22-20D4-85F0-4EFB-F780BE1D2819}"/>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38" name="Group 37">
            <a:extLst>
              <a:ext uri="{FF2B5EF4-FFF2-40B4-BE49-F238E27FC236}">
                <a16:creationId xmlns:a16="http://schemas.microsoft.com/office/drawing/2014/main" id="{18DD7930-529F-6796-3E21-BBC009888901}"/>
              </a:ext>
            </a:extLst>
          </p:cNvPr>
          <p:cNvGrpSpPr/>
          <p:nvPr/>
        </p:nvGrpSpPr>
        <p:grpSpPr>
          <a:xfrm>
            <a:off x="2220381" y="2829836"/>
            <a:ext cx="540517" cy="299743"/>
            <a:chOff x="2220381" y="1898308"/>
            <a:chExt cx="540517" cy="299743"/>
          </a:xfrm>
        </p:grpSpPr>
        <p:sp>
          <p:nvSpPr>
            <p:cNvPr id="39" name="Minus 15">
              <a:extLst>
                <a:ext uri="{FF2B5EF4-FFF2-40B4-BE49-F238E27FC236}">
                  <a16:creationId xmlns:a16="http://schemas.microsoft.com/office/drawing/2014/main" id="{D3255198-B46A-C4AB-F560-55C403104B09}"/>
                </a:ext>
              </a:extLst>
            </p:cNvPr>
            <p:cNvSpPr/>
            <p:nvPr/>
          </p:nvSpPr>
          <p:spPr>
            <a:xfrm rot="16200000">
              <a:off x="2173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0" name="Minus 15">
              <a:extLst>
                <a:ext uri="{FF2B5EF4-FFF2-40B4-BE49-F238E27FC236}">
                  <a16:creationId xmlns:a16="http://schemas.microsoft.com/office/drawing/2014/main" id="{E13AFAEC-B508-8717-D5F0-B44318E19284}"/>
                </a:ext>
              </a:extLst>
            </p:cNvPr>
            <p:cNvSpPr/>
            <p:nvPr/>
          </p:nvSpPr>
          <p:spPr>
            <a:xfrm rot="16200000">
              <a:off x="2282589"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1" name="Minus 15">
              <a:extLst>
                <a:ext uri="{FF2B5EF4-FFF2-40B4-BE49-F238E27FC236}">
                  <a16:creationId xmlns:a16="http://schemas.microsoft.com/office/drawing/2014/main" id="{3309E7E2-17DF-FA04-ACF9-1EE19C780848}"/>
                </a:ext>
              </a:extLst>
            </p:cNvPr>
            <p:cNvSpPr/>
            <p:nvPr/>
          </p:nvSpPr>
          <p:spPr>
            <a:xfrm rot="16200000">
              <a:off x="2401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2" name="Minus 15">
              <a:extLst>
                <a:ext uri="{FF2B5EF4-FFF2-40B4-BE49-F238E27FC236}">
                  <a16:creationId xmlns:a16="http://schemas.microsoft.com/office/drawing/2014/main" id="{318163F1-7904-66D7-CF57-499A67E2C0E0}"/>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45" name="Group 44">
            <a:extLst>
              <a:ext uri="{FF2B5EF4-FFF2-40B4-BE49-F238E27FC236}">
                <a16:creationId xmlns:a16="http://schemas.microsoft.com/office/drawing/2014/main" id="{133D544E-7BAE-6CCB-1230-644582A86CCD}"/>
              </a:ext>
            </a:extLst>
          </p:cNvPr>
          <p:cNvGrpSpPr/>
          <p:nvPr/>
        </p:nvGrpSpPr>
        <p:grpSpPr>
          <a:xfrm>
            <a:off x="2220381" y="3234368"/>
            <a:ext cx="540517" cy="299743"/>
            <a:chOff x="2220381" y="1898308"/>
            <a:chExt cx="540517" cy="299743"/>
          </a:xfrm>
          <a:solidFill>
            <a:schemeClr val="tx1"/>
          </a:solidFill>
        </p:grpSpPr>
        <p:sp>
          <p:nvSpPr>
            <p:cNvPr id="46" name="Minus 15">
              <a:extLst>
                <a:ext uri="{FF2B5EF4-FFF2-40B4-BE49-F238E27FC236}">
                  <a16:creationId xmlns:a16="http://schemas.microsoft.com/office/drawing/2014/main" id="{BCE6349B-AB47-8112-9F53-4BF2CB154FDD}"/>
                </a:ext>
              </a:extLst>
            </p:cNvPr>
            <p:cNvSpPr/>
            <p:nvPr/>
          </p:nvSpPr>
          <p:spPr>
            <a:xfrm rot="16200000">
              <a:off x="2173223"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7" name="Minus 15">
              <a:extLst>
                <a:ext uri="{FF2B5EF4-FFF2-40B4-BE49-F238E27FC236}">
                  <a16:creationId xmlns:a16="http://schemas.microsoft.com/office/drawing/2014/main" id="{CB9BC860-7151-8BB4-BAF1-7A790A005AEC}"/>
                </a:ext>
              </a:extLst>
            </p:cNvPr>
            <p:cNvSpPr/>
            <p:nvPr/>
          </p:nvSpPr>
          <p:spPr>
            <a:xfrm rot="16200000">
              <a:off x="2282589"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8" name="Minus 15">
              <a:extLst>
                <a:ext uri="{FF2B5EF4-FFF2-40B4-BE49-F238E27FC236}">
                  <a16:creationId xmlns:a16="http://schemas.microsoft.com/office/drawing/2014/main" id="{7AF8DB1D-434B-7E26-C407-71840E77F83F}"/>
                </a:ext>
              </a:extLst>
            </p:cNvPr>
            <p:cNvSpPr/>
            <p:nvPr/>
          </p:nvSpPr>
          <p:spPr>
            <a:xfrm rot="16200000">
              <a:off x="2401223"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9" name="Minus 15">
              <a:extLst>
                <a:ext uri="{FF2B5EF4-FFF2-40B4-BE49-F238E27FC236}">
                  <a16:creationId xmlns:a16="http://schemas.microsoft.com/office/drawing/2014/main" id="{D6997EE8-C4A4-0082-9DC4-CD987C389196}"/>
                </a:ext>
              </a:extLst>
            </p:cNvPr>
            <p:cNvSpPr/>
            <p:nvPr/>
          </p:nvSpPr>
          <p:spPr>
            <a:xfrm rot="16200000">
              <a:off x="2508313"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52" name="Group 51">
            <a:extLst>
              <a:ext uri="{FF2B5EF4-FFF2-40B4-BE49-F238E27FC236}">
                <a16:creationId xmlns:a16="http://schemas.microsoft.com/office/drawing/2014/main" id="{DCB29040-3215-9052-210F-4A0CB3B07FCB}"/>
              </a:ext>
            </a:extLst>
          </p:cNvPr>
          <p:cNvGrpSpPr/>
          <p:nvPr/>
        </p:nvGrpSpPr>
        <p:grpSpPr>
          <a:xfrm>
            <a:off x="2220381" y="3721967"/>
            <a:ext cx="540517" cy="299743"/>
            <a:chOff x="2220381" y="1898308"/>
            <a:chExt cx="540517" cy="299743"/>
          </a:xfrm>
        </p:grpSpPr>
        <p:sp>
          <p:nvSpPr>
            <p:cNvPr id="53" name="Minus 15">
              <a:extLst>
                <a:ext uri="{FF2B5EF4-FFF2-40B4-BE49-F238E27FC236}">
                  <a16:creationId xmlns:a16="http://schemas.microsoft.com/office/drawing/2014/main" id="{B52E44EA-436C-55DD-1722-F6B676470A5C}"/>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4" name="Minus 15">
              <a:extLst>
                <a:ext uri="{FF2B5EF4-FFF2-40B4-BE49-F238E27FC236}">
                  <a16:creationId xmlns:a16="http://schemas.microsoft.com/office/drawing/2014/main" id="{C3FE404B-072B-BABF-499C-70AC2BC9FDE1}"/>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5" name="Minus 15">
              <a:extLst>
                <a:ext uri="{FF2B5EF4-FFF2-40B4-BE49-F238E27FC236}">
                  <a16:creationId xmlns:a16="http://schemas.microsoft.com/office/drawing/2014/main" id="{F9582FA8-C447-DBAE-009A-F4F47E6B30D0}"/>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6" name="Minus 15">
              <a:extLst>
                <a:ext uri="{FF2B5EF4-FFF2-40B4-BE49-F238E27FC236}">
                  <a16:creationId xmlns:a16="http://schemas.microsoft.com/office/drawing/2014/main" id="{D928193F-667B-F023-C368-E6D07DF5C4AC}"/>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59" name="Group 58">
            <a:extLst>
              <a:ext uri="{FF2B5EF4-FFF2-40B4-BE49-F238E27FC236}">
                <a16:creationId xmlns:a16="http://schemas.microsoft.com/office/drawing/2014/main" id="{C998F774-F91E-95DC-3E4B-A0B0904C160F}"/>
              </a:ext>
            </a:extLst>
          </p:cNvPr>
          <p:cNvGrpSpPr/>
          <p:nvPr/>
        </p:nvGrpSpPr>
        <p:grpSpPr>
          <a:xfrm>
            <a:off x="2220381" y="4182907"/>
            <a:ext cx="540517" cy="299743"/>
            <a:chOff x="2220381" y="1898308"/>
            <a:chExt cx="540517" cy="299743"/>
          </a:xfrm>
        </p:grpSpPr>
        <p:sp>
          <p:nvSpPr>
            <p:cNvPr id="60" name="Minus 15">
              <a:extLst>
                <a:ext uri="{FF2B5EF4-FFF2-40B4-BE49-F238E27FC236}">
                  <a16:creationId xmlns:a16="http://schemas.microsoft.com/office/drawing/2014/main" id="{7C1483A2-145C-89FD-3153-B0A8FDEDA6B5}"/>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1" name="Minus 15">
              <a:extLst>
                <a:ext uri="{FF2B5EF4-FFF2-40B4-BE49-F238E27FC236}">
                  <a16:creationId xmlns:a16="http://schemas.microsoft.com/office/drawing/2014/main" id="{EEAD72DA-106C-F853-1B89-3451AFFB7432}"/>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2" name="Minus 15">
              <a:extLst>
                <a:ext uri="{FF2B5EF4-FFF2-40B4-BE49-F238E27FC236}">
                  <a16:creationId xmlns:a16="http://schemas.microsoft.com/office/drawing/2014/main" id="{351008AF-546D-7E16-4A56-5DF44F1B61FF}"/>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3" name="Minus 15">
              <a:extLst>
                <a:ext uri="{FF2B5EF4-FFF2-40B4-BE49-F238E27FC236}">
                  <a16:creationId xmlns:a16="http://schemas.microsoft.com/office/drawing/2014/main" id="{FF5128E9-2AF4-E01F-405C-0F973EC7388A}"/>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66" name="Group 65">
            <a:extLst>
              <a:ext uri="{FF2B5EF4-FFF2-40B4-BE49-F238E27FC236}">
                <a16:creationId xmlns:a16="http://schemas.microsoft.com/office/drawing/2014/main" id="{DCB7094D-AE91-2CD9-9C87-29CC19B6D47B}"/>
              </a:ext>
            </a:extLst>
          </p:cNvPr>
          <p:cNvGrpSpPr/>
          <p:nvPr/>
        </p:nvGrpSpPr>
        <p:grpSpPr>
          <a:xfrm>
            <a:off x="2220381" y="4643847"/>
            <a:ext cx="540517" cy="299743"/>
            <a:chOff x="2220381" y="1898308"/>
            <a:chExt cx="540517" cy="299743"/>
          </a:xfrm>
        </p:grpSpPr>
        <p:sp>
          <p:nvSpPr>
            <p:cNvPr id="67" name="Minus 15">
              <a:extLst>
                <a:ext uri="{FF2B5EF4-FFF2-40B4-BE49-F238E27FC236}">
                  <a16:creationId xmlns:a16="http://schemas.microsoft.com/office/drawing/2014/main" id="{80237D25-CF22-A875-F0C6-08ACF69828D8}"/>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8" name="Minus 15">
              <a:extLst>
                <a:ext uri="{FF2B5EF4-FFF2-40B4-BE49-F238E27FC236}">
                  <a16:creationId xmlns:a16="http://schemas.microsoft.com/office/drawing/2014/main" id="{F2299EBA-3704-FD90-9D25-B7F68CC51D21}"/>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9" name="Minus 15">
              <a:extLst>
                <a:ext uri="{FF2B5EF4-FFF2-40B4-BE49-F238E27FC236}">
                  <a16:creationId xmlns:a16="http://schemas.microsoft.com/office/drawing/2014/main" id="{0252A724-E913-DDA8-9FEE-D392925BFDA9}"/>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0" name="Minus 15">
              <a:extLst>
                <a:ext uri="{FF2B5EF4-FFF2-40B4-BE49-F238E27FC236}">
                  <a16:creationId xmlns:a16="http://schemas.microsoft.com/office/drawing/2014/main" id="{C9D24AA7-7B85-28F0-420D-8A0E15C8929C}"/>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73" name="Group 72">
            <a:extLst>
              <a:ext uri="{FF2B5EF4-FFF2-40B4-BE49-F238E27FC236}">
                <a16:creationId xmlns:a16="http://schemas.microsoft.com/office/drawing/2014/main" id="{48315A5E-F2AF-15EC-2FE9-71613C151CBF}"/>
              </a:ext>
            </a:extLst>
          </p:cNvPr>
          <p:cNvGrpSpPr/>
          <p:nvPr/>
        </p:nvGrpSpPr>
        <p:grpSpPr>
          <a:xfrm>
            <a:off x="2220381" y="5104935"/>
            <a:ext cx="540517" cy="299743"/>
            <a:chOff x="2220381" y="1898308"/>
            <a:chExt cx="540517" cy="299743"/>
          </a:xfrm>
        </p:grpSpPr>
        <p:sp>
          <p:nvSpPr>
            <p:cNvPr id="74" name="Minus 15">
              <a:extLst>
                <a:ext uri="{FF2B5EF4-FFF2-40B4-BE49-F238E27FC236}">
                  <a16:creationId xmlns:a16="http://schemas.microsoft.com/office/drawing/2014/main" id="{1080FD4C-CA1C-D105-F11C-B7DCCCF72143}"/>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5" name="Minus 15">
              <a:extLst>
                <a:ext uri="{FF2B5EF4-FFF2-40B4-BE49-F238E27FC236}">
                  <a16:creationId xmlns:a16="http://schemas.microsoft.com/office/drawing/2014/main" id="{6F067EB4-5808-2B86-113D-E99565F5B4D4}"/>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6" name="Minus 15">
              <a:extLst>
                <a:ext uri="{FF2B5EF4-FFF2-40B4-BE49-F238E27FC236}">
                  <a16:creationId xmlns:a16="http://schemas.microsoft.com/office/drawing/2014/main" id="{CAA4431A-1FE6-4B50-F4EB-481A316DD00A}"/>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7" name="Minus 15">
              <a:extLst>
                <a:ext uri="{FF2B5EF4-FFF2-40B4-BE49-F238E27FC236}">
                  <a16:creationId xmlns:a16="http://schemas.microsoft.com/office/drawing/2014/main" id="{7F9B764C-4AA9-48F3-3232-34436B7FDEE0}"/>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80" name="Group 79">
            <a:extLst>
              <a:ext uri="{FF2B5EF4-FFF2-40B4-BE49-F238E27FC236}">
                <a16:creationId xmlns:a16="http://schemas.microsoft.com/office/drawing/2014/main" id="{0A8A82E9-0E8D-6840-4DB4-4F2855D5B4AB}"/>
              </a:ext>
            </a:extLst>
          </p:cNvPr>
          <p:cNvGrpSpPr/>
          <p:nvPr/>
        </p:nvGrpSpPr>
        <p:grpSpPr>
          <a:xfrm>
            <a:off x="2220381" y="5612059"/>
            <a:ext cx="540517" cy="299743"/>
            <a:chOff x="2220381" y="1898308"/>
            <a:chExt cx="540517" cy="299743"/>
          </a:xfrm>
        </p:grpSpPr>
        <p:sp>
          <p:nvSpPr>
            <p:cNvPr id="81" name="Minus 15">
              <a:extLst>
                <a:ext uri="{FF2B5EF4-FFF2-40B4-BE49-F238E27FC236}">
                  <a16:creationId xmlns:a16="http://schemas.microsoft.com/office/drawing/2014/main" id="{8538291A-D347-509F-1F43-686A7FC7908C}"/>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2" name="Minus 15">
              <a:extLst>
                <a:ext uri="{FF2B5EF4-FFF2-40B4-BE49-F238E27FC236}">
                  <a16:creationId xmlns:a16="http://schemas.microsoft.com/office/drawing/2014/main" id="{0153B9F2-5B10-E0F8-2908-02787D4B991C}"/>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3" name="Minus 15">
              <a:extLst>
                <a:ext uri="{FF2B5EF4-FFF2-40B4-BE49-F238E27FC236}">
                  <a16:creationId xmlns:a16="http://schemas.microsoft.com/office/drawing/2014/main" id="{BCE06522-B0C2-D38E-E15A-76B4B33D32C9}"/>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4" name="Minus 15">
              <a:extLst>
                <a:ext uri="{FF2B5EF4-FFF2-40B4-BE49-F238E27FC236}">
                  <a16:creationId xmlns:a16="http://schemas.microsoft.com/office/drawing/2014/main" id="{C9C860A4-DDD6-A895-A5A2-3EA8B1F3A998}"/>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87" name="Group 86">
            <a:extLst>
              <a:ext uri="{FF2B5EF4-FFF2-40B4-BE49-F238E27FC236}">
                <a16:creationId xmlns:a16="http://schemas.microsoft.com/office/drawing/2014/main" id="{150D4404-E4BD-B0DB-EBC7-337A64509307}"/>
              </a:ext>
            </a:extLst>
          </p:cNvPr>
          <p:cNvGrpSpPr/>
          <p:nvPr/>
        </p:nvGrpSpPr>
        <p:grpSpPr>
          <a:xfrm>
            <a:off x="2220381" y="6081276"/>
            <a:ext cx="540517" cy="299743"/>
            <a:chOff x="2220381" y="1898308"/>
            <a:chExt cx="540517" cy="299743"/>
          </a:xfrm>
        </p:grpSpPr>
        <p:sp>
          <p:nvSpPr>
            <p:cNvPr id="88" name="Minus 15">
              <a:extLst>
                <a:ext uri="{FF2B5EF4-FFF2-40B4-BE49-F238E27FC236}">
                  <a16:creationId xmlns:a16="http://schemas.microsoft.com/office/drawing/2014/main" id="{BD5FA7BB-2C18-6B03-3AD4-303ADCF6AD83}"/>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9" name="Minus 15">
              <a:extLst>
                <a:ext uri="{FF2B5EF4-FFF2-40B4-BE49-F238E27FC236}">
                  <a16:creationId xmlns:a16="http://schemas.microsoft.com/office/drawing/2014/main" id="{1C9C2B56-A0C8-87AE-E25E-A368B9FC8DE5}"/>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90" name="Minus 15">
              <a:extLst>
                <a:ext uri="{FF2B5EF4-FFF2-40B4-BE49-F238E27FC236}">
                  <a16:creationId xmlns:a16="http://schemas.microsoft.com/office/drawing/2014/main" id="{86C30993-E552-F935-BE0C-BCCB171DFA38}"/>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91" name="Minus 15">
              <a:extLst>
                <a:ext uri="{FF2B5EF4-FFF2-40B4-BE49-F238E27FC236}">
                  <a16:creationId xmlns:a16="http://schemas.microsoft.com/office/drawing/2014/main" id="{650EB050-19B9-9F27-2788-AEC316018166}"/>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sp>
        <p:nvSpPr>
          <p:cNvPr id="92" name="Text Placeholder 6">
            <a:extLst>
              <a:ext uri="{FF2B5EF4-FFF2-40B4-BE49-F238E27FC236}">
                <a16:creationId xmlns:a16="http://schemas.microsoft.com/office/drawing/2014/main" id="{A6F04B41-C7F6-892C-0B3B-62FADA95291B}"/>
              </a:ext>
            </a:extLst>
          </p:cNvPr>
          <p:cNvSpPr txBox="1">
            <a:spLocks/>
          </p:cNvSpPr>
          <p:nvPr/>
        </p:nvSpPr>
        <p:spPr>
          <a:xfrm>
            <a:off x="394311" y="189653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Switching costs</a:t>
            </a:r>
          </a:p>
        </p:txBody>
      </p:sp>
      <p:sp>
        <p:nvSpPr>
          <p:cNvPr id="93" name="Text Placeholder 6">
            <a:extLst>
              <a:ext uri="{FF2B5EF4-FFF2-40B4-BE49-F238E27FC236}">
                <a16:creationId xmlns:a16="http://schemas.microsoft.com/office/drawing/2014/main" id="{F9DED2BD-31CB-E4E2-403F-8214CD18F25F}"/>
              </a:ext>
            </a:extLst>
          </p:cNvPr>
          <p:cNvSpPr txBox="1">
            <a:spLocks/>
          </p:cNvSpPr>
          <p:nvPr/>
        </p:nvSpPr>
        <p:spPr>
          <a:xfrm>
            <a:off x="394311" y="2361896"/>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4" name="Text Placeholder 6">
            <a:extLst>
              <a:ext uri="{FF2B5EF4-FFF2-40B4-BE49-F238E27FC236}">
                <a16:creationId xmlns:a16="http://schemas.microsoft.com/office/drawing/2014/main" id="{B72CC163-8364-7DBB-7A3B-B0B8CF68F4D9}"/>
              </a:ext>
            </a:extLst>
          </p:cNvPr>
          <p:cNvSpPr txBox="1">
            <a:spLocks/>
          </p:cNvSpPr>
          <p:nvPr/>
        </p:nvSpPr>
        <p:spPr>
          <a:xfrm>
            <a:off x="394311" y="2805864"/>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a:t>
            </a:r>
          </a:p>
        </p:txBody>
      </p:sp>
      <p:sp>
        <p:nvSpPr>
          <p:cNvPr id="95" name="Text Placeholder 6">
            <a:extLst>
              <a:ext uri="{FF2B5EF4-FFF2-40B4-BE49-F238E27FC236}">
                <a16:creationId xmlns:a16="http://schemas.microsoft.com/office/drawing/2014/main" id="{B689A851-3340-B161-54C0-072E6336731F}"/>
              </a:ext>
            </a:extLst>
          </p:cNvPr>
          <p:cNvSpPr txBox="1">
            <a:spLocks/>
          </p:cNvSpPr>
          <p:nvPr/>
        </p:nvSpPr>
        <p:spPr>
          <a:xfrm>
            <a:off x="394311" y="3251629"/>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6" name="Text Placeholder 6">
            <a:extLst>
              <a:ext uri="{FF2B5EF4-FFF2-40B4-BE49-F238E27FC236}">
                <a16:creationId xmlns:a16="http://schemas.microsoft.com/office/drawing/2014/main" id="{59E548F3-A8F2-16E9-0867-DF648264D1B2}"/>
              </a:ext>
            </a:extLst>
          </p:cNvPr>
          <p:cNvSpPr txBox="1">
            <a:spLocks/>
          </p:cNvSpPr>
          <p:nvPr/>
        </p:nvSpPr>
        <p:spPr>
          <a:xfrm>
            <a:off x="394311" y="3709981"/>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a:t>
            </a:r>
          </a:p>
        </p:txBody>
      </p:sp>
      <p:sp>
        <p:nvSpPr>
          <p:cNvPr id="97" name="Text Placeholder 6">
            <a:extLst>
              <a:ext uri="{FF2B5EF4-FFF2-40B4-BE49-F238E27FC236}">
                <a16:creationId xmlns:a16="http://schemas.microsoft.com/office/drawing/2014/main" id="{E560D0B9-60D8-B6C4-3486-90814808924F}"/>
              </a:ext>
            </a:extLst>
          </p:cNvPr>
          <p:cNvSpPr txBox="1">
            <a:spLocks/>
          </p:cNvSpPr>
          <p:nvPr/>
        </p:nvSpPr>
        <p:spPr>
          <a:xfrm>
            <a:off x="394311" y="4182907"/>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a:t>
            </a:r>
          </a:p>
        </p:txBody>
      </p:sp>
      <p:sp>
        <p:nvSpPr>
          <p:cNvPr id="98" name="Text Placeholder 6">
            <a:extLst>
              <a:ext uri="{FF2B5EF4-FFF2-40B4-BE49-F238E27FC236}">
                <a16:creationId xmlns:a16="http://schemas.microsoft.com/office/drawing/2014/main" id="{33956C57-3B73-3904-1EB0-EC9B3B5F8894}"/>
              </a:ext>
            </a:extLst>
          </p:cNvPr>
          <p:cNvSpPr txBox="1">
            <a:spLocks/>
          </p:cNvSpPr>
          <p:nvPr/>
        </p:nvSpPr>
        <p:spPr>
          <a:xfrm>
            <a:off x="394311" y="465583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a:t>
            </a:r>
          </a:p>
        </p:txBody>
      </p:sp>
      <p:sp>
        <p:nvSpPr>
          <p:cNvPr id="99" name="Text Placeholder 6">
            <a:extLst>
              <a:ext uri="{FF2B5EF4-FFF2-40B4-BE49-F238E27FC236}">
                <a16:creationId xmlns:a16="http://schemas.microsoft.com/office/drawing/2014/main" id="{102FD908-B7DB-0DB1-5FD8-A4D72B33BADA}"/>
              </a:ext>
            </a:extLst>
          </p:cNvPr>
          <p:cNvSpPr txBox="1">
            <a:spLocks/>
          </p:cNvSpPr>
          <p:nvPr/>
        </p:nvSpPr>
        <p:spPr>
          <a:xfrm>
            <a:off x="394311" y="5084961"/>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a:t>
            </a:r>
          </a:p>
        </p:txBody>
      </p:sp>
      <p:sp>
        <p:nvSpPr>
          <p:cNvPr id="100" name="Text Placeholder 6">
            <a:extLst>
              <a:ext uri="{FF2B5EF4-FFF2-40B4-BE49-F238E27FC236}">
                <a16:creationId xmlns:a16="http://schemas.microsoft.com/office/drawing/2014/main" id="{DC2AD284-7CEF-DFB2-1129-950C4162E36F}"/>
              </a:ext>
            </a:extLst>
          </p:cNvPr>
          <p:cNvSpPr txBox="1">
            <a:spLocks/>
          </p:cNvSpPr>
          <p:nvPr/>
        </p:nvSpPr>
        <p:spPr>
          <a:xfrm>
            <a:off x="394311" y="561996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a:t>
            </a:r>
          </a:p>
        </p:txBody>
      </p:sp>
      <p:sp>
        <p:nvSpPr>
          <p:cNvPr id="101" name="Text Placeholder 6">
            <a:extLst>
              <a:ext uri="{FF2B5EF4-FFF2-40B4-BE49-F238E27FC236}">
                <a16:creationId xmlns:a16="http://schemas.microsoft.com/office/drawing/2014/main" id="{9080C594-7CE8-9803-27EF-87945BB21E90}"/>
              </a:ext>
            </a:extLst>
          </p:cNvPr>
          <p:cNvSpPr txBox="1">
            <a:spLocks/>
          </p:cNvSpPr>
          <p:nvPr/>
        </p:nvSpPr>
        <p:spPr>
          <a:xfrm>
            <a:off x="394311" y="6081275"/>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a:t>
            </a:r>
          </a:p>
        </p:txBody>
      </p:sp>
      <p:sp>
        <p:nvSpPr>
          <p:cNvPr id="2" name="Marcador de texto 2">
            <a:extLst>
              <a:ext uri="{FF2B5EF4-FFF2-40B4-BE49-F238E27FC236}">
                <a16:creationId xmlns:a16="http://schemas.microsoft.com/office/drawing/2014/main" id="{5BF0312A-8FF7-9BFD-B980-2AFA59836EE3}"/>
              </a:ext>
            </a:extLst>
          </p:cNvPr>
          <p:cNvSpPr>
            <a:spLocks noGrp="1"/>
          </p:cNvSpPr>
          <p:nvPr>
            <p:ph type="body" sz="quarter" idx="14"/>
          </p:nvPr>
        </p:nvSpPr>
        <p:spPr>
          <a:xfrm>
            <a:off x="385762" y="802298"/>
            <a:ext cx="11418888" cy="576263"/>
          </a:xfrm>
        </p:spPr>
        <p:txBody>
          <a:bodyPr/>
          <a:lstStyle/>
          <a:p>
            <a:r>
              <a:rPr lang="en-US" dirty="0"/>
              <a:t>Backup to Porter’s Five Forces Analysis</a:t>
            </a:r>
          </a:p>
        </p:txBody>
      </p:sp>
      <p:sp>
        <p:nvSpPr>
          <p:cNvPr id="10" name="Marcador de pie de página 9">
            <a:extLst>
              <a:ext uri="{FF2B5EF4-FFF2-40B4-BE49-F238E27FC236}">
                <a16:creationId xmlns:a16="http://schemas.microsoft.com/office/drawing/2014/main" id="{D16BFA99-CA9D-F181-4A32-B2934793B744}"/>
              </a:ext>
            </a:extLst>
          </p:cNvPr>
          <p:cNvSpPr>
            <a:spLocks noGrp="1"/>
          </p:cNvSpPr>
          <p:nvPr>
            <p:ph type="ftr" sz="quarter" idx="3"/>
          </p:nvPr>
        </p:nvSpPr>
        <p:spPr/>
        <p:txBody>
          <a:bodyPr/>
          <a:lstStyle/>
          <a:p>
            <a:r>
              <a:rPr lang="en-US"/>
              <a:t>Source:_______</a:t>
            </a:r>
            <a:endParaRPr lang="en-US" dirty="0"/>
          </a:p>
        </p:txBody>
      </p:sp>
      <p:sp>
        <p:nvSpPr>
          <p:cNvPr id="11" name="Rectangle 89">
            <a:extLst>
              <a:ext uri="{FF2B5EF4-FFF2-40B4-BE49-F238E27FC236}">
                <a16:creationId xmlns:a16="http://schemas.microsoft.com/office/drawing/2014/main" id="{DE2F8076-51E7-8C3B-B6D6-FBC38B7D6185}"/>
              </a:ext>
            </a:extLst>
          </p:cNvPr>
          <p:cNvSpPr/>
          <p:nvPr/>
        </p:nvSpPr>
        <p:spPr>
          <a:xfrm>
            <a:off x="2819587" y="1928537"/>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2" name="Rectangle 89">
            <a:extLst>
              <a:ext uri="{FF2B5EF4-FFF2-40B4-BE49-F238E27FC236}">
                <a16:creationId xmlns:a16="http://schemas.microsoft.com/office/drawing/2014/main" id="{FD1317F3-A95D-BAB2-E059-011653166607}"/>
              </a:ext>
            </a:extLst>
          </p:cNvPr>
          <p:cNvSpPr/>
          <p:nvPr/>
        </p:nvSpPr>
        <p:spPr>
          <a:xfrm>
            <a:off x="2819587" y="2394301"/>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4" name="Rectangle 89">
            <a:extLst>
              <a:ext uri="{FF2B5EF4-FFF2-40B4-BE49-F238E27FC236}">
                <a16:creationId xmlns:a16="http://schemas.microsoft.com/office/drawing/2014/main" id="{5CC92A4E-308C-A502-A9B3-42674E33A1BB}"/>
              </a:ext>
            </a:extLst>
          </p:cNvPr>
          <p:cNvSpPr/>
          <p:nvPr/>
        </p:nvSpPr>
        <p:spPr>
          <a:xfrm>
            <a:off x="2819587" y="2860065"/>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5" name="Rectangle 89">
            <a:extLst>
              <a:ext uri="{FF2B5EF4-FFF2-40B4-BE49-F238E27FC236}">
                <a16:creationId xmlns:a16="http://schemas.microsoft.com/office/drawing/2014/main" id="{341B8E97-17A5-F19B-7345-C6284ADB6469}"/>
              </a:ext>
            </a:extLst>
          </p:cNvPr>
          <p:cNvSpPr/>
          <p:nvPr/>
        </p:nvSpPr>
        <p:spPr>
          <a:xfrm>
            <a:off x="2819587" y="3264597"/>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6" name="Rectangle 89">
            <a:extLst>
              <a:ext uri="{FF2B5EF4-FFF2-40B4-BE49-F238E27FC236}">
                <a16:creationId xmlns:a16="http://schemas.microsoft.com/office/drawing/2014/main" id="{940FFB48-C59F-42C2-0482-2DA2D30A0595}"/>
              </a:ext>
            </a:extLst>
          </p:cNvPr>
          <p:cNvSpPr/>
          <p:nvPr/>
        </p:nvSpPr>
        <p:spPr>
          <a:xfrm>
            <a:off x="2819587" y="3752196"/>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7" name="Rectangle 89">
            <a:extLst>
              <a:ext uri="{FF2B5EF4-FFF2-40B4-BE49-F238E27FC236}">
                <a16:creationId xmlns:a16="http://schemas.microsoft.com/office/drawing/2014/main" id="{CF1F0733-9274-5007-FE09-3EA034171212}"/>
              </a:ext>
            </a:extLst>
          </p:cNvPr>
          <p:cNvSpPr/>
          <p:nvPr/>
        </p:nvSpPr>
        <p:spPr>
          <a:xfrm>
            <a:off x="2819587" y="4213136"/>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8" name="Rectangle 89">
            <a:extLst>
              <a:ext uri="{FF2B5EF4-FFF2-40B4-BE49-F238E27FC236}">
                <a16:creationId xmlns:a16="http://schemas.microsoft.com/office/drawing/2014/main" id="{236C2F10-83DF-0F2D-26D2-1761EE3A0EAA}"/>
              </a:ext>
            </a:extLst>
          </p:cNvPr>
          <p:cNvSpPr/>
          <p:nvPr/>
        </p:nvSpPr>
        <p:spPr>
          <a:xfrm>
            <a:off x="2819587" y="4674076"/>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9" name="Rectangle 89">
            <a:extLst>
              <a:ext uri="{FF2B5EF4-FFF2-40B4-BE49-F238E27FC236}">
                <a16:creationId xmlns:a16="http://schemas.microsoft.com/office/drawing/2014/main" id="{154B7DEC-8969-8118-A78B-4B77835D3823}"/>
              </a:ext>
            </a:extLst>
          </p:cNvPr>
          <p:cNvSpPr/>
          <p:nvPr/>
        </p:nvSpPr>
        <p:spPr>
          <a:xfrm>
            <a:off x="2819587" y="5135164"/>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0" name="Rectangle 89">
            <a:extLst>
              <a:ext uri="{FF2B5EF4-FFF2-40B4-BE49-F238E27FC236}">
                <a16:creationId xmlns:a16="http://schemas.microsoft.com/office/drawing/2014/main" id="{7A70F141-EF95-0B48-09B3-F1C58CAADCC4}"/>
              </a:ext>
            </a:extLst>
          </p:cNvPr>
          <p:cNvSpPr/>
          <p:nvPr/>
        </p:nvSpPr>
        <p:spPr>
          <a:xfrm>
            <a:off x="2819587" y="5642288"/>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1" name="Rectangle 89">
            <a:extLst>
              <a:ext uri="{FF2B5EF4-FFF2-40B4-BE49-F238E27FC236}">
                <a16:creationId xmlns:a16="http://schemas.microsoft.com/office/drawing/2014/main" id="{B52BF002-68F4-6F64-0243-1A47EA358D32}"/>
              </a:ext>
            </a:extLst>
          </p:cNvPr>
          <p:cNvSpPr/>
          <p:nvPr/>
        </p:nvSpPr>
        <p:spPr>
          <a:xfrm>
            <a:off x="2819587" y="6111505"/>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41533442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3" imgW="7772400" imgH="10058400" progId="TCLayout.ActiveDocument.1">
                  <p:embed/>
                </p:oleObj>
              </mc:Choice>
              <mc:Fallback>
                <p:oleObj name="Diapositiva de think-cell"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Marcador de texto 2">
            <a:extLst>
              <a:ext uri="{FF2B5EF4-FFF2-40B4-BE49-F238E27FC236}">
                <a16:creationId xmlns:a16="http://schemas.microsoft.com/office/drawing/2014/main" id="{41AB0A6A-49CF-2011-10E9-7FB531D78C0B}"/>
              </a:ext>
            </a:extLst>
          </p:cNvPr>
          <p:cNvSpPr>
            <a:spLocks noGrp="1"/>
          </p:cNvSpPr>
          <p:nvPr>
            <p:ph type="body" sz="quarter" idx="14"/>
          </p:nvPr>
        </p:nvSpPr>
        <p:spPr/>
        <p:txBody>
          <a:bodyPr/>
          <a:lstStyle/>
          <a:p>
            <a:r>
              <a:rPr lang="en-US" dirty="0"/>
              <a:t>Porter’s Five Forces Analysis</a:t>
            </a:r>
          </a:p>
        </p:txBody>
      </p:sp>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Bargaining power of suppliers – Questions to consider</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p:txBody>
          <a:bodyPr/>
          <a:lstStyle/>
          <a:p>
            <a:pPr marL="228600" indent="-228600">
              <a:buFont typeface="+mj-lt"/>
              <a:buAutoNum type="arabicPeriod"/>
            </a:pPr>
            <a:r>
              <a:rPr lang="en-US" sz="1200" b="0" dirty="0"/>
              <a:t>How many suppliers are there in the industry, and how concentrated are they?</a:t>
            </a:r>
          </a:p>
          <a:p>
            <a:pPr marL="228600" indent="-228600">
              <a:buFont typeface="+mj-lt"/>
              <a:buAutoNum type="arabicPeriod"/>
            </a:pPr>
            <a:r>
              <a:rPr lang="en-US" sz="1200" b="0" dirty="0"/>
              <a:t>Is there a high level of switching costs for buyers to switch from one supplier to another?</a:t>
            </a:r>
          </a:p>
          <a:p>
            <a:pPr marL="228600" indent="-228600">
              <a:buFont typeface="+mj-lt"/>
              <a:buAutoNum type="arabicPeriod"/>
            </a:pPr>
            <a:r>
              <a:rPr lang="en-US" sz="1200" b="0" dirty="0"/>
              <a:t>What is the importance of the industry to the suppliers, and how important are the buyers to the suppliers?</a:t>
            </a:r>
          </a:p>
          <a:p>
            <a:pPr marL="228600" indent="-228600">
              <a:buFont typeface="+mj-lt"/>
              <a:buAutoNum type="arabicPeriod"/>
            </a:pPr>
            <a:r>
              <a:rPr lang="en-US" sz="1200" b="0" dirty="0"/>
              <a:t>How differentiated are the products or services provided by the suppliers?</a:t>
            </a:r>
          </a:p>
          <a:p>
            <a:pPr marL="228600" indent="-228600">
              <a:buFont typeface="+mj-lt"/>
              <a:buAutoNum type="arabicPeriod"/>
            </a:pPr>
            <a:r>
              <a:rPr lang="en-US" sz="1200" b="0" dirty="0"/>
              <a:t>What is the cost of switching suppliers for buyers, and how easy or difficult is it for buyers to find alternative suppliers?</a:t>
            </a:r>
          </a:p>
          <a:p>
            <a:pPr marL="228600" indent="-228600">
              <a:buFont typeface="+mj-lt"/>
              <a:buAutoNum type="arabicPeriod"/>
            </a:pPr>
            <a:r>
              <a:rPr lang="en-US" sz="1200" b="0" dirty="0"/>
              <a:t>What is the level of substitute products or services available to the buyers, and how does that affect the bargaining power of the suppliers?</a:t>
            </a:r>
          </a:p>
          <a:p>
            <a:pPr marL="228600" indent="-228600">
              <a:buFont typeface="+mj-lt"/>
              <a:buAutoNum type="arabicPeriod"/>
            </a:pPr>
            <a:r>
              <a:rPr lang="en-US" sz="1200" b="0" dirty="0"/>
              <a:t>Are there any joint ventures or other forms of collaboration between suppliers and buyers that could affect bargaining power?</a:t>
            </a:r>
          </a:p>
          <a:p>
            <a:pPr marL="228600" indent="-228600">
              <a:buFont typeface="+mj-lt"/>
              <a:buAutoNum type="arabicPeriod"/>
            </a:pPr>
            <a:r>
              <a:rPr lang="en-US" sz="1200" b="0" dirty="0"/>
              <a:t>What is the availability of inputs or resources required by suppliers, and how easily can they be substituted?</a:t>
            </a:r>
          </a:p>
          <a:p>
            <a:pPr marL="228600" indent="-228600">
              <a:buFont typeface="+mj-lt"/>
              <a:buAutoNum type="arabicPeriod"/>
            </a:pPr>
            <a:r>
              <a:rPr lang="en-US" sz="1200" b="0" dirty="0"/>
              <a:t>Are there any legal or regulatory constraints on the suppliers that affect their bargaining power?</a:t>
            </a:r>
          </a:p>
          <a:p>
            <a:pPr marL="228600" indent="-228600">
              <a:buFont typeface="+mj-lt"/>
              <a:buAutoNum type="arabicPeriod"/>
            </a:pPr>
            <a:r>
              <a:rPr lang="en-US" sz="1200" b="0" dirty="0"/>
              <a:t>What is the level of competition among suppliers, and how does that affect their bargaining power?</a:t>
            </a:r>
          </a:p>
          <a:p>
            <a:pPr marL="228600" indent="-228600">
              <a:buFont typeface="+mj-lt"/>
              <a:buAutoNum type="arabicPeriod"/>
            </a:pPr>
            <a:endParaRPr lang="en-US" sz="1200" b="0" dirty="0"/>
          </a:p>
        </p:txBody>
      </p:sp>
      <p:sp>
        <p:nvSpPr>
          <p:cNvPr id="6" name="Marcador de pie de página 5">
            <a:extLst>
              <a:ext uri="{FF2B5EF4-FFF2-40B4-BE49-F238E27FC236}">
                <a16:creationId xmlns:a16="http://schemas.microsoft.com/office/drawing/2014/main" id="{1D12B187-9429-65ED-612E-75FC4CCEE93C}"/>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1704884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EEA9A65-A84B-8CDC-A00E-C5B2B57E2FF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4" name="Object 3" hidden="1">
                        <a:extLst>
                          <a:ext uri="{FF2B5EF4-FFF2-40B4-BE49-F238E27FC236}">
                            <a16:creationId xmlns:a16="http://schemas.microsoft.com/office/drawing/2014/main" id="{BEEA9A65-A84B-8CDC-A00E-C5B2B57E2FF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36E824DB-66E0-6298-27A8-F059BBF1F348}"/>
              </a:ext>
            </a:extLst>
          </p:cNvPr>
          <p:cNvSpPr>
            <a:spLocks noGrp="1"/>
          </p:cNvSpPr>
          <p:nvPr>
            <p:ph type="title"/>
          </p:nvPr>
        </p:nvSpPr>
        <p:spPr/>
        <p:txBody>
          <a:bodyPr vert="horz"/>
          <a:lstStyle/>
          <a:p>
            <a:r>
              <a:rPr lang="en-US" dirty="0"/>
              <a:t>Bargaining power of suppliers -  [industry]</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Text Placeholder 6">
            <a:extLst>
              <a:ext uri="{FF2B5EF4-FFF2-40B4-BE49-F238E27FC236}">
                <a16:creationId xmlns:a16="http://schemas.microsoft.com/office/drawing/2014/main" id="{1CE093A3-A4E7-ED72-B70B-0CB3F3449146}"/>
              </a:ext>
            </a:extLst>
          </p:cNvPr>
          <p:cNvSpPr txBox="1">
            <a:spLocks/>
          </p:cNvSpPr>
          <p:nvPr/>
        </p:nvSpPr>
        <p:spPr>
          <a:xfrm>
            <a:off x="374014" y="189653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6" name="TextBox 24">
            <a:extLst>
              <a:ext uri="{FF2B5EF4-FFF2-40B4-BE49-F238E27FC236}">
                <a16:creationId xmlns:a16="http://schemas.microsoft.com/office/drawing/2014/main" id="{A1FCD546-7266-F9CA-CC1A-1EEF3811C21D}"/>
              </a:ext>
            </a:extLst>
          </p:cNvPr>
          <p:cNvSpPr txBox="1"/>
          <p:nvPr/>
        </p:nvSpPr>
        <p:spPr>
          <a:xfrm>
            <a:off x="374014" y="1389623"/>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Factor</a:t>
            </a:r>
          </a:p>
        </p:txBody>
      </p:sp>
      <p:cxnSp>
        <p:nvCxnSpPr>
          <p:cNvPr id="7" name="Conector recto 9">
            <a:extLst>
              <a:ext uri="{FF2B5EF4-FFF2-40B4-BE49-F238E27FC236}">
                <a16:creationId xmlns:a16="http://schemas.microsoft.com/office/drawing/2014/main" id="{D53D8713-E08F-9566-166A-5A48F109F304}"/>
              </a:ext>
            </a:extLst>
          </p:cNvPr>
          <p:cNvCxnSpPr>
            <a:cxnSpLocks/>
          </p:cNvCxnSpPr>
          <p:nvPr/>
        </p:nvCxnSpPr>
        <p:spPr>
          <a:xfrm>
            <a:off x="364181" y="1732070"/>
            <a:ext cx="174683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4" name="TextBox 24">
            <a:extLst>
              <a:ext uri="{FF2B5EF4-FFF2-40B4-BE49-F238E27FC236}">
                <a16:creationId xmlns:a16="http://schemas.microsoft.com/office/drawing/2014/main" id="{45E25133-FAF6-166D-4106-1C2D8BA3CA2E}"/>
              </a:ext>
            </a:extLst>
          </p:cNvPr>
          <p:cNvSpPr txBox="1"/>
          <p:nvPr/>
        </p:nvSpPr>
        <p:spPr>
          <a:xfrm>
            <a:off x="2961301" y="1398252"/>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Details</a:t>
            </a:r>
          </a:p>
        </p:txBody>
      </p:sp>
      <p:cxnSp>
        <p:nvCxnSpPr>
          <p:cNvPr id="25" name="Conector recto 9">
            <a:extLst>
              <a:ext uri="{FF2B5EF4-FFF2-40B4-BE49-F238E27FC236}">
                <a16:creationId xmlns:a16="http://schemas.microsoft.com/office/drawing/2014/main" id="{171F11E6-4411-07F9-8D69-48157F8F96FD}"/>
              </a:ext>
            </a:extLst>
          </p:cNvPr>
          <p:cNvCxnSpPr>
            <a:cxnSpLocks/>
          </p:cNvCxnSpPr>
          <p:nvPr/>
        </p:nvCxnSpPr>
        <p:spPr>
          <a:xfrm>
            <a:off x="2248665" y="1740699"/>
            <a:ext cx="955598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CA6EF9FA-4ADC-BA28-660F-C0DD6682C452}"/>
              </a:ext>
            </a:extLst>
          </p:cNvPr>
          <p:cNvGrpSpPr/>
          <p:nvPr/>
        </p:nvGrpSpPr>
        <p:grpSpPr>
          <a:xfrm>
            <a:off x="2220381" y="1898308"/>
            <a:ext cx="540517" cy="299743"/>
            <a:chOff x="2220381" y="1898308"/>
            <a:chExt cx="540517" cy="299743"/>
          </a:xfrm>
        </p:grpSpPr>
        <p:sp>
          <p:nvSpPr>
            <p:cNvPr id="13" name="Minus 15">
              <a:extLst>
                <a:ext uri="{FF2B5EF4-FFF2-40B4-BE49-F238E27FC236}">
                  <a16:creationId xmlns:a16="http://schemas.microsoft.com/office/drawing/2014/main" id="{798897E1-F559-4920-5D5E-1B9FB849632A}"/>
                </a:ext>
              </a:extLst>
            </p:cNvPr>
            <p:cNvSpPr/>
            <p:nvPr/>
          </p:nvSpPr>
          <p:spPr>
            <a:xfrm rot="16200000">
              <a:off x="2173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3" name="Minus 15">
              <a:extLst>
                <a:ext uri="{FF2B5EF4-FFF2-40B4-BE49-F238E27FC236}">
                  <a16:creationId xmlns:a16="http://schemas.microsoft.com/office/drawing/2014/main" id="{D3EFAD32-EF2A-D796-B3AA-1F5806DB7536}"/>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6" name="Minus 15">
              <a:extLst>
                <a:ext uri="{FF2B5EF4-FFF2-40B4-BE49-F238E27FC236}">
                  <a16:creationId xmlns:a16="http://schemas.microsoft.com/office/drawing/2014/main" id="{7DD40494-DE78-68A9-CE3D-E02EB2912436}"/>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7" name="Minus 15">
              <a:extLst>
                <a:ext uri="{FF2B5EF4-FFF2-40B4-BE49-F238E27FC236}">
                  <a16:creationId xmlns:a16="http://schemas.microsoft.com/office/drawing/2014/main" id="{9BB7686E-1C64-A774-213C-001472A8BF4B}"/>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31" name="Group 30">
            <a:extLst>
              <a:ext uri="{FF2B5EF4-FFF2-40B4-BE49-F238E27FC236}">
                <a16:creationId xmlns:a16="http://schemas.microsoft.com/office/drawing/2014/main" id="{25EE8254-0A0E-2E84-4744-0BD661EA3A15}"/>
              </a:ext>
            </a:extLst>
          </p:cNvPr>
          <p:cNvGrpSpPr/>
          <p:nvPr/>
        </p:nvGrpSpPr>
        <p:grpSpPr>
          <a:xfrm>
            <a:off x="2220381" y="2364072"/>
            <a:ext cx="540517" cy="299743"/>
            <a:chOff x="2220381" y="1898308"/>
            <a:chExt cx="540517" cy="299743"/>
          </a:xfrm>
        </p:grpSpPr>
        <p:sp>
          <p:nvSpPr>
            <p:cNvPr id="32" name="Minus 15">
              <a:extLst>
                <a:ext uri="{FF2B5EF4-FFF2-40B4-BE49-F238E27FC236}">
                  <a16:creationId xmlns:a16="http://schemas.microsoft.com/office/drawing/2014/main" id="{FED6A283-F616-0C96-52B7-DB370023DE52}"/>
                </a:ext>
              </a:extLst>
            </p:cNvPr>
            <p:cNvSpPr/>
            <p:nvPr/>
          </p:nvSpPr>
          <p:spPr>
            <a:xfrm rot="16200000">
              <a:off x="2173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33" name="Minus 15">
              <a:extLst>
                <a:ext uri="{FF2B5EF4-FFF2-40B4-BE49-F238E27FC236}">
                  <a16:creationId xmlns:a16="http://schemas.microsoft.com/office/drawing/2014/main" id="{C69013A7-AB71-96D7-DAC3-72CD57B70E8B}"/>
                </a:ext>
              </a:extLst>
            </p:cNvPr>
            <p:cNvSpPr/>
            <p:nvPr/>
          </p:nvSpPr>
          <p:spPr>
            <a:xfrm rot="16200000">
              <a:off x="2282589"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34" name="Minus 15">
              <a:extLst>
                <a:ext uri="{FF2B5EF4-FFF2-40B4-BE49-F238E27FC236}">
                  <a16:creationId xmlns:a16="http://schemas.microsoft.com/office/drawing/2014/main" id="{508B4597-7C3B-B74C-B274-5E08DF32E77D}"/>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35" name="Minus 15">
              <a:extLst>
                <a:ext uri="{FF2B5EF4-FFF2-40B4-BE49-F238E27FC236}">
                  <a16:creationId xmlns:a16="http://schemas.microsoft.com/office/drawing/2014/main" id="{4D2C9B22-20D4-85F0-4EFB-F780BE1D2819}"/>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38" name="Group 37">
            <a:extLst>
              <a:ext uri="{FF2B5EF4-FFF2-40B4-BE49-F238E27FC236}">
                <a16:creationId xmlns:a16="http://schemas.microsoft.com/office/drawing/2014/main" id="{18DD7930-529F-6796-3E21-BBC009888901}"/>
              </a:ext>
            </a:extLst>
          </p:cNvPr>
          <p:cNvGrpSpPr/>
          <p:nvPr/>
        </p:nvGrpSpPr>
        <p:grpSpPr>
          <a:xfrm>
            <a:off x="2220381" y="2829836"/>
            <a:ext cx="540517" cy="299743"/>
            <a:chOff x="2220381" y="1898308"/>
            <a:chExt cx="540517" cy="299743"/>
          </a:xfrm>
        </p:grpSpPr>
        <p:sp>
          <p:nvSpPr>
            <p:cNvPr id="39" name="Minus 15">
              <a:extLst>
                <a:ext uri="{FF2B5EF4-FFF2-40B4-BE49-F238E27FC236}">
                  <a16:creationId xmlns:a16="http://schemas.microsoft.com/office/drawing/2014/main" id="{D3255198-B46A-C4AB-F560-55C403104B09}"/>
                </a:ext>
              </a:extLst>
            </p:cNvPr>
            <p:cNvSpPr/>
            <p:nvPr/>
          </p:nvSpPr>
          <p:spPr>
            <a:xfrm rot="16200000">
              <a:off x="2173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0" name="Minus 15">
              <a:extLst>
                <a:ext uri="{FF2B5EF4-FFF2-40B4-BE49-F238E27FC236}">
                  <a16:creationId xmlns:a16="http://schemas.microsoft.com/office/drawing/2014/main" id="{E13AFAEC-B508-8717-D5F0-B44318E19284}"/>
                </a:ext>
              </a:extLst>
            </p:cNvPr>
            <p:cNvSpPr/>
            <p:nvPr/>
          </p:nvSpPr>
          <p:spPr>
            <a:xfrm rot="16200000">
              <a:off x="2282589"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1" name="Minus 15">
              <a:extLst>
                <a:ext uri="{FF2B5EF4-FFF2-40B4-BE49-F238E27FC236}">
                  <a16:creationId xmlns:a16="http://schemas.microsoft.com/office/drawing/2014/main" id="{3309E7E2-17DF-FA04-ACF9-1EE19C780848}"/>
                </a:ext>
              </a:extLst>
            </p:cNvPr>
            <p:cNvSpPr/>
            <p:nvPr/>
          </p:nvSpPr>
          <p:spPr>
            <a:xfrm rot="16200000">
              <a:off x="2401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2" name="Minus 15">
              <a:extLst>
                <a:ext uri="{FF2B5EF4-FFF2-40B4-BE49-F238E27FC236}">
                  <a16:creationId xmlns:a16="http://schemas.microsoft.com/office/drawing/2014/main" id="{318163F1-7904-66D7-CF57-499A67E2C0E0}"/>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45" name="Group 44">
            <a:extLst>
              <a:ext uri="{FF2B5EF4-FFF2-40B4-BE49-F238E27FC236}">
                <a16:creationId xmlns:a16="http://schemas.microsoft.com/office/drawing/2014/main" id="{133D544E-7BAE-6CCB-1230-644582A86CCD}"/>
              </a:ext>
            </a:extLst>
          </p:cNvPr>
          <p:cNvGrpSpPr/>
          <p:nvPr/>
        </p:nvGrpSpPr>
        <p:grpSpPr>
          <a:xfrm>
            <a:off x="2220381" y="3234368"/>
            <a:ext cx="540517" cy="299743"/>
            <a:chOff x="2220381" y="1898308"/>
            <a:chExt cx="540517" cy="299743"/>
          </a:xfrm>
          <a:solidFill>
            <a:schemeClr val="tx1"/>
          </a:solidFill>
        </p:grpSpPr>
        <p:sp>
          <p:nvSpPr>
            <p:cNvPr id="46" name="Minus 15">
              <a:extLst>
                <a:ext uri="{FF2B5EF4-FFF2-40B4-BE49-F238E27FC236}">
                  <a16:creationId xmlns:a16="http://schemas.microsoft.com/office/drawing/2014/main" id="{BCE6349B-AB47-8112-9F53-4BF2CB154FDD}"/>
                </a:ext>
              </a:extLst>
            </p:cNvPr>
            <p:cNvSpPr/>
            <p:nvPr/>
          </p:nvSpPr>
          <p:spPr>
            <a:xfrm rot="16200000">
              <a:off x="2173223"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7" name="Minus 15">
              <a:extLst>
                <a:ext uri="{FF2B5EF4-FFF2-40B4-BE49-F238E27FC236}">
                  <a16:creationId xmlns:a16="http://schemas.microsoft.com/office/drawing/2014/main" id="{CB9BC860-7151-8BB4-BAF1-7A790A005AEC}"/>
                </a:ext>
              </a:extLst>
            </p:cNvPr>
            <p:cNvSpPr/>
            <p:nvPr/>
          </p:nvSpPr>
          <p:spPr>
            <a:xfrm rot="16200000">
              <a:off x="2282589"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8" name="Minus 15">
              <a:extLst>
                <a:ext uri="{FF2B5EF4-FFF2-40B4-BE49-F238E27FC236}">
                  <a16:creationId xmlns:a16="http://schemas.microsoft.com/office/drawing/2014/main" id="{7AF8DB1D-434B-7E26-C407-71840E77F83F}"/>
                </a:ext>
              </a:extLst>
            </p:cNvPr>
            <p:cNvSpPr/>
            <p:nvPr/>
          </p:nvSpPr>
          <p:spPr>
            <a:xfrm rot="16200000">
              <a:off x="2401223"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9" name="Minus 15">
              <a:extLst>
                <a:ext uri="{FF2B5EF4-FFF2-40B4-BE49-F238E27FC236}">
                  <a16:creationId xmlns:a16="http://schemas.microsoft.com/office/drawing/2014/main" id="{D6997EE8-C4A4-0082-9DC4-CD987C389196}"/>
                </a:ext>
              </a:extLst>
            </p:cNvPr>
            <p:cNvSpPr/>
            <p:nvPr/>
          </p:nvSpPr>
          <p:spPr>
            <a:xfrm rot="16200000">
              <a:off x="2508313"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52" name="Group 51">
            <a:extLst>
              <a:ext uri="{FF2B5EF4-FFF2-40B4-BE49-F238E27FC236}">
                <a16:creationId xmlns:a16="http://schemas.microsoft.com/office/drawing/2014/main" id="{DCB29040-3215-9052-210F-4A0CB3B07FCB}"/>
              </a:ext>
            </a:extLst>
          </p:cNvPr>
          <p:cNvGrpSpPr/>
          <p:nvPr/>
        </p:nvGrpSpPr>
        <p:grpSpPr>
          <a:xfrm>
            <a:off x="2220381" y="3721967"/>
            <a:ext cx="540517" cy="299743"/>
            <a:chOff x="2220381" y="1898308"/>
            <a:chExt cx="540517" cy="299743"/>
          </a:xfrm>
        </p:grpSpPr>
        <p:sp>
          <p:nvSpPr>
            <p:cNvPr id="53" name="Minus 15">
              <a:extLst>
                <a:ext uri="{FF2B5EF4-FFF2-40B4-BE49-F238E27FC236}">
                  <a16:creationId xmlns:a16="http://schemas.microsoft.com/office/drawing/2014/main" id="{B52E44EA-436C-55DD-1722-F6B676470A5C}"/>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4" name="Minus 15">
              <a:extLst>
                <a:ext uri="{FF2B5EF4-FFF2-40B4-BE49-F238E27FC236}">
                  <a16:creationId xmlns:a16="http://schemas.microsoft.com/office/drawing/2014/main" id="{C3FE404B-072B-BABF-499C-70AC2BC9FDE1}"/>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5" name="Minus 15">
              <a:extLst>
                <a:ext uri="{FF2B5EF4-FFF2-40B4-BE49-F238E27FC236}">
                  <a16:creationId xmlns:a16="http://schemas.microsoft.com/office/drawing/2014/main" id="{F9582FA8-C447-DBAE-009A-F4F47E6B30D0}"/>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6" name="Minus 15">
              <a:extLst>
                <a:ext uri="{FF2B5EF4-FFF2-40B4-BE49-F238E27FC236}">
                  <a16:creationId xmlns:a16="http://schemas.microsoft.com/office/drawing/2014/main" id="{D928193F-667B-F023-C368-E6D07DF5C4AC}"/>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59" name="Group 58">
            <a:extLst>
              <a:ext uri="{FF2B5EF4-FFF2-40B4-BE49-F238E27FC236}">
                <a16:creationId xmlns:a16="http://schemas.microsoft.com/office/drawing/2014/main" id="{C998F774-F91E-95DC-3E4B-A0B0904C160F}"/>
              </a:ext>
            </a:extLst>
          </p:cNvPr>
          <p:cNvGrpSpPr/>
          <p:nvPr/>
        </p:nvGrpSpPr>
        <p:grpSpPr>
          <a:xfrm>
            <a:off x="2220381" y="4182907"/>
            <a:ext cx="540517" cy="299743"/>
            <a:chOff x="2220381" y="1898308"/>
            <a:chExt cx="540517" cy="299743"/>
          </a:xfrm>
        </p:grpSpPr>
        <p:sp>
          <p:nvSpPr>
            <p:cNvPr id="60" name="Minus 15">
              <a:extLst>
                <a:ext uri="{FF2B5EF4-FFF2-40B4-BE49-F238E27FC236}">
                  <a16:creationId xmlns:a16="http://schemas.microsoft.com/office/drawing/2014/main" id="{7C1483A2-145C-89FD-3153-B0A8FDEDA6B5}"/>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1" name="Minus 15">
              <a:extLst>
                <a:ext uri="{FF2B5EF4-FFF2-40B4-BE49-F238E27FC236}">
                  <a16:creationId xmlns:a16="http://schemas.microsoft.com/office/drawing/2014/main" id="{EEAD72DA-106C-F853-1B89-3451AFFB7432}"/>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2" name="Minus 15">
              <a:extLst>
                <a:ext uri="{FF2B5EF4-FFF2-40B4-BE49-F238E27FC236}">
                  <a16:creationId xmlns:a16="http://schemas.microsoft.com/office/drawing/2014/main" id="{351008AF-546D-7E16-4A56-5DF44F1B61FF}"/>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3" name="Minus 15">
              <a:extLst>
                <a:ext uri="{FF2B5EF4-FFF2-40B4-BE49-F238E27FC236}">
                  <a16:creationId xmlns:a16="http://schemas.microsoft.com/office/drawing/2014/main" id="{FF5128E9-2AF4-E01F-405C-0F973EC7388A}"/>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66" name="Group 65">
            <a:extLst>
              <a:ext uri="{FF2B5EF4-FFF2-40B4-BE49-F238E27FC236}">
                <a16:creationId xmlns:a16="http://schemas.microsoft.com/office/drawing/2014/main" id="{DCB7094D-AE91-2CD9-9C87-29CC19B6D47B}"/>
              </a:ext>
            </a:extLst>
          </p:cNvPr>
          <p:cNvGrpSpPr/>
          <p:nvPr/>
        </p:nvGrpSpPr>
        <p:grpSpPr>
          <a:xfrm>
            <a:off x="2220381" y="4643847"/>
            <a:ext cx="540517" cy="299743"/>
            <a:chOff x="2220381" y="1898308"/>
            <a:chExt cx="540517" cy="299743"/>
          </a:xfrm>
        </p:grpSpPr>
        <p:sp>
          <p:nvSpPr>
            <p:cNvPr id="67" name="Minus 15">
              <a:extLst>
                <a:ext uri="{FF2B5EF4-FFF2-40B4-BE49-F238E27FC236}">
                  <a16:creationId xmlns:a16="http://schemas.microsoft.com/office/drawing/2014/main" id="{80237D25-CF22-A875-F0C6-08ACF69828D8}"/>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8" name="Minus 15">
              <a:extLst>
                <a:ext uri="{FF2B5EF4-FFF2-40B4-BE49-F238E27FC236}">
                  <a16:creationId xmlns:a16="http://schemas.microsoft.com/office/drawing/2014/main" id="{F2299EBA-3704-FD90-9D25-B7F68CC51D21}"/>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9" name="Minus 15">
              <a:extLst>
                <a:ext uri="{FF2B5EF4-FFF2-40B4-BE49-F238E27FC236}">
                  <a16:creationId xmlns:a16="http://schemas.microsoft.com/office/drawing/2014/main" id="{0252A724-E913-DDA8-9FEE-D392925BFDA9}"/>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0" name="Minus 15">
              <a:extLst>
                <a:ext uri="{FF2B5EF4-FFF2-40B4-BE49-F238E27FC236}">
                  <a16:creationId xmlns:a16="http://schemas.microsoft.com/office/drawing/2014/main" id="{C9D24AA7-7B85-28F0-420D-8A0E15C8929C}"/>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73" name="Group 72">
            <a:extLst>
              <a:ext uri="{FF2B5EF4-FFF2-40B4-BE49-F238E27FC236}">
                <a16:creationId xmlns:a16="http://schemas.microsoft.com/office/drawing/2014/main" id="{48315A5E-F2AF-15EC-2FE9-71613C151CBF}"/>
              </a:ext>
            </a:extLst>
          </p:cNvPr>
          <p:cNvGrpSpPr/>
          <p:nvPr/>
        </p:nvGrpSpPr>
        <p:grpSpPr>
          <a:xfrm>
            <a:off x="2220381" y="5104935"/>
            <a:ext cx="540517" cy="299743"/>
            <a:chOff x="2220381" y="1898308"/>
            <a:chExt cx="540517" cy="299743"/>
          </a:xfrm>
        </p:grpSpPr>
        <p:sp>
          <p:nvSpPr>
            <p:cNvPr id="74" name="Minus 15">
              <a:extLst>
                <a:ext uri="{FF2B5EF4-FFF2-40B4-BE49-F238E27FC236}">
                  <a16:creationId xmlns:a16="http://schemas.microsoft.com/office/drawing/2014/main" id="{1080FD4C-CA1C-D105-F11C-B7DCCCF72143}"/>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5" name="Minus 15">
              <a:extLst>
                <a:ext uri="{FF2B5EF4-FFF2-40B4-BE49-F238E27FC236}">
                  <a16:creationId xmlns:a16="http://schemas.microsoft.com/office/drawing/2014/main" id="{6F067EB4-5808-2B86-113D-E99565F5B4D4}"/>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6" name="Minus 15">
              <a:extLst>
                <a:ext uri="{FF2B5EF4-FFF2-40B4-BE49-F238E27FC236}">
                  <a16:creationId xmlns:a16="http://schemas.microsoft.com/office/drawing/2014/main" id="{CAA4431A-1FE6-4B50-F4EB-481A316DD00A}"/>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7" name="Minus 15">
              <a:extLst>
                <a:ext uri="{FF2B5EF4-FFF2-40B4-BE49-F238E27FC236}">
                  <a16:creationId xmlns:a16="http://schemas.microsoft.com/office/drawing/2014/main" id="{7F9B764C-4AA9-48F3-3232-34436B7FDEE0}"/>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80" name="Group 79">
            <a:extLst>
              <a:ext uri="{FF2B5EF4-FFF2-40B4-BE49-F238E27FC236}">
                <a16:creationId xmlns:a16="http://schemas.microsoft.com/office/drawing/2014/main" id="{0A8A82E9-0E8D-6840-4DB4-4F2855D5B4AB}"/>
              </a:ext>
            </a:extLst>
          </p:cNvPr>
          <p:cNvGrpSpPr/>
          <p:nvPr/>
        </p:nvGrpSpPr>
        <p:grpSpPr>
          <a:xfrm>
            <a:off x="2220381" y="5612059"/>
            <a:ext cx="540517" cy="299743"/>
            <a:chOff x="2220381" y="1898308"/>
            <a:chExt cx="540517" cy="299743"/>
          </a:xfrm>
        </p:grpSpPr>
        <p:sp>
          <p:nvSpPr>
            <p:cNvPr id="81" name="Minus 15">
              <a:extLst>
                <a:ext uri="{FF2B5EF4-FFF2-40B4-BE49-F238E27FC236}">
                  <a16:creationId xmlns:a16="http://schemas.microsoft.com/office/drawing/2014/main" id="{8538291A-D347-509F-1F43-686A7FC7908C}"/>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2" name="Minus 15">
              <a:extLst>
                <a:ext uri="{FF2B5EF4-FFF2-40B4-BE49-F238E27FC236}">
                  <a16:creationId xmlns:a16="http://schemas.microsoft.com/office/drawing/2014/main" id="{0153B9F2-5B10-E0F8-2908-02787D4B991C}"/>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3" name="Minus 15">
              <a:extLst>
                <a:ext uri="{FF2B5EF4-FFF2-40B4-BE49-F238E27FC236}">
                  <a16:creationId xmlns:a16="http://schemas.microsoft.com/office/drawing/2014/main" id="{BCE06522-B0C2-D38E-E15A-76B4B33D32C9}"/>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4" name="Minus 15">
              <a:extLst>
                <a:ext uri="{FF2B5EF4-FFF2-40B4-BE49-F238E27FC236}">
                  <a16:creationId xmlns:a16="http://schemas.microsoft.com/office/drawing/2014/main" id="{C9C860A4-DDD6-A895-A5A2-3EA8B1F3A998}"/>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87" name="Group 86">
            <a:extLst>
              <a:ext uri="{FF2B5EF4-FFF2-40B4-BE49-F238E27FC236}">
                <a16:creationId xmlns:a16="http://schemas.microsoft.com/office/drawing/2014/main" id="{150D4404-E4BD-B0DB-EBC7-337A64509307}"/>
              </a:ext>
            </a:extLst>
          </p:cNvPr>
          <p:cNvGrpSpPr/>
          <p:nvPr/>
        </p:nvGrpSpPr>
        <p:grpSpPr>
          <a:xfrm>
            <a:off x="2220381" y="6081276"/>
            <a:ext cx="540517" cy="299743"/>
            <a:chOff x="2220381" y="1898308"/>
            <a:chExt cx="540517" cy="299743"/>
          </a:xfrm>
        </p:grpSpPr>
        <p:sp>
          <p:nvSpPr>
            <p:cNvPr id="88" name="Minus 15">
              <a:extLst>
                <a:ext uri="{FF2B5EF4-FFF2-40B4-BE49-F238E27FC236}">
                  <a16:creationId xmlns:a16="http://schemas.microsoft.com/office/drawing/2014/main" id="{BD5FA7BB-2C18-6B03-3AD4-303ADCF6AD83}"/>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9" name="Minus 15">
              <a:extLst>
                <a:ext uri="{FF2B5EF4-FFF2-40B4-BE49-F238E27FC236}">
                  <a16:creationId xmlns:a16="http://schemas.microsoft.com/office/drawing/2014/main" id="{1C9C2B56-A0C8-87AE-E25E-A368B9FC8DE5}"/>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90" name="Minus 15">
              <a:extLst>
                <a:ext uri="{FF2B5EF4-FFF2-40B4-BE49-F238E27FC236}">
                  <a16:creationId xmlns:a16="http://schemas.microsoft.com/office/drawing/2014/main" id="{86C30993-E552-F935-BE0C-BCCB171DFA38}"/>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91" name="Minus 15">
              <a:extLst>
                <a:ext uri="{FF2B5EF4-FFF2-40B4-BE49-F238E27FC236}">
                  <a16:creationId xmlns:a16="http://schemas.microsoft.com/office/drawing/2014/main" id="{650EB050-19B9-9F27-2788-AEC316018166}"/>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sp>
        <p:nvSpPr>
          <p:cNvPr id="92" name="Text Placeholder 6">
            <a:extLst>
              <a:ext uri="{FF2B5EF4-FFF2-40B4-BE49-F238E27FC236}">
                <a16:creationId xmlns:a16="http://schemas.microsoft.com/office/drawing/2014/main" id="{A6F04B41-C7F6-892C-0B3B-62FADA95291B}"/>
              </a:ext>
            </a:extLst>
          </p:cNvPr>
          <p:cNvSpPr txBox="1">
            <a:spLocks/>
          </p:cNvSpPr>
          <p:nvPr/>
        </p:nvSpPr>
        <p:spPr>
          <a:xfrm>
            <a:off x="394311" y="189653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of suppliers</a:t>
            </a:r>
          </a:p>
        </p:txBody>
      </p:sp>
      <p:sp>
        <p:nvSpPr>
          <p:cNvPr id="93" name="Text Placeholder 6">
            <a:extLst>
              <a:ext uri="{FF2B5EF4-FFF2-40B4-BE49-F238E27FC236}">
                <a16:creationId xmlns:a16="http://schemas.microsoft.com/office/drawing/2014/main" id="{F9DED2BD-31CB-E4E2-403F-8214CD18F25F}"/>
              </a:ext>
            </a:extLst>
          </p:cNvPr>
          <p:cNvSpPr txBox="1">
            <a:spLocks/>
          </p:cNvSpPr>
          <p:nvPr/>
        </p:nvSpPr>
        <p:spPr>
          <a:xfrm>
            <a:off x="394311" y="2361896"/>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4" name="Text Placeholder 6">
            <a:extLst>
              <a:ext uri="{FF2B5EF4-FFF2-40B4-BE49-F238E27FC236}">
                <a16:creationId xmlns:a16="http://schemas.microsoft.com/office/drawing/2014/main" id="{B72CC163-8364-7DBB-7A3B-B0B8CF68F4D9}"/>
              </a:ext>
            </a:extLst>
          </p:cNvPr>
          <p:cNvSpPr txBox="1">
            <a:spLocks/>
          </p:cNvSpPr>
          <p:nvPr/>
        </p:nvSpPr>
        <p:spPr>
          <a:xfrm>
            <a:off x="394311" y="2805864"/>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5" name="Text Placeholder 6">
            <a:extLst>
              <a:ext uri="{FF2B5EF4-FFF2-40B4-BE49-F238E27FC236}">
                <a16:creationId xmlns:a16="http://schemas.microsoft.com/office/drawing/2014/main" id="{B689A851-3340-B161-54C0-072E6336731F}"/>
              </a:ext>
            </a:extLst>
          </p:cNvPr>
          <p:cNvSpPr txBox="1">
            <a:spLocks/>
          </p:cNvSpPr>
          <p:nvPr/>
        </p:nvSpPr>
        <p:spPr>
          <a:xfrm>
            <a:off x="394311" y="3251629"/>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6" name="Text Placeholder 6">
            <a:extLst>
              <a:ext uri="{FF2B5EF4-FFF2-40B4-BE49-F238E27FC236}">
                <a16:creationId xmlns:a16="http://schemas.microsoft.com/office/drawing/2014/main" id="{59E548F3-A8F2-16E9-0867-DF648264D1B2}"/>
              </a:ext>
            </a:extLst>
          </p:cNvPr>
          <p:cNvSpPr txBox="1">
            <a:spLocks/>
          </p:cNvSpPr>
          <p:nvPr/>
        </p:nvSpPr>
        <p:spPr>
          <a:xfrm>
            <a:off x="394311" y="3709981"/>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7" name="Text Placeholder 6">
            <a:extLst>
              <a:ext uri="{FF2B5EF4-FFF2-40B4-BE49-F238E27FC236}">
                <a16:creationId xmlns:a16="http://schemas.microsoft.com/office/drawing/2014/main" id="{E560D0B9-60D8-B6C4-3486-90814808924F}"/>
              </a:ext>
            </a:extLst>
          </p:cNvPr>
          <p:cNvSpPr txBox="1">
            <a:spLocks/>
          </p:cNvSpPr>
          <p:nvPr/>
        </p:nvSpPr>
        <p:spPr>
          <a:xfrm>
            <a:off x="394311" y="4182907"/>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8" name="Text Placeholder 6">
            <a:extLst>
              <a:ext uri="{FF2B5EF4-FFF2-40B4-BE49-F238E27FC236}">
                <a16:creationId xmlns:a16="http://schemas.microsoft.com/office/drawing/2014/main" id="{33956C57-3B73-3904-1EB0-EC9B3B5F8894}"/>
              </a:ext>
            </a:extLst>
          </p:cNvPr>
          <p:cNvSpPr txBox="1">
            <a:spLocks/>
          </p:cNvSpPr>
          <p:nvPr/>
        </p:nvSpPr>
        <p:spPr>
          <a:xfrm>
            <a:off x="394311" y="465583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9" name="Text Placeholder 6">
            <a:extLst>
              <a:ext uri="{FF2B5EF4-FFF2-40B4-BE49-F238E27FC236}">
                <a16:creationId xmlns:a16="http://schemas.microsoft.com/office/drawing/2014/main" id="{102FD908-B7DB-0DB1-5FD8-A4D72B33BADA}"/>
              </a:ext>
            </a:extLst>
          </p:cNvPr>
          <p:cNvSpPr txBox="1">
            <a:spLocks/>
          </p:cNvSpPr>
          <p:nvPr/>
        </p:nvSpPr>
        <p:spPr>
          <a:xfrm>
            <a:off x="394311" y="5084961"/>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00" name="Text Placeholder 6">
            <a:extLst>
              <a:ext uri="{FF2B5EF4-FFF2-40B4-BE49-F238E27FC236}">
                <a16:creationId xmlns:a16="http://schemas.microsoft.com/office/drawing/2014/main" id="{DC2AD284-7CEF-DFB2-1129-950C4162E36F}"/>
              </a:ext>
            </a:extLst>
          </p:cNvPr>
          <p:cNvSpPr txBox="1">
            <a:spLocks/>
          </p:cNvSpPr>
          <p:nvPr/>
        </p:nvSpPr>
        <p:spPr>
          <a:xfrm>
            <a:off x="394311" y="561996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01" name="Text Placeholder 6">
            <a:extLst>
              <a:ext uri="{FF2B5EF4-FFF2-40B4-BE49-F238E27FC236}">
                <a16:creationId xmlns:a16="http://schemas.microsoft.com/office/drawing/2014/main" id="{9080C594-7CE8-9803-27EF-87945BB21E90}"/>
              </a:ext>
            </a:extLst>
          </p:cNvPr>
          <p:cNvSpPr txBox="1">
            <a:spLocks/>
          </p:cNvSpPr>
          <p:nvPr/>
        </p:nvSpPr>
        <p:spPr>
          <a:xfrm>
            <a:off x="394311" y="6081275"/>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2" name="Marcador de texto 2">
            <a:extLst>
              <a:ext uri="{FF2B5EF4-FFF2-40B4-BE49-F238E27FC236}">
                <a16:creationId xmlns:a16="http://schemas.microsoft.com/office/drawing/2014/main" id="{C84C4CFC-9C45-D867-0C7D-EEB6CB1F2835}"/>
              </a:ext>
            </a:extLst>
          </p:cNvPr>
          <p:cNvSpPr>
            <a:spLocks noGrp="1"/>
          </p:cNvSpPr>
          <p:nvPr>
            <p:ph type="body" sz="quarter" idx="14"/>
          </p:nvPr>
        </p:nvSpPr>
        <p:spPr>
          <a:xfrm>
            <a:off x="385762" y="802298"/>
            <a:ext cx="11418888" cy="576263"/>
          </a:xfrm>
        </p:spPr>
        <p:txBody>
          <a:bodyPr/>
          <a:lstStyle/>
          <a:p>
            <a:r>
              <a:rPr lang="en-US" dirty="0"/>
              <a:t>Backup to Porter’s Five Forces Analysis</a:t>
            </a:r>
          </a:p>
        </p:txBody>
      </p:sp>
      <p:sp>
        <p:nvSpPr>
          <p:cNvPr id="10" name="Marcador de pie de página 9">
            <a:extLst>
              <a:ext uri="{FF2B5EF4-FFF2-40B4-BE49-F238E27FC236}">
                <a16:creationId xmlns:a16="http://schemas.microsoft.com/office/drawing/2014/main" id="{E7DE28F8-5864-69EF-2478-949824DD881C}"/>
              </a:ext>
            </a:extLst>
          </p:cNvPr>
          <p:cNvSpPr>
            <a:spLocks noGrp="1"/>
          </p:cNvSpPr>
          <p:nvPr>
            <p:ph type="ftr" sz="quarter" idx="3"/>
          </p:nvPr>
        </p:nvSpPr>
        <p:spPr/>
        <p:txBody>
          <a:bodyPr/>
          <a:lstStyle/>
          <a:p>
            <a:r>
              <a:rPr lang="en-US"/>
              <a:t>Source:_______</a:t>
            </a:r>
            <a:endParaRPr lang="en-US" dirty="0"/>
          </a:p>
        </p:txBody>
      </p:sp>
      <p:sp>
        <p:nvSpPr>
          <p:cNvPr id="11" name="Rectangle 89">
            <a:extLst>
              <a:ext uri="{FF2B5EF4-FFF2-40B4-BE49-F238E27FC236}">
                <a16:creationId xmlns:a16="http://schemas.microsoft.com/office/drawing/2014/main" id="{CA0F857F-629E-BD2C-39BC-2680C11078B6}"/>
              </a:ext>
            </a:extLst>
          </p:cNvPr>
          <p:cNvSpPr/>
          <p:nvPr/>
        </p:nvSpPr>
        <p:spPr>
          <a:xfrm>
            <a:off x="2819587" y="1928537"/>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2" name="Rectangle 89">
            <a:extLst>
              <a:ext uri="{FF2B5EF4-FFF2-40B4-BE49-F238E27FC236}">
                <a16:creationId xmlns:a16="http://schemas.microsoft.com/office/drawing/2014/main" id="{3C1196A9-3969-C7CE-A32D-0460A2064CA2}"/>
              </a:ext>
            </a:extLst>
          </p:cNvPr>
          <p:cNvSpPr/>
          <p:nvPr/>
        </p:nvSpPr>
        <p:spPr>
          <a:xfrm>
            <a:off x="2819587" y="2394301"/>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4" name="Rectangle 89">
            <a:extLst>
              <a:ext uri="{FF2B5EF4-FFF2-40B4-BE49-F238E27FC236}">
                <a16:creationId xmlns:a16="http://schemas.microsoft.com/office/drawing/2014/main" id="{B73E6766-116D-8ABC-9179-B2AA82A55707}"/>
              </a:ext>
            </a:extLst>
          </p:cNvPr>
          <p:cNvSpPr/>
          <p:nvPr/>
        </p:nvSpPr>
        <p:spPr>
          <a:xfrm>
            <a:off x="2819587" y="2860065"/>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5" name="Rectangle 89">
            <a:extLst>
              <a:ext uri="{FF2B5EF4-FFF2-40B4-BE49-F238E27FC236}">
                <a16:creationId xmlns:a16="http://schemas.microsoft.com/office/drawing/2014/main" id="{F85DAFE3-F5C0-7EBE-E9E7-596126F666B7}"/>
              </a:ext>
            </a:extLst>
          </p:cNvPr>
          <p:cNvSpPr/>
          <p:nvPr/>
        </p:nvSpPr>
        <p:spPr>
          <a:xfrm>
            <a:off x="2819587" y="3264597"/>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6" name="Rectangle 89">
            <a:extLst>
              <a:ext uri="{FF2B5EF4-FFF2-40B4-BE49-F238E27FC236}">
                <a16:creationId xmlns:a16="http://schemas.microsoft.com/office/drawing/2014/main" id="{53C23CCD-A269-A67E-79FA-265C0CDDED24}"/>
              </a:ext>
            </a:extLst>
          </p:cNvPr>
          <p:cNvSpPr/>
          <p:nvPr/>
        </p:nvSpPr>
        <p:spPr>
          <a:xfrm>
            <a:off x="2819587" y="3752196"/>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7" name="Rectangle 89">
            <a:extLst>
              <a:ext uri="{FF2B5EF4-FFF2-40B4-BE49-F238E27FC236}">
                <a16:creationId xmlns:a16="http://schemas.microsoft.com/office/drawing/2014/main" id="{DFE62B10-86E0-E901-1883-901DB2A9718E}"/>
              </a:ext>
            </a:extLst>
          </p:cNvPr>
          <p:cNvSpPr/>
          <p:nvPr/>
        </p:nvSpPr>
        <p:spPr>
          <a:xfrm>
            <a:off x="2819587" y="4213136"/>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8" name="Rectangle 89">
            <a:extLst>
              <a:ext uri="{FF2B5EF4-FFF2-40B4-BE49-F238E27FC236}">
                <a16:creationId xmlns:a16="http://schemas.microsoft.com/office/drawing/2014/main" id="{4BDA3241-45B0-1E82-C98C-F2E423B7F861}"/>
              </a:ext>
            </a:extLst>
          </p:cNvPr>
          <p:cNvSpPr/>
          <p:nvPr/>
        </p:nvSpPr>
        <p:spPr>
          <a:xfrm>
            <a:off x="2819587" y="4674076"/>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9" name="Rectangle 89">
            <a:extLst>
              <a:ext uri="{FF2B5EF4-FFF2-40B4-BE49-F238E27FC236}">
                <a16:creationId xmlns:a16="http://schemas.microsoft.com/office/drawing/2014/main" id="{381BC3A4-F278-4A8A-7AA3-131E93E6AA90}"/>
              </a:ext>
            </a:extLst>
          </p:cNvPr>
          <p:cNvSpPr/>
          <p:nvPr/>
        </p:nvSpPr>
        <p:spPr>
          <a:xfrm>
            <a:off x="2819587" y="5135164"/>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0" name="Rectangle 89">
            <a:extLst>
              <a:ext uri="{FF2B5EF4-FFF2-40B4-BE49-F238E27FC236}">
                <a16:creationId xmlns:a16="http://schemas.microsoft.com/office/drawing/2014/main" id="{4C399B67-0C61-2919-5CFA-F41EE21D7CC7}"/>
              </a:ext>
            </a:extLst>
          </p:cNvPr>
          <p:cNvSpPr/>
          <p:nvPr/>
        </p:nvSpPr>
        <p:spPr>
          <a:xfrm>
            <a:off x="2819587" y="5642288"/>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1" name="Rectangle 89">
            <a:extLst>
              <a:ext uri="{FF2B5EF4-FFF2-40B4-BE49-F238E27FC236}">
                <a16:creationId xmlns:a16="http://schemas.microsoft.com/office/drawing/2014/main" id="{02E2A002-32FB-2985-900A-1E005EA292AC}"/>
              </a:ext>
            </a:extLst>
          </p:cNvPr>
          <p:cNvSpPr/>
          <p:nvPr/>
        </p:nvSpPr>
        <p:spPr>
          <a:xfrm>
            <a:off x="2819587" y="6111505"/>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11246627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3" imgW="7772400" imgH="10058400" progId="TCLayout.ActiveDocument.1">
                  <p:embed/>
                </p:oleObj>
              </mc:Choice>
              <mc:Fallback>
                <p:oleObj name="Diapositiva de think-cell"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Marcador de texto 2">
            <a:extLst>
              <a:ext uri="{FF2B5EF4-FFF2-40B4-BE49-F238E27FC236}">
                <a16:creationId xmlns:a16="http://schemas.microsoft.com/office/drawing/2014/main" id="{41AB0A6A-49CF-2011-10E9-7FB531D78C0B}"/>
              </a:ext>
            </a:extLst>
          </p:cNvPr>
          <p:cNvSpPr>
            <a:spLocks noGrp="1"/>
          </p:cNvSpPr>
          <p:nvPr>
            <p:ph type="body" sz="quarter" idx="14"/>
          </p:nvPr>
        </p:nvSpPr>
        <p:spPr/>
        <p:txBody>
          <a:bodyPr/>
          <a:lstStyle/>
          <a:p>
            <a:r>
              <a:rPr lang="en-US" dirty="0"/>
              <a:t>Porter’s Five Forces Analysis</a:t>
            </a:r>
          </a:p>
        </p:txBody>
      </p:sp>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Threat of substitute products – Questions to consider</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p:txBody>
          <a:bodyPr/>
          <a:lstStyle/>
          <a:p>
            <a:pPr marL="228600" indent="-228600">
              <a:buFont typeface="+mj-lt"/>
              <a:buAutoNum type="arabicPeriod"/>
            </a:pPr>
            <a:r>
              <a:rPr lang="en-US" sz="1200" b="0" dirty="0"/>
              <a:t>What are the substitute products or services available to buyers in the industry?</a:t>
            </a:r>
          </a:p>
          <a:p>
            <a:pPr marL="228600" indent="-228600">
              <a:buFont typeface="+mj-lt"/>
              <a:buAutoNum type="arabicPeriod"/>
            </a:pPr>
            <a:r>
              <a:rPr lang="en-US" sz="1200" b="0" dirty="0"/>
              <a:t>How easily can buyers switch to these substitute products or services?</a:t>
            </a:r>
          </a:p>
          <a:p>
            <a:pPr marL="228600" indent="-228600">
              <a:buFont typeface="+mj-lt"/>
              <a:buAutoNum type="arabicPeriod"/>
            </a:pPr>
            <a:r>
              <a:rPr lang="en-US" sz="1200" b="0" dirty="0"/>
              <a:t>What is the price-performance trade-off between the industry's products or services and substitute products or services?</a:t>
            </a:r>
          </a:p>
          <a:p>
            <a:pPr marL="228600" indent="-228600">
              <a:buFont typeface="+mj-lt"/>
              <a:buAutoNum type="arabicPeriod"/>
            </a:pPr>
            <a:r>
              <a:rPr lang="en-US" sz="1200" b="0" dirty="0"/>
              <a:t>Are the substitute products or services of equal or higher quality than those offered by the industry?</a:t>
            </a:r>
          </a:p>
          <a:p>
            <a:pPr marL="228600" indent="-228600">
              <a:buFont typeface="+mj-lt"/>
              <a:buAutoNum type="arabicPeriod"/>
            </a:pPr>
            <a:r>
              <a:rPr lang="en-US" sz="1200" b="0" dirty="0"/>
              <a:t>What is the level of brand loyalty or customer preference for the industry's products or services versus substitute products or services?</a:t>
            </a:r>
          </a:p>
          <a:p>
            <a:pPr marL="228600" indent="-228600">
              <a:buFont typeface="+mj-lt"/>
              <a:buAutoNum type="arabicPeriod"/>
            </a:pPr>
            <a:r>
              <a:rPr lang="en-US" sz="1200" b="0" dirty="0"/>
              <a:t>Are there any unique features or advantages of the industry's products or services that are not available in substitute products or services?</a:t>
            </a:r>
          </a:p>
          <a:p>
            <a:pPr marL="228600" indent="-228600">
              <a:buFont typeface="+mj-lt"/>
              <a:buAutoNum type="arabicPeriod"/>
            </a:pPr>
            <a:r>
              <a:rPr lang="en-US" sz="1200" b="0" dirty="0"/>
              <a:t>Are there any regulatory or legal barriers that prevent or limit the availability of substitute products or services?</a:t>
            </a:r>
          </a:p>
          <a:p>
            <a:pPr marL="228600" indent="-228600">
              <a:buFont typeface="+mj-lt"/>
              <a:buAutoNum type="arabicPeriod"/>
            </a:pPr>
            <a:r>
              <a:rPr lang="en-US" sz="1200" b="0" dirty="0"/>
              <a:t>Are there any technological advancements or innovations that could create new substitute products or services?</a:t>
            </a:r>
          </a:p>
          <a:p>
            <a:pPr marL="228600" indent="-228600">
              <a:buFont typeface="+mj-lt"/>
              <a:buAutoNum type="arabicPeriod"/>
            </a:pPr>
            <a:r>
              <a:rPr lang="en-US" sz="1200" b="0" dirty="0"/>
              <a:t>What is the level of differentiation between the industry's products or services and substitute products or services?</a:t>
            </a:r>
          </a:p>
          <a:p>
            <a:pPr marL="228600" indent="-228600">
              <a:buFont typeface="+mj-lt"/>
              <a:buAutoNum type="arabicPeriod"/>
            </a:pPr>
            <a:r>
              <a:rPr lang="en-US" sz="1200" b="0" dirty="0"/>
              <a:t>What is the price sensitivity of buyers in the industry, and how much of an impact would a change in price have on their decision to switch to substitute products or services?</a:t>
            </a:r>
          </a:p>
          <a:p>
            <a:pPr marL="228600" indent="-228600">
              <a:buFont typeface="+mj-lt"/>
              <a:buAutoNum type="arabicPeriod"/>
            </a:pPr>
            <a:endParaRPr lang="en-US" sz="1200" b="0" dirty="0"/>
          </a:p>
        </p:txBody>
      </p:sp>
      <p:sp>
        <p:nvSpPr>
          <p:cNvPr id="6" name="Marcador de pie de página 5">
            <a:extLst>
              <a:ext uri="{FF2B5EF4-FFF2-40B4-BE49-F238E27FC236}">
                <a16:creationId xmlns:a16="http://schemas.microsoft.com/office/drawing/2014/main" id="{BF413AF5-4898-8546-CD51-B51B4E7B9E89}"/>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42113486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EEA9A65-A84B-8CDC-A00E-C5B2B57E2FF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4" name="Object 3" hidden="1">
                        <a:extLst>
                          <a:ext uri="{FF2B5EF4-FFF2-40B4-BE49-F238E27FC236}">
                            <a16:creationId xmlns:a16="http://schemas.microsoft.com/office/drawing/2014/main" id="{BEEA9A65-A84B-8CDC-A00E-C5B2B57E2FF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36E824DB-66E0-6298-27A8-F059BBF1F348}"/>
              </a:ext>
            </a:extLst>
          </p:cNvPr>
          <p:cNvSpPr>
            <a:spLocks noGrp="1"/>
          </p:cNvSpPr>
          <p:nvPr>
            <p:ph type="title"/>
          </p:nvPr>
        </p:nvSpPr>
        <p:spPr/>
        <p:txBody>
          <a:bodyPr vert="horz"/>
          <a:lstStyle/>
          <a:p>
            <a:r>
              <a:rPr lang="en-US" dirty="0"/>
              <a:t>Threat of substitute products -  [industry]</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Text Placeholder 6">
            <a:extLst>
              <a:ext uri="{FF2B5EF4-FFF2-40B4-BE49-F238E27FC236}">
                <a16:creationId xmlns:a16="http://schemas.microsoft.com/office/drawing/2014/main" id="{1CE093A3-A4E7-ED72-B70B-0CB3F3449146}"/>
              </a:ext>
            </a:extLst>
          </p:cNvPr>
          <p:cNvSpPr txBox="1">
            <a:spLocks/>
          </p:cNvSpPr>
          <p:nvPr/>
        </p:nvSpPr>
        <p:spPr>
          <a:xfrm>
            <a:off x="374014" y="189653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6" name="TextBox 24">
            <a:extLst>
              <a:ext uri="{FF2B5EF4-FFF2-40B4-BE49-F238E27FC236}">
                <a16:creationId xmlns:a16="http://schemas.microsoft.com/office/drawing/2014/main" id="{A1FCD546-7266-F9CA-CC1A-1EEF3811C21D}"/>
              </a:ext>
            </a:extLst>
          </p:cNvPr>
          <p:cNvSpPr txBox="1"/>
          <p:nvPr/>
        </p:nvSpPr>
        <p:spPr>
          <a:xfrm>
            <a:off x="374014" y="1389623"/>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Factor</a:t>
            </a:r>
          </a:p>
        </p:txBody>
      </p:sp>
      <p:cxnSp>
        <p:nvCxnSpPr>
          <p:cNvPr id="7" name="Conector recto 9">
            <a:extLst>
              <a:ext uri="{FF2B5EF4-FFF2-40B4-BE49-F238E27FC236}">
                <a16:creationId xmlns:a16="http://schemas.microsoft.com/office/drawing/2014/main" id="{D53D8713-E08F-9566-166A-5A48F109F304}"/>
              </a:ext>
            </a:extLst>
          </p:cNvPr>
          <p:cNvCxnSpPr>
            <a:cxnSpLocks/>
          </p:cNvCxnSpPr>
          <p:nvPr/>
        </p:nvCxnSpPr>
        <p:spPr>
          <a:xfrm>
            <a:off x="364181" y="1732070"/>
            <a:ext cx="174683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4" name="TextBox 24">
            <a:extLst>
              <a:ext uri="{FF2B5EF4-FFF2-40B4-BE49-F238E27FC236}">
                <a16:creationId xmlns:a16="http://schemas.microsoft.com/office/drawing/2014/main" id="{45E25133-FAF6-166D-4106-1C2D8BA3CA2E}"/>
              </a:ext>
            </a:extLst>
          </p:cNvPr>
          <p:cNvSpPr txBox="1"/>
          <p:nvPr/>
        </p:nvSpPr>
        <p:spPr>
          <a:xfrm>
            <a:off x="2961301" y="1398252"/>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Details</a:t>
            </a:r>
          </a:p>
        </p:txBody>
      </p:sp>
      <p:cxnSp>
        <p:nvCxnSpPr>
          <p:cNvPr id="25" name="Conector recto 9">
            <a:extLst>
              <a:ext uri="{FF2B5EF4-FFF2-40B4-BE49-F238E27FC236}">
                <a16:creationId xmlns:a16="http://schemas.microsoft.com/office/drawing/2014/main" id="{171F11E6-4411-07F9-8D69-48157F8F96FD}"/>
              </a:ext>
            </a:extLst>
          </p:cNvPr>
          <p:cNvCxnSpPr>
            <a:cxnSpLocks/>
          </p:cNvCxnSpPr>
          <p:nvPr/>
        </p:nvCxnSpPr>
        <p:spPr>
          <a:xfrm>
            <a:off x="2248665" y="1740699"/>
            <a:ext cx="955598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CA6EF9FA-4ADC-BA28-660F-C0DD6682C452}"/>
              </a:ext>
            </a:extLst>
          </p:cNvPr>
          <p:cNvGrpSpPr/>
          <p:nvPr/>
        </p:nvGrpSpPr>
        <p:grpSpPr>
          <a:xfrm>
            <a:off x="2220381" y="1898308"/>
            <a:ext cx="540517" cy="299743"/>
            <a:chOff x="2220381" y="1898308"/>
            <a:chExt cx="540517" cy="299743"/>
          </a:xfrm>
        </p:grpSpPr>
        <p:sp>
          <p:nvSpPr>
            <p:cNvPr id="13" name="Minus 15">
              <a:extLst>
                <a:ext uri="{FF2B5EF4-FFF2-40B4-BE49-F238E27FC236}">
                  <a16:creationId xmlns:a16="http://schemas.microsoft.com/office/drawing/2014/main" id="{798897E1-F559-4920-5D5E-1B9FB849632A}"/>
                </a:ext>
              </a:extLst>
            </p:cNvPr>
            <p:cNvSpPr/>
            <p:nvPr/>
          </p:nvSpPr>
          <p:spPr>
            <a:xfrm rot="16200000">
              <a:off x="2173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3" name="Minus 15">
              <a:extLst>
                <a:ext uri="{FF2B5EF4-FFF2-40B4-BE49-F238E27FC236}">
                  <a16:creationId xmlns:a16="http://schemas.microsoft.com/office/drawing/2014/main" id="{D3EFAD32-EF2A-D796-B3AA-1F5806DB7536}"/>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6" name="Minus 15">
              <a:extLst>
                <a:ext uri="{FF2B5EF4-FFF2-40B4-BE49-F238E27FC236}">
                  <a16:creationId xmlns:a16="http://schemas.microsoft.com/office/drawing/2014/main" id="{7DD40494-DE78-68A9-CE3D-E02EB2912436}"/>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7" name="Minus 15">
              <a:extLst>
                <a:ext uri="{FF2B5EF4-FFF2-40B4-BE49-F238E27FC236}">
                  <a16:creationId xmlns:a16="http://schemas.microsoft.com/office/drawing/2014/main" id="{9BB7686E-1C64-A774-213C-001472A8BF4B}"/>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31" name="Group 30">
            <a:extLst>
              <a:ext uri="{FF2B5EF4-FFF2-40B4-BE49-F238E27FC236}">
                <a16:creationId xmlns:a16="http://schemas.microsoft.com/office/drawing/2014/main" id="{25EE8254-0A0E-2E84-4744-0BD661EA3A15}"/>
              </a:ext>
            </a:extLst>
          </p:cNvPr>
          <p:cNvGrpSpPr/>
          <p:nvPr/>
        </p:nvGrpSpPr>
        <p:grpSpPr>
          <a:xfrm>
            <a:off x="2220381" y="2364072"/>
            <a:ext cx="540517" cy="299743"/>
            <a:chOff x="2220381" y="1898308"/>
            <a:chExt cx="540517" cy="299743"/>
          </a:xfrm>
        </p:grpSpPr>
        <p:sp>
          <p:nvSpPr>
            <p:cNvPr id="32" name="Minus 15">
              <a:extLst>
                <a:ext uri="{FF2B5EF4-FFF2-40B4-BE49-F238E27FC236}">
                  <a16:creationId xmlns:a16="http://schemas.microsoft.com/office/drawing/2014/main" id="{FED6A283-F616-0C96-52B7-DB370023DE52}"/>
                </a:ext>
              </a:extLst>
            </p:cNvPr>
            <p:cNvSpPr/>
            <p:nvPr/>
          </p:nvSpPr>
          <p:spPr>
            <a:xfrm rot="16200000">
              <a:off x="2173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33" name="Minus 15">
              <a:extLst>
                <a:ext uri="{FF2B5EF4-FFF2-40B4-BE49-F238E27FC236}">
                  <a16:creationId xmlns:a16="http://schemas.microsoft.com/office/drawing/2014/main" id="{C69013A7-AB71-96D7-DAC3-72CD57B70E8B}"/>
                </a:ext>
              </a:extLst>
            </p:cNvPr>
            <p:cNvSpPr/>
            <p:nvPr/>
          </p:nvSpPr>
          <p:spPr>
            <a:xfrm rot="16200000">
              <a:off x="2282589"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34" name="Minus 15">
              <a:extLst>
                <a:ext uri="{FF2B5EF4-FFF2-40B4-BE49-F238E27FC236}">
                  <a16:creationId xmlns:a16="http://schemas.microsoft.com/office/drawing/2014/main" id="{508B4597-7C3B-B74C-B274-5E08DF32E77D}"/>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35" name="Minus 15">
              <a:extLst>
                <a:ext uri="{FF2B5EF4-FFF2-40B4-BE49-F238E27FC236}">
                  <a16:creationId xmlns:a16="http://schemas.microsoft.com/office/drawing/2014/main" id="{4D2C9B22-20D4-85F0-4EFB-F780BE1D2819}"/>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38" name="Group 37">
            <a:extLst>
              <a:ext uri="{FF2B5EF4-FFF2-40B4-BE49-F238E27FC236}">
                <a16:creationId xmlns:a16="http://schemas.microsoft.com/office/drawing/2014/main" id="{18DD7930-529F-6796-3E21-BBC009888901}"/>
              </a:ext>
            </a:extLst>
          </p:cNvPr>
          <p:cNvGrpSpPr/>
          <p:nvPr/>
        </p:nvGrpSpPr>
        <p:grpSpPr>
          <a:xfrm>
            <a:off x="2220381" y="2829836"/>
            <a:ext cx="540517" cy="299743"/>
            <a:chOff x="2220381" y="1898308"/>
            <a:chExt cx="540517" cy="299743"/>
          </a:xfrm>
        </p:grpSpPr>
        <p:sp>
          <p:nvSpPr>
            <p:cNvPr id="39" name="Minus 15">
              <a:extLst>
                <a:ext uri="{FF2B5EF4-FFF2-40B4-BE49-F238E27FC236}">
                  <a16:creationId xmlns:a16="http://schemas.microsoft.com/office/drawing/2014/main" id="{D3255198-B46A-C4AB-F560-55C403104B09}"/>
                </a:ext>
              </a:extLst>
            </p:cNvPr>
            <p:cNvSpPr/>
            <p:nvPr/>
          </p:nvSpPr>
          <p:spPr>
            <a:xfrm rot="16200000">
              <a:off x="2173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0" name="Minus 15">
              <a:extLst>
                <a:ext uri="{FF2B5EF4-FFF2-40B4-BE49-F238E27FC236}">
                  <a16:creationId xmlns:a16="http://schemas.microsoft.com/office/drawing/2014/main" id="{E13AFAEC-B508-8717-D5F0-B44318E19284}"/>
                </a:ext>
              </a:extLst>
            </p:cNvPr>
            <p:cNvSpPr/>
            <p:nvPr/>
          </p:nvSpPr>
          <p:spPr>
            <a:xfrm rot="16200000">
              <a:off x="2282589"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1" name="Minus 15">
              <a:extLst>
                <a:ext uri="{FF2B5EF4-FFF2-40B4-BE49-F238E27FC236}">
                  <a16:creationId xmlns:a16="http://schemas.microsoft.com/office/drawing/2014/main" id="{3309E7E2-17DF-FA04-ACF9-1EE19C780848}"/>
                </a:ext>
              </a:extLst>
            </p:cNvPr>
            <p:cNvSpPr/>
            <p:nvPr/>
          </p:nvSpPr>
          <p:spPr>
            <a:xfrm rot="16200000">
              <a:off x="2401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2" name="Minus 15">
              <a:extLst>
                <a:ext uri="{FF2B5EF4-FFF2-40B4-BE49-F238E27FC236}">
                  <a16:creationId xmlns:a16="http://schemas.microsoft.com/office/drawing/2014/main" id="{318163F1-7904-66D7-CF57-499A67E2C0E0}"/>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45" name="Group 44">
            <a:extLst>
              <a:ext uri="{FF2B5EF4-FFF2-40B4-BE49-F238E27FC236}">
                <a16:creationId xmlns:a16="http://schemas.microsoft.com/office/drawing/2014/main" id="{133D544E-7BAE-6CCB-1230-644582A86CCD}"/>
              </a:ext>
            </a:extLst>
          </p:cNvPr>
          <p:cNvGrpSpPr/>
          <p:nvPr/>
        </p:nvGrpSpPr>
        <p:grpSpPr>
          <a:xfrm>
            <a:off x="2220381" y="3234368"/>
            <a:ext cx="540517" cy="299743"/>
            <a:chOff x="2220381" y="1898308"/>
            <a:chExt cx="540517" cy="299743"/>
          </a:xfrm>
          <a:solidFill>
            <a:schemeClr val="tx1"/>
          </a:solidFill>
        </p:grpSpPr>
        <p:sp>
          <p:nvSpPr>
            <p:cNvPr id="46" name="Minus 15">
              <a:extLst>
                <a:ext uri="{FF2B5EF4-FFF2-40B4-BE49-F238E27FC236}">
                  <a16:creationId xmlns:a16="http://schemas.microsoft.com/office/drawing/2014/main" id="{BCE6349B-AB47-8112-9F53-4BF2CB154FDD}"/>
                </a:ext>
              </a:extLst>
            </p:cNvPr>
            <p:cNvSpPr/>
            <p:nvPr/>
          </p:nvSpPr>
          <p:spPr>
            <a:xfrm rot="16200000">
              <a:off x="2173223"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7" name="Minus 15">
              <a:extLst>
                <a:ext uri="{FF2B5EF4-FFF2-40B4-BE49-F238E27FC236}">
                  <a16:creationId xmlns:a16="http://schemas.microsoft.com/office/drawing/2014/main" id="{CB9BC860-7151-8BB4-BAF1-7A790A005AEC}"/>
                </a:ext>
              </a:extLst>
            </p:cNvPr>
            <p:cNvSpPr/>
            <p:nvPr/>
          </p:nvSpPr>
          <p:spPr>
            <a:xfrm rot="16200000">
              <a:off x="2282589"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8" name="Minus 15">
              <a:extLst>
                <a:ext uri="{FF2B5EF4-FFF2-40B4-BE49-F238E27FC236}">
                  <a16:creationId xmlns:a16="http://schemas.microsoft.com/office/drawing/2014/main" id="{7AF8DB1D-434B-7E26-C407-71840E77F83F}"/>
                </a:ext>
              </a:extLst>
            </p:cNvPr>
            <p:cNvSpPr/>
            <p:nvPr/>
          </p:nvSpPr>
          <p:spPr>
            <a:xfrm rot="16200000">
              <a:off x="2401223"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9" name="Minus 15">
              <a:extLst>
                <a:ext uri="{FF2B5EF4-FFF2-40B4-BE49-F238E27FC236}">
                  <a16:creationId xmlns:a16="http://schemas.microsoft.com/office/drawing/2014/main" id="{D6997EE8-C4A4-0082-9DC4-CD987C389196}"/>
                </a:ext>
              </a:extLst>
            </p:cNvPr>
            <p:cNvSpPr/>
            <p:nvPr/>
          </p:nvSpPr>
          <p:spPr>
            <a:xfrm rot="16200000">
              <a:off x="2508313"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52" name="Group 51">
            <a:extLst>
              <a:ext uri="{FF2B5EF4-FFF2-40B4-BE49-F238E27FC236}">
                <a16:creationId xmlns:a16="http://schemas.microsoft.com/office/drawing/2014/main" id="{DCB29040-3215-9052-210F-4A0CB3B07FCB}"/>
              </a:ext>
            </a:extLst>
          </p:cNvPr>
          <p:cNvGrpSpPr/>
          <p:nvPr/>
        </p:nvGrpSpPr>
        <p:grpSpPr>
          <a:xfrm>
            <a:off x="2220381" y="3721967"/>
            <a:ext cx="540517" cy="299743"/>
            <a:chOff x="2220381" y="1898308"/>
            <a:chExt cx="540517" cy="299743"/>
          </a:xfrm>
        </p:grpSpPr>
        <p:sp>
          <p:nvSpPr>
            <p:cNvPr id="53" name="Minus 15">
              <a:extLst>
                <a:ext uri="{FF2B5EF4-FFF2-40B4-BE49-F238E27FC236}">
                  <a16:creationId xmlns:a16="http://schemas.microsoft.com/office/drawing/2014/main" id="{B52E44EA-436C-55DD-1722-F6B676470A5C}"/>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4" name="Minus 15">
              <a:extLst>
                <a:ext uri="{FF2B5EF4-FFF2-40B4-BE49-F238E27FC236}">
                  <a16:creationId xmlns:a16="http://schemas.microsoft.com/office/drawing/2014/main" id="{C3FE404B-072B-BABF-499C-70AC2BC9FDE1}"/>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5" name="Minus 15">
              <a:extLst>
                <a:ext uri="{FF2B5EF4-FFF2-40B4-BE49-F238E27FC236}">
                  <a16:creationId xmlns:a16="http://schemas.microsoft.com/office/drawing/2014/main" id="{F9582FA8-C447-DBAE-009A-F4F47E6B30D0}"/>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6" name="Minus 15">
              <a:extLst>
                <a:ext uri="{FF2B5EF4-FFF2-40B4-BE49-F238E27FC236}">
                  <a16:creationId xmlns:a16="http://schemas.microsoft.com/office/drawing/2014/main" id="{D928193F-667B-F023-C368-E6D07DF5C4AC}"/>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59" name="Group 58">
            <a:extLst>
              <a:ext uri="{FF2B5EF4-FFF2-40B4-BE49-F238E27FC236}">
                <a16:creationId xmlns:a16="http://schemas.microsoft.com/office/drawing/2014/main" id="{C998F774-F91E-95DC-3E4B-A0B0904C160F}"/>
              </a:ext>
            </a:extLst>
          </p:cNvPr>
          <p:cNvGrpSpPr/>
          <p:nvPr/>
        </p:nvGrpSpPr>
        <p:grpSpPr>
          <a:xfrm>
            <a:off x="2220381" y="4182907"/>
            <a:ext cx="540517" cy="299743"/>
            <a:chOff x="2220381" y="1898308"/>
            <a:chExt cx="540517" cy="299743"/>
          </a:xfrm>
        </p:grpSpPr>
        <p:sp>
          <p:nvSpPr>
            <p:cNvPr id="60" name="Minus 15">
              <a:extLst>
                <a:ext uri="{FF2B5EF4-FFF2-40B4-BE49-F238E27FC236}">
                  <a16:creationId xmlns:a16="http://schemas.microsoft.com/office/drawing/2014/main" id="{7C1483A2-145C-89FD-3153-B0A8FDEDA6B5}"/>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1" name="Minus 15">
              <a:extLst>
                <a:ext uri="{FF2B5EF4-FFF2-40B4-BE49-F238E27FC236}">
                  <a16:creationId xmlns:a16="http://schemas.microsoft.com/office/drawing/2014/main" id="{EEAD72DA-106C-F853-1B89-3451AFFB7432}"/>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2" name="Minus 15">
              <a:extLst>
                <a:ext uri="{FF2B5EF4-FFF2-40B4-BE49-F238E27FC236}">
                  <a16:creationId xmlns:a16="http://schemas.microsoft.com/office/drawing/2014/main" id="{351008AF-546D-7E16-4A56-5DF44F1B61FF}"/>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3" name="Minus 15">
              <a:extLst>
                <a:ext uri="{FF2B5EF4-FFF2-40B4-BE49-F238E27FC236}">
                  <a16:creationId xmlns:a16="http://schemas.microsoft.com/office/drawing/2014/main" id="{FF5128E9-2AF4-E01F-405C-0F973EC7388A}"/>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66" name="Group 65">
            <a:extLst>
              <a:ext uri="{FF2B5EF4-FFF2-40B4-BE49-F238E27FC236}">
                <a16:creationId xmlns:a16="http://schemas.microsoft.com/office/drawing/2014/main" id="{DCB7094D-AE91-2CD9-9C87-29CC19B6D47B}"/>
              </a:ext>
            </a:extLst>
          </p:cNvPr>
          <p:cNvGrpSpPr/>
          <p:nvPr/>
        </p:nvGrpSpPr>
        <p:grpSpPr>
          <a:xfrm>
            <a:off x="2220381" y="4643847"/>
            <a:ext cx="540517" cy="299743"/>
            <a:chOff x="2220381" y="1898308"/>
            <a:chExt cx="540517" cy="299743"/>
          </a:xfrm>
        </p:grpSpPr>
        <p:sp>
          <p:nvSpPr>
            <p:cNvPr id="67" name="Minus 15">
              <a:extLst>
                <a:ext uri="{FF2B5EF4-FFF2-40B4-BE49-F238E27FC236}">
                  <a16:creationId xmlns:a16="http://schemas.microsoft.com/office/drawing/2014/main" id="{80237D25-CF22-A875-F0C6-08ACF69828D8}"/>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8" name="Minus 15">
              <a:extLst>
                <a:ext uri="{FF2B5EF4-FFF2-40B4-BE49-F238E27FC236}">
                  <a16:creationId xmlns:a16="http://schemas.microsoft.com/office/drawing/2014/main" id="{F2299EBA-3704-FD90-9D25-B7F68CC51D21}"/>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9" name="Minus 15">
              <a:extLst>
                <a:ext uri="{FF2B5EF4-FFF2-40B4-BE49-F238E27FC236}">
                  <a16:creationId xmlns:a16="http://schemas.microsoft.com/office/drawing/2014/main" id="{0252A724-E913-DDA8-9FEE-D392925BFDA9}"/>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0" name="Minus 15">
              <a:extLst>
                <a:ext uri="{FF2B5EF4-FFF2-40B4-BE49-F238E27FC236}">
                  <a16:creationId xmlns:a16="http://schemas.microsoft.com/office/drawing/2014/main" id="{C9D24AA7-7B85-28F0-420D-8A0E15C8929C}"/>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73" name="Group 72">
            <a:extLst>
              <a:ext uri="{FF2B5EF4-FFF2-40B4-BE49-F238E27FC236}">
                <a16:creationId xmlns:a16="http://schemas.microsoft.com/office/drawing/2014/main" id="{48315A5E-F2AF-15EC-2FE9-71613C151CBF}"/>
              </a:ext>
            </a:extLst>
          </p:cNvPr>
          <p:cNvGrpSpPr/>
          <p:nvPr/>
        </p:nvGrpSpPr>
        <p:grpSpPr>
          <a:xfrm>
            <a:off x="2220381" y="5104935"/>
            <a:ext cx="540517" cy="299743"/>
            <a:chOff x="2220381" y="1898308"/>
            <a:chExt cx="540517" cy="299743"/>
          </a:xfrm>
        </p:grpSpPr>
        <p:sp>
          <p:nvSpPr>
            <p:cNvPr id="74" name="Minus 15">
              <a:extLst>
                <a:ext uri="{FF2B5EF4-FFF2-40B4-BE49-F238E27FC236}">
                  <a16:creationId xmlns:a16="http://schemas.microsoft.com/office/drawing/2014/main" id="{1080FD4C-CA1C-D105-F11C-B7DCCCF72143}"/>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5" name="Minus 15">
              <a:extLst>
                <a:ext uri="{FF2B5EF4-FFF2-40B4-BE49-F238E27FC236}">
                  <a16:creationId xmlns:a16="http://schemas.microsoft.com/office/drawing/2014/main" id="{6F067EB4-5808-2B86-113D-E99565F5B4D4}"/>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6" name="Minus 15">
              <a:extLst>
                <a:ext uri="{FF2B5EF4-FFF2-40B4-BE49-F238E27FC236}">
                  <a16:creationId xmlns:a16="http://schemas.microsoft.com/office/drawing/2014/main" id="{CAA4431A-1FE6-4B50-F4EB-481A316DD00A}"/>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7" name="Minus 15">
              <a:extLst>
                <a:ext uri="{FF2B5EF4-FFF2-40B4-BE49-F238E27FC236}">
                  <a16:creationId xmlns:a16="http://schemas.microsoft.com/office/drawing/2014/main" id="{7F9B764C-4AA9-48F3-3232-34436B7FDEE0}"/>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80" name="Group 79">
            <a:extLst>
              <a:ext uri="{FF2B5EF4-FFF2-40B4-BE49-F238E27FC236}">
                <a16:creationId xmlns:a16="http://schemas.microsoft.com/office/drawing/2014/main" id="{0A8A82E9-0E8D-6840-4DB4-4F2855D5B4AB}"/>
              </a:ext>
            </a:extLst>
          </p:cNvPr>
          <p:cNvGrpSpPr/>
          <p:nvPr/>
        </p:nvGrpSpPr>
        <p:grpSpPr>
          <a:xfrm>
            <a:off x="2220381" y="5612059"/>
            <a:ext cx="540517" cy="299743"/>
            <a:chOff x="2220381" y="1898308"/>
            <a:chExt cx="540517" cy="299743"/>
          </a:xfrm>
        </p:grpSpPr>
        <p:sp>
          <p:nvSpPr>
            <p:cNvPr id="81" name="Minus 15">
              <a:extLst>
                <a:ext uri="{FF2B5EF4-FFF2-40B4-BE49-F238E27FC236}">
                  <a16:creationId xmlns:a16="http://schemas.microsoft.com/office/drawing/2014/main" id="{8538291A-D347-509F-1F43-686A7FC7908C}"/>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2" name="Minus 15">
              <a:extLst>
                <a:ext uri="{FF2B5EF4-FFF2-40B4-BE49-F238E27FC236}">
                  <a16:creationId xmlns:a16="http://schemas.microsoft.com/office/drawing/2014/main" id="{0153B9F2-5B10-E0F8-2908-02787D4B991C}"/>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3" name="Minus 15">
              <a:extLst>
                <a:ext uri="{FF2B5EF4-FFF2-40B4-BE49-F238E27FC236}">
                  <a16:creationId xmlns:a16="http://schemas.microsoft.com/office/drawing/2014/main" id="{BCE06522-B0C2-D38E-E15A-76B4B33D32C9}"/>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4" name="Minus 15">
              <a:extLst>
                <a:ext uri="{FF2B5EF4-FFF2-40B4-BE49-F238E27FC236}">
                  <a16:creationId xmlns:a16="http://schemas.microsoft.com/office/drawing/2014/main" id="{C9C860A4-DDD6-A895-A5A2-3EA8B1F3A998}"/>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87" name="Group 86">
            <a:extLst>
              <a:ext uri="{FF2B5EF4-FFF2-40B4-BE49-F238E27FC236}">
                <a16:creationId xmlns:a16="http://schemas.microsoft.com/office/drawing/2014/main" id="{150D4404-E4BD-B0DB-EBC7-337A64509307}"/>
              </a:ext>
            </a:extLst>
          </p:cNvPr>
          <p:cNvGrpSpPr/>
          <p:nvPr/>
        </p:nvGrpSpPr>
        <p:grpSpPr>
          <a:xfrm>
            <a:off x="2220381" y="6081276"/>
            <a:ext cx="540517" cy="299743"/>
            <a:chOff x="2220381" y="1898308"/>
            <a:chExt cx="540517" cy="299743"/>
          </a:xfrm>
        </p:grpSpPr>
        <p:sp>
          <p:nvSpPr>
            <p:cNvPr id="88" name="Minus 15">
              <a:extLst>
                <a:ext uri="{FF2B5EF4-FFF2-40B4-BE49-F238E27FC236}">
                  <a16:creationId xmlns:a16="http://schemas.microsoft.com/office/drawing/2014/main" id="{BD5FA7BB-2C18-6B03-3AD4-303ADCF6AD83}"/>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9" name="Minus 15">
              <a:extLst>
                <a:ext uri="{FF2B5EF4-FFF2-40B4-BE49-F238E27FC236}">
                  <a16:creationId xmlns:a16="http://schemas.microsoft.com/office/drawing/2014/main" id="{1C9C2B56-A0C8-87AE-E25E-A368B9FC8DE5}"/>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90" name="Minus 15">
              <a:extLst>
                <a:ext uri="{FF2B5EF4-FFF2-40B4-BE49-F238E27FC236}">
                  <a16:creationId xmlns:a16="http://schemas.microsoft.com/office/drawing/2014/main" id="{86C30993-E552-F935-BE0C-BCCB171DFA38}"/>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91" name="Minus 15">
              <a:extLst>
                <a:ext uri="{FF2B5EF4-FFF2-40B4-BE49-F238E27FC236}">
                  <a16:creationId xmlns:a16="http://schemas.microsoft.com/office/drawing/2014/main" id="{650EB050-19B9-9F27-2788-AEC316018166}"/>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sp>
        <p:nvSpPr>
          <p:cNvPr id="92" name="Text Placeholder 6">
            <a:extLst>
              <a:ext uri="{FF2B5EF4-FFF2-40B4-BE49-F238E27FC236}">
                <a16:creationId xmlns:a16="http://schemas.microsoft.com/office/drawing/2014/main" id="{A6F04B41-C7F6-892C-0B3B-62FADA95291B}"/>
              </a:ext>
            </a:extLst>
          </p:cNvPr>
          <p:cNvSpPr txBox="1">
            <a:spLocks/>
          </p:cNvSpPr>
          <p:nvPr/>
        </p:nvSpPr>
        <p:spPr>
          <a:xfrm>
            <a:off x="394311" y="189653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3" name="Text Placeholder 6">
            <a:extLst>
              <a:ext uri="{FF2B5EF4-FFF2-40B4-BE49-F238E27FC236}">
                <a16:creationId xmlns:a16="http://schemas.microsoft.com/office/drawing/2014/main" id="{F9DED2BD-31CB-E4E2-403F-8214CD18F25F}"/>
              </a:ext>
            </a:extLst>
          </p:cNvPr>
          <p:cNvSpPr txBox="1">
            <a:spLocks/>
          </p:cNvSpPr>
          <p:nvPr/>
        </p:nvSpPr>
        <p:spPr>
          <a:xfrm>
            <a:off x="394311" y="2361896"/>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4" name="Text Placeholder 6">
            <a:extLst>
              <a:ext uri="{FF2B5EF4-FFF2-40B4-BE49-F238E27FC236}">
                <a16:creationId xmlns:a16="http://schemas.microsoft.com/office/drawing/2014/main" id="{B72CC163-8364-7DBB-7A3B-B0B8CF68F4D9}"/>
              </a:ext>
            </a:extLst>
          </p:cNvPr>
          <p:cNvSpPr txBox="1">
            <a:spLocks/>
          </p:cNvSpPr>
          <p:nvPr/>
        </p:nvSpPr>
        <p:spPr>
          <a:xfrm>
            <a:off x="394311" y="2805864"/>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5" name="Text Placeholder 6">
            <a:extLst>
              <a:ext uri="{FF2B5EF4-FFF2-40B4-BE49-F238E27FC236}">
                <a16:creationId xmlns:a16="http://schemas.microsoft.com/office/drawing/2014/main" id="{B689A851-3340-B161-54C0-072E6336731F}"/>
              </a:ext>
            </a:extLst>
          </p:cNvPr>
          <p:cNvSpPr txBox="1">
            <a:spLocks/>
          </p:cNvSpPr>
          <p:nvPr/>
        </p:nvSpPr>
        <p:spPr>
          <a:xfrm>
            <a:off x="394311" y="3251629"/>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6" name="Text Placeholder 6">
            <a:extLst>
              <a:ext uri="{FF2B5EF4-FFF2-40B4-BE49-F238E27FC236}">
                <a16:creationId xmlns:a16="http://schemas.microsoft.com/office/drawing/2014/main" id="{59E548F3-A8F2-16E9-0867-DF648264D1B2}"/>
              </a:ext>
            </a:extLst>
          </p:cNvPr>
          <p:cNvSpPr txBox="1">
            <a:spLocks/>
          </p:cNvSpPr>
          <p:nvPr/>
        </p:nvSpPr>
        <p:spPr>
          <a:xfrm>
            <a:off x="394311" y="3709981"/>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7" name="Text Placeholder 6">
            <a:extLst>
              <a:ext uri="{FF2B5EF4-FFF2-40B4-BE49-F238E27FC236}">
                <a16:creationId xmlns:a16="http://schemas.microsoft.com/office/drawing/2014/main" id="{E560D0B9-60D8-B6C4-3486-90814808924F}"/>
              </a:ext>
            </a:extLst>
          </p:cNvPr>
          <p:cNvSpPr txBox="1">
            <a:spLocks/>
          </p:cNvSpPr>
          <p:nvPr/>
        </p:nvSpPr>
        <p:spPr>
          <a:xfrm>
            <a:off x="394311" y="4182907"/>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8" name="Text Placeholder 6">
            <a:extLst>
              <a:ext uri="{FF2B5EF4-FFF2-40B4-BE49-F238E27FC236}">
                <a16:creationId xmlns:a16="http://schemas.microsoft.com/office/drawing/2014/main" id="{33956C57-3B73-3904-1EB0-EC9B3B5F8894}"/>
              </a:ext>
            </a:extLst>
          </p:cNvPr>
          <p:cNvSpPr txBox="1">
            <a:spLocks/>
          </p:cNvSpPr>
          <p:nvPr/>
        </p:nvSpPr>
        <p:spPr>
          <a:xfrm>
            <a:off x="394311" y="465583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9" name="Text Placeholder 6">
            <a:extLst>
              <a:ext uri="{FF2B5EF4-FFF2-40B4-BE49-F238E27FC236}">
                <a16:creationId xmlns:a16="http://schemas.microsoft.com/office/drawing/2014/main" id="{102FD908-B7DB-0DB1-5FD8-A4D72B33BADA}"/>
              </a:ext>
            </a:extLst>
          </p:cNvPr>
          <p:cNvSpPr txBox="1">
            <a:spLocks/>
          </p:cNvSpPr>
          <p:nvPr/>
        </p:nvSpPr>
        <p:spPr>
          <a:xfrm>
            <a:off x="394311" y="5084961"/>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00" name="Text Placeholder 6">
            <a:extLst>
              <a:ext uri="{FF2B5EF4-FFF2-40B4-BE49-F238E27FC236}">
                <a16:creationId xmlns:a16="http://schemas.microsoft.com/office/drawing/2014/main" id="{DC2AD284-7CEF-DFB2-1129-950C4162E36F}"/>
              </a:ext>
            </a:extLst>
          </p:cNvPr>
          <p:cNvSpPr txBox="1">
            <a:spLocks/>
          </p:cNvSpPr>
          <p:nvPr/>
        </p:nvSpPr>
        <p:spPr>
          <a:xfrm>
            <a:off x="394311" y="561996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01" name="Text Placeholder 6">
            <a:extLst>
              <a:ext uri="{FF2B5EF4-FFF2-40B4-BE49-F238E27FC236}">
                <a16:creationId xmlns:a16="http://schemas.microsoft.com/office/drawing/2014/main" id="{9080C594-7CE8-9803-27EF-87945BB21E90}"/>
              </a:ext>
            </a:extLst>
          </p:cNvPr>
          <p:cNvSpPr txBox="1">
            <a:spLocks/>
          </p:cNvSpPr>
          <p:nvPr/>
        </p:nvSpPr>
        <p:spPr>
          <a:xfrm>
            <a:off x="394311" y="6081275"/>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2" name="Marcador de texto 2">
            <a:extLst>
              <a:ext uri="{FF2B5EF4-FFF2-40B4-BE49-F238E27FC236}">
                <a16:creationId xmlns:a16="http://schemas.microsoft.com/office/drawing/2014/main" id="{61DD97CA-75D8-9FF0-5F63-6F4D7464AB5D}"/>
              </a:ext>
            </a:extLst>
          </p:cNvPr>
          <p:cNvSpPr>
            <a:spLocks noGrp="1"/>
          </p:cNvSpPr>
          <p:nvPr>
            <p:ph type="body" sz="quarter" idx="14"/>
          </p:nvPr>
        </p:nvSpPr>
        <p:spPr>
          <a:xfrm>
            <a:off x="385762" y="802298"/>
            <a:ext cx="11418888" cy="576263"/>
          </a:xfrm>
        </p:spPr>
        <p:txBody>
          <a:bodyPr/>
          <a:lstStyle/>
          <a:p>
            <a:r>
              <a:rPr lang="en-US" dirty="0"/>
              <a:t>Backup to Porter’s Five Forces Analysis</a:t>
            </a:r>
          </a:p>
        </p:txBody>
      </p:sp>
      <p:sp>
        <p:nvSpPr>
          <p:cNvPr id="10" name="Marcador de pie de página 9">
            <a:extLst>
              <a:ext uri="{FF2B5EF4-FFF2-40B4-BE49-F238E27FC236}">
                <a16:creationId xmlns:a16="http://schemas.microsoft.com/office/drawing/2014/main" id="{AA4CF0E1-2D32-8998-E419-F6077452E285}"/>
              </a:ext>
            </a:extLst>
          </p:cNvPr>
          <p:cNvSpPr>
            <a:spLocks noGrp="1"/>
          </p:cNvSpPr>
          <p:nvPr>
            <p:ph type="ftr" sz="quarter" idx="3"/>
          </p:nvPr>
        </p:nvSpPr>
        <p:spPr/>
        <p:txBody>
          <a:bodyPr/>
          <a:lstStyle/>
          <a:p>
            <a:r>
              <a:rPr lang="en-US"/>
              <a:t>Source:_______</a:t>
            </a:r>
            <a:endParaRPr lang="en-US" dirty="0"/>
          </a:p>
        </p:txBody>
      </p:sp>
      <p:sp>
        <p:nvSpPr>
          <p:cNvPr id="11" name="Rectangle 89">
            <a:extLst>
              <a:ext uri="{FF2B5EF4-FFF2-40B4-BE49-F238E27FC236}">
                <a16:creationId xmlns:a16="http://schemas.microsoft.com/office/drawing/2014/main" id="{1DE2D23A-FC2F-ACE6-3C3F-FA524D15E684}"/>
              </a:ext>
            </a:extLst>
          </p:cNvPr>
          <p:cNvSpPr/>
          <p:nvPr/>
        </p:nvSpPr>
        <p:spPr>
          <a:xfrm>
            <a:off x="2819587" y="1928537"/>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2" name="Rectangle 89">
            <a:extLst>
              <a:ext uri="{FF2B5EF4-FFF2-40B4-BE49-F238E27FC236}">
                <a16:creationId xmlns:a16="http://schemas.microsoft.com/office/drawing/2014/main" id="{814F63EB-553D-AA35-063C-A53DB94EC7A4}"/>
              </a:ext>
            </a:extLst>
          </p:cNvPr>
          <p:cNvSpPr/>
          <p:nvPr/>
        </p:nvSpPr>
        <p:spPr>
          <a:xfrm>
            <a:off x="2819587" y="2394301"/>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4" name="Rectangle 89">
            <a:extLst>
              <a:ext uri="{FF2B5EF4-FFF2-40B4-BE49-F238E27FC236}">
                <a16:creationId xmlns:a16="http://schemas.microsoft.com/office/drawing/2014/main" id="{DBCA841D-7283-9E1A-64B9-E335696FEE0F}"/>
              </a:ext>
            </a:extLst>
          </p:cNvPr>
          <p:cNvSpPr/>
          <p:nvPr/>
        </p:nvSpPr>
        <p:spPr>
          <a:xfrm>
            <a:off x="2819587" y="2860065"/>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5" name="Rectangle 89">
            <a:extLst>
              <a:ext uri="{FF2B5EF4-FFF2-40B4-BE49-F238E27FC236}">
                <a16:creationId xmlns:a16="http://schemas.microsoft.com/office/drawing/2014/main" id="{7C268D18-CDA2-48C0-6EC9-896DF14118D7}"/>
              </a:ext>
            </a:extLst>
          </p:cNvPr>
          <p:cNvSpPr/>
          <p:nvPr/>
        </p:nvSpPr>
        <p:spPr>
          <a:xfrm>
            <a:off x="2819587" y="3264597"/>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6" name="Rectangle 89">
            <a:extLst>
              <a:ext uri="{FF2B5EF4-FFF2-40B4-BE49-F238E27FC236}">
                <a16:creationId xmlns:a16="http://schemas.microsoft.com/office/drawing/2014/main" id="{41F3B181-7D56-8BD1-A6F4-0290EB39913D}"/>
              </a:ext>
            </a:extLst>
          </p:cNvPr>
          <p:cNvSpPr/>
          <p:nvPr/>
        </p:nvSpPr>
        <p:spPr>
          <a:xfrm>
            <a:off x="2819587" y="3752196"/>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7" name="Rectangle 89">
            <a:extLst>
              <a:ext uri="{FF2B5EF4-FFF2-40B4-BE49-F238E27FC236}">
                <a16:creationId xmlns:a16="http://schemas.microsoft.com/office/drawing/2014/main" id="{0A4438D3-A423-FA4B-A090-EAA8EA14A1E9}"/>
              </a:ext>
            </a:extLst>
          </p:cNvPr>
          <p:cNvSpPr/>
          <p:nvPr/>
        </p:nvSpPr>
        <p:spPr>
          <a:xfrm>
            <a:off x="2819587" y="4213136"/>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8" name="Rectangle 89">
            <a:extLst>
              <a:ext uri="{FF2B5EF4-FFF2-40B4-BE49-F238E27FC236}">
                <a16:creationId xmlns:a16="http://schemas.microsoft.com/office/drawing/2014/main" id="{ED3596DB-9B66-5273-AEF9-4C9DD44E3604}"/>
              </a:ext>
            </a:extLst>
          </p:cNvPr>
          <p:cNvSpPr/>
          <p:nvPr/>
        </p:nvSpPr>
        <p:spPr>
          <a:xfrm>
            <a:off x="2819587" y="4674076"/>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9" name="Rectangle 89">
            <a:extLst>
              <a:ext uri="{FF2B5EF4-FFF2-40B4-BE49-F238E27FC236}">
                <a16:creationId xmlns:a16="http://schemas.microsoft.com/office/drawing/2014/main" id="{23C10E20-5FF6-46C1-8022-32005C7017F4}"/>
              </a:ext>
            </a:extLst>
          </p:cNvPr>
          <p:cNvSpPr/>
          <p:nvPr/>
        </p:nvSpPr>
        <p:spPr>
          <a:xfrm>
            <a:off x="2819587" y="5135164"/>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0" name="Rectangle 89">
            <a:extLst>
              <a:ext uri="{FF2B5EF4-FFF2-40B4-BE49-F238E27FC236}">
                <a16:creationId xmlns:a16="http://schemas.microsoft.com/office/drawing/2014/main" id="{5B649129-680D-5114-E8F8-F1C773FBAEF1}"/>
              </a:ext>
            </a:extLst>
          </p:cNvPr>
          <p:cNvSpPr/>
          <p:nvPr/>
        </p:nvSpPr>
        <p:spPr>
          <a:xfrm>
            <a:off x="2819587" y="5642288"/>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1" name="Rectangle 89">
            <a:extLst>
              <a:ext uri="{FF2B5EF4-FFF2-40B4-BE49-F238E27FC236}">
                <a16:creationId xmlns:a16="http://schemas.microsoft.com/office/drawing/2014/main" id="{B28BC5E7-16F0-98D9-4356-9939AB621962}"/>
              </a:ext>
            </a:extLst>
          </p:cNvPr>
          <p:cNvSpPr/>
          <p:nvPr/>
        </p:nvSpPr>
        <p:spPr>
          <a:xfrm>
            <a:off x="2819587" y="6111505"/>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37199238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6403F42D-B3C5-1DCD-8C83-7A71F9D6150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3" imgW="7772400" imgH="10058400" progId="TCLayout.ActiveDocument.1">
                  <p:embed/>
                </p:oleObj>
              </mc:Choice>
              <mc:Fallback>
                <p:oleObj name="Diapositiva de think-cell" r:id="rId3" imgW="7772400" imgH="10058400" progId="TCLayout.ActiveDocument.1">
                  <p:embed/>
                  <p:pic>
                    <p:nvPicPr>
                      <p:cNvPr id="7" name="Objeto 6" hidden="1">
                        <a:extLst>
                          <a:ext uri="{FF2B5EF4-FFF2-40B4-BE49-F238E27FC236}">
                            <a16:creationId xmlns:a16="http://schemas.microsoft.com/office/drawing/2014/main" id="{6403F42D-B3C5-1DCD-8C83-7A71F9D6150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Marcador de texto 2">
            <a:extLst>
              <a:ext uri="{FF2B5EF4-FFF2-40B4-BE49-F238E27FC236}">
                <a16:creationId xmlns:a16="http://schemas.microsoft.com/office/drawing/2014/main" id="{41AB0A6A-49CF-2011-10E9-7FB531D78C0B}"/>
              </a:ext>
            </a:extLst>
          </p:cNvPr>
          <p:cNvSpPr>
            <a:spLocks noGrp="1"/>
          </p:cNvSpPr>
          <p:nvPr>
            <p:ph type="body" sz="quarter" idx="14"/>
          </p:nvPr>
        </p:nvSpPr>
        <p:spPr/>
        <p:txBody>
          <a:bodyPr/>
          <a:lstStyle/>
          <a:p>
            <a:r>
              <a:rPr lang="en-US" dirty="0"/>
              <a:t>Porter’s Five Forces Analysis</a:t>
            </a:r>
          </a:p>
        </p:txBody>
      </p:sp>
      <p:sp>
        <p:nvSpPr>
          <p:cNvPr id="2" name="Título 1">
            <a:extLst>
              <a:ext uri="{FF2B5EF4-FFF2-40B4-BE49-F238E27FC236}">
                <a16:creationId xmlns:a16="http://schemas.microsoft.com/office/drawing/2014/main" id="{A2C5AA37-4FAE-DE90-0D20-1ECBF5B9D27E}"/>
              </a:ext>
            </a:extLst>
          </p:cNvPr>
          <p:cNvSpPr>
            <a:spLocks noGrp="1"/>
          </p:cNvSpPr>
          <p:nvPr>
            <p:ph type="title"/>
          </p:nvPr>
        </p:nvSpPr>
        <p:spPr/>
        <p:txBody>
          <a:bodyPr vert="horz"/>
          <a:lstStyle/>
          <a:p>
            <a:r>
              <a:rPr lang="en-US" dirty="0"/>
              <a:t>Rivalry among existing competitors – Questions to consider</a:t>
            </a:r>
          </a:p>
        </p:txBody>
      </p:sp>
      <p:sp>
        <p:nvSpPr>
          <p:cNvPr id="4" name="Marcador de texto 3">
            <a:extLst>
              <a:ext uri="{FF2B5EF4-FFF2-40B4-BE49-F238E27FC236}">
                <a16:creationId xmlns:a16="http://schemas.microsoft.com/office/drawing/2014/main" id="{338D1AD8-D922-02D0-C940-8A13BC31E5B6}"/>
              </a:ext>
            </a:extLst>
          </p:cNvPr>
          <p:cNvSpPr>
            <a:spLocks noGrp="1"/>
          </p:cNvSpPr>
          <p:nvPr>
            <p:ph type="body" sz="quarter" idx="15"/>
          </p:nvPr>
        </p:nvSpPr>
        <p:spPr/>
        <p:txBody>
          <a:bodyPr/>
          <a:lstStyle/>
          <a:p>
            <a:pPr marL="228600" indent="-228600">
              <a:buFont typeface="+mj-lt"/>
              <a:buAutoNum type="arabicPeriod"/>
            </a:pPr>
            <a:r>
              <a:rPr lang="en-US" sz="1200" b="0" dirty="0"/>
              <a:t>How many competitors are there in the industry, and how concentrated is the market?</a:t>
            </a:r>
          </a:p>
          <a:p>
            <a:pPr marL="228600" indent="-228600">
              <a:buFont typeface="+mj-lt"/>
              <a:buAutoNum type="arabicPeriod"/>
            </a:pPr>
            <a:r>
              <a:rPr lang="en-US" sz="1200" b="0" dirty="0"/>
              <a:t>What is the rate of industry growth, and how does it affect the intensity of competition?</a:t>
            </a:r>
          </a:p>
          <a:p>
            <a:pPr marL="228600" indent="-228600">
              <a:buFont typeface="+mj-lt"/>
              <a:buAutoNum type="arabicPeriod"/>
            </a:pPr>
            <a:r>
              <a:rPr lang="en-US" sz="1200" b="0" dirty="0"/>
              <a:t>What is the level of product differentiation among competitors, and how does it affect their competitive rivalry?</a:t>
            </a:r>
          </a:p>
          <a:p>
            <a:pPr marL="228600" indent="-228600">
              <a:buFont typeface="+mj-lt"/>
              <a:buAutoNum type="arabicPeriod"/>
            </a:pPr>
            <a:r>
              <a:rPr lang="en-US" sz="1200" b="0" dirty="0"/>
              <a:t>What is the level of brand loyalty or customer preference among competitors' products or services?</a:t>
            </a:r>
          </a:p>
          <a:p>
            <a:pPr marL="228600" indent="-228600">
              <a:buFont typeface="+mj-lt"/>
              <a:buAutoNum type="arabicPeriod"/>
            </a:pPr>
            <a:r>
              <a:rPr lang="en-US" sz="1200" b="0" dirty="0"/>
              <a:t>What is the size and frequency of orders for the industry's products or services, and how does it affect the competitive rivalry?</a:t>
            </a:r>
          </a:p>
          <a:p>
            <a:pPr marL="228600" indent="-228600">
              <a:buFont typeface="+mj-lt"/>
              <a:buAutoNum type="arabicPeriod"/>
            </a:pPr>
            <a:r>
              <a:rPr lang="en-US" sz="1200" b="0" dirty="0"/>
              <a:t>What is the level of fixed costs and economies of scale in the industry, and how does it affect the competitive rivalry?</a:t>
            </a:r>
          </a:p>
          <a:p>
            <a:pPr marL="228600" indent="-228600">
              <a:buFont typeface="+mj-lt"/>
              <a:buAutoNum type="arabicPeriod"/>
            </a:pPr>
            <a:r>
              <a:rPr lang="en-US" sz="1200" b="0" dirty="0"/>
              <a:t>What is the level of exit barriers in the industry, and how does it affect the competitive rivalry?</a:t>
            </a:r>
          </a:p>
          <a:p>
            <a:pPr marL="228600" indent="-228600">
              <a:buFont typeface="+mj-lt"/>
              <a:buAutoNum type="arabicPeriod"/>
            </a:pPr>
            <a:r>
              <a:rPr lang="en-US" sz="1200" b="0" dirty="0"/>
              <a:t>What is the level of industry regulation, and how does it affect the competitive rivalry?</a:t>
            </a:r>
          </a:p>
          <a:p>
            <a:pPr marL="228600" indent="-228600">
              <a:buFont typeface="+mj-lt"/>
              <a:buAutoNum type="arabicPeriod"/>
            </a:pPr>
            <a:r>
              <a:rPr lang="en-US" sz="1200" b="0" dirty="0"/>
              <a:t>What is the level of innovation and technological advancement in the industry, and how does it affect the competitive rivalry?</a:t>
            </a:r>
          </a:p>
          <a:p>
            <a:pPr marL="228600" indent="-228600">
              <a:buFont typeface="+mj-lt"/>
              <a:buAutoNum type="arabicPeriod"/>
            </a:pPr>
            <a:r>
              <a:rPr lang="en-US" sz="1200" b="0" dirty="0"/>
              <a:t>What is the level of advertising and marketing expenses among competitors, and how does it affect their competitive rivalry?</a:t>
            </a:r>
          </a:p>
          <a:p>
            <a:pPr marL="228600" indent="-228600">
              <a:buFont typeface="+mj-lt"/>
              <a:buAutoNum type="arabicPeriod"/>
            </a:pPr>
            <a:endParaRPr lang="en-US" sz="1200" b="0" dirty="0"/>
          </a:p>
        </p:txBody>
      </p:sp>
      <p:sp>
        <p:nvSpPr>
          <p:cNvPr id="6" name="Marcador de pie de página 5">
            <a:extLst>
              <a:ext uri="{FF2B5EF4-FFF2-40B4-BE49-F238E27FC236}">
                <a16:creationId xmlns:a16="http://schemas.microsoft.com/office/drawing/2014/main" id="{BAE494F5-07A1-F85D-4B6C-0B77219FD388}"/>
              </a:ext>
            </a:extLst>
          </p:cNvPr>
          <p:cNvSpPr>
            <a:spLocks noGrp="1"/>
          </p:cNvSpPr>
          <p:nvPr>
            <p:ph type="ftr" sz="quarter" idx="3"/>
          </p:nvPr>
        </p:nvSpPr>
        <p:spPr/>
        <p:txBody>
          <a:bodyPr/>
          <a:lstStyle/>
          <a:p>
            <a:r>
              <a:rPr lang="en-US" dirty="0"/>
              <a:t>Source:_______</a:t>
            </a:r>
          </a:p>
        </p:txBody>
      </p:sp>
    </p:spTree>
    <p:extLst>
      <p:ext uri="{BB962C8B-B14F-4D97-AF65-F5344CB8AC3E}">
        <p14:creationId xmlns:p14="http://schemas.microsoft.com/office/powerpoint/2010/main" val="38586603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EEA9A65-A84B-8CDC-A00E-C5B2B57E2FF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4" name="Object 3" hidden="1">
                        <a:extLst>
                          <a:ext uri="{FF2B5EF4-FFF2-40B4-BE49-F238E27FC236}">
                            <a16:creationId xmlns:a16="http://schemas.microsoft.com/office/drawing/2014/main" id="{BEEA9A65-A84B-8CDC-A00E-C5B2B57E2FF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36E824DB-66E0-6298-27A8-F059BBF1F348}"/>
              </a:ext>
            </a:extLst>
          </p:cNvPr>
          <p:cNvSpPr>
            <a:spLocks noGrp="1"/>
          </p:cNvSpPr>
          <p:nvPr>
            <p:ph type="title"/>
          </p:nvPr>
        </p:nvSpPr>
        <p:spPr/>
        <p:txBody>
          <a:bodyPr vert="horz"/>
          <a:lstStyle/>
          <a:p>
            <a:r>
              <a:rPr lang="en-US" dirty="0"/>
              <a:t>Rivalry among existing competitors -  [industry]</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Text Placeholder 6">
            <a:extLst>
              <a:ext uri="{FF2B5EF4-FFF2-40B4-BE49-F238E27FC236}">
                <a16:creationId xmlns:a16="http://schemas.microsoft.com/office/drawing/2014/main" id="{1CE093A3-A4E7-ED72-B70B-0CB3F3449146}"/>
              </a:ext>
            </a:extLst>
          </p:cNvPr>
          <p:cNvSpPr txBox="1">
            <a:spLocks/>
          </p:cNvSpPr>
          <p:nvPr/>
        </p:nvSpPr>
        <p:spPr>
          <a:xfrm>
            <a:off x="374014" y="189653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6" name="TextBox 24">
            <a:extLst>
              <a:ext uri="{FF2B5EF4-FFF2-40B4-BE49-F238E27FC236}">
                <a16:creationId xmlns:a16="http://schemas.microsoft.com/office/drawing/2014/main" id="{A1FCD546-7266-F9CA-CC1A-1EEF3811C21D}"/>
              </a:ext>
            </a:extLst>
          </p:cNvPr>
          <p:cNvSpPr txBox="1"/>
          <p:nvPr/>
        </p:nvSpPr>
        <p:spPr>
          <a:xfrm>
            <a:off x="374014" y="1389623"/>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Factor</a:t>
            </a:r>
          </a:p>
        </p:txBody>
      </p:sp>
      <p:cxnSp>
        <p:nvCxnSpPr>
          <p:cNvPr id="7" name="Conector recto 9">
            <a:extLst>
              <a:ext uri="{FF2B5EF4-FFF2-40B4-BE49-F238E27FC236}">
                <a16:creationId xmlns:a16="http://schemas.microsoft.com/office/drawing/2014/main" id="{D53D8713-E08F-9566-166A-5A48F109F304}"/>
              </a:ext>
            </a:extLst>
          </p:cNvPr>
          <p:cNvCxnSpPr>
            <a:cxnSpLocks/>
          </p:cNvCxnSpPr>
          <p:nvPr/>
        </p:nvCxnSpPr>
        <p:spPr>
          <a:xfrm>
            <a:off x="364181" y="1732070"/>
            <a:ext cx="174683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4" name="TextBox 24">
            <a:extLst>
              <a:ext uri="{FF2B5EF4-FFF2-40B4-BE49-F238E27FC236}">
                <a16:creationId xmlns:a16="http://schemas.microsoft.com/office/drawing/2014/main" id="{45E25133-FAF6-166D-4106-1C2D8BA3CA2E}"/>
              </a:ext>
            </a:extLst>
          </p:cNvPr>
          <p:cNvSpPr txBox="1"/>
          <p:nvPr/>
        </p:nvSpPr>
        <p:spPr>
          <a:xfrm>
            <a:off x="2961301" y="1398252"/>
            <a:ext cx="2679489" cy="307777"/>
          </a:xfrm>
          <a:prstGeom prst="rect">
            <a:avLst/>
          </a:prstGeom>
          <a:noFill/>
        </p:spPr>
        <p:txBody>
          <a:bodyPr wrap="square" lIns="0" tIns="0" rIns="0" bIns="0" rtlCol="0" anchor="b">
            <a:noAutofit/>
          </a:bodyPr>
          <a:lstStyle/>
          <a:p>
            <a:r>
              <a:rPr lang="en-US" b="1"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Details</a:t>
            </a:r>
          </a:p>
        </p:txBody>
      </p:sp>
      <p:cxnSp>
        <p:nvCxnSpPr>
          <p:cNvPr id="25" name="Conector recto 9">
            <a:extLst>
              <a:ext uri="{FF2B5EF4-FFF2-40B4-BE49-F238E27FC236}">
                <a16:creationId xmlns:a16="http://schemas.microsoft.com/office/drawing/2014/main" id="{171F11E6-4411-07F9-8D69-48157F8F96FD}"/>
              </a:ext>
            </a:extLst>
          </p:cNvPr>
          <p:cNvCxnSpPr>
            <a:cxnSpLocks/>
          </p:cNvCxnSpPr>
          <p:nvPr/>
        </p:nvCxnSpPr>
        <p:spPr>
          <a:xfrm>
            <a:off x="2248665" y="1740699"/>
            <a:ext cx="955598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CA6EF9FA-4ADC-BA28-660F-C0DD6682C452}"/>
              </a:ext>
            </a:extLst>
          </p:cNvPr>
          <p:cNvGrpSpPr/>
          <p:nvPr/>
        </p:nvGrpSpPr>
        <p:grpSpPr>
          <a:xfrm>
            <a:off x="2220381" y="1898308"/>
            <a:ext cx="540517" cy="299743"/>
            <a:chOff x="2220381" y="1898308"/>
            <a:chExt cx="540517" cy="299743"/>
          </a:xfrm>
        </p:grpSpPr>
        <p:sp>
          <p:nvSpPr>
            <p:cNvPr id="13" name="Minus 15">
              <a:extLst>
                <a:ext uri="{FF2B5EF4-FFF2-40B4-BE49-F238E27FC236}">
                  <a16:creationId xmlns:a16="http://schemas.microsoft.com/office/drawing/2014/main" id="{798897E1-F559-4920-5D5E-1B9FB849632A}"/>
                </a:ext>
              </a:extLst>
            </p:cNvPr>
            <p:cNvSpPr/>
            <p:nvPr/>
          </p:nvSpPr>
          <p:spPr>
            <a:xfrm rot="16200000">
              <a:off x="2173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3" name="Minus 15">
              <a:extLst>
                <a:ext uri="{FF2B5EF4-FFF2-40B4-BE49-F238E27FC236}">
                  <a16:creationId xmlns:a16="http://schemas.microsoft.com/office/drawing/2014/main" id="{D3EFAD32-EF2A-D796-B3AA-1F5806DB7536}"/>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6" name="Minus 15">
              <a:extLst>
                <a:ext uri="{FF2B5EF4-FFF2-40B4-BE49-F238E27FC236}">
                  <a16:creationId xmlns:a16="http://schemas.microsoft.com/office/drawing/2014/main" id="{7DD40494-DE78-68A9-CE3D-E02EB2912436}"/>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7" name="Minus 15">
              <a:extLst>
                <a:ext uri="{FF2B5EF4-FFF2-40B4-BE49-F238E27FC236}">
                  <a16:creationId xmlns:a16="http://schemas.microsoft.com/office/drawing/2014/main" id="{9BB7686E-1C64-A774-213C-001472A8BF4B}"/>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31" name="Group 30">
            <a:extLst>
              <a:ext uri="{FF2B5EF4-FFF2-40B4-BE49-F238E27FC236}">
                <a16:creationId xmlns:a16="http://schemas.microsoft.com/office/drawing/2014/main" id="{25EE8254-0A0E-2E84-4744-0BD661EA3A15}"/>
              </a:ext>
            </a:extLst>
          </p:cNvPr>
          <p:cNvGrpSpPr/>
          <p:nvPr/>
        </p:nvGrpSpPr>
        <p:grpSpPr>
          <a:xfrm>
            <a:off x="2220381" y="2364072"/>
            <a:ext cx="540517" cy="299743"/>
            <a:chOff x="2220381" y="1898308"/>
            <a:chExt cx="540517" cy="299743"/>
          </a:xfrm>
        </p:grpSpPr>
        <p:sp>
          <p:nvSpPr>
            <p:cNvPr id="32" name="Minus 15">
              <a:extLst>
                <a:ext uri="{FF2B5EF4-FFF2-40B4-BE49-F238E27FC236}">
                  <a16:creationId xmlns:a16="http://schemas.microsoft.com/office/drawing/2014/main" id="{FED6A283-F616-0C96-52B7-DB370023DE52}"/>
                </a:ext>
              </a:extLst>
            </p:cNvPr>
            <p:cNvSpPr/>
            <p:nvPr/>
          </p:nvSpPr>
          <p:spPr>
            <a:xfrm rot="16200000">
              <a:off x="2173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33" name="Minus 15">
              <a:extLst>
                <a:ext uri="{FF2B5EF4-FFF2-40B4-BE49-F238E27FC236}">
                  <a16:creationId xmlns:a16="http://schemas.microsoft.com/office/drawing/2014/main" id="{C69013A7-AB71-96D7-DAC3-72CD57B70E8B}"/>
                </a:ext>
              </a:extLst>
            </p:cNvPr>
            <p:cNvSpPr/>
            <p:nvPr/>
          </p:nvSpPr>
          <p:spPr>
            <a:xfrm rot="16200000">
              <a:off x="2282589"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34" name="Minus 15">
              <a:extLst>
                <a:ext uri="{FF2B5EF4-FFF2-40B4-BE49-F238E27FC236}">
                  <a16:creationId xmlns:a16="http://schemas.microsoft.com/office/drawing/2014/main" id="{508B4597-7C3B-B74C-B274-5E08DF32E77D}"/>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35" name="Minus 15">
              <a:extLst>
                <a:ext uri="{FF2B5EF4-FFF2-40B4-BE49-F238E27FC236}">
                  <a16:creationId xmlns:a16="http://schemas.microsoft.com/office/drawing/2014/main" id="{4D2C9B22-20D4-85F0-4EFB-F780BE1D2819}"/>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38" name="Group 37">
            <a:extLst>
              <a:ext uri="{FF2B5EF4-FFF2-40B4-BE49-F238E27FC236}">
                <a16:creationId xmlns:a16="http://schemas.microsoft.com/office/drawing/2014/main" id="{18DD7930-529F-6796-3E21-BBC009888901}"/>
              </a:ext>
            </a:extLst>
          </p:cNvPr>
          <p:cNvGrpSpPr/>
          <p:nvPr/>
        </p:nvGrpSpPr>
        <p:grpSpPr>
          <a:xfrm>
            <a:off x="2220381" y="2829836"/>
            <a:ext cx="540517" cy="299743"/>
            <a:chOff x="2220381" y="1898308"/>
            <a:chExt cx="540517" cy="299743"/>
          </a:xfrm>
        </p:grpSpPr>
        <p:sp>
          <p:nvSpPr>
            <p:cNvPr id="39" name="Minus 15">
              <a:extLst>
                <a:ext uri="{FF2B5EF4-FFF2-40B4-BE49-F238E27FC236}">
                  <a16:creationId xmlns:a16="http://schemas.microsoft.com/office/drawing/2014/main" id="{D3255198-B46A-C4AB-F560-55C403104B09}"/>
                </a:ext>
              </a:extLst>
            </p:cNvPr>
            <p:cNvSpPr/>
            <p:nvPr/>
          </p:nvSpPr>
          <p:spPr>
            <a:xfrm rot="16200000">
              <a:off x="2173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0" name="Minus 15">
              <a:extLst>
                <a:ext uri="{FF2B5EF4-FFF2-40B4-BE49-F238E27FC236}">
                  <a16:creationId xmlns:a16="http://schemas.microsoft.com/office/drawing/2014/main" id="{E13AFAEC-B508-8717-D5F0-B44318E19284}"/>
                </a:ext>
              </a:extLst>
            </p:cNvPr>
            <p:cNvSpPr/>
            <p:nvPr/>
          </p:nvSpPr>
          <p:spPr>
            <a:xfrm rot="16200000">
              <a:off x="2282589"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1" name="Minus 15">
              <a:extLst>
                <a:ext uri="{FF2B5EF4-FFF2-40B4-BE49-F238E27FC236}">
                  <a16:creationId xmlns:a16="http://schemas.microsoft.com/office/drawing/2014/main" id="{3309E7E2-17DF-FA04-ACF9-1EE19C780848}"/>
                </a:ext>
              </a:extLst>
            </p:cNvPr>
            <p:cNvSpPr/>
            <p:nvPr/>
          </p:nvSpPr>
          <p:spPr>
            <a:xfrm rot="16200000">
              <a:off x="2401223" y="1945466"/>
              <a:ext cx="299743" cy="20542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2" name="Minus 15">
              <a:extLst>
                <a:ext uri="{FF2B5EF4-FFF2-40B4-BE49-F238E27FC236}">
                  <a16:creationId xmlns:a16="http://schemas.microsoft.com/office/drawing/2014/main" id="{318163F1-7904-66D7-CF57-499A67E2C0E0}"/>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45" name="Group 44">
            <a:extLst>
              <a:ext uri="{FF2B5EF4-FFF2-40B4-BE49-F238E27FC236}">
                <a16:creationId xmlns:a16="http://schemas.microsoft.com/office/drawing/2014/main" id="{133D544E-7BAE-6CCB-1230-644582A86CCD}"/>
              </a:ext>
            </a:extLst>
          </p:cNvPr>
          <p:cNvGrpSpPr/>
          <p:nvPr/>
        </p:nvGrpSpPr>
        <p:grpSpPr>
          <a:xfrm>
            <a:off x="2220381" y="3234368"/>
            <a:ext cx="540517" cy="299743"/>
            <a:chOff x="2220381" y="1898308"/>
            <a:chExt cx="540517" cy="299743"/>
          </a:xfrm>
          <a:solidFill>
            <a:schemeClr val="tx1"/>
          </a:solidFill>
        </p:grpSpPr>
        <p:sp>
          <p:nvSpPr>
            <p:cNvPr id="46" name="Minus 15">
              <a:extLst>
                <a:ext uri="{FF2B5EF4-FFF2-40B4-BE49-F238E27FC236}">
                  <a16:creationId xmlns:a16="http://schemas.microsoft.com/office/drawing/2014/main" id="{BCE6349B-AB47-8112-9F53-4BF2CB154FDD}"/>
                </a:ext>
              </a:extLst>
            </p:cNvPr>
            <p:cNvSpPr/>
            <p:nvPr/>
          </p:nvSpPr>
          <p:spPr>
            <a:xfrm rot="16200000">
              <a:off x="2173223"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7" name="Minus 15">
              <a:extLst>
                <a:ext uri="{FF2B5EF4-FFF2-40B4-BE49-F238E27FC236}">
                  <a16:creationId xmlns:a16="http://schemas.microsoft.com/office/drawing/2014/main" id="{CB9BC860-7151-8BB4-BAF1-7A790A005AEC}"/>
                </a:ext>
              </a:extLst>
            </p:cNvPr>
            <p:cNvSpPr/>
            <p:nvPr/>
          </p:nvSpPr>
          <p:spPr>
            <a:xfrm rot="16200000">
              <a:off x="2282589"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8" name="Minus 15">
              <a:extLst>
                <a:ext uri="{FF2B5EF4-FFF2-40B4-BE49-F238E27FC236}">
                  <a16:creationId xmlns:a16="http://schemas.microsoft.com/office/drawing/2014/main" id="{7AF8DB1D-434B-7E26-C407-71840E77F83F}"/>
                </a:ext>
              </a:extLst>
            </p:cNvPr>
            <p:cNvSpPr/>
            <p:nvPr/>
          </p:nvSpPr>
          <p:spPr>
            <a:xfrm rot="16200000">
              <a:off x="2401223"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9" name="Minus 15">
              <a:extLst>
                <a:ext uri="{FF2B5EF4-FFF2-40B4-BE49-F238E27FC236}">
                  <a16:creationId xmlns:a16="http://schemas.microsoft.com/office/drawing/2014/main" id="{D6997EE8-C4A4-0082-9DC4-CD987C389196}"/>
                </a:ext>
              </a:extLst>
            </p:cNvPr>
            <p:cNvSpPr/>
            <p:nvPr/>
          </p:nvSpPr>
          <p:spPr>
            <a:xfrm rot="16200000">
              <a:off x="2508313" y="1945466"/>
              <a:ext cx="299743" cy="205427"/>
            </a:xfrm>
            <a:prstGeom prst="mathMinus">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52" name="Group 51">
            <a:extLst>
              <a:ext uri="{FF2B5EF4-FFF2-40B4-BE49-F238E27FC236}">
                <a16:creationId xmlns:a16="http://schemas.microsoft.com/office/drawing/2014/main" id="{DCB29040-3215-9052-210F-4A0CB3B07FCB}"/>
              </a:ext>
            </a:extLst>
          </p:cNvPr>
          <p:cNvGrpSpPr/>
          <p:nvPr/>
        </p:nvGrpSpPr>
        <p:grpSpPr>
          <a:xfrm>
            <a:off x="2220381" y="3721967"/>
            <a:ext cx="540517" cy="299743"/>
            <a:chOff x="2220381" y="1898308"/>
            <a:chExt cx="540517" cy="299743"/>
          </a:xfrm>
        </p:grpSpPr>
        <p:sp>
          <p:nvSpPr>
            <p:cNvPr id="53" name="Minus 15">
              <a:extLst>
                <a:ext uri="{FF2B5EF4-FFF2-40B4-BE49-F238E27FC236}">
                  <a16:creationId xmlns:a16="http://schemas.microsoft.com/office/drawing/2014/main" id="{B52E44EA-436C-55DD-1722-F6B676470A5C}"/>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4" name="Minus 15">
              <a:extLst>
                <a:ext uri="{FF2B5EF4-FFF2-40B4-BE49-F238E27FC236}">
                  <a16:creationId xmlns:a16="http://schemas.microsoft.com/office/drawing/2014/main" id="{C3FE404B-072B-BABF-499C-70AC2BC9FDE1}"/>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5" name="Minus 15">
              <a:extLst>
                <a:ext uri="{FF2B5EF4-FFF2-40B4-BE49-F238E27FC236}">
                  <a16:creationId xmlns:a16="http://schemas.microsoft.com/office/drawing/2014/main" id="{F9582FA8-C447-DBAE-009A-F4F47E6B30D0}"/>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6" name="Minus 15">
              <a:extLst>
                <a:ext uri="{FF2B5EF4-FFF2-40B4-BE49-F238E27FC236}">
                  <a16:creationId xmlns:a16="http://schemas.microsoft.com/office/drawing/2014/main" id="{D928193F-667B-F023-C368-E6D07DF5C4AC}"/>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59" name="Group 58">
            <a:extLst>
              <a:ext uri="{FF2B5EF4-FFF2-40B4-BE49-F238E27FC236}">
                <a16:creationId xmlns:a16="http://schemas.microsoft.com/office/drawing/2014/main" id="{C998F774-F91E-95DC-3E4B-A0B0904C160F}"/>
              </a:ext>
            </a:extLst>
          </p:cNvPr>
          <p:cNvGrpSpPr/>
          <p:nvPr/>
        </p:nvGrpSpPr>
        <p:grpSpPr>
          <a:xfrm>
            <a:off x="2220381" y="4182907"/>
            <a:ext cx="540517" cy="299743"/>
            <a:chOff x="2220381" y="1898308"/>
            <a:chExt cx="540517" cy="299743"/>
          </a:xfrm>
        </p:grpSpPr>
        <p:sp>
          <p:nvSpPr>
            <p:cNvPr id="60" name="Minus 15">
              <a:extLst>
                <a:ext uri="{FF2B5EF4-FFF2-40B4-BE49-F238E27FC236}">
                  <a16:creationId xmlns:a16="http://schemas.microsoft.com/office/drawing/2014/main" id="{7C1483A2-145C-89FD-3153-B0A8FDEDA6B5}"/>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1" name="Minus 15">
              <a:extLst>
                <a:ext uri="{FF2B5EF4-FFF2-40B4-BE49-F238E27FC236}">
                  <a16:creationId xmlns:a16="http://schemas.microsoft.com/office/drawing/2014/main" id="{EEAD72DA-106C-F853-1B89-3451AFFB7432}"/>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2" name="Minus 15">
              <a:extLst>
                <a:ext uri="{FF2B5EF4-FFF2-40B4-BE49-F238E27FC236}">
                  <a16:creationId xmlns:a16="http://schemas.microsoft.com/office/drawing/2014/main" id="{351008AF-546D-7E16-4A56-5DF44F1B61FF}"/>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3" name="Minus 15">
              <a:extLst>
                <a:ext uri="{FF2B5EF4-FFF2-40B4-BE49-F238E27FC236}">
                  <a16:creationId xmlns:a16="http://schemas.microsoft.com/office/drawing/2014/main" id="{FF5128E9-2AF4-E01F-405C-0F973EC7388A}"/>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66" name="Group 65">
            <a:extLst>
              <a:ext uri="{FF2B5EF4-FFF2-40B4-BE49-F238E27FC236}">
                <a16:creationId xmlns:a16="http://schemas.microsoft.com/office/drawing/2014/main" id="{DCB7094D-AE91-2CD9-9C87-29CC19B6D47B}"/>
              </a:ext>
            </a:extLst>
          </p:cNvPr>
          <p:cNvGrpSpPr/>
          <p:nvPr/>
        </p:nvGrpSpPr>
        <p:grpSpPr>
          <a:xfrm>
            <a:off x="2220381" y="4643847"/>
            <a:ext cx="540517" cy="299743"/>
            <a:chOff x="2220381" y="1898308"/>
            <a:chExt cx="540517" cy="299743"/>
          </a:xfrm>
        </p:grpSpPr>
        <p:sp>
          <p:nvSpPr>
            <p:cNvPr id="67" name="Minus 15">
              <a:extLst>
                <a:ext uri="{FF2B5EF4-FFF2-40B4-BE49-F238E27FC236}">
                  <a16:creationId xmlns:a16="http://schemas.microsoft.com/office/drawing/2014/main" id="{80237D25-CF22-A875-F0C6-08ACF69828D8}"/>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8" name="Minus 15">
              <a:extLst>
                <a:ext uri="{FF2B5EF4-FFF2-40B4-BE49-F238E27FC236}">
                  <a16:creationId xmlns:a16="http://schemas.microsoft.com/office/drawing/2014/main" id="{F2299EBA-3704-FD90-9D25-B7F68CC51D21}"/>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9" name="Minus 15">
              <a:extLst>
                <a:ext uri="{FF2B5EF4-FFF2-40B4-BE49-F238E27FC236}">
                  <a16:creationId xmlns:a16="http://schemas.microsoft.com/office/drawing/2014/main" id="{0252A724-E913-DDA8-9FEE-D392925BFDA9}"/>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0" name="Minus 15">
              <a:extLst>
                <a:ext uri="{FF2B5EF4-FFF2-40B4-BE49-F238E27FC236}">
                  <a16:creationId xmlns:a16="http://schemas.microsoft.com/office/drawing/2014/main" id="{C9D24AA7-7B85-28F0-420D-8A0E15C8929C}"/>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73" name="Group 72">
            <a:extLst>
              <a:ext uri="{FF2B5EF4-FFF2-40B4-BE49-F238E27FC236}">
                <a16:creationId xmlns:a16="http://schemas.microsoft.com/office/drawing/2014/main" id="{48315A5E-F2AF-15EC-2FE9-71613C151CBF}"/>
              </a:ext>
            </a:extLst>
          </p:cNvPr>
          <p:cNvGrpSpPr/>
          <p:nvPr/>
        </p:nvGrpSpPr>
        <p:grpSpPr>
          <a:xfrm>
            <a:off x="2220381" y="5104935"/>
            <a:ext cx="540517" cy="299743"/>
            <a:chOff x="2220381" y="1898308"/>
            <a:chExt cx="540517" cy="299743"/>
          </a:xfrm>
        </p:grpSpPr>
        <p:sp>
          <p:nvSpPr>
            <p:cNvPr id="74" name="Minus 15">
              <a:extLst>
                <a:ext uri="{FF2B5EF4-FFF2-40B4-BE49-F238E27FC236}">
                  <a16:creationId xmlns:a16="http://schemas.microsoft.com/office/drawing/2014/main" id="{1080FD4C-CA1C-D105-F11C-B7DCCCF72143}"/>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5" name="Minus 15">
              <a:extLst>
                <a:ext uri="{FF2B5EF4-FFF2-40B4-BE49-F238E27FC236}">
                  <a16:creationId xmlns:a16="http://schemas.microsoft.com/office/drawing/2014/main" id="{6F067EB4-5808-2B86-113D-E99565F5B4D4}"/>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6" name="Minus 15">
              <a:extLst>
                <a:ext uri="{FF2B5EF4-FFF2-40B4-BE49-F238E27FC236}">
                  <a16:creationId xmlns:a16="http://schemas.microsoft.com/office/drawing/2014/main" id="{CAA4431A-1FE6-4B50-F4EB-481A316DD00A}"/>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77" name="Minus 15">
              <a:extLst>
                <a:ext uri="{FF2B5EF4-FFF2-40B4-BE49-F238E27FC236}">
                  <a16:creationId xmlns:a16="http://schemas.microsoft.com/office/drawing/2014/main" id="{7F9B764C-4AA9-48F3-3232-34436B7FDEE0}"/>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80" name="Group 79">
            <a:extLst>
              <a:ext uri="{FF2B5EF4-FFF2-40B4-BE49-F238E27FC236}">
                <a16:creationId xmlns:a16="http://schemas.microsoft.com/office/drawing/2014/main" id="{0A8A82E9-0E8D-6840-4DB4-4F2855D5B4AB}"/>
              </a:ext>
            </a:extLst>
          </p:cNvPr>
          <p:cNvGrpSpPr/>
          <p:nvPr/>
        </p:nvGrpSpPr>
        <p:grpSpPr>
          <a:xfrm>
            <a:off x="2220381" y="5612059"/>
            <a:ext cx="540517" cy="299743"/>
            <a:chOff x="2220381" y="1898308"/>
            <a:chExt cx="540517" cy="299743"/>
          </a:xfrm>
        </p:grpSpPr>
        <p:sp>
          <p:nvSpPr>
            <p:cNvPr id="81" name="Minus 15">
              <a:extLst>
                <a:ext uri="{FF2B5EF4-FFF2-40B4-BE49-F238E27FC236}">
                  <a16:creationId xmlns:a16="http://schemas.microsoft.com/office/drawing/2014/main" id="{8538291A-D347-509F-1F43-686A7FC7908C}"/>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2" name="Minus 15">
              <a:extLst>
                <a:ext uri="{FF2B5EF4-FFF2-40B4-BE49-F238E27FC236}">
                  <a16:creationId xmlns:a16="http://schemas.microsoft.com/office/drawing/2014/main" id="{0153B9F2-5B10-E0F8-2908-02787D4B991C}"/>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3" name="Minus 15">
              <a:extLst>
                <a:ext uri="{FF2B5EF4-FFF2-40B4-BE49-F238E27FC236}">
                  <a16:creationId xmlns:a16="http://schemas.microsoft.com/office/drawing/2014/main" id="{BCE06522-B0C2-D38E-E15A-76B4B33D32C9}"/>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4" name="Minus 15">
              <a:extLst>
                <a:ext uri="{FF2B5EF4-FFF2-40B4-BE49-F238E27FC236}">
                  <a16:creationId xmlns:a16="http://schemas.microsoft.com/office/drawing/2014/main" id="{C9C860A4-DDD6-A895-A5A2-3EA8B1F3A998}"/>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grpSp>
        <p:nvGrpSpPr>
          <p:cNvPr id="87" name="Group 86">
            <a:extLst>
              <a:ext uri="{FF2B5EF4-FFF2-40B4-BE49-F238E27FC236}">
                <a16:creationId xmlns:a16="http://schemas.microsoft.com/office/drawing/2014/main" id="{150D4404-E4BD-B0DB-EBC7-337A64509307}"/>
              </a:ext>
            </a:extLst>
          </p:cNvPr>
          <p:cNvGrpSpPr/>
          <p:nvPr/>
        </p:nvGrpSpPr>
        <p:grpSpPr>
          <a:xfrm>
            <a:off x="2220381" y="6081276"/>
            <a:ext cx="540517" cy="299743"/>
            <a:chOff x="2220381" y="1898308"/>
            <a:chExt cx="540517" cy="299743"/>
          </a:xfrm>
        </p:grpSpPr>
        <p:sp>
          <p:nvSpPr>
            <p:cNvPr id="88" name="Minus 15">
              <a:extLst>
                <a:ext uri="{FF2B5EF4-FFF2-40B4-BE49-F238E27FC236}">
                  <a16:creationId xmlns:a16="http://schemas.microsoft.com/office/drawing/2014/main" id="{BD5FA7BB-2C18-6B03-3AD4-303ADCF6AD83}"/>
                </a:ext>
              </a:extLst>
            </p:cNvPr>
            <p:cNvSpPr/>
            <p:nvPr/>
          </p:nvSpPr>
          <p:spPr>
            <a:xfrm rot="16200000">
              <a:off x="2173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9" name="Minus 15">
              <a:extLst>
                <a:ext uri="{FF2B5EF4-FFF2-40B4-BE49-F238E27FC236}">
                  <a16:creationId xmlns:a16="http://schemas.microsoft.com/office/drawing/2014/main" id="{1C9C2B56-A0C8-87AE-E25E-A368B9FC8DE5}"/>
                </a:ext>
              </a:extLst>
            </p:cNvPr>
            <p:cNvSpPr/>
            <p:nvPr/>
          </p:nvSpPr>
          <p:spPr>
            <a:xfrm rot="16200000">
              <a:off x="2282589"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90" name="Minus 15">
              <a:extLst>
                <a:ext uri="{FF2B5EF4-FFF2-40B4-BE49-F238E27FC236}">
                  <a16:creationId xmlns:a16="http://schemas.microsoft.com/office/drawing/2014/main" id="{86C30993-E552-F935-BE0C-BCCB171DFA38}"/>
                </a:ext>
              </a:extLst>
            </p:cNvPr>
            <p:cNvSpPr/>
            <p:nvPr/>
          </p:nvSpPr>
          <p:spPr>
            <a:xfrm rot="16200000">
              <a:off x="240122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91" name="Minus 15">
              <a:extLst>
                <a:ext uri="{FF2B5EF4-FFF2-40B4-BE49-F238E27FC236}">
                  <a16:creationId xmlns:a16="http://schemas.microsoft.com/office/drawing/2014/main" id="{650EB050-19B9-9F27-2788-AEC316018166}"/>
                </a:ext>
              </a:extLst>
            </p:cNvPr>
            <p:cNvSpPr/>
            <p:nvPr/>
          </p:nvSpPr>
          <p:spPr>
            <a:xfrm rot="16200000">
              <a:off x="2508313" y="1945466"/>
              <a:ext cx="299743" cy="205427"/>
            </a:xfrm>
            <a:prstGeom prst="mathMinus">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grpSp>
      <p:sp>
        <p:nvSpPr>
          <p:cNvPr id="92" name="Text Placeholder 6">
            <a:extLst>
              <a:ext uri="{FF2B5EF4-FFF2-40B4-BE49-F238E27FC236}">
                <a16:creationId xmlns:a16="http://schemas.microsoft.com/office/drawing/2014/main" id="{A6F04B41-C7F6-892C-0B3B-62FADA95291B}"/>
              </a:ext>
            </a:extLst>
          </p:cNvPr>
          <p:cNvSpPr txBox="1">
            <a:spLocks/>
          </p:cNvSpPr>
          <p:nvPr/>
        </p:nvSpPr>
        <p:spPr>
          <a:xfrm>
            <a:off x="394311" y="189653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competitors</a:t>
            </a:r>
          </a:p>
        </p:txBody>
      </p:sp>
      <p:sp>
        <p:nvSpPr>
          <p:cNvPr id="93" name="Text Placeholder 6">
            <a:extLst>
              <a:ext uri="{FF2B5EF4-FFF2-40B4-BE49-F238E27FC236}">
                <a16:creationId xmlns:a16="http://schemas.microsoft.com/office/drawing/2014/main" id="{F9DED2BD-31CB-E4E2-403F-8214CD18F25F}"/>
              </a:ext>
            </a:extLst>
          </p:cNvPr>
          <p:cNvSpPr txBox="1">
            <a:spLocks/>
          </p:cNvSpPr>
          <p:nvPr/>
        </p:nvSpPr>
        <p:spPr>
          <a:xfrm>
            <a:off x="394311" y="2361896"/>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Diversity</a:t>
            </a:r>
          </a:p>
        </p:txBody>
      </p:sp>
      <p:sp>
        <p:nvSpPr>
          <p:cNvPr id="94" name="Text Placeholder 6">
            <a:extLst>
              <a:ext uri="{FF2B5EF4-FFF2-40B4-BE49-F238E27FC236}">
                <a16:creationId xmlns:a16="http://schemas.microsoft.com/office/drawing/2014/main" id="{B72CC163-8364-7DBB-7A3B-B0B8CF68F4D9}"/>
              </a:ext>
            </a:extLst>
          </p:cNvPr>
          <p:cNvSpPr txBox="1">
            <a:spLocks/>
          </p:cNvSpPr>
          <p:nvPr/>
        </p:nvSpPr>
        <p:spPr>
          <a:xfrm>
            <a:off x="394311" y="2805864"/>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Concentration</a:t>
            </a:r>
          </a:p>
        </p:txBody>
      </p:sp>
      <p:sp>
        <p:nvSpPr>
          <p:cNvPr id="95" name="Text Placeholder 6">
            <a:extLst>
              <a:ext uri="{FF2B5EF4-FFF2-40B4-BE49-F238E27FC236}">
                <a16:creationId xmlns:a16="http://schemas.microsoft.com/office/drawing/2014/main" id="{B689A851-3340-B161-54C0-072E6336731F}"/>
              </a:ext>
            </a:extLst>
          </p:cNvPr>
          <p:cNvSpPr txBox="1">
            <a:spLocks/>
          </p:cNvSpPr>
          <p:nvPr/>
        </p:nvSpPr>
        <p:spPr>
          <a:xfrm>
            <a:off x="394311" y="3251629"/>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Industry growth</a:t>
            </a:r>
          </a:p>
        </p:txBody>
      </p:sp>
      <p:sp>
        <p:nvSpPr>
          <p:cNvPr id="96" name="Text Placeholder 6">
            <a:extLst>
              <a:ext uri="{FF2B5EF4-FFF2-40B4-BE49-F238E27FC236}">
                <a16:creationId xmlns:a16="http://schemas.microsoft.com/office/drawing/2014/main" id="{59E548F3-A8F2-16E9-0867-DF648264D1B2}"/>
              </a:ext>
            </a:extLst>
          </p:cNvPr>
          <p:cNvSpPr txBox="1">
            <a:spLocks/>
          </p:cNvSpPr>
          <p:nvPr/>
        </p:nvSpPr>
        <p:spPr>
          <a:xfrm>
            <a:off x="394311" y="3709981"/>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Quality differences</a:t>
            </a:r>
          </a:p>
        </p:txBody>
      </p:sp>
      <p:sp>
        <p:nvSpPr>
          <p:cNvPr id="97" name="Text Placeholder 6">
            <a:extLst>
              <a:ext uri="{FF2B5EF4-FFF2-40B4-BE49-F238E27FC236}">
                <a16:creationId xmlns:a16="http://schemas.microsoft.com/office/drawing/2014/main" id="{E560D0B9-60D8-B6C4-3486-90814808924F}"/>
              </a:ext>
            </a:extLst>
          </p:cNvPr>
          <p:cNvSpPr txBox="1">
            <a:spLocks/>
          </p:cNvSpPr>
          <p:nvPr/>
        </p:nvSpPr>
        <p:spPr>
          <a:xfrm>
            <a:off x="394311" y="4182907"/>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Barriers to exit</a:t>
            </a:r>
          </a:p>
        </p:txBody>
      </p:sp>
      <p:sp>
        <p:nvSpPr>
          <p:cNvPr id="98" name="Text Placeholder 6">
            <a:extLst>
              <a:ext uri="{FF2B5EF4-FFF2-40B4-BE49-F238E27FC236}">
                <a16:creationId xmlns:a16="http://schemas.microsoft.com/office/drawing/2014/main" id="{33956C57-3B73-3904-1EB0-EC9B3B5F8894}"/>
              </a:ext>
            </a:extLst>
          </p:cNvPr>
          <p:cNvSpPr txBox="1">
            <a:spLocks/>
          </p:cNvSpPr>
          <p:nvPr/>
        </p:nvSpPr>
        <p:spPr>
          <a:xfrm>
            <a:off x="394311" y="465583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99" name="Text Placeholder 6">
            <a:extLst>
              <a:ext uri="{FF2B5EF4-FFF2-40B4-BE49-F238E27FC236}">
                <a16:creationId xmlns:a16="http://schemas.microsoft.com/office/drawing/2014/main" id="{102FD908-B7DB-0DB1-5FD8-A4D72B33BADA}"/>
              </a:ext>
            </a:extLst>
          </p:cNvPr>
          <p:cNvSpPr txBox="1">
            <a:spLocks/>
          </p:cNvSpPr>
          <p:nvPr/>
        </p:nvSpPr>
        <p:spPr>
          <a:xfrm>
            <a:off x="394311" y="5084961"/>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00" name="Text Placeholder 6">
            <a:extLst>
              <a:ext uri="{FF2B5EF4-FFF2-40B4-BE49-F238E27FC236}">
                <a16:creationId xmlns:a16="http://schemas.microsoft.com/office/drawing/2014/main" id="{DC2AD284-7CEF-DFB2-1129-950C4162E36F}"/>
              </a:ext>
            </a:extLst>
          </p:cNvPr>
          <p:cNvSpPr txBox="1">
            <a:spLocks/>
          </p:cNvSpPr>
          <p:nvPr/>
        </p:nvSpPr>
        <p:spPr>
          <a:xfrm>
            <a:off x="394311" y="5619963"/>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101" name="Text Placeholder 6">
            <a:extLst>
              <a:ext uri="{FF2B5EF4-FFF2-40B4-BE49-F238E27FC236}">
                <a16:creationId xmlns:a16="http://schemas.microsoft.com/office/drawing/2014/main" id="{9080C594-7CE8-9803-27EF-87945BB21E90}"/>
              </a:ext>
            </a:extLst>
          </p:cNvPr>
          <p:cNvSpPr txBox="1">
            <a:spLocks/>
          </p:cNvSpPr>
          <p:nvPr/>
        </p:nvSpPr>
        <p:spPr>
          <a:xfrm>
            <a:off x="394311" y="6081275"/>
            <a:ext cx="1737001" cy="323715"/>
          </a:xfrm>
          <a:prstGeom prst="rect">
            <a:avLst/>
          </a:prstGeom>
          <a:solidFill>
            <a:schemeClr val="bg1">
              <a:lumMod val="95000"/>
            </a:schemeClr>
          </a:solidFill>
          <a:effectLst/>
        </p:spPr>
        <p:txBody>
          <a:bodyPr lIns="91440" tIns="36000" rIns="89988" bIns="36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defTabSz="228554"/>
            <a:r>
              <a:rPr lang="en-US" sz="1000" dirty="0">
                <a:solidFill>
                  <a:schemeClr val="accent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2" name="Marcador de texto 2">
            <a:extLst>
              <a:ext uri="{FF2B5EF4-FFF2-40B4-BE49-F238E27FC236}">
                <a16:creationId xmlns:a16="http://schemas.microsoft.com/office/drawing/2014/main" id="{D82178FE-E5BC-6A2F-0852-45ACA7B3CC4B}"/>
              </a:ext>
            </a:extLst>
          </p:cNvPr>
          <p:cNvSpPr>
            <a:spLocks noGrp="1"/>
          </p:cNvSpPr>
          <p:nvPr>
            <p:ph type="body" sz="quarter" idx="14"/>
          </p:nvPr>
        </p:nvSpPr>
        <p:spPr>
          <a:xfrm>
            <a:off x="385762" y="802298"/>
            <a:ext cx="11418888" cy="576263"/>
          </a:xfrm>
        </p:spPr>
        <p:txBody>
          <a:bodyPr/>
          <a:lstStyle/>
          <a:p>
            <a:r>
              <a:rPr lang="en-US" dirty="0"/>
              <a:t>Backup to Porter’s Five Forces Analysis</a:t>
            </a:r>
          </a:p>
        </p:txBody>
      </p:sp>
      <p:sp>
        <p:nvSpPr>
          <p:cNvPr id="10" name="Marcador de pie de página 9">
            <a:extLst>
              <a:ext uri="{FF2B5EF4-FFF2-40B4-BE49-F238E27FC236}">
                <a16:creationId xmlns:a16="http://schemas.microsoft.com/office/drawing/2014/main" id="{340B9988-F7F9-87D8-B1A6-0308D29AC2E5}"/>
              </a:ext>
            </a:extLst>
          </p:cNvPr>
          <p:cNvSpPr>
            <a:spLocks noGrp="1"/>
          </p:cNvSpPr>
          <p:nvPr>
            <p:ph type="ftr" sz="quarter" idx="3"/>
          </p:nvPr>
        </p:nvSpPr>
        <p:spPr/>
        <p:txBody>
          <a:bodyPr/>
          <a:lstStyle/>
          <a:p>
            <a:r>
              <a:rPr lang="en-US"/>
              <a:t>Source:_______</a:t>
            </a:r>
            <a:endParaRPr lang="en-US" dirty="0"/>
          </a:p>
        </p:txBody>
      </p:sp>
      <p:sp>
        <p:nvSpPr>
          <p:cNvPr id="11" name="Rectangle 89">
            <a:extLst>
              <a:ext uri="{FF2B5EF4-FFF2-40B4-BE49-F238E27FC236}">
                <a16:creationId xmlns:a16="http://schemas.microsoft.com/office/drawing/2014/main" id="{07C79CAB-7B5F-6271-1FC9-FB069C021EE8}"/>
              </a:ext>
            </a:extLst>
          </p:cNvPr>
          <p:cNvSpPr/>
          <p:nvPr/>
        </p:nvSpPr>
        <p:spPr>
          <a:xfrm>
            <a:off x="2819587" y="1928537"/>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2" name="Rectangle 89">
            <a:extLst>
              <a:ext uri="{FF2B5EF4-FFF2-40B4-BE49-F238E27FC236}">
                <a16:creationId xmlns:a16="http://schemas.microsoft.com/office/drawing/2014/main" id="{6AF77859-5487-FED1-F4AA-C2097A7A606D}"/>
              </a:ext>
            </a:extLst>
          </p:cNvPr>
          <p:cNvSpPr/>
          <p:nvPr/>
        </p:nvSpPr>
        <p:spPr>
          <a:xfrm>
            <a:off x="2819587" y="2394301"/>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4" name="Rectangle 89">
            <a:extLst>
              <a:ext uri="{FF2B5EF4-FFF2-40B4-BE49-F238E27FC236}">
                <a16:creationId xmlns:a16="http://schemas.microsoft.com/office/drawing/2014/main" id="{9D776388-1012-7A2E-081D-AF91084C4CF7}"/>
              </a:ext>
            </a:extLst>
          </p:cNvPr>
          <p:cNvSpPr/>
          <p:nvPr/>
        </p:nvSpPr>
        <p:spPr>
          <a:xfrm>
            <a:off x="2819587" y="2860065"/>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5" name="Rectangle 89">
            <a:extLst>
              <a:ext uri="{FF2B5EF4-FFF2-40B4-BE49-F238E27FC236}">
                <a16:creationId xmlns:a16="http://schemas.microsoft.com/office/drawing/2014/main" id="{A647C356-666E-3F02-17E6-E0D96EF3167F}"/>
              </a:ext>
            </a:extLst>
          </p:cNvPr>
          <p:cNvSpPr/>
          <p:nvPr/>
        </p:nvSpPr>
        <p:spPr>
          <a:xfrm>
            <a:off x="2819587" y="3264597"/>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6" name="Rectangle 89">
            <a:extLst>
              <a:ext uri="{FF2B5EF4-FFF2-40B4-BE49-F238E27FC236}">
                <a16:creationId xmlns:a16="http://schemas.microsoft.com/office/drawing/2014/main" id="{9BA138A0-45D5-7F7E-A030-94302A71F49D}"/>
              </a:ext>
            </a:extLst>
          </p:cNvPr>
          <p:cNvSpPr/>
          <p:nvPr/>
        </p:nvSpPr>
        <p:spPr>
          <a:xfrm>
            <a:off x="2819587" y="3752196"/>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7" name="Rectangle 89">
            <a:extLst>
              <a:ext uri="{FF2B5EF4-FFF2-40B4-BE49-F238E27FC236}">
                <a16:creationId xmlns:a16="http://schemas.microsoft.com/office/drawing/2014/main" id="{EC4C83FE-71A5-5853-7431-F7B0ECCC61B6}"/>
              </a:ext>
            </a:extLst>
          </p:cNvPr>
          <p:cNvSpPr/>
          <p:nvPr/>
        </p:nvSpPr>
        <p:spPr>
          <a:xfrm>
            <a:off x="2819587" y="4213136"/>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8" name="Rectangle 89">
            <a:extLst>
              <a:ext uri="{FF2B5EF4-FFF2-40B4-BE49-F238E27FC236}">
                <a16:creationId xmlns:a16="http://schemas.microsoft.com/office/drawing/2014/main" id="{CF0F4869-14E5-AE67-7297-E223BA51E425}"/>
              </a:ext>
            </a:extLst>
          </p:cNvPr>
          <p:cNvSpPr/>
          <p:nvPr/>
        </p:nvSpPr>
        <p:spPr>
          <a:xfrm>
            <a:off x="2819587" y="4674076"/>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9" name="Rectangle 89">
            <a:extLst>
              <a:ext uri="{FF2B5EF4-FFF2-40B4-BE49-F238E27FC236}">
                <a16:creationId xmlns:a16="http://schemas.microsoft.com/office/drawing/2014/main" id="{FE8A7419-1C40-AD93-0031-883F38E5D611}"/>
              </a:ext>
            </a:extLst>
          </p:cNvPr>
          <p:cNvSpPr/>
          <p:nvPr/>
        </p:nvSpPr>
        <p:spPr>
          <a:xfrm>
            <a:off x="2819587" y="5135164"/>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0" name="Rectangle 89">
            <a:extLst>
              <a:ext uri="{FF2B5EF4-FFF2-40B4-BE49-F238E27FC236}">
                <a16:creationId xmlns:a16="http://schemas.microsoft.com/office/drawing/2014/main" id="{FBAA9DBD-7B2A-61C9-FE7F-C3CC246F7B8B}"/>
              </a:ext>
            </a:extLst>
          </p:cNvPr>
          <p:cNvSpPr/>
          <p:nvPr/>
        </p:nvSpPr>
        <p:spPr>
          <a:xfrm>
            <a:off x="2819587" y="5642288"/>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1" name="Rectangle 89">
            <a:extLst>
              <a:ext uri="{FF2B5EF4-FFF2-40B4-BE49-F238E27FC236}">
                <a16:creationId xmlns:a16="http://schemas.microsoft.com/office/drawing/2014/main" id="{95F2AEF9-50C6-7A00-4D1C-05E5D30ED37C}"/>
              </a:ext>
            </a:extLst>
          </p:cNvPr>
          <p:cNvSpPr/>
          <p:nvPr/>
        </p:nvSpPr>
        <p:spPr>
          <a:xfrm>
            <a:off x="2819587" y="6111505"/>
            <a:ext cx="8776148" cy="32371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0" rIns="0" bIns="0" rtlCol="0" anchor="t"/>
          <a:lstStyle/>
          <a:p>
            <a:r>
              <a:rPr lang="en-US" sz="1000" dirty="0" err="1">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xxxx</a:t>
            </a:r>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a:p>
            <a:endParaRPr lang="en-US" sz="1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29781135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367170"/>
            <a:ext cx="12192000" cy="2123658"/>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BCG Growth</a:t>
            </a:r>
          </a:p>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Share Matrix</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37809869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EEA9A65-A84B-8CDC-A00E-C5B2B57E2FF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4" name="Object 3" hidden="1">
                        <a:extLst>
                          <a:ext uri="{FF2B5EF4-FFF2-40B4-BE49-F238E27FC236}">
                            <a16:creationId xmlns:a16="http://schemas.microsoft.com/office/drawing/2014/main" id="{BEEA9A65-A84B-8CDC-A00E-C5B2B57E2FF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3" name="Título 2">
            <a:extLst>
              <a:ext uri="{FF2B5EF4-FFF2-40B4-BE49-F238E27FC236}">
                <a16:creationId xmlns:a16="http://schemas.microsoft.com/office/drawing/2014/main" id="{36E824DB-66E0-6298-27A8-F059BBF1F348}"/>
              </a:ext>
            </a:extLst>
          </p:cNvPr>
          <p:cNvSpPr>
            <a:spLocks noGrp="1"/>
          </p:cNvSpPr>
          <p:nvPr>
            <p:ph type="title"/>
          </p:nvPr>
        </p:nvSpPr>
        <p:spPr/>
        <p:txBody>
          <a:bodyPr vert="horz"/>
          <a:lstStyle/>
          <a:p>
            <a:r>
              <a:rPr lang="en-US" dirty="0"/>
              <a:t>BCG Growth Share Matrix — Overview</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5" name="TextBox 24">
            <a:extLst>
              <a:ext uri="{FF2B5EF4-FFF2-40B4-BE49-F238E27FC236}">
                <a16:creationId xmlns:a16="http://schemas.microsoft.com/office/drawing/2014/main" id="{27D9F447-36BF-82DC-3E15-AEA2258460B0}"/>
              </a:ext>
            </a:extLst>
          </p:cNvPr>
          <p:cNvSpPr txBox="1"/>
          <p:nvPr/>
        </p:nvSpPr>
        <p:spPr>
          <a:xfrm>
            <a:off x="381308" y="1434284"/>
            <a:ext cx="1636677" cy="276999"/>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Source</a:t>
            </a:r>
          </a:p>
        </p:txBody>
      </p:sp>
      <p:sp>
        <p:nvSpPr>
          <p:cNvPr id="8" name="TextBox 24">
            <a:extLst>
              <a:ext uri="{FF2B5EF4-FFF2-40B4-BE49-F238E27FC236}">
                <a16:creationId xmlns:a16="http://schemas.microsoft.com/office/drawing/2014/main" id="{48A7BF29-830C-9BA6-E947-D8EAB175D87F}"/>
              </a:ext>
            </a:extLst>
          </p:cNvPr>
          <p:cNvSpPr txBox="1"/>
          <p:nvPr/>
        </p:nvSpPr>
        <p:spPr>
          <a:xfrm>
            <a:off x="381308" y="2069816"/>
            <a:ext cx="1636677" cy="276999"/>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Description</a:t>
            </a:r>
          </a:p>
        </p:txBody>
      </p:sp>
      <p:cxnSp>
        <p:nvCxnSpPr>
          <p:cNvPr id="10" name="Conector recto 9">
            <a:extLst>
              <a:ext uri="{FF2B5EF4-FFF2-40B4-BE49-F238E27FC236}">
                <a16:creationId xmlns:a16="http://schemas.microsoft.com/office/drawing/2014/main" id="{1EEEA489-258F-5AA8-3873-4D08E45D0E56}"/>
              </a:ext>
            </a:extLst>
          </p:cNvPr>
          <p:cNvCxnSpPr>
            <a:cxnSpLocks/>
          </p:cNvCxnSpPr>
          <p:nvPr/>
        </p:nvCxnSpPr>
        <p:spPr>
          <a:xfrm>
            <a:off x="2076866" y="2069816"/>
            <a:ext cx="0" cy="2231380"/>
          </a:xfrm>
          <a:prstGeom prst="line">
            <a:avLst/>
          </a:prstGeom>
          <a:noFill/>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Box 25">
            <a:extLst>
              <a:ext uri="{FF2B5EF4-FFF2-40B4-BE49-F238E27FC236}">
                <a16:creationId xmlns:a16="http://schemas.microsoft.com/office/drawing/2014/main" id="{114A2581-5714-55E1-CDD3-5E2E2C07F61F}"/>
              </a:ext>
            </a:extLst>
          </p:cNvPr>
          <p:cNvSpPr txBox="1"/>
          <p:nvPr/>
        </p:nvSpPr>
        <p:spPr>
          <a:xfrm>
            <a:off x="2190792" y="2062121"/>
            <a:ext cx="9613857" cy="2246769"/>
          </a:xfrm>
          <a:prstGeom prst="rect">
            <a:avLst/>
          </a:prstGeom>
          <a:noFill/>
        </p:spPr>
        <p:txBody>
          <a:bodyPr wrap="square" lIns="0" tIns="0" rIns="0" bIns="0" rtlCol="0" anchor="ctr">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 2x2 matrix with two dimensions: </a:t>
            </a: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market growth rate </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(representing the rate at which the market for a product or business unit is growing) and </a:t>
            </a: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market share </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(representing the percentage of the total market that is controlled by the product or business unit). </a:t>
            </a:r>
          </a:p>
          <a:p>
            <a:pPr marR="0" lvl="0" algn="l" defTabSz="914400" rtl="0" eaLnBrk="1" fontAlgn="auto" latinLnBrk="0" hangingPunct="1">
              <a:lnSpc>
                <a:spcPct val="100000"/>
              </a:lnSpc>
              <a:spcBef>
                <a:spcPts val="600"/>
              </a:spcBef>
              <a:spcAft>
                <a:spcPts val="0"/>
              </a:spcAft>
              <a:buClrTx/>
              <a:buSzTx/>
              <a:tabLst/>
              <a:defRPr/>
            </a:pP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The matrix divides a company's products or business units into four categories: </a:t>
            </a:r>
          </a:p>
          <a:p>
            <a:pPr marL="228600" marR="0" lvl="0"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100" b="1"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S</a:t>
            </a: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tars</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 High-growth, high-market-share products or business units. They require a lot of investment to maintain their growth, but also generate high revenue.</a:t>
            </a:r>
          </a:p>
          <a:p>
            <a:pPr marL="228600" marR="0" lvl="0"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100" b="1"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C</a:t>
            </a: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ash cows </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Low-growth, high-market-share products or business units. They generate a lot of cash for the company but require less investment to maintain their market share.</a:t>
            </a:r>
          </a:p>
          <a:p>
            <a:pPr marL="228600" marR="0" lvl="0"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100" b="1"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Q</a:t>
            </a:r>
            <a:r>
              <a:rPr kumimoji="0" lang="en-US" sz="1100" b="1"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uestion</a:t>
            </a: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marks </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(also known as problem children) — High-growth, low-market-share products or business units. They have the potential to become stars, but they require a lot of investment to achieve that growth.</a:t>
            </a:r>
          </a:p>
          <a:p>
            <a:pPr marL="228600" marR="0" lvl="0"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100" b="1"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D</a:t>
            </a:r>
            <a:r>
              <a:rPr kumimoji="0" lang="en-US" sz="1100" b="1"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ogs</a:t>
            </a:r>
            <a:r>
              <a:rPr lang="en-US" sz="11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 — Low-growth, low-market-share products or business units. They generate little revenue and usually require little investment.</a:t>
            </a:r>
            <a:endPar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13" name="Conector recto 12">
            <a:extLst>
              <a:ext uri="{FF2B5EF4-FFF2-40B4-BE49-F238E27FC236}">
                <a16:creationId xmlns:a16="http://schemas.microsoft.com/office/drawing/2014/main" id="{0CEE4AF4-EDD8-A48C-2BE2-73493BDBF084}"/>
              </a:ext>
            </a:extLst>
          </p:cNvPr>
          <p:cNvCxnSpPr>
            <a:cxnSpLocks/>
          </p:cNvCxnSpPr>
          <p:nvPr/>
        </p:nvCxnSpPr>
        <p:spPr>
          <a:xfrm>
            <a:off x="2076866" y="1375697"/>
            <a:ext cx="0" cy="3941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TextBox 25">
            <a:extLst>
              <a:ext uri="{FF2B5EF4-FFF2-40B4-BE49-F238E27FC236}">
                <a16:creationId xmlns:a16="http://schemas.microsoft.com/office/drawing/2014/main" id="{835F995D-B38D-8AA4-7889-B6003A0DDAB5}"/>
              </a:ext>
            </a:extLst>
          </p:cNvPr>
          <p:cNvSpPr txBox="1"/>
          <p:nvPr/>
        </p:nvSpPr>
        <p:spPr>
          <a:xfrm>
            <a:off x="2206668" y="1403506"/>
            <a:ext cx="9613857" cy="338554"/>
          </a:xfrm>
          <a:prstGeom prst="rect">
            <a:avLst/>
          </a:prstGeom>
          <a:noFill/>
        </p:spPr>
        <p:txBody>
          <a:bodyPr wrap="square" lIns="0" tIns="0" rIns="0" bIns="0" rtlCol="0" anchor="ctr">
            <a:spAutoFit/>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BCG's Alan </a:t>
            </a:r>
            <a:r>
              <a:rPr kumimoji="0" lang="en-US" sz="11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Zakon</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—who would go on to become the firm's CEO—first sketched the matrix and then refined it with his colleagues. BCG's founder, Bruce Henderson, popularized the concept in his 1970 essay “The Product Portfolio.”</a:t>
            </a:r>
          </a:p>
        </p:txBody>
      </p:sp>
      <p:sp>
        <p:nvSpPr>
          <p:cNvPr id="12" name="TextBox 24">
            <a:extLst>
              <a:ext uri="{FF2B5EF4-FFF2-40B4-BE49-F238E27FC236}">
                <a16:creationId xmlns:a16="http://schemas.microsoft.com/office/drawing/2014/main" id="{D8704456-450A-2FB6-68B5-F5A24A3D97C6}"/>
              </a:ext>
            </a:extLst>
          </p:cNvPr>
          <p:cNvSpPr txBox="1"/>
          <p:nvPr/>
        </p:nvSpPr>
        <p:spPr>
          <a:xfrm>
            <a:off x="381308" y="4702207"/>
            <a:ext cx="1636677" cy="276999"/>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Application</a:t>
            </a:r>
          </a:p>
        </p:txBody>
      </p:sp>
      <p:cxnSp>
        <p:nvCxnSpPr>
          <p:cNvPr id="15" name="Conector recto 14">
            <a:extLst>
              <a:ext uri="{FF2B5EF4-FFF2-40B4-BE49-F238E27FC236}">
                <a16:creationId xmlns:a16="http://schemas.microsoft.com/office/drawing/2014/main" id="{C0B38342-6560-B3E3-FBFD-9AE2975FC4A4}"/>
              </a:ext>
            </a:extLst>
          </p:cNvPr>
          <p:cNvCxnSpPr>
            <a:cxnSpLocks/>
          </p:cNvCxnSpPr>
          <p:nvPr/>
        </p:nvCxnSpPr>
        <p:spPr>
          <a:xfrm>
            <a:off x="2056189" y="4722940"/>
            <a:ext cx="0" cy="1261884"/>
          </a:xfrm>
          <a:prstGeom prst="line">
            <a:avLst/>
          </a:prstGeom>
          <a:noFill/>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Box 25">
            <a:extLst>
              <a:ext uri="{FF2B5EF4-FFF2-40B4-BE49-F238E27FC236}">
                <a16:creationId xmlns:a16="http://schemas.microsoft.com/office/drawing/2014/main" id="{7B4B2BD5-90CB-1C8E-4816-386C43A0F8A2}"/>
              </a:ext>
            </a:extLst>
          </p:cNvPr>
          <p:cNvSpPr txBox="1"/>
          <p:nvPr/>
        </p:nvSpPr>
        <p:spPr>
          <a:xfrm>
            <a:off x="2206668" y="4722940"/>
            <a:ext cx="9613857" cy="830997"/>
          </a:xfrm>
          <a:prstGeom prst="rect">
            <a:avLst/>
          </a:prstGeom>
          <a:noFill/>
        </p:spPr>
        <p:txBody>
          <a:bodyPr wrap="square" lIns="0" tIns="0" rIns="0" bIns="0" rtlCol="0" anchor="ctr">
            <a:spAutoFit/>
          </a:bodyPr>
          <a:lstStyle/>
          <a:p>
            <a:pPr marL="228600" marR="0" lvl="0" indent="-22860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Portfolio Analysis</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Prioritize investments across a corporate portfolio.</a:t>
            </a:r>
          </a:p>
          <a:p>
            <a:pPr marL="228600" marR="0" lvl="0" indent="-22860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Market Entry Strategy</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Evaluate the potential for growth and the level of competition in the market. </a:t>
            </a:r>
          </a:p>
          <a:p>
            <a:pPr marL="228600" marR="0" lvl="0" indent="-22860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Mergers and Acquisitions</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lang="en-US" sz="11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E</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valuate the target company's product or business unit portfolio to identify which products or business units are stars or cash cows and which are question marks or dogs. </a:t>
            </a:r>
          </a:p>
        </p:txBody>
      </p:sp>
      <p:cxnSp>
        <p:nvCxnSpPr>
          <p:cNvPr id="22" name="Straight Connector 34">
            <a:extLst>
              <a:ext uri="{FF2B5EF4-FFF2-40B4-BE49-F238E27FC236}">
                <a16:creationId xmlns:a16="http://schemas.microsoft.com/office/drawing/2014/main" id="{3D1AD638-63B1-F323-E4AE-BD7CB62E05B1}"/>
              </a:ext>
            </a:extLst>
          </p:cNvPr>
          <p:cNvCxnSpPr>
            <a:cxnSpLocks/>
          </p:cNvCxnSpPr>
          <p:nvPr/>
        </p:nvCxnSpPr>
        <p:spPr>
          <a:xfrm>
            <a:off x="2206668" y="1919843"/>
            <a:ext cx="9613857"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34">
            <a:extLst>
              <a:ext uri="{FF2B5EF4-FFF2-40B4-BE49-F238E27FC236}">
                <a16:creationId xmlns:a16="http://schemas.microsoft.com/office/drawing/2014/main" id="{E71DB033-07C8-5FBB-4DC1-5C34E8E59942}"/>
              </a:ext>
            </a:extLst>
          </p:cNvPr>
          <p:cNvCxnSpPr>
            <a:cxnSpLocks/>
          </p:cNvCxnSpPr>
          <p:nvPr/>
        </p:nvCxnSpPr>
        <p:spPr>
          <a:xfrm>
            <a:off x="2206668" y="4505709"/>
            <a:ext cx="9613857"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FE3AE9F-CBA5-EFE5-B59B-822852CC0E88}"/>
              </a:ext>
            </a:extLst>
          </p:cNvPr>
          <p:cNvSpPr txBox="1"/>
          <p:nvPr/>
        </p:nvSpPr>
        <p:spPr>
          <a:xfrm>
            <a:off x="1416676" y="6606862"/>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2" name="Marcador de pie de página 1">
            <a:extLst>
              <a:ext uri="{FF2B5EF4-FFF2-40B4-BE49-F238E27FC236}">
                <a16:creationId xmlns:a16="http://schemas.microsoft.com/office/drawing/2014/main" id="{A911023A-FBBC-A980-214A-0ACAA8BB6C76}"/>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4790439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to 9" hidden="1">
            <a:extLst>
              <a:ext uri="{FF2B5EF4-FFF2-40B4-BE49-F238E27FC236}">
                <a16:creationId xmlns:a16="http://schemas.microsoft.com/office/drawing/2014/main" id="{5ABD090E-3708-BC0B-A901-A7E372739112}"/>
              </a:ext>
            </a:extLst>
          </p:cNvPr>
          <p:cNvGraphicFramePr>
            <a:graphicFrameLocks noChangeAspect="1"/>
          </p:cNvGraphicFramePr>
          <p:nvPr>
            <p:custDataLst>
              <p:tags r:id="rId1"/>
            </p:custDataLst>
            <p:extLst>
              <p:ext uri="{D42A27DB-BD31-4B8C-83A1-F6EECF244321}">
                <p14:modId xmlns:p14="http://schemas.microsoft.com/office/powerpoint/2010/main" val="36478380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ángulo 7">
            <a:extLst>
              <a:ext uri="{FF2B5EF4-FFF2-40B4-BE49-F238E27FC236}">
                <a16:creationId xmlns:a16="http://schemas.microsoft.com/office/drawing/2014/main" id="{4CFFE656-ACC4-822C-07FA-5509382CB874}"/>
              </a:ext>
            </a:extLst>
          </p:cNvPr>
          <p:cNvSpPr/>
          <p:nvPr/>
        </p:nvSpPr>
        <p:spPr>
          <a:xfrm>
            <a:off x="667657" y="1152525"/>
            <a:ext cx="11152868" cy="48197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pic>
        <p:nvPicPr>
          <p:cNvPr id="21" name="Gráfico 20" descr="Signo de interrogación con relleno sólido">
            <a:extLst>
              <a:ext uri="{FF2B5EF4-FFF2-40B4-BE49-F238E27FC236}">
                <a16:creationId xmlns:a16="http://schemas.microsoft.com/office/drawing/2014/main" id="{782E4D49-D89D-D7C4-FA61-E105E21B998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53545" y="1525947"/>
            <a:ext cx="2004652" cy="2004652"/>
          </a:xfrm>
          <a:prstGeom prst="rect">
            <a:avLst/>
          </a:prstGeom>
        </p:spPr>
      </p:pic>
      <p:pic>
        <p:nvPicPr>
          <p:cNvPr id="22" name="Gráfico 21" descr="Estrella con relleno sólido">
            <a:extLst>
              <a:ext uri="{FF2B5EF4-FFF2-40B4-BE49-F238E27FC236}">
                <a16:creationId xmlns:a16="http://schemas.microsoft.com/office/drawing/2014/main" id="{071FD096-0E2B-25AE-0C07-D3CBDDAD3A3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29935" y="1525947"/>
            <a:ext cx="2004652" cy="2004652"/>
          </a:xfrm>
          <a:prstGeom prst="rect">
            <a:avLst/>
          </a:prstGeom>
        </p:spPr>
      </p:pic>
      <p:pic>
        <p:nvPicPr>
          <p:cNvPr id="23" name="Gráfico 22" descr="Vaca con relleno sólido">
            <a:extLst>
              <a:ext uri="{FF2B5EF4-FFF2-40B4-BE49-F238E27FC236}">
                <a16:creationId xmlns:a16="http://schemas.microsoft.com/office/drawing/2014/main" id="{73217520-BA58-CF44-DC20-EDF61993C9E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29935" y="3829774"/>
            <a:ext cx="2004652" cy="2004652"/>
          </a:xfrm>
          <a:prstGeom prst="rect">
            <a:avLst/>
          </a:prstGeom>
        </p:spPr>
      </p:pic>
      <p:pic>
        <p:nvPicPr>
          <p:cNvPr id="24" name="Gráfico 23" descr="Perro con relleno sólido">
            <a:extLst>
              <a:ext uri="{FF2B5EF4-FFF2-40B4-BE49-F238E27FC236}">
                <a16:creationId xmlns:a16="http://schemas.microsoft.com/office/drawing/2014/main" id="{208779BE-BDD5-3303-7B2C-71D9412571C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453545" y="3829774"/>
            <a:ext cx="2004652" cy="2004652"/>
          </a:xfrm>
          <a:prstGeom prst="rect">
            <a:avLst/>
          </a:prstGeom>
        </p:spPr>
      </p:pic>
      <p:sp>
        <p:nvSpPr>
          <p:cNvPr id="3" name="Title 2">
            <a:extLst>
              <a:ext uri="{FF2B5EF4-FFF2-40B4-BE49-F238E27FC236}">
                <a16:creationId xmlns:a16="http://schemas.microsoft.com/office/drawing/2014/main" id="{1B31C177-DCE8-5686-5F3D-AA4B843F22C6}"/>
              </a:ext>
            </a:extLst>
          </p:cNvPr>
          <p:cNvSpPr>
            <a:spLocks noGrp="1"/>
          </p:cNvSpPr>
          <p:nvPr>
            <p:ph type="title"/>
          </p:nvPr>
        </p:nvSpPr>
        <p:spPr>
          <a:xfrm>
            <a:off x="384174" y="381000"/>
            <a:ext cx="11420475" cy="485775"/>
          </a:xfrm>
        </p:spPr>
        <p:txBody>
          <a:bodyPr vert="horz"/>
          <a:lstStyle/>
          <a:p>
            <a:r>
              <a:rPr lang="en-US" dirty="0"/>
              <a:t>BCG Growth Share Matrix — Template A</a:t>
            </a:r>
          </a:p>
        </p:txBody>
      </p:sp>
      <p:cxnSp>
        <p:nvCxnSpPr>
          <p:cNvPr id="17" name="Conector recto 16">
            <a:extLst>
              <a:ext uri="{FF2B5EF4-FFF2-40B4-BE49-F238E27FC236}">
                <a16:creationId xmlns:a16="http://schemas.microsoft.com/office/drawing/2014/main" id="{B2AB7BBE-1B2E-7F07-9C1E-57D7264FBBBA}"/>
              </a:ext>
            </a:extLst>
          </p:cNvPr>
          <p:cNvCxnSpPr>
            <a:cxnSpLocks/>
          </p:cNvCxnSpPr>
          <p:nvPr/>
        </p:nvCxnSpPr>
        <p:spPr>
          <a:xfrm flipV="1">
            <a:off x="463810" y="1548122"/>
            <a:ext cx="0" cy="4028587"/>
          </a:xfrm>
          <a:prstGeom prst="line">
            <a:avLst/>
          </a:prstGeom>
          <a:noFill/>
          <a:ln w="28575">
            <a:solidFill>
              <a:schemeClr val="tx2"/>
            </a:solidFill>
            <a:tailEnd type="arrow" w="med" len="sm"/>
          </a:ln>
        </p:spPr>
        <p:style>
          <a:lnRef idx="1">
            <a:schemeClr val="accent1"/>
          </a:lnRef>
          <a:fillRef idx="0">
            <a:schemeClr val="accent1"/>
          </a:fillRef>
          <a:effectRef idx="0">
            <a:schemeClr val="accent1"/>
          </a:effectRef>
          <a:fontRef idx="minor">
            <a:schemeClr val="tx1"/>
          </a:fontRef>
        </p:style>
      </p:cxnSp>
      <p:sp>
        <p:nvSpPr>
          <p:cNvPr id="1028" name="TextBox 25">
            <a:extLst>
              <a:ext uri="{FF2B5EF4-FFF2-40B4-BE49-F238E27FC236}">
                <a16:creationId xmlns:a16="http://schemas.microsoft.com/office/drawing/2014/main" id="{AFE460C8-AA52-ADD3-AF35-908F192415C5}"/>
              </a:ext>
            </a:extLst>
          </p:cNvPr>
          <p:cNvSpPr txBox="1"/>
          <p:nvPr/>
        </p:nvSpPr>
        <p:spPr>
          <a:xfrm rot="16200000">
            <a:off x="266011" y="1257991"/>
            <a:ext cx="395596" cy="184666"/>
          </a:xfrm>
          <a:prstGeom prst="rect">
            <a:avLst/>
          </a:prstGeom>
          <a:noFill/>
        </p:spPr>
        <p:txBody>
          <a:bodyPr wrap="square" lIns="0" tIns="0" rIns="0" bIns="0" rtlCol="0" anchor="ctr">
            <a:spAutoFit/>
          </a:bodyPr>
          <a:lstStyle/>
          <a:p>
            <a:pPr marR="0" lvl="0" algn="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High</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030" name="TextBox 25">
            <a:extLst>
              <a:ext uri="{FF2B5EF4-FFF2-40B4-BE49-F238E27FC236}">
                <a16:creationId xmlns:a16="http://schemas.microsoft.com/office/drawing/2014/main" id="{2F88657B-A226-472F-5924-A15D31FFAC6B}"/>
              </a:ext>
            </a:extLst>
          </p:cNvPr>
          <p:cNvSpPr txBox="1"/>
          <p:nvPr/>
        </p:nvSpPr>
        <p:spPr>
          <a:xfrm rot="16200000">
            <a:off x="266011" y="5682174"/>
            <a:ext cx="395596" cy="184666"/>
          </a:xfrm>
          <a:prstGeom prst="rect">
            <a:avLst/>
          </a:prstGeom>
          <a:no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Low</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034" name="TextBox 25">
            <a:extLst>
              <a:ext uri="{FF2B5EF4-FFF2-40B4-BE49-F238E27FC236}">
                <a16:creationId xmlns:a16="http://schemas.microsoft.com/office/drawing/2014/main" id="{9F4D4780-B5A5-4B7E-ABF8-F92FEAD0FA33}"/>
              </a:ext>
            </a:extLst>
          </p:cNvPr>
          <p:cNvSpPr txBox="1"/>
          <p:nvPr/>
        </p:nvSpPr>
        <p:spPr>
          <a:xfrm rot="16200000">
            <a:off x="-158744" y="3470083"/>
            <a:ext cx="1245105" cy="184666"/>
          </a:xfrm>
          <a:prstGeom prst="rect">
            <a:avLst/>
          </a:prstGeom>
          <a:solidFill>
            <a:schemeClr val="bg1"/>
          </a:solid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Market growth</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11" name="Conector recto 10">
            <a:extLst>
              <a:ext uri="{FF2B5EF4-FFF2-40B4-BE49-F238E27FC236}">
                <a16:creationId xmlns:a16="http://schemas.microsoft.com/office/drawing/2014/main" id="{A4AA88CA-744C-450A-8FCC-A9D070AD3D26}"/>
              </a:ext>
            </a:extLst>
          </p:cNvPr>
          <p:cNvCxnSpPr>
            <a:cxnSpLocks/>
          </p:cNvCxnSpPr>
          <p:nvPr/>
        </p:nvCxnSpPr>
        <p:spPr>
          <a:xfrm>
            <a:off x="6244091" y="1152525"/>
            <a:ext cx="0" cy="481978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22E7E6E2-4398-D004-9A86-B8E45E843184}"/>
              </a:ext>
            </a:extLst>
          </p:cNvPr>
          <p:cNvCxnSpPr>
            <a:cxnSpLocks/>
          </p:cNvCxnSpPr>
          <p:nvPr/>
        </p:nvCxnSpPr>
        <p:spPr>
          <a:xfrm flipH="1">
            <a:off x="667657" y="3562415"/>
            <a:ext cx="11152868"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E227F520-9742-71D2-FBBF-31D262070F2E}"/>
              </a:ext>
            </a:extLst>
          </p:cNvPr>
          <p:cNvCxnSpPr>
            <a:cxnSpLocks/>
          </p:cNvCxnSpPr>
          <p:nvPr/>
        </p:nvCxnSpPr>
        <p:spPr>
          <a:xfrm>
            <a:off x="1041400" y="6141684"/>
            <a:ext cx="10385425" cy="0"/>
          </a:xfrm>
          <a:prstGeom prst="line">
            <a:avLst/>
          </a:prstGeom>
          <a:noFill/>
          <a:ln w="28575">
            <a:solidFill>
              <a:schemeClr val="tx2"/>
            </a:solidFill>
            <a:tailEnd type="arrow" w="med" len="sm"/>
          </a:ln>
        </p:spPr>
        <p:style>
          <a:lnRef idx="1">
            <a:schemeClr val="accent1"/>
          </a:lnRef>
          <a:fillRef idx="0">
            <a:schemeClr val="accent1"/>
          </a:fillRef>
          <a:effectRef idx="0">
            <a:schemeClr val="accent1"/>
          </a:effectRef>
          <a:fontRef idx="minor">
            <a:schemeClr val="tx1"/>
          </a:fontRef>
        </p:style>
      </p:cxnSp>
      <p:sp>
        <p:nvSpPr>
          <p:cNvPr id="19" name="TextBox 24">
            <a:extLst>
              <a:ext uri="{FF2B5EF4-FFF2-40B4-BE49-F238E27FC236}">
                <a16:creationId xmlns:a16="http://schemas.microsoft.com/office/drawing/2014/main" id="{7A12B2BC-7570-D12A-D75C-1253DEACA6C6}"/>
              </a:ext>
            </a:extLst>
          </p:cNvPr>
          <p:cNvSpPr txBox="1"/>
          <p:nvPr/>
        </p:nvSpPr>
        <p:spPr>
          <a:xfrm>
            <a:off x="667657" y="1152525"/>
            <a:ext cx="5576429" cy="263387"/>
          </a:xfrm>
          <a:prstGeom prst="rect">
            <a:avLst/>
          </a:prstGeom>
          <a:noFill/>
        </p:spPr>
        <p:txBody>
          <a:bodyPr wrap="square" lIns="0" tIns="36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Question marks</a:t>
            </a:r>
          </a:p>
        </p:txBody>
      </p:sp>
      <p:sp>
        <p:nvSpPr>
          <p:cNvPr id="20" name="TextBox 24">
            <a:extLst>
              <a:ext uri="{FF2B5EF4-FFF2-40B4-BE49-F238E27FC236}">
                <a16:creationId xmlns:a16="http://schemas.microsoft.com/office/drawing/2014/main" id="{03A96AC2-1F48-8241-B9C0-538A04C2EEB9}"/>
              </a:ext>
            </a:extLst>
          </p:cNvPr>
          <p:cNvSpPr txBox="1"/>
          <p:nvPr/>
        </p:nvSpPr>
        <p:spPr>
          <a:xfrm>
            <a:off x="6244047" y="1152525"/>
            <a:ext cx="5576429" cy="263387"/>
          </a:xfrm>
          <a:prstGeom prst="rect">
            <a:avLst/>
          </a:prstGeom>
          <a:noFill/>
        </p:spPr>
        <p:txBody>
          <a:bodyPr wrap="square" lIns="0" tIns="36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Stars</a:t>
            </a:r>
          </a:p>
        </p:txBody>
      </p:sp>
      <p:sp>
        <p:nvSpPr>
          <p:cNvPr id="26" name="TextBox 24">
            <a:extLst>
              <a:ext uri="{FF2B5EF4-FFF2-40B4-BE49-F238E27FC236}">
                <a16:creationId xmlns:a16="http://schemas.microsoft.com/office/drawing/2014/main" id="{56941CBF-74EB-4BD8-E3C9-9137588056BD}"/>
              </a:ext>
            </a:extLst>
          </p:cNvPr>
          <p:cNvSpPr txBox="1"/>
          <p:nvPr/>
        </p:nvSpPr>
        <p:spPr>
          <a:xfrm>
            <a:off x="667657" y="3562415"/>
            <a:ext cx="5576429" cy="263387"/>
          </a:xfrm>
          <a:prstGeom prst="rect">
            <a:avLst/>
          </a:prstGeom>
          <a:noFill/>
        </p:spPr>
        <p:txBody>
          <a:bodyPr wrap="square" lIns="0" tIns="36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Dogs</a:t>
            </a:r>
          </a:p>
        </p:txBody>
      </p:sp>
      <p:sp>
        <p:nvSpPr>
          <p:cNvPr id="27" name="TextBox 24">
            <a:extLst>
              <a:ext uri="{FF2B5EF4-FFF2-40B4-BE49-F238E27FC236}">
                <a16:creationId xmlns:a16="http://schemas.microsoft.com/office/drawing/2014/main" id="{23955609-AF50-775B-FEFD-ECC692EFF00B}"/>
              </a:ext>
            </a:extLst>
          </p:cNvPr>
          <p:cNvSpPr txBox="1"/>
          <p:nvPr/>
        </p:nvSpPr>
        <p:spPr>
          <a:xfrm>
            <a:off x="6244047" y="3562415"/>
            <a:ext cx="5576429" cy="263387"/>
          </a:xfrm>
          <a:prstGeom prst="rect">
            <a:avLst/>
          </a:prstGeom>
          <a:noFill/>
        </p:spPr>
        <p:txBody>
          <a:bodyPr wrap="square" lIns="0" tIns="36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Cash cows</a:t>
            </a:r>
          </a:p>
        </p:txBody>
      </p:sp>
      <p:sp>
        <p:nvSpPr>
          <p:cNvPr id="28" name="TextBox 25">
            <a:extLst>
              <a:ext uri="{FF2B5EF4-FFF2-40B4-BE49-F238E27FC236}">
                <a16:creationId xmlns:a16="http://schemas.microsoft.com/office/drawing/2014/main" id="{D94BADE0-D77C-8CA3-B9F4-AD4C4134A75B}"/>
              </a:ext>
            </a:extLst>
          </p:cNvPr>
          <p:cNvSpPr txBox="1"/>
          <p:nvPr/>
        </p:nvSpPr>
        <p:spPr>
          <a:xfrm>
            <a:off x="667657" y="6049351"/>
            <a:ext cx="373743" cy="184666"/>
          </a:xfrm>
          <a:prstGeom prst="rect">
            <a:avLst/>
          </a:prstGeom>
          <a:noFill/>
        </p:spPr>
        <p:txBody>
          <a:bodyPr wrap="square" lIns="0" tIns="0" rIns="0" bIns="0" rtlCol="0" anchor="ctr">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Low</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29" name="TextBox 25">
            <a:extLst>
              <a:ext uri="{FF2B5EF4-FFF2-40B4-BE49-F238E27FC236}">
                <a16:creationId xmlns:a16="http://schemas.microsoft.com/office/drawing/2014/main" id="{47390318-E2E7-ECA8-769B-057D87A8A93F}"/>
              </a:ext>
            </a:extLst>
          </p:cNvPr>
          <p:cNvSpPr txBox="1"/>
          <p:nvPr/>
        </p:nvSpPr>
        <p:spPr>
          <a:xfrm>
            <a:off x="11426825" y="6049351"/>
            <a:ext cx="393700" cy="184666"/>
          </a:xfrm>
          <a:prstGeom prst="rect">
            <a:avLst/>
          </a:prstGeom>
          <a:noFill/>
        </p:spPr>
        <p:txBody>
          <a:bodyPr wrap="square" lIns="0" tIns="0" rIns="0" bIns="0" rtlCol="0" anchor="ctr">
            <a:spAutoFit/>
          </a:bodyPr>
          <a:lstStyle/>
          <a:p>
            <a:pPr marR="0" lvl="0" algn="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High</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027" name="TextBox 25">
            <a:extLst>
              <a:ext uri="{FF2B5EF4-FFF2-40B4-BE49-F238E27FC236}">
                <a16:creationId xmlns:a16="http://schemas.microsoft.com/office/drawing/2014/main" id="{24BD729D-D04F-408B-5EE0-7CEE34EEEB9F}"/>
              </a:ext>
            </a:extLst>
          </p:cNvPr>
          <p:cNvSpPr txBox="1"/>
          <p:nvPr/>
        </p:nvSpPr>
        <p:spPr>
          <a:xfrm>
            <a:off x="5634214" y="6049351"/>
            <a:ext cx="1169812" cy="184666"/>
          </a:xfrm>
          <a:prstGeom prst="rect">
            <a:avLst/>
          </a:prstGeom>
          <a:solidFill>
            <a:schemeClr val="bg1"/>
          </a:solid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Market share</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076" name="TextBox 25">
            <a:extLst>
              <a:ext uri="{FF2B5EF4-FFF2-40B4-BE49-F238E27FC236}">
                <a16:creationId xmlns:a16="http://schemas.microsoft.com/office/drawing/2014/main" id="{EED066A3-4EA6-5A85-3697-C151D77DD3CF}"/>
              </a:ext>
            </a:extLst>
          </p:cNvPr>
          <p:cNvSpPr txBox="1"/>
          <p:nvPr/>
        </p:nvSpPr>
        <p:spPr>
          <a:xfrm>
            <a:off x="667657" y="3232063"/>
            <a:ext cx="5576427" cy="169277"/>
          </a:xfrm>
          <a:prstGeom prst="rect">
            <a:avLst/>
          </a:prstGeom>
          <a:noFill/>
        </p:spPr>
        <p:txBody>
          <a:bodyPr wrap="square" lIns="36000" tIns="0" rIns="36000" bIns="0" rtlCol="0" anchor="t">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Remainder divested</a:t>
            </a:r>
          </a:p>
        </p:txBody>
      </p:sp>
      <p:sp>
        <p:nvSpPr>
          <p:cNvPr id="1077" name="TextBox 25">
            <a:extLst>
              <a:ext uri="{FF2B5EF4-FFF2-40B4-BE49-F238E27FC236}">
                <a16:creationId xmlns:a16="http://schemas.microsoft.com/office/drawing/2014/main" id="{E69E4657-79A1-FA9E-79A2-0FDC4CDE304B}"/>
              </a:ext>
            </a:extLst>
          </p:cNvPr>
          <p:cNvSpPr txBox="1"/>
          <p:nvPr/>
        </p:nvSpPr>
        <p:spPr>
          <a:xfrm>
            <a:off x="6244096" y="3229813"/>
            <a:ext cx="5576427" cy="169277"/>
          </a:xfrm>
          <a:prstGeom prst="rect">
            <a:avLst/>
          </a:prstGeom>
          <a:noFill/>
        </p:spPr>
        <p:txBody>
          <a:bodyPr wrap="square" lIns="36000" tIns="0" rIns="36000" bIns="0" rtlCol="0" anchor="t">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Invest</a:t>
            </a:r>
          </a:p>
        </p:txBody>
      </p:sp>
      <p:sp>
        <p:nvSpPr>
          <p:cNvPr id="1078" name="TextBox 25">
            <a:extLst>
              <a:ext uri="{FF2B5EF4-FFF2-40B4-BE49-F238E27FC236}">
                <a16:creationId xmlns:a16="http://schemas.microsoft.com/office/drawing/2014/main" id="{14CD867E-5423-5DFE-2179-4F642FC89BFE}"/>
              </a:ext>
            </a:extLst>
          </p:cNvPr>
          <p:cNvSpPr txBox="1"/>
          <p:nvPr/>
        </p:nvSpPr>
        <p:spPr>
          <a:xfrm>
            <a:off x="667657" y="5591386"/>
            <a:ext cx="5576427" cy="169277"/>
          </a:xfrm>
          <a:prstGeom prst="rect">
            <a:avLst/>
          </a:prstGeom>
          <a:noFill/>
        </p:spPr>
        <p:txBody>
          <a:bodyPr wrap="square" lIns="36000" tIns="0" rIns="36000" bIns="0" rtlCol="0" anchor="t">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Liquidate</a:t>
            </a:r>
          </a:p>
        </p:txBody>
      </p:sp>
      <p:sp>
        <p:nvSpPr>
          <p:cNvPr id="1079" name="TextBox 25">
            <a:extLst>
              <a:ext uri="{FF2B5EF4-FFF2-40B4-BE49-F238E27FC236}">
                <a16:creationId xmlns:a16="http://schemas.microsoft.com/office/drawing/2014/main" id="{5ACDD8CA-1EDF-5983-36BA-AB3E4B0847D8}"/>
              </a:ext>
            </a:extLst>
          </p:cNvPr>
          <p:cNvSpPr txBox="1"/>
          <p:nvPr/>
        </p:nvSpPr>
        <p:spPr>
          <a:xfrm>
            <a:off x="6244096" y="5578793"/>
            <a:ext cx="5576427" cy="169277"/>
          </a:xfrm>
          <a:prstGeom prst="rect">
            <a:avLst/>
          </a:prstGeom>
          <a:noFill/>
        </p:spPr>
        <p:txBody>
          <a:bodyPr wrap="square" lIns="36000" tIns="0" rIns="36000" bIns="0" rtlCol="0" anchor="t">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Milk the cash flow</a:t>
            </a:r>
          </a:p>
        </p:txBody>
      </p:sp>
      <p:sp>
        <p:nvSpPr>
          <p:cNvPr id="5" name="TextBox 4">
            <a:extLst>
              <a:ext uri="{FF2B5EF4-FFF2-40B4-BE49-F238E27FC236}">
                <a16:creationId xmlns:a16="http://schemas.microsoft.com/office/drawing/2014/main" id="{A7F1A7A3-4CE8-0D69-CD4A-25A3FD9C1D98}"/>
              </a:ext>
            </a:extLst>
          </p:cNvPr>
          <p:cNvSpPr txBox="1"/>
          <p:nvPr/>
        </p:nvSpPr>
        <p:spPr>
          <a:xfrm>
            <a:off x="667657" y="1548122"/>
            <a:ext cx="5576424" cy="531211"/>
          </a:xfrm>
          <a:prstGeom prst="rect">
            <a:avLst/>
          </a:prstGeom>
          <a:noFill/>
        </p:spPr>
        <p:txBody>
          <a:bodyPr wrap="square" lIns="72000" tIns="0" rIns="36000" bIns="0" rtlCol="0">
            <a:spAutoFit/>
          </a:bodyPr>
          <a:lstStyle/>
          <a:p>
            <a:pPr marL="171450" indent="-171450" algn="l" defTabSz="228600">
              <a:buFont typeface="Arial" panose="020B0604020202020204" pitchFamily="34" charset="0"/>
              <a:buChar char="•"/>
            </a:pPr>
            <a:r>
              <a:rPr lang="en-US" sz="1100" noProof="0" dirty="0"/>
              <a:t>Text</a:t>
            </a:r>
          </a:p>
          <a:p>
            <a:pPr marL="171450" indent="-171450" algn="l" defTabSz="228600">
              <a:buFont typeface="Arial" panose="020B0604020202020204" pitchFamily="34" charset="0"/>
              <a:buChar char="•"/>
            </a:pPr>
            <a:r>
              <a:rPr lang="en-US" sz="1100" noProof="0" dirty="0"/>
              <a:t>Text</a:t>
            </a:r>
          </a:p>
          <a:p>
            <a:pPr marL="171450" indent="-171450" algn="l" defTabSz="228600">
              <a:buFont typeface="Arial" panose="020B0604020202020204" pitchFamily="34" charset="0"/>
              <a:buChar char="•"/>
            </a:pPr>
            <a:r>
              <a:rPr lang="en-US" sz="1100" dirty="0"/>
              <a:t>Text</a:t>
            </a:r>
            <a:endParaRPr lang="en-US" sz="1100" noProof="0" dirty="0"/>
          </a:p>
        </p:txBody>
      </p:sp>
      <p:sp>
        <p:nvSpPr>
          <p:cNvPr id="2" name="TextBox 4">
            <a:extLst>
              <a:ext uri="{FF2B5EF4-FFF2-40B4-BE49-F238E27FC236}">
                <a16:creationId xmlns:a16="http://schemas.microsoft.com/office/drawing/2014/main" id="{0D983BCF-B9C7-5A01-BFBD-95459781072A}"/>
              </a:ext>
            </a:extLst>
          </p:cNvPr>
          <p:cNvSpPr txBox="1"/>
          <p:nvPr/>
        </p:nvSpPr>
        <p:spPr>
          <a:xfrm>
            <a:off x="6244091" y="1548122"/>
            <a:ext cx="5576424" cy="531211"/>
          </a:xfrm>
          <a:prstGeom prst="rect">
            <a:avLst/>
          </a:prstGeom>
          <a:noFill/>
        </p:spPr>
        <p:txBody>
          <a:bodyPr wrap="square" lIns="72000" tIns="0" rIns="36000" bIns="0" rtlCol="0">
            <a:spAutoFit/>
          </a:bodyPr>
          <a:lstStyle/>
          <a:p>
            <a:pPr marL="171450" indent="-171450" algn="l" defTabSz="228600">
              <a:buFont typeface="Arial" panose="020B0604020202020204" pitchFamily="34" charset="0"/>
              <a:buChar char="•"/>
            </a:pPr>
            <a:r>
              <a:rPr lang="en-US" sz="1100" noProof="0" dirty="0"/>
              <a:t>Text</a:t>
            </a:r>
          </a:p>
          <a:p>
            <a:pPr marL="171450" indent="-171450" algn="l" defTabSz="228600">
              <a:buFont typeface="Arial" panose="020B0604020202020204" pitchFamily="34" charset="0"/>
              <a:buChar char="•"/>
            </a:pPr>
            <a:r>
              <a:rPr lang="en-US" sz="1100" noProof="0" dirty="0"/>
              <a:t>Text</a:t>
            </a:r>
          </a:p>
          <a:p>
            <a:pPr marL="171450" indent="-171450" algn="l" defTabSz="228600">
              <a:buFont typeface="Arial" panose="020B0604020202020204" pitchFamily="34" charset="0"/>
              <a:buChar char="•"/>
            </a:pPr>
            <a:r>
              <a:rPr lang="en-US" sz="1100" dirty="0"/>
              <a:t>Text</a:t>
            </a:r>
            <a:endParaRPr lang="en-US" sz="1100" noProof="0" dirty="0"/>
          </a:p>
        </p:txBody>
      </p:sp>
      <p:sp>
        <p:nvSpPr>
          <p:cNvPr id="6" name="TextBox 4">
            <a:extLst>
              <a:ext uri="{FF2B5EF4-FFF2-40B4-BE49-F238E27FC236}">
                <a16:creationId xmlns:a16="http://schemas.microsoft.com/office/drawing/2014/main" id="{BEB90CDC-0BBA-69ED-5A57-1270D0D94DA4}"/>
              </a:ext>
            </a:extLst>
          </p:cNvPr>
          <p:cNvSpPr txBox="1"/>
          <p:nvPr/>
        </p:nvSpPr>
        <p:spPr>
          <a:xfrm>
            <a:off x="667657" y="3930376"/>
            <a:ext cx="5576424" cy="531211"/>
          </a:xfrm>
          <a:prstGeom prst="rect">
            <a:avLst/>
          </a:prstGeom>
          <a:noFill/>
        </p:spPr>
        <p:txBody>
          <a:bodyPr wrap="square" lIns="72000" tIns="0" rIns="36000" bIns="0" rtlCol="0">
            <a:spAutoFit/>
          </a:bodyPr>
          <a:lstStyle/>
          <a:p>
            <a:pPr marL="171450" indent="-171450" algn="l" defTabSz="228600">
              <a:buFont typeface="Arial" panose="020B0604020202020204" pitchFamily="34" charset="0"/>
              <a:buChar char="•"/>
            </a:pPr>
            <a:r>
              <a:rPr lang="en-US" sz="1100" noProof="0" dirty="0"/>
              <a:t>Text</a:t>
            </a:r>
          </a:p>
          <a:p>
            <a:pPr marL="171450" indent="-171450" algn="l" defTabSz="228600">
              <a:buFont typeface="Arial" panose="020B0604020202020204" pitchFamily="34" charset="0"/>
              <a:buChar char="•"/>
            </a:pPr>
            <a:r>
              <a:rPr lang="en-US" sz="1100" noProof="0" dirty="0"/>
              <a:t>Text</a:t>
            </a:r>
          </a:p>
          <a:p>
            <a:pPr marL="171450" indent="-171450" algn="l" defTabSz="228600">
              <a:buFont typeface="Arial" panose="020B0604020202020204" pitchFamily="34" charset="0"/>
              <a:buChar char="•"/>
            </a:pPr>
            <a:r>
              <a:rPr lang="en-US" sz="1100" dirty="0"/>
              <a:t>Text</a:t>
            </a:r>
            <a:endParaRPr lang="en-US" sz="1100" noProof="0" dirty="0"/>
          </a:p>
        </p:txBody>
      </p:sp>
      <p:sp>
        <p:nvSpPr>
          <p:cNvPr id="7" name="TextBox 4">
            <a:extLst>
              <a:ext uri="{FF2B5EF4-FFF2-40B4-BE49-F238E27FC236}">
                <a16:creationId xmlns:a16="http://schemas.microsoft.com/office/drawing/2014/main" id="{C2AF0191-5A13-2B87-5BEF-B79FD4306CD7}"/>
              </a:ext>
            </a:extLst>
          </p:cNvPr>
          <p:cNvSpPr txBox="1"/>
          <p:nvPr/>
        </p:nvSpPr>
        <p:spPr>
          <a:xfrm>
            <a:off x="6244091" y="3930376"/>
            <a:ext cx="5576424" cy="531211"/>
          </a:xfrm>
          <a:prstGeom prst="rect">
            <a:avLst/>
          </a:prstGeom>
          <a:noFill/>
        </p:spPr>
        <p:txBody>
          <a:bodyPr wrap="square" lIns="72000" tIns="0" rIns="36000" bIns="0" rtlCol="0">
            <a:spAutoFit/>
          </a:bodyPr>
          <a:lstStyle/>
          <a:p>
            <a:pPr marL="171450" indent="-171450" algn="l" defTabSz="228600">
              <a:buFont typeface="Arial" panose="020B0604020202020204" pitchFamily="34" charset="0"/>
              <a:buChar char="•"/>
            </a:pPr>
            <a:r>
              <a:rPr lang="en-US" sz="1100" noProof="0" dirty="0"/>
              <a:t>Text</a:t>
            </a:r>
          </a:p>
          <a:p>
            <a:pPr marL="171450" indent="-171450" algn="l" defTabSz="228600">
              <a:buFont typeface="Arial" panose="020B0604020202020204" pitchFamily="34" charset="0"/>
              <a:buChar char="•"/>
            </a:pPr>
            <a:r>
              <a:rPr lang="en-US" sz="1100" noProof="0" dirty="0"/>
              <a:t>Text</a:t>
            </a:r>
          </a:p>
          <a:p>
            <a:pPr marL="171450" indent="-171450" algn="l" defTabSz="228600">
              <a:buFont typeface="Arial" panose="020B0604020202020204" pitchFamily="34" charset="0"/>
              <a:buChar char="•"/>
            </a:pPr>
            <a:r>
              <a:rPr lang="en-US" sz="1100" dirty="0"/>
              <a:t>Text</a:t>
            </a:r>
            <a:endParaRPr lang="en-US" sz="1100" noProof="0" dirty="0"/>
          </a:p>
        </p:txBody>
      </p:sp>
      <p:sp>
        <p:nvSpPr>
          <p:cNvPr id="25" name="Marcador de pie de página 24">
            <a:extLst>
              <a:ext uri="{FF2B5EF4-FFF2-40B4-BE49-F238E27FC236}">
                <a16:creationId xmlns:a16="http://schemas.microsoft.com/office/drawing/2014/main" id="{BA006750-085D-2E1C-0684-51099ED46BE7}"/>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3815637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1C177-DCE8-5686-5F3D-AA4B843F22C6}"/>
              </a:ext>
            </a:extLst>
          </p:cNvPr>
          <p:cNvSpPr>
            <a:spLocks noGrp="1"/>
          </p:cNvSpPr>
          <p:nvPr>
            <p:ph type="title"/>
          </p:nvPr>
        </p:nvSpPr>
        <p:spPr/>
        <p:txBody>
          <a:bodyPr/>
          <a:lstStyle/>
          <a:p>
            <a:r>
              <a:rPr lang="en-US" dirty="0"/>
              <a:t>BCG Growth Share Matrix — Template B</a:t>
            </a:r>
          </a:p>
        </p:txBody>
      </p:sp>
      <p:sp>
        <p:nvSpPr>
          <p:cNvPr id="2" name="Rectángulo 1">
            <a:extLst>
              <a:ext uri="{FF2B5EF4-FFF2-40B4-BE49-F238E27FC236}">
                <a16:creationId xmlns:a16="http://schemas.microsoft.com/office/drawing/2014/main" id="{2CDC5B1A-41D1-2D52-E18C-CFA90E56FEF9}"/>
              </a:ext>
            </a:extLst>
          </p:cNvPr>
          <p:cNvSpPr/>
          <p:nvPr/>
        </p:nvSpPr>
        <p:spPr>
          <a:xfrm>
            <a:off x="667657" y="1152525"/>
            <a:ext cx="11152868" cy="48197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cxnSp>
        <p:nvCxnSpPr>
          <p:cNvPr id="9" name="Conector recto 8">
            <a:extLst>
              <a:ext uri="{FF2B5EF4-FFF2-40B4-BE49-F238E27FC236}">
                <a16:creationId xmlns:a16="http://schemas.microsoft.com/office/drawing/2014/main" id="{192B9689-DE90-33F8-EDAC-D09961832186}"/>
              </a:ext>
            </a:extLst>
          </p:cNvPr>
          <p:cNvCxnSpPr>
            <a:cxnSpLocks/>
          </p:cNvCxnSpPr>
          <p:nvPr/>
        </p:nvCxnSpPr>
        <p:spPr>
          <a:xfrm flipV="1">
            <a:off x="463810" y="1548122"/>
            <a:ext cx="0" cy="4028587"/>
          </a:xfrm>
          <a:prstGeom prst="line">
            <a:avLst/>
          </a:prstGeom>
          <a:noFill/>
          <a:ln w="28575">
            <a:solidFill>
              <a:schemeClr val="tx2"/>
            </a:solidFill>
            <a:tailEnd type="arrow" w="med" len="sm"/>
          </a:ln>
        </p:spPr>
        <p:style>
          <a:lnRef idx="1">
            <a:schemeClr val="accent1"/>
          </a:lnRef>
          <a:fillRef idx="0">
            <a:schemeClr val="accent1"/>
          </a:fillRef>
          <a:effectRef idx="0">
            <a:schemeClr val="accent1"/>
          </a:effectRef>
          <a:fontRef idx="minor">
            <a:schemeClr val="tx1"/>
          </a:fontRef>
        </p:style>
      </p:cxnSp>
      <p:sp>
        <p:nvSpPr>
          <p:cNvPr id="10" name="TextBox 25">
            <a:extLst>
              <a:ext uri="{FF2B5EF4-FFF2-40B4-BE49-F238E27FC236}">
                <a16:creationId xmlns:a16="http://schemas.microsoft.com/office/drawing/2014/main" id="{C3E43C24-8532-CEF0-69FF-54BFD2732510}"/>
              </a:ext>
            </a:extLst>
          </p:cNvPr>
          <p:cNvSpPr txBox="1"/>
          <p:nvPr/>
        </p:nvSpPr>
        <p:spPr>
          <a:xfrm rot="16200000">
            <a:off x="266011" y="1257991"/>
            <a:ext cx="395596" cy="184666"/>
          </a:xfrm>
          <a:prstGeom prst="rect">
            <a:avLst/>
          </a:prstGeom>
          <a:noFill/>
        </p:spPr>
        <p:txBody>
          <a:bodyPr wrap="square" lIns="0" tIns="0" rIns="0" bIns="0" rtlCol="0" anchor="ctr">
            <a:spAutoFit/>
          </a:bodyPr>
          <a:lstStyle/>
          <a:p>
            <a:pPr marR="0" lvl="0" algn="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High</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1" name="TextBox 25">
            <a:extLst>
              <a:ext uri="{FF2B5EF4-FFF2-40B4-BE49-F238E27FC236}">
                <a16:creationId xmlns:a16="http://schemas.microsoft.com/office/drawing/2014/main" id="{2F8F0FFB-8A69-E44F-764A-A482F3EB4371}"/>
              </a:ext>
            </a:extLst>
          </p:cNvPr>
          <p:cNvSpPr txBox="1"/>
          <p:nvPr/>
        </p:nvSpPr>
        <p:spPr>
          <a:xfrm rot="16200000">
            <a:off x="266011" y="5682174"/>
            <a:ext cx="395596" cy="184666"/>
          </a:xfrm>
          <a:prstGeom prst="rect">
            <a:avLst/>
          </a:prstGeom>
          <a:no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Low</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3" name="TextBox 25">
            <a:extLst>
              <a:ext uri="{FF2B5EF4-FFF2-40B4-BE49-F238E27FC236}">
                <a16:creationId xmlns:a16="http://schemas.microsoft.com/office/drawing/2014/main" id="{C76751BB-CA9D-0B45-71AD-3A6C0F522E4F}"/>
              </a:ext>
            </a:extLst>
          </p:cNvPr>
          <p:cNvSpPr txBox="1"/>
          <p:nvPr/>
        </p:nvSpPr>
        <p:spPr>
          <a:xfrm rot="16200000">
            <a:off x="-158744" y="3470083"/>
            <a:ext cx="1245105" cy="184666"/>
          </a:xfrm>
          <a:prstGeom prst="rect">
            <a:avLst/>
          </a:prstGeom>
          <a:solidFill>
            <a:schemeClr val="bg1"/>
          </a:solid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Market growth</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14" name="Conector recto 13">
            <a:extLst>
              <a:ext uri="{FF2B5EF4-FFF2-40B4-BE49-F238E27FC236}">
                <a16:creationId xmlns:a16="http://schemas.microsoft.com/office/drawing/2014/main" id="{90A29912-F56C-B23F-22BD-0A42D7775597}"/>
              </a:ext>
            </a:extLst>
          </p:cNvPr>
          <p:cNvCxnSpPr>
            <a:cxnSpLocks/>
          </p:cNvCxnSpPr>
          <p:nvPr/>
        </p:nvCxnSpPr>
        <p:spPr>
          <a:xfrm>
            <a:off x="6244091" y="1152525"/>
            <a:ext cx="0" cy="481978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77113975-1BE6-6EE4-17F2-583F331C44FD}"/>
              </a:ext>
            </a:extLst>
          </p:cNvPr>
          <p:cNvCxnSpPr>
            <a:cxnSpLocks/>
          </p:cNvCxnSpPr>
          <p:nvPr/>
        </p:nvCxnSpPr>
        <p:spPr>
          <a:xfrm flipH="1">
            <a:off x="667657" y="3562415"/>
            <a:ext cx="11152868"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2DA94C4B-2001-8005-309C-936997179962}"/>
              </a:ext>
            </a:extLst>
          </p:cNvPr>
          <p:cNvCxnSpPr>
            <a:cxnSpLocks/>
          </p:cNvCxnSpPr>
          <p:nvPr/>
        </p:nvCxnSpPr>
        <p:spPr>
          <a:xfrm>
            <a:off x="1041400" y="6141684"/>
            <a:ext cx="10385425" cy="0"/>
          </a:xfrm>
          <a:prstGeom prst="line">
            <a:avLst/>
          </a:prstGeom>
          <a:noFill/>
          <a:ln w="28575">
            <a:solidFill>
              <a:schemeClr val="tx2"/>
            </a:solidFill>
            <a:tailEnd type="arrow" w="med" len="sm"/>
          </a:ln>
        </p:spPr>
        <p:style>
          <a:lnRef idx="1">
            <a:schemeClr val="accent1"/>
          </a:lnRef>
          <a:fillRef idx="0">
            <a:schemeClr val="accent1"/>
          </a:fillRef>
          <a:effectRef idx="0">
            <a:schemeClr val="accent1"/>
          </a:effectRef>
          <a:fontRef idx="minor">
            <a:schemeClr val="tx1"/>
          </a:fontRef>
        </p:style>
      </p:cxnSp>
      <p:sp>
        <p:nvSpPr>
          <p:cNvPr id="17" name="TextBox 24">
            <a:extLst>
              <a:ext uri="{FF2B5EF4-FFF2-40B4-BE49-F238E27FC236}">
                <a16:creationId xmlns:a16="http://schemas.microsoft.com/office/drawing/2014/main" id="{1213AF4A-BA28-EF1F-7F7B-52A7AAA20807}"/>
              </a:ext>
            </a:extLst>
          </p:cNvPr>
          <p:cNvSpPr txBox="1"/>
          <p:nvPr/>
        </p:nvSpPr>
        <p:spPr>
          <a:xfrm>
            <a:off x="667657" y="1152525"/>
            <a:ext cx="5576429" cy="263387"/>
          </a:xfrm>
          <a:prstGeom prst="rect">
            <a:avLst/>
          </a:prstGeom>
          <a:noFill/>
        </p:spPr>
        <p:txBody>
          <a:bodyPr wrap="square" lIns="0" tIns="36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Question marks</a:t>
            </a:r>
          </a:p>
        </p:txBody>
      </p:sp>
      <p:sp>
        <p:nvSpPr>
          <p:cNvPr id="18" name="TextBox 24">
            <a:extLst>
              <a:ext uri="{FF2B5EF4-FFF2-40B4-BE49-F238E27FC236}">
                <a16:creationId xmlns:a16="http://schemas.microsoft.com/office/drawing/2014/main" id="{A93190C0-A1D8-1B1B-983B-FFE657485A39}"/>
              </a:ext>
            </a:extLst>
          </p:cNvPr>
          <p:cNvSpPr txBox="1"/>
          <p:nvPr/>
        </p:nvSpPr>
        <p:spPr>
          <a:xfrm>
            <a:off x="6244047" y="1152525"/>
            <a:ext cx="5576429" cy="263387"/>
          </a:xfrm>
          <a:prstGeom prst="rect">
            <a:avLst/>
          </a:prstGeom>
          <a:noFill/>
        </p:spPr>
        <p:txBody>
          <a:bodyPr wrap="square" lIns="0" tIns="36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Stars</a:t>
            </a:r>
          </a:p>
        </p:txBody>
      </p:sp>
      <p:sp>
        <p:nvSpPr>
          <p:cNvPr id="19" name="TextBox 24">
            <a:extLst>
              <a:ext uri="{FF2B5EF4-FFF2-40B4-BE49-F238E27FC236}">
                <a16:creationId xmlns:a16="http://schemas.microsoft.com/office/drawing/2014/main" id="{8B7CE110-EC41-B019-DACA-5F074FAE591E}"/>
              </a:ext>
            </a:extLst>
          </p:cNvPr>
          <p:cNvSpPr txBox="1"/>
          <p:nvPr/>
        </p:nvSpPr>
        <p:spPr>
          <a:xfrm>
            <a:off x="667657" y="3562415"/>
            <a:ext cx="5576429" cy="263387"/>
          </a:xfrm>
          <a:prstGeom prst="rect">
            <a:avLst/>
          </a:prstGeom>
          <a:noFill/>
        </p:spPr>
        <p:txBody>
          <a:bodyPr wrap="square" lIns="0" tIns="36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Dogs</a:t>
            </a:r>
          </a:p>
        </p:txBody>
      </p:sp>
      <p:sp>
        <p:nvSpPr>
          <p:cNvPr id="20" name="TextBox 24">
            <a:extLst>
              <a:ext uri="{FF2B5EF4-FFF2-40B4-BE49-F238E27FC236}">
                <a16:creationId xmlns:a16="http://schemas.microsoft.com/office/drawing/2014/main" id="{60F17C8F-8B0E-A045-D36D-EEAD12C9C06D}"/>
              </a:ext>
            </a:extLst>
          </p:cNvPr>
          <p:cNvSpPr txBox="1"/>
          <p:nvPr/>
        </p:nvSpPr>
        <p:spPr>
          <a:xfrm>
            <a:off x="6244047" y="3562415"/>
            <a:ext cx="5576429" cy="263387"/>
          </a:xfrm>
          <a:prstGeom prst="rect">
            <a:avLst/>
          </a:prstGeom>
          <a:noFill/>
        </p:spPr>
        <p:txBody>
          <a:bodyPr wrap="square" lIns="0" tIns="36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Cash cows</a:t>
            </a:r>
          </a:p>
        </p:txBody>
      </p:sp>
      <p:sp>
        <p:nvSpPr>
          <p:cNvPr id="21" name="TextBox 25">
            <a:extLst>
              <a:ext uri="{FF2B5EF4-FFF2-40B4-BE49-F238E27FC236}">
                <a16:creationId xmlns:a16="http://schemas.microsoft.com/office/drawing/2014/main" id="{3BF3EA22-F8EB-DAF6-17A9-19E8B146982B}"/>
              </a:ext>
            </a:extLst>
          </p:cNvPr>
          <p:cNvSpPr txBox="1"/>
          <p:nvPr/>
        </p:nvSpPr>
        <p:spPr>
          <a:xfrm>
            <a:off x="667657" y="6049351"/>
            <a:ext cx="373743" cy="184666"/>
          </a:xfrm>
          <a:prstGeom prst="rect">
            <a:avLst/>
          </a:prstGeom>
          <a:noFill/>
        </p:spPr>
        <p:txBody>
          <a:bodyPr wrap="square" lIns="0" tIns="0" rIns="0" bIns="0" rtlCol="0" anchor="ctr">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Low</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22" name="TextBox 25">
            <a:extLst>
              <a:ext uri="{FF2B5EF4-FFF2-40B4-BE49-F238E27FC236}">
                <a16:creationId xmlns:a16="http://schemas.microsoft.com/office/drawing/2014/main" id="{D27957C8-A44C-88CD-17BE-91C5A5808936}"/>
              </a:ext>
            </a:extLst>
          </p:cNvPr>
          <p:cNvSpPr txBox="1"/>
          <p:nvPr/>
        </p:nvSpPr>
        <p:spPr>
          <a:xfrm>
            <a:off x="11426825" y="6049351"/>
            <a:ext cx="393700" cy="184666"/>
          </a:xfrm>
          <a:prstGeom prst="rect">
            <a:avLst/>
          </a:prstGeom>
          <a:noFill/>
        </p:spPr>
        <p:txBody>
          <a:bodyPr wrap="square" lIns="0" tIns="0" rIns="0" bIns="0" rtlCol="0" anchor="ctr">
            <a:spAutoFit/>
          </a:bodyPr>
          <a:lstStyle/>
          <a:p>
            <a:pPr marR="0" lvl="0" algn="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High</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24" name="TextBox 25">
            <a:extLst>
              <a:ext uri="{FF2B5EF4-FFF2-40B4-BE49-F238E27FC236}">
                <a16:creationId xmlns:a16="http://schemas.microsoft.com/office/drawing/2014/main" id="{3E760AAE-43AC-D576-1313-E767BEA58997}"/>
              </a:ext>
            </a:extLst>
          </p:cNvPr>
          <p:cNvSpPr txBox="1"/>
          <p:nvPr/>
        </p:nvSpPr>
        <p:spPr>
          <a:xfrm>
            <a:off x="5634214" y="6049351"/>
            <a:ext cx="1169812" cy="184666"/>
          </a:xfrm>
          <a:prstGeom prst="rect">
            <a:avLst/>
          </a:prstGeom>
          <a:solidFill>
            <a:schemeClr val="bg1"/>
          </a:solid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Market share</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034" name="TextBox 4">
            <a:extLst>
              <a:ext uri="{FF2B5EF4-FFF2-40B4-BE49-F238E27FC236}">
                <a16:creationId xmlns:a16="http://schemas.microsoft.com/office/drawing/2014/main" id="{D0DC4D25-CD0C-2EC1-FCC4-9ED841C4A30D}"/>
              </a:ext>
            </a:extLst>
          </p:cNvPr>
          <p:cNvSpPr txBox="1"/>
          <p:nvPr/>
        </p:nvSpPr>
        <p:spPr>
          <a:xfrm>
            <a:off x="667657" y="1548122"/>
            <a:ext cx="5576424" cy="531211"/>
          </a:xfrm>
          <a:prstGeom prst="rect">
            <a:avLst/>
          </a:prstGeom>
          <a:noFill/>
        </p:spPr>
        <p:txBody>
          <a:bodyPr wrap="square" lIns="72000" tIns="0" rIns="36000" bIns="0" rtlCol="0">
            <a:spAutoFit/>
          </a:bodyPr>
          <a:lstStyle/>
          <a:p>
            <a:pPr marL="171450" indent="-171450" algn="l" defTabSz="228600">
              <a:buFont typeface="Arial" panose="020B0604020202020204" pitchFamily="34" charset="0"/>
              <a:buChar char="•"/>
            </a:pPr>
            <a:r>
              <a:rPr lang="en-US" sz="1100" noProof="0" dirty="0"/>
              <a:t>Text</a:t>
            </a:r>
          </a:p>
          <a:p>
            <a:pPr marL="171450" indent="-171450" algn="l" defTabSz="228600">
              <a:buFont typeface="Arial" panose="020B0604020202020204" pitchFamily="34" charset="0"/>
              <a:buChar char="•"/>
            </a:pPr>
            <a:r>
              <a:rPr lang="en-US" sz="1100" noProof="0" dirty="0"/>
              <a:t>Text</a:t>
            </a:r>
          </a:p>
          <a:p>
            <a:pPr marL="171450" indent="-171450" algn="l" defTabSz="228600">
              <a:buFont typeface="Arial" panose="020B0604020202020204" pitchFamily="34" charset="0"/>
              <a:buChar char="•"/>
            </a:pPr>
            <a:r>
              <a:rPr lang="en-US" sz="1100" dirty="0"/>
              <a:t>Text</a:t>
            </a:r>
            <a:endParaRPr lang="en-US" sz="1100" noProof="0" dirty="0"/>
          </a:p>
        </p:txBody>
      </p:sp>
      <p:sp>
        <p:nvSpPr>
          <p:cNvPr id="1035" name="TextBox 4">
            <a:extLst>
              <a:ext uri="{FF2B5EF4-FFF2-40B4-BE49-F238E27FC236}">
                <a16:creationId xmlns:a16="http://schemas.microsoft.com/office/drawing/2014/main" id="{A7250CC4-5547-5637-D0D4-AB68213E156C}"/>
              </a:ext>
            </a:extLst>
          </p:cNvPr>
          <p:cNvSpPr txBox="1"/>
          <p:nvPr/>
        </p:nvSpPr>
        <p:spPr>
          <a:xfrm>
            <a:off x="6244091" y="1548122"/>
            <a:ext cx="5576424" cy="531211"/>
          </a:xfrm>
          <a:prstGeom prst="rect">
            <a:avLst/>
          </a:prstGeom>
          <a:noFill/>
        </p:spPr>
        <p:txBody>
          <a:bodyPr wrap="square" lIns="72000" tIns="0" rIns="36000" bIns="0" rtlCol="0">
            <a:spAutoFit/>
          </a:bodyPr>
          <a:lstStyle/>
          <a:p>
            <a:pPr marL="171450" indent="-171450" algn="l" defTabSz="228600">
              <a:buFont typeface="Arial" panose="020B0604020202020204" pitchFamily="34" charset="0"/>
              <a:buChar char="•"/>
            </a:pPr>
            <a:r>
              <a:rPr lang="en-US" sz="1100" noProof="0" dirty="0"/>
              <a:t>Text</a:t>
            </a:r>
          </a:p>
          <a:p>
            <a:pPr marL="171450" indent="-171450" algn="l" defTabSz="228600">
              <a:buFont typeface="Arial" panose="020B0604020202020204" pitchFamily="34" charset="0"/>
              <a:buChar char="•"/>
            </a:pPr>
            <a:r>
              <a:rPr lang="en-US" sz="1100" noProof="0" dirty="0"/>
              <a:t>Text</a:t>
            </a:r>
          </a:p>
          <a:p>
            <a:pPr marL="171450" indent="-171450" algn="l" defTabSz="228600">
              <a:buFont typeface="Arial" panose="020B0604020202020204" pitchFamily="34" charset="0"/>
              <a:buChar char="•"/>
            </a:pPr>
            <a:r>
              <a:rPr lang="en-US" sz="1100" dirty="0"/>
              <a:t>Text</a:t>
            </a:r>
            <a:endParaRPr lang="en-US" sz="1100" noProof="0" dirty="0"/>
          </a:p>
        </p:txBody>
      </p:sp>
      <p:sp>
        <p:nvSpPr>
          <p:cNvPr id="1036" name="TextBox 4">
            <a:extLst>
              <a:ext uri="{FF2B5EF4-FFF2-40B4-BE49-F238E27FC236}">
                <a16:creationId xmlns:a16="http://schemas.microsoft.com/office/drawing/2014/main" id="{34490045-5437-8FA4-9E98-FF2F76451A1E}"/>
              </a:ext>
            </a:extLst>
          </p:cNvPr>
          <p:cNvSpPr txBox="1"/>
          <p:nvPr/>
        </p:nvSpPr>
        <p:spPr>
          <a:xfrm>
            <a:off x="667657" y="3930376"/>
            <a:ext cx="5576424" cy="531211"/>
          </a:xfrm>
          <a:prstGeom prst="rect">
            <a:avLst/>
          </a:prstGeom>
          <a:noFill/>
        </p:spPr>
        <p:txBody>
          <a:bodyPr wrap="square" lIns="72000" tIns="0" rIns="36000" bIns="0" rtlCol="0">
            <a:spAutoFit/>
          </a:bodyPr>
          <a:lstStyle/>
          <a:p>
            <a:pPr marL="171450" indent="-171450" algn="l" defTabSz="228600">
              <a:buFont typeface="Arial" panose="020B0604020202020204" pitchFamily="34" charset="0"/>
              <a:buChar char="•"/>
            </a:pPr>
            <a:r>
              <a:rPr lang="en-US" sz="1100" noProof="0" dirty="0"/>
              <a:t>Text</a:t>
            </a:r>
          </a:p>
          <a:p>
            <a:pPr marL="171450" indent="-171450" algn="l" defTabSz="228600">
              <a:buFont typeface="Arial" panose="020B0604020202020204" pitchFamily="34" charset="0"/>
              <a:buChar char="•"/>
            </a:pPr>
            <a:r>
              <a:rPr lang="en-US" sz="1100" noProof="0" dirty="0"/>
              <a:t>Text</a:t>
            </a:r>
          </a:p>
          <a:p>
            <a:pPr marL="171450" indent="-171450" algn="l" defTabSz="228600">
              <a:buFont typeface="Arial" panose="020B0604020202020204" pitchFamily="34" charset="0"/>
              <a:buChar char="•"/>
            </a:pPr>
            <a:r>
              <a:rPr lang="en-US" sz="1100" dirty="0"/>
              <a:t>Text</a:t>
            </a:r>
            <a:endParaRPr lang="en-US" sz="1100" noProof="0" dirty="0"/>
          </a:p>
        </p:txBody>
      </p:sp>
      <p:sp>
        <p:nvSpPr>
          <p:cNvPr id="1037" name="TextBox 4">
            <a:extLst>
              <a:ext uri="{FF2B5EF4-FFF2-40B4-BE49-F238E27FC236}">
                <a16:creationId xmlns:a16="http://schemas.microsoft.com/office/drawing/2014/main" id="{E6D5D1C8-EDF5-1A80-8136-603AF67BF4A0}"/>
              </a:ext>
            </a:extLst>
          </p:cNvPr>
          <p:cNvSpPr txBox="1"/>
          <p:nvPr/>
        </p:nvSpPr>
        <p:spPr>
          <a:xfrm>
            <a:off x="6244091" y="3930376"/>
            <a:ext cx="5576424" cy="531211"/>
          </a:xfrm>
          <a:prstGeom prst="rect">
            <a:avLst/>
          </a:prstGeom>
          <a:noFill/>
        </p:spPr>
        <p:txBody>
          <a:bodyPr wrap="square" lIns="72000" tIns="0" rIns="36000" bIns="0" rtlCol="0">
            <a:spAutoFit/>
          </a:bodyPr>
          <a:lstStyle/>
          <a:p>
            <a:pPr marL="171450" indent="-171450" algn="l" defTabSz="228600">
              <a:buFont typeface="Arial" panose="020B0604020202020204" pitchFamily="34" charset="0"/>
              <a:buChar char="•"/>
            </a:pPr>
            <a:r>
              <a:rPr lang="en-US" sz="1100" noProof="0" dirty="0"/>
              <a:t>Text</a:t>
            </a:r>
          </a:p>
          <a:p>
            <a:pPr marL="171450" indent="-171450" algn="l" defTabSz="228600">
              <a:buFont typeface="Arial" panose="020B0604020202020204" pitchFamily="34" charset="0"/>
              <a:buChar char="•"/>
            </a:pPr>
            <a:r>
              <a:rPr lang="en-US" sz="1100" noProof="0" dirty="0"/>
              <a:t>Text</a:t>
            </a:r>
          </a:p>
          <a:p>
            <a:pPr marL="171450" indent="-171450" algn="l" defTabSz="228600">
              <a:buFont typeface="Arial" panose="020B0604020202020204" pitchFamily="34" charset="0"/>
              <a:buChar char="•"/>
            </a:pPr>
            <a:r>
              <a:rPr lang="en-US" sz="1100" dirty="0"/>
              <a:t>Text</a:t>
            </a:r>
            <a:endParaRPr lang="en-US" sz="1100" noProof="0" dirty="0"/>
          </a:p>
        </p:txBody>
      </p:sp>
      <p:sp>
        <p:nvSpPr>
          <p:cNvPr id="1038" name="Marcador de pie de página 1037">
            <a:extLst>
              <a:ext uri="{FF2B5EF4-FFF2-40B4-BE49-F238E27FC236}">
                <a16:creationId xmlns:a16="http://schemas.microsoft.com/office/drawing/2014/main" id="{47F73158-6E42-31AC-5264-BA4F8FC10F7D}"/>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8612921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367170"/>
            <a:ext cx="12192000" cy="2123658"/>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McKinsey</a:t>
            </a:r>
          </a:p>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7-S Framework</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4028592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o 7" hidden="1">
            <a:extLst>
              <a:ext uri="{FF2B5EF4-FFF2-40B4-BE49-F238E27FC236}">
                <a16:creationId xmlns:a16="http://schemas.microsoft.com/office/drawing/2014/main" id="{FA03428D-7AA8-D5FE-AE43-1883B3EF1CEB}"/>
              </a:ext>
            </a:extLst>
          </p:cNvPr>
          <p:cNvGraphicFramePr>
            <a:graphicFrameLocks noChangeAspect="1"/>
          </p:cNvGraphicFramePr>
          <p:nvPr>
            <p:custDataLst>
              <p:tags r:id="rId1"/>
            </p:custDataLst>
            <p:extLst>
              <p:ext uri="{D42A27DB-BD31-4B8C-83A1-F6EECF244321}">
                <p14:modId xmlns:p14="http://schemas.microsoft.com/office/powerpoint/2010/main" val="39191030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ítulo 3">
            <a:extLst>
              <a:ext uri="{FF2B5EF4-FFF2-40B4-BE49-F238E27FC236}">
                <a16:creationId xmlns:a16="http://schemas.microsoft.com/office/drawing/2014/main" id="{27228559-02C4-4493-9B15-C9A0B0192C69}"/>
              </a:ext>
            </a:extLst>
          </p:cNvPr>
          <p:cNvSpPr>
            <a:spLocks noGrp="1"/>
          </p:cNvSpPr>
          <p:nvPr>
            <p:ph type="title"/>
          </p:nvPr>
        </p:nvSpPr>
        <p:spPr/>
        <p:txBody>
          <a:bodyPr vert="horz"/>
          <a:lstStyle/>
          <a:p>
            <a:r>
              <a:rPr lang="en-US" dirty="0"/>
              <a:t>McKinsey 7-S Framework — Overview</a:t>
            </a:r>
          </a:p>
        </p:txBody>
      </p:sp>
      <p:sp>
        <p:nvSpPr>
          <p:cNvPr id="5" name="Marcador de texto 4">
            <a:extLst>
              <a:ext uri="{FF2B5EF4-FFF2-40B4-BE49-F238E27FC236}">
                <a16:creationId xmlns:a16="http://schemas.microsoft.com/office/drawing/2014/main" id="{DA433F66-7329-242E-26C4-334763203E98}"/>
              </a:ext>
            </a:extLst>
          </p:cNvPr>
          <p:cNvSpPr>
            <a:spLocks noGrp="1"/>
          </p:cNvSpPr>
          <p:nvPr>
            <p:ph type="body" sz="quarter" idx="18"/>
          </p:nvPr>
        </p:nvSpPr>
        <p:spPr/>
        <p:txBody>
          <a:bodyPr/>
          <a:lstStyle/>
          <a:p>
            <a:pPr>
              <a:spcBef>
                <a:spcPts val="600"/>
              </a:spcBef>
            </a:pPr>
            <a:r>
              <a:rPr lang="en-US" dirty="0"/>
              <a:t>This framework was developed in the early 1980s by Robert Waterman, Tom Peters, and Julien Philips, consultants at McKinsey &amp; Company, and was first introduced in their 1982 book In Search of Excellence: Lessons from America's Best-Run Companies.</a:t>
            </a:r>
          </a:p>
        </p:txBody>
      </p:sp>
      <p:sp>
        <p:nvSpPr>
          <p:cNvPr id="6" name="Marcador de texto 5">
            <a:extLst>
              <a:ext uri="{FF2B5EF4-FFF2-40B4-BE49-F238E27FC236}">
                <a16:creationId xmlns:a16="http://schemas.microsoft.com/office/drawing/2014/main" id="{C13E5A31-C357-D823-BAA9-6E3A40D1EA4A}"/>
              </a:ext>
            </a:extLst>
          </p:cNvPr>
          <p:cNvSpPr>
            <a:spLocks noGrp="1"/>
          </p:cNvSpPr>
          <p:nvPr>
            <p:ph type="body" sz="quarter" idx="19"/>
          </p:nvPr>
        </p:nvSpPr>
        <p:spPr/>
        <p:txBody>
          <a:bodyPr/>
          <a:lstStyle/>
          <a:p>
            <a:pPr marL="0" marR="0" lvl="0" indent="0" algn="l" defTabSz="914400" rtl="0" eaLnBrk="1" fontAlgn="auto" latinLnBrk="0" hangingPunct="1">
              <a:lnSpc>
                <a:spcPct val="100000"/>
              </a:lnSpc>
              <a:buClrTx/>
              <a:buSzTx/>
              <a:buNone/>
              <a:tabLst/>
              <a:defRPr/>
            </a:pP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The framework </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provides a structured approach for analyzing an organization's internal alignment, helping consultants identify key areas of improvement that can drive business performance. By analyzing an organization's internal alignment, consultants can identify areas of improvement that can drive business performance and help organizations achieve their goals. The 7-S components are:</a:t>
            </a:r>
          </a:p>
          <a:p>
            <a:pPr marL="171450" marR="0" lvl="0" indent="-171450" algn="l" defTabSz="914400" rtl="0" eaLnBrk="1" fontAlgn="auto" latinLnBrk="0" hangingPunct="1">
              <a:lnSpc>
                <a:spcPct val="100000"/>
              </a:lnSpc>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Strategy</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This refers to the organization's plan of action to achieve its goals and objectives.</a:t>
            </a:r>
          </a:p>
          <a:p>
            <a:pPr marL="171450" marR="0" lvl="0" indent="-171450" algn="l" defTabSz="914400" rtl="0" eaLnBrk="1" fontAlgn="auto" latinLnBrk="0" hangingPunct="1">
              <a:lnSpc>
                <a:spcPct val="100000"/>
              </a:lnSpc>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Structure</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This refers to the organization's formal and informal reporting relationships, as well as its overall organizational design.</a:t>
            </a:r>
          </a:p>
          <a:p>
            <a:pPr marL="171450" marR="0" lvl="0" indent="-171450" algn="l" defTabSz="914400" rtl="0" eaLnBrk="1" fontAlgn="auto" latinLnBrk="0" hangingPunct="1">
              <a:lnSpc>
                <a:spcPct val="100000"/>
              </a:lnSpc>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Systems</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This includes the organization's formal and informal procedures, policies, and routines.</a:t>
            </a:r>
          </a:p>
          <a:p>
            <a:pPr marL="171450" marR="0" lvl="0" indent="-171450" algn="l" defTabSz="914400" rtl="0" eaLnBrk="1" fontAlgn="auto" latinLnBrk="0" hangingPunct="1">
              <a:lnSpc>
                <a:spcPct val="100000"/>
              </a:lnSpc>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Shared Values</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This refers to the organization's values, culture, and beliefs.</a:t>
            </a:r>
          </a:p>
          <a:p>
            <a:pPr marL="171450" marR="0" lvl="0" indent="-171450" algn="l" defTabSz="914400" rtl="0" eaLnBrk="1" fontAlgn="auto" latinLnBrk="0" hangingPunct="1">
              <a:lnSpc>
                <a:spcPct val="100000"/>
              </a:lnSpc>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Skills</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This refers to the skills and competencies of the organization's employees.</a:t>
            </a:r>
          </a:p>
          <a:p>
            <a:pPr marL="171450" marR="0" lvl="0" indent="-171450" algn="l" defTabSz="914400" rtl="0" eaLnBrk="1" fontAlgn="auto" latinLnBrk="0" hangingPunct="1">
              <a:lnSpc>
                <a:spcPct val="100000"/>
              </a:lnSpc>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Staff</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This includes the size and composition of the organization's workforce, including its mix of experience, knowledge, and skills.</a:t>
            </a:r>
          </a:p>
          <a:p>
            <a:pPr marL="171450" marR="0" lvl="0" indent="-171450" algn="l" defTabSz="914400" rtl="0" eaLnBrk="1" fontAlgn="auto" latinLnBrk="0" hangingPunct="1">
              <a:lnSpc>
                <a:spcPct val="100000"/>
              </a:lnSpc>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Style</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This refers to the leadership style and management approach of the organization.</a:t>
            </a:r>
            <a:endParaRPr lang="en-US" dirty="0"/>
          </a:p>
        </p:txBody>
      </p:sp>
      <p:sp>
        <p:nvSpPr>
          <p:cNvPr id="7" name="Marcador de texto 6">
            <a:extLst>
              <a:ext uri="{FF2B5EF4-FFF2-40B4-BE49-F238E27FC236}">
                <a16:creationId xmlns:a16="http://schemas.microsoft.com/office/drawing/2014/main" id="{8CA81127-8464-0DD1-F37E-328964B687F1}"/>
              </a:ext>
            </a:extLst>
          </p:cNvPr>
          <p:cNvSpPr>
            <a:spLocks noGrp="1"/>
          </p:cNvSpPr>
          <p:nvPr>
            <p:ph type="body" sz="quarter" idx="20"/>
          </p:nvPr>
        </p:nvSpPr>
        <p:spPr/>
        <p:txBody>
          <a:bodyPr/>
          <a:lstStyle/>
          <a:p>
            <a:pPr marL="228600" marR="0" lvl="0" indent="-228600" algn="l" defTabSz="914400" rtl="0" eaLnBrk="1" fontAlgn="auto" latinLnBrk="0" hangingPunct="1">
              <a:lnSpc>
                <a:spcPct val="100000"/>
              </a:lnSpc>
              <a:buClrTx/>
              <a:buSzTx/>
              <a:buFont typeface="+mj-lt"/>
              <a:buAutoNum type="arabicPeriod"/>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Mergers and Acquisitions</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When two companies merge or one acquires another, it is essential to align the two organizations' structures, cultures, strategies, systems, and staff. The McKinsey 7-S Framework can be used to identify areas of synergy and misalignment, helping consultants develop an integration plan that maximizes value creation.</a:t>
            </a:r>
          </a:p>
          <a:p>
            <a:pPr marL="228600" marR="0" lvl="0" indent="-228600" algn="l" defTabSz="914400" rtl="0" eaLnBrk="1" fontAlgn="auto" latinLnBrk="0" hangingPunct="1">
              <a:lnSpc>
                <a:spcPct val="100000"/>
              </a:lnSpc>
              <a:buClrTx/>
              <a:buSzTx/>
              <a:buFont typeface="+mj-lt"/>
              <a:buAutoNum type="arabicPeriod"/>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Organizational Design</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The McKinsey 7-S Framework can be used to help organizations design a new structure that aligns with their strategy and vision. By analyzing the seven elements of the framework, consultants can identify the optimal structure, systems, and processes for an organization, enabling it to achieve its goals.</a:t>
            </a:r>
          </a:p>
          <a:p>
            <a:pPr marL="228600" marR="0" lvl="0" indent="-228600" algn="l" defTabSz="914400" rtl="0" eaLnBrk="1" fontAlgn="auto" latinLnBrk="0" hangingPunct="1">
              <a:lnSpc>
                <a:spcPct val="100000"/>
              </a:lnSpc>
              <a:buClrTx/>
              <a:buSzTx/>
              <a:buFont typeface="+mj-lt"/>
              <a:buAutoNum type="arabicPeriod"/>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Performance Improvement</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When an organization is underperforming, the McKinsey 7-S Framework can help identify areas of misalignment that are preventing the organization from reaching its potential. Consultants can use the framework to diagnose the root cause of performance issues and develop a plan to address them.</a:t>
            </a:r>
          </a:p>
          <a:p>
            <a:pPr marL="228600" marR="0" lvl="0" indent="-228600" algn="l" defTabSz="914400" rtl="0" eaLnBrk="1" fontAlgn="auto" latinLnBrk="0" hangingPunct="1">
              <a:lnSpc>
                <a:spcPct val="100000"/>
              </a:lnSpc>
              <a:buClrTx/>
              <a:buSzTx/>
              <a:buFont typeface="+mj-lt"/>
              <a:buAutoNum type="arabicPeriod"/>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Change Management</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When an organization is undergoing a significant change, such as a new strategy or a restructuring, the McKinsey 7-S Framework can be used to assess the impact of the change on the organization's internal alignment. Consultants can use the framework to identify potential areas of resistance and develop a change management plan that addresses these issues.</a:t>
            </a:r>
            <a:endParaRPr lang="en-US" dirty="0"/>
          </a:p>
        </p:txBody>
      </p:sp>
      <p:sp>
        <p:nvSpPr>
          <p:cNvPr id="13" name="Marcador de pie de página 12">
            <a:extLst>
              <a:ext uri="{FF2B5EF4-FFF2-40B4-BE49-F238E27FC236}">
                <a16:creationId xmlns:a16="http://schemas.microsoft.com/office/drawing/2014/main" id="{802F1041-1E1E-4D8C-A0BA-2A12A6C30F40}"/>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2756876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 name="Objeto 72" hidden="1">
            <a:extLst>
              <a:ext uri="{FF2B5EF4-FFF2-40B4-BE49-F238E27FC236}">
                <a16:creationId xmlns:a16="http://schemas.microsoft.com/office/drawing/2014/main" id="{13A79729-64B1-08F7-DD9A-5E8EF05AA91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73" name="Objeto 72" hidden="1">
                        <a:extLst>
                          <a:ext uri="{FF2B5EF4-FFF2-40B4-BE49-F238E27FC236}">
                            <a16:creationId xmlns:a16="http://schemas.microsoft.com/office/drawing/2014/main" id="{13A79729-64B1-08F7-DD9A-5E8EF05AA91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59" name="Grupo 58">
            <a:extLst>
              <a:ext uri="{FF2B5EF4-FFF2-40B4-BE49-F238E27FC236}">
                <a16:creationId xmlns:a16="http://schemas.microsoft.com/office/drawing/2014/main" id="{F1700CDF-F2AA-960A-C4F2-B76DFB8DCE84}"/>
              </a:ext>
            </a:extLst>
          </p:cNvPr>
          <p:cNvGrpSpPr/>
          <p:nvPr/>
        </p:nvGrpSpPr>
        <p:grpSpPr>
          <a:xfrm>
            <a:off x="4549933" y="2000250"/>
            <a:ext cx="3082451" cy="3738454"/>
            <a:chOff x="4549933" y="2000250"/>
            <a:chExt cx="3082451" cy="3738454"/>
          </a:xfrm>
        </p:grpSpPr>
        <p:cxnSp>
          <p:nvCxnSpPr>
            <p:cNvPr id="60" name="Conector recto 59">
              <a:extLst>
                <a:ext uri="{FF2B5EF4-FFF2-40B4-BE49-F238E27FC236}">
                  <a16:creationId xmlns:a16="http://schemas.microsoft.com/office/drawing/2014/main" id="{11139C9C-56BD-6787-E8BA-9AB2C5B72BA8}"/>
                </a:ext>
              </a:extLst>
            </p:cNvPr>
            <p:cNvCxnSpPr>
              <a:cxnSpLocks/>
            </p:cNvCxnSpPr>
            <p:nvPr/>
          </p:nvCxnSpPr>
          <p:spPr>
            <a:xfrm flipV="1">
              <a:off x="4552950" y="2000250"/>
              <a:ext cx="1536700" cy="93980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Conector recto 60">
              <a:extLst>
                <a:ext uri="{FF2B5EF4-FFF2-40B4-BE49-F238E27FC236}">
                  <a16:creationId xmlns:a16="http://schemas.microsoft.com/office/drawing/2014/main" id="{D5F2D60C-CE4C-AD95-87C7-3C6DBF69A571}"/>
                </a:ext>
              </a:extLst>
            </p:cNvPr>
            <p:cNvCxnSpPr>
              <a:cxnSpLocks/>
            </p:cNvCxnSpPr>
            <p:nvPr/>
          </p:nvCxnSpPr>
          <p:spPr>
            <a:xfrm>
              <a:off x="6089650" y="2000250"/>
              <a:ext cx="1536700" cy="93980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Conector recto 61">
              <a:extLst>
                <a:ext uri="{FF2B5EF4-FFF2-40B4-BE49-F238E27FC236}">
                  <a16:creationId xmlns:a16="http://schemas.microsoft.com/office/drawing/2014/main" id="{40B112F0-ED5E-6B1C-98B7-92E32E529BD7}"/>
                </a:ext>
              </a:extLst>
            </p:cNvPr>
            <p:cNvCxnSpPr>
              <a:cxnSpLocks/>
            </p:cNvCxnSpPr>
            <p:nvPr/>
          </p:nvCxnSpPr>
          <p:spPr>
            <a:xfrm>
              <a:off x="4552950" y="4798904"/>
              <a:ext cx="1536700" cy="93980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Conector recto 62">
              <a:extLst>
                <a:ext uri="{FF2B5EF4-FFF2-40B4-BE49-F238E27FC236}">
                  <a16:creationId xmlns:a16="http://schemas.microsoft.com/office/drawing/2014/main" id="{2CA68006-19DA-98DE-E8B9-D95FA840D438}"/>
                </a:ext>
              </a:extLst>
            </p:cNvPr>
            <p:cNvCxnSpPr>
              <a:cxnSpLocks/>
            </p:cNvCxnSpPr>
            <p:nvPr/>
          </p:nvCxnSpPr>
          <p:spPr>
            <a:xfrm flipV="1">
              <a:off x="6089650" y="4798904"/>
              <a:ext cx="1536700" cy="93980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Conector recto 63">
              <a:extLst>
                <a:ext uri="{FF2B5EF4-FFF2-40B4-BE49-F238E27FC236}">
                  <a16:creationId xmlns:a16="http://schemas.microsoft.com/office/drawing/2014/main" id="{F2CE0E70-FD03-9188-4071-76304F4DE24C}"/>
                </a:ext>
              </a:extLst>
            </p:cNvPr>
            <p:cNvCxnSpPr>
              <a:cxnSpLocks/>
            </p:cNvCxnSpPr>
            <p:nvPr/>
          </p:nvCxnSpPr>
          <p:spPr>
            <a:xfrm flipV="1">
              <a:off x="7632384" y="3554097"/>
              <a:ext cx="0" cy="721356"/>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Conector recto 64">
              <a:extLst>
                <a:ext uri="{FF2B5EF4-FFF2-40B4-BE49-F238E27FC236}">
                  <a16:creationId xmlns:a16="http://schemas.microsoft.com/office/drawing/2014/main" id="{7BBEB7A7-28DB-C644-2B43-142C7061A772}"/>
                </a:ext>
              </a:extLst>
            </p:cNvPr>
            <p:cNvCxnSpPr>
              <a:cxnSpLocks/>
            </p:cNvCxnSpPr>
            <p:nvPr/>
          </p:nvCxnSpPr>
          <p:spPr>
            <a:xfrm flipV="1">
              <a:off x="4556440" y="3554097"/>
              <a:ext cx="0" cy="721356"/>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Conector recto 65">
              <a:extLst>
                <a:ext uri="{FF2B5EF4-FFF2-40B4-BE49-F238E27FC236}">
                  <a16:creationId xmlns:a16="http://schemas.microsoft.com/office/drawing/2014/main" id="{4C692A18-6D3E-169D-048D-7D3723421761}"/>
                </a:ext>
              </a:extLst>
            </p:cNvPr>
            <p:cNvCxnSpPr>
              <a:cxnSpLocks/>
            </p:cNvCxnSpPr>
            <p:nvPr/>
          </p:nvCxnSpPr>
          <p:spPr>
            <a:xfrm flipH="1" flipV="1">
              <a:off x="6089650" y="2000250"/>
              <a:ext cx="1536700" cy="27986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Conector recto 66">
              <a:extLst>
                <a:ext uri="{FF2B5EF4-FFF2-40B4-BE49-F238E27FC236}">
                  <a16:creationId xmlns:a16="http://schemas.microsoft.com/office/drawing/2014/main" id="{DE0C07D4-AC30-0451-8EA3-39BF2148F099}"/>
                </a:ext>
              </a:extLst>
            </p:cNvPr>
            <p:cNvCxnSpPr>
              <a:cxnSpLocks/>
            </p:cNvCxnSpPr>
            <p:nvPr/>
          </p:nvCxnSpPr>
          <p:spPr>
            <a:xfrm flipH="1">
              <a:off x="4549933" y="2000250"/>
              <a:ext cx="1536700" cy="27986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Conector recto 67">
              <a:extLst>
                <a:ext uri="{FF2B5EF4-FFF2-40B4-BE49-F238E27FC236}">
                  <a16:creationId xmlns:a16="http://schemas.microsoft.com/office/drawing/2014/main" id="{75545892-0A78-8F91-1E0C-2EE29FA2B747}"/>
                </a:ext>
              </a:extLst>
            </p:cNvPr>
            <p:cNvCxnSpPr>
              <a:cxnSpLocks/>
            </p:cNvCxnSpPr>
            <p:nvPr/>
          </p:nvCxnSpPr>
          <p:spPr>
            <a:xfrm>
              <a:off x="5133550" y="2976987"/>
              <a:ext cx="192172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Conector recto 68">
              <a:extLst>
                <a:ext uri="{FF2B5EF4-FFF2-40B4-BE49-F238E27FC236}">
                  <a16:creationId xmlns:a16="http://schemas.microsoft.com/office/drawing/2014/main" id="{D4128D13-3B2D-E360-8A2D-9D637C3DD73C}"/>
                </a:ext>
              </a:extLst>
            </p:cNvPr>
            <p:cNvCxnSpPr>
              <a:cxnSpLocks/>
            </p:cNvCxnSpPr>
            <p:nvPr/>
          </p:nvCxnSpPr>
          <p:spPr>
            <a:xfrm>
              <a:off x="5133550" y="4852564"/>
              <a:ext cx="192172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Conector recto 69">
              <a:extLst>
                <a:ext uri="{FF2B5EF4-FFF2-40B4-BE49-F238E27FC236}">
                  <a16:creationId xmlns:a16="http://schemas.microsoft.com/office/drawing/2014/main" id="{5B6265BE-79E2-2DB5-BC6C-F0E29AC17095}"/>
                </a:ext>
              </a:extLst>
            </p:cNvPr>
            <p:cNvCxnSpPr>
              <a:cxnSpLocks/>
            </p:cNvCxnSpPr>
            <p:nvPr/>
          </p:nvCxnSpPr>
          <p:spPr>
            <a:xfrm flipH="1">
              <a:off x="4550406" y="2938310"/>
              <a:ext cx="3075944" cy="186059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Conector recto 70">
              <a:extLst>
                <a:ext uri="{FF2B5EF4-FFF2-40B4-BE49-F238E27FC236}">
                  <a16:creationId xmlns:a16="http://schemas.microsoft.com/office/drawing/2014/main" id="{AF1603EB-450D-4511-18F4-922AA397B5BE}"/>
                </a:ext>
              </a:extLst>
            </p:cNvPr>
            <p:cNvCxnSpPr>
              <a:cxnSpLocks/>
            </p:cNvCxnSpPr>
            <p:nvPr/>
          </p:nvCxnSpPr>
          <p:spPr>
            <a:xfrm flipH="1" flipV="1">
              <a:off x="4553423" y="2938310"/>
              <a:ext cx="3075944" cy="186059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 name="Title 2">
            <a:extLst>
              <a:ext uri="{FF2B5EF4-FFF2-40B4-BE49-F238E27FC236}">
                <a16:creationId xmlns:a16="http://schemas.microsoft.com/office/drawing/2014/main" id="{1B31C177-DCE8-5686-5F3D-AA4B843F22C6}"/>
              </a:ext>
            </a:extLst>
          </p:cNvPr>
          <p:cNvSpPr>
            <a:spLocks noGrp="1"/>
          </p:cNvSpPr>
          <p:nvPr>
            <p:ph type="title"/>
          </p:nvPr>
        </p:nvSpPr>
        <p:spPr/>
        <p:txBody>
          <a:bodyPr vert="horz"/>
          <a:lstStyle/>
          <a:p>
            <a:r>
              <a:rPr lang="en-US" dirty="0"/>
              <a:t>McKinsey 7-S Framework — Template A</a:t>
            </a:r>
          </a:p>
        </p:txBody>
      </p:sp>
      <p:sp>
        <p:nvSpPr>
          <p:cNvPr id="6" name="Elipse 5">
            <a:extLst>
              <a:ext uri="{FF2B5EF4-FFF2-40B4-BE49-F238E27FC236}">
                <a16:creationId xmlns:a16="http://schemas.microsoft.com/office/drawing/2014/main" id="{58B674E0-0CDC-0236-E69F-62C387736408}"/>
              </a:ext>
            </a:extLst>
          </p:cNvPr>
          <p:cNvSpPr/>
          <p:nvPr/>
        </p:nvSpPr>
        <p:spPr>
          <a:xfrm>
            <a:off x="5329440" y="3149805"/>
            <a:ext cx="1529944" cy="152994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600" b="1" dirty="0"/>
              <a:t>Shared values</a:t>
            </a:r>
          </a:p>
        </p:txBody>
      </p:sp>
      <p:sp>
        <p:nvSpPr>
          <p:cNvPr id="7" name="Elipse 6">
            <a:extLst>
              <a:ext uri="{FF2B5EF4-FFF2-40B4-BE49-F238E27FC236}">
                <a16:creationId xmlns:a16="http://schemas.microsoft.com/office/drawing/2014/main" id="{AAEFE3A9-0F92-9A97-504B-4F6D09DCC65B}"/>
              </a:ext>
            </a:extLst>
          </p:cNvPr>
          <p:cNvSpPr/>
          <p:nvPr/>
        </p:nvSpPr>
        <p:spPr>
          <a:xfrm>
            <a:off x="5517301" y="1520825"/>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a:solidFill>
                  <a:schemeClr val="tx2"/>
                </a:solidFill>
              </a:rPr>
              <a:t>Structure</a:t>
            </a:r>
            <a:endParaRPr lang="en-US" sz="1200" b="1" dirty="0">
              <a:solidFill>
                <a:schemeClr val="tx2"/>
              </a:solidFill>
            </a:endParaRPr>
          </a:p>
        </p:txBody>
      </p:sp>
      <p:sp>
        <p:nvSpPr>
          <p:cNvPr id="8" name="Elipse 7">
            <a:extLst>
              <a:ext uri="{FF2B5EF4-FFF2-40B4-BE49-F238E27FC236}">
                <a16:creationId xmlns:a16="http://schemas.microsoft.com/office/drawing/2014/main" id="{B5AC80EA-A2BF-6D1A-5047-EB14FDCA799B}"/>
              </a:ext>
            </a:extLst>
          </p:cNvPr>
          <p:cNvSpPr/>
          <p:nvPr/>
        </p:nvSpPr>
        <p:spPr>
          <a:xfrm>
            <a:off x="5517301" y="5154504"/>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a:solidFill>
                  <a:schemeClr val="tx2"/>
                </a:solidFill>
              </a:rPr>
              <a:t>Staff</a:t>
            </a:r>
            <a:endParaRPr lang="en-US" sz="1200" b="1" dirty="0">
              <a:solidFill>
                <a:schemeClr val="tx2"/>
              </a:solidFill>
            </a:endParaRPr>
          </a:p>
        </p:txBody>
      </p:sp>
      <p:sp>
        <p:nvSpPr>
          <p:cNvPr id="10" name="Elipse 9">
            <a:extLst>
              <a:ext uri="{FF2B5EF4-FFF2-40B4-BE49-F238E27FC236}">
                <a16:creationId xmlns:a16="http://schemas.microsoft.com/office/drawing/2014/main" id="{094D6D9F-70EF-0425-75E4-11134E82B1B1}"/>
              </a:ext>
            </a:extLst>
          </p:cNvPr>
          <p:cNvSpPr/>
          <p:nvPr/>
        </p:nvSpPr>
        <p:spPr>
          <a:xfrm>
            <a:off x="3979329" y="2399876"/>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dirty="0">
                <a:solidFill>
                  <a:schemeClr val="tx2"/>
                </a:solidFill>
              </a:rPr>
              <a:t>Strategy</a:t>
            </a:r>
          </a:p>
        </p:txBody>
      </p:sp>
      <p:sp>
        <p:nvSpPr>
          <p:cNvPr id="11" name="Elipse 10">
            <a:extLst>
              <a:ext uri="{FF2B5EF4-FFF2-40B4-BE49-F238E27FC236}">
                <a16:creationId xmlns:a16="http://schemas.microsoft.com/office/drawing/2014/main" id="{2711F026-A8AB-131C-D778-B9184A17E450}"/>
              </a:ext>
            </a:extLst>
          </p:cNvPr>
          <p:cNvSpPr/>
          <p:nvPr/>
        </p:nvSpPr>
        <p:spPr>
          <a:xfrm>
            <a:off x="7055273" y="2399876"/>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dirty="0">
                <a:solidFill>
                  <a:schemeClr val="tx2"/>
                </a:solidFill>
              </a:rPr>
              <a:t>Systems</a:t>
            </a:r>
          </a:p>
        </p:txBody>
      </p:sp>
      <p:sp>
        <p:nvSpPr>
          <p:cNvPr id="12" name="Elipse 11">
            <a:extLst>
              <a:ext uri="{FF2B5EF4-FFF2-40B4-BE49-F238E27FC236}">
                <a16:creationId xmlns:a16="http://schemas.microsoft.com/office/drawing/2014/main" id="{19B886FE-3D2B-1C65-FABF-72541522D6C6}"/>
              </a:ext>
            </a:extLst>
          </p:cNvPr>
          <p:cNvSpPr/>
          <p:nvPr/>
        </p:nvSpPr>
        <p:spPr>
          <a:xfrm>
            <a:off x="3979329" y="4275453"/>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a:solidFill>
                  <a:schemeClr val="tx2"/>
                </a:solidFill>
              </a:rPr>
              <a:t>Skills</a:t>
            </a:r>
            <a:endParaRPr lang="en-US" sz="1200" b="1" dirty="0">
              <a:solidFill>
                <a:schemeClr val="tx2"/>
              </a:solidFill>
            </a:endParaRPr>
          </a:p>
        </p:txBody>
      </p:sp>
      <p:sp>
        <p:nvSpPr>
          <p:cNvPr id="13" name="Elipse 12">
            <a:extLst>
              <a:ext uri="{FF2B5EF4-FFF2-40B4-BE49-F238E27FC236}">
                <a16:creationId xmlns:a16="http://schemas.microsoft.com/office/drawing/2014/main" id="{0AE37387-86B5-4143-481E-6D12F1223BD7}"/>
              </a:ext>
            </a:extLst>
          </p:cNvPr>
          <p:cNvSpPr/>
          <p:nvPr/>
        </p:nvSpPr>
        <p:spPr>
          <a:xfrm>
            <a:off x="7055273" y="4275453"/>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a:solidFill>
                  <a:schemeClr val="tx2"/>
                </a:solidFill>
              </a:rPr>
              <a:t>Style</a:t>
            </a:r>
            <a:endParaRPr lang="en-US" sz="1200" b="1" dirty="0">
              <a:solidFill>
                <a:schemeClr val="tx2"/>
              </a:solidFill>
            </a:endParaRPr>
          </a:p>
        </p:txBody>
      </p:sp>
      <p:grpSp>
        <p:nvGrpSpPr>
          <p:cNvPr id="16" name="Group 146">
            <a:extLst>
              <a:ext uri="{FF2B5EF4-FFF2-40B4-BE49-F238E27FC236}">
                <a16:creationId xmlns:a16="http://schemas.microsoft.com/office/drawing/2014/main" id="{08817272-FF04-DFD0-4226-774083452365}"/>
              </a:ext>
            </a:extLst>
          </p:cNvPr>
          <p:cNvGrpSpPr>
            <a:grpSpLocks noChangeAspect="1"/>
          </p:cNvGrpSpPr>
          <p:nvPr/>
        </p:nvGrpSpPr>
        <p:grpSpPr bwMode="auto">
          <a:xfrm>
            <a:off x="5851835" y="1630628"/>
            <a:ext cx="485152" cy="502815"/>
            <a:chOff x="6545" y="1716"/>
            <a:chExt cx="412" cy="427"/>
          </a:xfrm>
          <a:solidFill>
            <a:schemeClr val="tx2"/>
          </a:solidFill>
        </p:grpSpPr>
        <p:sp>
          <p:nvSpPr>
            <p:cNvPr id="17" name="Freeform 147">
              <a:extLst>
                <a:ext uri="{FF2B5EF4-FFF2-40B4-BE49-F238E27FC236}">
                  <a16:creationId xmlns:a16="http://schemas.microsoft.com/office/drawing/2014/main" id="{FAD589AE-EE06-6630-DFBC-556C3EE0B127}"/>
                </a:ext>
              </a:extLst>
            </p:cNvPr>
            <p:cNvSpPr>
              <a:spLocks noEditPoints="1"/>
            </p:cNvSpPr>
            <p:nvPr/>
          </p:nvSpPr>
          <p:spPr bwMode="auto">
            <a:xfrm>
              <a:off x="6671" y="1743"/>
              <a:ext cx="195" cy="169"/>
            </a:xfrm>
            <a:custGeom>
              <a:avLst/>
              <a:gdLst>
                <a:gd name="T0" fmla="*/ 66 w 132"/>
                <a:gd name="T1" fmla="*/ 114 h 114"/>
                <a:gd name="T2" fmla="*/ 64 w 132"/>
                <a:gd name="T3" fmla="*/ 114 h 114"/>
                <a:gd name="T4" fmla="*/ 4 w 132"/>
                <a:gd name="T5" fmla="*/ 90 h 114"/>
                <a:gd name="T6" fmla="*/ 0 w 132"/>
                <a:gd name="T7" fmla="*/ 84 h 114"/>
                <a:gd name="T8" fmla="*/ 0 w 132"/>
                <a:gd name="T9" fmla="*/ 6 h 114"/>
                <a:gd name="T10" fmla="*/ 3 w 132"/>
                <a:gd name="T11" fmla="*/ 1 h 114"/>
                <a:gd name="T12" fmla="*/ 8 w 132"/>
                <a:gd name="T13" fmla="*/ 0 h 114"/>
                <a:gd name="T14" fmla="*/ 66 w 132"/>
                <a:gd name="T15" fmla="*/ 18 h 114"/>
                <a:gd name="T16" fmla="*/ 125 w 132"/>
                <a:gd name="T17" fmla="*/ 0 h 114"/>
                <a:gd name="T18" fmla="*/ 130 w 132"/>
                <a:gd name="T19" fmla="*/ 1 h 114"/>
                <a:gd name="T20" fmla="*/ 132 w 132"/>
                <a:gd name="T21" fmla="*/ 6 h 114"/>
                <a:gd name="T22" fmla="*/ 132 w 132"/>
                <a:gd name="T23" fmla="*/ 84 h 114"/>
                <a:gd name="T24" fmla="*/ 128 w 132"/>
                <a:gd name="T25" fmla="*/ 90 h 114"/>
                <a:gd name="T26" fmla="*/ 68 w 132"/>
                <a:gd name="T27" fmla="*/ 114 h 114"/>
                <a:gd name="T28" fmla="*/ 66 w 132"/>
                <a:gd name="T29" fmla="*/ 114 h 114"/>
                <a:gd name="T30" fmla="*/ 12 w 132"/>
                <a:gd name="T31" fmla="*/ 80 h 114"/>
                <a:gd name="T32" fmla="*/ 66 w 132"/>
                <a:gd name="T33" fmla="*/ 102 h 114"/>
                <a:gd name="T34" fmla="*/ 120 w 132"/>
                <a:gd name="T35" fmla="*/ 80 h 114"/>
                <a:gd name="T36" fmla="*/ 120 w 132"/>
                <a:gd name="T37" fmla="*/ 14 h 114"/>
                <a:gd name="T38" fmla="*/ 68 w 132"/>
                <a:gd name="T39" fmla="*/ 30 h 114"/>
                <a:gd name="T40" fmla="*/ 65 w 132"/>
                <a:gd name="T41" fmla="*/ 30 h 114"/>
                <a:gd name="T42" fmla="*/ 12 w 132"/>
                <a:gd name="T43" fmla="*/ 14 h 114"/>
                <a:gd name="T44" fmla="*/ 12 w 132"/>
                <a:gd name="T45" fmla="*/ 8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2" h="114">
                  <a:moveTo>
                    <a:pt x="66" y="114"/>
                  </a:moveTo>
                  <a:cubicBezTo>
                    <a:pt x="65" y="114"/>
                    <a:pt x="65" y="114"/>
                    <a:pt x="64" y="114"/>
                  </a:cubicBezTo>
                  <a:cubicBezTo>
                    <a:pt x="4" y="90"/>
                    <a:pt x="4" y="90"/>
                    <a:pt x="4" y="90"/>
                  </a:cubicBezTo>
                  <a:cubicBezTo>
                    <a:pt x="2" y="89"/>
                    <a:pt x="0" y="86"/>
                    <a:pt x="0" y="84"/>
                  </a:cubicBezTo>
                  <a:cubicBezTo>
                    <a:pt x="0" y="6"/>
                    <a:pt x="0" y="6"/>
                    <a:pt x="0" y="6"/>
                  </a:cubicBezTo>
                  <a:cubicBezTo>
                    <a:pt x="0" y="4"/>
                    <a:pt x="1" y="2"/>
                    <a:pt x="3" y="1"/>
                  </a:cubicBezTo>
                  <a:cubicBezTo>
                    <a:pt x="4" y="0"/>
                    <a:pt x="6" y="0"/>
                    <a:pt x="8" y="0"/>
                  </a:cubicBezTo>
                  <a:cubicBezTo>
                    <a:pt x="66" y="18"/>
                    <a:pt x="66" y="18"/>
                    <a:pt x="66" y="18"/>
                  </a:cubicBezTo>
                  <a:cubicBezTo>
                    <a:pt x="125" y="0"/>
                    <a:pt x="125" y="0"/>
                    <a:pt x="125" y="0"/>
                  </a:cubicBezTo>
                  <a:cubicBezTo>
                    <a:pt x="126" y="0"/>
                    <a:pt x="128" y="0"/>
                    <a:pt x="130" y="1"/>
                  </a:cubicBezTo>
                  <a:cubicBezTo>
                    <a:pt x="131" y="2"/>
                    <a:pt x="132" y="4"/>
                    <a:pt x="132" y="6"/>
                  </a:cubicBezTo>
                  <a:cubicBezTo>
                    <a:pt x="132" y="84"/>
                    <a:pt x="132" y="84"/>
                    <a:pt x="132" y="84"/>
                  </a:cubicBezTo>
                  <a:cubicBezTo>
                    <a:pt x="132" y="86"/>
                    <a:pt x="131" y="89"/>
                    <a:pt x="128" y="90"/>
                  </a:cubicBezTo>
                  <a:cubicBezTo>
                    <a:pt x="68" y="114"/>
                    <a:pt x="68" y="114"/>
                    <a:pt x="68" y="114"/>
                  </a:cubicBezTo>
                  <a:cubicBezTo>
                    <a:pt x="68" y="114"/>
                    <a:pt x="67" y="114"/>
                    <a:pt x="66" y="114"/>
                  </a:cubicBezTo>
                  <a:close/>
                  <a:moveTo>
                    <a:pt x="12" y="80"/>
                  </a:moveTo>
                  <a:cubicBezTo>
                    <a:pt x="66" y="102"/>
                    <a:pt x="66" y="102"/>
                    <a:pt x="66" y="102"/>
                  </a:cubicBezTo>
                  <a:cubicBezTo>
                    <a:pt x="120" y="80"/>
                    <a:pt x="120" y="80"/>
                    <a:pt x="120" y="80"/>
                  </a:cubicBezTo>
                  <a:cubicBezTo>
                    <a:pt x="120" y="14"/>
                    <a:pt x="120" y="14"/>
                    <a:pt x="120" y="14"/>
                  </a:cubicBezTo>
                  <a:cubicBezTo>
                    <a:pt x="68" y="30"/>
                    <a:pt x="68" y="30"/>
                    <a:pt x="68" y="30"/>
                  </a:cubicBezTo>
                  <a:cubicBezTo>
                    <a:pt x="67" y="30"/>
                    <a:pt x="66" y="30"/>
                    <a:pt x="65" y="30"/>
                  </a:cubicBezTo>
                  <a:cubicBezTo>
                    <a:pt x="12" y="14"/>
                    <a:pt x="12" y="14"/>
                    <a:pt x="12" y="14"/>
                  </a:cubicBezTo>
                  <a:lnTo>
                    <a:pt x="12"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8" name="Freeform 148">
              <a:extLst>
                <a:ext uri="{FF2B5EF4-FFF2-40B4-BE49-F238E27FC236}">
                  <a16:creationId xmlns:a16="http://schemas.microsoft.com/office/drawing/2014/main" id="{8CB20712-CE83-751B-A7CD-F97BD67A60EC}"/>
                </a:ext>
              </a:extLst>
            </p:cNvPr>
            <p:cNvSpPr>
              <a:spLocks/>
            </p:cNvSpPr>
            <p:nvPr/>
          </p:nvSpPr>
          <p:spPr bwMode="auto">
            <a:xfrm>
              <a:off x="6671" y="1716"/>
              <a:ext cx="197" cy="46"/>
            </a:xfrm>
            <a:custGeom>
              <a:avLst/>
              <a:gdLst>
                <a:gd name="T0" fmla="*/ 126 w 133"/>
                <a:gd name="T1" fmla="*/ 30 h 31"/>
                <a:gd name="T2" fmla="*/ 125 w 133"/>
                <a:gd name="T3" fmla="*/ 30 h 31"/>
                <a:gd name="T4" fmla="*/ 66 w 133"/>
                <a:gd name="T5" fmla="*/ 12 h 31"/>
                <a:gd name="T6" fmla="*/ 8 w 133"/>
                <a:gd name="T7" fmla="*/ 30 h 31"/>
                <a:gd name="T8" fmla="*/ 0 w 133"/>
                <a:gd name="T9" fmla="*/ 26 h 31"/>
                <a:gd name="T10" fmla="*/ 5 w 133"/>
                <a:gd name="T11" fmla="*/ 18 h 31"/>
                <a:gd name="T12" fmla="*/ 65 w 133"/>
                <a:gd name="T13" fmla="*/ 0 h 31"/>
                <a:gd name="T14" fmla="*/ 68 w 133"/>
                <a:gd name="T15" fmla="*/ 0 h 31"/>
                <a:gd name="T16" fmla="*/ 128 w 133"/>
                <a:gd name="T17" fmla="*/ 18 h 31"/>
                <a:gd name="T18" fmla="*/ 132 w 133"/>
                <a:gd name="T19" fmla="*/ 26 h 31"/>
                <a:gd name="T20" fmla="*/ 126 w 133"/>
                <a:gd name="T21"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31">
                  <a:moveTo>
                    <a:pt x="126" y="30"/>
                  </a:moveTo>
                  <a:cubicBezTo>
                    <a:pt x="126" y="30"/>
                    <a:pt x="125" y="30"/>
                    <a:pt x="125" y="30"/>
                  </a:cubicBezTo>
                  <a:cubicBezTo>
                    <a:pt x="66" y="12"/>
                    <a:pt x="66" y="12"/>
                    <a:pt x="66" y="12"/>
                  </a:cubicBezTo>
                  <a:cubicBezTo>
                    <a:pt x="8" y="30"/>
                    <a:pt x="8" y="30"/>
                    <a:pt x="8" y="30"/>
                  </a:cubicBezTo>
                  <a:cubicBezTo>
                    <a:pt x="5" y="31"/>
                    <a:pt x="1" y="29"/>
                    <a:pt x="0" y="26"/>
                  </a:cubicBezTo>
                  <a:cubicBezTo>
                    <a:pt x="0" y="23"/>
                    <a:pt x="1" y="19"/>
                    <a:pt x="5" y="18"/>
                  </a:cubicBezTo>
                  <a:cubicBezTo>
                    <a:pt x="65" y="0"/>
                    <a:pt x="65" y="0"/>
                    <a:pt x="65" y="0"/>
                  </a:cubicBezTo>
                  <a:cubicBezTo>
                    <a:pt x="66" y="0"/>
                    <a:pt x="67" y="0"/>
                    <a:pt x="68" y="0"/>
                  </a:cubicBezTo>
                  <a:cubicBezTo>
                    <a:pt x="128" y="18"/>
                    <a:pt x="128" y="18"/>
                    <a:pt x="128" y="18"/>
                  </a:cubicBezTo>
                  <a:cubicBezTo>
                    <a:pt x="131" y="19"/>
                    <a:pt x="133" y="23"/>
                    <a:pt x="132" y="26"/>
                  </a:cubicBezTo>
                  <a:cubicBezTo>
                    <a:pt x="131" y="28"/>
                    <a:pt x="129" y="30"/>
                    <a:pt x="1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9" name="Freeform 149">
              <a:extLst>
                <a:ext uri="{FF2B5EF4-FFF2-40B4-BE49-F238E27FC236}">
                  <a16:creationId xmlns:a16="http://schemas.microsoft.com/office/drawing/2014/main" id="{D55D1367-1735-188C-BBA3-798E1657D35B}"/>
                </a:ext>
              </a:extLst>
            </p:cNvPr>
            <p:cNvSpPr>
              <a:spLocks/>
            </p:cNvSpPr>
            <p:nvPr/>
          </p:nvSpPr>
          <p:spPr bwMode="auto">
            <a:xfrm>
              <a:off x="6760" y="1770"/>
              <a:ext cx="18" cy="142"/>
            </a:xfrm>
            <a:custGeom>
              <a:avLst/>
              <a:gdLst>
                <a:gd name="T0" fmla="*/ 6 w 12"/>
                <a:gd name="T1" fmla="*/ 96 h 96"/>
                <a:gd name="T2" fmla="*/ 0 w 12"/>
                <a:gd name="T3" fmla="*/ 90 h 96"/>
                <a:gd name="T4" fmla="*/ 0 w 12"/>
                <a:gd name="T5" fmla="*/ 6 h 96"/>
                <a:gd name="T6" fmla="*/ 6 w 12"/>
                <a:gd name="T7" fmla="*/ 0 h 96"/>
                <a:gd name="T8" fmla="*/ 12 w 12"/>
                <a:gd name="T9" fmla="*/ 6 h 96"/>
                <a:gd name="T10" fmla="*/ 12 w 12"/>
                <a:gd name="T11" fmla="*/ 90 h 96"/>
                <a:gd name="T12" fmla="*/ 6 w 12"/>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12" h="96">
                  <a:moveTo>
                    <a:pt x="6" y="96"/>
                  </a:moveTo>
                  <a:cubicBezTo>
                    <a:pt x="3" y="96"/>
                    <a:pt x="0" y="93"/>
                    <a:pt x="0" y="90"/>
                  </a:cubicBezTo>
                  <a:cubicBezTo>
                    <a:pt x="0" y="6"/>
                    <a:pt x="0" y="6"/>
                    <a:pt x="0" y="6"/>
                  </a:cubicBezTo>
                  <a:cubicBezTo>
                    <a:pt x="0" y="2"/>
                    <a:pt x="3" y="0"/>
                    <a:pt x="6" y="0"/>
                  </a:cubicBezTo>
                  <a:cubicBezTo>
                    <a:pt x="10" y="0"/>
                    <a:pt x="12" y="2"/>
                    <a:pt x="12" y="6"/>
                  </a:cubicBezTo>
                  <a:cubicBezTo>
                    <a:pt x="12" y="90"/>
                    <a:pt x="12" y="90"/>
                    <a:pt x="12" y="90"/>
                  </a:cubicBezTo>
                  <a:cubicBezTo>
                    <a:pt x="12" y="93"/>
                    <a:pt x="10" y="96"/>
                    <a:pt x="6"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0" name="Freeform 150">
              <a:extLst>
                <a:ext uri="{FF2B5EF4-FFF2-40B4-BE49-F238E27FC236}">
                  <a16:creationId xmlns:a16="http://schemas.microsoft.com/office/drawing/2014/main" id="{EFFE2171-D562-A229-947E-28701B3A9E9E}"/>
                </a:ext>
              </a:extLst>
            </p:cNvPr>
            <p:cNvSpPr>
              <a:spLocks noEditPoints="1"/>
            </p:cNvSpPr>
            <p:nvPr/>
          </p:nvSpPr>
          <p:spPr bwMode="auto">
            <a:xfrm>
              <a:off x="6795" y="1929"/>
              <a:ext cx="160" cy="134"/>
            </a:xfrm>
            <a:custGeom>
              <a:avLst/>
              <a:gdLst>
                <a:gd name="T0" fmla="*/ 54 w 108"/>
                <a:gd name="T1" fmla="*/ 90 h 90"/>
                <a:gd name="T2" fmla="*/ 52 w 108"/>
                <a:gd name="T3" fmla="*/ 89 h 90"/>
                <a:gd name="T4" fmla="*/ 4 w 108"/>
                <a:gd name="T5" fmla="*/ 65 h 90"/>
                <a:gd name="T6" fmla="*/ 0 w 108"/>
                <a:gd name="T7" fmla="*/ 60 h 90"/>
                <a:gd name="T8" fmla="*/ 0 w 108"/>
                <a:gd name="T9" fmla="*/ 6 h 90"/>
                <a:gd name="T10" fmla="*/ 3 w 108"/>
                <a:gd name="T11" fmla="*/ 1 h 90"/>
                <a:gd name="T12" fmla="*/ 8 w 108"/>
                <a:gd name="T13" fmla="*/ 0 h 90"/>
                <a:gd name="T14" fmla="*/ 54 w 108"/>
                <a:gd name="T15" fmla="*/ 18 h 90"/>
                <a:gd name="T16" fmla="*/ 100 w 108"/>
                <a:gd name="T17" fmla="*/ 0 h 90"/>
                <a:gd name="T18" fmla="*/ 106 w 108"/>
                <a:gd name="T19" fmla="*/ 1 h 90"/>
                <a:gd name="T20" fmla="*/ 108 w 108"/>
                <a:gd name="T21" fmla="*/ 6 h 90"/>
                <a:gd name="T22" fmla="*/ 108 w 108"/>
                <a:gd name="T23" fmla="*/ 60 h 90"/>
                <a:gd name="T24" fmla="*/ 105 w 108"/>
                <a:gd name="T25" fmla="*/ 65 h 90"/>
                <a:gd name="T26" fmla="*/ 57 w 108"/>
                <a:gd name="T27" fmla="*/ 89 h 90"/>
                <a:gd name="T28" fmla="*/ 54 w 108"/>
                <a:gd name="T29" fmla="*/ 90 h 90"/>
                <a:gd name="T30" fmla="*/ 12 w 108"/>
                <a:gd name="T31" fmla="*/ 56 h 90"/>
                <a:gd name="T32" fmla="*/ 54 w 108"/>
                <a:gd name="T33" fmla="*/ 77 h 90"/>
                <a:gd name="T34" fmla="*/ 96 w 108"/>
                <a:gd name="T35" fmla="*/ 56 h 90"/>
                <a:gd name="T36" fmla="*/ 96 w 108"/>
                <a:gd name="T37" fmla="*/ 15 h 90"/>
                <a:gd name="T38" fmla="*/ 56 w 108"/>
                <a:gd name="T39" fmla="*/ 30 h 90"/>
                <a:gd name="T40" fmla="*/ 52 w 108"/>
                <a:gd name="T41" fmla="*/ 30 h 90"/>
                <a:gd name="T42" fmla="*/ 12 w 108"/>
                <a:gd name="T43" fmla="*/ 15 h 90"/>
                <a:gd name="T44" fmla="*/ 12 w 108"/>
                <a:gd name="T45" fmla="*/ 5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8" h="90">
                  <a:moveTo>
                    <a:pt x="54" y="90"/>
                  </a:moveTo>
                  <a:cubicBezTo>
                    <a:pt x="53" y="90"/>
                    <a:pt x="52" y="90"/>
                    <a:pt x="52" y="89"/>
                  </a:cubicBezTo>
                  <a:cubicBezTo>
                    <a:pt x="4" y="65"/>
                    <a:pt x="4" y="65"/>
                    <a:pt x="4" y="65"/>
                  </a:cubicBezTo>
                  <a:cubicBezTo>
                    <a:pt x="2" y="64"/>
                    <a:pt x="0" y="62"/>
                    <a:pt x="0" y="60"/>
                  </a:cubicBezTo>
                  <a:cubicBezTo>
                    <a:pt x="0" y="6"/>
                    <a:pt x="0" y="6"/>
                    <a:pt x="0" y="6"/>
                  </a:cubicBezTo>
                  <a:cubicBezTo>
                    <a:pt x="0" y="4"/>
                    <a:pt x="1" y="2"/>
                    <a:pt x="3" y="1"/>
                  </a:cubicBezTo>
                  <a:cubicBezTo>
                    <a:pt x="4" y="0"/>
                    <a:pt x="7" y="0"/>
                    <a:pt x="8" y="0"/>
                  </a:cubicBezTo>
                  <a:cubicBezTo>
                    <a:pt x="54" y="18"/>
                    <a:pt x="54" y="18"/>
                    <a:pt x="54" y="18"/>
                  </a:cubicBezTo>
                  <a:cubicBezTo>
                    <a:pt x="100" y="0"/>
                    <a:pt x="100" y="0"/>
                    <a:pt x="100" y="0"/>
                  </a:cubicBezTo>
                  <a:cubicBezTo>
                    <a:pt x="102" y="0"/>
                    <a:pt x="104" y="0"/>
                    <a:pt x="106" y="1"/>
                  </a:cubicBezTo>
                  <a:cubicBezTo>
                    <a:pt x="107" y="2"/>
                    <a:pt x="108" y="4"/>
                    <a:pt x="108" y="6"/>
                  </a:cubicBezTo>
                  <a:cubicBezTo>
                    <a:pt x="108" y="60"/>
                    <a:pt x="108" y="60"/>
                    <a:pt x="108" y="60"/>
                  </a:cubicBezTo>
                  <a:cubicBezTo>
                    <a:pt x="108" y="62"/>
                    <a:pt x="107" y="64"/>
                    <a:pt x="105" y="65"/>
                  </a:cubicBezTo>
                  <a:cubicBezTo>
                    <a:pt x="57" y="89"/>
                    <a:pt x="57" y="89"/>
                    <a:pt x="57" y="89"/>
                  </a:cubicBezTo>
                  <a:cubicBezTo>
                    <a:pt x="56" y="90"/>
                    <a:pt x="55" y="90"/>
                    <a:pt x="54" y="90"/>
                  </a:cubicBezTo>
                  <a:close/>
                  <a:moveTo>
                    <a:pt x="12" y="56"/>
                  </a:moveTo>
                  <a:cubicBezTo>
                    <a:pt x="54" y="77"/>
                    <a:pt x="54" y="77"/>
                    <a:pt x="54" y="77"/>
                  </a:cubicBezTo>
                  <a:cubicBezTo>
                    <a:pt x="96" y="56"/>
                    <a:pt x="96" y="56"/>
                    <a:pt x="96" y="56"/>
                  </a:cubicBezTo>
                  <a:cubicBezTo>
                    <a:pt x="96" y="15"/>
                    <a:pt x="96" y="15"/>
                    <a:pt x="96" y="15"/>
                  </a:cubicBezTo>
                  <a:cubicBezTo>
                    <a:pt x="56" y="30"/>
                    <a:pt x="56" y="30"/>
                    <a:pt x="56" y="30"/>
                  </a:cubicBezTo>
                  <a:cubicBezTo>
                    <a:pt x="55" y="30"/>
                    <a:pt x="53" y="30"/>
                    <a:pt x="52" y="30"/>
                  </a:cubicBezTo>
                  <a:cubicBezTo>
                    <a:pt x="12" y="15"/>
                    <a:pt x="12" y="15"/>
                    <a:pt x="12" y="15"/>
                  </a:cubicBezTo>
                  <a:lnTo>
                    <a:pt x="12"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1" name="Freeform 151">
              <a:extLst>
                <a:ext uri="{FF2B5EF4-FFF2-40B4-BE49-F238E27FC236}">
                  <a16:creationId xmlns:a16="http://schemas.microsoft.com/office/drawing/2014/main" id="{E44C4FAD-1F5C-E35A-AD63-83B0A7598F1D}"/>
                </a:ext>
              </a:extLst>
            </p:cNvPr>
            <p:cNvSpPr>
              <a:spLocks/>
            </p:cNvSpPr>
            <p:nvPr/>
          </p:nvSpPr>
          <p:spPr bwMode="auto">
            <a:xfrm>
              <a:off x="6794" y="1903"/>
              <a:ext cx="163" cy="46"/>
            </a:xfrm>
            <a:custGeom>
              <a:avLst/>
              <a:gdLst>
                <a:gd name="T0" fmla="*/ 103 w 110"/>
                <a:gd name="T1" fmla="*/ 30 h 31"/>
                <a:gd name="T2" fmla="*/ 101 w 110"/>
                <a:gd name="T3" fmla="*/ 30 h 31"/>
                <a:gd name="T4" fmla="*/ 55 w 110"/>
                <a:gd name="T5" fmla="*/ 12 h 31"/>
                <a:gd name="T6" fmla="*/ 9 w 110"/>
                <a:gd name="T7" fmla="*/ 30 h 31"/>
                <a:gd name="T8" fmla="*/ 2 w 110"/>
                <a:gd name="T9" fmla="*/ 26 h 31"/>
                <a:gd name="T10" fmla="*/ 5 w 110"/>
                <a:gd name="T11" fmla="*/ 18 h 31"/>
                <a:gd name="T12" fmla="*/ 53 w 110"/>
                <a:gd name="T13" fmla="*/ 0 h 31"/>
                <a:gd name="T14" fmla="*/ 57 w 110"/>
                <a:gd name="T15" fmla="*/ 0 h 31"/>
                <a:gd name="T16" fmla="*/ 105 w 110"/>
                <a:gd name="T17" fmla="*/ 18 h 31"/>
                <a:gd name="T18" fmla="*/ 109 w 110"/>
                <a:gd name="T19" fmla="*/ 26 h 31"/>
                <a:gd name="T20" fmla="*/ 103 w 110"/>
                <a:gd name="T21"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31">
                  <a:moveTo>
                    <a:pt x="103" y="30"/>
                  </a:moveTo>
                  <a:cubicBezTo>
                    <a:pt x="103" y="30"/>
                    <a:pt x="102" y="30"/>
                    <a:pt x="101" y="30"/>
                  </a:cubicBezTo>
                  <a:cubicBezTo>
                    <a:pt x="55" y="12"/>
                    <a:pt x="55" y="12"/>
                    <a:pt x="55" y="12"/>
                  </a:cubicBezTo>
                  <a:cubicBezTo>
                    <a:pt x="9" y="30"/>
                    <a:pt x="9" y="30"/>
                    <a:pt x="9" y="30"/>
                  </a:cubicBezTo>
                  <a:cubicBezTo>
                    <a:pt x="6" y="31"/>
                    <a:pt x="3" y="29"/>
                    <a:pt x="2" y="26"/>
                  </a:cubicBezTo>
                  <a:cubicBezTo>
                    <a:pt x="0" y="23"/>
                    <a:pt x="2" y="20"/>
                    <a:pt x="5" y="18"/>
                  </a:cubicBezTo>
                  <a:cubicBezTo>
                    <a:pt x="53" y="0"/>
                    <a:pt x="53" y="0"/>
                    <a:pt x="53" y="0"/>
                  </a:cubicBezTo>
                  <a:cubicBezTo>
                    <a:pt x="54" y="0"/>
                    <a:pt x="56" y="0"/>
                    <a:pt x="57" y="0"/>
                  </a:cubicBezTo>
                  <a:cubicBezTo>
                    <a:pt x="105" y="18"/>
                    <a:pt x="105" y="18"/>
                    <a:pt x="105" y="18"/>
                  </a:cubicBezTo>
                  <a:cubicBezTo>
                    <a:pt x="108" y="20"/>
                    <a:pt x="110" y="23"/>
                    <a:pt x="109" y="26"/>
                  </a:cubicBezTo>
                  <a:cubicBezTo>
                    <a:pt x="108" y="29"/>
                    <a:pt x="106" y="30"/>
                    <a:pt x="103"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2" name="Freeform 152">
              <a:extLst>
                <a:ext uri="{FF2B5EF4-FFF2-40B4-BE49-F238E27FC236}">
                  <a16:creationId xmlns:a16="http://schemas.microsoft.com/office/drawing/2014/main" id="{04097849-84AA-1E2D-5975-31B196A5B913}"/>
                </a:ext>
              </a:extLst>
            </p:cNvPr>
            <p:cNvSpPr>
              <a:spLocks/>
            </p:cNvSpPr>
            <p:nvPr/>
          </p:nvSpPr>
          <p:spPr bwMode="auto">
            <a:xfrm>
              <a:off x="6866" y="1956"/>
              <a:ext cx="18" cy="107"/>
            </a:xfrm>
            <a:custGeom>
              <a:avLst/>
              <a:gdLst>
                <a:gd name="T0" fmla="*/ 6 w 12"/>
                <a:gd name="T1" fmla="*/ 72 h 72"/>
                <a:gd name="T2" fmla="*/ 0 w 12"/>
                <a:gd name="T3" fmla="*/ 66 h 72"/>
                <a:gd name="T4" fmla="*/ 0 w 12"/>
                <a:gd name="T5" fmla="*/ 6 h 72"/>
                <a:gd name="T6" fmla="*/ 6 w 12"/>
                <a:gd name="T7" fmla="*/ 0 h 72"/>
                <a:gd name="T8" fmla="*/ 12 w 12"/>
                <a:gd name="T9" fmla="*/ 6 h 72"/>
                <a:gd name="T10" fmla="*/ 12 w 12"/>
                <a:gd name="T11" fmla="*/ 66 h 72"/>
                <a:gd name="T12" fmla="*/ 6 w 12"/>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2" h="72">
                  <a:moveTo>
                    <a:pt x="6" y="72"/>
                  </a:moveTo>
                  <a:cubicBezTo>
                    <a:pt x="3" y="72"/>
                    <a:pt x="0" y="69"/>
                    <a:pt x="0" y="66"/>
                  </a:cubicBezTo>
                  <a:cubicBezTo>
                    <a:pt x="0" y="6"/>
                    <a:pt x="0" y="6"/>
                    <a:pt x="0" y="6"/>
                  </a:cubicBezTo>
                  <a:cubicBezTo>
                    <a:pt x="0" y="2"/>
                    <a:pt x="3" y="0"/>
                    <a:pt x="6" y="0"/>
                  </a:cubicBezTo>
                  <a:cubicBezTo>
                    <a:pt x="10" y="0"/>
                    <a:pt x="12" y="2"/>
                    <a:pt x="12" y="6"/>
                  </a:cubicBezTo>
                  <a:cubicBezTo>
                    <a:pt x="12" y="66"/>
                    <a:pt x="12" y="66"/>
                    <a:pt x="12" y="66"/>
                  </a:cubicBezTo>
                  <a:cubicBezTo>
                    <a:pt x="12" y="69"/>
                    <a:pt x="10"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3" name="Freeform 153">
              <a:extLst>
                <a:ext uri="{FF2B5EF4-FFF2-40B4-BE49-F238E27FC236}">
                  <a16:creationId xmlns:a16="http://schemas.microsoft.com/office/drawing/2014/main" id="{BFEC05B2-BCC6-24EF-3CFF-13EFBF0B8C50}"/>
                </a:ext>
              </a:extLst>
            </p:cNvPr>
            <p:cNvSpPr>
              <a:spLocks noEditPoints="1"/>
            </p:cNvSpPr>
            <p:nvPr/>
          </p:nvSpPr>
          <p:spPr bwMode="auto">
            <a:xfrm>
              <a:off x="6547" y="1947"/>
              <a:ext cx="231" cy="196"/>
            </a:xfrm>
            <a:custGeom>
              <a:avLst/>
              <a:gdLst>
                <a:gd name="T0" fmla="*/ 78 w 156"/>
                <a:gd name="T1" fmla="*/ 132 h 132"/>
                <a:gd name="T2" fmla="*/ 76 w 156"/>
                <a:gd name="T3" fmla="*/ 132 h 132"/>
                <a:gd name="T4" fmla="*/ 4 w 156"/>
                <a:gd name="T5" fmla="*/ 108 h 132"/>
                <a:gd name="T6" fmla="*/ 0 w 156"/>
                <a:gd name="T7" fmla="*/ 102 h 132"/>
                <a:gd name="T8" fmla="*/ 0 w 156"/>
                <a:gd name="T9" fmla="*/ 6 h 132"/>
                <a:gd name="T10" fmla="*/ 3 w 156"/>
                <a:gd name="T11" fmla="*/ 1 h 132"/>
                <a:gd name="T12" fmla="*/ 8 w 156"/>
                <a:gd name="T13" fmla="*/ 0 h 132"/>
                <a:gd name="T14" fmla="*/ 78 w 156"/>
                <a:gd name="T15" fmla="*/ 24 h 132"/>
                <a:gd name="T16" fmla="*/ 148 w 156"/>
                <a:gd name="T17" fmla="*/ 0 h 132"/>
                <a:gd name="T18" fmla="*/ 154 w 156"/>
                <a:gd name="T19" fmla="*/ 1 h 132"/>
                <a:gd name="T20" fmla="*/ 156 w 156"/>
                <a:gd name="T21" fmla="*/ 6 h 132"/>
                <a:gd name="T22" fmla="*/ 156 w 156"/>
                <a:gd name="T23" fmla="*/ 102 h 132"/>
                <a:gd name="T24" fmla="*/ 152 w 156"/>
                <a:gd name="T25" fmla="*/ 108 h 132"/>
                <a:gd name="T26" fmla="*/ 80 w 156"/>
                <a:gd name="T27" fmla="*/ 132 h 132"/>
                <a:gd name="T28" fmla="*/ 78 w 156"/>
                <a:gd name="T29" fmla="*/ 132 h 132"/>
                <a:gd name="T30" fmla="*/ 12 w 156"/>
                <a:gd name="T31" fmla="*/ 98 h 132"/>
                <a:gd name="T32" fmla="*/ 78 w 156"/>
                <a:gd name="T33" fmla="*/ 120 h 132"/>
                <a:gd name="T34" fmla="*/ 144 w 156"/>
                <a:gd name="T35" fmla="*/ 98 h 132"/>
                <a:gd name="T36" fmla="*/ 144 w 156"/>
                <a:gd name="T37" fmla="*/ 14 h 132"/>
                <a:gd name="T38" fmla="*/ 80 w 156"/>
                <a:gd name="T39" fmla="*/ 36 h 132"/>
                <a:gd name="T40" fmla="*/ 76 w 156"/>
                <a:gd name="T41" fmla="*/ 36 h 132"/>
                <a:gd name="T42" fmla="*/ 12 w 156"/>
                <a:gd name="T43" fmla="*/ 14 h 132"/>
                <a:gd name="T44" fmla="*/ 12 w 156"/>
                <a:gd name="T45" fmla="*/ 98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6" h="132">
                  <a:moveTo>
                    <a:pt x="78" y="132"/>
                  </a:moveTo>
                  <a:cubicBezTo>
                    <a:pt x="78" y="132"/>
                    <a:pt x="77" y="132"/>
                    <a:pt x="76" y="132"/>
                  </a:cubicBezTo>
                  <a:cubicBezTo>
                    <a:pt x="4" y="108"/>
                    <a:pt x="4" y="108"/>
                    <a:pt x="4" y="108"/>
                  </a:cubicBezTo>
                  <a:cubicBezTo>
                    <a:pt x="2" y="107"/>
                    <a:pt x="0" y="105"/>
                    <a:pt x="0" y="102"/>
                  </a:cubicBezTo>
                  <a:cubicBezTo>
                    <a:pt x="0" y="6"/>
                    <a:pt x="0" y="6"/>
                    <a:pt x="0" y="6"/>
                  </a:cubicBezTo>
                  <a:cubicBezTo>
                    <a:pt x="0" y="4"/>
                    <a:pt x="1" y="2"/>
                    <a:pt x="3" y="1"/>
                  </a:cubicBezTo>
                  <a:cubicBezTo>
                    <a:pt x="4" y="0"/>
                    <a:pt x="6" y="0"/>
                    <a:pt x="8" y="0"/>
                  </a:cubicBezTo>
                  <a:cubicBezTo>
                    <a:pt x="78" y="24"/>
                    <a:pt x="78" y="24"/>
                    <a:pt x="78" y="24"/>
                  </a:cubicBezTo>
                  <a:cubicBezTo>
                    <a:pt x="148" y="0"/>
                    <a:pt x="148" y="0"/>
                    <a:pt x="148" y="0"/>
                  </a:cubicBezTo>
                  <a:cubicBezTo>
                    <a:pt x="150" y="0"/>
                    <a:pt x="152" y="0"/>
                    <a:pt x="154" y="1"/>
                  </a:cubicBezTo>
                  <a:cubicBezTo>
                    <a:pt x="155" y="2"/>
                    <a:pt x="156" y="4"/>
                    <a:pt x="156" y="6"/>
                  </a:cubicBezTo>
                  <a:cubicBezTo>
                    <a:pt x="156" y="102"/>
                    <a:pt x="156" y="102"/>
                    <a:pt x="156" y="102"/>
                  </a:cubicBezTo>
                  <a:cubicBezTo>
                    <a:pt x="156" y="105"/>
                    <a:pt x="155" y="107"/>
                    <a:pt x="152" y="108"/>
                  </a:cubicBezTo>
                  <a:cubicBezTo>
                    <a:pt x="80" y="132"/>
                    <a:pt x="80" y="132"/>
                    <a:pt x="80" y="132"/>
                  </a:cubicBezTo>
                  <a:cubicBezTo>
                    <a:pt x="80" y="132"/>
                    <a:pt x="79" y="132"/>
                    <a:pt x="78" y="132"/>
                  </a:cubicBezTo>
                  <a:close/>
                  <a:moveTo>
                    <a:pt x="12" y="98"/>
                  </a:moveTo>
                  <a:cubicBezTo>
                    <a:pt x="78" y="120"/>
                    <a:pt x="78" y="120"/>
                    <a:pt x="78" y="120"/>
                  </a:cubicBezTo>
                  <a:cubicBezTo>
                    <a:pt x="144" y="98"/>
                    <a:pt x="144" y="98"/>
                    <a:pt x="144" y="98"/>
                  </a:cubicBezTo>
                  <a:cubicBezTo>
                    <a:pt x="144" y="14"/>
                    <a:pt x="144" y="14"/>
                    <a:pt x="144" y="14"/>
                  </a:cubicBezTo>
                  <a:cubicBezTo>
                    <a:pt x="80" y="36"/>
                    <a:pt x="80" y="36"/>
                    <a:pt x="80" y="36"/>
                  </a:cubicBezTo>
                  <a:cubicBezTo>
                    <a:pt x="79" y="36"/>
                    <a:pt x="78" y="36"/>
                    <a:pt x="76" y="36"/>
                  </a:cubicBezTo>
                  <a:cubicBezTo>
                    <a:pt x="12" y="14"/>
                    <a:pt x="12" y="14"/>
                    <a:pt x="12" y="14"/>
                  </a:cubicBezTo>
                  <a:lnTo>
                    <a:pt x="12"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4" name="Freeform 154">
              <a:extLst>
                <a:ext uri="{FF2B5EF4-FFF2-40B4-BE49-F238E27FC236}">
                  <a16:creationId xmlns:a16="http://schemas.microsoft.com/office/drawing/2014/main" id="{DC9A792A-03A4-7538-899B-DD0972BC8BA0}"/>
                </a:ext>
              </a:extLst>
            </p:cNvPr>
            <p:cNvSpPr>
              <a:spLocks/>
            </p:cNvSpPr>
            <p:nvPr/>
          </p:nvSpPr>
          <p:spPr bwMode="auto">
            <a:xfrm>
              <a:off x="6545" y="1912"/>
              <a:ext cx="234" cy="54"/>
            </a:xfrm>
            <a:custGeom>
              <a:avLst/>
              <a:gdLst>
                <a:gd name="T0" fmla="*/ 151 w 158"/>
                <a:gd name="T1" fmla="*/ 36 h 37"/>
                <a:gd name="T2" fmla="*/ 149 w 158"/>
                <a:gd name="T3" fmla="*/ 36 h 37"/>
                <a:gd name="T4" fmla="*/ 79 w 158"/>
                <a:gd name="T5" fmla="*/ 12 h 37"/>
                <a:gd name="T6" fmla="*/ 9 w 158"/>
                <a:gd name="T7" fmla="*/ 36 h 37"/>
                <a:gd name="T8" fmla="*/ 2 w 158"/>
                <a:gd name="T9" fmla="*/ 32 h 37"/>
                <a:gd name="T10" fmla="*/ 5 w 158"/>
                <a:gd name="T11" fmla="*/ 24 h 37"/>
                <a:gd name="T12" fmla="*/ 77 w 158"/>
                <a:gd name="T13" fmla="*/ 0 h 37"/>
                <a:gd name="T14" fmla="*/ 81 w 158"/>
                <a:gd name="T15" fmla="*/ 0 h 37"/>
                <a:gd name="T16" fmla="*/ 153 w 158"/>
                <a:gd name="T17" fmla="*/ 24 h 37"/>
                <a:gd name="T18" fmla="*/ 157 w 158"/>
                <a:gd name="T19" fmla="*/ 32 h 37"/>
                <a:gd name="T20" fmla="*/ 151 w 158"/>
                <a:gd name="T21"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8" h="37">
                  <a:moveTo>
                    <a:pt x="151" y="36"/>
                  </a:moveTo>
                  <a:cubicBezTo>
                    <a:pt x="151" y="36"/>
                    <a:pt x="150" y="36"/>
                    <a:pt x="149" y="36"/>
                  </a:cubicBezTo>
                  <a:cubicBezTo>
                    <a:pt x="79" y="12"/>
                    <a:pt x="79" y="12"/>
                    <a:pt x="79" y="12"/>
                  </a:cubicBezTo>
                  <a:cubicBezTo>
                    <a:pt x="9" y="36"/>
                    <a:pt x="9" y="36"/>
                    <a:pt x="9" y="36"/>
                  </a:cubicBezTo>
                  <a:cubicBezTo>
                    <a:pt x="6" y="37"/>
                    <a:pt x="3" y="35"/>
                    <a:pt x="2" y="32"/>
                  </a:cubicBezTo>
                  <a:cubicBezTo>
                    <a:pt x="0" y="29"/>
                    <a:pt x="2" y="25"/>
                    <a:pt x="5" y="24"/>
                  </a:cubicBezTo>
                  <a:cubicBezTo>
                    <a:pt x="77" y="0"/>
                    <a:pt x="77" y="0"/>
                    <a:pt x="77" y="0"/>
                  </a:cubicBezTo>
                  <a:cubicBezTo>
                    <a:pt x="79" y="0"/>
                    <a:pt x="80" y="0"/>
                    <a:pt x="81" y="0"/>
                  </a:cubicBezTo>
                  <a:cubicBezTo>
                    <a:pt x="153" y="24"/>
                    <a:pt x="153" y="24"/>
                    <a:pt x="153" y="24"/>
                  </a:cubicBezTo>
                  <a:cubicBezTo>
                    <a:pt x="156" y="25"/>
                    <a:pt x="158" y="29"/>
                    <a:pt x="157" y="32"/>
                  </a:cubicBezTo>
                  <a:cubicBezTo>
                    <a:pt x="156" y="34"/>
                    <a:pt x="154" y="36"/>
                    <a:pt x="151"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5" name="Freeform 155">
              <a:extLst>
                <a:ext uri="{FF2B5EF4-FFF2-40B4-BE49-F238E27FC236}">
                  <a16:creationId xmlns:a16="http://schemas.microsoft.com/office/drawing/2014/main" id="{66F54A93-721A-9C35-2DEE-B98DBE322D3D}"/>
                </a:ext>
              </a:extLst>
            </p:cNvPr>
            <p:cNvSpPr>
              <a:spLocks/>
            </p:cNvSpPr>
            <p:nvPr/>
          </p:nvSpPr>
          <p:spPr bwMode="auto">
            <a:xfrm>
              <a:off x="6653" y="1983"/>
              <a:ext cx="18" cy="160"/>
            </a:xfrm>
            <a:custGeom>
              <a:avLst/>
              <a:gdLst>
                <a:gd name="T0" fmla="*/ 6 w 12"/>
                <a:gd name="T1" fmla="*/ 108 h 108"/>
                <a:gd name="T2" fmla="*/ 0 w 12"/>
                <a:gd name="T3" fmla="*/ 102 h 108"/>
                <a:gd name="T4" fmla="*/ 0 w 12"/>
                <a:gd name="T5" fmla="*/ 6 h 108"/>
                <a:gd name="T6" fmla="*/ 6 w 12"/>
                <a:gd name="T7" fmla="*/ 0 h 108"/>
                <a:gd name="T8" fmla="*/ 12 w 12"/>
                <a:gd name="T9" fmla="*/ 6 h 108"/>
                <a:gd name="T10" fmla="*/ 12 w 12"/>
                <a:gd name="T11" fmla="*/ 102 h 108"/>
                <a:gd name="T12" fmla="*/ 6 w 12"/>
                <a:gd name="T13" fmla="*/ 108 h 108"/>
              </a:gdLst>
              <a:ahLst/>
              <a:cxnLst>
                <a:cxn ang="0">
                  <a:pos x="T0" y="T1"/>
                </a:cxn>
                <a:cxn ang="0">
                  <a:pos x="T2" y="T3"/>
                </a:cxn>
                <a:cxn ang="0">
                  <a:pos x="T4" y="T5"/>
                </a:cxn>
                <a:cxn ang="0">
                  <a:pos x="T6" y="T7"/>
                </a:cxn>
                <a:cxn ang="0">
                  <a:pos x="T8" y="T9"/>
                </a:cxn>
                <a:cxn ang="0">
                  <a:pos x="T10" y="T11"/>
                </a:cxn>
                <a:cxn ang="0">
                  <a:pos x="T12" y="T13"/>
                </a:cxn>
              </a:cxnLst>
              <a:rect l="0" t="0" r="r" b="b"/>
              <a:pathLst>
                <a:path w="12" h="108">
                  <a:moveTo>
                    <a:pt x="6" y="108"/>
                  </a:moveTo>
                  <a:cubicBezTo>
                    <a:pt x="3" y="108"/>
                    <a:pt x="0" y="105"/>
                    <a:pt x="0" y="102"/>
                  </a:cubicBezTo>
                  <a:cubicBezTo>
                    <a:pt x="0" y="6"/>
                    <a:pt x="0" y="6"/>
                    <a:pt x="0" y="6"/>
                  </a:cubicBezTo>
                  <a:cubicBezTo>
                    <a:pt x="0" y="2"/>
                    <a:pt x="3" y="0"/>
                    <a:pt x="6" y="0"/>
                  </a:cubicBezTo>
                  <a:cubicBezTo>
                    <a:pt x="10" y="0"/>
                    <a:pt x="12" y="2"/>
                    <a:pt x="12" y="6"/>
                  </a:cubicBezTo>
                  <a:cubicBezTo>
                    <a:pt x="12" y="102"/>
                    <a:pt x="12" y="102"/>
                    <a:pt x="12" y="102"/>
                  </a:cubicBezTo>
                  <a:cubicBezTo>
                    <a:pt x="12" y="105"/>
                    <a:pt x="10" y="108"/>
                    <a:pt x="6"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nvGrpSpPr>
          <p:cNvPr id="26" name="Group 38">
            <a:extLst>
              <a:ext uri="{FF2B5EF4-FFF2-40B4-BE49-F238E27FC236}">
                <a16:creationId xmlns:a16="http://schemas.microsoft.com/office/drawing/2014/main" id="{B3C201A0-13DD-4175-C050-E958FCBC583E}"/>
              </a:ext>
            </a:extLst>
          </p:cNvPr>
          <p:cNvGrpSpPr>
            <a:grpSpLocks noChangeAspect="1"/>
          </p:cNvGrpSpPr>
          <p:nvPr/>
        </p:nvGrpSpPr>
        <p:grpSpPr bwMode="auto">
          <a:xfrm>
            <a:off x="7367799" y="2489489"/>
            <a:ext cx="529168" cy="543194"/>
            <a:chOff x="4482" y="439"/>
            <a:chExt cx="415" cy="426"/>
          </a:xfrm>
          <a:solidFill>
            <a:schemeClr val="tx2"/>
          </a:solidFill>
        </p:grpSpPr>
        <p:sp>
          <p:nvSpPr>
            <p:cNvPr id="27" name="Freeform 39">
              <a:extLst>
                <a:ext uri="{FF2B5EF4-FFF2-40B4-BE49-F238E27FC236}">
                  <a16:creationId xmlns:a16="http://schemas.microsoft.com/office/drawing/2014/main" id="{928495EF-CDEC-CD55-2C9F-3244BC78FA64}"/>
                </a:ext>
              </a:extLst>
            </p:cNvPr>
            <p:cNvSpPr>
              <a:spLocks noEditPoints="1"/>
            </p:cNvSpPr>
            <p:nvPr/>
          </p:nvSpPr>
          <p:spPr bwMode="auto">
            <a:xfrm>
              <a:off x="4651" y="439"/>
              <a:ext cx="246" cy="249"/>
            </a:xfrm>
            <a:custGeom>
              <a:avLst/>
              <a:gdLst>
                <a:gd name="T0" fmla="*/ 66 w 166"/>
                <a:gd name="T1" fmla="*/ 168 h 168"/>
                <a:gd name="T2" fmla="*/ 60 w 166"/>
                <a:gd name="T3" fmla="*/ 146 h 168"/>
                <a:gd name="T4" fmla="*/ 27 w 166"/>
                <a:gd name="T5" fmla="*/ 143 h 168"/>
                <a:gd name="T6" fmla="*/ 1 w 166"/>
                <a:gd name="T7" fmla="*/ 110 h 168"/>
                <a:gd name="T8" fmla="*/ 3 w 166"/>
                <a:gd name="T9" fmla="*/ 102 h 168"/>
                <a:gd name="T10" fmla="*/ 18 w 166"/>
                <a:gd name="T11" fmla="*/ 74 h 168"/>
                <a:gd name="T12" fmla="*/ 1 w 166"/>
                <a:gd name="T13" fmla="*/ 62 h 168"/>
                <a:gd name="T14" fmla="*/ 20 w 166"/>
                <a:gd name="T15" fmla="*/ 26 h 168"/>
                <a:gd name="T16" fmla="*/ 42 w 166"/>
                <a:gd name="T17" fmla="*/ 32 h 168"/>
                <a:gd name="T18" fmla="*/ 60 w 166"/>
                <a:gd name="T19" fmla="*/ 6 h 168"/>
                <a:gd name="T20" fmla="*/ 102 w 166"/>
                <a:gd name="T21" fmla="*/ 0 h 168"/>
                <a:gd name="T22" fmla="*/ 108 w 166"/>
                <a:gd name="T23" fmla="*/ 23 h 168"/>
                <a:gd name="T24" fmla="*/ 139 w 166"/>
                <a:gd name="T25" fmla="*/ 24 h 168"/>
                <a:gd name="T26" fmla="*/ 147 w 166"/>
                <a:gd name="T27" fmla="*/ 26 h 168"/>
                <a:gd name="T28" fmla="*/ 165 w 166"/>
                <a:gd name="T29" fmla="*/ 62 h 168"/>
                <a:gd name="T30" fmla="*/ 148 w 166"/>
                <a:gd name="T31" fmla="*/ 74 h 168"/>
                <a:gd name="T32" fmla="*/ 163 w 166"/>
                <a:gd name="T33" fmla="*/ 102 h 168"/>
                <a:gd name="T34" fmla="*/ 165 w 166"/>
                <a:gd name="T35" fmla="*/ 110 h 168"/>
                <a:gd name="T36" fmla="*/ 143 w 166"/>
                <a:gd name="T37" fmla="*/ 144 h 168"/>
                <a:gd name="T38" fmla="*/ 125 w 166"/>
                <a:gd name="T39" fmla="*/ 135 h 168"/>
                <a:gd name="T40" fmla="*/ 108 w 166"/>
                <a:gd name="T41" fmla="*/ 162 h 168"/>
                <a:gd name="T42" fmla="*/ 72 w 166"/>
                <a:gd name="T43" fmla="*/ 156 h 168"/>
                <a:gd name="T44" fmla="*/ 96 w 166"/>
                <a:gd name="T45" fmla="*/ 141 h 168"/>
                <a:gd name="T46" fmla="*/ 120 w 166"/>
                <a:gd name="T47" fmla="*/ 123 h 168"/>
                <a:gd name="T48" fmla="*/ 139 w 166"/>
                <a:gd name="T49" fmla="*/ 130 h 168"/>
                <a:gd name="T50" fmla="*/ 139 w 166"/>
                <a:gd name="T51" fmla="*/ 102 h 168"/>
                <a:gd name="T52" fmla="*/ 136 w 166"/>
                <a:gd name="T53" fmla="*/ 72 h 168"/>
                <a:gd name="T54" fmla="*/ 151 w 166"/>
                <a:gd name="T55" fmla="*/ 58 h 168"/>
                <a:gd name="T56" fmla="*/ 127 w 166"/>
                <a:gd name="T57" fmla="*/ 45 h 168"/>
                <a:gd name="T58" fmla="*/ 100 w 166"/>
                <a:gd name="T59" fmla="*/ 32 h 168"/>
                <a:gd name="T60" fmla="*/ 96 w 166"/>
                <a:gd name="T61" fmla="*/ 12 h 168"/>
                <a:gd name="T62" fmla="*/ 72 w 166"/>
                <a:gd name="T63" fmla="*/ 26 h 168"/>
                <a:gd name="T64" fmla="*/ 48 w 166"/>
                <a:gd name="T65" fmla="*/ 44 h 168"/>
                <a:gd name="T66" fmla="*/ 27 w 166"/>
                <a:gd name="T67" fmla="*/ 37 h 168"/>
                <a:gd name="T68" fmla="*/ 28 w 166"/>
                <a:gd name="T69" fmla="*/ 65 h 168"/>
                <a:gd name="T70" fmla="*/ 30 w 166"/>
                <a:gd name="T71" fmla="*/ 95 h 168"/>
                <a:gd name="T72" fmla="*/ 15 w 166"/>
                <a:gd name="T73" fmla="*/ 109 h 168"/>
                <a:gd name="T74" fmla="*/ 40 w 166"/>
                <a:gd name="T75" fmla="*/ 123 h 168"/>
                <a:gd name="T76" fmla="*/ 68 w 166"/>
                <a:gd name="T77" fmla="*/ 135 h 168"/>
                <a:gd name="T78" fmla="*/ 72 w 166"/>
                <a:gd name="T7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6" h="168">
                  <a:moveTo>
                    <a:pt x="102" y="168"/>
                  </a:moveTo>
                  <a:cubicBezTo>
                    <a:pt x="66" y="168"/>
                    <a:pt x="66" y="168"/>
                    <a:pt x="66" y="168"/>
                  </a:cubicBezTo>
                  <a:cubicBezTo>
                    <a:pt x="63" y="168"/>
                    <a:pt x="60" y="165"/>
                    <a:pt x="60" y="162"/>
                  </a:cubicBezTo>
                  <a:cubicBezTo>
                    <a:pt x="60" y="146"/>
                    <a:pt x="60" y="146"/>
                    <a:pt x="60" y="146"/>
                  </a:cubicBezTo>
                  <a:cubicBezTo>
                    <a:pt x="52" y="143"/>
                    <a:pt x="47" y="139"/>
                    <a:pt x="42" y="135"/>
                  </a:cubicBezTo>
                  <a:cubicBezTo>
                    <a:pt x="27" y="143"/>
                    <a:pt x="27" y="143"/>
                    <a:pt x="27" y="143"/>
                  </a:cubicBezTo>
                  <a:cubicBezTo>
                    <a:pt x="25" y="145"/>
                    <a:pt x="21" y="144"/>
                    <a:pt x="19" y="141"/>
                  </a:cubicBezTo>
                  <a:cubicBezTo>
                    <a:pt x="1" y="110"/>
                    <a:pt x="1" y="110"/>
                    <a:pt x="1" y="110"/>
                  </a:cubicBezTo>
                  <a:cubicBezTo>
                    <a:pt x="1" y="109"/>
                    <a:pt x="0" y="107"/>
                    <a:pt x="1" y="106"/>
                  </a:cubicBezTo>
                  <a:cubicBezTo>
                    <a:pt x="1" y="104"/>
                    <a:pt x="2" y="103"/>
                    <a:pt x="3" y="102"/>
                  </a:cubicBezTo>
                  <a:cubicBezTo>
                    <a:pt x="18" y="94"/>
                    <a:pt x="18" y="94"/>
                    <a:pt x="18" y="94"/>
                  </a:cubicBezTo>
                  <a:cubicBezTo>
                    <a:pt x="17" y="87"/>
                    <a:pt x="17" y="80"/>
                    <a:pt x="18" y="74"/>
                  </a:cubicBezTo>
                  <a:cubicBezTo>
                    <a:pt x="4" y="65"/>
                    <a:pt x="4" y="65"/>
                    <a:pt x="4" y="65"/>
                  </a:cubicBezTo>
                  <a:cubicBezTo>
                    <a:pt x="2" y="65"/>
                    <a:pt x="1" y="63"/>
                    <a:pt x="1" y="62"/>
                  </a:cubicBezTo>
                  <a:cubicBezTo>
                    <a:pt x="0" y="60"/>
                    <a:pt x="1" y="59"/>
                    <a:pt x="1" y="57"/>
                  </a:cubicBezTo>
                  <a:cubicBezTo>
                    <a:pt x="20" y="26"/>
                    <a:pt x="20" y="26"/>
                    <a:pt x="20" y="26"/>
                  </a:cubicBezTo>
                  <a:cubicBezTo>
                    <a:pt x="21" y="23"/>
                    <a:pt x="25" y="22"/>
                    <a:pt x="28" y="24"/>
                  </a:cubicBezTo>
                  <a:cubicBezTo>
                    <a:pt x="42" y="32"/>
                    <a:pt x="42" y="32"/>
                    <a:pt x="42" y="32"/>
                  </a:cubicBezTo>
                  <a:cubicBezTo>
                    <a:pt x="47" y="28"/>
                    <a:pt x="52" y="24"/>
                    <a:pt x="60" y="22"/>
                  </a:cubicBezTo>
                  <a:cubicBezTo>
                    <a:pt x="60" y="6"/>
                    <a:pt x="60" y="6"/>
                    <a:pt x="60" y="6"/>
                  </a:cubicBezTo>
                  <a:cubicBezTo>
                    <a:pt x="60" y="2"/>
                    <a:pt x="63" y="0"/>
                    <a:pt x="66" y="0"/>
                  </a:cubicBezTo>
                  <a:cubicBezTo>
                    <a:pt x="102" y="0"/>
                    <a:pt x="102" y="0"/>
                    <a:pt x="102" y="0"/>
                  </a:cubicBezTo>
                  <a:cubicBezTo>
                    <a:pt x="106" y="0"/>
                    <a:pt x="108" y="2"/>
                    <a:pt x="108" y="6"/>
                  </a:cubicBezTo>
                  <a:cubicBezTo>
                    <a:pt x="108" y="23"/>
                    <a:pt x="108" y="23"/>
                    <a:pt x="108" y="23"/>
                  </a:cubicBezTo>
                  <a:cubicBezTo>
                    <a:pt x="115" y="26"/>
                    <a:pt x="121" y="29"/>
                    <a:pt x="125" y="32"/>
                  </a:cubicBezTo>
                  <a:cubicBezTo>
                    <a:pt x="139" y="24"/>
                    <a:pt x="139" y="24"/>
                    <a:pt x="139" y="24"/>
                  </a:cubicBezTo>
                  <a:cubicBezTo>
                    <a:pt x="140" y="23"/>
                    <a:pt x="142" y="23"/>
                    <a:pt x="143" y="23"/>
                  </a:cubicBezTo>
                  <a:cubicBezTo>
                    <a:pt x="145" y="24"/>
                    <a:pt x="146" y="25"/>
                    <a:pt x="147" y="26"/>
                  </a:cubicBezTo>
                  <a:cubicBezTo>
                    <a:pt x="165" y="57"/>
                    <a:pt x="165" y="57"/>
                    <a:pt x="165" y="57"/>
                  </a:cubicBezTo>
                  <a:cubicBezTo>
                    <a:pt x="166" y="59"/>
                    <a:pt x="166" y="60"/>
                    <a:pt x="165" y="62"/>
                  </a:cubicBezTo>
                  <a:cubicBezTo>
                    <a:pt x="165" y="63"/>
                    <a:pt x="164" y="65"/>
                    <a:pt x="163" y="65"/>
                  </a:cubicBezTo>
                  <a:cubicBezTo>
                    <a:pt x="148" y="74"/>
                    <a:pt x="148" y="74"/>
                    <a:pt x="148" y="74"/>
                  </a:cubicBezTo>
                  <a:cubicBezTo>
                    <a:pt x="149" y="80"/>
                    <a:pt x="149" y="87"/>
                    <a:pt x="148" y="94"/>
                  </a:cubicBezTo>
                  <a:cubicBezTo>
                    <a:pt x="163" y="102"/>
                    <a:pt x="163" y="102"/>
                    <a:pt x="163" y="102"/>
                  </a:cubicBezTo>
                  <a:cubicBezTo>
                    <a:pt x="164" y="103"/>
                    <a:pt x="165" y="104"/>
                    <a:pt x="165" y="106"/>
                  </a:cubicBezTo>
                  <a:cubicBezTo>
                    <a:pt x="166" y="107"/>
                    <a:pt x="166" y="109"/>
                    <a:pt x="165" y="110"/>
                  </a:cubicBezTo>
                  <a:cubicBezTo>
                    <a:pt x="147" y="141"/>
                    <a:pt x="147" y="141"/>
                    <a:pt x="147" y="141"/>
                  </a:cubicBezTo>
                  <a:cubicBezTo>
                    <a:pt x="146" y="143"/>
                    <a:pt x="145" y="144"/>
                    <a:pt x="143" y="144"/>
                  </a:cubicBezTo>
                  <a:cubicBezTo>
                    <a:pt x="142" y="144"/>
                    <a:pt x="140" y="144"/>
                    <a:pt x="139" y="143"/>
                  </a:cubicBezTo>
                  <a:cubicBezTo>
                    <a:pt x="125" y="135"/>
                    <a:pt x="125" y="135"/>
                    <a:pt x="125" y="135"/>
                  </a:cubicBezTo>
                  <a:cubicBezTo>
                    <a:pt x="121" y="138"/>
                    <a:pt x="115" y="142"/>
                    <a:pt x="108" y="145"/>
                  </a:cubicBezTo>
                  <a:cubicBezTo>
                    <a:pt x="108" y="162"/>
                    <a:pt x="108" y="162"/>
                    <a:pt x="108" y="162"/>
                  </a:cubicBezTo>
                  <a:cubicBezTo>
                    <a:pt x="108" y="165"/>
                    <a:pt x="106" y="168"/>
                    <a:pt x="102" y="168"/>
                  </a:cubicBezTo>
                  <a:close/>
                  <a:moveTo>
                    <a:pt x="72" y="156"/>
                  </a:moveTo>
                  <a:cubicBezTo>
                    <a:pt x="96" y="156"/>
                    <a:pt x="96" y="156"/>
                    <a:pt x="96" y="156"/>
                  </a:cubicBezTo>
                  <a:cubicBezTo>
                    <a:pt x="96" y="141"/>
                    <a:pt x="96" y="141"/>
                    <a:pt x="96" y="141"/>
                  </a:cubicBezTo>
                  <a:cubicBezTo>
                    <a:pt x="96" y="139"/>
                    <a:pt x="98" y="136"/>
                    <a:pt x="100" y="135"/>
                  </a:cubicBezTo>
                  <a:cubicBezTo>
                    <a:pt x="109" y="131"/>
                    <a:pt x="116" y="127"/>
                    <a:pt x="120" y="123"/>
                  </a:cubicBezTo>
                  <a:cubicBezTo>
                    <a:pt x="122" y="122"/>
                    <a:pt x="125" y="121"/>
                    <a:pt x="127" y="123"/>
                  </a:cubicBezTo>
                  <a:cubicBezTo>
                    <a:pt x="139" y="130"/>
                    <a:pt x="139" y="130"/>
                    <a:pt x="139" y="130"/>
                  </a:cubicBezTo>
                  <a:cubicBezTo>
                    <a:pt x="151" y="109"/>
                    <a:pt x="151" y="109"/>
                    <a:pt x="151" y="109"/>
                  </a:cubicBezTo>
                  <a:cubicBezTo>
                    <a:pt x="139" y="102"/>
                    <a:pt x="139" y="102"/>
                    <a:pt x="139" y="102"/>
                  </a:cubicBezTo>
                  <a:cubicBezTo>
                    <a:pt x="136" y="101"/>
                    <a:pt x="135" y="98"/>
                    <a:pt x="136" y="95"/>
                  </a:cubicBezTo>
                  <a:cubicBezTo>
                    <a:pt x="137" y="87"/>
                    <a:pt x="137" y="80"/>
                    <a:pt x="136" y="72"/>
                  </a:cubicBezTo>
                  <a:cubicBezTo>
                    <a:pt x="135" y="69"/>
                    <a:pt x="136" y="67"/>
                    <a:pt x="139" y="65"/>
                  </a:cubicBezTo>
                  <a:cubicBezTo>
                    <a:pt x="151" y="58"/>
                    <a:pt x="151" y="58"/>
                    <a:pt x="151" y="58"/>
                  </a:cubicBezTo>
                  <a:cubicBezTo>
                    <a:pt x="139" y="37"/>
                    <a:pt x="139" y="37"/>
                    <a:pt x="139" y="37"/>
                  </a:cubicBezTo>
                  <a:cubicBezTo>
                    <a:pt x="127" y="45"/>
                    <a:pt x="127" y="45"/>
                    <a:pt x="127" y="45"/>
                  </a:cubicBezTo>
                  <a:cubicBezTo>
                    <a:pt x="125" y="46"/>
                    <a:pt x="122" y="46"/>
                    <a:pt x="120" y="44"/>
                  </a:cubicBezTo>
                  <a:cubicBezTo>
                    <a:pt x="116" y="40"/>
                    <a:pt x="109" y="36"/>
                    <a:pt x="100" y="32"/>
                  </a:cubicBezTo>
                  <a:cubicBezTo>
                    <a:pt x="98" y="31"/>
                    <a:pt x="96" y="29"/>
                    <a:pt x="96" y="26"/>
                  </a:cubicBezTo>
                  <a:cubicBezTo>
                    <a:pt x="96" y="12"/>
                    <a:pt x="96" y="12"/>
                    <a:pt x="96" y="12"/>
                  </a:cubicBezTo>
                  <a:cubicBezTo>
                    <a:pt x="72" y="12"/>
                    <a:pt x="72" y="12"/>
                    <a:pt x="72" y="12"/>
                  </a:cubicBezTo>
                  <a:cubicBezTo>
                    <a:pt x="72" y="26"/>
                    <a:pt x="72" y="26"/>
                    <a:pt x="72" y="26"/>
                  </a:cubicBezTo>
                  <a:cubicBezTo>
                    <a:pt x="72" y="29"/>
                    <a:pt x="71" y="32"/>
                    <a:pt x="68" y="32"/>
                  </a:cubicBezTo>
                  <a:cubicBezTo>
                    <a:pt x="57" y="35"/>
                    <a:pt x="54" y="38"/>
                    <a:pt x="48" y="44"/>
                  </a:cubicBezTo>
                  <a:cubicBezTo>
                    <a:pt x="46" y="45"/>
                    <a:pt x="43" y="46"/>
                    <a:pt x="40" y="45"/>
                  </a:cubicBezTo>
                  <a:cubicBezTo>
                    <a:pt x="27" y="37"/>
                    <a:pt x="27" y="37"/>
                    <a:pt x="27" y="37"/>
                  </a:cubicBezTo>
                  <a:cubicBezTo>
                    <a:pt x="15" y="58"/>
                    <a:pt x="15" y="58"/>
                    <a:pt x="15" y="58"/>
                  </a:cubicBezTo>
                  <a:cubicBezTo>
                    <a:pt x="28" y="65"/>
                    <a:pt x="28" y="65"/>
                    <a:pt x="28" y="65"/>
                  </a:cubicBezTo>
                  <a:cubicBezTo>
                    <a:pt x="30" y="67"/>
                    <a:pt x="31" y="69"/>
                    <a:pt x="30" y="72"/>
                  </a:cubicBezTo>
                  <a:cubicBezTo>
                    <a:pt x="29" y="80"/>
                    <a:pt x="29" y="88"/>
                    <a:pt x="30" y="95"/>
                  </a:cubicBezTo>
                  <a:cubicBezTo>
                    <a:pt x="31" y="98"/>
                    <a:pt x="30" y="101"/>
                    <a:pt x="28" y="102"/>
                  </a:cubicBezTo>
                  <a:cubicBezTo>
                    <a:pt x="15" y="109"/>
                    <a:pt x="15" y="109"/>
                    <a:pt x="15" y="109"/>
                  </a:cubicBezTo>
                  <a:cubicBezTo>
                    <a:pt x="27" y="130"/>
                    <a:pt x="27" y="130"/>
                    <a:pt x="27" y="130"/>
                  </a:cubicBezTo>
                  <a:cubicBezTo>
                    <a:pt x="40" y="123"/>
                    <a:pt x="40" y="123"/>
                    <a:pt x="40" y="123"/>
                  </a:cubicBezTo>
                  <a:cubicBezTo>
                    <a:pt x="43" y="121"/>
                    <a:pt x="45" y="122"/>
                    <a:pt x="47" y="123"/>
                  </a:cubicBezTo>
                  <a:cubicBezTo>
                    <a:pt x="54" y="129"/>
                    <a:pt x="57" y="133"/>
                    <a:pt x="68" y="135"/>
                  </a:cubicBezTo>
                  <a:cubicBezTo>
                    <a:pt x="71" y="136"/>
                    <a:pt x="72" y="138"/>
                    <a:pt x="72" y="141"/>
                  </a:cubicBezTo>
                  <a:lnTo>
                    <a:pt x="7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8" name="Freeform 40">
              <a:extLst>
                <a:ext uri="{FF2B5EF4-FFF2-40B4-BE49-F238E27FC236}">
                  <a16:creationId xmlns:a16="http://schemas.microsoft.com/office/drawing/2014/main" id="{426A4B48-262E-2DC4-17DE-67A086F3D02A}"/>
                </a:ext>
              </a:extLst>
            </p:cNvPr>
            <p:cNvSpPr>
              <a:spLocks noEditPoints="1"/>
            </p:cNvSpPr>
            <p:nvPr/>
          </p:nvSpPr>
          <p:spPr bwMode="auto">
            <a:xfrm>
              <a:off x="4729" y="519"/>
              <a:ext cx="89" cy="89"/>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9" name="Freeform 41">
              <a:extLst>
                <a:ext uri="{FF2B5EF4-FFF2-40B4-BE49-F238E27FC236}">
                  <a16:creationId xmlns:a16="http://schemas.microsoft.com/office/drawing/2014/main" id="{FAA206A8-29E2-1BB8-12AB-2A60A36ECA08}"/>
                </a:ext>
              </a:extLst>
            </p:cNvPr>
            <p:cNvSpPr>
              <a:spLocks noEditPoints="1"/>
            </p:cNvSpPr>
            <p:nvPr/>
          </p:nvSpPr>
          <p:spPr bwMode="auto">
            <a:xfrm>
              <a:off x="4482" y="617"/>
              <a:ext cx="246" cy="248"/>
            </a:xfrm>
            <a:custGeom>
              <a:avLst/>
              <a:gdLst>
                <a:gd name="T0" fmla="*/ 66 w 166"/>
                <a:gd name="T1" fmla="*/ 168 h 168"/>
                <a:gd name="T2" fmla="*/ 60 w 166"/>
                <a:gd name="T3" fmla="*/ 146 h 168"/>
                <a:gd name="T4" fmla="*/ 27 w 166"/>
                <a:gd name="T5" fmla="*/ 143 h 168"/>
                <a:gd name="T6" fmla="*/ 1 w 166"/>
                <a:gd name="T7" fmla="*/ 110 h 168"/>
                <a:gd name="T8" fmla="*/ 3 w 166"/>
                <a:gd name="T9" fmla="*/ 102 h 168"/>
                <a:gd name="T10" fmla="*/ 18 w 166"/>
                <a:gd name="T11" fmla="*/ 74 h 168"/>
                <a:gd name="T12" fmla="*/ 1 w 166"/>
                <a:gd name="T13" fmla="*/ 62 h 168"/>
                <a:gd name="T14" fmla="*/ 20 w 166"/>
                <a:gd name="T15" fmla="*/ 26 h 168"/>
                <a:gd name="T16" fmla="*/ 42 w 166"/>
                <a:gd name="T17" fmla="*/ 32 h 168"/>
                <a:gd name="T18" fmla="*/ 60 w 166"/>
                <a:gd name="T19" fmla="*/ 6 h 168"/>
                <a:gd name="T20" fmla="*/ 102 w 166"/>
                <a:gd name="T21" fmla="*/ 0 h 168"/>
                <a:gd name="T22" fmla="*/ 108 w 166"/>
                <a:gd name="T23" fmla="*/ 23 h 168"/>
                <a:gd name="T24" fmla="*/ 138 w 166"/>
                <a:gd name="T25" fmla="*/ 24 h 168"/>
                <a:gd name="T26" fmla="*/ 147 w 166"/>
                <a:gd name="T27" fmla="*/ 26 h 168"/>
                <a:gd name="T28" fmla="*/ 165 w 166"/>
                <a:gd name="T29" fmla="*/ 62 h 168"/>
                <a:gd name="T30" fmla="*/ 148 w 166"/>
                <a:gd name="T31" fmla="*/ 74 h 168"/>
                <a:gd name="T32" fmla="*/ 163 w 166"/>
                <a:gd name="T33" fmla="*/ 102 h 168"/>
                <a:gd name="T34" fmla="*/ 165 w 166"/>
                <a:gd name="T35" fmla="*/ 110 h 168"/>
                <a:gd name="T36" fmla="*/ 143 w 166"/>
                <a:gd name="T37" fmla="*/ 144 h 168"/>
                <a:gd name="T38" fmla="*/ 125 w 166"/>
                <a:gd name="T39" fmla="*/ 135 h 168"/>
                <a:gd name="T40" fmla="*/ 108 w 166"/>
                <a:gd name="T41" fmla="*/ 162 h 168"/>
                <a:gd name="T42" fmla="*/ 72 w 166"/>
                <a:gd name="T43" fmla="*/ 156 h 168"/>
                <a:gd name="T44" fmla="*/ 96 w 166"/>
                <a:gd name="T45" fmla="*/ 141 h 168"/>
                <a:gd name="T46" fmla="*/ 120 w 166"/>
                <a:gd name="T47" fmla="*/ 123 h 168"/>
                <a:gd name="T48" fmla="*/ 139 w 166"/>
                <a:gd name="T49" fmla="*/ 130 h 168"/>
                <a:gd name="T50" fmla="*/ 139 w 166"/>
                <a:gd name="T51" fmla="*/ 102 h 168"/>
                <a:gd name="T52" fmla="*/ 136 w 166"/>
                <a:gd name="T53" fmla="*/ 72 h 168"/>
                <a:gd name="T54" fmla="*/ 151 w 166"/>
                <a:gd name="T55" fmla="*/ 58 h 168"/>
                <a:gd name="T56" fmla="*/ 127 w 166"/>
                <a:gd name="T57" fmla="*/ 45 h 168"/>
                <a:gd name="T58" fmla="*/ 100 w 166"/>
                <a:gd name="T59" fmla="*/ 32 h 168"/>
                <a:gd name="T60" fmla="*/ 96 w 166"/>
                <a:gd name="T61" fmla="*/ 12 h 168"/>
                <a:gd name="T62" fmla="*/ 72 w 166"/>
                <a:gd name="T63" fmla="*/ 26 h 168"/>
                <a:gd name="T64" fmla="*/ 48 w 166"/>
                <a:gd name="T65" fmla="*/ 44 h 168"/>
                <a:gd name="T66" fmla="*/ 27 w 166"/>
                <a:gd name="T67" fmla="*/ 37 h 168"/>
                <a:gd name="T68" fmla="*/ 28 w 166"/>
                <a:gd name="T69" fmla="*/ 65 h 168"/>
                <a:gd name="T70" fmla="*/ 30 w 166"/>
                <a:gd name="T71" fmla="*/ 95 h 168"/>
                <a:gd name="T72" fmla="*/ 15 w 166"/>
                <a:gd name="T73" fmla="*/ 109 h 168"/>
                <a:gd name="T74" fmla="*/ 40 w 166"/>
                <a:gd name="T75" fmla="*/ 123 h 168"/>
                <a:gd name="T76" fmla="*/ 68 w 166"/>
                <a:gd name="T77" fmla="*/ 135 h 168"/>
                <a:gd name="T78" fmla="*/ 72 w 166"/>
                <a:gd name="T7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6" h="168">
                  <a:moveTo>
                    <a:pt x="102" y="168"/>
                  </a:moveTo>
                  <a:cubicBezTo>
                    <a:pt x="66" y="168"/>
                    <a:pt x="66" y="168"/>
                    <a:pt x="66" y="168"/>
                  </a:cubicBezTo>
                  <a:cubicBezTo>
                    <a:pt x="63" y="168"/>
                    <a:pt x="60" y="165"/>
                    <a:pt x="60" y="162"/>
                  </a:cubicBezTo>
                  <a:cubicBezTo>
                    <a:pt x="60" y="146"/>
                    <a:pt x="60" y="146"/>
                    <a:pt x="60" y="146"/>
                  </a:cubicBezTo>
                  <a:cubicBezTo>
                    <a:pt x="52" y="143"/>
                    <a:pt x="47" y="139"/>
                    <a:pt x="42" y="135"/>
                  </a:cubicBezTo>
                  <a:cubicBezTo>
                    <a:pt x="27" y="143"/>
                    <a:pt x="27" y="143"/>
                    <a:pt x="27" y="143"/>
                  </a:cubicBezTo>
                  <a:cubicBezTo>
                    <a:pt x="25" y="145"/>
                    <a:pt x="21" y="144"/>
                    <a:pt x="19" y="141"/>
                  </a:cubicBezTo>
                  <a:cubicBezTo>
                    <a:pt x="1" y="110"/>
                    <a:pt x="1" y="110"/>
                    <a:pt x="1" y="110"/>
                  </a:cubicBezTo>
                  <a:cubicBezTo>
                    <a:pt x="0" y="109"/>
                    <a:pt x="0" y="107"/>
                    <a:pt x="1" y="106"/>
                  </a:cubicBezTo>
                  <a:cubicBezTo>
                    <a:pt x="1" y="104"/>
                    <a:pt x="2" y="103"/>
                    <a:pt x="3" y="102"/>
                  </a:cubicBezTo>
                  <a:cubicBezTo>
                    <a:pt x="18" y="94"/>
                    <a:pt x="18" y="94"/>
                    <a:pt x="18" y="94"/>
                  </a:cubicBezTo>
                  <a:cubicBezTo>
                    <a:pt x="17" y="87"/>
                    <a:pt x="17" y="80"/>
                    <a:pt x="18" y="74"/>
                  </a:cubicBezTo>
                  <a:cubicBezTo>
                    <a:pt x="4" y="65"/>
                    <a:pt x="4" y="65"/>
                    <a:pt x="4" y="65"/>
                  </a:cubicBezTo>
                  <a:cubicBezTo>
                    <a:pt x="2" y="65"/>
                    <a:pt x="1" y="63"/>
                    <a:pt x="1" y="62"/>
                  </a:cubicBezTo>
                  <a:cubicBezTo>
                    <a:pt x="0" y="60"/>
                    <a:pt x="1" y="59"/>
                    <a:pt x="1" y="57"/>
                  </a:cubicBezTo>
                  <a:cubicBezTo>
                    <a:pt x="20" y="26"/>
                    <a:pt x="20" y="26"/>
                    <a:pt x="20" y="26"/>
                  </a:cubicBezTo>
                  <a:cubicBezTo>
                    <a:pt x="21" y="23"/>
                    <a:pt x="25" y="22"/>
                    <a:pt x="28" y="24"/>
                  </a:cubicBezTo>
                  <a:cubicBezTo>
                    <a:pt x="42" y="32"/>
                    <a:pt x="42" y="32"/>
                    <a:pt x="42" y="32"/>
                  </a:cubicBezTo>
                  <a:cubicBezTo>
                    <a:pt x="47" y="28"/>
                    <a:pt x="52" y="24"/>
                    <a:pt x="60" y="22"/>
                  </a:cubicBezTo>
                  <a:cubicBezTo>
                    <a:pt x="60" y="6"/>
                    <a:pt x="60" y="6"/>
                    <a:pt x="60" y="6"/>
                  </a:cubicBezTo>
                  <a:cubicBezTo>
                    <a:pt x="60" y="2"/>
                    <a:pt x="63" y="0"/>
                    <a:pt x="66" y="0"/>
                  </a:cubicBezTo>
                  <a:cubicBezTo>
                    <a:pt x="102" y="0"/>
                    <a:pt x="102" y="0"/>
                    <a:pt x="102" y="0"/>
                  </a:cubicBezTo>
                  <a:cubicBezTo>
                    <a:pt x="106" y="0"/>
                    <a:pt x="108" y="2"/>
                    <a:pt x="108" y="6"/>
                  </a:cubicBezTo>
                  <a:cubicBezTo>
                    <a:pt x="108" y="23"/>
                    <a:pt x="108" y="23"/>
                    <a:pt x="108" y="23"/>
                  </a:cubicBezTo>
                  <a:cubicBezTo>
                    <a:pt x="115" y="26"/>
                    <a:pt x="121" y="29"/>
                    <a:pt x="125" y="32"/>
                  </a:cubicBezTo>
                  <a:cubicBezTo>
                    <a:pt x="138" y="24"/>
                    <a:pt x="138" y="24"/>
                    <a:pt x="138" y="24"/>
                  </a:cubicBezTo>
                  <a:cubicBezTo>
                    <a:pt x="140" y="23"/>
                    <a:pt x="142" y="23"/>
                    <a:pt x="143" y="23"/>
                  </a:cubicBezTo>
                  <a:cubicBezTo>
                    <a:pt x="145" y="24"/>
                    <a:pt x="146" y="25"/>
                    <a:pt x="147" y="26"/>
                  </a:cubicBezTo>
                  <a:cubicBezTo>
                    <a:pt x="165" y="57"/>
                    <a:pt x="165" y="57"/>
                    <a:pt x="165" y="57"/>
                  </a:cubicBezTo>
                  <a:cubicBezTo>
                    <a:pt x="166" y="59"/>
                    <a:pt x="166" y="60"/>
                    <a:pt x="165" y="62"/>
                  </a:cubicBezTo>
                  <a:cubicBezTo>
                    <a:pt x="165" y="63"/>
                    <a:pt x="164" y="65"/>
                    <a:pt x="163" y="65"/>
                  </a:cubicBezTo>
                  <a:cubicBezTo>
                    <a:pt x="148" y="74"/>
                    <a:pt x="148" y="74"/>
                    <a:pt x="148" y="74"/>
                  </a:cubicBezTo>
                  <a:cubicBezTo>
                    <a:pt x="149" y="80"/>
                    <a:pt x="149" y="87"/>
                    <a:pt x="148" y="94"/>
                  </a:cubicBezTo>
                  <a:cubicBezTo>
                    <a:pt x="163" y="102"/>
                    <a:pt x="163" y="102"/>
                    <a:pt x="163" y="102"/>
                  </a:cubicBezTo>
                  <a:cubicBezTo>
                    <a:pt x="164" y="103"/>
                    <a:pt x="165" y="104"/>
                    <a:pt x="165" y="106"/>
                  </a:cubicBezTo>
                  <a:cubicBezTo>
                    <a:pt x="166" y="107"/>
                    <a:pt x="166" y="109"/>
                    <a:pt x="165" y="110"/>
                  </a:cubicBezTo>
                  <a:cubicBezTo>
                    <a:pt x="147" y="141"/>
                    <a:pt x="147" y="141"/>
                    <a:pt x="147" y="141"/>
                  </a:cubicBezTo>
                  <a:cubicBezTo>
                    <a:pt x="146" y="143"/>
                    <a:pt x="145" y="144"/>
                    <a:pt x="143" y="144"/>
                  </a:cubicBezTo>
                  <a:cubicBezTo>
                    <a:pt x="142" y="144"/>
                    <a:pt x="140" y="144"/>
                    <a:pt x="138" y="143"/>
                  </a:cubicBezTo>
                  <a:cubicBezTo>
                    <a:pt x="125" y="135"/>
                    <a:pt x="125" y="135"/>
                    <a:pt x="125" y="135"/>
                  </a:cubicBezTo>
                  <a:cubicBezTo>
                    <a:pt x="121" y="138"/>
                    <a:pt x="115" y="142"/>
                    <a:pt x="108" y="145"/>
                  </a:cubicBezTo>
                  <a:cubicBezTo>
                    <a:pt x="108" y="162"/>
                    <a:pt x="108" y="162"/>
                    <a:pt x="108" y="162"/>
                  </a:cubicBezTo>
                  <a:cubicBezTo>
                    <a:pt x="108" y="165"/>
                    <a:pt x="106" y="168"/>
                    <a:pt x="102" y="168"/>
                  </a:cubicBezTo>
                  <a:close/>
                  <a:moveTo>
                    <a:pt x="72" y="156"/>
                  </a:moveTo>
                  <a:cubicBezTo>
                    <a:pt x="96" y="156"/>
                    <a:pt x="96" y="156"/>
                    <a:pt x="96" y="156"/>
                  </a:cubicBezTo>
                  <a:cubicBezTo>
                    <a:pt x="96" y="141"/>
                    <a:pt x="96" y="141"/>
                    <a:pt x="96" y="141"/>
                  </a:cubicBezTo>
                  <a:cubicBezTo>
                    <a:pt x="96" y="139"/>
                    <a:pt x="98" y="136"/>
                    <a:pt x="100" y="135"/>
                  </a:cubicBezTo>
                  <a:cubicBezTo>
                    <a:pt x="109" y="131"/>
                    <a:pt x="116" y="127"/>
                    <a:pt x="120" y="123"/>
                  </a:cubicBezTo>
                  <a:cubicBezTo>
                    <a:pt x="122" y="122"/>
                    <a:pt x="125" y="121"/>
                    <a:pt x="127" y="123"/>
                  </a:cubicBezTo>
                  <a:cubicBezTo>
                    <a:pt x="139" y="130"/>
                    <a:pt x="139" y="130"/>
                    <a:pt x="139" y="130"/>
                  </a:cubicBezTo>
                  <a:cubicBezTo>
                    <a:pt x="151" y="109"/>
                    <a:pt x="151" y="109"/>
                    <a:pt x="151" y="109"/>
                  </a:cubicBezTo>
                  <a:cubicBezTo>
                    <a:pt x="139" y="102"/>
                    <a:pt x="139" y="102"/>
                    <a:pt x="139" y="102"/>
                  </a:cubicBezTo>
                  <a:cubicBezTo>
                    <a:pt x="136" y="101"/>
                    <a:pt x="135" y="98"/>
                    <a:pt x="136" y="95"/>
                  </a:cubicBezTo>
                  <a:cubicBezTo>
                    <a:pt x="137" y="87"/>
                    <a:pt x="137" y="80"/>
                    <a:pt x="136" y="72"/>
                  </a:cubicBezTo>
                  <a:cubicBezTo>
                    <a:pt x="135" y="69"/>
                    <a:pt x="136" y="67"/>
                    <a:pt x="139" y="65"/>
                  </a:cubicBezTo>
                  <a:cubicBezTo>
                    <a:pt x="151" y="58"/>
                    <a:pt x="151" y="58"/>
                    <a:pt x="151" y="58"/>
                  </a:cubicBezTo>
                  <a:cubicBezTo>
                    <a:pt x="139" y="37"/>
                    <a:pt x="139" y="37"/>
                    <a:pt x="139" y="37"/>
                  </a:cubicBezTo>
                  <a:cubicBezTo>
                    <a:pt x="127" y="45"/>
                    <a:pt x="127" y="45"/>
                    <a:pt x="127" y="45"/>
                  </a:cubicBezTo>
                  <a:cubicBezTo>
                    <a:pt x="125" y="46"/>
                    <a:pt x="122" y="46"/>
                    <a:pt x="120" y="44"/>
                  </a:cubicBezTo>
                  <a:cubicBezTo>
                    <a:pt x="116" y="40"/>
                    <a:pt x="109" y="36"/>
                    <a:pt x="100" y="32"/>
                  </a:cubicBezTo>
                  <a:cubicBezTo>
                    <a:pt x="98" y="31"/>
                    <a:pt x="96" y="29"/>
                    <a:pt x="96" y="26"/>
                  </a:cubicBezTo>
                  <a:cubicBezTo>
                    <a:pt x="96" y="12"/>
                    <a:pt x="96" y="12"/>
                    <a:pt x="96" y="12"/>
                  </a:cubicBezTo>
                  <a:cubicBezTo>
                    <a:pt x="72" y="12"/>
                    <a:pt x="72" y="12"/>
                    <a:pt x="72" y="12"/>
                  </a:cubicBezTo>
                  <a:cubicBezTo>
                    <a:pt x="72" y="26"/>
                    <a:pt x="72" y="26"/>
                    <a:pt x="72" y="26"/>
                  </a:cubicBezTo>
                  <a:cubicBezTo>
                    <a:pt x="72" y="29"/>
                    <a:pt x="71" y="32"/>
                    <a:pt x="68" y="32"/>
                  </a:cubicBezTo>
                  <a:cubicBezTo>
                    <a:pt x="58" y="35"/>
                    <a:pt x="54" y="38"/>
                    <a:pt x="48" y="44"/>
                  </a:cubicBezTo>
                  <a:cubicBezTo>
                    <a:pt x="46" y="45"/>
                    <a:pt x="43" y="46"/>
                    <a:pt x="40" y="45"/>
                  </a:cubicBezTo>
                  <a:cubicBezTo>
                    <a:pt x="27" y="37"/>
                    <a:pt x="27" y="37"/>
                    <a:pt x="27" y="37"/>
                  </a:cubicBezTo>
                  <a:cubicBezTo>
                    <a:pt x="15" y="58"/>
                    <a:pt x="15" y="58"/>
                    <a:pt x="15" y="58"/>
                  </a:cubicBezTo>
                  <a:cubicBezTo>
                    <a:pt x="28" y="65"/>
                    <a:pt x="28" y="65"/>
                    <a:pt x="28" y="65"/>
                  </a:cubicBezTo>
                  <a:cubicBezTo>
                    <a:pt x="30" y="67"/>
                    <a:pt x="31" y="69"/>
                    <a:pt x="30" y="72"/>
                  </a:cubicBezTo>
                  <a:cubicBezTo>
                    <a:pt x="29" y="80"/>
                    <a:pt x="29" y="88"/>
                    <a:pt x="30" y="95"/>
                  </a:cubicBezTo>
                  <a:cubicBezTo>
                    <a:pt x="31" y="98"/>
                    <a:pt x="30" y="101"/>
                    <a:pt x="28" y="102"/>
                  </a:cubicBezTo>
                  <a:cubicBezTo>
                    <a:pt x="15" y="109"/>
                    <a:pt x="15" y="109"/>
                    <a:pt x="15" y="109"/>
                  </a:cubicBezTo>
                  <a:cubicBezTo>
                    <a:pt x="27" y="130"/>
                    <a:pt x="27" y="130"/>
                    <a:pt x="27" y="130"/>
                  </a:cubicBezTo>
                  <a:cubicBezTo>
                    <a:pt x="40" y="123"/>
                    <a:pt x="40" y="123"/>
                    <a:pt x="40" y="123"/>
                  </a:cubicBezTo>
                  <a:cubicBezTo>
                    <a:pt x="43" y="121"/>
                    <a:pt x="45" y="122"/>
                    <a:pt x="47" y="123"/>
                  </a:cubicBezTo>
                  <a:cubicBezTo>
                    <a:pt x="54" y="129"/>
                    <a:pt x="57" y="133"/>
                    <a:pt x="68" y="135"/>
                  </a:cubicBezTo>
                  <a:cubicBezTo>
                    <a:pt x="71" y="136"/>
                    <a:pt x="72" y="138"/>
                    <a:pt x="72" y="141"/>
                  </a:cubicBezTo>
                  <a:lnTo>
                    <a:pt x="7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0" name="Freeform 42">
              <a:extLst>
                <a:ext uri="{FF2B5EF4-FFF2-40B4-BE49-F238E27FC236}">
                  <a16:creationId xmlns:a16="http://schemas.microsoft.com/office/drawing/2014/main" id="{BA0DF528-6950-252D-F696-81761E7453E1}"/>
                </a:ext>
              </a:extLst>
            </p:cNvPr>
            <p:cNvSpPr>
              <a:spLocks noEditPoints="1"/>
            </p:cNvSpPr>
            <p:nvPr/>
          </p:nvSpPr>
          <p:spPr bwMode="auto">
            <a:xfrm>
              <a:off x="4561" y="696"/>
              <a:ext cx="88" cy="89"/>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sp>
        <p:nvSpPr>
          <p:cNvPr id="31" name="Freeform 151">
            <a:extLst>
              <a:ext uri="{FF2B5EF4-FFF2-40B4-BE49-F238E27FC236}">
                <a16:creationId xmlns:a16="http://schemas.microsoft.com/office/drawing/2014/main" id="{41B95321-4756-540B-1B53-D14D21538E62}"/>
              </a:ext>
            </a:extLst>
          </p:cNvPr>
          <p:cNvSpPr>
            <a:spLocks noEditPoints="1"/>
          </p:cNvSpPr>
          <p:nvPr/>
        </p:nvSpPr>
        <p:spPr bwMode="auto">
          <a:xfrm>
            <a:off x="7414155" y="4427722"/>
            <a:ext cx="436457" cy="417883"/>
          </a:xfrm>
          <a:custGeom>
            <a:avLst/>
            <a:gdLst>
              <a:gd name="T0" fmla="*/ 151 w 191"/>
              <a:gd name="T1" fmla="*/ 181 h 182"/>
              <a:gd name="T2" fmla="*/ 148 w 191"/>
              <a:gd name="T3" fmla="*/ 181 h 182"/>
              <a:gd name="T4" fmla="*/ 95 w 191"/>
              <a:gd name="T5" fmla="*/ 153 h 182"/>
              <a:gd name="T6" fmla="*/ 43 w 191"/>
              <a:gd name="T7" fmla="*/ 181 h 182"/>
              <a:gd name="T8" fmla="*/ 37 w 191"/>
              <a:gd name="T9" fmla="*/ 180 h 182"/>
              <a:gd name="T10" fmla="*/ 34 w 191"/>
              <a:gd name="T11" fmla="*/ 174 h 182"/>
              <a:gd name="T12" fmla="*/ 44 w 191"/>
              <a:gd name="T13" fmla="*/ 116 h 182"/>
              <a:gd name="T14" fmla="*/ 2 w 191"/>
              <a:gd name="T15" fmla="*/ 75 h 182"/>
              <a:gd name="T16" fmla="*/ 0 w 191"/>
              <a:gd name="T17" fmla="*/ 69 h 182"/>
              <a:gd name="T18" fmla="*/ 5 w 191"/>
              <a:gd name="T19" fmla="*/ 65 h 182"/>
              <a:gd name="T20" fmla="*/ 64 w 191"/>
              <a:gd name="T21" fmla="*/ 56 h 182"/>
              <a:gd name="T22" fmla="*/ 90 w 191"/>
              <a:gd name="T23" fmla="*/ 3 h 182"/>
              <a:gd name="T24" fmla="*/ 95 w 191"/>
              <a:gd name="T25" fmla="*/ 0 h 182"/>
              <a:gd name="T26" fmla="*/ 95 w 191"/>
              <a:gd name="T27" fmla="*/ 0 h 182"/>
              <a:gd name="T28" fmla="*/ 101 w 191"/>
              <a:gd name="T29" fmla="*/ 3 h 182"/>
              <a:gd name="T30" fmla="*/ 127 w 191"/>
              <a:gd name="T31" fmla="*/ 56 h 182"/>
              <a:gd name="T32" fmla="*/ 186 w 191"/>
              <a:gd name="T33" fmla="*/ 65 h 182"/>
              <a:gd name="T34" fmla="*/ 191 w 191"/>
              <a:gd name="T35" fmla="*/ 69 h 182"/>
              <a:gd name="T36" fmla="*/ 189 w 191"/>
              <a:gd name="T37" fmla="*/ 75 h 182"/>
              <a:gd name="T38" fmla="*/ 147 w 191"/>
              <a:gd name="T39" fmla="*/ 116 h 182"/>
              <a:gd name="T40" fmla="*/ 157 w 191"/>
              <a:gd name="T41" fmla="*/ 174 h 182"/>
              <a:gd name="T42" fmla="*/ 154 w 191"/>
              <a:gd name="T43" fmla="*/ 180 h 182"/>
              <a:gd name="T44" fmla="*/ 151 w 191"/>
              <a:gd name="T45" fmla="*/ 181 h 182"/>
              <a:gd name="T46" fmla="*/ 95 w 191"/>
              <a:gd name="T47" fmla="*/ 140 h 182"/>
              <a:gd name="T48" fmla="*/ 98 w 191"/>
              <a:gd name="T49" fmla="*/ 141 h 182"/>
              <a:gd name="T50" fmla="*/ 143 w 191"/>
              <a:gd name="T51" fmla="*/ 164 h 182"/>
              <a:gd name="T52" fmla="*/ 134 w 191"/>
              <a:gd name="T53" fmla="*/ 115 h 182"/>
              <a:gd name="T54" fmla="*/ 136 w 191"/>
              <a:gd name="T55" fmla="*/ 110 h 182"/>
              <a:gd name="T56" fmla="*/ 172 w 191"/>
              <a:gd name="T57" fmla="*/ 75 h 182"/>
              <a:gd name="T58" fmla="*/ 122 w 191"/>
              <a:gd name="T59" fmla="*/ 68 h 182"/>
              <a:gd name="T60" fmla="*/ 118 w 191"/>
              <a:gd name="T61" fmla="*/ 64 h 182"/>
              <a:gd name="T62" fmla="*/ 95 w 191"/>
              <a:gd name="T63" fmla="*/ 20 h 182"/>
              <a:gd name="T64" fmla="*/ 73 w 191"/>
              <a:gd name="T65" fmla="*/ 64 h 182"/>
              <a:gd name="T66" fmla="*/ 69 w 191"/>
              <a:gd name="T67" fmla="*/ 68 h 182"/>
              <a:gd name="T68" fmla="*/ 19 w 191"/>
              <a:gd name="T69" fmla="*/ 75 h 182"/>
              <a:gd name="T70" fmla="*/ 55 w 191"/>
              <a:gd name="T71" fmla="*/ 110 h 182"/>
              <a:gd name="T72" fmla="*/ 57 w 191"/>
              <a:gd name="T73" fmla="*/ 115 h 182"/>
              <a:gd name="T74" fmla="*/ 48 w 191"/>
              <a:gd name="T75" fmla="*/ 164 h 182"/>
              <a:gd name="T76" fmla="*/ 93 w 191"/>
              <a:gd name="T77" fmla="*/ 141 h 182"/>
              <a:gd name="T78" fmla="*/ 95 w 191"/>
              <a:gd name="T79" fmla="*/ 14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1" h="182">
                <a:moveTo>
                  <a:pt x="151" y="181"/>
                </a:moveTo>
                <a:cubicBezTo>
                  <a:pt x="150" y="181"/>
                  <a:pt x="149" y="181"/>
                  <a:pt x="148" y="181"/>
                </a:cubicBezTo>
                <a:cubicBezTo>
                  <a:pt x="95" y="153"/>
                  <a:pt x="95" y="153"/>
                  <a:pt x="95" y="153"/>
                </a:cubicBezTo>
                <a:cubicBezTo>
                  <a:pt x="43" y="181"/>
                  <a:pt x="43" y="181"/>
                  <a:pt x="43" y="181"/>
                </a:cubicBezTo>
                <a:cubicBezTo>
                  <a:pt x="41" y="182"/>
                  <a:pt x="38" y="181"/>
                  <a:pt x="37" y="180"/>
                </a:cubicBezTo>
                <a:cubicBezTo>
                  <a:pt x="35" y="179"/>
                  <a:pt x="34" y="176"/>
                  <a:pt x="34" y="174"/>
                </a:cubicBezTo>
                <a:cubicBezTo>
                  <a:pt x="44" y="116"/>
                  <a:pt x="44" y="116"/>
                  <a:pt x="44" y="116"/>
                </a:cubicBezTo>
                <a:cubicBezTo>
                  <a:pt x="2" y="75"/>
                  <a:pt x="2" y="75"/>
                  <a:pt x="2" y="75"/>
                </a:cubicBezTo>
                <a:cubicBezTo>
                  <a:pt x="0" y="73"/>
                  <a:pt x="0" y="71"/>
                  <a:pt x="0" y="69"/>
                </a:cubicBezTo>
                <a:cubicBezTo>
                  <a:pt x="1" y="67"/>
                  <a:pt x="3" y="65"/>
                  <a:pt x="5" y="65"/>
                </a:cubicBezTo>
                <a:cubicBezTo>
                  <a:pt x="64" y="56"/>
                  <a:pt x="64" y="56"/>
                  <a:pt x="64" y="56"/>
                </a:cubicBezTo>
                <a:cubicBezTo>
                  <a:pt x="90" y="3"/>
                  <a:pt x="90" y="3"/>
                  <a:pt x="90" y="3"/>
                </a:cubicBezTo>
                <a:cubicBezTo>
                  <a:pt x="91" y="1"/>
                  <a:pt x="93" y="0"/>
                  <a:pt x="95" y="0"/>
                </a:cubicBezTo>
                <a:cubicBezTo>
                  <a:pt x="95" y="0"/>
                  <a:pt x="95" y="0"/>
                  <a:pt x="95" y="0"/>
                </a:cubicBezTo>
                <a:cubicBezTo>
                  <a:pt x="98" y="0"/>
                  <a:pt x="100" y="1"/>
                  <a:pt x="101" y="3"/>
                </a:cubicBezTo>
                <a:cubicBezTo>
                  <a:pt x="127" y="56"/>
                  <a:pt x="127" y="56"/>
                  <a:pt x="127" y="56"/>
                </a:cubicBezTo>
                <a:cubicBezTo>
                  <a:pt x="186" y="65"/>
                  <a:pt x="186" y="65"/>
                  <a:pt x="186" y="65"/>
                </a:cubicBezTo>
                <a:cubicBezTo>
                  <a:pt x="188" y="65"/>
                  <a:pt x="190" y="67"/>
                  <a:pt x="191" y="69"/>
                </a:cubicBezTo>
                <a:cubicBezTo>
                  <a:pt x="191" y="71"/>
                  <a:pt x="191" y="73"/>
                  <a:pt x="189" y="75"/>
                </a:cubicBezTo>
                <a:cubicBezTo>
                  <a:pt x="147" y="116"/>
                  <a:pt x="147" y="116"/>
                  <a:pt x="147" y="116"/>
                </a:cubicBezTo>
                <a:cubicBezTo>
                  <a:pt x="157" y="174"/>
                  <a:pt x="157" y="174"/>
                  <a:pt x="157" y="174"/>
                </a:cubicBezTo>
                <a:cubicBezTo>
                  <a:pt x="157" y="176"/>
                  <a:pt x="156" y="179"/>
                  <a:pt x="154" y="180"/>
                </a:cubicBezTo>
                <a:cubicBezTo>
                  <a:pt x="153" y="181"/>
                  <a:pt x="152" y="181"/>
                  <a:pt x="151" y="181"/>
                </a:cubicBezTo>
                <a:close/>
                <a:moveTo>
                  <a:pt x="95" y="140"/>
                </a:moveTo>
                <a:cubicBezTo>
                  <a:pt x="96" y="140"/>
                  <a:pt x="97" y="141"/>
                  <a:pt x="98" y="141"/>
                </a:cubicBezTo>
                <a:cubicBezTo>
                  <a:pt x="143" y="164"/>
                  <a:pt x="143" y="164"/>
                  <a:pt x="143" y="164"/>
                </a:cubicBezTo>
                <a:cubicBezTo>
                  <a:pt x="134" y="115"/>
                  <a:pt x="134" y="115"/>
                  <a:pt x="134" y="115"/>
                </a:cubicBezTo>
                <a:cubicBezTo>
                  <a:pt x="134" y="113"/>
                  <a:pt x="135" y="111"/>
                  <a:pt x="136" y="110"/>
                </a:cubicBezTo>
                <a:cubicBezTo>
                  <a:pt x="172" y="75"/>
                  <a:pt x="172" y="75"/>
                  <a:pt x="172" y="75"/>
                </a:cubicBezTo>
                <a:cubicBezTo>
                  <a:pt x="122" y="68"/>
                  <a:pt x="122" y="68"/>
                  <a:pt x="122" y="68"/>
                </a:cubicBezTo>
                <a:cubicBezTo>
                  <a:pt x="120" y="67"/>
                  <a:pt x="119" y="66"/>
                  <a:pt x="118" y="64"/>
                </a:cubicBezTo>
                <a:cubicBezTo>
                  <a:pt x="95" y="20"/>
                  <a:pt x="95" y="20"/>
                  <a:pt x="95" y="20"/>
                </a:cubicBezTo>
                <a:cubicBezTo>
                  <a:pt x="73" y="64"/>
                  <a:pt x="73" y="64"/>
                  <a:pt x="73" y="64"/>
                </a:cubicBezTo>
                <a:cubicBezTo>
                  <a:pt x="72" y="66"/>
                  <a:pt x="71" y="67"/>
                  <a:pt x="69" y="68"/>
                </a:cubicBezTo>
                <a:cubicBezTo>
                  <a:pt x="19" y="75"/>
                  <a:pt x="19" y="75"/>
                  <a:pt x="19" y="75"/>
                </a:cubicBezTo>
                <a:cubicBezTo>
                  <a:pt x="55" y="110"/>
                  <a:pt x="55" y="110"/>
                  <a:pt x="55" y="110"/>
                </a:cubicBezTo>
                <a:cubicBezTo>
                  <a:pt x="56" y="111"/>
                  <a:pt x="57" y="113"/>
                  <a:pt x="57" y="115"/>
                </a:cubicBezTo>
                <a:cubicBezTo>
                  <a:pt x="48" y="164"/>
                  <a:pt x="48" y="164"/>
                  <a:pt x="48" y="164"/>
                </a:cubicBezTo>
                <a:cubicBezTo>
                  <a:pt x="93" y="141"/>
                  <a:pt x="93" y="141"/>
                  <a:pt x="93" y="141"/>
                </a:cubicBezTo>
                <a:cubicBezTo>
                  <a:pt x="94" y="141"/>
                  <a:pt x="94" y="140"/>
                  <a:pt x="95" y="140"/>
                </a:cubicBezTo>
                <a:close/>
              </a:path>
            </a:pathLst>
          </a:custGeom>
          <a:solidFill>
            <a:schemeClr val="tx2"/>
          </a:solidFill>
          <a:ln>
            <a:noFill/>
          </a:ln>
        </p:spPr>
        <p:txBody>
          <a:bodyPr vert="horz" wrap="square" lIns="91419" tIns="45709" rIns="91419" bIns="45709" numCol="1" anchor="t" anchorCtr="0" compatLnSpc="1">
            <a:prstTxWarp prst="textNoShape">
              <a:avLst/>
            </a:prstTxWarp>
          </a:bodyPr>
          <a:lstStyle/>
          <a:p>
            <a:endParaRPr lang="en-US" dirty="0"/>
          </a:p>
        </p:txBody>
      </p:sp>
      <p:grpSp>
        <p:nvGrpSpPr>
          <p:cNvPr id="32" name="Group 31">
            <a:extLst>
              <a:ext uri="{FF2B5EF4-FFF2-40B4-BE49-F238E27FC236}">
                <a16:creationId xmlns:a16="http://schemas.microsoft.com/office/drawing/2014/main" id="{FE9D4BDE-0184-0950-0F29-99033F5AC78B}"/>
              </a:ext>
            </a:extLst>
          </p:cNvPr>
          <p:cNvGrpSpPr>
            <a:grpSpLocks noChangeAspect="1"/>
          </p:cNvGrpSpPr>
          <p:nvPr/>
        </p:nvGrpSpPr>
        <p:grpSpPr bwMode="auto">
          <a:xfrm>
            <a:off x="5806051" y="5233908"/>
            <a:ext cx="576720" cy="563612"/>
            <a:chOff x="3619" y="663"/>
            <a:chExt cx="440" cy="430"/>
          </a:xfrm>
          <a:solidFill>
            <a:schemeClr val="tx2"/>
          </a:solidFill>
        </p:grpSpPr>
        <p:sp>
          <p:nvSpPr>
            <p:cNvPr id="33" name="Freeform 32">
              <a:extLst>
                <a:ext uri="{FF2B5EF4-FFF2-40B4-BE49-F238E27FC236}">
                  <a16:creationId xmlns:a16="http://schemas.microsoft.com/office/drawing/2014/main" id="{4BEA982A-D879-331A-53F9-D629C7A5D11E}"/>
                </a:ext>
              </a:extLst>
            </p:cNvPr>
            <p:cNvSpPr>
              <a:spLocks noEditPoints="1"/>
            </p:cNvSpPr>
            <p:nvPr/>
          </p:nvSpPr>
          <p:spPr bwMode="auto">
            <a:xfrm>
              <a:off x="3646" y="806"/>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4" name="Freeform 33">
              <a:extLst>
                <a:ext uri="{FF2B5EF4-FFF2-40B4-BE49-F238E27FC236}">
                  <a16:creationId xmlns:a16="http://schemas.microsoft.com/office/drawing/2014/main" id="{FE76C8B3-4521-CFB7-F1B6-F4D0A440E5F0}"/>
                </a:ext>
              </a:extLst>
            </p:cNvPr>
            <p:cNvSpPr>
              <a:spLocks noEditPoints="1"/>
            </p:cNvSpPr>
            <p:nvPr/>
          </p:nvSpPr>
          <p:spPr bwMode="auto">
            <a:xfrm>
              <a:off x="3619" y="914"/>
              <a:ext cx="147"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5" name="Freeform 34">
              <a:extLst>
                <a:ext uri="{FF2B5EF4-FFF2-40B4-BE49-F238E27FC236}">
                  <a16:creationId xmlns:a16="http://schemas.microsoft.com/office/drawing/2014/main" id="{4856CED5-D0E0-62BB-A5D4-FD8C356CAC99}"/>
                </a:ext>
              </a:extLst>
            </p:cNvPr>
            <p:cNvSpPr>
              <a:spLocks noEditPoints="1"/>
            </p:cNvSpPr>
            <p:nvPr/>
          </p:nvSpPr>
          <p:spPr bwMode="auto">
            <a:xfrm>
              <a:off x="3940" y="806"/>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6" name="Freeform 35">
              <a:extLst>
                <a:ext uri="{FF2B5EF4-FFF2-40B4-BE49-F238E27FC236}">
                  <a16:creationId xmlns:a16="http://schemas.microsoft.com/office/drawing/2014/main" id="{278643F1-3CD0-CA3D-3313-B6DC4315E3F2}"/>
                </a:ext>
              </a:extLst>
            </p:cNvPr>
            <p:cNvSpPr>
              <a:spLocks noEditPoints="1"/>
            </p:cNvSpPr>
            <p:nvPr/>
          </p:nvSpPr>
          <p:spPr bwMode="auto">
            <a:xfrm>
              <a:off x="3912" y="914"/>
              <a:ext cx="147"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7" name="Freeform 36">
              <a:extLst>
                <a:ext uri="{FF2B5EF4-FFF2-40B4-BE49-F238E27FC236}">
                  <a16:creationId xmlns:a16="http://schemas.microsoft.com/office/drawing/2014/main" id="{C2AFA6E0-01C5-5B91-655D-B93A1CB4934C}"/>
                </a:ext>
              </a:extLst>
            </p:cNvPr>
            <p:cNvSpPr>
              <a:spLocks noEditPoints="1"/>
            </p:cNvSpPr>
            <p:nvPr/>
          </p:nvSpPr>
          <p:spPr bwMode="auto">
            <a:xfrm>
              <a:off x="3793" y="663"/>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8" name="Freeform 37">
              <a:extLst>
                <a:ext uri="{FF2B5EF4-FFF2-40B4-BE49-F238E27FC236}">
                  <a16:creationId xmlns:a16="http://schemas.microsoft.com/office/drawing/2014/main" id="{49588E46-8189-5512-BA74-7BA776DAC316}"/>
                </a:ext>
              </a:extLst>
            </p:cNvPr>
            <p:cNvSpPr>
              <a:spLocks noEditPoints="1"/>
            </p:cNvSpPr>
            <p:nvPr/>
          </p:nvSpPr>
          <p:spPr bwMode="auto">
            <a:xfrm>
              <a:off x="3766" y="771"/>
              <a:ext cx="146"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39" name="Group 128">
            <a:extLst>
              <a:ext uri="{FF2B5EF4-FFF2-40B4-BE49-F238E27FC236}">
                <a16:creationId xmlns:a16="http://schemas.microsoft.com/office/drawing/2014/main" id="{B92D52AA-F744-3F67-8B1D-83DE6CA5D577}"/>
              </a:ext>
            </a:extLst>
          </p:cNvPr>
          <p:cNvGrpSpPr>
            <a:grpSpLocks noChangeAspect="1"/>
          </p:cNvGrpSpPr>
          <p:nvPr/>
        </p:nvGrpSpPr>
        <p:grpSpPr bwMode="auto">
          <a:xfrm>
            <a:off x="4324345" y="4370969"/>
            <a:ext cx="464188" cy="531388"/>
            <a:chOff x="1398" y="2998"/>
            <a:chExt cx="373" cy="427"/>
          </a:xfrm>
          <a:solidFill>
            <a:schemeClr val="tx2"/>
          </a:solidFill>
        </p:grpSpPr>
        <p:sp>
          <p:nvSpPr>
            <p:cNvPr id="40" name="Freeform 129">
              <a:extLst>
                <a:ext uri="{FF2B5EF4-FFF2-40B4-BE49-F238E27FC236}">
                  <a16:creationId xmlns:a16="http://schemas.microsoft.com/office/drawing/2014/main" id="{DFB04C6D-4AC2-659E-F5B4-5EE88A25D18F}"/>
                </a:ext>
              </a:extLst>
            </p:cNvPr>
            <p:cNvSpPr>
              <a:spLocks noEditPoints="1"/>
            </p:cNvSpPr>
            <p:nvPr/>
          </p:nvSpPr>
          <p:spPr bwMode="auto">
            <a:xfrm>
              <a:off x="1451" y="3052"/>
              <a:ext cx="266" cy="266"/>
            </a:xfrm>
            <a:custGeom>
              <a:avLst/>
              <a:gdLst>
                <a:gd name="T0" fmla="*/ 90 w 180"/>
                <a:gd name="T1" fmla="*/ 180 h 180"/>
                <a:gd name="T2" fmla="*/ 0 w 180"/>
                <a:gd name="T3" fmla="*/ 90 h 180"/>
                <a:gd name="T4" fmla="*/ 90 w 180"/>
                <a:gd name="T5" fmla="*/ 0 h 180"/>
                <a:gd name="T6" fmla="*/ 180 w 180"/>
                <a:gd name="T7" fmla="*/ 90 h 180"/>
                <a:gd name="T8" fmla="*/ 90 w 180"/>
                <a:gd name="T9" fmla="*/ 180 h 180"/>
                <a:gd name="T10" fmla="*/ 90 w 180"/>
                <a:gd name="T11" fmla="*/ 12 h 180"/>
                <a:gd name="T12" fmla="*/ 12 w 180"/>
                <a:gd name="T13" fmla="*/ 90 h 180"/>
                <a:gd name="T14" fmla="*/ 90 w 180"/>
                <a:gd name="T15" fmla="*/ 168 h 180"/>
                <a:gd name="T16" fmla="*/ 168 w 180"/>
                <a:gd name="T17" fmla="*/ 90 h 180"/>
                <a:gd name="T18" fmla="*/ 90 w 180"/>
                <a:gd name="T19" fmla="*/ 1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0" h="180">
                  <a:moveTo>
                    <a:pt x="90" y="180"/>
                  </a:moveTo>
                  <a:cubicBezTo>
                    <a:pt x="40" y="180"/>
                    <a:pt x="0" y="139"/>
                    <a:pt x="0" y="90"/>
                  </a:cubicBezTo>
                  <a:cubicBezTo>
                    <a:pt x="0" y="40"/>
                    <a:pt x="40" y="0"/>
                    <a:pt x="90" y="0"/>
                  </a:cubicBezTo>
                  <a:cubicBezTo>
                    <a:pt x="139" y="0"/>
                    <a:pt x="180" y="40"/>
                    <a:pt x="180" y="90"/>
                  </a:cubicBezTo>
                  <a:cubicBezTo>
                    <a:pt x="180" y="139"/>
                    <a:pt x="139" y="180"/>
                    <a:pt x="90" y="180"/>
                  </a:cubicBezTo>
                  <a:close/>
                  <a:moveTo>
                    <a:pt x="90" y="12"/>
                  </a:moveTo>
                  <a:cubicBezTo>
                    <a:pt x="47" y="12"/>
                    <a:pt x="12" y="47"/>
                    <a:pt x="12" y="90"/>
                  </a:cubicBezTo>
                  <a:cubicBezTo>
                    <a:pt x="12" y="133"/>
                    <a:pt x="47" y="168"/>
                    <a:pt x="90" y="168"/>
                  </a:cubicBezTo>
                  <a:cubicBezTo>
                    <a:pt x="133" y="168"/>
                    <a:pt x="168" y="133"/>
                    <a:pt x="168" y="90"/>
                  </a:cubicBezTo>
                  <a:cubicBezTo>
                    <a:pt x="168" y="47"/>
                    <a:pt x="13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1" name="Freeform 130">
              <a:extLst>
                <a:ext uri="{FF2B5EF4-FFF2-40B4-BE49-F238E27FC236}">
                  <a16:creationId xmlns:a16="http://schemas.microsoft.com/office/drawing/2014/main" id="{004E88A6-DA2B-9F0A-AB4E-25532A4989F4}"/>
                </a:ext>
              </a:extLst>
            </p:cNvPr>
            <p:cNvSpPr>
              <a:spLocks/>
            </p:cNvSpPr>
            <p:nvPr/>
          </p:nvSpPr>
          <p:spPr bwMode="auto">
            <a:xfrm>
              <a:off x="1522" y="3300"/>
              <a:ext cx="124" cy="54"/>
            </a:xfrm>
            <a:custGeom>
              <a:avLst/>
              <a:gdLst>
                <a:gd name="T0" fmla="*/ 78 w 84"/>
                <a:gd name="T1" fmla="*/ 36 h 36"/>
                <a:gd name="T2" fmla="*/ 6 w 84"/>
                <a:gd name="T3" fmla="*/ 36 h 36"/>
                <a:gd name="T4" fmla="*/ 0 w 84"/>
                <a:gd name="T5" fmla="*/ 30 h 36"/>
                <a:gd name="T6" fmla="*/ 0 w 84"/>
                <a:gd name="T7" fmla="*/ 0 h 36"/>
                <a:gd name="T8" fmla="*/ 12 w 84"/>
                <a:gd name="T9" fmla="*/ 0 h 36"/>
                <a:gd name="T10" fmla="*/ 12 w 84"/>
                <a:gd name="T11" fmla="*/ 24 h 36"/>
                <a:gd name="T12" fmla="*/ 72 w 84"/>
                <a:gd name="T13" fmla="*/ 24 h 36"/>
                <a:gd name="T14" fmla="*/ 72 w 84"/>
                <a:gd name="T15" fmla="*/ 0 h 36"/>
                <a:gd name="T16" fmla="*/ 84 w 84"/>
                <a:gd name="T17" fmla="*/ 0 h 36"/>
                <a:gd name="T18" fmla="*/ 84 w 84"/>
                <a:gd name="T19" fmla="*/ 30 h 36"/>
                <a:gd name="T20" fmla="*/ 78 w 84"/>
                <a:gd name="T21"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 h="36">
                  <a:moveTo>
                    <a:pt x="78" y="36"/>
                  </a:moveTo>
                  <a:cubicBezTo>
                    <a:pt x="6" y="36"/>
                    <a:pt x="6" y="36"/>
                    <a:pt x="6" y="36"/>
                  </a:cubicBezTo>
                  <a:cubicBezTo>
                    <a:pt x="2" y="36"/>
                    <a:pt x="0" y="33"/>
                    <a:pt x="0" y="30"/>
                  </a:cubicBezTo>
                  <a:cubicBezTo>
                    <a:pt x="0" y="0"/>
                    <a:pt x="0" y="0"/>
                    <a:pt x="0" y="0"/>
                  </a:cubicBezTo>
                  <a:cubicBezTo>
                    <a:pt x="12" y="0"/>
                    <a:pt x="12" y="0"/>
                    <a:pt x="12" y="0"/>
                  </a:cubicBezTo>
                  <a:cubicBezTo>
                    <a:pt x="12" y="24"/>
                    <a:pt x="12" y="24"/>
                    <a:pt x="12" y="24"/>
                  </a:cubicBezTo>
                  <a:cubicBezTo>
                    <a:pt x="72" y="24"/>
                    <a:pt x="72" y="24"/>
                    <a:pt x="72" y="24"/>
                  </a:cubicBezTo>
                  <a:cubicBezTo>
                    <a:pt x="72" y="0"/>
                    <a:pt x="72" y="0"/>
                    <a:pt x="72" y="0"/>
                  </a:cubicBezTo>
                  <a:cubicBezTo>
                    <a:pt x="84" y="0"/>
                    <a:pt x="84" y="0"/>
                    <a:pt x="84" y="0"/>
                  </a:cubicBezTo>
                  <a:cubicBezTo>
                    <a:pt x="84" y="30"/>
                    <a:pt x="84" y="30"/>
                    <a:pt x="84" y="30"/>
                  </a:cubicBezTo>
                  <a:cubicBezTo>
                    <a:pt x="84" y="33"/>
                    <a:pt x="81" y="36"/>
                    <a:pt x="78"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2" name="Freeform 131">
              <a:extLst>
                <a:ext uri="{FF2B5EF4-FFF2-40B4-BE49-F238E27FC236}">
                  <a16:creationId xmlns:a16="http://schemas.microsoft.com/office/drawing/2014/main" id="{0F2AAEB6-C8E1-DE18-189F-F4702D5B75D9}"/>
                </a:ext>
              </a:extLst>
            </p:cNvPr>
            <p:cNvSpPr>
              <a:spLocks noEditPoints="1"/>
            </p:cNvSpPr>
            <p:nvPr/>
          </p:nvSpPr>
          <p:spPr bwMode="auto">
            <a:xfrm>
              <a:off x="1540" y="3336"/>
              <a:ext cx="88" cy="53"/>
            </a:xfrm>
            <a:custGeom>
              <a:avLst/>
              <a:gdLst>
                <a:gd name="T0" fmla="*/ 54 w 60"/>
                <a:gd name="T1" fmla="*/ 36 h 36"/>
                <a:gd name="T2" fmla="*/ 6 w 60"/>
                <a:gd name="T3" fmla="*/ 36 h 36"/>
                <a:gd name="T4" fmla="*/ 0 w 60"/>
                <a:gd name="T5" fmla="*/ 30 h 36"/>
                <a:gd name="T6" fmla="*/ 0 w 60"/>
                <a:gd name="T7" fmla="*/ 6 h 36"/>
                <a:gd name="T8" fmla="*/ 6 w 60"/>
                <a:gd name="T9" fmla="*/ 0 h 36"/>
                <a:gd name="T10" fmla="*/ 54 w 60"/>
                <a:gd name="T11" fmla="*/ 0 h 36"/>
                <a:gd name="T12" fmla="*/ 60 w 60"/>
                <a:gd name="T13" fmla="*/ 6 h 36"/>
                <a:gd name="T14" fmla="*/ 60 w 60"/>
                <a:gd name="T15" fmla="*/ 30 h 36"/>
                <a:gd name="T16" fmla="*/ 54 w 60"/>
                <a:gd name="T17" fmla="*/ 36 h 36"/>
                <a:gd name="T18" fmla="*/ 12 w 60"/>
                <a:gd name="T19" fmla="*/ 24 h 36"/>
                <a:gd name="T20" fmla="*/ 48 w 60"/>
                <a:gd name="T21" fmla="*/ 24 h 36"/>
                <a:gd name="T22" fmla="*/ 48 w 60"/>
                <a:gd name="T23" fmla="*/ 12 h 36"/>
                <a:gd name="T24" fmla="*/ 12 w 60"/>
                <a:gd name="T25" fmla="*/ 12 h 36"/>
                <a:gd name="T26" fmla="*/ 12 w 60"/>
                <a:gd name="T27"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36">
                  <a:moveTo>
                    <a:pt x="54" y="36"/>
                  </a:moveTo>
                  <a:cubicBezTo>
                    <a:pt x="6" y="36"/>
                    <a:pt x="6" y="36"/>
                    <a:pt x="6" y="36"/>
                  </a:cubicBezTo>
                  <a:cubicBezTo>
                    <a:pt x="2" y="36"/>
                    <a:pt x="0" y="33"/>
                    <a:pt x="0" y="30"/>
                  </a:cubicBezTo>
                  <a:cubicBezTo>
                    <a:pt x="0" y="6"/>
                    <a:pt x="0" y="6"/>
                    <a:pt x="0" y="6"/>
                  </a:cubicBezTo>
                  <a:cubicBezTo>
                    <a:pt x="0" y="3"/>
                    <a:pt x="2" y="0"/>
                    <a:pt x="6" y="0"/>
                  </a:cubicBezTo>
                  <a:cubicBezTo>
                    <a:pt x="54" y="0"/>
                    <a:pt x="54" y="0"/>
                    <a:pt x="54" y="0"/>
                  </a:cubicBezTo>
                  <a:cubicBezTo>
                    <a:pt x="57" y="0"/>
                    <a:pt x="60" y="3"/>
                    <a:pt x="60" y="6"/>
                  </a:cubicBezTo>
                  <a:cubicBezTo>
                    <a:pt x="60" y="30"/>
                    <a:pt x="60" y="30"/>
                    <a:pt x="60" y="30"/>
                  </a:cubicBezTo>
                  <a:cubicBezTo>
                    <a:pt x="60" y="33"/>
                    <a:pt x="57" y="36"/>
                    <a:pt x="54" y="36"/>
                  </a:cubicBezTo>
                  <a:close/>
                  <a:moveTo>
                    <a:pt x="12" y="24"/>
                  </a:moveTo>
                  <a:cubicBezTo>
                    <a:pt x="48" y="24"/>
                    <a:pt x="48" y="24"/>
                    <a:pt x="48" y="24"/>
                  </a:cubicBezTo>
                  <a:cubicBezTo>
                    <a:pt x="48" y="12"/>
                    <a:pt x="48" y="12"/>
                    <a:pt x="48" y="12"/>
                  </a:cubicBezTo>
                  <a:cubicBezTo>
                    <a:pt x="12" y="12"/>
                    <a:pt x="12" y="12"/>
                    <a:pt x="12" y="12"/>
                  </a:cubicBez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3" name="Freeform 132">
              <a:extLst>
                <a:ext uri="{FF2B5EF4-FFF2-40B4-BE49-F238E27FC236}">
                  <a16:creationId xmlns:a16="http://schemas.microsoft.com/office/drawing/2014/main" id="{AC64FC27-F574-F34D-4EC7-E96377D6ACDF}"/>
                </a:ext>
              </a:extLst>
            </p:cNvPr>
            <p:cNvSpPr>
              <a:spLocks/>
            </p:cNvSpPr>
            <p:nvPr/>
          </p:nvSpPr>
          <p:spPr bwMode="auto">
            <a:xfrm>
              <a:off x="1575" y="3371"/>
              <a:ext cx="18" cy="54"/>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2" y="36"/>
                    <a:pt x="0" y="33"/>
                    <a:pt x="0" y="30"/>
                  </a:cubicBezTo>
                  <a:cubicBezTo>
                    <a:pt x="0" y="6"/>
                    <a:pt x="0" y="6"/>
                    <a:pt x="0" y="6"/>
                  </a:cubicBezTo>
                  <a:cubicBezTo>
                    <a:pt x="0" y="3"/>
                    <a:pt x="2" y="0"/>
                    <a:pt x="6" y="0"/>
                  </a:cubicBezTo>
                  <a:cubicBezTo>
                    <a:pt x="9" y="0"/>
                    <a:pt x="12" y="3"/>
                    <a:pt x="12" y="6"/>
                  </a:cubicBezTo>
                  <a:cubicBezTo>
                    <a:pt x="12" y="30"/>
                    <a:pt x="12" y="30"/>
                    <a:pt x="12" y="30"/>
                  </a:cubicBezTo>
                  <a:cubicBezTo>
                    <a:pt x="12" y="33"/>
                    <a:pt x="9"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4" name="Freeform 133">
              <a:extLst>
                <a:ext uri="{FF2B5EF4-FFF2-40B4-BE49-F238E27FC236}">
                  <a16:creationId xmlns:a16="http://schemas.microsoft.com/office/drawing/2014/main" id="{04AA39F4-67F2-CB73-5ADD-C398BB9D5D78}"/>
                </a:ext>
              </a:extLst>
            </p:cNvPr>
            <p:cNvSpPr>
              <a:spLocks/>
            </p:cNvSpPr>
            <p:nvPr/>
          </p:nvSpPr>
          <p:spPr bwMode="auto">
            <a:xfrm>
              <a:off x="1575" y="2998"/>
              <a:ext cx="18" cy="36"/>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2" y="24"/>
                    <a:pt x="0" y="21"/>
                    <a:pt x="0" y="18"/>
                  </a:cubicBezTo>
                  <a:cubicBezTo>
                    <a:pt x="0" y="6"/>
                    <a:pt x="0" y="6"/>
                    <a:pt x="0" y="6"/>
                  </a:cubicBezTo>
                  <a:cubicBezTo>
                    <a:pt x="0" y="3"/>
                    <a:pt x="2" y="0"/>
                    <a:pt x="6" y="0"/>
                  </a:cubicBezTo>
                  <a:cubicBezTo>
                    <a:pt x="9" y="0"/>
                    <a:pt x="12" y="3"/>
                    <a:pt x="12" y="6"/>
                  </a:cubicBezTo>
                  <a:cubicBezTo>
                    <a:pt x="12" y="18"/>
                    <a:pt x="12" y="18"/>
                    <a:pt x="12" y="18"/>
                  </a:cubicBezTo>
                  <a:cubicBezTo>
                    <a:pt x="12" y="21"/>
                    <a:pt x="9"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5" name="Freeform 134">
              <a:extLst>
                <a:ext uri="{FF2B5EF4-FFF2-40B4-BE49-F238E27FC236}">
                  <a16:creationId xmlns:a16="http://schemas.microsoft.com/office/drawing/2014/main" id="{28365875-83DD-A617-0229-3C4B1B18E9B6}"/>
                </a:ext>
              </a:extLst>
            </p:cNvPr>
            <p:cNvSpPr>
              <a:spLocks/>
            </p:cNvSpPr>
            <p:nvPr/>
          </p:nvSpPr>
          <p:spPr bwMode="auto">
            <a:xfrm>
              <a:off x="1686" y="3049"/>
              <a:ext cx="33" cy="31"/>
            </a:xfrm>
            <a:custGeom>
              <a:avLst/>
              <a:gdLst>
                <a:gd name="T0" fmla="*/ 7 w 22"/>
                <a:gd name="T1" fmla="*/ 21 h 21"/>
                <a:gd name="T2" fmla="*/ 3 w 22"/>
                <a:gd name="T3" fmla="*/ 20 h 21"/>
                <a:gd name="T4" fmla="*/ 3 w 22"/>
                <a:gd name="T5" fmla="*/ 11 h 21"/>
                <a:gd name="T6" fmla="*/ 11 w 22"/>
                <a:gd name="T7" fmla="*/ 3 h 21"/>
                <a:gd name="T8" fmla="*/ 20 w 22"/>
                <a:gd name="T9" fmla="*/ 3 h 21"/>
                <a:gd name="T10" fmla="*/ 20 w 22"/>
                <a:gd name="T11" fmla="*/ 11 h 21"/>
                <a:gd name="T12" fmla="*/ 11 w 22"/>
                <a:gd name="T13" fmla="*/ 20 h 21"/>
                <a:gd name="T14" fmla="*/ 7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7" y="21"/>
                  </a:moveTo>
                  <a:cubicBezTo>
                    <a:pt x="5" y="21"/>
                    <a:pt x="4" y="21"/>
                    <a:pt x="3" y="20"/>
                  </a:cubicBezTo>
                  <a:cubicBezTo>
                    <a:pt x="0" y="17"/>
                    <a:pt x="0" y="14"/>
                    <a:pt x="3" y="11"/>
                  </a:cubicBezTo>
                  <a:cubicBezTo>
                    <a:pt x="11" y="3"/>
                    <a:pt x="11" y="3"/>
                    <a:pt x="11" y="3"/>
                  </a:cubicBezTo>
                  <a:cubicBezTo>
                    <a:pt x="14" y="0"/>
                    <a:pt x="17" y="0"/>
                    <a:pt x="20" y="3"/>
                  </a:cubicBezTo>
                  <a:cubicBezTo>
                    <a:pt x="22" y="5"/>
                    <a:pt x="22" y="9"/>
                    <a:pt x="20" y="11"/>
                  </a:cubicBezTo>
                  <a:cubicBezTo>
                    <a:pt x="11" y="20"/>
                    <a:pt x="11" y="20"/>
                    <a:pt x="11" y="20"/>
                  </a:cubicBezTo>
                  <a:cubicBezTo>
                    <a:pt x="10" y="21"/>
                    <a:pt x="9" y="21"/>
                    <a:pt x="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6" name="Freeform 135">
              <a:extLst>
                <a:ext uri="{FF2B5EF4-FFF2-40B4-BE49-F238E27FC236}">
                  <a16:creationId xmlns:a16="http://schemas.microsoft.com/office/drawing/2014/main" id="{3B17520F-604E-0A4D-0C68-9013F082D058}"/>
                </a:ext>
              </a:extLst>
            </p:cNvPr>
            <p:cNvSpPr>
              <a:spLocks/>
            </p:cNvSpPr>
            <p:nvPr/>
          </p:nvSpPr>
          <p:spPr bwMode="auto">
            <a:xfrm>
              <a:off x="1735" y="3176"/>
              <a:ext cx="36" cy="18"/>
            </a:xfrm>
            <a:custGeom>
              <a:avLst/>
              <a:gdLst>
                <a:gd name="T0" fmla="*/ 18 w 24"/>
                <a:gd name="T1" fmla="*/ 12 h 12"/>
                <a:gd name="T2" fmla="*/ 6 w 24"/>
                <a:gd name="T3" fmla="*/ 12 h 12"/>
                <a:gd name="T4" fmla="*/ 0 w 24"/>
                <a:gd name="T5" fmla="*/ 6 h 12"/>
                <a:gd name="T6" fmla="*/ 6 w 24"/>
                <a:gd name="T7" fmla="*/ 0 h 12"/>
                <a:gd name="T8" fmla="*/ 18 w 24"/>
                <a:gd name="T9" fmla="*/ 0 h 12"/>
                <a:gd name="T10" fmla="*/ 24 w 24"/>
                <a:gd name="T11" fmla="*/ 6 h 12"/>
                <a:gd name="T12" fmla="*/ 18 w 2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12"/>
                  </a:moveTo>
                  <a:cubicBezTo>
                    <a:pt x="6" y="12"/>
                    <a:pt x="6" y="12"/>
                    <a:pt x="6" y="12"/>
                  </a:cubicBezTo>
                  <a:cubicBezTo>
                    <a:pt x="2" y="12"/>
                    <a:pt x="0" y="9"/>
                    <a:pt x="0" y="6"/>
                  </a:cubicBezTo>
                  <a:cubicBezTo>
                    <a:pt x="0" y="3"/>
                    <a:pt x="2" y="0"/>
                    <a:pt x="6" y="0"/>
                  </a:cubicBezTo>
                  <a:cubicBezTo>
                    <a:pt x="18" y="0"/>
                    <a:pt x="18" y="0"/>
                    <a:pt x="18" y="0"/>
                  </a:cubicBezTo>
                  <a:cubicBezTo>
                    <a:pt x="21" y="0"/>
                    <a:pt x="24" y="3"/>
                    <a:pt x="24" y="6"/>
                  </a:cubicBezTo>
                  <a:cubicBezTo>
                    <a:pt x="24" y="9"/>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7" name="Freeform 136">
              <a:extLst>
                <a:ext uri="{FF2B5EF4-FFF2-40B4-BE49-F238E27FC236}">
                  <a16:creationId xmlns:a16="http://schemas.microsoft.com/office/drawing/2014/main" id="{62A4A39E-C95F-3366-718E-8D4E892A9646}"/>
                </a:ext>
              </a:extLst>
            </p:cNvPr>
            <p:cNvSpPr>
              <a:spLocks/>
            </p:cNvSpPr>
            <p:nvPr/>
          </p:nvSpPr>
          <p:spPr bwMode="auto">
            <a:xfrm>
              <a:off x="1686" y="3288"/>
              <a:ext cx="33" cy="31"/>
            </a:xfrm>
            <a:custGeom>
              <a:avLst/>
              <a:gdLst>
                <a:gd name="T0" fmla="*/ 15 w 22"/>
                <a:gd name="T1" fmla="*/ 21 h 21"/>
                <a:gd name="T2" fmla="*/ 11 w 22"/>
                <a:gd name="T3" fmla="*/ 19 h 21"/>
                <a:gd name="T4" fmla="*/ 3 w 22"/>
                <a:gd name="T5" fmla="*/ 10 h 21"/>
                <a:gd name="T6" fmla="*/ 3 w 22"/>
                <a:gd name="T7" fmla="*/ 2 h 21"/>
                <a:gd name="T8" fmla="*/ 11 w 22"/>
                <a:gd name="T9" fmla="*/ 2 h 21"/>
                <a:gd name="T10" fmla="*/ 20 w 22"/>
                <a:gd name="T11" fmla="*/ 10 h 21"/>
                <a:gd name="T12" fmla="*/ 20 w 22"/>
                <a:gd name="T13" fmla="*/ 19 h 21"/>
                <a:gd name="T14" fmla="*/ 15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15" y="21"/>
                  </a:moveTo>
                  <a:cubicBezTo>
                    <a:pt x="14" y="21"/>
                    <a:pt x="12" y="20"/>
                    <a:pt x="11" y="19"/>
                  </a:cubicBezTo>
                  <a:cubicBezTo>
                    <a:pt x="3" y="10"/>
                    <a:pt x="3" y="10"/>
                    <a:pt x="3" y="10"/>
                  </a:cubicBezTo>
                  <a:cubicBezTo>
                    <a:pt x="0" y="8"/>
                    <a:pt x="0" y="4"/>
                    <a:pt x="3" y="2"/>
                  </a:cubicBezTo>
                  <a:cubicBezTo>
                    <a:pt x="5" y="0"/>
                    <a:pt x="9" y="0"/>
                    <a:pt x="11" y="2"/>
                  </a:cubicBezTo>
                  <a:cubicBezTo>
                    <a:pt x="20" y="10"/>
                    <a:pt x="20" y="10"/>
                    <a:pt x="20" y="10"/>
                  </a:cubicBezTo>
                  <a:cubicBezTo>
                    <a:pt x="22" y="13"/>
                    <a:pt x="22" y="17"/>
                    <a:pt x="20" y="19"/>
                  </a:cubicBezTo>
                  <a:cubicBezTo>
                    <a:pt x="19" y="20"/>
                    <a:pt x="17"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8" name="Freeform 137">
              <a:extLst>
                <a:ext uri="{FF2B5EF4-FFF2-40B4-BE49-F238E27FC236}">
                  <a16:creationId xmlns:a16="http://schemas.microsoft.com/office/drawing/2014/main" id="{C4B7F9C5-071B-E528-A3FE-5C5F1A6BB700}"/>
                </a:ext>
              </a:extLst>
            </p:cNvPr>
            <p:cNvSpPr>
              <a:spLocks/>
            </p:cNvSpPr>
            <p:nvPr/>
          </p:nvSpPr>
          <p:spPr bwMode="auto">
            <a:xfrm>
              <a:off x="1448" y="3049"/>
              <a:ext cx="32" cy="31"/>
            </a:xfrm>
            <a:custGeom>
              <a:avLst/>
              <a:gdLst>
                <a:gd name="T0" fmla="*/ 15 w 22"/>
                <a:gd name="T1" fmla="*/ 21 h 21"/>
                <a:gd name="T2" fmla="*/ 11 w 22"/>
                <a:gd name="T3" fmla="*/ 20 h 21"/>
                <a:gd name="T4" fmla="*/ 3 w 22"/>
                <a:gd name="T5" fmla="*/ 11 h 21"/>
                <a:gd name="T6" fmla="*/ 3 w 22"/>
                <a:gd name="T7" fmla="*/ 3 h 21"/>
                <a:gd name="T8" fmla="*/ 11 w 22"/>
                <a:gd name="T9" fmla="*/ 3 h 21"/>
                <a:gd name="T10" fmla="*/ 20 w 22"/>
                <a:gd name="T11" fmla="*/ 11 h 21"/>
                <a:gd name="T12" fmla="*/ 20 w 22"/>
                <a:gd name="T13" fmla="*/ 20 h 21"/>
                <a:gd name="T14" fmla="*/ 15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15" y="21"/>
                  </a:moveTo>
                  <a:cubicBezTo>
                    <a:pt x="14" y="21"/>
                    <a:pt x="12" y="21"/>
                    <a:pt x="11" y="20"/>
                  </a:cubicBezTo>
                  <a:cubicBezTo>
                    <a:pt x="3" y="11"/>
                    <a:pt x="3" y="11"/>
                    <a:pt x="3" y="11"/>
                  </a:cubicBezTo>
                  <a:cubicBezTo>
                    <a:pt x="0" y="9"/>
                    <a:pt x="0" y="5"/>
                    <a:pt x="3" y="3"/>
                  </a:cubicBezTo>
                  <a:cubicBezTo>
                    <a:pt x="5" y="0"/>
                    <a:pt x="9" y="0"/>
                    <a:pt x="11" y="3"/>
                  </a:cubicBezTo>
                  <a:cubicBezTo>
                    <a:pt x="20" y="11"/>
                    <a:pt x="20" y="11"/>
                    <a:pt x="20" y="11"/>
                  </a:cubicBezTo>
                  <a:cubicBezTo>
                    <a:pt x="22" y="14"/>
                    <a:pt x="22" y="17"/>
                    <a:pt x="20" y="20"/>
                  </a:cubicBezTo>
                  <a:cubicBezTo>
                    <a:pt x="18" y="21"/>
                    <a:pt x="17"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9" name="Freeform 138">
              <a:extLst>
                <a:ext uri="{FF2B5EF4-FFF2-40B4-BE49-F238E27FC236}">
                  <a16:creationId xmlns:a16="http://schemas.microsoft.com/office/drawing/2014/main" id="{B5781414-3180-932C-6B1F-7D632EF1AF1C}"/>
                </a:ext>
              </a:extLst>
            </p:cNvPr>
            <p:cNvSpPr>
              <a:spLocks/>
            </p:cNvSpPr>
            <p:nvPr/>
          </p:nvSpPr>
          <p:spPr bwMode="auto">
            <a:xfrm>
              <a:off x="1398" y="3176"/>
              <a:ext cx="35" cy="18"/>
            </a:xfrm>
            <a:custGeom>
              <a:avLst/>
              <a:gdLst>
                <a:gd name="T0" fmla="*/ 18 w 24"/>
                <a:gd name="T1" fmla="*/ 12 h 12"/>
                <a:gd name="T2" fmla="*/ 6 w 24"/>
                <a:gd name="T3" fmla="*/ 12 h 12"/>
                <a:gd name="T4" fmla="*/ 0 w 24"/>
                <a:gd name="T5" fmla="*/ 6 h 12"/>
                <a:gd name="T6" fmla="*/ 6 w 24"/>
                <a:gd name="T7" fmla="*/ 0 h 12"/>
                <a:gd name="T8" fmla="*/ 18 w 24"/>
                <a:gd name="T9" fmla="*/ 0 h 12"/>
                <a:gd name="T10" fmla="*/ 24 w 24"/>
                <a:gd name="T11" fmla="*/ 6 h 12"/>
                <a:gd name="T12" fmla="*/ 18 w 2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12"/>
                  </a:moveTo>
                  <a:cubicBezTo>
                    <a:pt x="6" y="12"/>
                    <a:pt x="6" y="12"/>
                    <a:pt x="6" y="12"/>
                  </a:cubicBezTo>
                  <a:cubicBezTo>
                    <a:pt x="2" y="12"/>
                    <a:pt x="0" y="9"/>
                    <a:pt x="0" y="6"/>
                  </a:cubicBezTo>
                  <a:cubicBezTo>
                    <a:pt x="0" y="3"/>
                    <a:pt x="2" y="0"/>
                    <a:pt x="6" y="0"/>
                  </a:cubicBezTo>
                  <a:cubicBezTo>
                    <a:pt x="18" y="0"/>
                    <a:pt x="18" y="0"/>
                    <a:pt x="18" y="0"/>
                  </a:cubicBezTo>
                  <a:cubicBezTo>
                    <a:pt x="21" y="0"/>
                    <a:pt x="24" y="3"/>
                    <a:pt x="24" y="6"/>
                  </a:cubicBezTo>
                  <a:cubicBezTo>
                    <a:pt x="24" y="9"/>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0" name="Freeform 139">
              <a:extLst>
                <a:ext uri="{FF2B5EF4-FFF2-40B4-BE49-F238E27FC236}">
                  <a16:creationId xmlns:a16="http://schemas.microsoft.com/office/drawing/2014/main" id="{A9437AE6-A3FB-A4FF-6D53-0CF859208362}"/>
                </a:ext>
              </a:extLst>
            </p:cNvPr>
            <p:cNvSpPr>
              <a:spLocks/>
            </p:cNvSpPr>
            <p:nvPr/>
          </p:nvSpPr>
          <p:spPr bwMode="auto">
            <a:xfrm>
              <a:off x="1448" y="3288"/>
              <a:ext cx="32" cy="31"/>
            </a:xfrm>
            <a:custGeom>
              <a:avLst/>
              <a:gdLst>
                <a:gd name="T0" fmla="*/ 7 w 22"/>
                <a:gd name="T1" fmla="*/ 21 h 21"/>
                <a:gd name="T2" fmla="*/ 3 w 22"/>
                <a:gd name="T3" fmla="*/ 19 h 21"/>
                <a:gd name="T4" fmla="*/ 3 w 22"/>
                <a:gd name="T5" fmla="*/ 10 h 21"/>
                <a:gd name="T6" fmla="*/ 11 w 22"/>
                <a:gd name="T7" fmla="*/ 2 h 21"/>
                <a:gd name="T8" fmla="*/ 20 w 22"/>
                <a:gd name="T9" fmla="*/ 2 h 21"/>
                <a:gd name="T10" fmla="*/ 20 w 22"/>
                <a:gd name="T11" fmla="*/ 10 h 21"/>
                <a:gd name="T12" fmla="*/ 11 w 22"/>
                <a:gd name="T13" fmla="*/ 19 h 21"/>
                <a:gd name="T14" fmla="*/ 7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7" y="21"/>
                  </a:moveTo>
                  <a:cubicBezTo>
                    <a:pt x="5" y="21"/>
                    <a:pt x="4" y="20"/>
                    <a:pt x="3" y="19"/>
                  </a:cubicBezTo>
                  <a:cubicBezTo>
                    <a:pt x="0" y="17"/>
                    <a:pt x="0" y="13"/>
                    <a:pt x="3" y="10"/>
                  </a:cubicBezTo>
                  <a:cubicBezTo>
                    <a:pt x="11" y="2"/>
                    <a:pt x="11" y="2"/>
                    <a:pt x="11" y="2"/>
                  </a:cubicBezTo>
                  <a:cubicBezTo>
                    <a:pt x="13" y="0"/>
                    <a:pt x="17" y="0"/>
                    <a:pt x="20" y="2"/>
                  </a:cubicBezTo>
                  <a:cubicBezTo>
                    <a:pt x="22" y="4"/>
                    <a:pt x="22" y="8"/>
                    <a:pt x="20" y="10"/>
                  </a:cubicBezTo>
                  <a:cubicBezTo>
                    <a:pt x="11" y="19"/>
                    <a:pt x="11" y="19"/>
                    <a:pt x="11" y="19"/>
                  </a:cubicBezTo>
                  <a:cubicBezTo>
                    <a:pt x="10" y="20"/>
                    <a:pt x="8" y="21"/>
                    <a:pt x="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 name="Freeform 140">
              <a:extLst>
                <a:ext uri="{FF2B5EF4-FFF2-40B4-BE49-F238E27FC236}">
                  <a16:creationId xmlns:a16="http://schemas.microsoft.com/office/drawing/2014/main" id="{ED6397EA-C14C-B63B-7BDB-D9BFD78F00C2}"/>
                </a:ext>
              </a:extLst>
            </p:cNvPr>
            <p:cNvSpPr>
              <a:spLocks noEditPoints="1"/>
            </p:cNvSpPr>
            <p:nvPr/>
          </p:nvSpPr>
          <p:spPr bwMode="auto">
            <a:xfrm>
              <a:off x="1504" y="3176"/>
              <a:ext cx="160" cy="133"/>
            </a:xfrm>
            <a:custGeom>
              <a:avLst/>
              <a:gdLst>
                <a:gd name="T0" fmla="*/ 60 w 108"/>
                <a:gd name="T1" fmla="*/ 90 h 90"/>
                <a:gd name="T2" fmla="*/ 58 w 108"/>
                <a:gd name="T3" fmla="*/ 90 h 90"/>
                <a:gd name="T4" fmla="*/ 54 w 108"/>
                <a:gd name="T5" fmla="*/ 84 h 90"/>
                <a:gd name="T6" fmla="*/ 49 w 108"/>
                <a:gd name="T7" fmla="*/ 90 h 90"/>
                <a:gd name="T8" fmla="*/ 42 w 108"/>
                <a:gd name="T9" fmla="*/ 85 h 90"/>
                <a:gd name="T10" fmla="*/ 30 w 108"/>
                <a:gd name="T11" fmla="*/ 36 h 90"/>
                <a:gd name="T12" fmla="*/ 18 w 108"/>
                <a:gd name="T13" fmla="*/ 36 h 90"/>
                <a:gd name="T14" fmla="*/ 0 w 108"/>
                <a:gd name="T15" fmla="*/ 18 h 90"/>
                <a:gd name="T16" fmla="*/ 18 w 108"/>
                <a:gd name="T17" fmla="*/ 0 h 90"/>
                <a:gd name="T18" fmla="*/ 38 w 108"/>
                <a:gd name="T19" fmla="*/ 16 h 90"/>
                <a:gd name="T20" fmla="*/ 40 w 108"/>
                <a:gd name="T21" fmla="*/ 24 h 90"/>
                <a:gd name="T22" fmla="*/ 67 w 108"/>
                <a:gd name="T23" fmla="*/ 24 h 90"/>
                <a:gd name="T24" fmla="*/ 69 w 108"/>
                <a:gd name="T25" fmla="*/ 16 h 90"/>
                <a:gd name="T26" fmla="*/ 90 w 108"/>
                <a:gd name="T27" fmla="*/ 0 h 90"/>
                <a:gd name="T28" fmla="*/ 108 w 108"/>
                <a:gd name="T29" fmla="*/ 18 h 90"/>
                <a:gd name="T30" fmla="*/ 90 w 108"/>
                <a:gd name="T31" fmla="*/ 36 h 90"/>
                <a:gd name="T32" fmla="*/ 77 w 108"/>
                <a:gd name="T33" fmla="*/ 36 h 90"/>
                <a:gd name="T34" fmla="*/ 65 w 108"/>
                <a:gd name="T35" fmla="*/ 85 h 90"/>
                <a:gd name="T36" fmla="*/ 60 w 108"/>
                <a:gd name="T37" fmla="*/ 90 h 90"/>
                <a:gd name="T38" fmla="*/ 43 w 108"/>
                <a:gd name="T39" fmla="*/ 36 h 90"/>
                <a:gd name="T40" fmla="*/ 53 w 108"/>
                <a:gd name="T41" fmla="*/ 82 h 90"/>
                <a:gd name="T42" fmla="*/ 54 w 108"/>
                <a:gd name="T43" fmla="*/ 84 h 90"/>
                <a:gd name="T44" fmla="*/ 54 w 108"/>
                <a:gd name="T45" fmla="*/ 82 h 90"/>
                <a:gd name="T46" fmla="*/ 65 w 108"/>
                <a:gd name="T47" fmla="*/ 36 h 90"/>
                <a:gd name="T48" fmla="*/ 43 w 108"/>
                <a:gd name="T49" fmla="*/ 36 h 90"/>
                <a:gd name="T50" fmla="*/ 80 w 108"/>
                <a:gd name="T51" fmla="*/ 24 h 90"/>
                <a:gd name="T52" fmla="*/ 90 w 108"/>
                <a:gd name="T53" fmla="*/ 24 h 90"/>
                <a:gd name="T54" fmla="*/ 96 w 108"/>
                <a:gd name="T55" fmla="*/ 18 h 90"/>
                <a:gd name="T56" fmla="*/ 90 w 108"/>
                <a:gd name="T57" fmla="*/ 12 h 90"/>
                <a:gd name="T58" fmla="*/ 81 w 108"/>
                <a:gd name="T59" fmla="*/ 19 h 90"/>
                <a:gd name="T60" fmla="*/ 80 w 108"/>
                <a:gd name="T61" fmla="*/ 24 h 90"/>
                <a:gd name="T62" fmla="*/ 18 w 108"/>
                <a:gd name="T63" fmla="*/ 12 h 90"/>
                <a:gd name="T64" fmla="*/ 12 w 108"/>
                <a:gd name="T65" fmla="*/ 18 h 90"/>
                <a:gd name="T66" fmla="*/ 18 w 108"/>
                <a:gd name="T67" fmla="*/ 24 h 90"/>
                <a:gd name="T68" fmla="*/ 28 w 108"/>
                <a:gd name="T69" fmla="*/ 24 h 90"/>
                <a:gd name="T70" fmla="*/ 26 w 108"/>
                <a:gd name="T71" fmla="*/ 19 h 90"/>
                <a:gd name="T72" fmla="*/ 18 w 108"/>
                <a:gd name="T73"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8" h="90">
                  <a:moveTo>
                    <a:pt x="60" y="90"/>
                  </a:moveTo>
                  <a:cubicBezTo>
                    <a:pt x="59" y="90"/>
                    <a:pt x="59" y="90"/>
                    <a:pt x="58" y="90"/>
                  </a:cubicBezTo>
                  <a:cubicBezTo>
                    <a:pt x="56" y="89"/>
                    <a:pt x="54" y="87"/>
                    <a:pt x="54" y="84"/>
                  </a:cubicBezTo>
                  <a:cubicBezTo>
                    <a:pt x="54" y="87"/>
                    <a:pt x="52" y="89"/>
                    <a:pt x="49" y="90"/>
                  </a:cubicBezTo>
                  <a:cubicBezTo>
                    <a:pt x="46" y="90"/>
                    <a:pt x="43" y="88"/>
                    <a:pt x="42" y="85"/>
                  </a:cubicBezTo>
                  <a:cubicBezTo>
                    <a:pt x="30" y="36"/>
                    <a:pt x="30" y="36"/>
                    <a:pt x="30" y="36"/>
                  </a:cubicBezTo>
                  <a:cubicBezTo>
                    <a:pt x="18" y="36"/>
                    <a:pt x="18" y="36"/>
                    <a:pt x="18" y="36"/>
                  </a:cubicBezTo>
                  <a:cubicBezTo>
                    <a:pt x="8" y="36"/>
                    <a:pt x="0" y="28"/>
                    <a:pt x="0" y="18"/>
                  </a:cubicBezTo>
                  <a:cubicBezTo>
                    <a:pt x="0" y="8"/>
                    <a:pt x="8" y="0"/>
                    <a:pt x="18" y="0"/>
                  </a:cubicBezTo>
                  <a:cubicBezTo>
                    <a:pt x="28" y="0"/>
                    <a:pt x="36" y="7"/>
                    <a:pt x="38" y="16"/>
                  </a:cubicBezTo>
                  <a:cubicBezTo>
                    <a:pt x="40" y="24"/>
                    <a:pt x="40" y="24"/>
                    <a:pt x="40" y="24"/>
                  </a:cubicBezTo>
                  <a:cubicBezTo>
                    <a:pt x="67" y="24"/>
                    <a:pt x="67" y="24"/>
                    <a:pt x="67" y="24"/>
                  </a:cubicBezTo>
                  <a:cubicBezTo>
                    <a:pt x="69" y="16"/>
                    <a:pt x="69" y="16"/>
                    <a:pt x="69" y="16"/>
                  </a:cubicBezTo>
                  <a:cubicBezTo>
                    <a:pt x="71" y="7"/>
                    <a:pt x="80" y="0"/>
                    <a:pt x="90" y="0"/>
                  </a:cubicBezTo>
                  <a:cubicBezTo>
                    <a:pt x="100" y="0"/>
                    <a:pt x="108" y="8"/>
                    <a:pt x="108" y="18"/>
                  </a:cubicBezTo>
                  <a:cubicBezTo>
                    <a:pt x="108" y="28"/>
                    <a:pt x="100" y="36"/>
                    <a:pt x="90" y="36"/>
                  </a:cubicBezTo>
                  <a:cubicBezTo>
                    <a:pt x="77" y="36"/>
                    <a:pt x="77" y="36"/>
                    <a:pt x="77" y="36"/>
                  </a:cubicBezTo>
                  <a:cubicBezTo>
                    <a:pt x="65" y="85"/>
                    <a:pt x="65" y="85"/>
                    <a:pt x="65" y="85"/>
                  </a:cubicBezTo>
                  <a:cubicBezTo>
                    <a:pt x="65" y="88"/>
                    <a:pt x="62" y="90"/>
                    <a:pt x="60" y="90"/>
                  </a:cubicBezTo>
                  <a:close/>
                  <a:moveTo>
                    <a:pt x="43" y="36"/>
                  </a:moveTo>
                  <a:cubicBezTo>
                    <a:pt x="53" y="82"/>
                    <a:pt x="53" y="82"/>
                    <a:pt x="53" y="82"/>
                  </a:cubicBezTo>
                  <a:cubicBezTo>
                    <a:pt x="54" y="83"/>
                    <a:pt x="54" y="83"/>
                    <a:pt x="54" y="84"/>
                  </a:cubicBezTo>
                  <a:cubicBezTo>
                    <a:pt x="54" y="83"/>
                    <a:pt x="54" y="83"/>
                    <a:pt x="54" y="82"/>
                  </a:cubicBezTo>
                  <a:cubicBezTo>
                    <a:pt x="65" y="36"/>
                    <a:pt x="65" y="36"/>
                    <a:pt x="65" y="36"/>
                  </a:cubicBezTo>
                  <a:lnTo>
                    <a:pt x="43" y="36"/>
                  </a:lnTo>
                  <a:close/>
                  <a:moveTo>
                    <a:pt x="80" y="24"/>
                  </a:moveTo>
                  <a:cubicBezTo>
                    <a:pt x="90" y="24"/>
                    <a:pt x="90" y="24"/>
                    <a:pt x="90" y="24"/>
                  </a:cubicBezTo>
                  <a:cubicBezTo>
                    <a:pt x="93" y="24"/>
                    <a:pt x="96" y="21"/>
                    <a:pt x="96" y="18"/>
                  </a:cubicBezTo>
                  <a:cubicBezTo>
                    <a:pt x="96" y="15"/>
                    <a:pt x="93" y="12"/>
                    <a:pt x="90" y="12"/>
                  </a:cubicBezTo>
                  <a:cubicBezTo>
                    <a:pt x="85" y="12"/>
                    <a:pt x="82" y="15"/>
                    <a:pt x="81" y="19"/>
                  </a:cubicBezTo>
                  <a:lnTo>
                    <a:pt x="80" y="24"/>
                  </a:lnTo>
                  <a:close/>
                  <a:moveTo>
                    <a:pt x="18" y="12"/>
                  </a:moveTo>
                  <a:cubicBezTo>
                    <a:pt x="14" y="12"/>
                    <a:pt x="12" y="15"/>
                    <a:pt x="12" y="18"/>
                  </a:cubicBezTo>
                  <a:cubicBezTo>
                    <a:pt x="12" y="21"/>
                    <a:pt x="14" y="24"/>
                    <a:pt x="18" y="24"/>
                  </a:cubicBezTo>
                  <a:cubicBezTo>
                    <a:pt x="28" y="24"/>
                    <a:pt x="28" y="24"/>
                    <a:pt x="28" y="24"/>
                  </a:cubicBezTo>
                  <a:cubicBezTo>
                    <a:pt x="26" y="19"/>
                    <a:pt x="26" y="19"/>
                    <a:pt x="26" y="19"/>
                  </a:cubicBezTo>
                  <a:cubicBezTo>
                    <a:pt x="26" y="15"/>
                    <a:pt x="22"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grpSp>
      <p:sp>
        <p:nvSpPr>
          <p:cNvPr id="52" name="Freeform 29">
            <a:extLst>
              <a:ext uri="{FF2B5EF4-FFF2-40B4-BE49-F238E27FC236}">
                <a16:creationId xmlns:a16="http://schemas.microsoft.com/office/drawing/2014/main" id="{C1B87D69-481E-D84D-0838-B457970815EC}"/>
              </a:ext>
            </a:extLst>
          </p:cNvPr>
          <p:cNvSpPr>
            <a:spLocks noEditPoints="1"/>
          </p:cNvSpPr>
          <p:nvPr/>
        </p:nvSpPr>
        <p:spPr bwMode="auto">
          <a:xfrm>
            <a:off x="4362694" y="2500593"/>
            <a:ext cx="387491" cy="520987"/>
          </a:xfrm>
          <a:custGeom>
            <a:avLst/>
            <a:gdLst>
              <a:gd name="T0" fmla="*/ 211 w 214"/>
              <a:gd name="T1" fmla="*/ 90 h 295"/>
              <a:gd name="T2" fmla="*/ 185 w 214"/>
              <a:gd name="T3" fmla="*/ 73 h 295"/>
              <a:gd name="T4" fmla="*/ 170 w 214"/>
              <a:gd name="T5" fmla="*/ 46 h 295"/>
              <a:gd name="T6" fmla="*/ 129 w 214"/>
              <a:gd name="T7" fmla="*/ 6 h 295"/>
              <a:gd name="T8" fmla="*/ 123 w 214"/>
              <a:gd name="T9" fmla="*/ 0 h 295"/>
              <a:gd name="T10" fmla="*/ 99 w 214"/>
              <a:gd name="T11" fmla="*/ 14 h 295"/>
              <a:gd name="T12" fmla="*/ 81 w 214"/>
              <a:gd name="T13" fmla="*/ 27 h 295"/>
              <a:gd name="T14" fmla="*/ 38 w 214"/>
              <a:gd name="T15" fmla="*/ 67 h 295"/>
              <a:gd name="T16" fmla="*/ 18 w 214"/>
              <a:gd name="T17" fmla="*/ 116 h 295"/>
              <a:gd name="T18" fmla="*/ 16 w 214"/>
              <a:gd name="T19" fmla="*/ 154 h 295"/>
              <a:gd name="T20" fmla="*/ 23 w 214"/>
              <a:gd name="T21" fmla="*/ 206 h 295"/>
              <a:gd name="T22" fmla="*/ 17 w 214"/>
              <a:gd name="T23" fmla="*/ 212 h 295"/>
              <a:gd name="T24" fmla="*/ 0 w 214"/>
              <a:gd name="T25" fmla="*/ 251 h 295"/>
              <a:gd name="T26" fmla="*/ 6 w 214"/>
              <a:gd name="T27" fmla="*/ 295 h 295"/>
              <a:gd name="T28" fmla="*/ 197 w 214"/>
              <a:gd name="T29" fmla="*/ 289 h 295"/>
              <a:gd name="T30" fmla="*/ 182 w 214"/>
              <a:gd name="T31" fmla="*/ 213 h 295"/>
              <a:gd name="T32" fmla="*/ 175 w 214"/>
              <a:gd name="T33" fmla="*/ 206 h 295"/>
              <a:gd name="T34" fmla="*/ 174 w 214"/>
              <a:gd name="T35" fmla="*/ 205 h 295"/>
              <a:gd name="T36" fmla="*/ 167 w 214"/>
              <a:gd name="T37" fmla="*/ 183 h 295"/>
              <a:gd name="T38" fmla="*/ 132 w 214"/>
              <a:gd name="T39" fmla="*/ 116 h 295"/>
              <a:gd name="T40" fmla="*/ 170 w 214"/>
              <a:gd name="T41" fmla="*/ 126 h 295"/>
              <a:gd name="T42" fmla="*/ 193 w 214"/>
              <a:gd name="T43" fmla="*/ 131 h 295"/>
              <a:gd name="T44" fmla="*/ 213 w 214"/>
              <a:gd name="T45" fmla="*/ 97 h 295"/>
              <a:gd name="T46" fmla="*/ 185 w 214"/>
              <a:gd name="T47" fmla="*/ 243 h 295"/>
              <a:gd name="T48" fmla="*/ 186 w 214"/>
              <a:gd name="T49" fmla="*/ 284 h 295"/>
              <a:gd name="T50" fmla="*/ 12 w 214"/>
              <a:gd name="T51" fmla="*/ 251 h 295"/>
              <a:gd name="T52" fmla="*/ 13 w 214"/>
              <a:gd name="T53" fmla="*/ 242 h 295"/>
              <a:gd name="T54" fmla="*/ 104 w 214"/>
              <a:gd name="T55" fmla="*/ 242 h 295"/>
              <a:gd name="T56" fmla="*/ 104 w 214"/>
              <a:gd name="T57" fmla="*/ 242 h 295"/>
              <a:gd name="T58" fmla="*/ 171 w 214"/>
              <a:gd name="T59" fmla="*/ 219 h 295"/>
              <a:gd name="T60" fmla="*/ 173 w 214"/>
              <a:gd name="T61" fmla="*/ 220 h 295"/>
              <a:gd name="T62" fmla="*/ 180 w 214"/>
              <a:gd name="T63" fmla="*/ 231 h 295"/>
              <a:gd name="T64" fmla="*/ 104 w 214"/>
              <a:gd name="T65" fmla="*/ 231 h 295"/>
              <a:gd name="T66" fmla="*/ 104 w 214"/>
              <a:gd name="T67" fmla="*/ 231 h 295"/>
              <a:gd name="T68" fmla="*/ 18 w 214"/>
              <a:gd name="T69" fmla="*/ 231 h 295"/>
              <a:gd name="T70" fmla="*/ 25 w 214"/>
              <a:gd name="T71" fmla="*/ 220 h 295"/>
              <a:gd name="T72" fmla="*/ 26 w 214"/>
              <a:gd name="T73" fmla="*/ 219 h 295"/>
              <a:gd name="T74" fmla="*/ 166 w 214"/>
              <a:gd name="T75" fmla="*/ 214 h 295"/>
              <a:gd name="T76" fmla="*/ 191 w 214"/>
              <a:gd name="T77" fmla="*/ 118 h 295"/>
              <a:gd name="T78" fmla="*/ 180 w 214"/>
              <a:gd name="T79" fmla="*/ 116 h 295"/>
              <a:gd name="T80" fmla="*/ 122 w 214"/>
              <a:gd name="T81" fmla="*/ 100 h 295"/>
              <a:gd name="T82" fmla="*/ 112 w 214"/>
              <a:gd name="T83" fmla="*/ 106 h 295"/>
              <a:gd name="T84" fmla="*/ 162 w 214"/>
              <a:gd name="T85" fmla="*/ 202 h 295"/>
              <a:gd name="T86" fmla="*/ 33 w 214"/>
              <a:gd name="T87" fmla="*/ 202 h 295"/>
              <a:gd name="T88" fmla="*/ 27 w 214"/>
              <a:gd name="T89" fmla="*/ 153 h 295"/>
              <a:gd name="T90" fmla="*/ 31 w 214"/>
              <a:gd name="T91" fmla="*/ 113 h 295"/>
              <a:gd name="T92" fmla="*/ 49 w 214"/>
              <a:gd name="T93" fmla="*/ 72 h 295"/>
              <a:gd name="T94" fmla="*/ 109 w 214"/>
              <a:gd name="T95" fmla="*/ 21 h 295"/>
              <a:gd name="T96" fmla="*/ 117 w 214"/>
              <a:gd name="T97" fmla="*/ 16 h 295"/>
              <a:gd name="T98" fmla="*/ 120 w 214"/>
              <a:gd name="T99" fmla="*/ 40 h 295"/>
              <a:gd name="T100" fmla="*/ 176 w 214"/>
              <a:gd name="T101" fmla="*/ 79 h 295"/>
              <a:gd name="T102" fmla="*/ 200 w 214"/>
              <a:gd name="T103" fmla="*/ 97 h 295"/>
              <a:gd name="T104" fmla="*/ 191 w 214"/>
              <a:gd name="T105" fmla="*/ 11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4" h="295">
                <a:moveTo>
                  <a:pt x="213" y="97"/>
                </a:moveTo>
                <a:cubicBezTo>
                  <a:pt x="214" y="94"/>
                  <a:pt x="213" y="91"/>
                  <a:pt x="211" y="90"/>
                </a:cubicBezTo>
                <a:cubicBezTo>
                  <a:pt x="185" y="73"/>
                  <a:pt x="185" y="73"/>
                  <a:pt x="185" y="73"/>
                </a:cubicBezTo>
                <a:cubicBezTo>
                  <a:pt x="185" y="73"/>
                  <a:pt x="185" y="73"/>
                  <a:pt x="185" y="73"/>
                </a:cubicBezTo>
                <a:cubicBezTo>
                  <a:pt x="174" y="49"/>
                  <a:pt x="174" y="49"/>
                  <a:pt x="174" y="49"/>
                </a:cubicBezTo>
                <a:cubicBezTo>
                  <a:pt x="173" y="47"/>
                  <a:pt x="172" y="46"/>
                  <a:pt x="170" y="46"/>
                </a:cubicBezTo>
                <a:cubicBezTo>
                  <a:pt x="128" y="31"/>
                  <a:pt x="128" y="31"/>
                  <a:pt x="128" y="31"/>
                </a:cubicBezTo>
                <a:cubicBezTo>
                  <a:pt x="129" y="6"/>
                  <a:pt x="129" y="6"/>
                  <a:pt x="129" y="6"/>
                </a:cubicBezTo>
                <a:cubicBezTo>
                  <a:pt x="129" y="4"/>
                  <a:pt x="128" y="2"/>
                  <a:pt x="126" y="1"/>
                </a:cubicBezTo>
                <a:cubicBezTo>
                  <a:pt x="125" y="0"/>
                  <a:pt x="124" y="0"/>
                  <a:pt x="123" y="0"/>
                </a:cubicBezTo>
                <a:cubicBezTo>
                  <a:pt x="122" y="0"/>
                  <a:pt x="121" y="0"/>
                  <a:pt x="120" y="1"/>
                </a:cubicBezTo>
                <a:cubicBezTo>
                  <a:pt x="119" y="2"/>
                  <a:pt x="110" y="7"/>
                  <a:pt x="99" y="14"/>
                </a:cubicBezTo>
                <a:cubicBezTo>
                  <a:pt x="95" y="17"/>
                  <a:pt x="92" y="19"/>
                  <a:pt x="88" y="22"/>
                </a:cubicBezTo>
                <a:cubicBezTo>
                  <a:pt x="86" y="23"/>
                  <a:pt x="84" y="25"/>
                  <a:pt x="81" y="27"/>
                </a:cubicBezTo>
                <a:cubicBezTo>
                  <a:pt x="70" y="35"/>
                  <a:pt x="61" y="42"/>
                  <a:pt x="54" y="49"/>
                </a:cubicBezTo>
                <a:cubicBezTo>
                  <a:pt x="46" y="56"/>
                  <a:pt x="41" y="62"/>
                  <a:pt x="38" y="67"/>
                </a:cubicBezTo>
                <a:cubicBezTo>
                  <a:pt x="37" y="69"/>
                  <a:pt x="36" y="71"/>
                  <a:pt x="35" y="73"/>
                </a:cubicBezTo>
                <a:cubicBezTo>
                  <a:pt x="29" y="86"/>
                  <a:pt x="22" y="99"/>
                  <a:pt x="18" y="116"/>
                </a:cubicBezTo>
                <a:cubicBezTo>
                  <a:pt x="17" y="120"/>
                  <a:pt x="17" y="124"/>
                  <a:pt x="16" y="128"/>
                </a:cubicBezTo>
                <a:cubicBezTo>
                  <a:pt x="15" y="137"/>
                  <a:pt x="15" y="145"/>
                  <a:pt x="16" y="154"/>
                </a:cubicBezTo>
                <a:cubicBezTo>
                  <a:pt x="18" y="182"/>
                  <a:pt x="21" y="199"/>
                  <a:pt x="22" y="206"/>
                </a:cubicBezTo>
                <a:cubicBezTo>
                  <a:pt x="23" y="206"/>
                  <a:pt x="23" y="206"/>
                  <a:pt x="23" y="206"/>
                </a:cubicBezTo>
                <a:cubicBezTo>
                  <a:pt x="22" y="206"/>
                  <a:pt x="22" y="206"/>
                  <a:pt x="22" y="206"/>
                </a:cubicBezTo>
                <a:cubicBezTo>
                  <a:pt x="20" y="208"/>
                  <a:pt x="19" y="210"/>
                  <a:pt x="17" y="212"/>
                </a:cubicBezTo>
                <a:cubicBezTo>
                  <a:pt x="16" y="213"/>
                  <a:pt x="16" y="213"/>
                  <a:pt x="16" y="213"/>
                </a:cubicBezTo>
                <a:cubicBezTo>
                  <a:pt x="9" y="222"/>
                  <a:pt x="0" y="236"/>
                  <a:pt x="0" y="251"/>
                </a:cubicBezTo>
                <a:cubicBezTo>
                  <a:pt x="0" y="289"/>
                  <a:pt x="0" y="289"/>
                  <a:pt x="0" y="289"/>
                </a:cubicBezTo>
                <a:cubicBezTo>
                  <a:pt x="0" y="293"/>
                  <a:pt x="3" y="295"/>
                  <a:pt x="6" y="295"/>
                </a:cubicBezTo>
                <a:cubicBezTo>
                  <a:pt x="192" y="295"/>
                  <a:pt x="192" y="295"/>
                  <a:pt x="192" y="295"/>
                </a:cubicBezTo>
                <a:cubicBezTo>
                  <a:pt x="195" y="295"/>
                  <a:pt x="197" y="293"/>
                  <a:pt x="197" y="289"/>
                </a:cubicBezTo>
                <a:cubicBezTo>
                  <a:pt x="197" y="251"/>
                  <a:pt x="197" y="251"/>
                  <a:pt x="197" y="251"/>
                </a:cubicBezTo>
                <a:cubicBezTo>
                  <a:pt x="197" y="236"/>
                  <a:pt x="189" y="222"/>
                  <a:pt x="182" y="213"/>
                </a:cubicBezTo>
                <a:cubicBezTo>
                  <a:pt x="181" y="213"/>
                  <a:pt x="181" y="213"/>
                  <a:pt x="181" y="212"/>
                </a:cubicBezTo>
                <a:cubicBezTo>
                  <a:pt x="179" y="210"/>
                  <a:pt x="177" y="208"/>
                  <a:pt x="175" y="206"/>
                </a:cubicBezTo>
                <a:cubicBezTo>
                  <a:pt x="175" y="206"/>
                  <a:pt x="175" y="206"/>
                  <a:pt x="174" y="205"/>
                </a:cubicBezTo>
                <a:cubicBezTo>
                  <a:pt x="174" y="205"/>
                  <a:pt x="174" y="205"/>
                  <a:pt x="174" y="205"/>
                </a:cubicBezTo>
                <a:cubicBezTo>
                  <a:pt x="174" y="205"/>
                  <a:pt x="174" y="205"/>
                  <a:pt x="174" y="205"/>
                </a:cubicBezTo>
                <a:cubicBezTo>
                  <a:pt x="173" y="199"/>
                  <a:pt x="171" y="191"/>
                  <a:pt x="167" y="183"/>
                </a:cubicBezTo>
                <a:cubicBezTo>
                  <a:pt x="158" y="160"/>
                  <a:pt x="144" y="135"/>
                  <a:pt x="133" y="117"/>
                </a:cubicBezTo>
                <a:cubicBezTo>
                  <a:pt x="132" y="116"/>
                  <a:pt x="132" y="116"/>
                  <a:pt x="132" y="116"/>
                </a:cubicBezTo>
                <a:cubicBezTo>
                  <a:pt x="134" y="116"/>
                  <a:pt x="134" y="116"/>
                  <a:pt x="134" y="116"/>
                </a:cubicBezTo>
                <a:cubicBezTo>
                  <a:pt x="143" y="119"/>
                  <a:pt x="155" y="122"/>
                  <a:pt x="170" y="126"/>
                </a:cubicBezTo>
                <a:cubicBezTo>
                  <a:pt x="174" y="126"/>
                  <a:pt x="178" y="127"/>
                  <a:pt x="182" y="128"/>
                </a:cubicBezTo>
                <a:cubicBezTo>
                  <a:pt x="186" y="129"/>
                  <a:pt x="190" y="130"/>
                  <a:pt x="193" y="131"/>
                </a:cubicBezTo>
                <a:cubicBezTo>
                  <a:pt x="196" y="131"/>
                  <a:pt x="199" y="130"/>
                  <a:pt x="200" y="127"/>
                </a:cubicBezTo>
                <a:lnTo>
                  <a:pt x="213" y="97"/>
                </a:lnTo>
                <a:close/>
                <a:moveTo>
                  <a:pt x="185" y="242"/>
                </a:moveTo>
                <a:cubicBezTo>
                  <a:pt x="185" y="243"/>
                  <a:pt x="185" y="243"/>
                  <a:pt x="185" y="243"/>
                </a:cubicBezTo>
                <a:cubicBezTo>
                  <a:pt x="186" y="246"/>
                  <a:pt x="186" y="248"/>
                  <a:pt x="186" y="251"/>
                </a:cubicBezTo>
                <a:cubicBezTo>
                  <a:pt x="186" y="284"/>
                  <a:pt x="186" y="284"/>
                  <a:pt x="186" y="284"/>
                </a:cubicBezTo>
                <a:cubicBezTo>
                  <a:pt x="12" y="284"/>
                  <a:pt x="12" y="284"/>
                  <a:pt x="12" y="284"/>
                </a:cubicBezTo>
                <a:cubicBezTo>
                  <a:pt x="12" y="251"/>
                  <a:pt x="12" y="251"/>
                  <a:pt x="12" y="251"/>
                </a:cubicBezTo>
                <a:cubicBezTo>
                  <a:pt x="12" y="248"/>
                  <a:pt x="12" y="246"/>
                  <a:pt x="13" y="243"/>
                </a:cubicBezTo>
                <a:cubicBezTo>
                  <a:pt x="13" y="242"/>
                  <a:pt x="13" y="242"/>
                  <a:pt x="13" y="242"/>
                </a:cubicBezTo>
                <a:cubicBezTo>
                  <a:pt x="104" y="242"/>
                  <a:pt x="104" y="242"/>
                  <a:pt x="104" y="242"/>
                </a:cubicBezTo>
                <a:cubicBezTo>
                  <a:pt x="104" y="242"/>
                  <a:pt x="104" y="242"/>
                  <a:pt x="104" y="242"/>
                </a:cubicBezTo>
                <a:cubicBezTo>
                  <a:pt x="104" y="242"/>
                  <a:pt x="104" y="242"/>
                  <a:pt x="104" y="242"/>
                </a:cubicBezTo>
                <a:cubicBezTo>
                  <a:pt x="104" y="242"/>
                  <a:pt x="104" y="242"/>
                  <a:pt x="104" y="242"/>
                </a:cubicBezTo>
                <a:lnTo>
                  <a:pt x="185" y="242"/>
                </a:lnTo>
                <a:close/>
                <a:moveTo>
                  <a:pt x="171" y="219"/>
                </a:moveTo>
                <a:cubicBezTo>
                  <a:pt x="172" y="220"/>
                  <a:pt x="172" y="220"/>
                  <a:pt x="172" y="220"/>
                </a:cubicBezTo>
                <a:cubicBezTo>
                  <a:pt x="173" y="220"/>
                  <a:pt x="173" y="220"/>
                  <a:pt x="173" y="220"/>
                </a:cubicBezTo>
                <a:cubicBezTo>
                  <a:pt x="175" y="223"/>
                  <a:pt x="177" y="226"/>
                  <a:pt x="179" y="230"/>
                </a:cubicBezTo>
                <a:cubicBezTo>
                  <a:pt x="180" y="231"/>
                  <a:pt x="180" y="231"/>
                  <a:pt x="180" y="231"/>
                </a:cubicBezTo>
                <a:cubicBezTo>
                  <a:pt x="104" y="231"/>
                  <a:pt x="104" y="231"/>
                  <a:pt x="104" y="231"/>
                </a:cubicBezTo>
                <a:cubicBezTo>
                  <a:pt x="104" y="231"/>
                  <a:pt x="104" y="231"/>
                  <a:pt x="104" y="231"/>
                </a:cubicBezTo>
                <a:cubicBezTo>
                  <a:pt x="104" y="231"/>
                  <a:pt x="104" y="231"/>
                  <a:pt x="104" y="231"/>
                </a:cubicBezTo>
                <a:cubicBezTo>
                  <a:pt x="104" y="231"/>
                  <a:pt x="104" y="231"/>
                  <a:pt x="104" y="231"/>
                </a:cubicBezTo>
                <a:cubicBezTo>
                  <a:pt x="104" y="231"/>
                  <a:pt x="104" y="231"/>
                  <a:pt x="104" y="231"/>
                </a:cubicBezTo>
                <a:cubicBezTo>
                  <a:pt x="18" y="231"/>
                  <a:pt x="18" y="231"/>
                  <a:pt x="18" y="231"/>
                </a:cubicBezTo>
                <a:cubicBezTo>
                  <a:pt x="19" y="230"/>
                  <a:pt x="19" y="230"/>
                  <a:pt x="19" y="230"/>
                </a:cubicBezTo>
                <a:cubicBezTo>
                  <a:pt x="20" y="226"/>
                  <a:pt x="23" y="223"/>
                  <a:pt x="25" y="220"/>
                </a:cubicBezTo>
                <a:cubicBezTo>
                  <a:pt x="25" y="220"/>
                  <a:pt x="25" y="220"/>
                  <a:pt x="25" y="220"/>
                </a:cubicBezTo>
                <a:cubicBezTo>
                  <a:pt x="26" y="220"/>
                  <a:pt x="26" y="220"/>
                  <a:pt x="26" y="219"/>
                </a:cubicBezTo>
                <a:cubicBezTo>
                  <a:pt x="31" y="214"/>
                  <a:pt x="31" y="214"/>
                  <a:pt x="31" y="214"/>
                </a:cubicBezTo>
                <a:cubicBezTo>
                  <a:pt x="166" y="214"/>
                  <a:pt x="166" y="214"/>
                  <a:pt x="166" y="214"/>
                </a:cubicBezTo>
                <a:lnTo>
                  <a:pt x="171" y="219"/>
                </a:lnTo>
                <a:close/>
                <a:moveTo>
                  <a:pt x="191" y="118"/>
                </a:moveTo>
                <a:cubicBezTo>
                  <a:pt x="191" y="118"/>
                  <a:pt x="191" y="118"/>
                  <a:pt x="191" y="118"/>
                </a:cubicBezTo>
                <a:cubicBezTo>
                  <a:pt x="187" y="118"/>
                  <a:pt x="183" y="117"/>
                  <a:pt x="180" y="116"/>
                </a:cubicBezTo>
                <a:cubicBezTo>
                  <a:pt x="175" y="115"/>
                  <a:pt x="171" y="114"/>
                  <a:pt x="167" y="113"/>
                </a:cubicBezTo>
                <a:cubicBezTo>
                  <a:pt x="142" y="108"/>
                  <a:pt x="125" y="103"/>
                  <a:pt x="122" y="100"/>
                </a:cubicBezTo>
                <a:cubicBezTo>
                  <a:pt x="120" y="98"/>
                  <a:pt x="116" y="97"/>
                  <a:pt x="114" y="99"/>
                </a:cubicBezTo>
                <a:cubicBezTo>
                  <a:pt x="111" y="100"/>
                  <a:pt x="111" y="104"/>
                  <a:pt x="112" y="106"/>
                </a:cubicBezTo>
                <a:cubicBezTo>
                  <a:pt x="114" y="109"/>
                  <a:pt x="152" y="167"/>
                  <a:pt x="162" y="202"/>
                </a:cubicBezTo>
                <a:cubicBezTo>
                  <a:pt x="162" y="202"/>
                  <a:pt x="162" y="202"/>
                  <a:pt x="162" y="202"/>
                </a:cubicBezTo>
                <a:cubicBezTo>
                  <a:pt x="33" y="202"/>
                  <a:pt x="33" y="202"/>
                  <a:pt x="33" y="202"/>
                </a:cubicBezTo>
                <a:cubicBezTo>
                  <a:pt x="33" y="202"/>
                  <a:pt x="33" y="202"/>
                  <a:pt x="33" y="202"/>
                </a:cubicBezTo>
                <a:cubicBezTo>
                  <a:pt x="32" y="198"/>
                  <a:pt x="31" y="192"/>
                  <a:pt x="30" y="183"/>
                </a:cubicBezTo>
                <a:cubicBezTo>
                  <a:pt x="29" y="174"/>
                  <a:pt x="28" y="164"/>
                  <a:pt x="27" y="153"/>
                </a:cubicBezTo>
                <a:cubicBezTo>
                  <a:pt x="26" y="144"/>
                  <a:pt x="27" y="135"/>
                  <a:pt x="28" y="126"/>
                </a:cubicBezTo>
                <a:cubicBezTo>
                  <a:pt x="29" y="122"/>
                  <a:pt x="30" y="117"/>
                  <a:pt x="31" y="113"/>
                </a:cubicBezTo>
                <a:cubicBezTo>
                  <a:pt x="35" y="100"/>
                  <a:pt x="40" y="89"/>
                  <a:pt x="45" y="79"/>
                </a:cubicBezTo>
                <a:cubicBezTo>
                  <a:pt x="46" y="77"/>
                  <a:pt x="48" y="74"/>
                  <a:pt x="49" y="72"/>
                </a:cubicBezTo>
                <a:cubicBezTo>
                  <a:pt x="54" y="61"/>
                  <a:pt x="79" y="42"/>
                  <a:pt x="99" y="28"/>
                </a:cubicBezTo>
                <a:cubicBezTo>
                  <a:pt x="102" y="26"/>
                  <a:pt x="106" y="24"/>
                  <a:pt x="109" y="21"/>
                </a:cubicBezTo>
                <a:cubicBezTo>
                  <a:pt x="112" y="20"/>
                  <a:pt x="114" y="18"/>
                  <a:pt x="116" y="17"/>
                </a:cubicBezTo>
                <a:cubicBezTo>
                  <a:pt x="117" y="16"/>
                  <a:pt x="117" y="16"/>
                  <a:pt x="117" y="16"/>
                </a:cubicBezTo>
                <a:cubicBezTo>
                  <a:pt x="116" y="35"/>
                  <a:pt x="116" y="35"/>
                  <a:pt x="116" y="35"/>
                </a:cubicBezTo>
                <a:cubicBezTo>
                  <a:pt x="116" y="37"/>
                  <a:pt x="118" y="39"/>
                  <a:pt x="120" y="40"/>
                </a:cubicBezTo>
                <a:cubicBezTo>
                  <a:pt x="164" y="56"/>
                  <a:pt x="164" y="56"/>
                  <a:pt x="164" y="56"/>
                </a:cubicBezTo>
                <a:cubicBezTo>
                  <a:pt x="176" y="79"/>
                  <a:pt x="176" y="79"/>
                  <a:pt x="176" y="79"/>
                </a:cubicBezTo>
                <a:cubicBezTo>
                  <a:pt x="176" y="80"/>
                  <a:pt x="177" y="81"/>
                  <a:pt x="178" y="82"/>
                </a:cubicBezTo>
                <a:cubicBezTo>
                  <a:pt x="200" y="97"/>
                  <a:pt x="200" y="97"/>
                  <a:pt x="200" y="97"/>
                </a:cubicBezTo>
                <a:cubicBezTo>
                  <a:pt x="200" y="97"/>
                  <a:pt x="200" y="97"/>
                  <a:pt x="200" y="97"/>
                </a:cubicBezTo>
                <a:lnTo>
                  <a:pt x="191" y="118"/>
                </a:lnTo>
                <a:close/>
              </a:path>
            </a:pathLst>
          </a:custGeom>
          <a:solidFill>
            <a:schemeClr val="tx2"/>
          </a:solidFill>
          <a:ln>
            <a:noFill/>
          </a:ln>
        </p:spPr>
        <p:txBody>
          <a:bodyPr vert="horz" wrap="square" lIns="91419" tIns="45709" rIns="91419" bIns="45709" numCol="1" anchor="t" anchorCtr="0" compatLnSpc="1">
            <a:prstTxWarp prst="textNoShape">
              <a:avLst/>
            </a:prstTxWarp>
          </a:bodyPr>
          <a:lstStyle/>
          <a:p>
            <a:endParaRPr lang="en-US" dirty="0"/>
          </a:p>
        </p:txBody>
      </p:sp>
      <p:grpSp>
        <p:nvGrpSpPr>
          <p:cNvPr id="53" name="Group 14">
            <a:extLst>
              <a:ext uri="{FF2B5EF4-FFF2-40B4-BE49-F238E27FC236}">
                <a16:creationId xmlns:a16="http://schemas.microsoft.com/office/drawing/2014/main" id="{9228EBFA-FA76-5CA0-E54D-FB6F3C19EAD9}"/>
              </a:ext>
            </a:extLst>
          </p:cNvPr>
          <p:cNvGrpSpPr>
            <a:grpSpLocks noChangeAspect="1"/>
          </p:cNvGrpSpPr>
          <p:nvPr/>
        </p:nvGrpSpPr>
        <p:grpSpPr bwMode="auto">
          <a:xfrm>
            <a:off x="5828891" y="3374996"/>
            <a:ext cx="531040" cy="482658"/>
            <a:chOff x="2398" y="433"/>
            <a:chExt cx="461" cy="419"/>
          </a:xfrm>
          <a:solidFill>
            <a:schemeClr val="bg1"/>
          </a:solidFill>
        </p:grpSpPr>
        <p:sp>
          <p:nvSpPr>
            <p:cNvPr id="54" name="Freeform 15">
              <a:extLst>
                <a:ext uri="{FF2B5EF4-FFF2-40B4-BE49-F238E27FC236}">
                  <a16:creationId xmlns:a16="http://schemas.microsoft.com/office/drawing/2014/main" id="{14FD970E-DF34-17F2-1838-8DA1C76E5974}"/>
                </a:ext>
              </a:extLst>
            </p:cNvPr>
            <p:cNvSpPr>
              <a:spLocks noEditPoints="1"/>
            </p:cNvSpPr>
            <p:nvPr/>
          </p:nvSpPr>
          <p:spPr bwMode="auto">
            <a:xfrm>
              <a:off x="2398" y="433"/>
              <a:ext cx="461" cy="419"/>
            </a:xfrm>
            <a:custGeom>
              <a:avLst/>
              <a:gdLst>
                <a:gd name="T0" fmla="*/ 240 w 312"/>
                <a:gd name="T1" fmla="*/ 92 h 284"/>
                <a:gd name="T2" fmla="*/ 195 w 312"/>
                <a:gd name="T3" fmla="*/ 7 h 284"/>
                <a:gd name="T4" fmla="*/ 116 w 312"/>
                <a:gd name="T5" fmla="*/ 7 h 284"/>
                <a:gd name="T6" fmla="*/ 71 w 312"/>
                <a:gd name="T7" fmla="*/ 92 h 284"/>
                <a:gd name="T8" fmla="*/ 71 w 312"/>
                <a:gd name="T9" fmla="*/ 195 h 284"/>
                <a:gd name="T10" fmla="*/ 83 w 312"/>
                <a:gd name="T11" fmla="*/ 281 h 284"/>
                <a:gd name="T12" fmla="*/ 156 w 312"/>
                <a:gd name="T13" fmla="*/ 249 h 284"/>
                <a:gd name="T14" fmla="*/ 241 w 312"/>
                <a:gd name="T15" fmla="*/ 195 h 284"/>
                <a:gd name="T16" fmla="*/ 164 w 312"/>
                <a:gd name="T17" fmla="*/ 45 h 284"/>
                <a:gd name="T18" fmla="*/ 229 w 312"/>
                <a:gd name="T19" fmla="*/ 89 h 284"/>
                <a:gd name="T20" fmla="*/ 192 w 312"/>
                <a:gd name="T21" fmla="*/ 84 h 284"/>
                <a:gd name="T22" fmla="*/ 95 w 312"/>
                <a:gd name="T23" fmla="*/ 157 h 284"/>
                <a:gd name="T24" fmla="*/ 113 w 312"/>
                <a:gd name="T25" fmla="*/ 190 h 284"/>
                <a:gd name="T26" fmla="*/ 85 w 312"/>
                <a:gd name="T27" fmla="*/ 186 h 284"/>
                <a:gd name="T28" fmla="*/ 86 w 312"/>
                <a:gd name="T29" fmla="*/ 100 h 284"/>
                <a:gd name="T30" fmla="*/ 101 w 312"/>
                <a:gd name="T31" fmla="*/ 115 h 284"/>
                <a:gd name="T32" fmla="*/ 86 w 312"/>
                <a:gd name="T33" fmla="*/ 101 h 284"/>
                <a:gd name="T34" fmla="*/ 101 w 312"/>
                <a:gd name="T35" fmla="*/ 142 h 284"/>
                <a:gd name="T36" fmla="*/ 126 w 312"/>
                <a:gd name="T37" fmla="*/ 95 h 284"/>
                <a:gd name="T38" fmla="*/ 200 w 312"/>
                <a:gd name="T39" fmla="*/ 120 h 284"/>
                <a:gd name="T40" fmla="*/ 199 w 312"/>
                <a:gd name="T41" fmla="*/ 166 h 284"/>
                <a:gd name="T42" fmla="*/ 156 w 312"/>
                <a:gd name="T43" fmla="*/ 193 h 284"/>
                <a:gd name="T44" fmla="*/ 112 w 312"/>
                <a:gd name="T45" fmla="*/ 166 h 284"/>
                <a:gd name="T46" fmla="*/ 217 w 312"/>
                <a:gd name="T47" fmla="*/ 157 h 284"/>
                <a:gd name="T48" fmla="*/ 227 w 312"/>
                <a:gd name="T49" fmla="*/ 186 h 284"/>
                <a:gd name="T50" fmla="*/ 217 w 312"/>
                <a:gd name="T51" fmla="*/ 128 h 284"/>
                <a:gd name="T52" fmla="*/ 200 w 312"/>
                <a:gd name="T53" fmla="*/ 96 h 284"/>
                <a:gd name="T54" fmla="*/ 226 w 312"/>
                <a:gd name="T55" fmla="*/ 101 h 284"/>
                <a:gd name="T56" fmla="*/ 156 w 312"/>
                <a:gd name="T57" fmla="*/ 54 h 284"/>
                <a:gd name="T58" fmla="*/ 156 w 312"/>
                <a:gd name="T59" fmla="*/ 82 h 284"/>
                <a:gd name="T60" fmla="*/ 156 w 312"/>
                <a:gd name="T61" fmla="*/ 54 h 284"/>
                <a:gd name="T62" fmla="*/ 148 w 312"/>
                <a:gd name="T63" fmla="*/ 45 h 284"/>
                <a:gd name="T64" fmla="*/ 119 w 312"/>
                <a:gd name="T65" fmla="*/ 84 h 284"/>
                <a:gd name="T66" fmla="*/ 83 w 312"/>
                <a:gd name="T67" fmla="*/ 89 h 284"/>
                <a:gd name="T68" fmla="*/ 28 w 312"/>
                <a:gd name="T69" fmla="*/ 165 h 284"/>
                <a:gd name="T70" fmla="*/ 74 w 312"/>
                <a:gd name="T71" fmla="*/ 103 h 284"/>
                <a:gd name="T72" fmla="*/ 88 w 312"/>
                <a:gd name="T73" fmla="*/ 142 h 284"/>
                <a:gd name="T74" fmla="*/ 89 w 312"/>
                <a:gd name="T75" fmla="*/ 271 h 284"/>
                <a:gd name="T76" fmla="*/ 82 w 312"/>
                <a:gd name="T77" fmla="*/ 197 h 284"/>
                <a:gd name="T78" fmla="*/ 148 w 312"/>
                <a:gd name="T79" fmla="*/ 240 h 284"/>
                <a:gd name="T80" fmla="*/ 156 w 312"/>
                <a:gd name="T81" fmla="*/ 231 h 284"/>
                <a:gd name="T82" fmla="*/ 156 w 312"/>
                <a:gd name="T83" fmla="*/ 204 h 284"/>
                <a:gd name="T84" fmla="*/ 156 w 312"/>
                <a:gd name="T85" fmla="*/ 231 h 284"/>
                <a:gd name="T86" fmla="*/ 164 w 312"/>
                <a:gd name="T87" fmla="*/ 240 h 284"/>
                <a:gd name="T88" fmla="*/ 191 w 312"/>
                <a:gd name="T89" fmla="*/ 203 h 284"/>
                <a:gd name="T90" fmla="*/ 230 w 312"/>
                <a:gd name="T91" fmla="*/ 197 h 284"/>
                <a:gd name="T92" fmla="*/ 238 w 312"/>
                <a:gd name="T93" fmla="*/ 183 h 284"/>
                <a:gd name="T94" fmla="*/ 237 w 312"/>
                <a:gd name="T95" fmla="*/ 103 h 284"/>
                <a:gd name="T96" fmla="*/ 300 w 312"/>
                <a:gd name="T97" fmla="*/ 143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284">
                  <a:moveTo>
                    <a:pt x="293" y="173"/>
                  </a:moveTo>
                  <a:cubicBezTo>
                    <a:pt x="305" y="164"/>
                    <a:pt x="312" y="154"/>
                    <a:pt x="312" y="143"/>
                  </a:cubicBezTo>
                  <a:cubicBezTo>
                    <a:pt x="312" y="122"/>
                    <a:pt x="285" y="103"/>
                    <a:pt x="240" y="92"/>
                  </a:cubicBezTo>
                  <a:cubicBezTo>
                    <a:pt x="240" y="92"/>
                    <a:pt x="240" y="92"/>
                    <a:pt x="240" y="92"/>
                  </a:cubicBezTo>
                  <a:cubicBezTo>
                    <a:pt x="240" y="92"/>
                    <a:pt x="240" y="92"/>
                    <a:pt x="240" y="92"/>
                  </a:cubicBezTo>
                  <a:cubicBezTo>
                    <a:pt x="245" y="70"/>
                    <a:pt x="247" y="51"/>
                    <a:pt x="245" y="36"/>
                  </a:cubicBezTo>
                  <a:cubicBezTo>
                    <a:pt x="243" y="20"/>
                    <a:pt x="237" y="10"/>
                    <a:pt x="228" y="5"/>
                  </a:cubicBezTo>
                  <a:cubicBezTo>
                    <a:pt x="219" y="0"/>
                    <a:pt x="208" y="1"/>
                    <a:pt x="195" y="7"/>
                  </a:cubicBezTo>
                  <a:cubicBezTo>
                    <a:pt x="183" y="12"/>
                    <a:pt x="169" y="23"/>
                    <a:pt x="156" y="37"/>
                  </a:cubicBezTo>
                  <a:cubicBezTo>
                    <a:pt x="156" y="37"/>
                    <a:pt x="156" y="37"/>
                    <a:pt x="156" y="37"/>
                  </a:cubicBezTo>
                  <a:cubicBezTo>
                    <a:pt x="156" y="37"/>
                    <a:pt x="156" y="37"/>
                    <a:pt x="156" y="37"/>
                  </a:cubicBezTo>
                  <a:cubicBezTo>
                    <a:pt x="142" y="23"/>
                    <a:pt x="129" y="12"/>
                    <a:pt x="116" y="7"/>
                  </a:cubicBezTo>
                  <a:cubicBezTo>
                    <a:pt x="104" y="1"/>
                    <a:pt x="93" y="0"/>
                    <a:pt x="84" y="5"/>
                  </a:cubicBezTo>
                  <a:cubicBezTo>
                    <a:pt x="75" y="10"/>
                    <a:pt x="69" y="20"/>
                    <a:pt x="67" y="36"/>
                  </a:cubicBezTo>
                  <a:cubicBezTo>
                    <a:pt x="65" y="51"/>
                    <a:pt x="66" y="70"/>
                    <a:pt x="71" y="92"/>
                  </a:cubicBezTo>
                  <a:cubicBezTo>
                    <a:pt x="71" y="92"/>
                    <a:pt x="71" y="92"/>
                    <a:pt x="71" y="92"/>
                  </a:cubicBezTo>
                  <a:cubicBezTo>
                    <a:pt x="71" y="92"/>
                    <a:pt x="71" y="92"/>
                    <a:pt x="71" y="92"/>
                  </a:cubicBezTo>
                  <a:cubicBezTo>
                    <a:pt x="27" y="103"/>
                    <a:pt x="0" y="122"/>
                    <a:pt x="0" y="143"/>
                  </a:cubicBezTo>
                  <a:cubicBezTo>
                    <a:pt x="0" y="154"/>
                    <a:pt x="7" y="164"/>
                    <a:pt x="19" y="173"/>
                  </a:cubicBezTo>
                  <a:cubicBezTo>
                    <a:pt x="31" y="182"/>
                    <a:pt x="49" y="189"/>
                    <a:pt x="71" y="195"/>
                  </a:cubicBezTo>
                  <a:cubicBezTo>
                    <a:pt x="71" y="195"/>
                    <a:pt x="71" y="195"/>
                    <a:pt x="71" y="195"/>
                  </a:cubicBezTo>
                  <a:cubicBezTo>
                    <a:pt x="71" y="195"/>
                    <a:pt x="71" y="195"/>
                    <a:pt x="71" y="195"/>
                  </a:cubicBezTo>
                  <a:cubicBezTo>
                    <a:pt x="65" y="216"/>
                    <a:pt x="64" y="235"/>
                    <a:pt x="66" y="250"/>
                  </a:cubicBezTo>
                  <a:cubicBezTo>
                    <a:pt x="68" y="266"/>
                    <a:pt x="74" y="276"/>
                    <a:pt x="83" y="281"/>
                  </a:cubicBezTo>
                  <a:cubicBezTo>
                    <a:pt x="87" y="283"/>
                    <a:pt x="91" y="284"/>
                    <a:pt x="96" y="284"/>
                  </a:cubicBezTo>
                  <a:cubicBezTo>
                    <a:pt x="113" y="284"/>
                    <a:pt x="134" y="272"/>
                    <a:pt x="156" y="249"/>
                  </a:cubicBezTo>
                  <a:cubicBezTo>
                    <a:pt x="156" y="249"/>
                    <a:pt x="156" y="249"/>
                    <a:pt x="156" y="249"/>
                  </a:cubicBezTo>
                  <a:cubicBezTo>
                    <a:pt x="156" y="249"/>
                    <a:pt x="156" y="249"/>
                    <a:pt x="156" y="249"/>
                  </a:cubicBezTo>
                  <a:cubicBezTo>
                    <a:pt x="178" y="272"/>
                    <a:pt x="199" y="284"/>
                    <a:pt x="216" y="284"/>
                  </a:cubicBezTo>
                  <a:cubicBezTo>
                    <a:pt x="220" y="284"/>
                    <a:pt x="225" y="283"/>
                    <a:pt x="228" y="281"/>
                  </a:cubicBezTo>
                  <a:cubicBezTo>
                    <a:pt x="238" y="276"/>
                    <a:pt x="244" y="266"/>
                    <a:pt x="246" y="250"/>
                  </a:cubicBezTo>
                  <a:cubicBezTo>
                    <a:pt x="248" y="235"/>
                    <a:pt x="246" y="216"/>
                    <a:pt x="241" y="195"/>
                  </a:cubicBezTo>
                  <a:cubicBezTo>
                    <a:pt x="241" y="195"/>
                    <a:pt x="241" y="195"/>
                    <a:pt x="241" y="195"/>
                  </a:cubicBezTo>
                  <a:cubicBezTo>
                    <a:pt x="241" y="195"/>
                    <a:pt x="241" y="195"/>
                    <a:pt x="241" y="195"/>
                  </a:cubicBezTo>
                  <a:cubicBezTo>
                    <a:pt x="263" y="189"/>
                    <a:pt x="280" y="182"/>
                    <a:pt x="293" y="173"/>
                  </a:cubicBezTo>
                  <a:close/>
                  <a:moveTo>
                    <a:pt x="164" y="45"/>
                  </a:moveTo>
                  <a:cubicBezTo>
                    <a:pt x="183" y="25"/>
                    <a:pt x="202" y="13"/>
                    <a:pt x="215" y="13"/>
                  </a:cubicBezTo>
                  <a:cubicBezTo>
                    <a:pt x="217" y="13"/>
                    <a:pt x="220" y="14"/>
                    <a:pt x="222" y="15"/>
                  </a:cubicBezTo>
                  <a:cubicBezTo>
                    <a:pt x="229" y="18"/>
                    <a:pt x="233" y="27"/>
                    <a:pt x="234" y="40"/>
                  </a:cubicBezTo>
                  <a:cubicBezTo>
                    <a:pt x="235" y="53"/>
                    <a:pt x="233" y="70"/>
                    <a:pt x="229" y="89"/>
                  </a:cubicBezTo>
                  <a:cubicBezTo>
                    <a:pt x="229" y="89"/>
                    <a:pt x="229" y="89"/>
                    <a:pt x="229" y="89"/>
                  </a:cubicBezTo>
                  <a:cubicBezTo>
                    <a:pt x="229" y="89"/>
                    <a:pt x="229" y="89"/>
                    <a:pt x="229" y="89"/>
                  </a:cubicBezTo>
                  <a:cubicBezTo>
                    <a:pt x="217" y="87"/>
                    <a:pt x="205" y="85"/>
                    <a:pt x="192" y="84"/>
                  </a:cubicBezTo>
                  <a:cubicBezTo>
                    <a:pt x="192" y="84"/>
                    <a:pt x="192" y="84"/>
                    <a:pt x="192" y="84"/>
                  </a:cubicBezTo>
                  <a:cubicBezTo>
                    <a:pt x="192" y="84"/>
                    <a:pt x="192" y="84"/>
                    <a:pt x="192" y="84"/>
                  </a:cubicBezTo>
                  <a:cubicBezTo>
                    <a:pt x="183" y="70"/>
                    <a:pt x="174" y="57"/>
                    <a:pt x="164" y="45"/>
                  </a:cubicBezTo>
                  <a:cubicBezTo>
                    <a:pt x="164" y="45"/>
                    <a:pt x="164" y="45"/>
                    <a:pt x="164" y="45"/>
                  </a:cubicBezTo>
                  <a:close/>
                  <a:moveTo>
                    <a:pt x="95" y="157"/>
                  </a:moveTo>
                  <a:cubicBezTo>
                    <a:pt x="95" y="157"/>
                    <a:pt x="95" y="157"/>
                    <a:pt x="95" y="157"/>
                  </a:cubicBezTo>
                  <a:cubicBezTo>
                    <a:pt x="97" y="162"/>
                    <a:pt x="100" y="166"/>
                    <a:pt x="102" y="171"/>
                  </a:cubicBezTo>
                  <a:cubicBezTo>
                    <a:pt x="106" y="178"/>
                    <a:pt x="109" y="184"/>
                    <a:pt x="113" y="190"/>
                  </a:cubicBezTo>
                  <a:cubicBezTo>
                    <a:pt x="113" y="190"/>
                    <a:pt x="113" y="190"/>
                    <a:pt x="113" y="190"/>
                  </a:cubicBezTo>
                  <a:cubicBezTo>
                    <a:pt x="113" y="190"/>
                    <a:pt x="113" y="190"/>
                    <a:pt x="113" y="190"/>
                  </a:cubicBezTo>
                  <a:cubicBezTo>
                    <a:pt x="103" y="189"/>
                    <a:pt x="94" y="188"/>
                    <a:pt x="85" y="186"/>
                  </a:cubicBezTo>
                  <a:cubicBezTo>
                    <a:pt x="85" y="186"/>
                    <a:pt x="85" y="186"/>
                    <a:pt x="85" y="186"/>
                  </a:cubicBezTo>
                  <a:cubicBezTo>
                    <a:pt x="85" y="186"/>
                    <a:pt x="85" y="186"/>
                    <a:pt x="85" y="186"/>
                  </a:cubicBezTo>
                  <a:cubicBezTo>
                    <a:pt x="88" y="177"/>
                    <a:pt x="91" y="167"/>
                    <a:pt x="95" y="157"/>
                  </a:cubicBezTo>
                  <a:close/>
                  <a:moveTo>
                    <a:pt x="86" y="101"/>
                  </a:moveTo>
                  <a:cubicBezTo>
                    <a:pt x="86" y="100"/>
                    <a:pt x="86" y="100"/>
                    <a:pt x="86" y="100"/>
                  </a:cubicBezTo>
                  <a:cubicBezTo>
                    <a:pt x="86" y="100"/>
                    <a:pt x="86" y="100"/>
                    <a:pt x="86" y="100"/>
                  </a:cubicBezTo>
                  <a:cubicBezTo>
                    <a:pt x="94" y="99"/>
                    <a:pt x="103" y="97"/>
                    <a:pt x="112" y="96"/>
                  </a:cubicBezTo>
                  <a:cubicBezTo>
                    <a:pt x="112" y="96"/>
                    <a:pt x="112" y="96"/>
                    <a:pt x="112" y="96"/>
                  </a:cubicBezTo>
                  <a:cubicBezTo>
                    <a:pt x="112" y="97"/>
                    <a:pt x="112" y="97"/>
                    <a:pt x="112" y="97"/>
                  </a:cubicBezTo>
                  <a:cubicBezTo>
                    <a:pt x="108" y="103"/>
                    <a:pt x="105" y="109"/>
                    <a:pt x="101" y="115"/>
                  </a:cubicBezTo>
                  <a:cubicBezTo>
                    <a:pt x="99" y="119"/>
                    <a:pt x="97" y="123"/>
                    <a:pt x="95" y="127"/>
                  </a:cubicBezTo>
                  <a:cubicBezTo>
                    <a:pt x="95" y="128"/>
                    <a:pt x="95" y="128"/>
                    <a:pt x="95" y="128"/>
                  </a:cubicBezTo>
                  <a:cubicBezTo>
                    <a:pt x="95" y="127"/>
                    <a:pt x="95" y="127"/>
                    <a:pt x="95" y="127"/>
                  </a:cubicBezTo>
                  <a:cubicBezTo>
                    <a:pt x="91" y="118"/>
                    <a:pt x="88" y="109"/>
                    <a:pt x="86" y="101"/>
                  </a:cubicBezTo>
                  <a:close/>
                  <a:moveTo>
                    <a:pt x="112" y="166"/>
                  </a:moveTo>
                  <a:cubicBezTo>
                    <a:pt x="108" y="158"/>
                    <a:pt x="105" y="150"/>
                    <a:pt x="101" y="142"/>
                  </a:cubicBezTo>
                  <a:cubicBezTo>
                    <a:pt x="101" y="142"/>
                    <a:pt x="101" y="142"/>
                    <a:pt x="101" y="142"/>
                  </a:cubicBezTo>
                  <a:cubicBezTo>
                    <a:pt x="101" y="142"/>
                    <a:pt x="101" y="142"/>
                    <a:pt x="101" y="142"/>
                  </a:cubicBezTo>
                  <a:cubicBezTo>
                    <a:pt x="104" y="135"/>
                    <a:pt x="108" y="127"/>
                    <a:pt x="112" y="120"/>
                  </a:cubicBezTo>
                  <a:cubicBezTo>
                    <a:pt x="116" y="112"/>
                    <a:pt x="121" y="103"/>
                    <a:pt x="126" y="95"/>
                  </a:cubicBezTo>
                  <a:cubicBezTo>
                    <a:pt x="126" y="95"/>
                    <a:pt x="126" y="95"/>
                    <a:pt x="126" y="95"/>
                  </a:cubicBezTo>
                  <a:cubicBezTo>
                    <a:pt x="126" y="95"/>
                    <a:pt x="126" y="95"/>
                    <a:pt x="126" y="95"/>
                  </a:cubicBezTo>
                  <a:cubicBezTo>
                    <a:pt x="146" y="94"/>
                    <a:pt x="166" y="94"/>
                    <a:pt x="186" y="95"/>
                  </a:cubicBezTo>
                  <a:cubicBezTo>
                    <a:pt x="186" y="95"/>
                    <a:pt x="186" y="95"/>
                    <a:pt x="186" y="95"/>
                  </a:cubicBezTo>
                  <a:cubicBezTo>
                    <a:pt x="186" y="95"/>
                    <a:pt x="186" y="95"/>
                    <a:pt x="186" y="95"/>
                  </a:cubicBezTo>
                  <a:cubicBezTo>
                    <a:pt x="191" y="103"/>
                    <a:pt x="196" y="112"/>
                    <a:pt x="200" y="120"/>
                  </a:cubicBezTo>
                  <a:cubicBezTo>
                    <a:pt x="204" y="127"/>
                    <a:pt x="207" y="135"/>
                    <a:pt x="211" y="142"/>
                  </a:cubicBezTo>
                  <a:cubicBezTo>
                    <a:pt x="211" y="142"/>
                    <a:pt x="211" y="142"/>
                    <a:pt x="211" y="142"/>
                  </a:cubicBezTo>
                  <a:cubicBezTo>
                    <a:pt x="211" y="142"/>
                    <a:pt x="211" y="142"/>
                    <a:pt x="211" y="142"/>
                  </a:cubicBezTo>
                  <a:cubicBezTo>
                    <a:pt x="207" y="150"/>
                    <a:pt x="203" y="158"/>
                    <a:pt x="199" y="166"/>
                  </a:cubicBezTo>
                  <a:cubicBezTo>
                    <a:pt x="195" y="175"/>
                    <a:pt x="190" y="183"/>
                    <a:pt x="185" y="192"/>
                  </a:cubicBezTo>
                  <a:cubicBezTo>
                    <a:pt x="185" y="192"/>
                    <a:pt x="185" y="192"/>
                    <a:pt x="185" y="192"/>
                  </a:cubicBezTo>
                  <a:cubicBezTo>
                    <a:pt x="185" y="192"/>
                    <a:pt x="185" y="192"/>
                    <a:pt x="185" y="192"/>
                  </a:cubicBezTo>
                  <a:cubicBezTo>
                    <a:pt x="175" y="192"/>
                    <a:pt x="165" y="193"/>
                    <a:pt x="156" y="193"/>
                  </a:cubicBezTo>
                  <a:cubicBezTo>
                    <a:pt x="146" y="193"/>
                    <a:pt x="137" y="192"/>
                    <a:pt x="127" y="192"/>
                  </a:cubicBezTo>
                  <a:cubicBezTo>
                    <a:pt x="127" y="192"/>
                    <a:pt x="127" y="192"/>
                    <a:pt x="127" y="192"/>
                  </a:cubicBezTo>
                  <a:cubicBezTo>
                    <a:pt x="127" y="192"/>
                    <a:pt x="127" y="192"/>
                    <a:pt x="127" y="192"/>
                  </a:cubicBezTo>
                  <a:cubicBezTo>
                    <a:pt x="122" y="183"/>
                    <a:pt x="117" y="175"/>
                    <a:pt x="112" y="166"/>
                  </a:cubicBezTo>
                  <a:close/>
                  <a:moveTo>
                    <a:pt x="199" y="190"/>
                  </a:moveTo>
                  <a:cubicBezTo>
                    <a:pt x="203" y="184"/>
                    <a:pt x="206" y="178"/>
                    <a:pt x="209" y="171"/>
                  </a:cubicBezTo>
                  <a:cubicBezTo>
                    <a:pt x="212" y="166"/>
                    <a:pt x="214" y="162"/>
                    <a:pt x="217" y="157"/>
                  </a:cubicBezTo>
                  <a:cubicBezTo>
                    <a:pt x="217" y="157"/>
                    <a:pt x="217" y="157"/>
                    <a:pt x="217" y="157"/>
                  </a:cubicBezTo>
                  <a:cubicBezTo>
                    <a:pt x="217" y="157"/>
                    <a:pt x="217" y="157"/>
                    <a:pt x="217" y="157"/>
                  </a:cubicBezTo>
                  <a:cubicBezTo>
                    <a:pt x="221" y="167"/>
                    <a:pt x="224" y="177"/>
                    <a:pt x="227" y="186"/>
                  </a:cubicBezTo>
                  <a:cubicBezTo>
                    <a:pt x="227" y="186"/>
                    <a:pt x="227" y="186"/>
                    <a:pt x="227" y="186"/>
                  </a:cubicBezTo>
                  <a:cubicBezTo>
                    <a:pt x="227" y="186"/>
                    <a:pt x="227" y="186"/>
                    <a:pt x="227" y="186"/>
                  </a:cubicBezTo>
                  <a:cubicBezTo>
                    <a:pt x="218" y="188"/>
                    <a:pt x="209" y="189"/>
                    <a:pt x="199" y="190"/>
                  </a:cubicBezTo>
                  <a:cubicBezTo>
                    <a:pt x="199" y="190"/>
                    <a:pt x="199" y="190"/>
                    <a:pt x="199" y="190"/>
                  </a:cubicBezTo>
                  <a:close/>
                  <a:moveTo>
                    <a:pt x="217" y="127"/>
                  </a:moveTo>
                  <a:cubicBezTo>
                    <a:pt x="217" y="128"/>
                    <a:pt x="217" y="128"/>
                    <a:pt x="217" y="128"/>
                  </a:cubicBezTo>
                  <a:cubicBezTo>
                    <a:pt x="217" y="127"/>
                    <a:pt x="217" y="127"/>
                    <a:pt x="217" y="127"/>
                  </a:cubicBezTo>
                  <a:cubicBezTo>
                    <a:pt x="214" y="123"/>
                    <a:pt x="212" y="119"/>
                    <a:pt x="210" y="115"/>
                  </a:cubicBezTo>
                  <a:cubicBezTo>
                    <a:pt x="207" y="109"/>
                    <a:pt x="204" y="103"/>
                    <a:pt x="200" y="97"/>
                  </a:cubicBezTo>
                  <a:cubicBezTo>
                    <a:pt x="200" y="96"/>
                    <a:pt x="200" y="96"/>
                    <a:pt x="200" y="96"/>
                  </a:cubicBezTo>
                  <a:cubicBezTo>
                    <a:pt x="200" y="96"/>
                    <a:pt x="200" y="96"/>
                    <a:pt x="200" y="96"/>
                  </a:cubicBezTo>
                  <a:cubicBezTo>
                    <a:pt x="209" y="97"/>
                    <a:pt x="218" y="99"/>
                    <a:pt x="226" y="100"/>
                  </a:cubicBezTo>
                  <a:cubicBezTo>
                    <a:pt x="226" y="100"/>
                    <a:pt x="226" y="100"/>
                    <a:pt x="226" y="100"/>
                  </a:cubicBezTo>
                  <a:cubicBezTo>
                    <a:pt x="226" y="101"/>
                    <a:pt x="226" y="101"/>
                    <a:pt x="226" y="101"/>
                  </a:cubicBezTo>
                  <a:cubicBezTo>
                    <a:pt x="223" y="109"/>
                    <a:pt x="220" y="118"/>
                    <a:pt x="217" y="127"/>
                  </a:cubicBezTo>
                  <a:close/>
                  <a:moveTo>
                    <a:pt x="156" y="54"/>
                  </a:moveTo>
                  <a:cubicBezTo>
                    <a:pt x="156" y="54"/>
                    <a:pt x="156" y="54"/>
                    <a:pt x="156" y="54"/>
                  </a:cubicBezTo>
                  <a:cubicBezTo>
                    <a:pt x="156" y="54"/>
                    <a:pt x="156" y="54"/>
                    <a:pt x="156" y="54"/>
                  </a:cubicBezTo>
                  <a:cubicBezTo>
                    <a:pt x="163" y="63"/>
                    <a:pt x="171" y="72"/>
                    <a:pt x="178" y="83"/>
                  </a:cubicBezTo>
                  <a:cubicBezTo>
                    <a:pt x="178" y="83"/>
                    <a:pt x="178" y="83"/>
                    <a:pt x="178" y="83"/>
                  </a:cubicBezTo>
                  <a:cubicBezTo>
                    <a:pt x="178" y="83"/>
                    <a:pt x="178" y="83"/>
                    <a:pt x="178" y="83"/>
                  </a:cubicBezTo>
                  <a:cubicBezTo>
                    <a:pt x="170" y="83"/>
                    <a:pt x="163" y="82"/>
                    <a:pt x="156" y="82"/>
                  </a:cubicBezTo>
                  <a:cubicBezTo>
                    <a:pt x="149" y="82"/>
                    <a:pt x="141" y="83"/>
                    <a:pt x="134" y="83"/>
                  </a:cubicBezTo>
                  <a:cubicBezTo>
                    <a:pt x="134" y="83"/>
                    <a:pt x="134" y="83"/>
                    <a:pt x="134" y="83"/>
                  </a:cubicBezTo>
                  <a:cubicBezTo>
                    <a:pt x="134" y="83"/>
                    <a:pt x="134" y="83"/>
                    <a:pt x="134" y="83"/>
                  </a:cubicBezTo>
                  <a:cubicBezTo>
                    <a:pt x="141" y="72"/>
                    <a:pt x="148" y="63"/>
                    <a:pt x="156" y="54"/>
                  </a:cubicBezTo>
                  <a:close/>
                  <a:moveTo>
                    <a:pt x="78" y="40"/>
                  </a:moveTo>
                  <a:cubicBezTo>
                    <a:pt x="79" y="27"/>
                    <a:pt x="83" y="18"/>
                    <a:pt x="89" y="15"/>
                  </a:cubicBezTo>
                  <a:cubicBezTo>
                    <a:pt x="92" y="14"/>
                    <a:pt x="94" y="13"/>
                    <a:pt x="97" y="13"/>
                  </a:cubicBezTo>
                  <a:cubicBezTo>
                    <a:pt x="110" y="13"/>
                    <a:pt x="129" y="25"/>
                    <a:pt x="148" y="45"/>
                  </a:cubicBezTo>
                  <a:cubicBezTo>
                    <a:pt x="148" y="45"/>
                    <a:pt x="148" y="45"/>
                    <a:pt x="148" y="45"/>
                  </a:cubicBezTo>
                  <a:cubicBezTo>
                    <a:pt x="148" y="45"/>
                    <a:pt x="148" y="45"/>
                    <a:pt x="148" y="45"/>
                  </a:cubicBezTo>
                  <a:cubicBezTo>
                    <a:pt x="138" y="57"/>
                    <a:pt x="128" y="70"/>
                    <a:pt x="119" y="84"/>
                  </a:cubicBezTo>
                  <a:cubicBezTo>
                    <a:pt x="119" y="84"/>
                    <a:pt x="119" y="84"/>
                    <a:pt x="119" y="84"/>
                  </a:cubicBezTo>
                  <a:cubicBezTo>
                    <a:pt x="119" y="84"/>
                    <a:pt x="119" y="84"/>
                    <a:pt x="119" y="84"/>
                  </a:cubicBezTo>
                  <a:cubicBezTo>
                    <a:pt x="107" y="85"/>
                    <a:pt x="94" y="87"/>
                    <a:pt x="83" y="89"/>
                  </a:cubicBezTo>
                  <a:cubicBezTo>
                    <a:pt x="83" y="89"/>
                    <a:pt x="83" y="89"/>
                    <a:pt x="83" y="89"/>
                  </a:cubicBezTo>
                  <a:cubicBezTo>
                    <a:pt x="83" y="89"/>
                    <a:pt x="83" y="89"/>
                    <a:pt x="83" y="89"/>
                  </a:cubicBezTo>
                  <a:cubicBezTo>
                    <a:pt x="78" y="70"/>
                    <a:pt x="76" y="53"/>
                    <a:pt x="78" y="40"/>
                  </a:cubicBezTo>
                  <a:close/>
                  <a:moveTo>
                    <a:pt x="74" y="183"/>
                  </a:moveTo>
                  <a:cubicBezTo>
                    <a:pt x="74" y="183"/>
                    <a:pt x="74" y="183"/>
                    <a:pt x="74" y="183"/>
                  </a:cubicBezTo>
                  <a:cubicBezTo>
                    <a:pt x="55" y="179"/>
                    <a:pt x="39" y="172"/>
                    <a:pt x="28" y="165"/>
                  </a:cubicBezTo>
                  <a:cubicBezTo>
                    <a:pt x="17" y="158"/>
                    <a:pt x="11" y="151"/>
                    <a:pt x="11" y="143"/>
                  </a:cubicBezTo>
                  <a:cubicBezTo>
                    <a:pt x="11" y="136"/>
                    <a:pt x="17" y="128"/>
                    <a:pt x="28" y="121"/>
                  </a:cubicBezTo>
                  <a:cubicBezTo>
                    <a:pt x="39" y="114"/>
                    <a:pt x="55" y="108"/>
                    <a:pt x="74" y="103"/>
                  </a:cubicBezTo>
                  <a:cubicBezTo>
                    <a:pt x="74" y="103"/>
                    <a:pt x="74" y="103"/>
                    <a:pt x="74" y="103"/>
                  </a:cubicBezTo>
                  <a:cubicBezTo>
                    <a:pt x="74" y="103"/>
                    <a:pt x="74" y="103"/>
                    <a:pt x="74" y="103"/>
                  </a:cubicBezTo>
                  <a:cubicBezTo>
                    <a:pt x="78" y="116"/>
                    <a:pt x="83" y="129"/>
                    <a:pt x="88" y="142"/>
                  </a:cubicBezTo>
                  <a:cubicBezTo>
                    <a:pt x="88" y="142"/>
                    <a:pt x="88" y="142"/>
                    <a:pt x="88" y="142"/>
                  </a:cubicBezTo>
                  <a:cubicBezTo>
                    <a:pt x="88" y="142"/>
                    <a:pt x="88" y="142"/>
                    <a:pt x="88" y="142"/>
                  </a:cubicBezTo>
                  <a:cubicBezTo>
                    <a:pt x="82" y="156"/>
                    <a:pt x="77" y="170"/>
                    <a:pt x="74" y="183"/>
                  </a:cubicBezTo>
                  <a:close/>
                  <a:moveTo>
                    <a:pt x="148" y="240"/>
                  </a:moveTo>
                  <a:cubicBezTo>
                    <a:pt x="128" y="261"/>
                    <a:pt x="109" y="273"/>
                    <a:pt x="96" y="273"/>
                  </a:cubicBezTo>
                  <a:cubicBezTo>
                    <a:pt x="93" y="273"/>
                    <a:pt x="91" y="272"/>
                    <a:pt x="89" y="271"/>
                  </a:cubicBezTo>
                  <a:cubicBezTo>
                    <a:pt x="82" y="268"/>
                    <a:pt x="78" y="259"/>
                    <a:pt x="77" y="246"/>
                  </a:cubicBezTo>
                  <a:cubicBezTo>
                    <a:pt x="76" y="233"/>
                    <a:pt x="77" y="216"/>
                    <a:pt x="82" y="197"/>
                  </a:cubicBezTo>
                  <a:cubicBezTo>
                    <a:pt x="82" y="197"/>
                    <a:pt x="82" y="197"/>
                    <a:pt x="82" y="197"/>
                  </a:cubicBezTo>
                  <a:cubicBezTo>
                    <a:pt x="82" y="197"/>
                    <a:pt x="82" y="197"/>
                    <a:pt x="82" y="197"/>
                  </a:cubicBezTo>
                  <a:cubicBezTo>
                    <a:pt x="94" y="200"/>
                    <a:pt x="107" y="201"/>
                    <a:pt x="120" y="203"/>
                  </a:cubicBezTo>
                  <a:cubicBezTo>
                    <a:pt x="120" y="203"/>
                    <a:pt x="120" y="203"/>
                    <a:pt x="120" y="203"/>
                  </a:cubicBezTo>
                  <a:cubicBezTo>
                    <a:pt x="120" y="203"/>
                    <a:pt x="120" y="203"/>
                    <a:pt x="120" y="203"/>
                  </a:cubicBezTo>
                  <a:cubicBezTo>
                    <a:pt x="129" y="216"/>
                    <a:pt x="138" y="229"/>
                    <a:pt x="148" y="240"/>
                  </a:cubicBezTo>
                  <a:cubicBezTo>
                    <a:pt x="148" y="240"/>
                    <a:pt x="148" y="240"/>
                    <a:pt x="148" y="240"/>
                  </a:cubicBezTo>
                  <a:close/>
                  <a:moveTo>
                    <a:pt x="156" y="231"/>
                  </a:moveTo>
                  <a:cubicBezTo>
                    <a:pt x="156" y="231"/>
                    <a:pt x="156" y="231"/>
                    <a:pt x="156" y="231"/>
                  </a:cubicBezTo>
                  <a:cubicBezTo>
                    <a:pt x="156" y="231"/>
                    <a:pt x="156" y="231"/>
                    <a:pt x="156" y="231"/>
                  </a:cubicBezTo>
                  <a:cubicBezTo>
                    <a:pt x="149" y="223"/>
                    <a:pt x="142" y="214"/>
                    <a:pt x="135" y="204"/>
                  </a:cubicBezTo>
                  <a:cubicBezTo>
                    <a:pt x="135" y="204"/>
                    <a:pt x="135" y="204"/>
                    <a:pt x="135" y="204"/>
                  </a:cubicBezTo>
                  <a:cubicBezTo>
                    <a:pt x="135" y="204"/>
                    <a:pt x="135" y="204"/>
                    <a:pt x="135" y="204"/>
                  </a:cubicBezTo>
                  <a:cubicBezTo>
                    <a:pt x="142" y="204"/>
                    <a:pt x="149" y="204"/>
                    <a:pt x="156" y="204"/>
                  </a:cubicBezTo>
                  <a:cubicBezTo>
                    <a:pt x="163" y="204"/>
                    <a:pt x="170" y="204"/>
                    <a:pt x="177" y="204"/>
                  </a:cubicBezTo>
                  <a:cubicBezTo>
                    <a:pt x="177" y="204"/>
                    <a:pt x="177" y="204"/>
                    <a:pt x="177" y="204"/>
                  </a:cubicBezTo>
                  <a:cubicBezTo>
                    <a:pt x="177" y="204"/>
                    <a:pt x="177" y="204"/>
                    <a:pt x="177" y="204"/>
                  </a:cubicBezTo>
                  <a:cubicBezTo>
                    <a:pt x="170" y="214"/>
                    <a:pt x="163" y="223"/>
                    <a:pt x="156" y="231"/>
                  </a:cubicBezTo>
                  <a:close/>
                  <a:moveTo>
                    <a:pt x="235" y="246"/>
                  </a:moveTo>
                  <a:cubicBezTo>
                    <a:pt x="234" y="259"/>
                    <a:pt x="229" y="268"/>
                    <a:pt x="223" y="271"/>
                  </a:cubicBezTo>
                  <a:cubicBezTo>
                    <a:pt x="221" y="272"/>
                    <a:pt x="218" y="273"/>
                    <a:pt x="215" y="273"/>
                  </a:cubicBezTo>
                  <a:cubicBezTo>
                    <a:pt x="202" y="273"/>
                    <a:pt x="184" y="261"/>
                    <a:pt x="164" y="240"/>
                  </a:cubicBezTo>
                  <a:cubicBezTo>
                    <a:pt x="164" y="240"/>
                    <a:pt x="164" y="240"/>
                    <a:pt x="164" y="240"/>
                  </a:cubicBezTo>
                  <a:cubicBezTo>
                    <a:pt x="164" y="240"/>
                    <a:pt x="164" y="240"/>
                    <a:pt x="164" y="240"/>
                  </a:cubicBezTo>
                  <a:cubicBezTo>
                    <a:pt x="173" y="229"/>
                    <a:pt x="182" y="216"/>
                    <a:pt x="191" y="203"/>
                  </a:cubicBezTo>
                  <a:cubicBezTo>
                    <a:pt x="191" y="203"/>
                    <a:pt x="191" y="203"/>
                    <a:pt x="191" y="203"/>
                  </a:cubicBezTo>
                  <a:cubicBezTo>
                    <a:pt x="191" y="203"/>
                    <a:pt x="191" y="203"/>
                    <a:pt x="191" y="203"/>
                  </a:cubicBezTo>
                  <a:cubicBezTo>
                    <a:pt x="205" y="201"/>
                    <a:pt x="218" y="200"/>
                    <a:pt x="230" y="197"/>
                  </a:cubicBezTo>
                  <a:cubicBezTo>
                    <a:pt x="230" y="197"/>
                    <a:pt x="230" y="197"/>
                    <a:pt x="230" y="197"/>
                  </a:cubicBezTo>
                  <a:cubicBezTo>
                    <a:pt x="230" y="197"/>
                    <a:pt x="230" y="197"/>
                    <a:pt x="230" y="197"/>
                  </a:cubicBezTo>
                  <a:cubicBezTo>
                    <a:pt x="234" y="216"/>
                    <a:pt x="236" y="233"/>
                    <a:pt x="235" y="246"/>
                  </a:cubicBezTo>
                  <a:close/>
                  <a:moveTo>
                    <a:pt x="238" y="183"/>
                  </a:moveTo>
                  <a:cubicBezTo>
                    <a:pt x="238" y="183"/>
                    <a:pt x="238" y="183"/>
                    <a:pt x="238" y="183"/>
                  </a:cubicBezTo>
                  <a:cubicBezTo>
                    <a:pt x="238" y="183"/>
                    <a:pt x="238" y="183"/>
                    <a:pt x="238" y="183"/>
                  </a:cubicBezTo>
                  <a:cubicBezTo>
                    <a:pt x="234" y="170"/>
                    <a:pt x="229" y="156"/>
                    <a:pt x="223" y="142"/>
                  </a:cubicBezTo>
                  <a:cubicBezTo>
                    <a:pt x="223" y="142"/>
                    <a:pt x="223" y="142"/>
                    <a:pt x="223" y="142"/>
                  </a:cubicBezTo>
                  <a:cubicBezTo>
                    <a:pt x="223" y="142"/>
                    <a:pt x="223" y="142"/>
                    <a:pt x="223" y="142"/>
                  </a:cubicBezTo>
                  <a:cubicBezTo>
                    <a:pt x="229" y="129"/>
                    <a:pt x="234" y="116"/>
                    <a:pt x="237" y="103"/>
                  </a:cubicBezTo>
                  <a:cubicBezTo>
                    <a:pt x="237" y="103"/>
                    <a:pt x="237" y="103"/>
                    <a:pt x="237" y="103"/>
                  </a:cubicBezTo>
                  <a:cubicBezTo>
                    <a:pt x="237" y="103"/>
                    <a:pt x="237" y="103"/>
                    <a:pt x="237" y="103"/>
                  </a:cubicBezTo>
                  <a:cubicBezTo>
                    <a:pt x="256" y="108"/>
                    <a:pt x="272" y="114"/>
                    <a:pt x="283" y="121"/>
                  </a:cubicBezTo>
                  <a:cubicBezTo>
                    <a:pt x="294" y="128"/>
                    <a:pt x="300" y="136"/>
                    <a:pt x="300" y="143"/>
                  </a:cubicBezTo>
                  <a:cubicBezTo>
                    <a:pt x="300" y="151"/>
                    <a:pt x="294" y="158"/>
                    <a:pt x="284" y="165"/>
                  </a:cubicBezTo>
                  <a:cubicBezTo>
                    <a:pt x="273" y="172"/>
                    <a:pt x="257" y="179"/>
                    <a:pt x="238"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55" name="Freeform 16">
              <a:extLst>
                <a:ext uri="{FF2B5EF4-FFF2-40B4-BE49-F238E27FC236}">
                  <a16:creationId xmlns:a16="http://schemas.microsoft.com/office/drawing/2014/main" id="{958F2C4F-F97B-1B81-5643-2F0B9E2C7449}"/>
                </a:ext>
              </a:extLst>
            </p:cNvPr>
            <p:cNvSpPr>
              <a:spLocks noEditPoints="1"/>
            </p:cNvSpPr>
            <p:nvPr/>
          </p:nvSpPr>
          <p:spPr bwMode="auto">
            <a:xfrm>
              <a:off x="2588" y="604"/>
              <a:ext cx="80" cy="80"/>
            </a:xfrm>
            <a:custGeom>
              <a:avLst/>
              <a:gdLst>
                <a:gd name="T0" fmla="*/ 27 w 54"/>
                <a:gd name="T1" fmla="*/ 0 h 54"/>
                <a:gd name="T2" fmla="*/ 0 w 54"/>
                <a:gd name="T3" fmla="*/ 27 h 54"/>
                <a:gd name="T4" fmla="*/ 27 w 54"/>
                <a:gd name="T5" fmla="*/ 54 h 54"/>
                <a:gd name="T6" fmla="*/ 54 w 54"/>
                <a:gd name="T7" fmla="*/ 27 h 54"/>
                <a:gd name="T8" fmla="*/ 27 w 54"/>
                <a:gd name="T9" fmla="*/ 0 h 54"/>
                <a:gd name="T10" fmla="*/ 27 w 54"/>
                <a:gd name="T11" fmla="*/ 43 h 54"/>
                <a:gd name="T12" fmla="*/ 12 w 54"/>
                <a:gd name="T13" fmla="*/ 27 h 54"/>
                <a:gd name="T14" fmla="*/ 27 w 54"/>
                <a:gd name="T15" fmla="*/ 12 h 54"/>
                <a:gd name="T16" fmla="*/ 43 w 54"/>
                <a:gd name="T17" fmla="*/ 27 h 54"/>
                <a:gd name="T18" fmla="*/ 27 w 54"/>
                <a:gd name="T19" fmla="*/ 4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54">
                  <a:moveTo>
                    <a:pt x="27" y="0"/>
                  </a:moveTo>
                  <a:cubicBezTo>
                    <a:pt x="12" y="0"/>
                    <a:pt x="0" y="12"/>
                    <a:pt x="0" y="27"/>
                  </a:cubicBezTo>
                  <a:cubicBezTo>
                    <a:pt x="0" y="42"/>
                    <a:pt x="12" y="54"/>
                    <a:pt x="27" y="54"/>
                  </a:cubicBezTo>
                  <a:cubicBezTo>
                    <a:pt x="42" y="54"/>
                    <a:pt x="54" y="42"/>
                    <a:pt x="54" y="27"/>
                  </a:cubicBezTo>
                  <a:cubicBezTo>
                    <a:pt x="54" y="12"/>
                    <a:pt x="42" y="0"/>
                    <a:pt x="27" y="0"/>
                  </a:cubicBezTo>
                  <a:close/>
                  <a:moveTo>
                    <a:pt x="27" y="43"/>
                  </a:moveTo>
                  <a:cubicBezTo>
                    <a:pt x="19" y="43"/>
                    <a:pt x="12" y="36"/>
                    <a:pt x="12" y="27"/>
                  </a:cubicBezTo>
                  <a:cubicBezTo>
                    <a:pt x="12" y="19"/>
                    <a:pt x="19" y="12"/>
                    <a:pt x="27" y="12"/>
                  </a:cubicBezTo>
                  <a:cubicBezTo>
                    <a:pt x="36" y="12"/>
                    <a:pt x="43" y="19"/>
                    <a:pt x="43" y="27"/>
                  </a:cubicBezTo>
                  <a:cubicBezTo>
                    <a:pt x="43" y="36"/>
                    <a:pt x="36" y="43"/>
                    <a:pt x="2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sp>
        <p:nvSpPr>
          <p:cNvPr id="5" name="TextBox 25">
            <a:extLst>
              <a:ext uri="{FF2B5EF4-FFF2-40B4-BE49-F238E27FC236}">
                <a16:creationId xmlns:a16="http://schemas.microsoft.com/office/drawing/2014/main" id="{D403ABFF-7C0D-6D66-EA0C-B3FFE9AF0466}"/>
              </a:ext>
            </a:extLst>
          </p:cNvPr>
          <p:cNvSpPr txBox="1"/>
          <p:nvPr/>
        </p:nvSpPr>
        <p:spPr>
          <a:xfrm>
            <a:off x="526171" y="2321994"/>
            <a:ext cx="3450500" cy="553998"/>
          </a:xfrm>
          <a:prstGeom prst="rect">
            <a:avLst/>
          </a:prstGeom>
          <a:noFill/>
          <a:ln w="19050">
            <a:noFill/>
          </a:ln>
        </p:spPr>
        <p:txBody>
          <a:bodyPr wrap="square" lIns="0" tIns="0" rIns="0" bIns="0" rtlCol="0" anchor="t">
            <a:spAutoFit/>
          </a:bodyPr>
          <a:lstStyle/>
          <a:p>
            <a:pPr marR="0" lvl="0"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Involves an organization's approach to the market. including its plans and actions to create growth and profits. </a:t>
            </a:r>
          </a:p>
        </p:txBody>
      </p:sp>
      <p:sp>
        <p:nvSpPr>
          <p:cNvPr id="9" name="TextBox 25">
            <a:extLst>
              <a:ext uri="{FF2B5EF4-FFF2-40B4-BE49-F238E27FC236}">
                <a16:creationId xmlns:a16="http://schemas.microsoft.com/office/drawing/2014/main" id="{D36A528A-E886-C1D5-8980-195BBF70061E}"/>
              </a:ext>
            </a:extLst>
          </p:cNvPr>
          <p:cNvSpPr txBox="1"/>
          <p:nvPr/>
        </p:nvSpPr>
        <p:spPr>
          <a:xfrm>
            <a:off x="6938324" y="1665215"/>
            <a:ext cx="4933950" cy="369332"/>
          </a:xfrm>
          <a:prstGeom prst="rect">
            <a:avLst/>
          </a:prstGeom>
          <a:noFill/>
          <a:ln w="19050">
            <a:noFill/>
          </a:ln>
        </p:spPr>
        <p:txBody>
          <a:bodyPr wrap="square" lIns="0" tIns="0" rIns="0" bIns="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Pertains to how a company organizes and structures its resources, from capital, budgets, workforce, equipment. etc. </a:t>
            </a:r>
          </a:p>
        </p:txBody>
      </p:sp>
      <p:sp>
        <p:nvSpPr>
          <p:cNvPr id="14" name="TextBox 25">
            <a:extLst>
              <a:ext uri="{FF2B5EF4-FFF2-40B4-BE49-F238E27FC236}">
                <a16:creationId xmlns:a16="http://schemas.microsoft.com/office/drawing/2014/main" id="{C20B7EFA-5B43-5276-AAC6-156ABF6716C3}"/>
              </a:ext>
            </a:extLst>
          </p:cNvPr>
          <p:cNvSpPr txBox="1"/>
          <p:nvPr/>
        </p:nvSpPr>
        <p:spPr>
          <a:xfrm>
            <a:off x="8430685" y="2591497"/>
            <a:ext cx="3441589" cy="553998"/>
          </a:xfrm>
          <a:prstGeom prst="rect">
            <a:avLst/>
          </a:prstGeom>
          <a:noFill/>
          <a:ln w="19050">
            <a:noFill/>
          </a:ln>
        </p:spPr>
        <p:txBody>
          <a:bodyPr wrap="square" lIns="0" tIns="0" rIns="0" bIns="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The processes and workflows carried out as a part of work responsibilities and the tools used to accomplish the work. </a:t>
            </a:r>
          </a:p>
        </p:txBody>
      </p:sp>
      <p:sp>
        <p:nvSpPr>
          <p:cNvPr id="15" name="TextBox 25">
            <a:extLst>
              <a:ext uri="{FF2B5EF4-FFF2-40B4-BE49-F238E27FC236}">
                <a16:creationId xmlns:a16="http://schemas.microsoft.com/office/drawing/2014/main" id="{4071884A-BE31-B5CE-FCDB-60091ED71EE0}"/>
              </a:ext>
            </a:extLst>
          </p:cNvPr>
          <p:cNvSpPr txBox="1"/>
          <p:nvPr/>
        </p:nvSpPr>
        <p:spPr>
          <a:xfrm>
            <a:off x="7896967" y="3637777"/>
            <a:ext cx="4121496" cy="553998"/>
          </a:xfrm>
          <a:prstGeom prst="rect">
            <a:avLst/>
          </a:prstGeom>
          <a:noFill/>
          <a:ln w="19050">
            <a:noFill/>
          </a:ln>
        </p:spPr>
        <p:txBody>
          <a:bodyPr wrap="square" lIns="72000" tIns="0" rIns="0" bIns="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The organization's core values ties everything together, where all aspects of the organization operate under the same set of values. </a:t>
            </a:r>
          </a:p>
        </p:txBody>
      </p:sp>
      <p:sp>
        <p:nvSpPr>
          <p:cNvPr id="56" name="TextBox 25">
            <a:extLst>
              <a:ext uri="{FF2B5EF4-FFF2-40B4-BE49-F238E27FC236}">
                <a16:creationId xmlns:a16="http://schemas.microsoft.com/office/drawing/2014/main" id="{6833B4BE-87CA-3ED3-562C-058BFF403D09}"/>
              </a:ext>
            </a:extLst>
          </p:cNvPr>
          <p:cNvSpPr txBox="1"/>
          <p:nvPr/>
        </p:nvSpPr>
        <p:spPr>
          <a:xfrm>
            <a:off x="8363060" y="4780398"/>
            <a:ext cx="3441589" cy="553998"/>
          </a:xfrm>
          <a:prstGeom prst="rect">
            <a:avLst/>
          </a:prstGeom>
          <a:noFill/>
          <a:ln w="19050">
            <a:noFill/>
          </a:ln>
        </p:spPr>
        <p:txBody>
          <a:bodyPr wrap="square" lIns="0" tIns="0" rIns="0" bIns="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The informal rules of an organization, essentially the culture of a company and how it does things. </a:t>
            </a:r>
          </a:p>
        </p:txBody>
      </p:sp>
      <p:sp>
        <p:nvSpPr>
          <p:cNvPr id="57" name="TextBox 25">
            <a:extLst>
              <a:ext uri="{FF2B5EF4-FFF2-40B4-BE49-F238E27FC236}">
                <a16:creationId xmlns:a16="http://schemas.microsoft.com/office/drawing/2014/main" id="{E491C010-0647-B3D7-E772-405B71F808E0}"/>
              </a:ext>
            </a:extLst>
          </p:cNvPr>
          <p:cNvSpPr txBox="1"/>
          <p:nvPr/>
        </p:nvSpPr>
        <p:spPr>
          <a:xfrm>
            <a:off x="1802568" y="5679138"/>
            <a:ext cx="3812117" cy="369332"/>
          </a:xfrm>
          <a:prstGeom prst="rect">
            <a:avLst/>
          </a:prstGeom>
          <a:noFill/>
          <a:ln w="19050">
            <a:noFill/>
          </a:ln>
        </p:spPr>
        <p:txBody>
          <a:bodyPr wrap="square" lIns="0" tIns="0" rIns="0" bIns="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The employees of the company, and how each employee develops and grows in their roles. </a:t>
            </a:r>
          </a:p>
        </p:txBody>
      </p:sp>
      <p:sp>
        <p:nvSpPr>
          <p:cNvPr id="58" name="TextBox 25">
            <a:extLst>
              <a:ext uri="{FF2B5EF4-FFF2-40B4-BE49-F238E27FC236}">
                <a16:creationId xmlns:a16="http://schemas.microsoft.com/office/drawing/2014/main" id="{6153E5BB-63F1-9749-E5C0-150C127220AD}"/>
              </a:ext>
            </a:extLst>
          </p:cNvPr>
          <p:cNvSpPr txBox="1"/>
          <p:nvPr/>
        </p:nvSpPr>
        <p:spPr>
          <a:xfrm>
            <a:off x="265183" y="4223152"/>
            <a:ext cx="3678509" cy="738664"/>
          </a:xfrm>
          <a:prstGeom prst="rect">
            <a:avLst/>
          </a:prstGeom>
          <a:noFill/>
          <a:ln w="19050">
            <a:noFill/>
          </a:ln>
        </p:spPr>
        <p:txBody>
          <a:bodyPr wrap="square" lIns="0" tIns="0" rIns="0" bIns="0" rtlCol="0" anchor="t">
            <a:spAutoFit/>
          </a:bodyPr>
          <a:lstStyle/>
          <a:p>
            <a:pPr marR="0" lvl="0"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The skills of individual employees as well as the skills of the organization as a whole. The organization would have its core competency but can also outsource when needed. </a:t>
            </a:r>
          </a:p>
        </p:txBody>
      </p:sp>
      <p:cxnSp>
        <p:nvCxnSpPr>
          <p:cNvPr id="4" name="Conector recto 9">
            <a:extLst>
              <a:ext uri="{FF2B5EF4-FFF2-40B4-BE49-F238E27FC236}">
                <a16:creationId xmlns:a16="http://schemas.microsoft.com/office/drawing/2014/main" id="{7039F3F7-7F15-F27E-5EF5-315A9AA58F78}"/>
              </a:ext>
            </a:extLst>
          </p:cNvPr>
          <p:cNvCxnSpPr>
            <a:cxnSpLocks/>
          </p:cNvCxnSpPr>
          <p:nvPr/>
        </p:nvCxnSpPr>
        <p:spPr>
          <a:xfrm>
            <a:off x="6190094" y="3857654"/>
            <a:ext cx="1683826" cy="0"/>
          </a:xfrm>
          <a:prstGeom prst="line">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2" name="Marcador de pie de página 1">
            <a:extLst>
              <a:ext uri="{FF2B5EF4-FFF2-40B4-BE49-F238E27FC236}">
                <a16:creationId xmlns:a16="http://schemas.microsoft.com/office/drawing/2014/main" id="{FBC9FA58-2A4E-A35C-7B6E-A7F29DEC8828}"/>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40852024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 name="Objeto 72" hidden="1">
            <a:extLst>
              <a:ext uri="{FF2B5EF4-FFF2-40B4-BE49-F238E27FC236}">
                <a16:creationId xmlns:a16="http://schemas.microsoft.com/office/drawing/2014/main" id="{13A79729-64B1-08F7-DD9A-5E8EF05AA91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73" name="Objeto 72" hidden="1">
                        <a:extLst>
                          <a:ext uri="{FF2B5EF4-FFF2-40B4-BE49-F238E27FC236}">
                            <a16:creationId xmlns:a16="http://schemas.microsoft.com/office/drawing/2014/main" id="{13A79729-64B1-08F7-DD9A-5E8EF05AA91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59" name="Grupo 58">
            <a:extLst>
              <a:ext uri="{FF2B5EF4-FFF2-40B4-BE49-F238E27FC236}">
                <a16:creationId xmlns:a16="http://schemas.microsoft.com/office/drawing/2014/main" id="{F1700CDF-F2AA-960A-C4F2-B76DFB8DCE84}"/>
              </a:ext>
            </a:extLst>
          </p:cNvPr>
          <p:cNvGrpSpPr/>
          <p:nvPr/>
        </p:nvGrpSpPr>
        <p:grpSpPr>
          <a:xfrm>
            <a:off x="4549933" y="2000250"/>
            <a:ext cx="3082451" cy="3738454"/>
            <a:chOff x="4549933" y="2000250"/>
            <a:chExt cx="3082451" cy="3738454"/>
          </a:xfrm>
        </p:grpSpPr>
        <p:cxnSp>
          <p:nvCxnSpPr>
            <p:cNvPr id="60" name="Conector recto 59">
              <a:extLst>
                <a:ext uri="{FF2B5EF4-FFF2-40B4-BE49-F238E27FC236}">
                  <a16:creationId xmlns:a16="http://schemas.microsoft.com/office/drawing/2014/main" id="{11139C9C-56BD-6787-E8BA-9AB2C5B72BA8}"/>
                </a:ext>
              </a:extLst>
            </p:cNvPr>
            <p:cNvCxnSpPr>
              <a:cxnSpLocks/>
            </p:cNvCxnSpPr>
            <p:nvPr/>
          </p:nvCxnSpPr>
          <p:spPr>
            <a:xfrm flipV="1">
              <a:off x="4552950" y="2000250"/>
              <a:ext cx="1536700" cy="93980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Conector recto 60">
              <a:extLst>
                <a:ext uri="{FF2B5EF4-FFF2-40B4-BE49-F238E27FC236}">
                  <a16:creationId xmlns:a16="http://schemas.microsoft.com/office/drawing/2014/main" id="{D5F2D60C-CE4C-AD95-87C7-3C6DBF69A571}"/>
                </a:ext>
              </a:extLst>
            </p:cNvPr>
            <p:cNvCxnSpPr>
              <a:cxnSpLocks/>
            </p:cNvCxnSpPr>
            <p:nvPr/>
          </p:nvCxnSpPr>
          <p:spPr>
            <a:xfrm>
              <a:off x="6089650" y="2000250"/>
              <a:ext cx="1536700" cy="93980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Conector recto 61">
              <a:extLst>
                <a:ext uri="{FF2B5EF4-FFF2-40B4-BE49-F238E27FC236}">
                  <a16:creationId xmlns:a16="http://schemas.microsoft.com/office/drawing/2014/main" id="{40B112F0-ED5E-6B1C-98B7-92E32E529BD7}"/>
                </a:ext>
              </a:extLst>
            </p:cNvPr>
            <p:cNvCxnSpPr>
              <a:cxnSpLocks/>
            </p:cNvCxnSpPr>
            <p:nvPr/>
          </p:nvCxnSpPr>
          <p:spPr>
            <a:xfrm>
              <a:off x="4552950" y="4798904"/>
              <a:ext cx="1536700" cy="93980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Conector recto 62">
              <a:extLst>
                <a:ext uri="{FF2B5EF4-FFF2-40B4-BE49-F238E27FC236}">
                  <a16:creationId xmlns:a16="http://schemas.microsoft.com/office/drawing/2014/main" id="{2CA68006-19DA-98DE-E8B9-D95FA840D438}"/>
                </a:ext>
              </a:extLst>
            </p:cNvPr>
            <p:cNvCxnSpPr>
              <a:cxnSpLocks/>
            </p:cNvCxnSpPr>
            <p:nvPr/>
          </p:nvCxnSpPr>
          <p:spPr>
            <a:xfrm flipV="1">
              <a:off x="6089650" y="4798904"/>
              <a:ext cx="1536700" cy="93980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Conector recto 63">
              <a:extLst>
                <a:ext uri="{FF2B5EF4-FFF2-40B4-BE49-F238E27FC236}">
                  <a16:creationId xmlns:a16="http://schemas.microsoft.com/office/drawing/2014/main" id="{F2CE0E70-FD03-9188-4071-76304F4DE24C}"/>
                </a:ext>
              </a:extLst>
            </p:cNvPr>
            <p:cNvCxnSpPr>
              <a:cxnSpLocks/>
            </p:cNvCxnSpPr>
            <p:nvPr/>
          </p:nvCxnSpPr>
          <p:spPr>
            <a:xfrm flipV="1">
              <a:off x="7632384" y="3554097"/>
              <a:ext cx="0" cy="721356"/>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Conector recto 64">
              <a:extLst>
                <a:ext uri="{FF2B5EF4-FFF2-40B4-BE49-F238E27FC236}">
                  <a16:creationId xmlns:a16="http://schemas.microsoft.com/office/drawing/2014/main" id="{7BBEB7A7-28DB-C644-2B43-142C7061A772}"/>
                </a:ext>
              </a:extLst>
            </p:cNvPr>
            <p:cNvCxnSpPr>
              <a:cxnSpLocks/>
            </p:cNvCxnSpPr>
            <p:nvPr/>
          </p:nvCxnSpPr>
          <p:spPr>
            <a:xfrm flipV="1">
              <a:off x="4556440" y="3554097"/>
              <a:ext cx="0" cy="721356"/>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Conector recto 65">
              <a:extLst>
                <a:ext uri="{FF2B5EF4-FFF2-40B4-BE49-F238E27FC236}">
                  <a16:creationId xmlns:a16="http://schemas.microsoft.com/office/drawing/2014/main" id="{4C692A18-6D3E-169D-048D-7D3723421761}"/>
                </a:ext>
              </a:extLst>
            </p:cNvPr>
            <p:cNvCxnSpPr>
              <a:cxnSpLocks/>
            </p:cNvCxnSpPr>
            <p:nvPr/>
          </p:nvCxnSpPr>
          <p:spPr>
            <a:xfrm flipH="1" flipV="1">
              <a:off x="6089650" y="2000250"/>
              <a:ext cx="1536700" cy="27986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Conector recto 66">
              <a:extLst>
                <a:ext uri="{FF2B5EF4-FFF2-40B4-BE49-F238E27FC236}">
                  <a16:creationId xmlns:a16="http://schemas.microsoft.com/office/drawing/2014/main" id="{DE0C07D4-AC30-0451-8EA3-39BF2148F099}"/>
                </a:ext>
              </a:extLst>
            </p:cNvPr>
            <p:cNvCxnSpPr>
              <a:cxnSpLocks/>
            </p:cNvCxnSpPr>
            <p:nvPr/>
          </p:nvCxnSpPr>
          <p:spPr>
            <a:xfrm flipH="1">
              <a:off x="4549933" y="2000250"/>
              <a:ext cx="1536700" cy="27986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Conector recto 67">
              <a:extLst>
                <a:ext uri="{FF2B5EF4-FFF2-40B4-BE49-F238E27FC236}">
                  <a16:creationId xmlns:a16="http://schemas.microsoft.com/office/drawing/2014/main" id="{75545892-0A78-8F91-1E0C-2EE29FA2B747}"/>
                </a:ext>
              </a:extLst>
            </p:cNvPr>
            <p:cNvCxnSpPr>
              <a:cxnSpLocks/>
            </p:cNvCxnSpPr>
            <p:nvPr/>
          </p:nvCxnSpPr>
          <p:spPr>
            <a:xfrm>
              <a:off x="5133550" y="2976987"/>
              <a:ext cx="192172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Conector recto 68">
              <a:extLst>
                <a:ext uri="{FF2B5EF4-FFF2-40B4-BE49-F238E27FC236}">
                  <a16:creationId xmlns:a16="http://schemas.microsoft.com/office/drawing/2014/main" id="{D4128D13-3B2D-E360-8A2D-9D637C3DD73C}"/>
                </a:ext>
              </a:extLst>
            </p:cNvPr>
            <p:cNvCxnSpPr>
              <a:cxnSpLocks/>
            </p:cNvCxnSpPr>
            <p:nvPr/>
          </p:nvCxnSpPr>
          <p:spPr>
            <a:xfrm>
              <a:off x="5133550" y="4852564"/>
              <a:ext cx="192172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Conector recto 69">
              <a:extLst>
                <a:ext uri="{FF2B5EF4-FFF2-40B4-BE49-F238E27FC236}">
                  <a16:creationId xmlns:a16="http://schemas.microsoft.com/office/drawing/2014/main" id="{5B6265BE-79E2-2DB5-BC6C-F0E29AC17095}"/>
                </a:ext>
              </a:extLst>
            </p:cNvPr>
            <p:cNvCxnSpPr>
              <a:cxnSpLocks/>
            </p:cNvCxnSpPr>
            <p:nvPr/>
          </p:nvCxnSpPr>
          <p:spPr>
            <a:xfrm flipH="1">
              <a:off x="4550406" y="2938310"/>
              <a:ext cx="3075944" cy="186059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Conector recto 70">
              <a:extLst>
                <a:ext uri="{FF2B5EF4-FFF2-40B4-BE49-F238E27FC236}">
                  <a16:creationId xmlns:a16="http://schemas.microsoft.com/office/drawing/2014/main" id="{AF1603EB-450D-4511-18F4-922AA397B5BE}"/>
                </a:ext>
              </a:extLst>
            </p:cNvPr>
            <p:cNvCxnSpPr>
              <a:cxnSpLocks/>
            </p:cNvCxnSpPr>
            <p:nvPr/>
          </p:nvCxnSpPr>
          <p:spPr>
            <a:xfrm flipH="1" flipV="1">
              <a:off x="4553423" y="2938310"/>
              <a:ext cx="3075944" cy="186059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 name="Title 2">
            <a:extLst>
              <a:ext uri="{FF2B5EF4-FFF2-40B4-BE49-F238E27FC236}">
                <a16:creationId xmlns:a16="http://schemas.microsoft.com/office/drawing/2014/main" id="{1B31C177-DCE8-5686-5F3D-AA4B843F22C6}"/>
              </a:ext>
            </a:extLst>
          </p:cNvPr>
          <p:cNvSpPr>
            <a:spLocks noGrp="1"/>
          </p:cNvSpPr>
          <p:nvPr>
            <p:ph type="title"/>
          </p:nvPr>
        </p:nvSpPr>
        <p:spPr/>
        <p:txBody>
          <a:bodyPr vert="horz"/>
          <a:lstStyle/>
          <a:p>
            <a:r>
              <a:rPr lang="en-US" dirty="0"/>
              <a:t>McKinsey 7-S Framework — Template B</a:t>
            </a:r>
          </a:p>
        </p:txBody>
      </p:sp>
      <p:sp>
        <p:nvSpPr>
          <p:cNvPr id="6" name="Elipse 5">
            <a:extLst>
              <a:ext uri="{FF2B5EF4-FFF2-40B4-BE49-F238E27FC236}">
                <a16:creationId xmlns:a16="http://schemas.microsoft.com/office/drawing/2014/main" id="{58B674E0-0CDC-0236-E69F-62C387736408}"/>
              </a:ext>
            </a:extLst>
          </p:cNvPr>
          <p:cNvSpPr/>
          <p:nvPr/>
        </p:nvSpPr>
        <p:spPr>
          <a:xfrm>
            <a:off x="5329440" y="3149805"/>
            <a:ext cx="1529944" cy="152994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600" b="1" dirty="0"/>
              <a:t>Shared values</a:t>
            </a:r>
          </a:p>
        </p:txBody>
      </p:sp>
      <p:sp>
        <p:nvSpPr>
          <p:cNvPr id="7" name="Elipse 6">
            <a:extLst>
              <a:ext uri="{FF2B5EF4-FFF2-40B4-BE49-F238E27FC236}">
                <a16:creationId xmlns:a16="http://schemas.microsoft.com/office/drawing/2014/main" id="{AAEFE3A9-0F92-9A97-504B-4F6D09DCC65B}"/>
              </a:ext>
            </a:extLst>
          </p:cNvPr>
          <p:cNvSpPr/>
          <p:nvPr/>
        </p:nvSpPr>
        <p:spPr>
          <a:xfrm>
            <a:off x="5517301" y="1520825"/>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a:solidFill>
                  <a:schemeClr val="tx2"/>
                </a:solidFill>
              </a:rPr>
              <a:t>Structure</a:t>
            </a:r>
            <a:endParaRPr lang="en-US" sz="1200" b="1" dirty="0">
              <a:solidFill>
                <a:schemeClr val="tx2"/>
              </a:solidFill>
            </a:endParaRPr>
          </a:p>
        </p:txBody>
      </p:sp>
      <p:sp>
        <p:nvSpPr>
          <p:cNvPr id="8" name="Elipse 7">
            <a:extLst>
              <a:ext uri="{FF2B5EF4-FFF2-40B4-BE49-F238E27FC236}">
                <a16:creationId xmlns:a16="http://schemas.microsoft.com/office/drawing/2014/main" id="{B5AC80EA-A2BF-6D1A-5047-EB14FDCA799B}"/>
              </a:ext>
            </a:extLst>
          </p:cNvPr>
          <p:cNvSpPr/>
          <p:nvPr/>
        </p:nvSpPr>
        <p:spPr>
          <a:xfrm>
            <a:off x="5517301" y="5154504"/>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a:solidFill>
                  <a:schemeClr val="tx2"/>
                </a:solidFill>
              </a:rPr>
              <a:t>Staff</a:t>
            </a:r>
            <a:endParaRPr lang="en-US" sz="1200" b="1" dirty="0">
              <a:solidFill>
                <a:schemeClr val="tx2"/>
              </a:solidFill>
            </a:endParaRPr>
          </a:p>
        </p:txBody>
      </p:sp>
      <p:sp>
        <p:nvSpPr>
          <p:cNvPr id="10" name="Elipse 9">
            <a:extLst>
              <a:ext uri="{FF2B5EF4-FFF2-40B4-BE49-F238E27FC236}">
                <a16:creationId xmlns:a16="http://schemas.microsoft.com/office/drawing/2014/main" id="{094D6D9F-70EF-0425-75E4-11134E82B1B1}"/>
              </a:ext>
            </a:extLst>
          </p:cNvPr>
          <p:cNvSpPr/>
          <p:nvPr/>
        </p:nvSpPr>
        <p:spPr>
          <a:xfrm>
            <a:off x="3979329" y="2399876"/>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dirty="0">
                <a:solidFill>
                  <a:schemeClr val="tx2"/>
                </a:solidFill>
              </a:rPr>
              <a:t>Strategy</a:t>
            </a:r>
          </a:p>
        </p:txBody>
      </p:sp>
      <p:sp>
        <p:nvSpPr>
          <p:cNvPr id="11" name="Elipse 10">
            <a:extLst>
              <a:ext uri="{FF2B5EF4-FFF2-40B4-BE49-F238E27FC236}">
                <a16:creationId xmlns:a16="http://schemas.microsoft.com/office/drawing/2014/main" id="{2711F026-A8AB-131C-D778-B9184A17E450}"/>
              </a:ext>
            </a:extLst>
          </p:cNvPr>
          <p:cNvSpPr/>
          <p:nvPr/>
        </p:nvSpPr>
        <p:spPr>
          <a:xfrm>
            <a:off x="7055273" y="2399876"/>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dirty="0">
                <a:solidFill>
                  <a:schemeClr val="tx2"/>
                </a:solidFill>
              </a:rPr>
              <a:t>Systems</a:t>
            </a:r>
          </a:p>
        </p:txBody>
      </p:sp>
      <p:sp>
        <p:nvSpPr>
          <p:cNvPr id="12" name="Elipse 11">
            <a:extLst>
              <a:ext uri="{FF2B5EF4-FFF2-40B4-BE49-F238E27FC236}">
                <a16:creationId xmlns:a16="http://schemas.microsoft.com/office/drawing/2014/main" id="{19B886FE-3D2B-1C65-FABF-72541522D6C6}"/>
              </a:ext>
            </a:extLst>
          </p:cNvPr>
          <p:cNvSpPr/>
          <p:nvPr/>
        </p:nvSpPr>
        <p:spPr>
          <a:xfrm>
            <a:off x="3979329" y="4275453"/>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a:solidFill>
                  <a:schemeClr val="tx2"/>
                </a:solidFill>
              </a:rPr>
              <a:t>Skills</a:t>
            </a:r>
            <a:endParaRPr lang="en-US" sz="1200" b="1" dirty="0">
              <a:solidFill>
                <a:schemeClr val="tx2"/>
              </a:solidFill>
            </a:endParaRPr>
          </a:p>
        </p:txBody>
      </p:sp>
      <p:sp>
        <p:nvSpPr>
          <p:cNvPr id="13" name="Elipse 12">
            <a:extLst>
              <a:ext uri="{FF2B5EF4-FFF2-40B4-BE49-F238E27FC236}">
                <a16:creationId xmlns:a16="http://schemas.microsoft.com/office/drawing/2014/main" id="{0AE37387-86B5-4143-481E-6D12F1223BD7}"/>
              </a:ext>
            </a:extLst>
          </p:cNvPr>
          <p:cNvSpPr/>
          <p:nvPr/>
        </p:nvSpPr>
        <p:spPr>
          <a:xfrm>
            <a:off x="7055273" y="4275453"/>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a:solidFill>
                  <a:schemeClr val="tx2"/>
                </a:solidFill>
              </a:rPr>
              <a:t>Style</a:t>
            </a:r>
            <a:endParaRPr lang="en-US" sz="1200" b="1" dirty="0">
              <a:solidFill>
                <a:schemeClr val="tx2"/>
              </a:solidFill>
            </a:endParaRPr>
          </a:p>
        </p:txBody>
      </p:sp>
      <p:grpSp>
        <p:nvGrpSpPr>
          <p:cNvPr id="16" name="Group 146">
            <a:extLst>
              <a:ext uri="{FF2B5EF4-FFF2-40B4-BE49-F238E27FC236}">
                <a16:creationId xmlns:a16="http://schemas.microsoft.com/office/drawing/2014/main" id="{08817272-FF04-DFD0-4226-774083452365}"/>
              </a:ext>
            </a:extLst>
          </p:cNvPr>
          <p:cNvGrpSpPr>
            <a:grpSpLocks noChangeAspect="1"/>
          </p:cNvGrpSpPr>
          <p:nvPr/>
        </p:nvGrpSpPr>
        <p:grpSpPr bwMode="auto">
          <a:xfrm>
            <a:off x="5851835" y="1630628"/>
            <a:ext cx="485152" cy="502815"/>
            <a:chOff x="6545" y="1716"/>
            <a:chExt cx="412" cy="427"/>
          </a:xfrm>
          <a:solidFill>
            <a:schemeClr val="tx2"/>
          </a:solidFill>
        </p:grpSpPr>
        <p:sp>
          <p:nvSpPr>
            <p:cNvPr id="17" name="Freeform 147">
              <a:extLst>
                <a:ext uri="{FF2B5EF4-FFF2-40B4-BE49-F238E27FC236}">
                  <a16:creationId xmlns:a16="http://schemas.microsoft.com/office/drawing/2014/main" id="{FAD589AE-EE06-6630-DFBC-556C3EE0B127}"/>
                </a:ext>
              </a:extLst>
            </p:cNvPr>
            <p:cNvSpPr>
              <a:spLocks noEditPoints="1"/>
            </p:cNvSpPr>
            <p:nvPr/>
          </p:nvSpPr>
          <p:spPr bwMode="auto">
            <a:xfrm>
              <a:off x="6671" y="1743"/>
              <a:ext cx="195" cy="169"/>
            </a:xfrm>
            <a:custGeom>
              <a:avLst/>
              <a:gdLst>
                <a:gd name="T0" fmla="*/ 66 w 132"/>
                <a:gd name="T1" fmla="*/ 114 h 114"/>
                <a:gd name="T2" fmla="*/ 64 w 132"/>
                <a:gd name="T3" fmla="*/ 114 h 114"/>
                <a:gd name="T4" fmla="*/ 4 w 132"/>
                <a:gd name="T5" fmla="*/ 90 h 114"/>
                <a:gd name="T6" fmla="*/ 0 w 132"/>
                <a:gd name="T7" fmla="*/ 84 h 114"/>
                <a:gd name="T8" fmla="*/ 0 w 132"/>
                <a:gd name="T9" fmla="*/ 6 h 114"/>
                <a:gd name="T10" fmla="*/ 3 w 132"/>
                <a:gd name="T11" fmla="*/ 1 h 114"/>
                <a:gd name="T12" fmla="*/ 8 w 132"/>
                <a:gd name="T13" fmla="*/ 0 h 114"/>
                <a:gd name="T14" fmla="*/ 66 w 132"/>
                <a:gd name="T15" fmla="*/ 18 h 114"/>
                <a:gd name="T16" fmla="*/ 125 w 132"/>
                <a:gd name="T17" fmla="*/ 0 h 114"/>
                <a:gd name="T18" fmla="*/ 130 w 132"/>
                <a:gd name="T19" fmla="*/ 1 h 114"/>
                <a:gd name="T20" fmla="*/ 132 w 132"/>
                <a:gd name="T21" fmla="*/ 6 h 114"/>
                <a:gd name="T22" fmla="*/ 132 w 132"/>
                <a:gd name="T23" fmla="*/ 84 h 114"/>
                <a:gd name="T24" fmla="*/ 128 w 132"/>
                <a:gd name="T25" fmla="*/ 90 h 114"/>
                <a:gd name="T26" fmla="*/ 68 w 132"/>
                <a:gd name="T27" fmla="*/ 114 h 114"/>
                <a:gd name="T28" fmla="*/ 66 w 132"/>
                <a:gd name="T29" fmla="*/ 114 h 114"/>
                <a:gd name="T30" fmla="*/ 12 w 132"/>
                <a:gd name="T31" fmla="*/ 80 h 114"/>
                <a:gd name="T32" fmla="*/ 66 w 132"/>
                <a:gd name="T33" fmla="*/ 102 h 114"/>
                <a:gd name="T34" fmla="*/ 120 w 132"/>
                <a:gd name="T35" fmla="*/ 80 h 114"/>
                <a:gd name="T36" fmla="*/ 120 w 132"/>
                <a:gd name="T37" fmla="*/ 14 h 114"/>
                <a:gd name="T38" fmla="*/ 68 w 132"/>
                <a:gd name="T39" fmla="*/ 30 h 114"/>
                <a:gd name="T40" fmla="*/ 65 w 132"/>
                <a:gd name="T41" fmla="*/ 30 h 114"/>
                <a:gd name="T42" fmla="*/ 12 w 132"/>
                <a:gd name="T43" fmla="*/ 14 h 114"/>
                <a:gd name="T44" fmla="*/ 12 w 132"/>
                <a:gd name="T45" fmla="*/ 8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2" h="114">
                  <a:moveTo>
                    <a:pt x="66" y="114"/>
                  </a:moveTo>
                  <a:cubicBezTo>
                    <a:pt x="65" y="114"/>
                    <a:pt x="65" y="114"/>
                    <a:pt x="64" y="114"/>
                  </a:cubicBezTo>
                  <a:cubicBezTo>
                    <a:pt x="4" y="90"/>
                    <a:pt x="4" y="90"/>
                    <a:pt x="4" y="90"/>
                  </a:cubicBezTo>
                  <a:cubicBezTo>
                    <a:pt x="2" y="89"/>
                    <a:pt x="0" y="86"/>
                    <a:pt x="0" y="84"/>
                  </a:cubicBezTo>
                  <a:cubicBezTo>
                    <a:pt x="0" y="6"/>
                    <a:pt x="0" y="6"/>
                    <a:pt x="0" y="6"/>
                  </a:cubicBezTo>
                  <a:cubicBezTo>
                    <a:pt x="0" y="4"/>
                    <a:pt x="1" y="2"/>
                    <a:pt x="3" y="1"/>
                  </a:cubicBezTo>
                  <a:cubicBezTo>
                    <a:pt x="4" y="0"/>
                    <a:pt x="6" y="0"/>
                    <a:pt x="8" y="0"/>
                  </a:cubicBezTo>
                  <a:cubicBezTo>
                    <a:pt x="66" y="18"/>
                    <a:pt x="66" y="18"/>
                    <a:pt x="66" y="18"/>
                  </a:cubicBezTo>
                  <a:cubicBezTo>
                    <a:pt x="125" y="0"/>
                    <a:pt x="125" y="0"/>
                    <a:pt x="125" y="0"/>
                  </a:cubicBezTo>
                  <a:cubicBezTo>
                    <a:pt x="126" y="0"/>
                    <a:pt x="128" y="0"/>
                    <a:pt x="130" y="1"/>
                  </a:cubicBezTo>
                  <a:cubicBezTo>
                    <a:pt x="131" y="2"/>
                    <a:pt x="132" y="4"/>
                    <a:pt x="132" y="6"/>
                  </a:cubicBezTo>
                  <a:cubicBezTo>
                    <a:pt x="132" y="84"/>
                    <a:pt x="132" y="84"/>
                    <a:pt x="132" y="84"/>
                  </a:cubicBezTo>
                  <a:cubicBezTo>
                    <a:pt x="132" y="86"/>
                    <a:pt x="131" y="89"/>
                    <a:pt x="128" y="90"/>
                  </a:cubicBezTo>
                  <a:cubicBezTo>
                    <a:pt x="68" y="114"/>
                    <a:pt x="68" y="114"/>
                    <a:pt x="68" y="114"/>
                  </a:cubicBezTo>
                  <a:cubicBezTo>
                    <a:pt x="68" y="114"/>
                    <a:pt x="67" y="114"/>
                    <a:pt x="66" y="114"/>
                  </a:cubicBezTo>
                  <a:close/>
                  <a:moveTo>
                    <a:pt x="12" y="80"/>
                  </a:moveTo>
                  <a:cubicBezTo>
                    <a:pt x="66" y="102"/>
                    <a:pt x="66" y="102"/>
                    <a:pt x="66" y="102"/>
                  </a:cubicBezTo>
                  <a:cubicBezTo>
                    <a:pt x="120" y="80"/>
                    <a:pt x="120" y="80"/>
                    <a:pt x="120" y="80"/>
                  </a:cubicBezTo>
                  <a:cubicBezTo>
                    <a:pt x="120" y="14"/>
                    <a:pt x="120" y="14"/>
                    <a:pt x="120" y="14"/>
                  </a:cubicBezTo>
                  <a:cubicBezTo>
                    <a:pt x="68" y="30"/>
                    <a:pt x="68" y="30"/>
                    <a:pt x="68" y="30"/>
                  </a:cubicBezTo>
                  <a:cubicBezTo>
                    <a:pt x="67" y="30"/>
                    <a:pt x="66" y="30"/>
                    <a:pt x="65" y="30"/>
                  </a:cubicBezTo>
                  <a:cubicBezTo>
                    <a:pt x="12" y="14"/>
                    <a:pt x="12" y="14"/>
                    <a:pt x="12" y="14"/>
                  </a:cubicBezTo>
                  <a:lnTo>
                    <a:pt x="12"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8" name="Freeform 148">
              <a:extLst>
                <a:ext uri="{FF2B5EF4-FFF2-40B4-BE49-F238E27FC236}">
                  <a16:creationId xmlns:a16="http://schemas.microsoft.com/office/drawing/2014/main" id="{8CB20712-CE83-751B-A7CD-F97BD67A60EC}"/>
                </a:ext>
              </a:extLst>
            </p:cNvPr>
            <p:cNvSpPr>
              <a:spLocks/>
            </p:cNvSpPr>
            <p:nvPr/>
          </p:nvSpPr>
          <p:spPr bwMode="auto">
            <a:xfrm>
              <a:off x="6671" y="1716"/>
              <a:ext cx="197" cy="46"/>
            </a:xfrm>
            <a:custGeom>
              <a:avLst/>
              <a:gdLst>
                <a:gd name="T0" fmla="*/ 126 w 133"/>
                <a:gd name="T1" fmla="*/ 30 h 31"/>
                <a:gd name="T2" fmla="*/ 125 w 133"/>
                <a:gd name="T3" fmla="*/ 30 h 31"/>
                <a:gd name="T4" fmla="*/ 66 w 133"/>
                <a:gd name="T5" fmla="*/ 12 h 31"/>
                <a:gd name="T6" fmla="*/ 8 w 133"/>
                <a:gd name="T7" fmla="*/ 30 h 31"/>
                <a:gd name="T8" fmla="*/ 0 w 133"/>
                <a:gd name="T9" fmla="*/ 26 h 31"/>
                <a:gd name="T10" fmla="*/ 5 w 133"/>
                <a:gd name="T11" fmla="*/ 18 h 31"/>
                <a:gd name="T12" fmla="*/ 65 w 133"/>
                <a:gd name="T13" fmla="*/ 0 h 31"/>
                <a:gd name="T14" fmla="*/ 68 w 133"/>
                <a:gd name="T15" fmla="*/ 0 h 31"/>
                <a:gd name="T16" fmla="*/ 128 w 133"/>
                <a:gd name="T17" fmla="*/ 18 h 31"/>
                <a:gd name="T18" fmla="*/ 132 w 133"/>
                <a:gd name="T19" fmla="*/ 26 h 31"/>
                <a:gd name="T20" fmla="*/ 126 w 133"/>
                <a:gd name="T21"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31">
                  <a:moveTo>
                    <a:pt x="126" y="30"/>
                  </a:moveTo>
                  <a:cubicBezTo>
                    <a:pt x="126" y="30"/>
                    <a:pt x="125" y="30"/>
                    <a:pt x="125" y="30"/>
                  </a:cubicBezTo>
                  <a:cubicBezTo>
                    <a:pt x="66" y="12"/>
                    <a:pt x="66" y="12"/>
                    <a:pt x="66" y="12"/>
                  </a:cubicBezTo>
                  <a:cubicBezTo>
                    <a:pt x="8" y="30"/>
                    <a:pt x="8" y="30"/>
                    <a:pt x="8" y="30"/>
                  </a:cubicBezTo>
                  <a:cubicBezTo>
                    <a:pt x="5" y="31"/>
                    <a:pt x="1" y="29"/>
                    <a:pt x="0" y="26"/>
                  </a:cubicBezTo>
                  <a:cubicBezTo>
                    <a:pt x="0" y="23"/>
                    <a:pt x="1" y="19"/>
                    <a:pt x="5" y="18"/>
                  </a:cubicBezTo>
                  <a:cubicBezTo>
                    <a:pt x="65" y="0"/>
                    <a:pt x="65" y="0"/>
                    <a:pt x="65" y="0"/>
                  </a:cubicBezTo>
                  <a:cubicBezTo>
                    <a:pt x="66" y="0"/>
                    <a:pt x="67" y="0"/>
                    <a:pt x="68" y="0"/>
                  </a:cubicBezTo>
                  <a:cubicBezTo>
                    <a:pt x="128" y="18"/>
                    <a:pt x="128" y="18"/>
                    <a:pt x="128" y="18"/>
                  </a:cubicBezTo>
                  <a:cubicBezTo>
                    <a:pt x="131" y="19"/>
                    <a:pt x="133" y="23"/>
                    <a:pt x="132" y="26"/>
                  </a:cubicBezTo>
                  <a:cubicBezTo>
                    <a:pt x="131" y="28"/>
                    <a:pt x="129" y="30"/>
                    <a:pt x="1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9" name="Freeform 149">
              <a:extLst>
                <a:ext uri="{FF2B5EF4-FFF2-40B4-BE49-F238E27FC236}">
                  <a16:creationId xmlns:a16="http://schemas.microsoft.com/office/drawing/2014/main" id="{D55D1367-1735-188C-BBA3-798E1657D35B}"/>
                </a:ext>
              </a:extLst>
            </p:cNvPr>
            <p:cNvSpPr>
              <a:spLocks/>
            </p:cNvSpPr>
            <p:nvPr/>
          </p:nvSpPr>
          <p:spPr bwMode="auto">
            <a:xfrm>
              <a:off x="6760" y="1770"/>
              <a:ext cx="18" cy="142"/>
            </a:xfrm>
            <a:custGeom>
              <a:avLst/>
              <a:gdLst>
                <a:gd name="T0" fmla="*/ 6 w 12"/>
                <a:gd name="T1" fmla="*/ 96 h 96"/>
                <a:gd name="T2" fmla="*/ 0 w 12"/>
                <a:gd name="T3" fmla="*/ 90 h 96"/>
                <a:gd name="T4" fmla="*/ 0 w 12"/>
                <a:gd name="T5" fmla="*/ 6 h 96"/>
                <a:gd name="T6" fmla="*/ 6 w 12"/>
                <a:gd name="T7" fmla="*/ 0 h 96"/>
                <a:gd name="T8" fmla="*/ 12 w 12"/>
                <a:gd name="T9" fmla="*/ 6 h 96"/>
                <a:gd name="T10" fmla="*/ 12 w 12"/>
                <a:gd name="T11" fmla="*/ 90 h 96"/>
                <a:gd name="T12" fmla="*/ 6 w 12"/>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12" h="96">
                  <a:moveTo>
                    <a:pt x="6" y="96"/>
                  </a:moveTo>
                  <a:cubicBezTo>
                    <a:pt x="3" y="96"/>
                    <a:pt x="0" y="93"/>
                    <a:pt x="0" y="90"/>
                  </a:cubicBezTo>
                  <a:cubicBezTo>
                    <a:pt x="0" y="6"/>
                    <a:pt x="0" y="6"/>
                    <a:pt x="0" y="6"/>
                  </a:cubicBezTo>
                  <a:cubicBezTo>
                    <a:pt x="0" y="2"/>
                    <a:pt x="3" y="0"/>
                    <a:pt x="6" y="0"/>
                  </a:cubicBezTo>
                  <a:cubicBezTo>
                    <a:pt x="10" y="0"/>
                    <a:pt x="12" y="2"/>
                    <a:pt x="12" y="6"/>
                  </a:cubicBezTo>
                  <a:cubicBezTo>
                    <a:pt x="12" y="90"/>
                    <a:pt x="12" y="90"/>
                    <a:pt x="12" y="90"/>
                  </a:cubicBezTo>
                  <a:cubicBezTo>
                    <a:pt x="12" y="93"/>
                    <a:pt x="10" y="96"/>
                    <a:pt x="6"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0" name="Freeform 150">
              <a:extLst>
                <a:ext uri="{FF2B5EF4-FFF2-40B4-BE49-F238E27FC236}">
                  <a16:creationId xmlns:a16="http://schemas.microsoft.com/office/drawing/2014/main" id="{EFFE2171-D562-A229-947E-28701B3A9E9E}"/>
                </a:ext>
              </a:extLst>
            </p:cNvPr>
            <p:cNvSpPr>
              <a:spLocks noEditPoints="1"/>
            </p:cNvSpPr>
            <p:nvPr/>
          </p:nvSpPr>
          <p:spPr bwMode="auto">
            <a:xfrm>
              <a:off x="6795" y="1929"/>
              <a:ext cx="160" cy="134"/>
            </a:xfrm>
            <a:custGeom>
              <a:avLst/>
              <a:gdLst>
                <a:gd name="T0" fmla="*/ 54 w 108"/>
                <a:gd name="T1" fmla="*/ 90 h 90"/>
                <a:gd name="T2" fmla="*/ 52 w 108"/>
                <a:gd name="T3" fmla="*/ 89 h 90"/>
                <a:gd name="T4" fmla="*/ 4 w 108"/>
                <a:gd name="T5" fmla="*/ 65 h 90"/>
                <a:gd name="T6" fmla="*/ 0 w 108"/>
                <a:gd name="T7" fmla="*/ 60 h 90"/>
                <a:gd name="T8" fmla="*/ 0 w 108"/>
                <a:gd name="T9" fmla="*/ 6 h 90"/>
                <a:gd name="T10" fmla="*/ 3 w 108"/>
                <a:gd name="T11" fmla="*/ 1 h 90"/>
                <a:gd name="T12" fmla="*/ 8 w 108"/>
                <a:gd name="T13" fmla="*/ 0 h 90"/>
                <a:gd name="T14" fmla="*/ 54 w 108"/>
                <a:gd name="T15" fmla="*/ 18 h 90"/>
                <a:gd name="T16" fmla="*/ 100 w 108"/>
                <a:gd name="T17" fmla="*/ 0 h 90"/>
                <a:gd name="T18" fmla="*/ 106 w 108"/>
                <a:gd name="T19" fmla="*/ 1 h 90"/>
                <a:gd name="T20" fmla="*/ 108 w 108"/>
                <a:gd name="T21" fmla="*/ 6 h 90"/>
                <a:gd name="T22" fmla="*/ 108 w 108"/>
                <a:gd name="T23" fmla="*/ 60 h 90"/>
                <a:gd name="T24" fmla="*/ 105 w 108"/>
                <a:gd name="T25" fmla="*/ 65 h 90"/>
                <a:gd name="T26" fmla="*/ 57 w 108"/>
                <a:gd name="T27" fmla="*/ 89 h 90"/>
                <a:gd name="T28" fmla="*/ 54 w 108"/>
                <a:gd name="T29" fmla="*/ 90 h 90"/>
                <a:gd name="T30" fmla="*/ 12 w 108"/>
                <a:gd name="T31" fmla="*/ 56 h 90"/>
                <a:gd name="T32" fmla="*/ 54 w 108"/>
                <a:gd name="T33" fmla="*/ 77 h 90"/>
                <a:gd name="T34" fmla="*/ 96 w 108"/>
                <a:gd name="T35" fmla="*/ 56 h 90"/>
                <a:gd name="T36" fmla="*/ 96 w 108"/>
                <a:gd name="T37" fmla="*/ 15 h 90"/>
                <a:gd name="T38" fmla="*/ 56 w 108"/>
                <a:gd name="T39" fmla="*/ 30 h 90"/>
                <a:gd name="T40" fmla="*/ 52 w 108"/>
                <a:gd name="T41" fmla="*/ 30 h 90"/>
                <a:gd name="T42" fmla="*/ 12 w 108"/>
                <a:gd name="T43" fmla="*/ 15 h 90"/>
                <a:gd name="T44" fmla="*/ 12 w 108"/>
                <a:gd name="T45" fmla="*/ 5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8" h="90">
                  <a:moveTo>
                    <a:pt x="54" y="90"/>
                  </a:moveTo>
                  <a:cubicBezTo>
                    <a:pt x="53" y="90"/>
                    <a:pt x="52" y="90"/>
                    <a:pt x="52" y="89"/>
                  </a:cubicBezTo>
                  <a:cubicBezTo>
                    <a:pt x="4" y="65"/>
                    <a:pt x="4" y="65"/>
                    <a:pt x="4" y="65"/>
                  </a:cubicBezTo>
                  <a:cubicBezTo>
                    <a:pt x="2" y="64"/>
                    <a:pt x="0" y="62"/>
                    <a:pt x="0" y="60"/>
                  </a:cubicBezTo>
                  <a:cubicBezTo>
                    <a:pt x="0" y="6"/>
                    <a:pt x="0" y="6"/>
                    <a:pt x="0" y="6"/>
                  </a:cubicBezTo>
                  <a:cubicBezTo>
                    <a:pt x="0" y="4"/>
                    <a:pt x="1" y="2"/>
                    <a:pt x="3" y="1"/>
                  </a:cubicBezTo>
                  <a:cubicBezTo>
                    <a:pt x="4" y="0"/>
                    <a:pt x="7" y="0"/>
                    <a:pt x="8" y="0"/>
                  </a:cubicBezTo>
                  <a:cubicBezTo>
                    <a:pt x="54" y="18"/>
                    <a:pt x="54" y="18"/>
                    <a:pt x="54" y="18"/>
                  </a:cubicBezTo>
                  <a:cubicBezTo>
                    <a:pt x="100" y="0"/>
                    <a:pt x="100" y="0"/>
                    <a:pt x="100" y="0"/>
                  </a:cubicBezTo>
                  <a:cubicBezTo>
                    <a:pt x="102" y="0"/>
                    <a:pt x="104" y="0"/>
                    <a:pt x="106" y="1"/>
                  </a:cubicBezTo>
                  <a:cubicBezTo>
                    <a:pt x="107" y="2"/>
                    <a:pt x="108" y="4"/>
                    <a:pt x="108" y="6"/>
                  </a:cubicBezTo>
                  <a:cubicBezTo>
                    <a:pt x="108" y="60"/>
                    <a:pt x="108" y="60"/>
                    <a:pt x="108" y="60"/>
                  </a:cubicBezTo>
                  <a:cubicBezTo>
                    <a:pt x="108" y="62"/>
                    <a:pt x="107" y="64"/>
                    <a:pt x="105" y="65"/>
                  </a:cubicBezTo>
                  <a:cubicBezTo>
                    <a:pt x="57" y="89"/>
                    <a:pt x="57" y="89"/>
                    <a:pt x="57" y="89"/>
                  </a:cubicBezTo>
                  <a:cubicBezTo>
                    <a:pt x="56" y="90"/>
                    <a:pt x="55" y="90"/>
                    <a:pt x="54" y="90"/>
                  </a:cubicBezTo>
                  <a:close/>
                  <a:moveTo>
                    <a:pt x="12" y="56"/>
                  </a:moveTo>
                  <a:cubicBezTo>
                    <a:pt x="54" y="77"/>
                    <a:pt x="54" y="77"/>
                    <a:pt x="54" y="77"/>
                  </a:cubicBezTo>
                  <a:cubicBezTo>
                    <a:pt x="96" y="56"/>
                    <a:pt x="96" y="56"/>
                    <a:pt x="96" y="56"/>
                  </a:cubicBezTo>
                  <a:cubicBezTo>
                    <a:pt x="96" y="15"/>
                    <a:pt x="96" y="15"/>
                    <a:pt x="96" y="15"/>
                  </a:cubicBezTo>
                  <a:cubicBezTo>
                    <a:pt x="56" y="30"/>
                    <a:pt x="56" y="30"/>
                    <a:pt x="56" y="30"/>
                  </a:cubicBezTo>
                  <a:cubicBezTo>
                    <a:pt x="55" y="30"/>
                    <a:pt x="53" y="30"/>
                    <a:pt x="52" y="30"/>
                  </a:cubicBezTo>
                  <a:cubicBezTo>
                    <a:pt x="12" y="15"/>
                    <a:pt x="12" y="15"/>
                    <a:pt x="12" y="15"/>
                  </a:cubicBezTo>
                  <a:lnTo>
                    <a:pt x="12"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1" name="Freeform 151">
              <a:extLst>
                <a:ext uri="{FF2B5EF4-FFF2-40B4-BE49-F238E27FC236}">
                  <a16:creationId xmlns:a16="http://schemas.microsoft.com/office/drawing/2014/main" id="{E44C4FAD-1F5C-E35A-AD63-83B0A7598F1D}"/>
                </a:ext>
              </a:extLst>
            </p:cNvPr>
            <p:cNvSpPr>
              <a:spLocks/>
            </p:cNvSpPr>
            <p:nvPr/>
          </p:nvSpPr>
          <p:spPr bwMode="auto">
            <a:xfrm>
              <a:off x="6794" y="1903"/>
              <a:ext cx="163" cy="46"/>
            </a:xfrm>
            <a:custGeom>
              <a:avLst/>
              <a:gdLst>
                <a:gd name="T0" fmla="*/ 103 w 110"/>
                <a:gd name="T1" fmla="*/ 30 h 31"/>
                <a:gd name="T2" fmla="*/ 101 w 110"/>
                <a:gd name="T3" fmla="*/ 30 h 31"/>
                <a:gd name="T4" fmla="*/ 55 w 110"/>
                <a:gd name="T5" fmla="*/ 12 h 31"/>
                <a:gd name="T6" fmla="*/ 9 w 110"/>
                <a:gd name="T7" fmla="*/ 30 h 31"/>
                <a:gd name="T8" fmla="*/ 2 w 110"/>
                <a:gd name="T9" fmla="*/ 26 h 31"/>
                <a:gd name="T10" fmla="*/ 5 w 110"/>
                <a:gd name="T11" fmla="*/ 18 h 31"/>
                <a:gd name="T12" fmla="*/ 53 w 110"/>
                <a:gd name="T13" fmla="*/ 0 h 31"/>
                <a:gd name="T14" fmla="*/ 57 w 110"/>
                <a:gd name="T15" fmla="*/ 0 h 31"/>
                <a:gd name="T16" fmla="*/ 105 w 110"/>
                <a:gd name="T17" fmla="*/ 18 h 31"/>
                <a:gd name="T18" fmla="*/ 109 w 110"/>
                <a:gd name="T19" fmla="*/ 26 h 31"/>
                <a:gd name="T20" fmla="*/ 103 w 110"/>
                <a:gd name="T21"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31">
                  <a:moveTo>
                    <a:pt x="103" y="30"/>
                  </a:moveTo>
                  <a:cubicBezTo>
                    <a:pt x="103" y="30"/>
                    <a:pt x="102" y="30"/>
                    <a:pt x="101" y="30"/>
                  </a:cubicBezTo>
                  <a:cubicBezTo>
                    <a:pt x="55" y="12"/>
                    <a:pt x="55" y="12"/>
                    <a:pt x="55" y="12"/>
                  </a:cubicBezTo>
                  <a:cubicBezTo>
                    <a:pt x="9" y="30"/>
                    <a:pt x="9" y="30"/>
                    <a:pt x="9" y="30"/>
                  </a:cubicBezTo>
                  <a:cubicBezTo>
                    <a:pt x="6" y="31"/>
                    <a:pt x="3" y="29"/>
                    <a:pt x="2" y="26"/>
                  </a:cubicBezTo>
                  <a:cubicBezTo>
                    <a:pt x="0" y="23"/>
                    <a:pt x="2" y="20"/>
                    <a:pt x="5" y="18"/>
                  </a:cubicBezTo>
                  <a:cubicBezTo>
                    <a:pt x="53" y="0"/>
                    <a:pt x="53" y="0"/>
                    <a:pt x="53" y="0"/>
                  </a:cubicBezTo>
                  <a:cubicBezTo>
                    <a:pt x="54" y="0"/>
                    <a:pt x="56" y="0"/>
                    <a:pt x="57" y="0"/>
                  </a:cubicBezTo>
                  <a:cubicBezTo>
                    <a:pt x="105" y="18"/>
                    <a:pt x="105" y="18"/>
                    <a:pt x="105" y="18"/>
                  </a:cubicBezTo>
                  <a:cubicBezTo>
                    <a:pt x="108" y="20"/>
                    <a:pt x="110" y="23"/>
                    <a:pt x="109" y="26"/>
                  </a:cubicBezTo>
                  <a:cubicBezTo>
                    <a:pt x="108" y="29"/>
                    <a:pt x="106" y="30"/>
                    <a:pt x="103"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2" name="Freeform 152">
              <a:extLst>
                <a:ext uri="{FF2B5EF4-FFF2-40B4-BE49-F238E27FC236}">
                  <a16:creationId xmlns:a16="http://schemas.microsoft.com/office/drawing/2014/main" id="{04097849-84AA-1E2D-5975-31B196A5B913}"/>
                </a:ext>
              </a:extLst>
            </p:cNvPr>
            <p:cNvSpPr>
              <a:spLocks/>
            </p:cNvSpPr>
            <p:nvPr/>
          </p:nvSpPr>
          <p:spPr bwMode="auto">
            <a:xfrm>
              <a:off x="6866" y="1956"/>
              <a:ext cx="18" cy="107"/>
            </a:xfrm>
            <a:custGeom>
              <a:avLst/>
              <a:gdLst>
                <a:gd name="T0" fmla="*/ 6 w 12"/>
                <a:gd name="T1" fmla="*/ 72 h 72"/>
                <a:gd name="T2" fmla="*/ 0 w 12"/>
                <a:gd name="T3" fmla="*/ 66 h 72"/>
                <a:gd name="T4" fmla="*/ 0 w 12"/>
                <a:gd name="T5" fmla="*/ 6 h 72"/>
                <a:gd name="T6" fmla="*/ 6 w 12"/>
                <a:gd name="T7" fmla="*/ 0 h 72"/>
                <a:gd name="T8" fmla="*/ 12 w 12"/>
                <a:gd name="T9" fmla="*/ 6 h 72"/>
                <a:gd name="T10" fmla="*/ 12 w 12"/>
                <a:gd name="T11" fmla="*/ 66 h 72"/>
                <a:gd name="T12" fmla="*/ 6 w 12"/>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2" h="72">
                  <a:moveTo>
                    <a:pt x="6" y="72"/>
                  </a:moveTo>
                  <a:cubicBezTo>
                    <a:pt x="3" y="72"/>
                    <a:pt x="0" y="69"/>
                    <a:pt x="0" y="66"/>
                  </a:cubicBezTo>
                  <a:cubicBezTo>
                    <a:pt x="0" y="6"/>
                    <a:pt x="0" y="6"/>
                    <a:pt x="0" y="6"/>
                  </a:cubicBezTo>
                  <a:cubicBezTo>
                    <a:pt x="0" y="2"/>
                    <a:pt x="3" y="0"/>
                    <a:pt x="6" y="0"/>
                  </a:cubicBezTo>
                  <a:cubicBezTo>
                    <a:pt x="10" y="0"/>
                    <a:pt x="12" y="2"/>
                    <a:pt x="12" y="6"/>
                  </a:cubicBezTo>
                  <a:cubicBezTo>
                    <a:pt x="12" y="66"/>
                    <a:pt x="12" y="66"/>
                    <a:pt x="12" y="66"/>
                  </a:cubicBezTo>
                  <a:cubicBezTo>
                    <a:pt x="12" y="69"/>
                    <a:pt x="10"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3" name="Freeform 153">
              <a:extLst>
                <a:ext uri="{FF2B5EF4-FFF2-40B4-BE49-F238E27FC236}">
                  <a16:creationId xmlns:a16="http://schemas.microsoft.com/office/drawing/2014/main" id="{BFEC05B2-BCC6-24EF-3CFF-13EFBF0B8C50}"/>
                </a:ext>
              </a:extLst>
            </p:cNvPr>
            <p:cNvSpPr>
              <a:spLocks noEditPoints="1"/>
            </p:cNvSpPr>
            <p:nvPr/>
          </p:nvSpPr>
          <p:spPr bwMode="auto">
            <a:xfrm>
              <a:off x="6547" y="1947"/>
              <a:ext cx="231" cy="196"/>
            </a:xfrm>
            <a:custGeom>
              <a:avLst/>
              <a:gdLst>
                <a:gd name="T0" fmla="*/ 78 w 156"/>
                <a:gd name="T1" fmla="*/ 132 h 132"/>
                <a:gd name="T2" fmla="*/ 76 w 156"/>
                <a:gd name="T3" fmla="*/ 132 h 132"/>
                <a:gd name="T4" fmla="*/ 4 w 156"/>
                <a:gd name="T5" fmla="*/ 108 h 132"/>
                <a:gd name="T6" fmla="*/ 0 w 156"/>
                <a:gd name="T7" fmla="*/ 102 h 132"/>
                <a:gd name="T8" fmla="*/ 0 w 156"/>
                <a:gd name="T9" fmla="*/ 6 h 132"/>
                <a:gd name="T10" fmla="*/ 3 w 156"/>
                <a:gd name="T11" fmla="*/ 1 h 132"/>
                <a:gd name="T12" fmla="*/ 8 w 156"/>
                <a:gd name="T13" fmla="*/ 0 h 132"/>
                <a:gd name="T14" fmla="*/ 78 w 156"/>
                <a:gd name="T15" fmla="*/ 24 h 132"/>
                <a:gd name="T16" fmla="*/ 148 w 156"/>
                <a:gd name="T17" fmla="*/ 0 h 132"/>
                <a:gd name="T18" fmla="*/ 154 w 156"/>
                <a:gd name="T19" fmla="*/ 1 h 132"/>
                <a:gd name="T20" fmla="*/ 156 w 156"/>
                <a:gd name="T21" fmla="*/ 6 h 132"/>
                <a:gd name="T22" fmla="*/ 156 w 156"/>
                <a:gd name="T23" fmla="*/ 102 h 132"/>
                <a:gd name="T24" fmla="*/ 152 w 156"/>
                <a:gd name="T25" fmla="*/ 108 h 132"/>
                <a:gd name="T26" fmla="*/ 80 w 156"/>
                <a:gd name="T27" fmla="*/ 132 h 132"/>
                <a:gd name="T28" fmla="*/ 78 w 156"/>
                <a:gd name="T29" fmla="*/ 132 h 132"/>
                <a:gd name="T30" fmla="*/ 12 w 156"/>
                <a:gd name="T31" fmla="*/ 98 h 132"/>
                <a:gd name="T32" fmla="*/ 78 w 156"/>
                <a:gd name="T33" fmla="*/ 120 h 132"/>
                <a:gd name="T34" fmla="*/ 144 w 156"/>
                <a:gd name="T35" fmla="*/ 98 h 132"/>
                <a:gd name="T36" fmla="*/ 144 w 156"/>
                <a:gd name="T37" fmla="*/ 14 h 132"/>
                <a:gd name="T38" fmla="*/ 80 w 156"/>
                <a:gd name="T39" fmla="*/ 36 h 132"/>
                <a:gd name="T40" fmla="*/ 76 w 156"/>
                <a:gd name="T41" fmla="*/ 36 h 132"/>
                <a:gd name="T42" fmla="*/ 12 w 156"/>
                <a:gd name="T43" fmla="*/ 14 h 132"/>
                <a:gd name="T44" fmla="*/ 12 w 156"/>
                <a:gd name="T45" fmla="*/ 98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6" h="132">
                  <a:moveTo>
                    <a:pt x="78" y="132"/>
                  </a:moveTo>
                  <a:cubicBezTo>
                    <a:pt x="78" y="132"/>
                    <a:pt x="77" y="132"/>
                    <a:pt x="76" y="132"/>
                  </a:cubicBezTo>
                  <a:cubicBezTo>
                    <a:pt x="4" y="108"/>
                    <a:pt x="4" y="108"/>
                    <a:pt x="4" y="108"/>
                  </a:cubicBezTo>
                  <a:cubicBezTo>
                    <a:pt x="2" y="107"/>
                    <a:pt x="0" y="105"/>
                    <a:pt x="0" y="102"/>
                  </a:cubicBezTo>
                  <a:cubicBezTo>
                    <a:pt x="0" y="6"/>
                    <a:pt x="0" y="6"/>
                    <a:pt x="0" y="6"/>
                  </a:cubicBezTo>
                  <a:cubicBezTo>
                    <a:pt x="0" y="4"/>
                    <a:pt x="1" y="2"/>
                    <a:pt x="3" y="1"/>
                  </a:cubicBezTo>
                  <a:cubicBezTo>
                    <a:pt x="4" y="0"/>
                    <a:pt x="6" y="0"/>
                    <a:pt x="8" y="0"/>
                  </a:cubicBezTo>
                  <a:cubicBezTo>
                    <a:pt x="78" y="24"/>
                    <a:pt x="78" y="24"/>
                    <a:pt x="78" y="24"/>
                  </a:cubicBezTo>
                  <a:cubicBezTo>
                    <a:pt x="148" y="0"/>
                    <a:pt x="148" y="0"/>
                    <a:pt x="148" y="0"/>
                  </a:cubicBezTo>
                  <a:cubicBezTo>
                    <a:pt x="150" y="0"/>
                    <a:pt x="152" y="0"/>
                    <a:pt x="154" y="1"/>
                  </a:cubicBezTo>
                  <a:cubicBezTo>
                    <a:pt x="155" y="2"/>
                    <a:pt x="156" y="4"/>
                    <a:pt x="156" y="6"/>
                  </a:cubicBezTo>
                  <a:cubicBezTo>
                    <a:pt x="156" y="102"/>
                    <a:pt x="156" y="102"/>
                    <a:pt x="156" y="102"/>
                  </a:cubicBezTo>
                  <a:cubicBezTo>
                    <a:pt x="156" y="105"/>
                    <a:pt x="155" y="107"/>
                    <a:pt x="152" y="108"/>
                  </a:cubicBezTo>
                  <a:cubicBezTo>
                    <a:pt x="80" y="132"/>
                    <a:pt x="80" y="132"/>
                    <a:pt x="80" y="132"/>
                  </a:cubicBezTo>
                  <a:cubicBezTo>
                    <a:pt x="80" y="132"/>
                    <a:pt x="79" y="132"/>
                    <a:pt x="78" y="132"/>
                  </a:cubicBezTo>
                  <a:close/>
                  <a:moveTo>
                    <a:pt x="12" y="98"/>
                  </a:moveTo>
                  <a:cubicBezTo>
                    <a:pt x="78" y="120"/>
                    <a:pt x="78" y="120"/>
                    <a:pt x="78" y="120"/>
                  </a:cubicBezTo>
                  <a:cubicBezTo>
                    <a:pt x="144" y="98"/>
                    <a:pt x="144" y="98"/>
                    <a:pt x="144" y="98"/>
                  </a:cubicBezTo>
                  <a:cubicBezTo>
                    <a:pt x="144" y="14"/>
                    <a:pt x="144" y="14"/>
                    <a:pt x="144" y="14"/>
                  </a:cubicBezTo>
                  <a:cubicBezTo>
                    <a:pt x="80" y="36"/>
                    <a:pt x="80" y="36"/>
                    <a:pt x="80" y="36"/>
                  </a:cubicBezTo>
                  <a:cubicBezTo>
                    <a:pt x="79" y="36"/>
                    <a:pt x="78" y="36"/>
                    <a:pt x="76" y="36"/>
                  </a:cubicBezTo>
                  <a:cubicBezTo>
                    <a:pt x="12" y="14"/>
                    <a:pt x="12" y="14"/>
                    <a:pt x="12" y="14"/>
                  </a:cubicBezTo>
                  <a:lnTo>
                    <a:pt x="12"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4" name="Freeform 154">
              <a:extLst>
                <a:ext uri="{FF2B5EF4-FFF2-40B4-BE49-F238E27FC236}">
                  <a16:creationId xmlns:a16="http://schemas.microsoft.com/office/drawing/2014/main" id="{DC9A792A-03A4-7538-899B-DD0972BC8BA0}"/>
                </a:ext>
              </a:extLst>
            </p:cNvPr>
            <p:cNvSpPr>
              <a:spLocks/>
            </p:cNvSpPr>
            <p:nvPr/>
          </p:nvSpPr>
          <p:spPr bwMode="auto">
            <a:xfrm>
              <a:off x="6545" y="1912"/>
              <a:ext cx="234" cy="54"/>
            </a:xfrm>
            <a:custGeom>
              <a:avLst/>
              <a:gdLst>
                <a:gd name="T0" fmla="*/ 151 w 158"/>
                <a:gd name="T1" fmla="*/ 36 h 37"/>
                <a:gd name="T2" fmla="*/ 149 w 158"/>
                <a:gd name="T3" fmla="*/ 36 h 37"/>
                <a:gd name="T4" fmla="*/ 79 w 158"/>
                <a:gd name="T5" fmla="*/ 12 h 37"/>
                <a:gd name="T6" fmla="*/ 9 w 158"/>
                <a:gd name="T7" fmla="*/ 36 h 37"/>
                <a:gd name="T8" fmla="*/ 2 w 158"/>
                <a:gd name="T9" fmla="*/ 32 h 37"/>
                <a:gd name="T10" fmla="*/ 5 w 158"/>
                <a:gd name="T11" fmla="*/ 24 h 37"/>
                <a:gd name="T12" fmla="*/ 77 w 158"/>
                <a:gd name="T13" fmla="*/ 0 h 37"/>
                <a:gd name="T14" fmla="*/ 81 w 158"/>
                <a:gd name="T15" fmla="*/ 0 h 37"/>
                <a:gd name="T16" fmla="*/ 153 w 158"/>
                <a:gd name="T17" fmla="*/ 24 h 37"/>
                <a:gd name="T18" fmla="*/ 157 w 158"/>
                <a:gd name="T19" fmla="*/ 32 h 37"/>
                <a:gd name="T20" fmla="*/ 151 w 158"/>
                <a:gd name="T21"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8" h="37">
                  <a:moveTo>
                    <a:pt x="151" y="36"/>
                  </a:moveTo>
                  <a:cubicBezTo>
                    <a:pt x="151" y="36"/>
                    <a:pt x="150" y="36"/>
                    <a:pt x="149" y="36"/>
                  </a:cubicBezTo>
                  <a:cubicBezTo>
                    <a:pt x="79" y="12"/>
                    <a:pt x="79" y="12"/>
                    <a:pt x="79" y="12"/>
                  </a:cubicBezTo>
                  <a:cubicBezTo>
                    <a:pt x="9" y="36"/>
                    <a:pt x="9" y="36"/>
                    <a:pt x="9" y="36"/>
                  </a:cubicBezTo>
                  <a:cubicBezTo>
                    <a:pt x="6" y="37"/>
                    <a:pt x="3" y="35"/>
                    <a:pt x="2" y="32"/>
                  </a:cubicBezTo>
                  <a:cubicBezTo>
                    <a:pt x="0" y="29"/>
                    <a:pt x="2" y="25"/>
                    <a:pt x="5" y="24"/>
                  </a:cubicBezTo>
                  <a:cubicBezTo>
                    <a:pt x="77" y="0"/>
                    <a:pt x="77" y="0"/>
                    <a:pt x="77" y="0"/>
                  </a:cubicBezTo>
                  <a:cubicBezTo>
                    <a:pt x="79" y="0"/>
                    <a:pt x="80" y="0"/>
                    <a:pt x="81" y="0"/>
                  </a:cubicBezTo>
                  <a:cubicBezTo>
                    <a:pt x="153" y="24"/>
                    <a:pt x="153" y="24"/>
                    <a:pt x="153" y="24"/>
                  </a:cubicBezTo>
                  <a:cubicBezTo>
                    <a:pt x="156" y="25"/>
                    <a:pt x="158" y="29"/>
                    <a:pt x="157" y="32"/>
                  </a:cubicBezTo>
                  <a:cubicBezTo>
                    <a:pt x="156" y="34"/>
                    <a:pt x="154" y="36"/>
                    <a:pt x="151"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5" name="Freeform 155">
              <a:extLst>
                <a:ext uri="{FF2B5EF4-FFF2-40B4-BE49-F238E27FC236}">
                  <a16:creationId xmlns:a16="http://schemas.microsoft.com/office/drawing/2014/main" id="{66F54A93-721A-9C35-2DEE-B98DBE322D3D}"/>
                </a:ext>
              </a:extLst>
            </p:cNvPr>
            <p:cNvSpPr>
              <a:spLocks/>
            </p:cNvSpPr>
            <p:nvPr/>
          </p:nvSpPr>
          <p:spPr bwMode="auto">
            <a:xfrm>
              <a:off x="6653" y="1983"/>
              <a:ext cx="18" cy="160"/>
            </a:xfrm>
            <a:custGeom>
              <a:avLst/>
              <a:gdLst>
                <a:gd name="T0" fmla="*/ 6 w 12"/>
                <a:gd name="T1" fmla="*/ 108 h 108"/>
                <a:gd name="T2" fmla="*/ 0 w 12"/>
                <a:gd name="T3" fmla="*/ 102 h 108"/>
                <a:gd name="T4" fmla="*/ 0 w 12"/>
                <a:gd name="T5" fmla="*/ 6 h 108"/>
                <a:gd name="T6" fmla="*/ 6 w 12"/>
                <a:gd name="T7" fmla="*/ 0 h 108"/>
                <a:gd name="T8" fmla="*/ 12 w 12"/>
                <a:gd name="T9" fmla="*/ 6 h 108"/>
                <a:gd name="T10" fmla="*/ 12 w 12"/>
                <a:gd name="T11" fmla="*/ 102 h 108"/>
                <a:gd name="T12" fmla="*/ 6 w 12"/>
                <a:gd name="T13" fmla="*/ 108 h 108"/>
              </a:gdLst>
              <a:ahLst/>
              <a:cxnLst>
                <a:cxn ang="0">
                  <a:pos x="T0" y="T1"/>
                </a:cxn>
                <a:cxn ang="0">
                  <a:pos x="T2" y="T3"/>
                </a:cxn>
                <a:cxn ang="0">
                  <a:pos x="T4" y="T5"/>
                </a:cxn>
                <a:cxn ang="0">
                  <a:pos x="T6" y="T7"/>
                </a:cxn>
                <a:cxn ang="0">
                  <a:pos x="T8" y="T9"/>
                </a:cxn>
                <a:cxn ang="0">
                  <a:pos x="T10" y="T11"/>
                </a:cxn>
                <a:cxn ang="0">
                  <a:pos x="T12" y="T13"/>
                </a:cxn>
              </a:cxnLst>
              <a:rect l="0" t="0" r="r" b="b"/>
              <a:pathLst>
                <a:path w="12" h="108">
                  <a:moveTo>
                    <a:pt x="6" y="108"/>
                  </a:moveTo>
                  <a:cubicBezTo>
                    <a:pt x="3" y="108"/>
                    <a:pt x="0" y="105"/>
                    <a:pt x="0" y="102"/>
                  </a:cubicBezTo>
                  <a:cubicBezTo>
                    <a:pt x="0" y="6"/>
                    <a:pt x="0" y="6"/>
                    <a:pt x="0" y="6"/>
                  </a:cubicBezTo>
                  <a:cubicBezTo>
                    <a:pt x="0" y="2"/>
                    <a:pt x="3" y="0"/>
                    <a:pt x="6" y="0"/>
                  </a:cubicBezTo>
                  <a:cubicBezTo>
                    <a:pt x="10" y="0"/>
                    <a:pt x="12" y="2"/>
                    <a:pt x="12" y="6"/>
                  </a:cubicBezTo>
                  <a:cubicBezTo>
                    <a:pt x="12" y="102"/>
                    <a:pt x="12" y="102"/>
                    <a:pt x="12" y="102"/>
                  </a:cubicBezTo>
                  <a:cubicBezTo>
                    <a:pt x="12" y="105"/>
                    <a:pt x="10" y="108"/>
                    <a:pt x="6"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nvGrpSpPr>
          <p:cNvPr id="26" name="Group 38">
            <a:extLst>
              <a:ext uri="{FF2B5EF4-FFF2-40B4-BE49-F238E27FC236}">
                <a16:creationId xmlns:a16="http://schemas.microsoft.com/office/drawing/2014/main" id="{B3C201A0-13DD-4175-C050-E958FCBC583E}"/>
              </a:ext>
            </a:extLst>
          </p:cNvPr>
          <p:cNvGrpSpPr>
            <a:grpSpLocks noChangeAspect="1"/>
          </p:cNvGrpSpPr>
          <p:nvPr/>
        </p:nvGrpSpPr>
        <p:grpSpPr bwMode="auto">
          <a:xfrm>
            <a:off x="7367799" y="2489489"/>
            <a:ext cx="529168" cy="543194"/>
            <a:chOff x="4482" y="439"/>
            <a:chExt cx="415" cy="426"/>
          </a:xfrm>
          <a:solidFill>
            <a:schemeClr val="tx2"/>
          </a:solidFill>
        </p:grpSpPr>
        <p:sp>
          <p:nvSpPr>
            <p:cNvPr id="27" name="Freeform 39">
              <a:extLst>
                <a:ext uri="{FF2B5EF4-FFF2-40B4-BE49-F238E27FC236}">
                  <a16:creationId xmlns:a16="http://schemas.microsoft.com/office/drawing/2014/main" id="{928495EF-CDEC-CD55-2C9F-3244BC78FA64}"/>
                </a:ext>
              </a:extLst>
            </p:cNvPr>
            <p:cNvSpPr>
              <a:spLocks noEditPoints="1"/>
            </p:cNvSpPr>
            <p:nvPr/>
          </p:nvSpPr>
          <p:spPr bwMode="auto">
            <a:xfrm>
              <a:off x="4651" y="439"/>
              <a:ext cx="246" cy="249"/>
            </a:xfrm>
            <a:custGeom>
              <a:avLst/>
              <a:gdLst>
                <a:gd name="T0" fmla="*/ 66 w 166"/>
                <a:gd name="T1" fmla="*/ 168 h 168"/>
                <a:gd name="T2" fmla="*/ 60 w 166"/>
                <a:gd name="T3" fmla="*/ 146 h 168"/>
                <a:gd name="T4" fmla="*/ 27 w 166"/>
                <a:gd name="T5" fmla="*/ 143 h 168"/>
                <a:gd name="T6" fmla="*/ 1 w 166"/>
                <a:gd name="T7" fmla="*/ 110 h 168"/>
                <a:gd name="T8" fmla="*/ 3 w 166"/>
                <a:gd name="T9" fmla="*/ 102 h 168"/>
                <a:gd name="T10" fmla="*/ 18 w 166"/>
                <a:gd name="T11" fmla="*/ 74 h 168"/>
                <a:gd name="T12" fmla="*/ 1 w 166"/>
                <a:gd name="T13" fmla="*/ 62 h 168"/>
                <a:gd name="T14" fmla="*/ 20 w 166"/>
                <a:gd name="T15" fmla="*/ 26 h 168"/>
                <a:gd name="T16" fmla="*/ 42 w 166"/>
                <a:gd name="T17" fmla="*/ 32 h 168"/>
                <a:gd name="T18" fmla="*/ 60 w 166"/>
                <a:gd name="T19" fmla="*/ 6 h 168"/>
                <a:gd name="T20" fmla="*/ 102 w 166"/>
                <a:gd name="T21" fmla="*/ 0 h 168"/>
                <a:gd name="T22" fmla="*/ 108 w 166"/>
                <a:gd name="T23" fmla="*/ 23 h 168"/>
                <a:gd name="T24" fmla="*/ 139 w 166"/>
                <a:gd name="T25" fmla="*/ 24 h 168"/>
                <a:gd name="T26" fmla="*/ 147 w 166"/>
                <a:gd name="T27" fmla="*/ 26 h 168"/>
                <a:gd name="T28" fmla="*/ 165 w 166"/>
                <a:gd name="T29" fmla="*/ 62 h 168"/>
                <a:gd name="T30" fmla="*/ 148 w 166"/>
                <a:gd name="T31" fmla="*/ 74 h 168"/>
                <a:gd name="T32" fmla="*/ 163 w 166"/>
                <a:gd name="T33" fmla="*/ 102 h 168"/>
                <a:gd name="T34" fmla="*/ 165 w 166"/>
                <a:gd name="T35" fmla="*/ 110 h 168"/>
                <a:gd name="T36" fmla="*/ 143 w 166"/>
                <a:gd name="T37" fmla="*/ 144 h 168"/>
                <a:gd name="T38" fmla="*/ 125 w 166"/>
                <a:gd name="T39" fmla="*/ 135 h 168"/>
                <a:gd name="T40" fmla="*/ 108 w 166"/>
                <a:gd name="T41" fmla="*/ 162 h 168"/>
                <a:gd name="T42" fmla="*/ 72 w 166"/>
                <a:gd name="T43" fmla="*/ 156 h 168"/>
                <a:gd name="T44" fmla="*/ 96 w 166"/>
                <a:gd name="T45" fmla="*/ 141 h 168"/>
                <a:gd name="T46" fmla="*/ 120 w 166"/>
                <a:gd name="T47" fmla="*/ 123 h 168"/>
                <a:gd name="T48" fmla="*/ 139 w 166"/>
                <a:gd name="T49" fmla="*/ 130 h 168"/>
                <a:gd name="T50" fmla="*/ 139 w 166"/>
                <a:gd name="T51" fmla="*/ 102 h 168"/>
                <a:gd name="T52" fmla="*/ 136 w 166"/>
                <a:gd name="T53" fmla="*/ 72 h 168"/>
                <a:gd name="T54" fmla="*/ 151 w 166"/>
                <a:gd name="T55" fmla="*/ 58 h 168"/>
                <a:gd name="T56" fmla="*/ 127 w 166"/>
                <a:gd name="T57" fmla="*/ 45 h 168"/>
                <a:gd name="T58" fmla="*/ 100 w 166"/>
                <a:gd name="T59" fmla="*/ 32 h 168"/>
                <a:gd name="T60" fmla="*/ 96 w 166"/>
                <a:gd name="T61" fmla="*/ 12 h 168"/>
                <a:gd name="T62" fmla="*/ 72 w 166"/>
                <a:gd name="T63" fmla="*/ 26 h 168"/>
                <a:gd name="T64" fmla="*/ 48 w 166"/>
                <a:gd name="T65" fmla="*/ 44 h 168"/>
                <a:gd name="T66" fmla="*/ 27 w 166"/>
                <a:gd name="T67" fmla="*/ 37 h 168"/>
                <a:gd name="T68" fmla="*/ 28 w 166"/>
                <a:gd name="T69" fmla="*/ 65 h 168"/>
                <a:gd name="T70" fmla="*/ 30 w 166"/>
                <a:gd name="T71" fmla="*/ 95 h 168"/>
                <a:gd name="T72" fmla="*/ 15 w 166"/>
                <a:gd name="T73" fmla="*/ 109 h 168"/>
                <a:gd name="T74" fmla="*/ 40 w 166"/>
                <a:gd name="T75" fmla="*/ 123 h 168"/>
                <a:gd name="T76" fmla="*/ 68 w 166"/>
                <a:gd name="T77" fmla="*/ 135 h 168"/>
                <a:gd name="T78" fmla="*/ 72 w 166"/>
                <a:gd name="T7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6" h="168">
                  <a:moveTo>
                    <a:pt x="102" y="168"/>
                  </a:moveTo>
                  <a:cubicBezTo>
                    <a:pt x="66" y="168"/>
                    <a:pt x="66" y="168"/>
                    <a:pt x="66" y="168"/>
                  </a:cubicBezTo>
                  <a:cubicBezTo>
                    <a:pt x="63" y="168"/>
                    <a:pt x="60" y="165"/>
                    <a:pt x="60" y="162"/>
                  </a:cubicBezTo>
                  <a:cubicBezTo>
                    <a:pt x="60" y="146"/>
                    <a:pt x="60" y="146"/>
                    <a:pt x="60" y="146"/>
                  </a:cubicBezTo>
                  <a:cubicBezTo>
                    <a:pt x="52" y="143"/>
                    <a:pt x="47" y="139"/>
                    <a:pt x="42" y="135"/>
                  </a:cubicBezTo>
                  <a:cubicBezTo>
                    <a:pt x="27" y="143"/>
                    <a:pt x="27" y="143"/>
                    <a:pt x="27" y="143"/>
                  </a:cubicBezTo>
                  <a:cubicBezTo>
                    <a:pt x="25" y="145"/>
                    <a:pt x="21" y="144"/>
                    <a:pt x="19" y="141"/>
                  </a:cubicBezTo>
                  <a:cubicBezTo>
                    <a:pt x="1" y="110"/>
                    <a:pt x="1" y="110"/>
                    <a:pt x="1" y="110"/>
                  </a:cubicBezTo>
                  <a:cubicBezTo>
                    <a:pt x="1" y="109"/>
                    <a:pt x="0" y="107"/>
                    <a:pt x="1" y="106"/>
                  </a:cubicBezTo>
                  <a:cubicBezTo>
                    <a:pt x="1" y="104"/>
                    <a:pt x="2" y="103"/>
                    <a:pt x="3" y="102"/>
                  </a:cubicBezTo>
                  <a:cubicBezTo>
                    <a:pt x="18" y="94"/>
                    <a:pt x="18" y="94"/>
                    <a:pt x="18" y="94"/>
                  </a:cubicBezTo>
                  <a:cubicBezTo>
                    <a:pt x="17" y="87"/>
                    <a:pt x="17" y="80"/>
                    <a:pt x="18" y="74"/>
                  </a:cubicBezTo>
                  <a:cubicBezTo>
                    <a:pt x="4" y="65"/>
                    <a:pt x="4" y="65"/>
                    <a:pt x="4" y="65"/>
                  </a:cubicBezTo>
                  <a:cubicBezTo>
                    <a:pt x="2" y="65"/>
                    <a:pt x="1" y="63"/>
                    <a:pt x="1" y="62"/>
                  </a:cubicBezTo>
                  <a:cubicBezTo>
                    <a:pt x="0" y="60"/>
                    <a:pt x="1" y="59"/>
                    <a:pt x="1" y="57"/>
                  </a:cubicBezTo>
                  <a:cubicBezTo>
                    <a:pt x="20" y="26"/>
                    <a:pt x="20" y="26"/>
                    <a:pt x="20" y="26"/>
                  </a:cubicBezTo>
                  <a:cubicBezTo>
                    <a:pt x="21" y="23"/>
                    <a:pt x="25" y="22"/>
                    <a:pt x="28" y="24"/>
                  </a:cubicBezTo>
                  <a:cubicBezTo>
                    <a:pt x="42" y="32"/>
                    <a:pt x="42" y="32"/>
                    <a:pt x="42" y="32"/>
                  </a:cubicBezTo>
                  <a:cubicBezTo>
                    <a:pt x="47" y="28"/>
                    <a:pt x="52" y="24"/>
                    <a:pt x="60" y="22"/>
                  </a:cubicBezTo>
                  <a:cubicBezTo>
                    <a:pt x="60" y="6"/>
                    <a:pt x="60" y="6"/>
                    <a:pt x="60" y="6"/>
                  </a:cubicBezTo>
                  <a:cubicBezTo>
                    <a:pt x="60" y="2"/>
                    <a:pt x="63" y="0"/>
                    <a:pt x="66" y="0"/>
                  </a:cubicBezTo>
                  <a:cubicBezTo>
                    <a:pt x="102" y="0"/>
                    <a:pt x="102" y="0"/>
                    <a:pt x="102" y="0"/>
                  </a:cubicBezTo>
                  <a:cubicBezTo>
                    <a:pt x="106" y="0"/>
                    <a:pt x="108" y="2"/>
                    <a:pt x="108" y="6"/>
                  </a:cubicBezTo>
                  <a:cubicBezTo>
                    <a:pt x="108" y="23"/>
                    <a:pt x="108" y="23"/>
                    <a:pt x="108" y="23"/>
                  </a:cubicBezTo>
                  <a:cubicBezTo>
                    <a:pt x="115" y="26"/>
                    <a:pt x="121" y="29"/>
                    <a:pt x="125" y="32"/>
                  </a:cubicBezTo>
                  <a:cubicBezTo>
                    <a:pt x="139" y="24"/>
                    <a:pt x="139" y="24"/>
                    <a:pt x="139" y="24"/>
                  </a:cubicBezTo>
                  <a:cubicBezTo>
                    <a:pt x="140" y="23"/>
                    <a:pt x="142" y="23"/>
                    <a:pt x="143" y="23"/>
                  </a:cubicBezTo>
                  <a:cubicBezTo>
                    <a:pt x="145" y="24"/>
                    <a:pt x="146" y="25"/>
                    <a:pt x="147" y="26"/>
                  </a:cubicBezTo>
                  <a:cubicBezTo>
                    <a:pt x="165" y="57"/>
                    <a:pt x="165" y="57"/>
                    <a:pt x="165" y="57"/>
                  </a:cubicBezTo>
                  <a:cubicBezTo>
                    <a:pt x="166" y="59"/>
                    <a:pt x="166" y="60"/>
                    <a:pt x="165" y="62"/>
                  </a:cubicBezTo>
                  <a:cubicBezTo>
                    <a:pt x="165" y="63"/>
                    <a:pt x="164" y="65"/>
                    <a:pt x="163" y="65"/>
                  </a:cubicBezTo>
                  <a:cubicBezTo>
                    <a:pt x="148" y="74"/>
                    <a:pt x="148" y="74"/>
                    <a:pt x="148" y="74"/>
                  </a:cubicBezTo>
                  <a:cubicBezTo>
                    <a:pt x="149" y="80"/>
                    <a:pt x="149" y="87"/>
                    <a:pt x="148" y="94"/>
                  </a:cubicBezTo>
                  <a:cubicBezTo>
                    <a:pt x="163" y="102"/>
                    <a:pt x="163" y="102"/>
                    <a:pt x="163" y="102"/>
                  </a:cubicBezTo>
                  <a:cubicBezTo>
                    <a:pt x="164" y="103"/>
                    <a:pt x="165" y="104"/>
                    <a:pt x="165" y="106"/>
                  </a:cubicBezTo>
                  <a:cubicBezTo>
                    <a:pt x="166" y="107"/>
                    <a:pt x="166" y="109"/>
                    <a:pt x="165" y="110"/>
                  </a:cubicBezTo>
                  <a:cubicBezTo>
                    <a:pt x="147" y="141"/>
                    <a:pt x="147" y="141"/>
                    <a:pt x="147" y="141"/>
                  </a:cubicBezTo>
                  <a:cubicBezTo>
                    <a:pt x="146" y="143"/>
                    <a:pt x="145" y="144"/>
                    <a:pt x="143" y="144"/>
                  </a:cubicBezTo>
                  <a:cubicBezTo>
                    <a:pt x="142" y="144"/>
                    <a:pt x="140" y="144"/>
                    <a:pt x="139" y="143"/>
                  </a:cubicBezTo>
                  <a:cubicBezTo>
                    <a:pt x="125" y="135"/>
                    <a:pt x="125" y="135"/>
                    <a:pt x="125" y="135"/>
                  </a:cubicBezTo>
                  <a:cubicBezTo>
                    <a:pt x="121" y="138"/>
                    <a:pt x="115" y="142"/>
                    <a:pt x="108" y="145"/>
                  </a:cubicBezTo>
                  <a:cubicBezTo>
                    <a:pt x="108" y="162"/>
                    <a:pt x="108" y="162"/>
                    <a:pt x="108" y="162"/>
                  </a:cubicBezTo>
                  <a:cubicBezTo>
                    <a:pt x="108" y="165"/>
                    <a:pt x="106" y="168"/>
                    <a:pt x="102" y="168"/>
                  </a:cubicBezTo>
                  <a:close/>
                  <a:moveTo>
                    <a:pt x="72" y="156"/>
                  </a:moveTo>
                  <a:cubicBezTo>
                    <a:pt x="96" y="156"/>
                    <a:pt x="96" y="156"/>
                    <a:pt x="96" y="156"/>
                  </a:cubicBezTo>
                  <a:cubicBezTo>
                    <a:pt x="96" y="141"/>
                    <a:pt x="96" y="141"/>
                    <a:pt x="96" y="141"/>
                  </a:cubicBezTo>
                  <a:cubicBezTo>
                    <a:pt x="96" y="139"/>
                    <a:pt x="98" y="136"/>
                    <a:pt x="100" y="135"/>
                  </a:cubicBezTo>
                  <a:cubicBezTo>
                    <a:pt x="109" y="131"/>
                    <a:pt x="116" y="127"/>
                    <a:pt x="120" y="123"/>
                  </a:cubicBezTo>
                  <a:cubicBezTo>
                    <a:pt x="122" y="122"/>
                    <a:pt x="125" y="121"/>
                    <a:pt x="127" y="123"/>
                  </a:cubicBezTo>
                  <a:cubicBezTo>
                    <a:pt x="139" y="130"/>
                    <a:pt x="139" y="130"/>
                    <a:pt x="139" y="130"/>
                  </a:cubicBezTo>
                  <a:cubicBezTo>
                    <a:pt x="151" y="109"/>
                    <a:pt x="151" y="109"/>
                    <a:pt x="151" y="109"/>
                  </a:cubicBezTo>
                  <a:cubicBezTo>
                    <a:pt x="139" y="102"/>
                    <a:pt x="139" y="102"/>
                    <a:pt x="139" y="102"/>
                  </a:cubicBezTo>
                  <a:cubicBezTo>
                    <a:pt x="136" y="101"/>
                    <a:pt x="135" y="98"/>
                    <a:pt x="136" y="95"/>
                  </a:cubicBezTo>
                  <a:cubicBezTo>
                    <a:pt x="137" y="87"/>
                    <a:pt x="137" y="80"/>
                    <a:pt x="136" y="72"/>
                  </a:cubicBezTo>
                  <a:cubicBezTo>
                    <a:pt x="135" y="69"/>
                    <a:pt x="136" y="67"/>
                    <a:pt x="139" y="65"/>
                  </a:cubicBezTo>
                  <a:cubicBezTo>
                    <a:pt x="151" y="58"/>
                    <a:pt x="151" y="58"/>
                    <a:pt x="151" y="58"/>
                  </a:cubicBezTo>
                  <a:cubicBezTo>
                    <a:pt x="139" y="37"/>
                    <a:pt x="139" y="37"/>
                    <a:pt x="139" y="37"/>
                  </a:cubicBezTo>
                  <a:cubicBezTo>
                    <a:pt x="127" y="45"/>
                    <a:pt x="127" y="45"/>
                    <a:pt x="127" y="45"/>
                  </a:cubicBezTo>
                  <a:cubicBezTo>
                    <a:pt x="125" y="46"/>
                    <a:pt x="122" y="46"/>
                    <a:pt x="120" y="44"/>
                  </a:cubicBezTo>
                  <a:cubicBezTo>
                    <a:pt x="116" y="40"/>
                    <a:pt x="109" y="36"/>
                    <a:pt x="100" y="32"/>
                  </a:cubicBezTo>
                  <a:cubicBezTo>
                    <a:pt x="98" y="31"/>
                    <a:pt x="96" y="29"/>
                    <a:pt x="96" y="26"/>
                  </a:cubicBezTo>
                  <a:cubicBezTo>
                    <a:pt x="96" y="12"/>
                    <a:pt x="96" y="12"/>
                    <a:pt x="96" y="12"/>
                  </a:cubicBezTo>
                  <a:cubicBezTo>
                    <a:pt x="72" y="12"/>
                    <a:pt x="72" y="12"/>
                    <a:pt x="72" y="12"/>
                  </a:cubicBezTo>
                  <a:cubicBezTo>
                    <a:pt x="72" y="26"/>
                    <a:pt x="72" y="26"/>
                    <a:pt x="72" y="26"/>
                  </a:cubicBezTo>
                  <a:cubicBezTo>
                    <a:pt x="72" y="29"/>
                    <a:pt x="71" y="32"/>
                    <a:pt x="68" y="32"/>
                  </a:cubicBezTo>
                  <a:cubicBezTo>
                    <a:pt x="57" y="35"/>
                    <a:pt x="54" y="38"/>
                    <a:pt x="48" y="44"/>
                  </a:cubicBezTo>
                  <a:cubicBezTo>
                    <a:pt x="46" y="45"/>
                    <a:pt x="43" y="46"/>
                    <a:pt x="40" y="45"/>
                  </a:cubicBezTo>
                  <a:cubicBezTo>
                    <a:pt x="27" y="37"/>
                    <a:pt x="27" y="37"/>
                    <a:pt x="27" y="37"/>
                  </a:cubicBezTo>
                  <a:cubicBezTo>
                    <a:pt x="15" y="58"/>
                    <a:pt x="15" y="58"/>
                    <a:pt x="15" y="58"/>
                  </a:cubicBezTo>
                  <a:cubicBezTo>
                    <a:pt x="28" y="65"/>
                    <a:pt x="28" y="65"/>
                    <a:pt x="28" y="65"/>
                  </a:cubicBezTo>
                  <a:cubicBezTo>
                    <a:pt x="30" y="67"/>
                    <a:pt x="31" y="69"/>
                    <a:pt x="30" y="72"/>
                  </a:cubicBezTo>
                  <a:cubicBezTo>
                    <a:pt x="29" y="80"/>
                    <a:pt x="29" y="88"/>
                    <a:pt x="30" y="95"/>
                  </a:cubicBezTo>
                  <a:cubicBezTo>
                    <a:pt x="31" y="98"/>
                    <a:pt x="30" y="101"/>
                    <a:pt x="28" y="102"/>
                  </a:cubicBezTo>
                  <a:cubicBezTo>
                    <a:pt x="15" y="109"/>
                    <a:pt x="15" y="109"/>
                    <a:pt x="15" y="109"/>
                  </a:cubicBezTo>
                  <a:cubicBezTo>
                    <a:pt x="27" y="130"/>
                    <a:pt x="27" y="130"/>
                    <a:pt x="27" y="130"/>
                  </a:cubicBezTo>
                  <a:cubicBezTo>
                    <a:pt x="40" y="123"/>
                    <a:pt x="40" y="123"/>
                    <a:pt x="40" y="123"/>
                  </a:cubicBezTo>
                  <a:cubicBezTo>
                    <a:pt x="43" y="121"/>
                    <a:pt x="45" y="122"/>
                    <a:pt x="47" y="123"/>
                  </a:cubicBezTo>
                  <a:cubicBezTo>
                    <a:pt x="54" y="129"/>
                    <a:pt x="57" y="133"/>
                    <a:pt x="68" y="135"/>
                  </a:cubicBezTo>
                  <a:cubicBezTo>
                    <a:pt x="71" y="136"/>
                    <a:pt x="72" y="138"/>
                    <a:pt x="72" y="141"/>
                  </a:cubicBezTo>
                  <a:lnTo>
                    <a:pt x="7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8" name="Freeform 40">
              <a:extLst>
                <a:ext uri="{FF2B5EF4-FFF2-40B4-BE49-F238E27FC236}">
                  <a16:creationId xmlns:a16="http://schemas.microsoft.com/office/drawing/2014/main" id="{426A4B48-262E-2DC4-17DE-67A086F3D02A}"/>
                </a:ext>
              </a:extLst>
            </p:cNvPr>
            <p:cNvSpPr>
              <a:spLocks noEditPoints="1"/>
            </p:cNvSpPr>
            <p:nvPr/>
          </p:nvSpPr>
          <p:spPr bwMode="auto">
            <a:xfrm>
              <a:off x="4729" y="519"/>
              <a:ext cx="89" cy="89"/>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9" name="Freeform 41">
              <a:extLst>
                <a:ext uri="{FF2B5EF4-FFF2-40B4-BE49-F238E27FC236}">
                  <a16:creationId xmlns:a16="http://schemas.microsoft.com/office/drawing/2014/main" id="{FAA206A8-29E2-1BB8-12AB-2A60A36ECA08}"/>
                </a:ext>
              </a:extLst>
            </p:cNvPr>
            <p:cNvSpPr>
              <a:spLocks noEditPoints="1"/>
            </p:cNvSpPr>
            <p:nvPr/>
          </p:nvSpPr>
          <p:spPr bwMode="auto">
            <a:xfrm>
              <a:off x="4482" y="617"/>
              <a:ext cx="246" cy="248"/>
            </a:xfrm>
            <a:custGeom>
              <a:avLst/>
              <a:gdLst>
                <a:gd name="T0" fmla="*/ 66 w 166"/>
                <a:gd name="T1" fmla="*/ 168 h 168"/>
                <a:gd name="T2" fmla="*/ 60 w 166"/>
                <a:gd name="T3" fmla="*/ 146 h 168"/>
                <a:gd name="T4" fmla="*/ 27 w 166"/>
                <a:gd name="T5" fmla="*/ 143 h 168"/>
                <a:gd name="T6" fmla="*/ 1 w 166"/>
                <a:gd name="T7" fmla="*/ 110 h 168"/>
                <a:gd name="T8" fmla="*/ 3 w 166"/>
                <a:gd name="T9" fmla="*/ 102 h 168"/>
                <a:gd name="T10" fmla="*/ 18 w 166"/>
                <a:gd name="T11" fmla="*/ 74 h 168"/>
                <a:gd name="T12" fmla="*/ 1 w 166"/>
                <a:gd name="T13" fmla="*/ 62 h 168"/>
                <a:gd name="T14" fmla="*/ 20 w 166"/>
                <a:gd name="T15" fmla="*/ 26 h 168"/>
                <a:gd name="T16" fmla="*/ 42 w 166"/>
                <a:gd name="T17" fmla="*/ 32 h 168"/>
                <a:gd name="T18" fmla="*/ 60 w 166"/>
                <a:gd name="T19" fmla="*/ 6 h 168"/>
                <a:gd name="T20" fmla="*/ 102 w 166"/>
                <a:gd name="T21" fmla="*/ 0 h 168"/>
                <a:gd name="T22" fmla="*/ 108 w 166"/>
                <a:gd name="T23" fmla="*/ 23 h 168"/>
                <a:gd name="T24" fmla="*/ 138 w 166"/>
                <a:gd name="T25" fmla="*/ 24 h 168"/>
                <a:gd name="T26" fmla="*/ 147 w 166"/>
                <a:gd name="T27" fmla="*/ 26 h 168"/>
                <a:gd name="T28" fmla="*/ 165 w 166"/>
                <a:gd name="T29" fmla="*/ 62 h 168"/>
                <a:gd name="T30" fmla="*/ 148 w 166"/>
                <a:gd name="T31" fmla="*/ 74 h 168"/>
                <a:gd name="T32" fmla="*/ 163 w 166"/>
                <a:gd name="T33" fmla="*/ 102 h 168"/>
                <a:gd name="T34" fmla="*/ 165 w 166"/>
                <a:gd name="T35" fmla="*/ 110 h 168"/>
                <a:gd name="T36" fmla="*/ 143 w 166"/>
                <a:gd name="T37" fmla="*/ 144 h 168"/>
                <a:gd name="T38" fmla="*/ 125 w 166"/>
                <a:gd name="T39" fmla="*/ 135 h 168"/>
                <a:gd name="T40" fmla="*/ 108 w 166"/>
                <a:gd name="T41" fmla="*/ 162 h 168"/>
                <a:gd name="T42" fmla="*/ 72 w 166"/>
                <a:gd name="T43" fmla="*/ 156 h 168"/>
                <a:gd name="T44" fmla="*/ 96 w 166"/>
                <a:gd name="T45" fmla="*/ 141 h 168"/>
                <a:gd name="T46" fmla="*/ 120 w 166"/>
                <a:gd name="T47" fmla="*/ 123 h 168"/>
                <a:gd name="T48" fmla="*/ 139 w 166"/>
                <a:gd name="T49" fmla="*/ 130 h 168"/>
                <a:gd name="T50" fmla="*/ 139 w 166"/>
                <a:gd name="T51" fmla="*/ 102 h 168"/>
                <a:gd name="T52" fmla="*/ 136 w 166"/>
                <a:gd name="T53" fmla="*/ 72 h 168"/>
                <a:gd name="T54" fmla="*/ 151 w 166"/>
                <a:gd name="T55" fmla="*/ 58 h 168"/>
                <a:gd name="T56" fmla="*/ 127 w 166"/>
                <a:gd name="T57" fmla="*/ 45 h 168"/>
                <a:gd name="T58" fmla="*/ 100 w 166"/>
                <a:gd name="T59" fmla="*/ 32 h 168"/>
                <a:gd name="T60" fmla="*/ 96 w 166"/>
                <a:gd name="T61" fmla="*/ 12 h 168"/>
                <a:gd name="T62" fmla="*/ 72 w 166"/>
                <a:gd name="T63" fmla="*/ 26 h 168"/>
                <a:gd name="T64" fmla="*/ 48 w 166"/>
                <a:gd name="T65" fmla="*/ 44 h 168"/>
                <a:gd name="T66" fmla="*/ 27 w 166"/>
                <a:gd name="T67" fmla="*/ 37 h 168"/>
                <a:gd name="T68" fmla="*/ 28 w 166"/>
                <a:gd name="T69" fmla="*/ 65 h 168"/>
                <a:gd name="T70" fmla="*/ 30 w 166"/>
                <a:gd name="T71" fmla="*/ 95 h 168"/>
                <a:gd name="T72" fmla="*/ 15 w 166"/>
                <a:gd name="T73" fmla="*/ 109 h 168"/>
                <a:gd name="T74" fmla="*/ 40 w 166"/>
                <a:gd name="T75" fmla="*/ 123 h 168"/>
                <a:gd name="T76" fmla="*/ 68 w 166"/>
                <a:gd name="T77" fmla="*/ 135 h 168"/>
                <a:gd name="T78" fmla="*/ 72 w 166"/>
                <a:gd name="T7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6" h="168">
                  <a:moveTo>
                    <a:pt x="102" y="168"/>
                  </a:moveTo>
                  <a:cubicBezTo>
                    <a:pt x="66" y="168"/>
                    <a:pt x="66" y="168"/>
                    <a:pt x="66" y="168"/>
                  </a:cubicBezTo>
                  <a:cubicBezTo>
                    <a:pt x="63" y="168"/>
                    <a:pt x="60" y="165"/>
                    <a:pt x="60" y="162"/>
                  </a:cubicBezTo>
                  <a:cubicBezTo>
                    <a:pt x="60" y="146"/>
                    <a:pt x="60" y="146"/>
                    <a:pt x="60" y="146"/>
                  </a:cubicBezTo>
                  <a:cubicBezTo>
                    <a:pt x="52" y="143"/>
                    <a:pt x="47" y="139"/>
                    <a:pt x="42" y="135"/>
                  </a:cubicBezTo>
                  <a:cubicBezTo>
                    <a:pt x="27" y="143"/>
                    <a:pt x="27" y="143"/>
                    <a:pt x="27" y="143"/>
                  </a:cubicBezTo>
                  <a:cubicBezTo>
                    <a:pt x="25" y="145"/>
                    <a:pt x="21" y="144"/>
                    <a:pt x="19" y="141"/>
                  </a:cubicBezTo>
                  <a:cubicBezTo>
                    <a:pt x="1" y="110"/>
                    <a:pt x="1" y="110"/>
                    <a:pt x="1" y="110"/>
                  </a:cubicBezTo>
                  <a:cubicBezTo>
                    <a:pt x="0" y="109"/>
                    <a:pt x="0" y="107"/>
                    <a:pt x="1" y="106"/>
                  </a:cubicBezTo>
                  <a:cubicBezTo>
                    <a:pt x="1" y="104"/>
                    <a:pt x="2" y="103"/>
                    <a:pt x="3" y="102"/>
                  </a:cubicBezTo>
                  <a:cubicBezTo>
                    <a:pt x="18" y="94"/>
                    <a:pt x="18" y="94"/>
                    <a:pt x="18" y="94"/>
                  </a:cubicBezTo>
                  <a:cubicBezTo>
                    <a:pt x="17" y="87"/>
                    <a:pt x="17" y="80"/>
                    <a:pt x="18" y="74"/>
                  </a:cubicBezTo>
                  <a:cubicBezTo>
                    <a:pt x="4" y="65"/>
                    <a:pt x="4" y="65"/>
                    <a:pt x="4" y="65"/>
                  </a:cubicBezTo>
                  <a:cubicBezTo>
                    <a:pt x="2" y="65"/>
                    <a:pt x="1" y="63"/>
                    <a:pt x="1" y="62"/>
                  </a:cubicBezTo>
                  <a:cubicBezTo>
                    <a:pt x="0" y="60"/>
                    <a:pt x="1" y="59"/>
                    <a:pt x="1" y="57"/>
                  </a:cubicBezTo>
                  <a:cubicBezTo>
                    <a:pt x="20" y="26"/>
                    <a:pt x="20" y="26"/>
                    <a:pt x="20" y="26"/>
                  </a:cubicBezTo>
                  <a:cubicBezTo>
                    <a:pt x="21" y="23"/>
                    <a:pt x="25" y="22"/>
                    <a:pt x="28" y="24"/>
                  </a:cubicBezTo>
                  <a:cubicBezTo>
                    <a:pt x="42" y="32"/>
                    <a:pt x="42" y="32"/>
                    <a:pt x="42" y="32"/>
                  </a:cubicBezTo>
                  <a:cubicBezTo>
                    <a:pt x="47" y="28"/>
                    <a:pt x="52" y="24"/>
                    <a:pt x="60" y="22"/>
                  </a:cubicBezTo>
                  <a:cubicBezTo>
                    <a:pt x="60" y="6"/>
                    <a:pt x="60" y="6"/>
                    <a:pt x="60" y="6"/>
                  </a:cubicBezTo>
                  <a:cubicBezTo>
                    <a:pt x="60" y="2"/>
                    <a:pt x="63" y="0"/>
                    <a:pt x="66" y="0"/>
                  </a:cubicBezTo>
                  <a:cubicBezTo>
                    <a:pt x="102" y="0"/>
                    <a:pt x="102" y="0"/>
                    <a:pt x="102" y="0"/>
                  </a:cubicBezTo>
                  <a:cubicBezTo>
                    <a:pt x="106" y="0"/>
                    <a:pt x="108" y="2"/>
                    <a:pt x="108" y="6"/>
                  </a:cubicBezTo>
                  <a:cubicBezTo>
                    <a:pt x="108" y="23"/>
                    <a:pt x="108" y="23"/>
                    <a:pt x="108" y="23"/>
                  </a:cubicBezTo>
                  <a:cubicBezTo>
                    <a:pt x="115" y="26"/>
                    <a:pt x="121" y="29"/>
                    <a:pt x="125" y="32"/>
                  </a:cubicBezTo>
                  <a:cubicBezTo>
                    <a:pt x="138" y="24"/>
                    <a:pt x="138" y="24"/>
                    <a:pt x="138" y="24"/>
                  </a:cubicBezTo>
                  <a:cubicBezTo>
                    <a:pt x="140" y="23"/>
                    <a:pt x="142" y="23"/>
                    <a:pt x="143" y="23"/>
                  </a:cubicBezTo>
                  <a:cubicBezTo>
                    <a:pt x="145" y="24"/>
                    <a:pt x="146" y="25"/>
                    <a:pt x="147" y="26"/>
                  </a:cubicBezTo>
                  <a:cubicBezTo>
                    <a:pt x="165" y="57"/>
                    <a:pt x="165" y="57"/>
                    <a:pt x="165" y="57"/>
                  </a:cubicBezTo>
                  <a:cubicBezTo>
                    <a:pt x="166" y="59"/>
                    <a:pt x="166" y="60"/>
                    <a:pt x="165" y="62"/>
                  </a:cubicBezTo>
                  <a:cubicBezTo>
                    <a:pt x="165" y="63"/>
                    <a:pt x="164" y="65"/>
                    <a:pt x="163" y="65"/>
                  </a:cubicBezTo>
                  <a:cubicBezTo>
                    <a:pt x="148" y="74"/>
                    <a:pt x="148" y="74"/>
                    <a:pt x="148" y="74"/>
                  </a:cubicBezTo>
                  <a:cubicBezTo>
                    <a:pt x="149" y="80"/>
                    <a:pt x="149" y="87"/>
                    <a:pt x="148" y="94"/>
                  </a:cubicBezTo>
                  <a:cubicBezTo>
                    <a:pt x="163" y="102"/>
                    <a:pt x="163" y="102"/>
                    <a:pt x="163" y="102"/>
                  </a:cubicBezTo>
                  <a:cubicBezTo>
                    <a:pt x="164" y="103"/>
                    <a:pt x="165" y="104"/>
                    <a:pt x="165" y="106"/>
                  </a:cubicBezTo>
                  <a:cubicBezTo>
                    <a:pt x="166" y="107"/>
                    <a:pt x="166" y="109"/>
                    <a:pt x="165" y="110"/>
                  </a:cubicBezTo>
                  <a:cubicBezTo>
                    <a:pt x="147" y="141"/>
                    <a:pt x="147" y="141"/>
                    <a:pt x="147" y="141"/>
                  </a:cubicBezTo>
                  <a:cubicBezTo>
                    <a:pt x="146" y="143"/>
                    <a:pt x="145" y="144"/>
                    <a:pt x="143" y="144"/>
                  </a:cubicBezTo>
                  <a:cubicBezTo>
                    <a:pt x="142" y="144"/>
                    <a:pt x="140" y="144"/>
                    <a:pt x="138" y="143"/>
                  </a:cubicBezTo>
                  <a:cubicBezTo>
                    <a:pt x="125" y="135"/>
                    <a:pt x="125" y="135"/>
                    <a:pt x="125" y="135"/>
                  </a:cubicBezTo>
                  <a:cubicBezTo>
                    <a:pt x="121" y="138"/>
                    <a:pt x="115" y="142"/>
                    <a:pt x="108" y="145"/>
                  </a:cubicBezTo>
                  <a:cubicBezTo>
                    <a:pt x="108" y="162"/>
                    <a:pt x="108" y="162"/>
                    <a:pt x="108" y="162"/>
                  </a:cubicBezTo>
                  <a:cubicBezTo>
                    <a:pt x="108" y="165"/>
                    <a:pt x="106" y="168"/>
                    <a:pt x="102" y="168"/>
                  </a:cubicBezTo>
                  <a:close/>
                  <a:moveTo>
                    <a:pt x="72" y="156"/>
                  </a:moveTo>
                  <a:cubicBezTo>
                    <a:pt x="96" y="156"/>
                    <a:pt x="96" y="156"/>
                    <a:pt x="96" y="156"/>
                  </a:cubicBezTo>
                  <a:cubicBezTo>
                    <a:pt x="96" y="141"/>
                    <a:pt x="96" y="141"/>
                    <a:pt x="96" y="141"/>
                  </a:cubicBezTo>
                  <a:cubicBezTo>
                    <a:pt x="96" y="139"/>
                    <a:pt x="98" y="136"/>
                    <a:pt x="100" y="135"/>
                  </a:cubicBezTo>
                  <a:cubicBezTo>
                    <a:pt x="109" y="131"/>
                    <a:pt x="116" y="127"/>
                    <a:pt x="120" y="123"/>
                  </a:cubicBezTo>
                  <a:cubicBezTo>
                    <a:pt x="122" y="122"/>
                    <a:pt x="125" y="121"/>
                    <a:pt x="127" y="123"/>
                  </a:cubicBezTo>
                  <a:cubicBezTo>
                    <a:pt x="139" y="130"/>
                    <a:pt x="139" y="130"/>
                    <a:pt x="139" y="130"/>
                  </a:cubicBezTo>
                  <a:cubicBezTo>
                    <a:pt x="151" y="109"/>
                    <a:pt x="151" y="109"/>
                    <a:pt x="151" y="109"/>
                  </a:cubicBezTo>
                  <a:cubicBezTo>
                    <a:pt x="139" y="102"/>
                    <a:pt x="139" y="102"/>
                    <a:pt x="139" y="102"/>
                  </a:cubicBezTo>
                  <a:cubicBezTo>
                    <a:pt x="136" y="101"/>
                    <a:pt x="135" y="98"/>
                    <a:pt x="136" y="95"/>
                  </a:cubicBezTo>
                  <a:cubicBezTo>
                    <a:pt x="137" y="87"/>
                    <a:pt x="137" y="80"/>
                    <a:pt x="136" y="72"/>
                  </a:cubicBezTo>
                  <a:cubicBezTo>
                    <a:pt x="135" y="69"/>
                    <a:pt x="136" y="67"/>
                    <a:pt x="139" y="65"/>
                  </a:cubicBezTo>
                  <a:cubicBezTo>
                    <a:pt x="151" y="58"/>
                    <a:pt x="151" y="58"/>
                    <a:pt x="151" y="58"/>
                  </a:cubicBezTo>
                  <a:cubicBezTo>
                    <a:pt x="139" y="37"/>
                    <a:pt x="139" y="37"/>
                    <a:pt x="139" y="37"/>
                  </a:cubicBezTo>
                  <a:cubicBezTo>
                    <a:pt x="127" y="45"/>
                    <a:pt x="127" y="45"/>
                    <a:pt x="127" y="45"/>
                  </a:cubicBezTo>
                  <a:cubicBezTo>
                    <a:pt x="125" y="46"/>
                    <a:pt x="122" y="46"/>
                    <a:pt x="120" y="44"/>
                  </a:cubicBezTo>
                  <a:cubicBezTo>
                    <a:pt x="116" y="40"/>
                    <a:pt x="109" y="36"/>
                    <a:pt x="100" y="32"/>
                  </a:cubicBezTo>
                  <a:cubicBezTo>
                    <a:pt x="98" y="31"/>
                    <a:pt x="96" y="29"/>
                    <a:pt x="96" y="26"/>
                  </a:cubicBezTo>
                  <a:cubicBezTo>
                    <a:pt x="96" y="12"/>
                    <a:pt x="96" y="12"/>
                    <a:pt x="96" y="12"/>
                  </a:cubicBezTo>
                  <a:cubicBezTo>
                    <a:pt x="72" y="12"/>
                    <a:pt x="72" y="12"/>
                    <a:pt x="72" y="12"/>
                  </a:cubicBezTo>
                  <a:cubicBezTo>
                    <a:pt x="72" y="26"/>
                    <a:pt x="72" y="26"/>
                    <a:pt x="72" y="26"/>
                  </a:cubicBezTo>
                  <a:cubicBezTo>
                    <a:pt x="72" y="29"/>
                    <a:pt x="71" y="32"/>
                    <a:pt x="68" y="32"/>
                  </a:cubicBezTo>
                  <a:cubicBezTo>
                    <a:pt x="58" y="35"/>
                    <a:pt x="54" y="38"/>
                    <a:pt x="48" y="44"/>
                  </a:cubicBezTo>
                  <a:cubicBezTo>
                    <a:pt x="46" y="45"/>
                    <a:pt x="43" y="46"/>
                    <a:pt x="40" y="45"/>
                  </a:cubicBezTo>
                  <a:cubicBezTo>
                    <a:pt x="27" y="37"/>
                    <a:pt x="27" y="37"/>
                    <a:pt x="27" y="37"/>
                  </a:cubicBezTo>
                  <a:cubicBezTo>
                    <a:pt x="15" y="58"/>
                    <a:pt x="15" y="58"/>
                    <a:pt x="15" y="58"/>
                  </a:cubicBezTo>
                  <a:cubicBezTo>
                    <a:pt x="28" y="65"/>
                    <a:pt x="28" y="65"/>
                    <a:pt x="28" y="65"/>
                  </a:cubicBezTo>
                  <a:cubicBezTo>
                    <a:pt x="30" y="67"/>
                    <a:pt x="31" y="69"/>
                    <a:pt x="30" y="72"/>
                  </a:cubicBezTo>
                  <a:cubicBezTo>
                    <a:pt x="29" y="80"/>
                    <a:pt x="29" y="88"/>
                    <a:pt x="30" y="95"/>
                  </a:cubicBezTo>
                  <a:cubicBezTo>
                    <a:pt x="31" y="98"/>
                    <a:pt x="30" y="101"/>
                    <a:pt x="28" y="102"/>
                  </a:cubicBezTo>
                  <a:cubicBezTo>
                    <a:pt x="15" y="109"/>
                    <a:pt x="15" y="109"/>
                    <a:pt x="15" y="109"/>
                  </a:cubicBezTo>
                  <a:cubicBezTo>
                    <a:pt x="27" y="130"/>
                    <a:pt x="27" y="130"/>
                    <a:pt x="27" y="130"/>
                  </a:cubicBezTo>
                  <a:cubicBezTo>
                    <a:pt x="40" y="123"/>
                    <a:pt x="40" y="123"/>
                    <a:pt x="40" y="123"/>
                  </a:cubicBezTo>
                  <a:cubicBezTo>
                    <a:pt x="43" y="121"/>
                    <a:pt x="45" y="122"/>
                    <a:pt x="47" y="123"/>
                  </a:cubicBezTo>
                  <a:cubicBezTo>
                    <a:pt x="54" y="129"/>
                    <a:pt x="57" y="133"/>
                    <a:pt x="68" y="135"/>
                  </a:cubicBezTo>
                  <a:cubicBezTo>
                    <a:pt x="71" y="136"/>
                    <a:pt x="72" y="138"/>
                    <a:pt x="72" y="141"/>
                  </a:cubicBezTo>
                  <a:lnTo>
                    <a:pt x="7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0" name="Freeform 42">
              <a:extLst>
                <a:ext uri="{FF2B5EF4-FFF2-40B4-BE49-F238E27FC236}">
                  <a16:creationId xmlns:a16="http://schemas.microsoft.com/office/drawing/2014/main" id="{BA0DF528-6950-252D-F696-81761E7453E1}"/>
                </a:ext>
              </a:extLst>
            </p:cNvPr>
            <p:cNvSpPr>
              <a:spLocks noEditPoints="1"/>
            </p:cNvSpPr>
            <p:nvPr/>
          </p:nvSpPr>
          <p:spPr bwMode="auto">
            <a:xfrm>
              <a:off x="4561" y="696"/>
              <a:ext cx="88" cy="89"/>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sp>
        <p:nvSpPr>
          <p:cNvPr id="31" name="Freeform 151">
            <a:extLst>
              <a:ext uri="{FF2B5EF4-FFF2-40B4-BE49-F238E27FC236}">
                <a16:creationId xmlns:a16="http://schemas.microsoft.com/office/drawing/2014/main" id="{41B95321-4756-540B-1B53-D14D21538E62}"/>
              </a:ext>
            </a:extLst>
          </p:cNvPr>
          <p:cNvSpPr>
            <a:spLocks noEditPoints="1"/>
          </p:cNvSpPr>
          <p:nvPr/>
        </p:nvSpPr>
        <p:spPr bwMode="auto">
          <a:xfrm>
            <a:off x="7414155" y="4427722"/>
            <a:ext cx="436457" cy="417883"/>
          </a:xfrm>
          <a:custGeom>
            <a:avLst/>
            <a:gdLst>
              <a:gd name="T0" fmla="*/ 151 w 191"/>
              <a:gd name="T1" fmla="*/ 181 h 182"/>
              <a:gd name="T2" fmla="*/ 148 w 191"/>
              <a:gd name="T3" fmla="*/ 181 h 182"/>
              <a:gd name="T4" fmla="*/ 95 w 191"/>
              <a:gd name="T5" fmla="*/ 153 h 182"/>
              <a:gd name="T6" fmla="*/ 43 w 191"/>
              <a:gd name="T7" fmla="*/ 181 h 182"/>
              <a:gd name="T8" fmla="*/ 37 w 191"/>
              <a:gd name="T9" fmla="*/ 180 h 182"/>
              <a:gd name="T10" fmla="*/ 34 w 191"/>
              <a:gd name="T11" fmla="*/ 174 h 182"/>
              <a:gd name="T12" fmla="*/ 44 w 191"/>
              <a:gd name="T13" fmla="*/ 116 h 182"/>
              <a:gd name="T14" fmla="*/ 2 w 191"/>
              <a:gd name="T15" fmla="*/ 75 h 182"/>
              <a:gd name="T16" fmla="*/ 0 w 191"/>
              <a:gd name="T17" fmla="*/ 69 h 182"/>
              <a:gd name="T18" fmla="*/ 5 w 191"/>
              <a:gd name="T19" fmla="*/ 65 h 182"/>
              <a:gd name="T20" fmla="*/ 64 w 191"/>
              <a:gd name="T21" fmla="*/ 56 h 182"/>
              <a:gd name="T22" fmla="*/ 90 w 191"/>
              <a:gd name="T23" fmla="*/ 3 h 182"/>
              <a:gd name="T24" fmla="*/ 95 w 191"/>
              <a:gd name="T25" fmla="*/ 0 h 182"/>
              <a:gd name="T26" fmla="*/ 95 w 191"/>
              <a:gd name="T27" fmla="*/ 0 h 182"/>
              <a:gd name="T28" fmla="*/ 101 w 191"/>
              <a:gd name="T29" fmla="*/ 3 h 182"/>
              <a:gd name="T30" fmla="*/ 127 w 191"/>
              <a:gd name="T31" fmla="*/ 56 h 182"/>
              <a:gd name="T32" fmla="*/ 186 w 191"/>
              <a:gd name="T33" fmla="*/ 65 h 182"/>
              <a:gd name="T34" fmla="*/ 191 w 191"/>
              <a:gd name="T35" fmla="*/ 69 h 182"/>
              <a:gd name="T36" fmla="*/ 189 w 191"/>
              <a:gd name="T37" fmla="*/ 75 h 182"/>
              <a:gd name="T38" fmla="*/ 147 w 191"/>
              <a:gd name="T39" fmla="*/ 116 h 182"/>
              <a:gd name="T40" fmla="*/ 157 w 191"/>
              <a:gd name="T41" fmla="*/ 174 h 182"/>
              <a:gd name="T42" fmla="*/ 154 w 191"/>
              <a:gd name="T43" fmla="*/ 180 h 182"/>
              <a:gd name="T44" fmla="*/ 151 w 191"/>
              <a:gd name="T45" fmla="*/ 181 h 182"/>
              <a:gd name="T46" fmla="*/ 95 w 191"/>
              <a:gd name="T47" fmla="*/ 140 h 182"/>
              <a:gd name="T48" fmla="*/ 98 w 191"/>
              <a:gd name="T49" fmla="*/ 141 h 182"/>
              <a:gd name="T50" fmla="*/ 143 w 191"/>
              <a:gd name="T51" fmla="*/ 164 h 182"/>
              <a:gd name="T52" fmla="*/ 134 w 191"/>
              <a:gd name="T53" fmla="*/ 115 h 182"/>
              <a:gd name="T54" fmla="*/ 136 w 191"/>
              <a:gd name="T55" fmla="*/ 110 h 182"/>
              <a:gd name="T56" fmla="*/ 172 w 191"/>
              <a:gd name="T57" fmla="*/ 75 h 182"/>
              <a:gd name="T58" fmla="*/ 122 w 191"/>
              <a:gd name="T59" fmla="*/ 68 h 182"/>
              <a:gd name="T60" fmla="*/ 118 w 191"/>
              <a:gd name="T61" fmla="*/ 64 h 182"/>
              <a:gd name="T62" fmla="*/ 95 w 191"/>
              <a:gd name="T63" fmla="*/ 20 h 182"/>
              <a:gd name="T64" fmla="*/ 73 w 191"/>
              <a:gd name="T65" fmla="*/ 64 h 182"/>
              <a:gd name="T66" fmla="*/ 69 w 191"/>
              <a:gd name="T67" fmla="*/ 68 h 182"/>
              <a:gd name="T68" fmla="*/ 19 w 191"/>
              <a:gd name="T69" fmla="*/ 75 h 182"/>
              <a:gd name="T70" fmla="*/ 55 w 191"/>
              <a:gd name="T71" fmla="*/ 110 h 182"/>
              <a:gd name="T72" fmla="*/ 57 w 191"/>
              <a:gd name="T73" fmla="*/ 115 h 182"/>
              <a:gd name="T74" fmla="*/ 48 w 191"/>
              <a:gd name="T75" fmla="*/ 164 h 182"/>
              <a:gd name="T76" fmla="*/ 93 w 191"/>
              <a:gd name="T77" fmla="*/ 141 h 182"/>
              <a:gd name="T78" fmla="*/ 95 w 191"/>
              <a:gd name="T79" fmla="*/ 14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1" h="182">
                <a:moveTo>
                  <a:pt x="151" y="181"/>
                </a:moveTo>
                <a:cubicBezTo>
                  <a:pt x="150" y="181"/>
                  <a:pt x="149" y="181"/>
                  <a:pt x="148" y="181"/>
                </a:cubicBezTo>
                <a:cubicBezTo>
                  <a:pt x="95" y="153"/>
                  <a:pt x="95" y="153"/>
                  <a:pt x="95" y="153"/>
                </a:cubicBezTo>
                <a:cubicBezTo>
                  <a:pt x="43" y="181"/>
                  <a:pt x="43" y="181"/>
                  <a:pt x="43" y="181"/>
                </a:cubicBezTo>
                <a:cubicBezTo>
                  <a:pt x="41" y="182"/>
                  <a:pt x="38" y="181"/>
                  <a:pt x="37" y="180"/>
                </a:cubicBezTo>
                <a:cubicBezTo>
                  <a:pt x="35" y="179"/>
                  <a:pt x="34" y="176"/>
                  <a:pt x="34" y="174"/>
                </a:cubicBezTo>
                <a:cubicBezTo>
                  <a:pt x="44" y="116"/>
                  <a:pt x="44" y="116"/>
                  <a:pt x="44" y="116"/>
                </a:cubicBezTo>
                <a:cubicBezTo>
                  <a:pt x="2" y="75"/>
                  <a:pt x="2" y="75"/>
                  <a:pt x="2" y="75"/>
                </a:cubicBezTo>
                <a:cubicBezTo>
                  <a:pt x="0" y="73"/>
                  <a:pt x="0" y="71"/>
                  <a:pt x="0" y="69"/>
                </a:cubicBezTo>
                <a:cubicBezTo>
                  <a:pt x="1" y="67"/>
                  <a:pt x="3" y="65"/>
                  <a:pt x="5" y="65"/>
                </a:cubicBezTo>
                <a:cubicBezTo>
                  <a:pt x="64" y="56"/>
                  <a:pt x="64" y="56"/>
                  <a:pt x="64" y="56"/>
                </a:cubicBezTo>
                <a:cubicBezTo>
                  <a:pt x="90" y="3"/>
                  <a:pt x="90" y="3"/>
                  <a:pt x="90" y="3"/>
                </a:cubicBezTo>
                <a:cubicBezTo>
                  <a:pt x="91" y="1"/>
                  <a:pt x="93" y="0"/>
                  <a:pt x="95" y="0"/>
                </a:cubicBezTo>
                <a:cubicBezTo>
                  <a:pt x="95" y="0"/>
                  <a:pt x="95" y="0"/>
                  <a:pt x="95" y="0"/>
                </a:cubicBezTo>
                <a:cubicBezTo>
                  <a:pt x="98" y="0"/>
                  <a:pt x="100" y="1"/>
                  <a:pt x="101" y="3"/>
                </a:cubicBezTo>
                <a:cubicBezTo>
                  <a:pt x="127" y="56"/>
                  <a:pt x="127" y="56"/>
                  <a:pt x="127" y="56"/>
                </a:cubicBezTo>
                <a:cubicBezTo>
                  <a:pt x="186" y="65"/>
                  <a:pt x="186" y="65"/>
                  <a:pt x="186" y="65"/>
                </a:cubicBezTo>
                <a:cubicBezTo>
                  <a:pt x="188" y="65"/>
                  <a:pt x="190" y="67"/>
                  <a:pt x="191" y="69"/>
                </a:cubicBezTo>
                <a:cubicBezTo>
                  <a:pt x="191" y="71"/>
                  <a:pt x="191" y="73"/>
                  <a:pt x="189" y="75"/>
                </a:cubicBezTo>
                <a:cubicBezTo>
                  <a:pt x="147" y="116"/>
                  <a:pt x="147" y="116"/>
                  <a:pt x="147" y="116"/>
                </a:cubicBezTo>
                <a:cubicBezTo>
                  <a:pt x="157" y="174"/>
                  <a:pt x="157" y="174"/>
                  <a:pt x="157" y="174"/>
                </a:cubicBezTo>
                <a:cubicBezTo>
                  <a:pt x="157" y="176"/>
                  <a:pt x="156" y="179"/>
                  <a:pt x="154" y="180"/>
                </a:cubicBezTo>
                <a:cubicBezTo>
                  <a:pt x="153" y="181"/>
                  <a:pt x="152" y="181"/>
                  <a:pt x="151" y="181"/>
                </a:cubicBezTo>
                <a:close/>
                <a:moveTo>
                  <a:pt x="95" y="140"/>
                </a:moveTo>
                <a:cubicBezTo>
                  <a:pt x="96" y="140"/>
                  <a:pt x="97" y="141"/>
                  <a:pt x="98" y="141"/>
                </a:cubicBezTo>
                <a:cubicBezTo>
                  <a:pt x="143" y="164"/>
                  <a:pt x="143" y="164"/>
                  <a:pt x="143" y="164"/>
                </a:cubicBezTo>
                <a:cubicBezTo>
                  <a:pt x="134" y="115"/>
                  <a:pt x="134" y="115"/>
                  <a:pt x="134" y="115"/>
                </a:cubicBezTo>
                <a:cubicBezTo>
                  <a:pt x="134" y="113"/>
                  <a:pt x="135" y="111"/>
                  <a:pt x="136" y="110"/>
                </a:cubicBezTo>
                <a:cubicBezTo>
                  <a:pt x="172" y="75"/>
                  <a:pt x="172" y="75"/>
                  <a:pt x="172" y="75"/>
                </a:cubicBezTo>
                <a:cubicBezTo>
                  <a:pt x="122" y="68"/>
                  <a:pt x="122" y="68"/>
                  <a:pt x="122" y="68"/>
                </a:cubicBezTo>
                <a:cubicBezTo>
                  <a:pt x="120" y="67"/>
                  <a:pt x="119" y="66"/>
                  <a:pt x="118" y="64"/>
                </a:cubicBezTo>
                <a:cubicBezTo>
                  <a:pt x="95" y="20"/>
                  <a:pt x="95" y="20"/>
                  <a:pt x="95" y="20"/>
                </a:cubicBezTo>
                <a:cubicBezTo>
                  <a:pt x="73" y="64"/>
                  <a:pt x="73" y="64"/>
                  <a:pt x="73" y="64"/>
                </a:cubicBezTo>
                <a:cubicBezTo>
                  <a:pt x="72" y="66"/>
                  <a:pt x="71" y="67"/>
                  <a:pt x="69" y="68"/>
                </a:cubicBezTo>
                <a:cubicBezTo>
                  <a:pt x="19" y="75"/>
                  <a:pt x="19" y="75"/>
                  <a:pt x="19" y="75"/>
                </a:cubicBezTo>
                <a:cubicBezTo>
                  <a:pt x="55" y="110"/>
                  <a:pt x="55" y="110"/>
                  <a:pt x="55" y="110"/>
                </a:cubicBezTo>
                <a:cubicBezTo>
                  <a:pt x="56" y="111"/>
                  <a:pt x="57" y="113"/>
                  <a:pt x="57" y="115"/>
                </a:cubicBezTo>
                <a:cubicBezTo>
                  <a:pt x="48" y="164"/>
                  <a:pt x="48" y="164"/>
                  <a:pt x="48" y="164"/>
                </a:cubicBezTo>
                <a:cubicBezTo>
                  <a:pt x="93" y="141"/>
                  <a:pt x="93" y="141"/>
                  <a:pt x="93" y="141"/>
                </a:cubicBezTo>
                <a:cubicBezTo>
                  <a:pt x="94" y="141"/>
                  <a:pt x="94" y="140"/>
                  <a:pt x="95" y="140"/>
                </a:cubicBezTo>
                <a:close/>
              </a:path>
            </a:pathLst>
          </a:custGeom>
          <a:solidFill>
            <a:schemeClr val="tx2"/>
          </a:solidFill>
          <a:ln>
            <a:noFill/>
          </a:ln>
        </p:spPr>
        <p:txBody>
          <a:bodyPr vert="horz" wrap="square" lIns="91419" tIns="45709" rIns="91419" bIns="45709" numCol="1" anchor="t" anchorCtr="0" compatLnSpc="1">
            <a:prstTxWarp prst="textNoShape">
              <a:avLst/>
            </a:prstTxWarp>
          </a:bodyPr>
          <a:lstStyle/>
          <a:p>
            <a:endParaRPr lang="en-US" dirty="0"/>
          </a:p>
        </p:txBody>
      </p:sp>
      <p:grpSp>
        <p:nvGrpSpPr>
          <p:cNvPr id="32" name="Group 31">
            <a:extLst>
              <a:ext uri="{FF2B5EF4-FFF2-40B4-BE49-F238E27FC236}">
                <a16:creationId xmlns:a16="http://schemas.microsoft.com/office/drawing/2014/main" id="{FE9D4BDE-0184-0950-0F29-99033F5AC78B}"/>
              </a:ext>
            </a:extLst>
          </p:cNvPr>
          <p:cNvGrpSpPr>
            <a:grpSpLocks noChangeAspect="1"/>
          </p:cNvGrpSpPr>
          <p:nvPr/>
        </p:nvGrpSpPr>
        <p:grpSpPr bwMode="auto">
          <a:xfrm>
            <a:off x="5806051" y="5233908"/>
            <a:ext cx="576720" cy="563612"/>
            <a:chOff x="3619" y="663"/>
            <a:chExt cx="440" cy="430"/>
          </a:xfrm>
          <a:solidFill>
            <a:schemeClr val="tx2"/>
          </a:solidFill>
        </p:grpSpPr>
        <p:sp>
          <p:nvSpPr>
            <p:cNvPr id="33" name="Freeform 32">
              <a:extLst>
                <a:ext uri="{FF2B5EF4-FFF2-40B4-BE49-F238E27FC236}">
                  <a16:creationId xmlns:a16="http://schemas.microsoft.com/office/drawing/2014/main" id="{4BEA982A-D879-331A-53F9-D629C7A5D11E}"/>
                </a:ext>
              </a:extLst>
            </p:cNvPr>
            <p:cNvSpPr>
              <a:spLocks noEditPoints="1"/>
            </p:cNvSpPr>
            <p:nvPr/>
          </p:nvSpPr>
          <p:spPr bwMode="auto">
            <a:xfrm>
              <a:off x="3646" y="806"/>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4" name="Freeform 33">
              <a:extLst>
                <a:ext uri="{FF2B5EF4-FFF2-40B4-BE49-F238E27FC236}">
                  <a16:creationId xmlns:a16="http://schemas.microsoft.com/office/drawing/2014/main" id="{FE76C8B3-4521-CFB7-F1B6-F4D0A440E5F0}"/>
                </a:ext>
              </a:extLst>
            </p:cNvPr>
            <p:cNvSpPr>
              <a:spLocks noEditPoints="1"/>
            </p:cNvSpPr>
            <p:nvPr/>
          </p:nvSpPr>
          <p:spPr bwMode="auto">
            <a:xfrm>
              <a:off x="3619" y="914"/>
              <a:ext cx="147"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5" name="Freeform 34">
              <a:extLst>
                <a:ext uri="{FF2B5EF4-FFF2-40B4-BE49-F238E27FC236}">
                  <a16:creationId xmlns:a16="http://schemas.microsoft.com/office/drawing/2014/main" id="{4856CED5-D0E0-62BB-A5D4-FD8C356CAC99}"/>
                </a:ext>
              </a:extLst>
            </p:cNvPr>
            <p:cNvSpPr>
              <a:spLocks noEditPoints="1"/>
            </p:cNvSpPr>
            <p:nvPr/>
          </p:nvSpPr>
          <p:spPr bwMode="auto">
            <a:xfrm>
              <a:off x="3940" y="806"/>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6" name="Freeform 35">
              <a:extLst>
                <a:ext uri="{FF2B5EF4-FFF2-40B4-BE49-F238E27FC236}">
                  <a16:creationId xmlns:a16="http://schemas.microsoft.com/office/drawing/2014/main" id="{278643F1-3CD0-CA3D-3313-B6DC4315E3F2}"/>
                </a:ext>
              </a:extLst>
            </p:cNvPr>
            <p:cNvSpPr>
              <a:spLocks noEditPoints="1"/>
            </p:cNvSpPr>
            <p:nvPr/>
          </p:nvSpPr>
          <p:spPr bwMode="auto">
            <a:xfrm>
              <a:off x="3912" y="914"/>
              <a:ext cx="147"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7" name="Freeform 36">
              <a:extLst>
                <a:ext uri="{FF2B5EF4-FFF2-40B4-BE49-F238E27FC236}">
                  <a16:creationId xmlns:a16="http://schemas.microsoft.com/office/drawing/2014/main" id="{C2AFA6E0-01C5-5B91-655D-B93A1CB4934C}"/>
                </a:ext>
              </a:extLst>
            </p:cNvPr>
            <p:cNvSpPr>
              <a:spLocks noEditPoints="1"/>
            </p:cNvSpPr>
            <p:nvPr/>
          </p:nvSpPr>
          <p:spPr bwMode="auto">
            <a:xfrm>
              <a:off x="3793" y="663"/>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8" name="Freeform 37">
              <a:extLst>
                <a:ext uri="{FF2B5EF4-FFF2-40B4-BE49-F238E27FC236}">
                  <a16:creationId xmlns:a16="http://schemas.microsoft.com/office/drawing/2014/main" id="{49588E46-8189-5512-BA74-7BA776DAC316}"/>
                </a:ext>
              </a:extLst>
            </p:cNvPr>
            <p:cNvSpPr>
              <a:spLocks noEditPoints="1"/>
            </p:cNvSpPr>
            <p:nvPr/>
          </p:nvSpPr>
          <p:spPr bwMode="auto">
            <a:xfrm>
              <a:off x="3766" y="771"/>
              <a:ext cx="146"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39" name="Group 128">
            <a:extLst>
              <a:ext uri="{FF2B5EF4-FFF2-40B4-BE49-F238E27FC236}">
                <a16:creationId xmlns:a16="http://schemas.microsoft.com/office/drawing/2014/main" id="{B92D52AA-F744-3F67-8B1D-83DE6CA5D577}"/>
              </a:ext>
            </a:extLst>
          </p:cNvPr>
          <p:cNvGrpSpPr>
            <a:grpSpLocks noChangeAspect="1"/>
          </p:cNvGrpSpPr>
          <p:nvPr/>
        </p:nvGrpSpPr>
        <p:grpSpPr bwMode="auto">
          <a:xfrm>
            <a:off x="4324345" y="4370969"/>
            <a:ext cx="464188" cy="531388"/>
            <a:chOff x="1398" y="2998"/>
            <a:chExt cx="373" cy="427"/>
          </a:xfrm>
          <a:solidFill>
            <a:schemeClr val="tx2"/>
          </a:solidFill>
        </p:grpSpPr>
        <p:sp>
          <p:nvSpPr>
            <p:cNvPr id="40" name="Freeform 129">
              <a:extLst>
                <a:ext uri="{FF2B5EF4-FFF2-40B4-BE49-F238E27FC236}">
                  <a16:creationId xmlns:a16="http://schemas.microsoft.com/office/drawing/2014/main" id="{DFB04C6D-4AC2-659E-F5B4-5EE88A25D18F}"/>
                </a:ext>
              </a:extLst>
            </p:cNvPr>
            <p:cNvSpPr>
              <a:spLocks noEditPoints="1"/>
            </p:cNvSpPr>
            <p:nvPr/>
          </p:nvSpPr>
          <p:spPr bwMode="auto">
            <a:xfrm>
              <a:off x="1451" y="3052"/>
              <a:ext cx="266" cy="266"/>
            </a:xfrm>
            <a:custGeom>
              <a:avLst/>
              <a:gdLst>
                <a:gd name="T0" fmla="*/ 90 w 180"/>
                <a:gd name="T1" fmla="*/ 180 h 180"/>
                <a:gd name="T2" fmla="*/ 0 w 180"/>
                <a:gd name="T3" fmla="*/ 90 h 180"/>
                <a:gd name="T4" fmla="*/ 90 w 180"/>
                <a:gd name="T5" fmla="*/ 0 h 180"/>
                <a:gd name="T6" fmla="*/ 180 w 180"/>
                <a:gd name="T7" fmla="*/ 90 h 180"/>
                <a:gd name="T8" fmla="*/ 90 w 180"/>
                <a:gd name="T9" fmla="*/ 180 h 180"/>
                <a:gd name="T10" fmla="*/ 90 w 180"/>
                <a:gd name="T11" fmla="*/ 12 h 180"/>
                <a:gd name="T12" fmla="*/ 12 w 180"/>
                <a:gd name="T13" fmla="*/ 90 h 180"/>
                <a:gd name="T14" fmla="*/ 90 w 180"/>
                <a:gd name="T15" fmla="*/ 168 h 180"/>
                <a:gd name="T16" fmla="*/ 168 w 180"/>
                <a:gd name="T17" fmla="*/ 90 h 180"/>
                <a:gd name="T18" fmla="*/ 90 w 180"/>
                <a:gd name="T19" fmla="*/ 1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0" h="180">
                  <a:moveTo>
                    <a:pt x="90" y="180"/>
                  </a:moveTo>
                  <a:cubicBezTo>
                    <a:pt x="40" y="180"/>
                    <a:pt x="0" y="139"/>
                    <a:pt x="0" y="90"/>
                  </a:cubicBezTo>
                  <a:cubicBezTo>
                    <a:pt x="0" y="40"/>
                    <a:pt x="40" y="0"/>
                    <a:pt x="90" y="0"/>
                  </a:cubicBezTo>
                  <a:cubicBezTo>
                    <a:pt x="139" y="0"/>
                    <a:pt x="180" y="40"/>
                    <a:pt x="180" y="90"/>
                  </a:cubicBezTo>
                  <a:cubicBezTo>
                    <a:pt x="180" y="139"/>
                    <a:pt x="139" y="180"/>
                    <a:pt x="90" y="180"/>
                  </a:cubicBezTo>
                  <a:close/>
                  <a:moveTo>
                    <a:pt x="90" y="12"/>
                  </a:moveTo>
                  <a:cubicBezTo>
                    <a:pt x="47" y="12"/>
                    <a:pt x="12" y="47"/>
                    <a:pt x="12" y="90"/>
                  </a:cubicBezTo>
                  <a:cubicBezTo>
                    <a:pt x="12" y="133"/>
                    <a:pt x="47" y="168"/>
                    <a:pt x="90" y="168"/>
                  </a:cubicBezTo>
                  <a:cubicBezTo>
                    <a:pt x="133" y="168"/>
                    <a:pt x="168" y="133"/>
                    <a:pt x="168" y="90"/>
                  </a:cubicBezTo>
                  <a:cubicBezTo>
                    <a:pt x="168" y="47"/>
                    <a:pt x="13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1" name="Freeform 130">
              <a:extLst>
                <a:ext uri="{FF2B5EF4-FFF2-40B4-BE49-F238E27FC236}">
                  <a16:creationId xmlns:a16="http://schemas.microsoft.com/office/drawing/2014/main" id="{004E88A6-DA2B-9F0A-AB4E-25532A4989F4}"/>
                </a:ext>
              </a:extLst>
            </p:cNvPr>
            <p:cNvSpPr>
              <a:spLocks/>
            </p:cNvSpPr>
            <p:nvPr/>
          </p:nvSpPr>
          <p:spPr bwMode="auto">
            <a:xfrm>
              <a:off x="1522" y="3300"/>
              <a:ext cx="124" cy="54"/>
            </a:xfrm>
            <a:custGeom>
              <a:avLst/>
              <a:gdLst>
                <a:gd name="T0" fmla="*/ 78 w 84"/>
                <a:gd name="T1" fmla="*/ 36 h 36"/>
                <a:gd name="T2" fmla="*/ 6 w 84"/>
                <a:gd name="T3" fmla="*/ 36 h 36"/>
                <a:gd name="T4" fmla="*/ 0 w 84"/>
                <a:gd name="T5" fmla="*/ 30 h 36"/>
                <a:gd name="T6" fmla="*/ 0 w 84"/>
                <a:gd name="T7" fmla="*/ 0 h 36"/>
                <a:gd name="T8" fmla="*/ 12 w 84"/>
                <a:gd name="T9" fmla="*/ 0 h 36"/>
                <a:gd name="T10" fmla="*/ 12 w 84"/>
                <a:gd name="T11" fmla="*/ 24 h 36"/>
                <a:gd name="T12" fmla="*/ 72 w 84"/>
                <a:gd name="T13" fmla="*/ 24 h 36"/>
                <a:gd name="T14" fmla="*/ 72 w 84"/>
                <a:gd name="T15" fmla="*/ 0 h 36"/>
                <a:gd name="T16" fmla="*/ 84 w 84"/>
                <a:gd name="T17" fmla="*/ 0 h 36"/>
                <a:gd name="T18" fmla="*/ 84 w 84"/>
                <a:gd name="T19" fmla="*/ 30 h 36"/>
                <a:gd name="T20" fmla="*/ 78 w 84"/>
                <a:gd name="T21"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 h="36">
                  <a:moveTo>
                    <a:pt x="78" y="36"/>
                  </a:moveTo>
                  <a:cubicBezTo>
                    <a:pt x="6" y="36"/>
                    <a:pt x="6" y="36"/>
                    <a:pt x="6" y="36"/>
                  </a:cubicBezTo>
                  <a:cubicBezTo>
                    <a:pt x="2" y="36"/>
                    <a:pt x="0" y="33"/>
                    <a:pt x="0" y="30"/>
                  </a:cubicBezTo>
                  <a:cubicBezTo>
                    <a:pt x="0" y="0"/>
                    <a:pt x="0" y="0"/>
                    <a:pt x="0" y="0"/>
                  </a:cubicBezTo>
                  <a:cubicBezTo>
                    <a:pt x="12" y="0"/>
                    <a:pt x="12" y="0"/>
                    <a:pt x="12" y="0"/>
                  </a:cubicBezTo>
                  <a:cubicBezTo>
                    <a:pt x="12" y="24"/>
                    <a:pt x="12" y="24"/>
                    <a:pt x="12" y="24"/>
                  </a:cubicBezTo>
                  <a:cubicBezTo>
                    <a:pt x="72" y="24"/>
                    <a:pt x="72" y="24"/>
                    <a:pt x="72" y="24"/>
                  </a:cubicBezTo>
                  <a:cubicBezTo>
                    <a:pt x="72" y="0"/>
                    <a:pt x="72" y="0"/>
                    <a:pt x="72" y="0"/>
                  </a:cubicBezTo>
                  <a:cubicBezTo>
                    <a:pt x="84" y="0"/>
                    <a:pt x="84" y="0"/>
                    <a:pt x="84" y="0"/>
                  </a:cubicBezTo>
                  <a:cubicBezTo>
                    <a:pt x="84" y="30"/>
                    <a:pt x="84" y="30"/>
                    <a:pt x="84" y="30"/>
                  </a:cubicBezTo>
                  <a:cubicBezTo>
                    <a:pt x="84" y="33"/>
                    <a:pt x="81" y="36"/>
                    <a:pt x="78"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2" name="Freeform 131">
              <a:extLst>
                <a:ext uri="{FF2B5EF4-FFF2-40B4-BE49-F238E27FC236}">
                  <a16:creationId xmlns:a16="http://schemas.microsoft.com/office/drawing/2014/main" id="{0F2AAEB6-C8E1-DE18-189F-F4702D5B75D9}"/>
                </a:ext>
              </a:extLst>
            </p:cNvPr>
            <p:cNvSpPr>
              <a:spLocks noEditPoints="1"/>
            </p:cNvSpPr>
            <p:nvPr/>
          </p:nvSpPr>
          <p:spPr bwMode="auto">
            <a:xfrm>
              <a:off x="1540" y="3336"/>
              <a:ext cx="88" cy="53"/>
            </a:xfrm>
            <a:custGeom>
              <a:avLst/>
              <a:gdLst>
                <a:gd name="T0" fmla="*/ 54 w 60"/>
                <a:gd name="T1" fmla="*/ 36 h 36"/>
                <a:gd name="T2" fmla="*/ 6 w 60"/>
                <a:gd name="T3" fmla="*/ 36 h 36"/>
                <a:gd name="T4" fmla="*/ 0 w 60"/>
                <a:gd name="T5" fmla="*/ 30 h 36"/>
                <a:gd name="T6" fmla="*/ 0 w 60"/>
                <a:gd name="T7" fmla="*/ 6 h 36"/>
                <a:gd name="T8" fmla="*/ 6 w 60"/>
                <a:gd name="T9" fmla="*/ 0 h 36"/>
                <a:gd name="T10" fmla="*/ 54 w 60"/>
                <a:gd name="T11" fmla="*/ 0 h 36"/>
                <a:gd name="T12" fmla="*/ 60 w 60"/>
                <a:gd name="T13" fmla="*/ 6 h 36"/>
                <a:gd name="T14" fmla="*/ 60 w 60"/>
                <a:gd name="T15" fmla="*/ 30 h 36"/>
                <a:gd name="T16" fmla="*/ 54 w 60"/>
                <a:gd name="T17" fmla="*/ 36 h 36"/>
                <a:gd name="T18" fmla="*/ 12 w 60"/>
                <a:gd name="T19" fmla="*/ 24 h 36"/>
                <a:gd name="T20" fmla="*/ 48 w 60"/>
                <a:gd name="T21" fmla="*/ 24 h 36"/>
                <a:gd name="T22" fmla="*/ 48 w 60"/>
                <a:gd name="T23" fmla="*/ 12 h 36"/>
                <a:gd name="T24" fmla="*/ 12 w 60"/>
                <a:gd name="T25" fmla="*/ 12 h 36"/>
                <a:gd name="T26" fmla="*/ 12 w 60"/>
                <a:gd name="T27"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36">
                  <a:moveTo>
                    <a:pt x="54" y="36"/>
                  </a:moveTo>
                  <a:cubicBezTo>
                    <a:pt x="6" y="36"/>
                    <a:pt x="6" y="36"/>
                    <a:pt x="6" y="36"/>
                  </a:cubicBezTo>
                  <a:cubicBezTo>
                    <a:pt x="2" y="36"/>
                    <a:pt x="0" y="33"/>
                    <a:pt x="0" y="30"/>
                  </a:cubicBezTo>
                  <a:cubicBezTo>
                    <a:pt x="0" y="6"/>
                    <a:pt x="0" y="6"/>
                    <a:pt x="0" y="6"/>
                  </a:cubicBezTo>
                  <a:cubicBezTo>
                    <a:pt x="0" y="3"/>
                    <a:pt x="2" y="0"/>
                    <a:pt x="6" y="0"/>
                  </a:cubicBezTo>
                  <a:cubicBezTo>
                    <a:pt x="54" y="0"/>
                    <a:pt x="54" y="0"/>
                    <a:pt x="54" y="0"/>
                  </a:cubicBezTo>
                  <a:cubicBezTo>
                    <a:pt x="57" y="0"/>
                    <a:pt x="60" y="3"/>
                    <a:pt x="60" y="6"/>
                  </a:cubicBezTo>
                  <a:cubicBezTo>
                    <a:pt x="60" y="30"/>
                    <a:pt x="60" y="30"/>
                    <a:pt x="60" y="30"/>
                  </a:cubicBezTo>
                  <a:cubicBezTo>
                    <a:pt x="60" y="33"/>
                    <a:pt x="57" y="36"/>
                    <a:pt x="54" y="36"/>
                  </a:cubicBezTo>
                  <a:close/>
                  <a:moveTo>
                    <a:pt x="12" y="24"/>
                  </a:moveTo>
                  <a:cubicBezTo>
                    <a:pt x="48" y="24"/>
                    <a:pt x="48" y="24"/>
                    <a:pt x="48" y="24"/>
                  </a:cubicBezTo>
                  <a:cubicBezTo>
                    <a:pt x="48" y="12"/>
                    <a:pt x="48" y="12"/>
                    <a:pt x="48" y="12"/>
                  </a:cubicBezTo>
                  <a:cubicBezTo>
                    <a:pt x="12" y="12"/>
                    <a:pt x="12" y="12"/>
                    <a:pt x="12" y="12"/>
                  </a:cubicBez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3" name="Freeform 132">
              <a:extLst>
                <a:ext uri="{FF2B5EF4-FFF2-40B4-BE49-F238E27FC236}">
                  <a16:creationId xmlns:a16="http://schemas.microsoft.com/office/drawing/2014/main" id="{AC64FC27-F574-F34D-4EC7-E96377D6ACDF}"/>
                </a:ext>
              </a:extLst>
            </p:cNvPr>
            <p:cNvSpPr>
              <a:spLocks/>
            </p:cNvSpPr>
            <p:nvPr/>
          </p:nvSpPr>
          <p:spPr bwMode="auto">
            <a:xfrm>
              <a:off x="1575" y="3371"/>
              <a:ext cx="18" cy="54"/>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2" y="36"/>
                    <a:pt x="0" y="33"/>
                    <a:pt x="0" y="30"/>
                  </a:cubicBezTo>
                  <a:cubicBezTo>
                    <a:pt x="0" y="6"/>
                    <a:pt x="0" y="6"/>
                    <a:pt x="0" y="6"/>
                  </a:cubicBezTo>
                  <a:cubicBezTo>
                    <a:pt x="0" y="3"/>
                    <a:pt x="2" y="0"/>
                    <a:pt x="6" y="0"/>
                  </a:cubicBezTo>
                  <a:cubicBezTo>
                    <a:pt x="9" y="0"/>
                    <a:pt x="12" y="3"/>
                    <a:pt x="12" y="6"/>
                  </a:cubicBezTo>
                  <a:cubicBezTo>
                    <a:pt x="12" y="30"/>
                    <a:pt x="12" y="30"/>
                    <a:pt x="12" y="30"/>
                  </a:cubicBezTo>
                  <a:cubicBezTo>
                    <a:pt x="12" y="33"/>
                    <a:pt x="9"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4" name="Freeform 133">
              <a:extLst>
                <a:ext uri="{FF2B5EF4-FFF2-40B4-BE49-F238E27FC236}">
                  <a16:creationId xmlns:a16="http://schemas.microsoft.com/office/drawing/2014/main" id="{04AA39F4-67F2-CB73-5ADD-C398BB9D5D78}"/>
                </a:ext>
              </a:extLst>
            </p:cNvPr>
            <p:cNvSpPr>
              <a:spLocks/>
            </p:cNvSpPr>
            <p:nvPr/>
          </p:nvSpPr>
          <p:spPr bwMode="auto">
            <a:xfrm>
              <a:off x="1575" y="2998"/>
              <a:ext cx="18" cy="36"/>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2" y="24"/>
                    <a:pt x="0" y="21"/>
                    <a:pt x="0" y="18"/>
                  </a:cubicBezTo>
                  <a:cubicBezTo>
                    <a:pt x="0" y="6"/>
                    <a:pt x="0" y="6"/>
                    <a:pt x="0" y="6"/>
                  </a:cubicBezTo>
                  <a:cubicBezTo>
                    <a:pt x="0" y="3"/>
                    <a:pt x="2" y="0"/>
                    <a:pt x="6" y="0"/>
                  </a:cubicBezTo>
                  <a:cubicBezTo>
                    <a:pt x="9" y="0"/>
                    <a:pt x="12" y="3"/>
                    <a:pt x="12" y="6"/>
                  </a:cubicBezTo>
                  <a:cubicBezTo>
                    <a:pt x="12" y="18"/>
                    <a:pt x="12" y="18"/>
                    <a:pt x="12" y="18"/>
                  </a:cubicBezTo>
                  <a:cubicBezTo>
                    <a:pt x="12" y="21"/>
                    <a:pt x="9"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5" name="Freeform 134">
              <a:extLst>
                <a:ext uri="{FF2B5EF4-FFF2-40B4-BE49-F238E27FC236}">
                  <a16:creationId xmlns:a16="http://schemas.microsoft.com/office/drawing/2014/main" id="{28365875-83DD-A617-0229-3C4B1B18E9B6}"/>
                </a:ext>
              </a:extLst>
            </p:cNvPr>
            <p:cNvSpPr>
              <a:spLocks/>
            </p:cNvSpPr>
            <p:nvPr/>
          </p:nvSpPr>
          <p:spPr bwMode="auto">
            <a:xfrm>
              <a:off x="1686" y="3049"/>
              <a:ext cx="33" cy="31"/>
            </a:xfrm>
            <a:custGeom>
              <a:avLst/>
              <a:gdLst>
                <a:gd name="T0" fmla="*/ 7 w 22"/>
                <a:gd name="T1" fmla="*/ 21 h 21"/>
                <a:gd name="T2" fmla="*/ 3 w 22"/>
                <a:gd name="T3" fmla="*/ 20 h 21"/>
                <a:gd name="T4" fmla="*/ 3 w 22"/>
                <a:gd name="T5" fmla="*/ 11 h 21"/>
                <a:gd name="T6" fmla="*/ 11 w 22"/>
                <a:gd name="T7" fmla="*/ 3 h 21"/>
                <a:gd name="T8" fmla="*/ 20 w 22"/>
                <a:gd name="T9" fmla="*/ 3 h 21"/>
                <a:gd name="T10" fmla="*/ 20 w 22"/>
                <a:gd name="T11" fmla="*/ 11 h 21"/>
                <a:gd name="T12" fmla="*/ 11 w 22"/>
                <a:gd name="T13" fmla="*/ 20 h 21"/>
                <a:gd name="T14" fmla="*/ 7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7" y="21"/>
                  </a:moveTo>
                  <a:cubicBezTo>
                    <a:pt x="5" y="21"/>
                    <a:pt x="4" y="21"/>
                    <a:pt x="3" y="20"/>
                  </a:cubicBezTo>
                  <a:cubicBezTo>
                    <a:pt x="0" y="17"/>
                    <a:pt x="0" y="14"/>
                    <a:pt x="3" y="11"/>
                  </a:cubicBezTo>
                  <a:cubicBezTo>
                    <a:pt x="11" y="3"/>
                    <a:pt x="11" y="3"/>
                    <a:pt x="11" y="3"/>
                  </a:cubicBezTo>
                  <a:cubicBezTo>
                    <a:pt x="14" y="0"/>
                    <a:pt x="17" y="0"/>
                    <a:pt x="20" y="3"/>
                  </a:cubicBezTo>
                  <a:cubicBezTo>
                    <a:pt x="22" y="5"/>
                    <a:pt x="22" y="9"/>
                    <a:pt x="20" y="11"/>
                  </a:cubicBezTo>
                  <a:cubicBezTo>
                    <a:pt x="11" y="20"/>
                    <a:pt x="11" y="20"/>
                    <a:pt x="11" y="20"/>
                  </a:cubicBezTo>
                  <a:cubicBezTo>
                    <a:pt x="10" y="21"/>
                    <a:pt x="9" y="21"/>
                    <a:pt x="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6" name="Freeform 135">
              <a:extLst>
                <a:ext uri="{FF2B5EF4-FFF2-40B4-BE49-F238E27FC236}">
                  <a16:creationId xmlns:a16="http://schemas.microsoft.com/office/drawing/2014/main" id="{3B17520F-604E-0A4D-0C68-9013F082D058}"/>
                </a:ext>
              </a:extLst>
            </p:cNvPr>
            <p:cNvSpPr>
              <a:spLocks/>
            </p:cNvSpPr>
            <p:nvPr/>
          </p:nvSpPr>
          <p:spPr bwMode="auto">
            <a:xfrm>
              <a:off x="1735" y="3176"/>
              <a:ext cx="36" cy="18"/>
            </a:xfrm>
            <a:custGeom>
              <a:avLst/>
              <a:gdLst>
                <a:gd name="T0" fmla="*/ 18 w 24"/>
                <a:gd name="T1" fmla="*/ 12 h 12"/>
                <a:gd name="T2" fmla="*/ 6 w 24"/>
                <a:gd name="T3" fmla="*/ 12 h 12"/>
                <a:gd name="T4" fmla="*/ 0 w 24"/>
                <a:gd name="T5" fmla="*/ 6 h 12"/>
                <a:gd name="T6" fmla="*/ 6 w 24"/>
                <a:gd name="T7" fmla="*/ 0 h 12"/>
                <a:gd name="T8" fmla="*/ 18 w 24"/>
                <a:gd name="T9" fmla="*/ 0 h 12"/>
                <a:gd name="T10" fmla="*/ 24 w 24"/>
                <a:gd name="T11" fmla="*/ 6 h 12"/>
                <a:gd name="T12" fmla="*/ 18 w 2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12"/>
                  </a:moveTo>
                  <a:cubicBezTo>
                    <a:pt x="6" y="12"/>
                    <a:pt x="6" y="12"/>
                    <a:pt x="6" y="12"/>
                  </a:cubicBezTo>
                  <a:cubicBezTo>
                    <a:pt x="2" y="12"/>
                    <a:pt x="0" y="9"/>
                    <a:pt x="0" y="6"/>
                  </a:cubicBezTo>
                  <a:cubicBezTo>
                    <a:pt x="0" y="3"/>
                    <a:pt x="2" y="0"/>
                    <a:pt x="6" y="0"/>
                  </a:cubicBezTo>
                  <a:cubicBezTo>
                    <a:pt x="18" y="0"/>
                    <a:pt x="18" y="0"/>
                    <a:pt x="18" y="0"/>
                  </a:cubicBezTo>
                  <a:cubicBezTo>
                    <a:pt x="21" y="0"/>
                    <a:pt x="24" y="3"/>
                    <a:pt x="24" y="6"/>
                  </a:cubicBezTo>
                  <a:cubicBezTo>
                    <a:pt x="24" y="9"/>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7" name="Freeform 136">
              <a:extLst>
                <a:ext uri="{FF2B5EF4-FFF2-40B4-BE49-F238E27FC236}">
                  <a16:creationId xmlns:a16="http://schemas.microsoft.com/office/drawing/2014/main" id="{62A4A39E-C95F-3366-718E-8D4E892A9646}"/>
                </a:ext>
              </a:extLst>
            </p:cNvPr>
            <p:cNvSpPr>
              <a:spLocks/>
            </p:cNvSpPr>
            <p:nvPr/>
          </p:nvSpPr>
          <p:spPr bwMode="auto">
            <a:xfrm>
              <a:off x="1686" y="3288"/>
              <a:ext cx="33" cy="31"/>
            </a:xfrm>
            <a:custGeom>
              <a:avLst/>
              <a:gdLst>
                <a:gd name="T0" fmla="*/ 15 w 22"/>
                <a:gd name="T1" fmla="*/ 21 h 21"/>
                <a:gd name="T2" fmla="*/ 11 w 22"/>
                <a:gd name="T3" fmla="*/ 19 h 21"/>
                <a:gd name="T4" fmla="*/ 3 w 22"/>
                <a:gd name="T5" fmla="*/ 10 h 21"/>
                <a:gd name="T6" fmla="*/ 3 w 22"/>
                <a:gd name="T7" fmla="*/ 2 h 21"/>
                <a:gd name="T8" fmla="*/ 11 w 22"/>
                <a:gd name="T9" fmla="*/ 2 h 21"/>
                <a:gd name="T10" fmla="*/ 20 w 22"/>
                <a:gd name="T11" fmla="*/ 10 h 21"/>
                <a:gd name="T12" fmla="*/ 20 w 22"/>
                <a:gd name="T13" fmla="*/ 19 h 21"/>
                <a:gd name="T14" fmla="*/ 15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15" y="21"/>
                  </a:moveTo>
                  <a:cubicBezTo>
                    <a:pt x="14" y="21"/>
                    <a:pt x="12" y="20"/>
                    <a:pt x="11" y="19"/>
                  </a:cubicBezTo>
                  <a:cubicBezTo>
                    <a:pt x="3" y="10"/>
                    <a:pt x="3" y="10"/>
                    <a:pt x="3" y="10"/>
                  </a:cubicBezTo>
                  <a:cubicBezTo>
                    <a:pt x="0" y="8"/>
                    <a:pt x="0" y="4"/>
                    <a:pt x="3" y="2"/>
                  </a:cubicBezTo>
                  <a:cubicBezTo>
                    <a:pt x="5" y="0"/>
                    <a:pt x="9" y="0"/>
                    <a:pt x="11" y="2"/>
                  </a:cubicBezTo>
                  <a:cubicBezTo>
                    <a:pt x="20" y="10"/>
                    <a:pt x="20" y="10"/>
                    <a:pt x="20" y="10"/>
                  </a:cubicBezTo>
                  <a:cubicBezTo>
                    <a:pt x="22" y="13"/>
                    <a:pt x="22" y="17"/>
                    <a:pt x="20" y="19"/>
                  </a:cubicBezTo>
                  <a:cubicBezTo>
                    <a:pt x="19" y="20"/>
                    <a:pt x="17"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8" name="Freeform 137">
              <a:extLst>
                <a:ext uri="{FF2B5EF4-FFF2-40B4-BE49-F238E27FC236}">
                  <a16:creationId xmlns:a16="http://schemas.microsoft.com/office/drawing/2014/main" id="{C4B7F9C5-071B-E528-A3FE-5C5F1A6BB700}"/>
                </a:ext>
              </a:extLst>
            </p:cNvPr>
            <p:cNvSpPr>
              <a:spLocks/>
            </p:cNvSpPr>
            <p:nvPr/>
          </p:nvSpPr>
          <p:spPr bwMode="auto">
            <a:xfrm>
              <a:off x="1448" y="3049"/>
              <a:ext cx="32" cy="31"/>
            </a:xfrm>
            <a:custGeom>
              <a:avLst/>
              <a:gdLst>
                <a:gd name="T0" fmla="*/ 15 w 22"/>
                <a:gd name="T1" fmla="*/ 21 h 21"/>
                <a:gd name="T2" fmla="*/ 11 w 22"/>
                <a:gd name="T3" fmla="*/ 20 h 21"/>
                <a:gd name="T4" fmla="*/ 3 w 22"/>
                <a:gd name="T5" fmla="*/ 11 h 21"/>
                <a:gd name="T6" fmla="*/ 3 w 22"/>
                <a:gd name="T7" fmla="*/ 3 h 21"/>
                <a:gd name="T8" fmla="*/ 11 w 22"/>
                <a:gd name="T9" fmla="*/ 3 h 21"/>
                <a:gd name="T10" fmla="*/ 20 w 22"/>
                <a:gd name="T11" fmla="*/ 11 h 21"/>
                <a:gd name="T12" fmla="*/ 20 w 22"/>
                <a:gd name="T13" fmla="*/ 20 h 21"/>
                <a:gd name="T14" fmla="*/ 15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15" y="21"/>
                  </a:moveTo>
                  <a:cubicBezTo>
                    <a:pt x="14" y="21"/>
                    <a:pt x="12" y="21"/>
                    <a:pt x="11" y="20"/>
                  </a:cubicBezTo>
                  <a:cubicBezTo>
                    <a:pt x="3" y="11"/>
                    <a:pt x="3" y="11"/>
                    <a:pt x="3" y="11"/>
                  </a:cubicBezTo>
                  <a:cubicBezTo>
                    <a:pt x="0" y="9"/>
                    <a:pt x="0" y="5"/>
                    <a:pt x="3" y="3"/>
                  </a:cubicBezTo>
                  <a:cubicBezTo>
                    <a:pt x="5" y="0"/>
                    <a:pt x="9" y="0"/>
                    <a:pt x="11" y="3"/>
                  </a:cubicBezTo>
                  <a:cubicBezTo>
                    <a:pt x="20" y="11"/>
                    <a:pt x="20" y="11"/>
                    <a:pt x="20" y="11"/>
                  </a:cubicBezTo>
                  <a:cubicBezTo>
                    <a:pt x="22" y="14"/>
                    <a:pt x="22" y="17"/>
                    <a:pt x="20" y="20"/>
                  </a:cubicBezTo>
                  <a:cubicBezTo>
                    <a:pt x="18" y="21"/>
                    <a:pt x="17"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49" name="Freeform 138">
              <a:extLst>
                <a:ext uri="{FF2B5EF4-FFF2-40B4-BE49-F238E27FC236}">
                  <a16:creationId xmlns:a16="http://schemas.microsoft.com/office/drawing/2014/main" id="{B5781414-3180-932C-6B1F-7D632EF1AF1C}"/>
                </a:ext>
              </a:extLst>
            </p:cNvPr>
            <p:cNvSpPr>
              <a:spLocks/>
            </p:cNvSpPr>
            <p:nvPr/>
          </p:nvSpPr>
          <p:spPr bwMode="auto">
            <a:xfrm>
              <a:off x="1398" y="3176"/>
              <a:ext cx="35" cy="18"/>
            </a:xfrm>
            <a:custGeom>
              <a:avLst/>
              <a:gdLst>
                <a:gd name="T0" fmla="*/ 18 w 24"/>
                <a:gd name="T1" fmla="*/ 12 h 12"/>
                <a:gd name="T2" fmla="*/ 6 w 24"/>
                <a:gd name="T3" fmla="*/ 12 h 12"/>
                <a:gd name="T4" fmla="*/ 0 w 24"/>
                <a:gd name="T5" fmla="*/ 6 h 12"/>
                <a:gd name="T6" fmla="*/ 6 w 24"/>
                <a:gd name="T7" fmla="*/ 0 h 12"/>
                <a:gd name="T8" fmla="*/ 18 w 24"/>
                <a:gd name="T9" fmla="*/ 0 h 12"/>
                <a:gd name="T10" fmla="*/ 24 w 24"/>
                <a:gd name="T11" fmla="*/ 6 h 12"/>
                <a:gd name="T12" fmla="*/ 18 w 2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12"/>
                  </a:moveTo>
                  <a:cubicBezTo>
                    <a:pt x="6" y="12"/>
                    <a:pt x="6" y="12"/>
                    <a:pt x="6" y="12"/>
                  </a:cubicBezTo>
                  <a:cubicBezTo>
                    <a:pt x="2" y="12"/>
                    <a:pt x="0" y="9"/>
                    <a:pt x="0" y="6"/>
                  </a:cubicBezTo>
                  <a:cubicBezTo>
                    <a:pt x="0" y="3"/>
                    <a:pt x="2" y="0"/>
                    <a:pt x="6" y="0"/>
                  </a:cubicBezTo>
                  <a:cubicBezTo>
                    <a:pt x="18" y="0"/>
                    <a:pt x="18" y="0"/>
                    <a:pt x="18" y="0"/>
                  </a:cubicBezTo>
                  <a:cubicBezTo>
                    <a:pt x="21" y="0"/>
                    <a:pt x="24" y="3"/>
                    <a:pt x="24" y="6"/>
                  </a:cubicBezTo>
                  <a:cubicBezTo>
                    <a:pt x="24" y="9"/>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0" name="Freeform 139">
              <a:extLst>
                <a:ext uri="{FF2B5EF4-FFF2-40B4-BE49-F238E27FC236}">
                  <a16:creationId xmlns:a16="http://schemas.microsoft.com/office/drawing/2014/main" id="{A9437AE6-A3FB-A4FF-6D53-0CF859208362}"/>
                </a:ext>
              </a:extLst>
            </p:cNvPr>
            <p:cNvSpPr>
              <a:spLocks/>
            </p:cNvSpPr>
            <p:nvPr/>
          </p:nvSpPr>
          <p:spPr bwMode="auto">
            <a:xfrm>
              <a:off x="1448" y="3288"/>
              <a:ext cx="32" cy="31"/>
            </a:xfrm>
            <a:custGeom>
              <a:avLst/>
              <a:gdLst>
                <a:gd name="T0" fmla="*/ 7 w 22"/>
                <a:gd name="T1" fmla="*/ 21 h 21"/>
                <a:gd name="T2" fmla="*/ 3 w 22"/>
                <a:gd name="T3" fmla="*/ 19 h 21"/>
                <a:gd name="T4" fmla="*/ 3 w 22"/>
                <a:gd name="T5" fmla="*/ 10 h 21"/>
                <a:gd name="T6" fmla="*/ 11 w 22"/>
                <a:gd name="T7" fmla="*/ 2 h 21"/>
                <a:gd name="T8" fmla="*/ 20 w 22"/>
                <a:gd name="T9" fmla="*/ 2 h 21"/>
                <a:gd name="T10" fmla="*/ 20 w 22"/>
                <a:gd name="T11" fmla="*/ 10 h 21"/>
                <a:gd name="T12" fmla="*/ 11 w 22"/>
                <a:gd name="T13" fmla="*/ 19 h 21"/>
                <a:gd name="T14" fmla="*/ 7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7" y="21"/>
                  </a:moveTo>
                  <a:cubicBezTo>
                    <a:pt x="5" y="21"/>
                    <a:pt x="4" y="20"/>
                    <a:pt x="3" y="19"/>
                  </a:cubicBezTo>
                  <a:cubicBezTo>
                    <a:pt x="0" y="17"/>
                    <a:pt x="0" y="13"/>
                    <a:pt x="3" y="10"/>
                  </a:cubicBezTo>
                  <a:cubicBezTo>
                    <a:pt x="11" y="2"/>
                    <a:pt x="11" y="2"/>
                    <a:pt x="11" y="2"/>
                  </a:cubicBezTo>
                  <a:cubicBezTo>
                    <a:pt x="13" y="0"/>
                    <a:pt x="17" y="0"/>
                    <a:pt x="20" y="2"/>
                  </a:cubicBezTo>
                  <a:cubicBezTo>
                    <a:pt x="22" y="4"/>
                    <a:pt x="22" y="8"/>
                    <a:pt x="20" y="10"/>
                  </a:cubicBezTo>
                  <a:cubicBezTo>
                    <a:pt x="11" y="19"/>
                    <a:pt x="11" y="19"/>
                    <a:pt x="11" y="19"/>
                  </a:cubicBezTo>
                  <a:cubicBezTo>
                    <a:pt x="10" y="20"/>
                    <a:pt x="8" y="21"/>
                    <a:pt x="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 name="Freeform 140">
              <a:extLst>
                <a:ext uri="{FF2B5EF4-FFF2-40B4-BE49-F238E27FC236}">
                  <a16:creationId xmlns:a16="http://schemas.microsoft.com/office/drawing/2014/main" id="{ED6397EA-C14C-B63B-7BDB-D9BFD78F00C2}"/>
                </a:ext>
              </a:extLst>
            </p:cNvPr>
            <p:cNvSpPr>
              <a:spLocks noEditPoints="1"/>
            </p:cNvSpPr>
            <p:nvPr/>
          </p:nvSpPr>
          <p:spPr bwMode="auto">
            <a:xfrm>
              <a:off x="1504" y="3176"/>
              <a:ext cx="160" cy="133"/>
            </a:xfrm>
            <a:custGeom>
              <a:avLst/>
              <a:gdLst>
                <a:gd name="T0" fmla="*/ 60 w 108"/>
                <a:gd name="T1" fmla="*/ 90 h 90"/>
                <a:gd name="T2" fmla="*/ 58 w 108"/>
                <a:gd name="T3" fmla="*/ 90 h 90"/>
                <a:gd name="T4" fmla="*/ 54 w 108"/>
                <a:gd name="T5" fmla="*/ 84 h 90"/>
                <a:gd name="T6" fmla="*/ 49 w 108"/>
                <a:gd name="T7" fmla="*/ 90 h 90"/>
                <a:gd name="T8" fmla="*/ 42 w 108"/>
                <a:gd name="T9" fmla="*/ 85 h 90"/>
                <a:gd name="T10" fmla="*/ 30 w 108"/>
                <a:gd name="T11" fmla="*/ 36 h 90"/>
                <a:gd name="T12" fmla="*/ 18 w 108"/>
                <a:gd name="T13" fmla="*/ 36 h 90"/>
                <a:gd name="T14" fmla="*/ 0 w 108"/>
                <a:gd name="T15" fmla="*/ 18 h 90"/>
                <a:gd name="T16" fmla="*/ 18 w 108"/>
                <a:gd name="T17" fmla="*/ 0 h 90"/>
                <a:gd name="T18" fmla="*/ 38 w 108"/>
                <a:gd name="T19" fmla="*/ 16 h 90"/>
                <a:gd name="T20" fmla="*/ 40 w 108"/>
                <a:gd name="T21" fmla="*/ 24 h 90"/>
                <a:gd name="T22" fmla="*/ 67 w 108"/>
                <a:gd name="T23" fmla="*/ 24 h 90"/>
                <a:gd name="T24" fmla="*/ 69 w 108"/>
                <a:gd name="T25" fmla="*/ 16 h 90"/>
                <a:gd name="T26" fmla="*/ 90 w 108"/>
                <a:gd name="T27" fmla="*/ 0 h 90"/>
                <a:gd name="T28" fmla="*/ 108 w 108"/>
                <a:gd name="T29" fmla="*/ 18 h 90"/>
                <a:gd name="T30" fmla="*/ 90 w 108"/>
                <a:gd name="T31" fmla="*/ 36 h 90"/>
                <a:gd name="T32" fmla="*/ 77 w 108"/>
                <a:gd name="T33" fmla="*/ 36 h 90"/>
                <a:gd name="T34" fmla="*/ 65 w 108"/>
                <a:gd name="T35" fmla="*/ 85 h 90"/>
                <a:gd name="T36" fmla="*/ 60 w 108"/>
                <a:gd name="T37" fmla="*/ 90 h 90"/>
                <a:gd name="T38" fmla="*/ 43 w 108"/>
                <a:gd name="T39" fmla="*/ 36 h 90"/>
                <a:gd name="T40" fmla="*/ 53 w 108"/>
                <a:gd name="T41" fmla="*/ 82 h 90"/>
                <a:gd name="T42" fmla="*/ 54 w 108"/>
                <a:gd name="T43" fmla="*/ 84 h 90"/>
                <a:gd name="T44" fmla="*/ 54 w 108"/>
                <a:gd name="T45" fmla="*/ 82 h 90"/>
                <a:gd name="T46" fmla="*/ 65 w 108"/>
                <a:gd name="T47" fmla="*/ 36 h 90"/>
                <a:gd name="T48" fmla="*/ 43 w 108"/>
                <a:gd name="T49" fmla="*/ 36 h 90"/>
                <a:gd name="T50" fmla="*/ 80 w 108"/>
                <a:gd name="T51" fmla="*/ 24 h 90"/>
                <a:gd name="T52" fmla="*/ 90 w 108"/>
                <a:gd name="T53" fmla="*/ 24 h 90"/>
                <a:gd name="T54" fmla="*/ 96 w 108"/>
                <a:gd name="T55" fmla="*/ 18 h 90"/>
                <a:gd name="T56" fmla="*/ 90 w 108"/>
                <a:gd name="T57" fmla="*/ 12 h 90"/>
                <a:gd name="T58" fmla="*/ 81 w 108"/>
                <a:gd name="T59" fmla="*/ 19 h 90"/>
                <a:gd name="T60" fmla="*/ 80 w 108"/>
                <a:gd name="T61" fmla="*/ 24 h 90"/>
                <a:gd name="T62" fmla="*/ 18 w 108"/>
                <a:gd name="T63" fmla="*/ 12 h 90"/>
                <a:gd name="T64" fmla="*/ 12 w 108"/>
                <a:gd name="T65" fmla="*/ 18 h 90"/>
                <a:gd name="T66" fmla="*/ 18 w 108"/>
                <a:gd name="T67" fmla="*/ 24 h 90"/>
                <a:gd name="T68" fmla="*/ 28 w 108"/>
                <a:gd name="T69" fmla="*/ 24 h 90"/>
                <a:gd name="T70" fmla="*/ 26 w 108"/>
                <a:gd name="T71" fmla="*/ 19 h 90"/>
                <a:gd name="T72" fmla="*/ 18 w 108"/>
                <a:gd name="T73"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8" h="90">
                  <a:moveTo>
                    <a:pt x="60" y="90"/>
                  </a:moveTo>
                  <a:cubicBezTo>
                    <a:pt x="59" y="90"/>
                    <a:pt x="59" y="90"/>
                    <a:pt x="58" y="90"/>
                  </a:cubicBezTo>
                  <a:cubicBezTo>
                    <a:pt x="56" y="89"/>
                    <a:pt x="54" y="87"/>
                    <a:pt x="54" y="84"/>
                  </a:cubicBezTo>
                  <a:cubicBezTo>
                    <a:pt x="54" y="87"/>
                    <a:pt x="52" y="89"/>
                    <a:pt x="49" y="90"/>
                  </a:cubicBezTo>
                  <a:cubicBezTo>
                    <a:pt x="46" y="90"/>
                    <a:pt x="43" y="88"/>
                    <a:pt x="42" y="85"/>
                  </a:cubicBezTo>
                  <a:cubicBezTo>
                    <a:pt x="30" y="36"/>
                    <a:pt x="30" y="36"/>
                    <a:pt x="30" y="36"/>
                  </a:cubicBezTo>
                  <a:cubicBezTo>
                    <a:pt x="18" y="36"/>
                    <a:pt x="18" y="36"/>
                    <a:pt x="18" y="36"/>
                  </a:cubicBezTo>
                  <a:cubicBezTo>
                    <a:pt x="8" y="36"/>
                    <a:pt x="0" y="28"/>
                    <a:pt x="0" y="18"/>
                  </a:cubicBezTo>
                  <a:cubicBezTo>
                    <a:pt x="0" y="8"/>
                    <a:pt x="8" y="0"/>
                    <a:pt x="18" y="0"/>
                  </a:cubicBezTo>
                  <a:cubicBezTo>
                    <a:pt x="28" y="0"/>
                    <a:pt x="36" y="7"/>
                    <a:pt x="38" y="16"/>
                  </a:cubicBezTo>
                  <a:cubicBezTo>
                    <a:pt x="40" y="24"/>
                    <a:pt x="40" y="24"/>
                    <a:pt x="40" y="24"/>
                  </a:cubicBezTo>
                  <a:cubicBezTo>
                    <a:pt x="67" y="24"/>
                    <a:pt x="67" y="24"/>
                    <a:pt x="67" y="24"/>
                  </a:cubicBezTo>
                  <a:cubicBezTo>
                    <a:pt x="69" y="16"/>
                    <a:pt x="69" y="16"/>
                    <a:pt x="69" y="16"/>
                  </a:cubicBezTo>
                  <a:cubicBezTo>
                    <a:pt x="71" y="7"/>
                    <a:pt x="80" y="0"/>
                    <a:pt x="90" y="0"/>
                  </a:cubicBezTo>
                  <a:cubicBezTo>
                    <a:pt x="100" y="0"/>
                    <a:pt x="108" y="8"/>
                    <a:pt x="108" y="18"/>
                  </a:cubicBezTo>
                  <a:cubicBezTo>
                    <a:pt x="108" y="28"/>
                    <a:pt x="100" y="36"/>
                    <a:pt x="90" y="36"/>
                  </a:cubicBezTo>
                  <a:cubicBezTo>
                    <a:pt x="77" y="36"/>
                    <a:pt x="77" y="36"/>
                    <a:pt x="77" y="36"/>
                  </a:cubicBezTo>
                  <a:cubicBezTo>
                    <a:pt x="65" y="85"/>
                    <a:pt x="65" y="85"/>
                    <a:pt x="65" y="85"/>
                  </a:cubicBezTo>
                  <a:cubicBezTo>
                    <a:pt x="65" y="88"/>
                    <a:pt x="62" y="90"/>
                    <a:pt x="60" y="90"/>
                  </a:cubicBezTo>
                  <a:close/>
                  <a:moveTo>
                    <a:pt x="43" y="36"/>
                  </a:moveTo>
                  <a:cubicBezTo>
                    <a:pt x="53" y="82"/>
                    <a:pt x="53" y="82"/>
                    <a:pt x="53" y="82"/>
                  </a:cubicBezTo>
                  <a:cubicBezTo>
                    <a:pt x="54" y="83"/>
                    <a:pt x="54" y="83"/>
                    <a:pt x="54" y="84"/>
                  </a:cubicBezTo>
                  <a:cubicBezTo>
                    <a:pt x="54" y="83"/>
                    <a:pt x="54" y="83"/>
                    <a:pt x="54" y="82"/>
                  </a:cubicBezTo>
                  <a:cubicBezTo>
                    <a:pt x="65" y="36"/>
                    <a:pt x="65" y="36"/>
                    <a:pt x="65" y="36"/>
                  </a:cubicBezTo>
                  <a:lnTo>
                    <a:pt x="43" y="36"/>
                  </a:lnTo>
                  <a:close/>
                  <a:moveTo>
                    <a:pt x="80" y="24"/>
                  </a:moveTo>
                  <a:cubicBezTo>
                    <a:pt x="90" y="24"/>
                    <a:pt x="90" y="24"/>
                    <a:pt x="90" y="24"/>
                  </a:cubicBezTo>
                  <a:cubicBezTo>
                    <a:pt x="93" y="24"/>
                    <a:pt x="96" y="21"/>
                    <a:pt x="96" y="18"/>
                  </a:cubicBezTo>
                  <a:cubicBezTo>
                    <a:pt x="96" y="15"/>
                    <a:pt x="93" y="12"/>
                    <a:pt x="90" y="12"/>
                  </a:cubicBezTo>
                  <a:cubicBezTo>
                    <a:pt x="85" y="12"/>
                    <a:pt x="82" y="15"/>
                    <a:pt x="81" y="19"/>
                  </a:cubicBezTo>
                  <a:lnTo>
                    <a:pt x="80" y="24"/>
                  </a:lnTo>
                  <a:close/>
                  <a:moveTo>
                    <a:pt x="18" y="12"/>
                  </a:moveTo>
                  <a:cubicBezTo>
                    <a:pt x="14" y="12"/>
                    <a:pt x="12" y="15"/>
                    <a:pt x="12" y="18"/>
                  </a:cubicBezTo>
                  <a:cubicBezTo>
                    <a:pt x="12" y="21"/>
                    <a:pt x="14" y="24"/>
                    <a:pt x="18" y="24"/>
                  </a:cubicBezTo>
                  <a:cubicBezTo>
                    <a:pt x="28" y="24"/>
                    <a:pt x="28" y="24"/>
                    <a:pt x="28" y="24"/>
                  </a:cubicBezTo>
                  <a:cubicBezTo>
                    <a:pt x="26" y="19"/>
                    <a:pt x="26" y="19"/>
                    <a:pt x="26" y="19"/>
                  </a:cubicBezTo>
                  <a:cubicBezTo>
                    <a:pt x="26" y="15"/>
                    <a:pt x="22"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grpSp>
      <p:sp>
        <p:nvSpPr>
          <p:cNvPr id="52" name="Freeform 29">
            <a:extLst>
              <a:ext uri="{FF2B5EF4-FFF2-40B4-BE49-F238E27FC236}">
                <a16:creationId xmlns:a16="http://schemas.microsoft.com/office/drawing/2014/main" id="{C1B87D69-481E-D84D-0838-B457970815EC}"/>
              </a:ext>
            </a:extLst>
          </p:cNvPr>
          <p:cNvSpPr>
            <a:spLocks noEditPoints="1"/>
          </p:cNvSpPr>
          <p:nvPr/>
        </p:nvSpPr>
        <p:spPr bwMode="auto">
          <a:xfrm>
            <a:off x="4362694" y="2500593"/>
            <a:ext cx="387491" cy="520987"/>
          </a:xfrm>
          <a:custGeom>
            <a:avLst/>
            <a:gdLst>
              <a:gd name="T0" fmla="*/ 211 w 214"/>
              <a:gd name="T1" fmla="*/ 90 h 295"/>
              <a:gd name="T2" fmla="*/ 185 w 214"/>
              <a:gd name="T3" fmla="*/ 73 h 295"/>
              <a:gd name="T4" fmla="*/ 170 w 214"/>
              <a:gd name="T5" fmla="*/ 46 h 295"/>
              <a:gd name="T6" fmla="*/ 129 w 214"/>
              <a:gd name="T7" fmla="*/ 6 h 295"/>
              <a:gd name="T8" fmla="*/ 123 w 214"/>
              <a:gd name="T9" fmla="*/ 0 h 295"/>
              <a:gd name="T10" fmla="*/ 99 w 214"/>
              <a:gd name="T11" fmla="*/ 14 h 295"/>
              <a:gd name="T12" fmla="*/ 81 w 214"/>
              <a:gd name="T13" fmla="*/ 27 h 295"/>
              <a:gd name="T14" fmla="*/ 38 w 214"/>
              <a:gd name="T15" fmla="*/ 67 h 295"/>
              <a:gd name="T16" fmla="*/ 18 w 214"/>
              <a:gd name="T17" fmla="*/ 116 h 295"/>
              <a:gd name="T18" fmla="*/ 16 w 214"/>
              <a:gd name="T19" fmla="*/ 154 h 295"/>
              <a:gd name="T20" fmla="*/ 23 w 214"/>
              <a:gd name="T21" fmla="*/ 206 h 295"/>
              <a:gd name="T22" fmla="*/ 17 w 214"/>
              <a:gd name="T23" fmla="*/ 212 h 295"/>
              <a:gd name="T24" fmla="*/ 0 w 214"/>
              <a:gd name="T25" fmla="*/ 251 h 295"/>
              <a:gd name="T26" fmla="*/ 6 w 214"/>
              <a:gd name="T27" fmla="*/ 295 h 295"/>
              <a:gd name="T28" fmla="*/ 197 w 214"/>
              <a:gd name="T29" fmla="*/ 289 h 295"/>
              <a:gd name="T30" fmla="*/ 182 w 214"/>
              <a:gd name="T31" fmla="*/ 213 h 295"/>
              <a:gd name="T32" fmla="*/ 175 w 214"/>
              <a:gd name="T33" fmla="*/ 206 h 295"/>
              <a:gd name="T34" fmla="*/ 174 w 214"/>
              <a:gd name="T35" fmla="*/ 205 h 295"/>
              <a:gd name="T36" fmla="*/ 167 w 214"/>
              <a:gd name="T37" fmla="*/ 183 h 295"/>
              <a:gd name="T38" fmla="*/ 132 w 214"/>
              <a:gd name="T39" fmla="*/ 116 h 295"/>
              <a:gd name="T40" fmla="*/ 170 w 214"/>
              <a:gd name="T41" fmla="*/ 126 h 295"/>
              <a:gd name="T42" fmla="*/ 193 w 214"/>
              <a:gd name="T43" fmla="*/ 131 h 295"/>
              <a:gd name="T44" fmla="*/ 213 w 214"/>
              <a:gd name="T45" fmla="*/ 97 h 295"/>
              <a:gd name="T46" fmla="*/ 185 w 214"/>
              <a:gd name="T47" fmla="*/ 243 h 295"/>
              <a:gd name="T48" fmla="*/ 186 w 214"/>
              <a:gd name="T49" fmla="*/ 284 h 295"/>
              <a:gd name="T50" fmla="*/ 12 w 214"/>
              <a:gd name="T51" fmla="*/ 251 h 295"/>
              <a:gd name="T52" fmla="*/ 13 w 214"/>
              <a:gd name="T53" fmla="*/ 242 h 295"/>
              <a:gd name="T54" fmla="*/ 104 w 214"/>
              <a:gd name="T55" fmla="*/ 242 h 295"/>
              <a:gd name="T56" fmla="*/ 104 w 214"/>
              <a:gd name="T57" fmla="*/ 242 h 295"/>
              <a:gd name="T58" fmla="*/ 171 w 214"/>
              <a:gd name="T59" fmla="*/ 219 h 295"/>
              <a:gd name="T60" fmla="*/ 173 w 214"/>
              <a:gd name="T61" fmla="*/ 220 h 295"/>
              <a:gd name="T62" fmla="*/ 180 w 214"/>
              <a:gd name="T63" fmla="*/ 231 h 295"/>
              <a:gd name="T64" fmla="*/ 104 w 214"/>
              <a:gd name="T65" fmla="*/ 231 h 295"/>
              <a:gd name="T66" fmla="*/ 104 w 214"/>
              <a:gd name="T67" fmla="*/ 231 h 295"/>
              <a:gd name="T68" fmla="*/ 18 w 214"/>
              <a:gd name="T69" fmla="*/ 231 h 295"/>
              <a:gd name="T70" fmla="*/ 25 w 214"/>
              <a:gd name="T71" fmla="*/ 220 h 295"/>
              <a:gd name="T72" fmla="*/ 26 w 214"/>
              <a:gd name="T73" fmla="*/ 219 h 295"/>
              <a:gd name="T74" fmla="*/ 166 w 214"/>
              <a:gd name="T75" fmla="*/ 214 h 295"/>
              <a:gd name="T76" fmla="*/ 191 w 214"/>
              <a:gd name="T77" fmla="*/ 118 h 295"/>
              <a:gd name="T78" fmla="*/ 180 w 214"/>
              <a:gd name="T79" fmla="*/ 116 h 295"/>
              <a:gd name="T80" fmla="*/ 122 w 214"/>
              <a:gd name="T81" fmla="*/ 100 h 295"/>
              <a:gd name="T82" fmla="*/ 112 w 214"/>
              <a:gd name="T83" fmla="*/ 106 h 295"/>
              <a:gd name="T84" fmla="*/ 162 w 214"/>
              <a:gd name="T85" fmla="*/ 202 h 295"/>
              <a:gd name="T86" fmla="*/ 33 w 214"/>
              <a:gd name="T87" fmla="*/ 202 h 295"/>
              <a:gd name="T88" fmla="*/ 27 w 214"/>
              <a:gd name="T89" fmla="*/ 153 h 295"/>
              <a:gd name="T90" fmla="*/ 31 w 214"/>
              <a:gd name="T91" fmla="*/ 113 h 295"/>
              <a:gd name="T92" fmla="*/ 49 w 214"/>
              <a:gd name="T93" fmla="*/ 72 h 295"/>
              <a:gd name="T94" fmla="*/ 109 w 214"/>
              <a:gd name="T95" fmla="*/ 21 h 295"/>
              <a:gd name="T96" fmla="*/ 117 w 214"/>
              <a:gd name="T97" fmla="*/ 16 h 295"/>
              <a:gd name="T98" fmla="*/ 120 w 214"/>
              <a:gd name="T99" fmla="*/ 40 h 295"/>
              <a:gd name="T100" fmla="*/ 176 w 214"/>
              <a:gd name="T101" fmla="*/ 79 h 295"/>
              <a:gd name="T102" fmla="*/ 200 w 214"/>
              <a:gd name="T103" fmla="*/ 97 h 295"/>
              <a:gd name="T104" fmla="*/ 191 w 214"/>
              <a:gd name="T105" fmla="*/ 11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4" h="295">
                <a:moveTo>
                  <a:pt x="213" y="97"/>
                </a:moveTo>
                <a:cubicBezTo>
                  <a:pt x="214" y="94"/>
                  <a:pt x="213" y="91"/>
                  <a:pt x="211" y="90"/>
                </a:cubicBezTo>
                <a:cubicBezTo>
                  <a:pt x="185" y="73"/>
                  <a:pt x="185" y="73"/>
                  <a:pt x="185" y="73"/>
                </a:cubicBezTo>
                <a:cubicBezTo>
                  <a:pt x="185" y="73"/>
                  <a:pt x="185" y="73"/>
                  <a:pt x="185" y="73"/>
                </a:cubicBezTo>
                <a:cubicBezTo>
                  <a:pt x="174" y="49"/>
                  <a:pt x="174" y="49"/>
                  <a:pt x="174" y="49"/>
                </a:cubicBezTo>
                <a:cubicBezTo>
                  <a:pt x="173" y="47"/>
                  <a:pt x="172" y="46"/>
                  <a:pt x="170" y="46"/>
                </a:cubicBezTo>
                <a:cubicBezTo>
                  <a:pt x="128" y="31"/>
                  <a:pt x="128" y="31"/>
                  <a:pt x="128" y="31"/>
                </a:cubicBezTo>
                <a:cubicBezTo>
                  <a:pt x="129" y="6"/>
                  <a:pt x="129" y="6"/>
                  <a:pt x="129" y="6"/>
                </a:cubicBezTo>
                <a:cubicBezTo>
                  <a:pt x="129" y="4"/>
                  <a:pt x="128" y="2"/>
                  <a:pt x="126" y="1"/>
                </a:cubicBezTo>
                <a:cubicBezTo>
                  <a:pt x="125" y="0"/>
                  <a:pt x="124" y="0"/>
                  <a:pt x="123" y="0"/>
                </a:cubicBezTo>
                <a:cubicBezTo>
                  <a:pt x="122" y="0"/>
                  <a:pt x="121" y="0"/>
                  <a:pt x="120" y="1"/>
                </a:cubicBezTo>
                <a:cubicBezTo>
                  <a:pt x="119" y="2"/>
                  <a:pt x="110" y="7"/>
                  <a:pt x="99" y="14"/>
                </a:cubicBezTo>
                <a:cubicBezTo>
                  <a:pt x="95" y="17"/>
                  <a:pt x="92" y="19"/>
                  <a:pt x="88" y="22"/>
                </a:cubicBezTo>
                <a:cubicBezTo>
                  <a:pt x="86" y="23"/>
                  <a:pt x="84" y="25"/>
                  <a:pt x="81" y="27"/>
                </a:cubicBezTo>
                <a:cubicBezTo>
                  <a:pt x="70" y="35"/>
                  <a:pt x="61" y="42"/>
                  <a:pt x="54" y="49"/>
                </a:cubicBezTo>
                <a:cubicBezTo>
                  <a:pt x="46" y="56"/>
                  <a:pt x="41" y="62"/>
                  <a:pt x="38" y="67"/>
                </a:cubicBezTo>
                <a:cubicBezTo>
                  <a:pt x="37" y="69"/>
                  <a:pt x="36" y="71"/>
                  <a:pt x="35" y="73"/>
                </a:cubicBezTo>
                <a:cubicBezTo>
                  <a:pt x="29" y="86"/>
                  <a:pt x="22" y="99"/>
                  <a:pt x="18" y="116"/>
                </a:cubicBezTo>
                <a:cubicBezTo>
                  <a:pt x="17" y="120"/>
                  <a:pt x="17" y="124"/>
                  <a:pt x="16" y="128"/>
                </a:cubicBezTo>
                <a:cubicBezTo>
                  <a:pt x="15" y="137"/>
                  <a:pt x="15" y="145"/>
                  <a:pt x="16" y="154"/>
                </a:cubicBezTo>
                <a:cubicBezTo>
                  <a:pt x="18" y="182"/>
                  <a:pt x="21" y="199"/>
                  <a:pt x="22" y="206"/>
                </a:cubicBezTo>
                <a:cubicBezTo>
                  <a:pt x="23" y="206"/>
                  <a:pt x="23" y="206"/>
                  <a:pt x="23" y="206"/>
                </a:cubicBezTo>
                <a:cubicBezTo>
                  <a:pt x="22" y="206"/>
                  <a:pt x="22" y="206"/>
                  <a:pt x="22" y="206"/>
                </a:cubicBezTo>
                <a:cubicBezTo>
                  <a:pt x="20" y="208"/>
                  <a:pt x="19" y="210"/>
                  <a:pt x="17" y="212"/>
                </a:cubicBezTo>
                <a:cubicBezTo>
                  <a:pt x="16" y="213"/>
                  <a:pt x="16" y="213"/>
                  <a:pt x="16" y="213"/>
                </a:cubicBezTo>
                <a:cubicBezTo>
                  <a:pt x="9" y="222"/>
                  <a:pt x="0" y="236"/>
                  <a:pt x="0" y="251"/>
                </a:cubicBezTo>
                <a:cubicBezTo>
                  <a:pt x="0" y="289"/>
                  <a:pt x="0" y="289"/>
                  <a:pt x="0" y="289"/>
                </a:cubicBezTo>
                <a:cubicBezTo>
                  <a:pt x="0" y="293"/>
                  <a:pt x="3" y="295"/>
                  <a:pt x="6" y="295"/>
                </a:cubicBezTo>
                <a:cubicBezTo>
                  <a:pt x="192" y="295"/>
                  <a:pt x="192" y="295"/>
                  <a:pt x="192" y="295"/>
                </a:cubicBezTo>
                <a:cubicBezTo>
                  <a:pt x="195" y="295"/>
                  <a:pt x="197" y="293"/>
                  <a:pt x="197" y="289"/>
                </a:cubicBezTo>
                <a:cubicBezTo>
                  <a:pt x="197" y="251"/>
                  <a:pt x="197" y="251"/>
                  <a:pt x="197" y="251"/>
                </a:cubicBezTo>
                <a:cubicBezTo>
                  <a:pt x="197" y="236"/>
                  <a:pt x="189" y="222"/>
                  <a:pt x="182" y="213"/>
                </a:cubicBezTo>
                <a:cubicBezTo>
                  <a:pt x="181" y="213"/>
                  <a:pt x="181" y="213"/>
                  <a:pt x="181" y="212"/>
                </a:cubicBezTo>
                <a:cubicBezTo>
                  <a:pt x="179" y="210"/>
                  <a:pt x="177" y="208"/>
                  <a:pt x="175" y="206"/>
                </a:cubicBezTo>
                <a:cubicBezTo>
                  <a:pt x="175" y="206"/>
                  <a:pt x="175" y="206"/>
                  <a:pt x="174" y="205"/>
                </a:cubicBezTo>
                <a:cubicBezTo>
                  <a:pt x="174" y="205"/>
                  <a:pt x="174" y="205"/>
                  <a:pt x="174" y="205"/>
                </a:cubicBezTo>
                <a:cubicBezTo>
                  <a:pt x="174" y="205"/>
                  <a:pt x="174" y="205"/>
                  <a:pt x="174" y="205"/>
                </a:cubicBezTo>
                <a:cubicBezTo>
                  <a:pt x="173" y="199"/>
                  <a:pt x="171" y="191"/>
                  <a:pt x="167" y="183"/>
                </a:cubicBezTo>
                <a:cubicBezTo>
                  <a:pt x="158" y="160"/>
                  <a:pt x="144" y="135"/>
                  <a:pt x="133" y="117"/>
                </a:cubicBezTo>
                <a:cubicBezTo>
                  <a:pt x="132" y="116"/>
                  <a:pt x="132" y="116"/>
                  <a:pt x="132" y="116"/>
                </a:cubicBezTo>
                <a:cubicBezTo>
                  <a:pt x="134" y="116"/>
                  <a:pt x="134" y="116"/>
                  <a:pt x="134" y="116"/>
                </a:cubicBezTo>
                <a:cubicBezTo>
                  <a:pt x="143" y="119"/>
                  <a:pt x="155" y="122"/>
                  <a:pt x="170" y="126"/>
                </a:cubicBezTo>
                <a:cubicBezTo>
                  <a:pt x="174" y="126"/>
                  <a:pt x="178" y="127"/>
                  <a:pt x="182" y="128"/>
                </a:cubicBezTo>
                <a:cubicBezTo>
                  <a:pt x="186" y="129"/>
                  <a:pt x="190" y="130"/>
                  <a:pt x="193" y="131"/>
                </a:cubicBezTo>
                <a:cubicBezTo>
                  <a:pt x="196" y="131"/>
                  <a:pt x="199" y="130"/>
                  <a:pt x="200" y="127"/>
                </a:cubicBezTo>
                <a:lnTo>
                  <a:pt x="213" y="97"/>
                </a:lnTo>
                <a:close/>
                <a:moveTo>
                  <a:pt x="185" y="242"/>
                </a:moveTo>
                <a:cubicBezTo>
                  <a:pt x="185" y="243"/>
                  <a:pt x="185" y="243"/>
                  <a:pt x="185" y="243"/>
                </a:cubicBezTo>
                <a:cubicBezTo>
                  <a:pt x="186" y="246"/>
                  <a:pt x="186" y="248"/>
                  <a:pt x="186" y="251"/>
                </a:cubicBezTo>
                <a:cubicBezTo>
                  <a:pt x="186" y="284"/>
                  <a:pt x="186" y="284"/>
                  <a:pt x="186" y="284"/>
                </a:cubicBezTo>
                <a:cubicBezTo>
                  <a:pt x="12" y="284"/>
                  <a:pt x="12" y="284"/>
                  <a:pt x="12" y="284"/>
                </a:cubicBezTo>
                <a:cubicBezTo>
                  <a:pt x="12" y="251"/>
                  <a:pt x="12" y="251"/>
                  <a:pt x="12" y="251"/>
                </a:cubicBezTo>
                <a:cubicBezTo>
                  <a:pt x="12" y="248"/>
                  <a:pt x="12" y="246"/>
                  <a:pt x="13" y="243"/>
                </a:cubicBezTo>
                <a:cubicBezTo>
                  <a:pt x="13" y="242"/>
                  <a:pt x="13" y="242"/>
                  <a:pt x="13" y="242"/>
                </a:cubicBezTo>
                <a:cubicBezTo>
                  <a:pt x="104" y="242"/>
                  <a:pt x="104" y="242"/>
                  <a:pt x="104" y="242"/>
                </a:cubicBezTo>
                <a:cubicBezTo>
                  <a:pt x="104" y="242"/>
                  <a:pt x="104" y="242"/>
                  <a:pt x="104" y="242"/>
                </a:cubicBezTo>
                <a:cubicBezTo>
                  <a:pt x="104" y="242"/>
                  <a:pt x="104" y="242"/>
                  <a:pt x="104" y="242"/>
                </a:cubicBezTo>
                <a:cubicBezTo>
                  <a:pt x="104" y="242"/>
                  <a:pt x="104" y="242"/>
                  <a:pt x="104" y="242"/>
                </a:cubicBezTo>
                <a:lnTo>
                  <a:pt x="185" y="242"/>
                </a:lnTo>
                <a:close/>
                <a:moveTo>
                  <a:pt x="171" y="219"/>
                </a:moveTo>
                <a:cubicBezTo>
                  <a:pt x="172" y="220"/>
                  <a:pt x="172" y="220"/>
                  <a:pt x="172" y="220"/>
                </a:cubicBezTo>
                <a:cubicBezTo>
                  <a:pt x="173" y="220"/>
                  <a:pt x="173" y="220"/>
                  <a:pt x="173" y="220"/>
                </a:cubicBezTo>
                <a:cubicBezTo>
                  <a:pt x="175" y="223"/>
                  <a:pt x="177" y="226"/>
                  <a:pt x="179" y="230"/>
                </a:cubicBezTo>
                <a:cubicBezTo>
                  <a:pt x="180" y="231"/>
                  <a:pt x="180" y="231"/>
                  <a:pt x="180" y="231"/>
                </a:cubicBezTo>
                <a:cubicBezTo>
                  <a:pt x="104" y="231"/>
                  <a:pt x="104" y="231"/>
                  <a:pt x="104" y="231"/>
                </a:cubicBezTo>
                <a:cubicBezTo>
                  <a:pt x="104" y="231"/>
                  <a:pt x="104" y="231"/>
                  <a:pt x="104" y="231"/>
                </a:cubicBezTo>
                <a:cubicBezTo>
                  <a:pt x="104" y="231"/>
                  <a:pt x="104" y="231"/>
                  <a:pt x="104" y="231"/>
                </a:cubicBezTo>
                <a:cubicBezTo>
                  <a:pt x="104" y="231"/>
                  <a:pt x="104" y="231"/>
                  <a:pt x="104" y="231"/>
                </a:cubicBezTo>
                <a:cubicBezTo>
                  <a:pt x="104" y="231"/>
                  <a:pt x="104" y="231"/>
                  <a:pt x="104" y="231"/>
                </a:cubicBezTo>
                <a:cubicBezTo>
                  <a:pt x="18" y="231"/>
                  <a:pt x="18" y="231"/>
                  <a:pt x="18" y="231"/>
                </a:cubicBezTo>
                <a:cubicBezTo>
                  <a:pt x="19" y="230"/>
                  <a:pt x="19" y="230"/>
                  <a:pt x="19" y="230"/>
                </a:cubicBezTo>
                <a:cubicBezTo>
                  <a:pt x="20" y="226"/>
                  <a:pt x="23" y="223"/>
                  <a:pt x="25" y="220"/>
                </a:cubicBezTo>
                <a:cubicBezTo>
                  <a:pt x="25" y="220"/>
                  <a:pt x="25" y="220"/>
                  <a:pt x="25" y="220"/>
                </a:cubicBezTo>
                <a:cubicBezTo>
                  <a:pt x="26" y="220"/>
                  <a:pt x="26" y="220"/>
                  <a:pt x="26" y="219"/>
                </a:cubicBezTo>
                <a:cubicBezTo>
                  <a:pt x="31" y="214"/>
                  <a:pt x="31" y="214"/>
                  <a:pt x="31" y="214"/>
                </a:cubicBezTo>
                <a:cubicBezTo>
                  <a:pt x="166" y="214"/>
                  <a:pt x="166" y="214"/>
                  <a:pt x="166" y="214"/>
                </a:cubicBezTo>
                <a:lnTo>
                  <a:pt x="171" y="219"/>
                </a:lnTo>
                <a:close/>
                <a:moveTo>
                  <a:pt x="191" y="118"/>
                </a:moveTo>
                <a:cubicBezTo>
                  <a:pt x="191" y="118"/>
                  <a:pt x="191" y="118"/>
                  <a:pt x="191" y="118"/>
                </a:cubicBezTo>
                <a:cubicBezTo>
                  <a:pt x="187" y="118"/>
                  <a:pt x="183" y="117"/>
                  <a:pt x="180" y="116"/>
                </a:cubicBezTo>
                <a:cubicBezTo>
                  <a:pt x="175" y="115"/>
                  <a:pt x="171" y="114"/>
                  <a:pt x="167" y="113"/>
                </a:cubicBezTo>
                <a:cubicBezTo>
                  <a:pt x="142" y="108"/>
                  <a:pt x="125" y="103"/>
                  <a:pt x="122" y="100"/>
                </a:cubicBezTo>
                <a:cubicBezTo>
                  <a:pt x="120" y="98"/>
                  <a:pt x="116" y="97"/>
                  <a:pt x="114" y="99"/>
                </a:cubicBezTo>
                <a:cubicBezTo>
                  <a:pt x="111" y="100"/>
                  <a:pt x="111" y="104"/>
                  <a:pt x="112" y="106"/>
                </a:cubicBezTo>
                <a:cubicBezTo>
                  <a:pt x="114" y="109"/>
                  <a:pt x="152" y="167"/>
                  <a:pt x="162" y="202"/>
                </a:cubicBezTo>
                <a:cubicBezTo>
                  <a:pt x="162" y="202"/>
                  <a:pt x="162" y="202"/>
                  <a:pt x="162" y="202"/>
                </a:cubicBezTo>
                <a:cubicBezTo>
                  <a:pt x="33" y="202"/>
                  <a:pt x="33" y="202"/>
                  <a:pt x="33" y="202"/>
                </a:cubicBezTo>
                <a:cubicBezTo>
                  <a:pt x="33" y="202"/>
                  <a:pt x="33" y="202"/>
                  <a:pt x="33" y="202"/>
                </a:cubicBezTo>
                <a:cubicBezTo>
                  <a:pt x="32" y="198"/>
                  <a:pt x="31" y="192"/>
                  <a:pt x="30" y="183"/>
                </a:cubicBezTo>
                <a:cubicBezTo>
                  <a:pt x="29" y="174"/>
                  <a:pt x="28" y="164"/>
                  <a:pt x="27" y="153"/>
                </a:cubicBezTo>
                <a:cubicBezTo>
                  <a:pt x="26" y="144"/>
                  <a:pt x="27" y="135"/>
                  <a:pt x="28" y="126"/>
                </a:cubicBezTo>
                <a:cubicBezTo>
                  <a:pt x="29" y="122"/>
                  <a:pt x="30" y="117"/>
                  <a:pt x="31" y="113"/>
                </a:cubicBezTo>
                <a:cubicBezTo>
                  <a:pt x="35" y="100"/>
                  <a:pt x="40" y="89"/>
                  <a:pt x="45" y="79"/>
                </a:cubicBezTo>
                <a:cubicBezTo>
                  <a:pt x="46" y="77"/>
                  <a:pt x="48" y="74"/>
                  <a:pt x="49" y="72"/>
                </a:cubicBezTo>
                <a:cubicBezTo>
                  <a:pt x="54" y="61"/>
                  <a:pt x="79" y="42"/>
                  <a:pt x="99" y="28"/>
                </a:cubicBezTo>
                <a:cubicBezTo>
                  <a:pt x="102" y="26"/>
                  <a:pt x="106" y="24"/>
                  <a:pt x="109" y="21"/>
                </a:cubicBezTo>
                <a:cubicBezTo>
                  <a:pt x="112" y="20"/>
                  <a:pt x="114" y="18"/>
                  <a:pt x="116" y="17"/>
                </a:cubicBezTo>
                <a:cubicBezTo>
                  <a:pt x="117" y="16"/>
                  <a:pt x="117" y="16"/>
                  <a:pt x="117" y="16"/>
                </a:cubicBezTo>
                <a:cubicBezTo>
                  <a:pt x="116" y="35"/>
                  <a:pt x="116" y="35"/>
                  <a:pt x="116" y="35"/>
                </a:cubicBezTo>
                <a:cubicBezTo>
                  <a:pt x="116" y="37"/>
                  <a:pt x="118" y="39"/>
                  <a:pt x="120" y="40"/>
                </a:cubicBezTo>
                <a:cubicBezTo>
                  <a:pt x="164" y="56"/>
                  <a:pt x="164" y="56"/>
                  <a:pt x="164" y="56"/>
                </a:cubicBezTo>
                <a:cubicBezTo>
                  <a:pt x="176" y="79"/>
                  <a:pt x="176" y="79"/>
                  <a:pt x="176" y="79"/>
                </a:cubicBezTo>
                <a:cubicBezTo>
                  <a:pt x="176" y="80"/>
                  <a:pt x="177" y="81"/>
                  <a:pt x="178" y="82"/>
                </a:cubicBezTo>
                <a:cubicBezTo>
                  <a:pt x="200" y="97"/>
                  <a:pt x="200" y="97"/>
                  <a:pt x="200" y="97"/>
                </a:cubicBezTo>
                <a:cubicBezTo>
                  <a:pt x="200" y="97"/>
                  <a:pt x="200" y="97"/>
                  <a:pt x="200" y="97"/>
                </a:cubicBezTo>
                <a:lnTo>
                  <a:pt x="191" y="118"/>
                </a:lnTo>
                <a:close/>
              </a:path>
            </a:pathLst>
          </a:custGeom>
          <a:solidFill>
            <a:schemeClr val="tx2"/>
          </a:solidFill>
          <a:ln>
            <a:noFill/>
          </a:ln>
        </p:spPr>
        <p:txBody>
          <a:bodyPr vert="horz" wrap="square" lIns="91419" tIns="45709" rIns="91419" bIns="45709" numCol="1" anchor="t" anchorCtr="0" compatLnSpc="1">
            <a:prstTxWarp prst="textNoShape">
              <a:avLst/>
            </a:prstTxWarp>
          </a:bodyPr>
          <a:lstStyle/>
          <a:p>
            <a:endParaRPr lang="en-US" dirty="0"/>
          </a:p>
        </p:txBody>
      </p:sp>
      <p:grpSp>
        <p:nvGrpSpPr>
          <p:cNvPr id="53" name="Group 14">
            <a:extLst>
              <a:ext uri="{FF2B5EF4-FFF2-40B4-BE49-F238E27FC236}">
                <a16:creationId xmlns:a16="http://schemas.microsoft.com/office/drawing/2014/main" id="{9228EBFA-FA76-5CA0-E54D-FB6F3C19EAD9}"/>
              </a:ext>
            </a:extLst>
          </p:cNvPr>
          <p:cNvGrpSpPr>
            <a:grpSpLocks noChangeAspect="1"/>
          </p:cNvGrpSpPr>
          <p:nvPr/>
        </p:nvGrpSpPr>
        <p:grpSpPr bwMode="auto">
          <a:xfrm>
            <a:off x="5828891" y="3374996"/>
            <a:ext cx="531040" cy="482658"/>
            <a:chOff x="2398" y="433"/>
            <a:chExt cx="461" cy="419"/>
          </a:xfrm>
          <a:solidFill>
            <a:schemeClr val="bg1"/>
          </a:solidFill>
        </p:grpSpPr>
        <p:sp>
          <p:nvSpPr>
            <p:cNvPr id="54" name="Freeform 15">
              <a:extLst>
                <a:ext uri="{FF2B5EF4-FFF2-40B4-BE49-F238E27FC236}">
                  <a16:creationId xmlns:a16="http://schemas.microsoft.com/office/drawing/2014/main" id="{14FD970E-DF34-17F2-1838-8DA1C76E5974}"/>
                </a:ext>
              </a:extLst>
            </p:cNvPr>
            <p:cNvSpPr>
              <a:spLocks noEditPoints="1"/>
            </p:cNvSpPr>
            <p:nvPr/>
          </p:nvSpPr>
          <p:spPr bwMode="auto">
            <a:xfrm>
              <a:off x="2398" y="433"/>
              <a:ext cx="461" cy="419"/>
            </a:xfrm>
            <a:custGeom>
              <a:avLst/>
              <a:gdLst>
                <a:gd name="T0" fmla="*/ 240 w 312"/>
                <a:gd name="T1" fmla="*/ 92 h 284"/>
                <a:gd name="T2" fmla="*/ 195 w 312"/>
                <a:gd name="T3" fmla="*/ 7 h 284"/>
                <a:gd name="T4" fmla="*/ 116 w 312"/>
                <a:gd name="T5" fmla="*/ 7 h 284"/>
                <a:gd name="T6" fmla="*/ 71 w 312"/>
                <a:gd name="T7" fmla="*/ 92 h 284"/>
                <a:gd name="T8" fmla="*/ 71 w 312"/>
                <a:gd name="T9" fmla="*/ 195 h 284"/>
                <a:gd name="T10" fmla="*/ 83 w 312"/>
                <a:gd name="T11" fmla="*/ 281 h 284"/>
                <a:gd name="T12" fmla="*/ 156 w 312"/>
                <a:gd name="T13" fmla="*/ 249 h 284"/>
                <a:gd name="T14" fmla="*/ 241 w 312"/>
                <a:gd name="T15" fmla="*/ 195 h 284"/>
                <a:gd name="T16" fmla="*/ 164 w 312"/>
                <a:gd name="T17" fmla="*/ 45 h 284"/>
                <a:gd name="T18" fmla="*/ 229 w 312"/>
                <a:gd name="T19" fmla="*/ 89 h 284"/>
                <a:gd name="T20" fmla="*/ 192 w 312"/>
                <a:gd name="T21" fmla="*/ 84 h 284"/>
                <a:gd name="T22" fmla="*/ 95 w 312"/>
                <a:gd name="T23" fmla="*/ 157 h 284"/>
                <a:gd name="T24" fmla="*/ 113 w 312"/>
                <a:gd name="T25" fmla="*/ 190 h 284"/>
                <a:gd name="T26" fmla="*/ 85 w 312"/>
                <a:gd name="T27" fmla="*/ 186 h 284"/>
                <a:gd name="T28" fmla="*/ 86 w 312"/>
                <a:gd name="T29" fmla="*/ 100 h 284"/>
                <a:gd name="T30" fmla="*/ 101 w 312"/>
                <a:gd name="T31" fmla="*/ 115 h 284"/>
                <a:gd name="T32" fmla="*/ 86 w 312"/>
                <a:gd name="T33" fmla="*/ 101 h 284"/>
                <a:gd name="T34" fmla="*/ 101 w 312"/>
                <a:gd name="T35" fmla="*/ 142 h 284"/>
                <a:gd name="T36" fmla="*/ 126 w 312"/>
                <a:gd name="T37" fmla="*/ 95 h 284"/>
                <a:gd name="T38" fmla="*/ 200 w 312"/>
                <a:gd name="T39" fmla="*/ 120 h 284"/>
                <a:gd name="T40" fmla="*/ 199 w 312"/>
                <a:gd name="T41" fmla="*/ 166 h 284"/>
                <a:gd name="T42" fmla="*/ 156 w 312"/>
                <a:gd name="T43" fmla="*/ 193 h 284"/>
                <a:gd name="T44" fmla="*/ 112 w 312"/>
                <a:gd name="T45" fmla="*/ 166 h 284"/>
                <a:gd name="T46" fmla="*/ 217 w 312"/>
                <a:gd name="T47" fmla="*/ 157 h 284"/>
                <a:gd name="T48" fmla="*/ 227 w 312"/>
                <a:gd name="T49" fmla="*/ 186 h 284"/>
                <a:gd name="T50" fmla="*/ 217 w 312"/>
                <a:gd name="T51" fmla="*/ 128 h 284"/>
                <a:gd name="T52" fmla="*/ 200 w 312"/>
                <a:gd name="T53" fmla="*/ 96 h 284"/>
                <a:gd name="T54" fmla="*/ 226 w 312"/>
                <a:gd name="T55" fmla="*/ 101 h 284"/>
                <a:gd name="T56" fmla="*/ 156 w 312"/>
                <a:gd name="T57" fmla="*/ 54 h 284"/>
                <a:gd name="T58" fmla="*/ 156 w 312"/>
                <a:gd name="T59" fmla="*/ 82 h 284"/>
                <a:gd name="T60" fmla="*/ 156 w 312"/>
                <a:gd name="T61" fmla="*/ 54 h 284"/>
                <a:gd name="T62" fmla="*/ 148 w 312"/>
                <a:gd name="T63" fmla="*/ 45 h 284"/>
                <a:gd name="T64" fmla="*/ 119 w 312"/>
                <a:gd name="T65" fmla="*/ 84 h 284"/>
                <a:gd name="T66" fmla="*/ 83 w 312"/>
                <a:gd name="T67" fmla="*/ 89 h 284"/>
                <a:gd name="T68" fmla="*/ 28 w 312"/>
                <a:gd name="T69" fmla="*/ 165 h 284"/>
                <a:gd name="T70" fmla="*/ 74 w 312"/>
                <a:gd name="T71" fmla="*/ 103 h 284"/>
                <a:gd name="T72" fmla="*/ 88 w 312"/>
                <a:gd name="T73" fmla="*/ 142 h 284"/>
                <a:gd name="T74" fmla="*/ 89 w 312"/>
                <a:gd name="T75" fmla="*/ 271 h 284"/>
                <a:gd name="T76" fmla="*/ 82 w 312"/>
                <a:gd name="T77" fmla="*/ 197 h 284"/>
                <a:gd name="T78" fmla="*/ 148 w 312"/>
                <a:gd name="T79" fmla="*/ 240 h 284"/>
                <a:gd name="T80" fmla="*/ 156 w 312"/>
                <a:gd name="T81" fmla="*/ 231 h 284"/>
                <a:gd name="T82" fmla="*/ 156 w 312"/>
                <a:gd name="T83" fmla="*/ 204 h 284"/>
                <a:gd name="T84" fmla="*/ 156 w 312"/>
                <a:gd name="T85" fmla="*/ 231 h 284"/>
                <a:gd name="T86" fmla="*/ 164 w 312"/>
                <a:gd name="T87" fmla="*/ 240 h 284"/>
                <a:gd name="T88" fmla="*/ 191 w 312"/>
                <a:gd name="T89" fmla="*/ 203 h 284"/>
                <a:gd name="T90" fmla="*/ 230 w 312"/>
                <a:gd name="T91" fmla="*/ 197 h 284"/>
                <a:gd name="T92" fmla="*/ 238 w 312"/>
                <a:gd name="T93" fmla="*/ 183 h 284"/>
                <a:gd name="T94" fmla="*/ 237 w 312"/>
                <a:gd name="T95" fmla="*/ 103 h 284"/>
                <a:gd name="T96" fmla="*/ 300 w 312"/>
                <a:gd name="T97" fmla="*/ 143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284">
                  <a:moveTo>
                    <a:pt x="293" y="173"/>
                  </a:moveTo>
                  <a:cubicBezTo>
                    <a:pt x="305" y="164"/>
                    <a:pt x="312" y="154"/>
                    <a:pt x="312" y="143"/>
                  </a:cubicBezTo>
                  <a:cubicBezTo>
                    <a:pt x="312" y="122"/>
                    <a:pt x="285" y="103"/>
                    <a:pt x="240" y="92"/>
                  </a:cubicBezTo>
                  <a:cubicBezTo>
                    <a:pt x="240" y="92"/>
                    <a:pt x="240" y="92"/>
                    <a:pt x="240" y="92"/>
                  </a:cubicBezTo>
                  <a:cubicBezTo>
                    <a:pt x="240" y="92"/>
                    <a:pt x="240" y="92"/>
                    <a:pt x="240" y="92"/>
                  </a:cubicBezTo>
                  <a:cubicBezTo>
                    <a:pt x="245" y="70"/>
                    <a:pt x="247" y="51"/>
                    <a:pt x="245" y="36"/>
                  </a:cubicBezTo>
                  <a:cubicBezTo>
                    <a:pt x="243" y="20"/>
                    <a:pt x="237" y="10"/>
                    <a:pt x="228" y="5"/>
                  </a:cubicBezTo>
                  <a:cubicBezTo>
                    <a:pt x="219" y="0"/>
                    <a:pt x="208" y="1"/>
                    <a:pt x="195" y="7"/>
                  </a:cubicBezTo>
                  <a:cubicBezTo>
                    <a:pt x="183" y="12"/>
                    <a:pt x="169" y="23"/>
                    <a:pt x="156" y="37"/>
                  </a:cubicBezTo>
                  <a:cubicBezTo>
                    <a:pt x="156" y="37"/>
                    <a:pt x="156" y="37"/>
                    <a:pt x="156" y="37"/>
                  </a:cubicBezTo>
                  <a:cubicBezTo>
                    <a:pt x="156" y="37"/>
                    <a:pt x="156" y="37"/>
                    <a:pt x="156" y="37"/>
                  </a:cubicBezTo>
                  <a:cubicBezTo>
                    <a:pt x="142" y="23"/>
                    <a:pt x="129" y="12"/>
                    <a:pt x="116" y="7"/>
                  </a:cubicBezTo>
                  <a:cubicBezTo>
                    <a:pt x="104" y="1"/>
                    <a:pt x="93" y="0"/>
                    <a:pt x="84" y="5"/>
                  </a:cubicBezTo>
                  <a:cubicBezTo>
                    <a:pt x="75" y="10"/>
                    <a:pt x="69" y="20"/>
                    <a:pt x="67" y="36"/>
                  </a:cubicBezTo>
                  <a:cubicBezTo>
                    <a:pt x="65" y="51"/>
                    <a:pt x="66" y="70"/>
                    <a:pt x="71" y="92"/>
                  </a:cubicBezTo>
                  <a:cubicBezTo>
                    <a:pt x="71" y="92"/>
                    <a:pt x="71" y="92"/>
                    <a:pt x="71" y="92"/>
                  </a:cubicBezTo>
                  <a:cubicBezTo>
                    <a:pt x="71" y="92"/>
                    <a:pt x="71" y="92"/>
                    <a:pt x="71" y="92"/>
                  </a:cubicBezTo>
                  <a:cubicBezTo>
                    <a:pt x="27" y="103"/>
                    <a:pt x="0" y="122"/>
                    <a:pt x="0" y="143"/>
                  </a:cubicBezTo>
                  <a:cubicBezTo>
                    <a:pt x="0" y="154"/>
                    <a:pt x="7" y="164"/>
                    <a:pt x="19" y="173"/>
                  </a:cubicBezTo>
                  <a:cubicBezTo>
                    <a:pt x="31" y="182"/>
                    <a:pt x="49" y="189"/>
                    <a:pt x="71" y="195"/>
                  </a:cubicBezTo>
                  <a:cubicBezTo>
                    <a:pt x="71" y="195"/>
                    <a:pt x="71" y="195"/>
                    <a:pt x="71" y="195"/>
                  </a:cubicBezTo>
                  <a:cubicBezTo>
                    <a:pt x="71" y="195"/>
                    <a:pt x="71" y="195"/>
                    <a:pt x="71" y="195"/>
                  </a:cubicBezTo>
                  <a:cubicBezTo>
                    <a:pt x="65" y="216"/>
                    <a:pt x="64" y="235"/>
                    <a:pt x="66" y="250"/>
                  </a:cubicBezTo>
                  <a:cubicBezTo>
                    <a:pt x="68" y="266"/>
                    <a:pt x="74" y="276"/>
                    <a:pt x="83" y="281"/>
                  </a:cubicBezTo>
                  <a:cubicBezTo>
                    <a:pt x="87" y="283"/>
                    <a:pt x="91" y="284"/>
                    <a:pt x="96" y="284"/>
                  </a:cubicBezTo>
                  <a:cubicBezTo>
                    <a:pt x="113" y="284"/>
                    <a:pt x="134" y="272"/>
                    <a:pt x="156" y="249"/>
                  </a:cubicBezTo>
                  <a:cubicBezTo>
                    <a:pt x="156" y="249"/>
                    <a:pt x="156" y="249"/>
                    <a:pt x="156" y="249"/>
                  </a:cubicBezTo>
                  <a:cubicBezTo>
                    <a:pt x="156" y="249"/>
                    <a:pt x="156" y="249"/>
                    <a:pt x="156" y="249"/>
                  </a:cubicBezTo>
                  <a:cubicBezTo>
                    <a:pt x="178" y="272"/>
                    <a:pt x="199" y="284"/>
                    <a:pt x="216" y="284"/>
                  </a:cubicBezTo>
                  <a:cubicBezTo>
                    <a:pt x="220" y="284"/>
                    <a:pt x="225" y="283"/>
                    <a:pt x="228" y="281"/>
                  </a:cubicBezTo>
                  <a:cubicBezTo>
                    <a:pt x="238" y="276"/>
                    <a:pt x="244" y="266"/>
                    <a:pt x="246" y="250"/>
                  </a:cubicBezTo>
                  <a:cubicBezTo>
                    <a:pt x="248" y="235"/>
                    <a:pt x="246" y="216"/>
                    <a:pt x="241" y="195"/>
                  </a:cubicBezTo>
                  <a:cubicBezTo>
                    <a:pt x="241" y="195"/>
                    <a:pt x="241" y="195"/>
                    <a:pt x="241" y="195"/>
                  </a:cubicBezTo>
                  <a:cubicBezTo>
                    <a:pt x="241" y="195"/>
                    <a:pt x="241" y="195"/>
                    <a:pt x="241" y="195"/>
                  </a:cubicBezTo>
                  <a:cubicBezTo>
                    <a:pt x="263" y="189"/>
                    <a:pt x="280" y="182"/>
                    <a:pt x="293" y="173"/>
                  </a:cubicBezTo>
                  <a:close/>
                  <a:moveTo>
                    <a:pt x="164" y="45"/>
                  </a:moveTo>
                  <a:cubicBezTo>
                    <a:pt x="183" y="25"/>
                    <a:pt x="202" y="13"/>
                    <a:pt x="215" y="13"/>
                  </a:cubicBezTo>
                  <a:cubicBezTo>
                    <a:pt x="217" y="13"/>
                    <a:pt x="220" y="14"/>
                    <a:pt x="222" y="15"/>
                  </a:cubicBezTo>
                  <a:cubicBezTo>
                    <a:pt x="229" y="18"/>
                    <a:pt x="233" y="27"/>
                    <a:pt x="234" y="40"/>
                  </a:cubicBezTo>
                  <a:cubicBezTo>
                    <a:pt x="235" y="53"/>
                    <a:pt x="233" y="70"/>
                    <a:pt x="229" y="89"/>
                  </a:cubicBezTo>
                  <a:cubicBezTo>
                    <a:pt x="229" y="89"/>
                    <a:pt x="229" y="89"/>
                    <a:pt x="229" y="89"/>
                  </a:cubicBezTo>
                  <a:cubicBezTo>
                    <a:pt x="229" y="89"/>
                    <a:pt x="229" y="89"/>
                    <a:pt x="229" y="89"/>
                  </a:cubicBezTo>
                  <a:cubicBezTo>
                    <a:pt x="217" y="87"/>
                    <a:pt x="205" y="85"/>
                    <a:pt x="192" y="84"/>
                  </a:cubicBezTo>
                  <a:cubicBezTo>
                    <a:pt x="192" y="84"/>
                    <a:pt x="192" y="84"/>
                    <a:pt x="192" y="84"/>
                  </a:cubicBezTo>
                  <a:cubicBezTo>
                    <a:pt x="192" y="84"/>
                    <a:pt x="192" y="84"/>
                    <a:pt x="192" y="84"/>
                  </a:cubicBezTo>
                  <a:cubicBezTo>
                    <a:pt x="183" y="70"/>
                    <a:pt x="174" y="57"/>
                    <a:pt x="164" y="45"/>
                  </a:cubicBezTo>
                  <a:cubicBezTo>
                    <a:pt x="164" y="45"/>
                    <a:pt x="164" y="45"/>
                    <a:pt x="164" y="45"/>
                  </a:cubicBezTo>
                  <a:close/>
                  <a:moveTo>
                    <a:pt x="95" y="157"/>
                  </a:moveTo>
                  <a:cubicBezTo>
                    <a:pt x="95" y="157"/>
                    <a:pt x="95" y="157"/>
                    <a:pt x="95" y="157"/>
                  </a:cubicBezTo>
                  <a:cubicBezTo>
                    <a:pt x="97" y="162"/>
                    <a:pt x="100" y="166"/>
                    <a:pt x="102" y="171"/>
                  </a:cubicBezTo>
                  <a:cubicBezTo>
                    <a:pt x="106" y="178"/>
                    <a:pt x="109" y="184"/>
                    <a:pt x="113" y="190"/>
                  </a:cubicBezTo>
                  <a:cubicBezTo>
                    <a:pt x="113" y="190"/>
                    <a:pt x="113" y="190"/>
                    <a:pt x="113" y="190"/>
                  </a:cubicBezTo>
                  <a:cubicBezTo>
                    <a:pt x="113" y="190"/>
                    <a:pt x="113" y="190"/>
                    <a:pt x="113" y="190"/>
                  </a:cubicBezTo>
                  <a:cubicBezTo>
                    <a:pt x="103" y="189"/>
                    <a:pt x="94" y="188"/>
                    <a:pt x="85" y="186"/>
                  </a:cubicBezTo>
                  <a:cubicBezTo>
                    <a:pt x="85" y="186"/>
                    <a:pt x="85" y="186"/>
                    <a:pt x="85" y="186"/>
                  </a:cubicBezTo>
                  <a:cubicBezTo>
                    <a:pt x="85" y="186"/>
                    <a:pt x="85" y="186"/>
                    <a:pt x="85" y="186"/>
                  </a:cubicBezTo>
                  <a:cubicBezTo>
                    <a:pt x="88" y="177"/>
                    <a:pt x="91" y="167"/>
                    <a:pt x="95" y="157"/>
                  </a:cubicBezTo>
                  <a:close/>
                  <a:moveTo>
                    <a:pt x="86" y="101"/>
                  </a:moveTo>
                  <a:cubicBezTo>
                    <a:pt x="86" y="100"/>
                    <a:pt x="86" y="100"/>
                    <a:pt x="86" y="100"/>
                  </a:cubicBezTo>
                  <a:cubicBezTo>
                    <a:pt x="86" y="100"/>
                    <a:pt x="86" y="100"/>
                    <a:pt x="86" y="100"/>
                  </a:cubicBezTo>
                  <a:cubicBezTo>
                    <a:pt x="94" y="99"/>
                    <a:pt x="103" y="97"/>
                    <a:pt x="112" y="96"/>
                  </a:cubicBezTo>
                  <a:cubicBezTo>
                    <a:pt x="112" y="96"/>
                    <a:pt x="112" y="96"/>
                    <a:pt x="112" y="96"/>
                  </a:cubicBezTo>
                  <a:cubicBezTo>
                    <a:pt x="112" y="97"/>
                    <a:pt x="112" y="97"/>
                    <a:pt x="112" y="97"/>
                  </a:cubicBezTo>
                  <a:cubicBezTo>
                    <a:pt x="108" y="103"/>
                    <a:pt x="105" y="109"/>
                    <a:pt x="101" y="115"/>
                  </a:cubicBezTo>
                  <a:cubicBezTo>
                    <a:pt x="99" y="119"/>
                    <a:pt x="97" y="123"/>
                    <a:pt x="95" y="127"/>
                  </a:cubicBezTo>
                  <a:cubicBezTo>
                    <a:pt x="95" y="128"/>
                    <a:pt x="95" y="128"/>
                    <a:pt x="95" y="128"/>
                  </a:cubicBezTo>
                  <a:cubicBezTo>
                    <a:pt x="95" y="127"/>
                    <a:pt x="95" y="127"/>
                    <a:pt x="95" y="127"/>
                  </a:cubicBezTo>
                  <a:cubicBezTo>
                    <a:pt x="91" y="118"/>
                    <a:pt x="88" y="109"/>
                    <a:pt x="86" y="101"/>
                  </a:cubicBezTo>
                  <a:close/>
                  <a:moveTo>
                    <a:pt x="112" y="166"/>
                  </a:moveTo>
                  <a:cubicBezTo>
                    <a:pt x="108" y="158"/>
                    <a:pt x="105" y="150"/>
                    <a:pt x="101" y="142"/>
                  </a:cubicBezTo>
                  <a:cubicBezTo>
                    <a:pt x="101" y="142"/>
                    <a:pt x="101" y="142"/>
                    <a:pt x="101" y="142"/>
                  </a:cubicBezTo>
                  <a:cubicBezTo>
                    <a:pt x="101" y="142"/>
                    <a:pt x="101" y="142"/>
                    <a:pt x="101" y="142"/>
                  </a:cubicBezTo>
                  <a:cubicBezTo>
                    <a:pt x="104" y="135"/>
                    <a:pt x="108" y="127"/>
                    <a:pt x="112" y="120"/>
                  </a:cubicBezTo>
                  <a:cubicBezTo>
                    <a:pt x="116" y="112"/>
                    <a:pt x="121" y="103"/>
                    <a:pt x="126" y="95"/>
                  </a:cubicBezTo>
                  <a:cubicBezTo>
                    <a:pt x="126" y="95"/>
                    <a:pt x="126" y="95"/>
                    <a:pt x="126" y="95"/>
                  </a:cubicBezTo>
                  <a:cubicBezTo>
                    <a:pt x="126" y="95"/>
                    <a:pt x="126" y="95"/>
                    <a:pt x="126" y="95"/>
                  </a:cubicBezTo>
                  <a:cubicBezTo>
                    <a:pt x="146" y="94"/>
                    <a:pt x="166" y="94"/>
                    <a:pt x="186" y="95"/>
                  </a:cubicBezTo>
                  <a:cubicBezTo>
                    <a:pt x="186" y="95"/>
                    <a:pt x="186" y="95"/>
                    <a:pt x="186" y="95"/>
                  </a:cubicBezTo>
                  <a:cubicBezTo>
                    <a:pt x="186" y="95"/>
                    <a:pt x="186" y="95"/>
                    <a:pt x="186" y="95"/>
                  </a:cubicBezTo>
                  <a:cubicBezTo>
                    <a:pt x="191" y="103"/>
                    <a:pt x="196" y="112"/>
                    <a:pt x="200" y="120"/>
                  </a:cubicBezTo>
                  <a:cubicBezTo>
                    <a:pt x="204" y="127"/>
                    <a:pt x="207" y="135"/>
                    <a:pt x="211" y="142"/>
                  </a:cubicBezTo>
                  <a:cubicBezTo>
                    <a:pt x="211" y="142"/>
                    <a:pt x="211" y="142"/>
                    <a:pt x="211" y="142"/>
                  </a:cubicBezTo>
                  <a:cubicBezTo>
                    <a:pt x="211" y="142"/>
                    <a:pt x="211" y="142"/>
                    <a:pt x="211" y="142"/>
                  </a:cubicBezTo>
                  <a:cubicBezTo>
                    <a:pt x="207" y="150"/>
                    <a:pt x="203" y="158"/>
                    <a:pt x="199" y="166"/>
                  </a:cubicBezTo>
                  <a:cubicBezTo>
                    <a:pt x="195" y="175"/>
                    <a:pt x="190" y="183"/>
                    <a:pt x="185" y="192"/>
                  </a:cubicBezTo>
                  <a:cubicBezTo>
                    <a:pt x="185" y="192"/>
                    <a:pt x="185" y="192"/>
                    <a:pt x="185" y="192"/>
                  </a:cubicBezTo>
                  <a:cubicBezTo>
                    <a:pt x="185" y="192"/>
                    <a:pt x="185" y="192"/>
                    <a:pt x="185" y="192"/>
                  </a:cubicBezTo>
                  <a:cubicBezTo>
                    <a:pt x="175" y="192"/>
                    <a:pt x="165" y="193"/>
                    <a:pt x="156" y="193"/>
                  </a:cubicBezTo>
                  <a:cubicBezTo>
                    <a:pt x="146" y="193"/>
                    <a:pt x="137" y="192"/>
                    <a:pt x="127" y="192"/>
                  </a:cubicBezTo>
                  <a:cubicBezTo>
                    <a:pt x="127" y="192"/>
                    <a:pt x="127" y="192"/>
                    <a:pt x="127" y="192"/>
                  </a:cubicBezTo>
                  <a:cubicBezTo>
                    <a:pt x="127" y="192"/>
                    <a:pt x="127" y="192"/>
                    <a:pt x="127" y="192"/>
                  </a:cubicBezTo>
                  <a:cubicBezTo>
                    <a:pt x="122" y="183"/>
                    <a:pt x="117" y="175"/>
                    <a:pt x="112" y="166"/>
                  </a:cubicBezTo>
                  <a:close/>
                  <a:moveTo>
                    <a:pt x="199" y="190"/>
                  </a:moveTo>
                  <a:cubicBezTo>
                    <a:pt x="203" y="184"/>
                    <a:pt x="206" y="178"/>
                    <a:pt x="209" y="171"/>
                  </a:cubicBezTo>
                  <a:cubicBezTo>
                    <a:pt x="212" y="166"/>
                    <a:pt x="214" y="162"/>
                    <a:pt x="217" y="157"/>
                  </a:cubicBezTo>
                  <a:cubicBezTo>
                    <a:pt x="217" y="157"/>
                    <a:pt x="217" y="157"/>
                    <a:pt x="217" y="157"/>
                  </a:cubicBezTo>
                  <a:cubicBezTo>
                    <a:pt x="217" y="157"/>
                    <a:pt x="217" y="157"/>
                    <a:pt x="217" y="157"/>
                  </a:cubicBezTo>
                  <a:cubicBezTo>
                    <a:pt x="221" y="167"/>
                    <a:pt x="224" y="177"/>
                    <a:pt x="227" y="186"/>
                  </a:cubicBezTo>
                  <a:cubicBezTo>
                    <a:pt x="227" y="186"/>
                    <a:pt x="227" y="186"/>
                    <a:pt x="227" y="186"/>
                  </a:cubicBezTo>
                  <a:cubicBezTo>
                    <a:pt x="227" y="186"/>
                    <a:pt x="227" y="186"/>
                    <a:pt x="227" y="186"/>
                  </a:cubicBezTo>
                  <a:cubicBezTo>
                    <a:pt x="218" y="188"/>
                    <a:pt x="209" y="189"/>
                    <a:pt x="199" y="190"/>
                  </a:cubicBezTo>
                  <a:cubicBezTo>
                    <a:pt x="199" y="190"/>
                    <a:pt x="199" y="190"/>
                    <a:pt x="199" y="190"/>
                  </a:cubicBezTo>
                  <a:close/>
                  <a:moveTo>
                    <a:pt x="217" y="127"/>
                  </a:moveTo>
                  <a:cubicBezTo>
                    <a:pt x="217" y="128"/>
                    <a:pt x="217" y="128"/>
                    <a:pt x="217" y="128"/>
                  </a:cubicBezTo>
                  <a:cubicBezTo>
                    <a:pt x="217" y="127"/>
                    <a:pt x="217" y="127"/>
                    <a:pt x="217" y="127"/>
                  </a:cubicBezTo>
                  <a:cubicBezTo>
                    <a:pt x="214" y="123"/>
                    <a:pt x="212" y="119"/>
                    <a:pt x="210" y="115"/>
                  </a:cubicBezTo>
                  <a:cubicBezTo>
                    <a:pt x="207" y="109"/>
                    <a:pt x="204" y="103"/>
                    <a:pt x="200" y="97"/>
                  </a:cubicBezTo>
                  <a:cubicBezTo>
                    <a:pt x="200" y="96"/>
                    <a:pt x="200" y="96"/>
                    <a:pt x="200" y="96"/>
                  </a:cubicBezTo>
                  <a:cubicBezTo>
                    <a:pt x="200" y="96"/>
                    <a:pt x="200" y="96"/>
                    <a:pt x="200" y="96"/>
                  </a:cubicBezTo>
                  <a:cubicBezTo>
                    <a:pt x="209" y="97"/>
                    <a:pt x="218" y="99"/>
                    <a:pt x="226" y="100"/>
                  </a:cubicBezTo>
                  <a:cubicBezTo>
                    <a:pt x="226" y="100"/>
                    <a:pt x="226" y="100"/>
                    <a:pt x="226" y="100"/>
                  </a:cubicBezTo>
                  <a:cubicBezTo>
                    <a:pt x="226" y="101"/>
                    <a:pt x="226" y="101"/>
                    <a:pt x="226" y="101"/>
                  </a:cubicBezTo>
                  <a:cubicBezTo>
                    <a:pt x="223" y="109"/>
                    <a:pt x="220" y="118"/>
                    <a:pt x="217" y="127"/>
                  </a:cubicBezTo>
                  <a:close/>
                  <a:moveTo>
                    <a:pt x="156" y="54"/>
                  </a:moveTo>
                  <a:cubicBezTo>
                    <a:pt x="156" y="54"/>
                    <a:pt x="156" y="54"/>
                    <a:pt x="156" y="54"/>
                  </a:cubicBezTo>
                  <a:cubicBezTo>
                    <a:pt x="156" y="54"/>
                    <a:pt x="156" y="54"/>
                    <a:pt x="156" y="54"/>
                  </a:cubicBezTo>
                  <a:cubicBezTo>
                    <a:pt x="163" y="63"/>
                    <a:pt x="171" y="72"/>
                    <a:pt x="178" y="83"/>
                  </a:cubicBezTo>
                  <a:cubicBezTo>
                    <a:pt x="178" y="83"/>
                    <a:pt x="178" y="83"/>
                    <a:pt x="178" y="83"/>
                  </a:cubicBezTo>
                  <a:cubicBezTo>
                    <a:pt x="178" y="83"/>
                    <a:pt x="178" y="83"/>
                    <a:pt x="178" y="83"/>
                  </a:cubicBezTo>
                  <a:cubicBezTo>
                    <a:pt x="170" y="83"/>
                    <a:pt x="163" y="82"/>
                    <a:pt x="156" y="82"/>
                  </a:cubicBezTo>
                  <a:cubicBezTo>
                    <a:pt x="149" y="82"/>
                    <a:pt x="141" y="83"/>
                    <a:pt x="134" y="83"/>
                  </a:cubicBezTo>
                  <a:cubicBezTo>
                    <a:pt x="134" y="83"/>
                    <a:pt x="134" y="83"/>
                    <a:pt x="134" y="83"/>
                  </a:cubicBezTo>
                  <a:cubicBezTo>
                    <a:pt x="134" y="83"/>
                    <a:pt x="134" y="83"/>
                    <a:pt x="134" y="83"/>
                  </a:cubicBezTo>
                  <a:cubicBezTo>
                    <a:pt x="141" y="72"/>
                    <a:pt x="148" y="63"/>
                    <a:pt x="156" y="54"/>
                  </a:cubicBezTo>
                  <a:close/>
                  <a:moveTo>
                    <a:pt x="78" y="40"/>
                  </a:moveTo>
                  <a:cubicBezTo>
                    <a:pt x="79" y="27"/>
                    <a:pt x="83" y="18"/>
                    <a:pt x="89" y="15"/>
                  </a:cubicBezTo>
                  <a:cubicBezTo>
                    <a:pt x="92" y="14"/>
                    <a:pt x="94" y="13"/>
                    <a:pt x="97" y="13"/>
                  </a:cubicBezTo>
                  <a:cubicBezTo>
                    <a:pt x="110" y="13"/>
                    <a:pt x="129" y="25"/>
                    <a:pt x="148" y="45"/>
                  </a:cubicBezTo>
                  <a:cubicBezTo>
                    <a:pt x="148" y="45"/>
                    <a:pt x="148" y="45"/>
                    <a:pt x="148" y="45"/>
                  </a:cubicBezTo>
                  <a:cubicBezTo>
                    <a:pt x="148" y="45"/>
                    <a:pt x="148" y="45"/>
                    <a:pt x="148" y="45"/>
                  </a:cubicBezTo>
                  <a:cubicBezTo>
                    <a:pt x="138" y="57"/>
                    <a:pt x="128" y="70"/>
                    <a:pt x="119" y="84"/>
                  </a:cubicBezTo>
                  <a:cubicBezTo>
                    <a:pt x="119" y="84"/>
                    <a:pt x="119" y="84"/>
                    <a:pt x="119" y="84"/>
                  </a:cubicBezTo>
                  <a:cubicBezTo>
                    <a:pt x="119" y="84"/>
                    <a:pt x="119" y="84"/>
                    <a:pt x="119" y="84"/>
                  </a:cubicBezTo>
                  <a:cubicBezTo>
                    <a:pt x="107" y="85"/>
                    <a:pt x="94" y="87"/>
                    <a:pt x="83" y="89"/>
                  </a:cubicBezTo>
                  <a:cubicBezTo>
                    <a:pt x="83" y="89"/>
                    <a:pt x="83" y="89"/>
                    <a:pt x="83" y="89"/>
                  </a:cubicBezTo>
                  <a:cubicBezTo>
                    <a:pt x="83" y="89"/>
                    <a:pt x="83" y="89"/>
                    <a:pt x="83" y="89"/>
                  </a:cubicBezTo>
                  <a:cubicBezTo>
                    <a:pt x="78" y="70"/>
                    <a:pt x="76" y="53"/>
                    <a:pt x="78" y="40"/>
                  </a:cubicBezTo>
                  <a:close/>
                  <a:moveTo>
                    <a:pt x="74" y="183"/>
                  </a:moveTo>
                  <a:cubicBezTo>
                    <a:pt x="74" y="183"/>
                    <a:pt x="74" y="183"/>
                    <a:pt x="74" y="183"/>
                  </a:cubicBezTo>
                  <a:cubicBezTo>
                    <a:pt x="55" y="179"/>
                    <a:pt x="39" y="172"/>
                    <a:pt x="28" y="165"/>
                  </a:cubicBezTo>
                  <a:cubicBezTo>
                    <a:pt x="17" y="158"/>
                    <a:pt x="11" y="151"/>
                    <a:pt x="11" y="143"/>
                  </a:cubicBezTo>
                  <a:cubicBezTo>
                    <a:pt x="11" y="136"/>
                    <a:pt x="17" y="128"/>
                    <a:pt x="28" y="121"/>
                  </a:cubicBezTo>
                  <a:cubicBezTo>
                    <a:pt x="39" y="114"/>
                    <a:pt x="55" y="108"/>
                    <a:pt x="74" y="103"/>
                  </a:cubicBezTo>
                  <a:cubicBezTo>
                    <a:pt x="74" y="103"/>
                    <a:pt x="74" y="103"/>
                    <a:pt x="74" y="103"/>
                  </a:cubicBezTo>
                  <a:cubicBezTo>
                    <a:pt x="74" y="103"/>
                    <a:pt x="74" y="103"/>
                    <a:pt x="74" y="103"/>
                  </a:cubicBezTo>
                  <a:cubicBezTo>
                    <a:pt x="78" y="116"/>
                    <a:pt x="83" y="129"/>
                    <a:pt x="88" y="142"/>
                  </a:cubicBezTo>
                  <a:cubicBezTo>
                    <a:pt x="88" y="142"/>
                    <a:pt x="88" y="142"/>
                    <a:pt x="88" y="142"/>
                  </a:cubicBezTo>
                  <a:cubicBezTo>
                    <a:pt x="88" y="142"/>
                    <a:pt x="88" y="142"/>
                    <a:pt x="88" y="142"/>
                  </a:cubicBezTo>
                  <a:cubicBezTo>
                    <a:pt x="82" y="156"/>
                    <a:pt x="77" y="170"/>
                    <a:pt x="74" y="183"/>
                  </a:cubicBezTo>
                  <a:close/>
                  <a:moveTo>
                    <a:pt x="148" y="240"/>
                  </a:moveTo>
                  <a:cubicBezTo>
                    <a:pt x="128" y="261"/>
                    <a:pt x="109" y="273"/>
                    <a:pt x="96" y="273"/>
                  </a:cubicBezTo>
                  <a:cubicBezTo>
                    <a:pt x="93" y="273"/>
                    <a:pt x="91" y="272"/>
                    <a:pt x="89" y="271"/>
                  </a:cubicBezTo>
                  <a:cubicBezTo>
                    <a:pt x="82" y="268"/>
                    <a:pt x="78" y="259"/>
                    <a:pt x="77" y="246"/>
                  </a:cubicBezTo>
                  <a:cubicBezTo>
                    <a:pt x="76" y="233"/>
                    <a:pt x="77" y="216"/>
                    <a:pt x="82" y="197"/>
                  </a:cubicBezTo>
                  <a:cubicBezTo>
                    <a:pt x="82" y="197"/>
                    <a:pt x="82" y="197"/>
                    <a:pt x="82" y="197"/>
                  </a:cubicBezTo>
                  <a:cubicBezTo>
                    <a:pt x="82" y="197"/>
                    <a:pt x="82" y="197"/>
                    <a:pt x="82" y="197"/>
                  </a:cubicBezTo>
                  <a:cubicBezTo>
                    <a:pt x="94" y="200"/>
                    <a:pt x="107" y="201"/>
                    <a:pt x="120" y="203"/>
                  </a:cubicBezTo>
                  <a:cubicBezTo>
                    <a:pt x="120" y="203"/>
                    <a:pt x="120" y="203"/>
                    <a:pt x="120" y="203"/>
                  </a:cubicBezTo>
                  <a:cubicBezTo>
                    <a:pt x="120" y="203"/>
                    <a:pt x="120" y="203"/>
                    <a:pt x="120" y="203"/>
                  </a:cubicBezTo>
                  <a:cubicBezTo>
                    <a:pt x="129" y="216"/>
                    <a:pt x="138" y="229"/>
                    <a:pt x="148" y="240"/>
                  </a:cubicBezTo>
                  <a:cubicBezTo>
                    <a:pt x="148" y="240"/>
                    <a:pt x="148" y="240"/>
                    <a:pt x="148" y="240"/>
                  </a:cubicBezTo>
                  <a:close/>
                  <a:moveTo>
                    <a:pt x="156" y="231"/>
                  </a:moveTo>
                  <a:cubicBezTo>
                    <a:pt x="156" y="231"/>
                    <a:pt x="156" y="231"/>
                    <a:pt x="156" y="231"/>
                  </a:cubicBezTo>
                  <a:cubicBezTo>
                    <a:pt x="156" y="231"/>
                    <a:pt x="156" y="231"/>
                    <a:pt x="156" y="231"/>
                  </a:cubicBezTo>
                  <a:cubicBezTo>
                    <a:pt x="149" y="223"/>
                    <a:pt x="142" y="214"/>
                    <a:pt x="135" y="204"/>
                  </a:cubicBezTo>
                  <a:cubicBezTo>
                    <a:pt x="135" y="204"/>
                    <a:pt x="135" y="204"/>
                    <a:pt x="135" y="204"/>
                  </a:cubicBezTo>
                  <a:cubicBezTo>
                    <a:pt x="135" y="204"/>
                    <a:pt x="135" y="204"/>
                    <a:pt x="135" y="204"/>
                  </a:cubicBezTo>
                  <a:cubicBezTo>
                    <a:pt x="142" y="204"/>
                    <a:pt x="149" y="204"/>
                    <a:pt x="156" y="204"/>
                  </a:cubicBezTo>
                  <a:cubicBezTo>
                    <a:pt x="163" y="204"/>
                    <a:pt x="170" y="204"/>
                    <a:pt x="177" y="204"/>
                  </a:cubicBezTo>
                  <a:cubicBezTo>
                    <a:pt x="177" y="204"/>
                    <a:pt x="177" y="204"/>
                    <a:pt x="177" y="204"/>
                  </a:cubicBezTo>
                  <a:cubicBezTo>
                    <a:pt x="177" y="204"/>
                    <a:pt x="177" y="204"/>
                    <a:pt x="177" y="204"/>
                  </a:cubicBezTo>
                  <a:cubicBezTo>
                    <a:pt x="170" y="214"/>
                    <a:pt x="163" y="223"/>
                    <a:pt x="156" y="231"/>
                  </a:cubicBezTo>
                  <a:close/>
                  <a:moveTo>
                    <a:pt x="235" y="246"/>
                  </a:moveTo>
                  <a:cubicBezTo>
                    <a:pt x="234" y="259"/>
                    <a:pt x="229" y="268"/>
                    <a:pt x="223" y="271"/>
                  </a:cubicBezTo>
                  <a:cubicBezTo>
                    <a:pt x="221" y="272"/>
                    <a:pt x="218" y="273"/>
                    <a:pt x="215" y="273"/>
                  </a:cubicBezTo>
                  <a:cubicBezTo>
                    <a:pt x="202" y="273"/>
                    <a:pt x="184" y="261"/>
                    <a:pt x="164" y="240"/>
                  </a:cubicBezTo>
                  <a:cubicBezTo>
                    <a:pt x="164" y="240"/>
                    <a:pt x="164" y="240"/>
                    <a:pt x="164" y="240"/>
                  </a:cubicBezTo>
                  <a:cubicBezTo>
                    <a:pt x="164" y="240"/>
                    <a:pt x="164" y="240"/>
                    <a:pt x="164" y="240"/>
                  </a:cubicBezTo>
                  <a:cubicBezTo>
                    <a:pt x="173" y="229"/>
                    <a:pt x="182" y="216"/>
                    <a:pt x="191" y="203"/>
                  </a:cubicBezTo>
                  <a:cubicBezTo>
                    <a:pt x="191" y="203"/>
                    <a:pt x="191" y="203"/>
                    <a:pt x="191" y="203"/>
                  </a:cubicBezTo>
                  <a:cubicBezTo>
                    <a:pt x="191" y="203"/>
                    <a:pt x="191" y="203"/>
                    <a:pt x="191" y="203"/>
                  </a:cubicBezTo>
                  <a:cubicBezTo>
                    <a:pt x="205" y="201"/>
                    <a:pt x="218" y="200"/>
                    <a:pt x="230" y="197"/>
                  </a:cubicBezTo>
                  <a:cubicBezTo>
                    <a:pt x="230" y="197"/>
                    <a:pt x="230" y="197"/>
                    <a:pt x="230" y="197"/>
                  </a:cubicBezTo>
                  <a:cubicBezTo>
                    <a:pt x="230" y="197"/>
                    <a:pt x="230" y="197"/>
                    <a:pt x="230" y="197"/>
                  </a:cubicBezTo>
                  <a:cubicBezTo>
                    <a:pt x="234" y="216"/>
                    <a:pt x="236" y="233"/>
                    <a:pt x="235" y="246"/>
                  </a:cubicBezTo>
                  <a:close/>
                  <a:moveTo>
                    <a:pt x="238" y="183"/>
                  </a:moveTo>
                  <a:cubicBezTo>
                    <a:pt x="238" y="183"/>
                    <a:pt x="238" y="183"/>
                    <a:pt x="238" y="183"/>
                  </a:cubicBezTo>
                  <a:cubicBezTo>
                    <a:pt x="238" y="183"/>
                    <a:pt x="238" y="183"/>
                    <a:pt x="238" y="183"/>
                  </a:cubicBezTo>
                  <a:cubicBezTo>
                    <a:pt x="234" y="170"/>
                    <a:pt x="229" y="156"/>
                    <a:pt x="223" y="142"/>
                  </a:cubicBezTo>
                  <a:cubicBezTo>
                    <a:pt x="223" y="142"/>
                    <a:pt x="223" y="142"/>
                    <a:pt x="223" y="142"/>
                  </a:cubicBezTo>
                  <a:cubicBezTo>
                    <a:pt x="223" y="142"/>
                    <a:pt x="223" y="142"/>
                    <a:pt x="223" y="142"/>
                  </a:cubicBezTo>
                  <a:cubicBezTo>
                    <a:pt x="229" y="129"/>
                    <a:pt x="234" y="116"/>
                    <a:pt x="237" y="103"/>
                  </a:cubicBezTo>
                  <a:cubicBezTo>
                    <a:pt x="237" y="103"/>
                    <a:pt x="237" y="103"/>
                    <a:pt x="237" y="103"/>
                  </a:cubicBezTo>
                  <a:cubicBezTo>
                    <a:pt x="237" y="103"/>
                    <a:pt x="237" y="103"/>
                    <a:pt x="237" y="103"/>
                  </a:cubicBezTo>
                  <a:cubicBezTo>
                    <a:pt x="256" y="108"/>
                    <a:pt x="272" y="114"/>
                    <a:pt x="283" y="121"/>
                  </a:cubicBezTo>
                  <a:cubicBezTo>
                    <a:pt x="294" y="128"/>
                    <a:pt x="300" y="136"/>
                    <a:pt x="300" y="143"/>
                  </a:cubicBezTo>
                  <a:cubicBezTo>
                    <a:pt x="300" y="151"/>
                    <a:pt x="294" y="158"/>
                    <a:pt x="284" y="165"/>
                  </a:cubicBezTo>
                  <a:cubicBezTo>
                    <a:pt x="273" y="172"/>
                    <a:pt x="257" y="179"/>
                    <a:pt x="238"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55" name="Freeform 16">
              <a:extLst>
                <a:ext uri="{FF2B5EF4-FFF2-40B4-BE49-F238E27FC236}">
                  <a16:creationId xmlns:a16="http://schemas.microsoft.com/office/drawing/2014/main" id="{958F2C4F-F97B-1B81-5643-2F0B9E2C7449}"/>
                </a:ext>
              </a:extLst>
            </p:cNvPr>
            <p:cNvSpPr>
              <a:spLocks noEditPoints="1"/>
            </p:cNvSpPr>
            <p:nvPr/>
          </p:nvSpPr>
          <p:spPr bwMode="auto">
            <a:xfrm>
              <a:off x="2588" y="604"/>
              <a:ext cx="80" cy="80"/>
            </a:xfrm>
            <a:custGeom>
              <a:avLst/>
              <a:gdLst>
                <a:gd name="T0" fmla="*/ 27 w 54"/>
                <a:gd name="T1" fmla="*/ 0 h 54"/>
                <a:gd name="T2" fmla="*/ 0 w 54"/>
                <a:gd name="T3" fmla="*/ 27 h 54"/>
                <a:gd name="T4" fmla="*/ 27 w 54"/>
                <a:gd name="T5" fmla="*/ 54 h 54"/>
                <a:gd name="T6" fmla="*/ 54 w 54"/>
                <a:gd name="T7" fmla="*/ 27 h 54"/>
                <a:gd name="T8" fmla="*/ 27 w 54"/>
                <a:gd name="T9" fmla="*/ 0 h 54"/>
                <a:gd name="T10" fmla="*/ 27 w 54"/>
                <a:gd name="T11" fmla="*/ 43 h 54"/>
                <a:gd name="T12" fmla="*/ 12 w 54"/>
                <a:gd name="T13" fmla="*/ 27 h 54"/>
                <a:gd name="T14" fmla="*/ 27 w 54"/>
                <a:gd name="T15" fmla="*/ 12 h 54"/>
                <a:gd name="T16" fmla="*/ 43 w 54"/>
                <a:gd name="T17" fmla="*/ 27 h 54"/>
                <a:gd name="T18" fmla="*/ 27 w 54"/>
                <a:gd name="T19" fmla="*/ 4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54">
                  <a:moveTo>
                    <a:pt x="27" y="0"/>
                  </a:moveTo>
                  <a:cubicBezTo>
                    <a:pt x="12" y="0"/>
                    <a:pt x="0" y="12"/>
                    <a:pt x="0" y="27"/>
                  </a:cubicBezTo>
                  <a:cubicBezTo>
                    <a:pt x="0" y="42"/>
                    <a:pt x="12" y="54"/>
                    <a:pt x="27" y="54"/>
                  </a:cubicBezTo>
                  <a:cubicBezTo>
                    <a:pt x="42" y="54"/>
                    <a:pt x="54" y="42"/>
                    <a:pt x="54" y="27"/>
                  </a:cubicBezTo>
                  <a:cubicBezTo>
                    <a:pt x="54" y="12"/>
                    <a:pt x="42" y="0"/>
                    <a:pt x="27" y="0"/>
                  </a:cubicBezTo>
                  <a:close/>
                  <a:moveTo>
                    <a:pt x="27" y="43"/>
                  </a:moveTo>
                  <a:cubicBezTo>
                    <a:pt x="19" y="43"/>
                    <a:pt x="12" y="36"/>
                    <a:pt x="12" y="27"/>
                  </a:cubicBezTo>
                  <a:cubicBezTo>
                    <a:pt x="12" y="19"/>
                    <a:pt x="19" y="12"/>
                    <a:pt x="27" y="12"/>
                  </a:cubicBezTo>
                  <a:cubicBezTo>
                    <a:pt x="36" y="12"/>
                    <a:pt x="43" y="19"/>
                    <a:pt x="43" y="27"/>
                  </a:cubicBezTo>
                  <a:cubicBezTo>
                    <a:pt x="43" y="36"/>
                    <a:pt x="36" y="43"/>
                    <a:pt x="2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sp>
        <p:nvSpPr>
          <p:cNvPr id="5" name="TextBox 25">
            <a:extLst>
              <a:ext uri="{FF2B5EF4-FFF2-40B4-BE49-F238E27FC236}">
                <a16:creationId xmlns:a16="http://schemas.microsoft.com/office/drawing/2014/main" id="{D403ABFF-7C0D-6D66-EA0C-B3FFE9AF0466}"/>
              </a:ext>
            </a:extLst>
          </p:cNvPr>
          <p:cNvSpPr txBox="1"/>
          <p:nvPr/>
        </p:nvSpPr>
        <p:spPr>
          <a:xfrm>
            <a:off x="490094" y="2489489"/>
            <a:ext cx="3450500" cy="553998"/>
          </a:xfrm>
          <a:prstGeom prst="rect">
            <a:avLst/>
          </a:prstGeom>
          <a:noFill/>
          <a:ln w="19050">
            <a:noFill/>
          </a:ln>
        </p:spPr>
        <p:txBody>
          <a:bodyPr wrap="square" lIns="0" tIns="0" rIns="0" bIns="0" rtlCol="0" anchor="t">
            <a:spAutoFit/>
          </a:bodyPr>
          <a:lstStyle/>
          <a:p>
            <a:pPr marR="0" lvl="0"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Lorem ipsum dolor sit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amet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consectetur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adipiscing</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Ut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tellus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luctus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nec</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ullamcorper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mattis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pulvinar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dapibus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leo</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t>
            </a:r>
          </a:p>
        </p:txBody>
      </p:sp>
      <p:sp>
        <p:nvSpPr>
          <p:cNvPr id="9" name="TextBox 25">
            <a:extLst>
              <a:ext uri="{FF2B5EF4-FFF2-40B4-BE49-F238E27FC236}">
                <a16:creationId xmlns:a16="http://schemas.microsoft.com/office/drawing/2014/main" id="{D36A528A-E886-C1D5-8980-195BBF70061E}"/>
              </a:ext>
            </a:extLst>
          </p:cNvPr>
          <p:cNvSpPr txBox="1"/>
          <p:nvPr/>
        </p:nvSpPr>
        <p:spPr>
          <a:xfrm>
            <a:off x="6886574" y="1665215"/>
            <a:ext cx="4933950" cy="369332"/>
          </a:xfrm>
          <a:prstGeom prst="rect">
            <a:avLst/>
          </a:prstGeom>
          <a:noFill/>
          <a:ln w="19050">
            <a:noFill/>
          </a:ln>
        </p:spPr>
        <p:txBody>
          <a:bodyPr wrap="square" lIns="0" tIns="0" rIns="0" bIns="0" rtlCol="0" anchor="t">
            <a:spAutoFit/>
          </a:bodyPr>
          <a:lstStyle/>
          <a:p>
            <a:pPr>
              <a:spcBef>
                <a:spcPts val="300"/>
              </a:spcBef>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Lorem ipsum dolor sit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amet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consectetur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adipiscing</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Ut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tellus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luctus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nec</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ullamcorper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mattis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pulvinar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dapibus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leo</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t>
            </a:r>
          </a:p>
        </p:txBody>
      </p:sp>
      <p:sp>
        <p:nvSpPr>
          <p:cNvPr id="14" name="TextBox 25">
            <a:extLst>
              <a:ext uri="{FF2B5EF4-FFF2-40B4-BE49-F238E27FC236}">
                <a16:creationId xmlns:a16="http://schemas.microsoft.com/office/drawing/2014/main" id="{C20B7EFA-5B43-5276-AAC6-156ABF6716C3}"/>
              </a:ext>
            </a:extLst>
          </p:cNvPr>
          <p:cNvSpPr txBox="1"/>
          <p:nvPr/>
        </p:nvSpPr>
        <p:spPr>
          <a:xfrm>
            <a:off x="8378935" y="2591497"/>
            <a:ext cx="3441589" cy="553998"/>
          </a:xfrm>
          <a:prstGeom prst="rect">
            <a:avLst/>
          </a:prstGeom>
          <a:noFill/>
          <a:ln w="19050">
            <a:noFill/>
          </a:ln>
        </p:spPr>
        <p:txBody>
          <a:bodyPr wrap="square" lIns="0" tIns="0" rIns="0" bIns="0" rtlCol="0" anchor="t">
            <a:spAutoFit/>
          </a:bodyPr>
          <a:lstStyle/>
          <a:p>
            <a:pPr marR="0" lvl="0"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Lorem ipsum dolor sit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amet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consectetur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adipiscing</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Ut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tellus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luctus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nec</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ullamcorper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mattis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pulvinar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dapibus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leo</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t>
            </a:r>
          </a:p>
        </p:txBody>
      </p:sp>
      <p:sp>
        <p:nvSpPr>
          <p:cNvPr id="15" name="TextBox 25">
            <a:extLst>
              <a:ext uri="{FF2B5EF4-FFF2-40B4-BE49-F238E27FC236}">
                <a16:creationId xmlns:a16="http://schemas.microsoft.com/office/drawing/2014/main" id="{4071884A-BE31-B5CE-FCDB-60091ED71EE0}"/>
              </a:ext>
            </a:extLst>
          </p:cNvPr>
          <p:cNvSpPr txBox="1"/>
          <p:nvPr/>
        </p:nvSpPr>
        <p:spPr>
          <a:xfrm>
            <a:off x="7845217" y="3637777"/>
            <a:ext cx="4121496" cy="553998"/>
          </a:xfrm>
          <a:prstGeom prst="rect">
            <a:avLst/>
          </a:prstGeom>
          <a:noFill/>
          <a:ln w="19050">
            <a:noFill/>
          </a:ln>
        </p:spPr>
        <p:txBody>
          <a:bodyPr wrap="square" lIns="72000" tIns="0" rIns="0" bIns="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Lorem ipsum dolor sit </a:t>
            </a:r>
            <a:r>
              <a:rPr kumimoji="0" lang="en-US" sz="1200" b="1" i="0" u="none" strike="noStrike" kern="1200" cap="none" spc="0" normalizeH="0" baseline="0" noProof="0" dirty="0" err="1">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amet</a:t>
            </a: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1" i="0" u="none" strike="noStrike" kern="1200" cap="none" spc="0" normalizeH="0" baseline="0" noProof="0" dirty="0" err="1">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consectetur</a:t>
            </a: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1" i="0" u="none" strike="noStrike" kern="1200" cap="none" spc="0" normalizeH="0" baseline="0" noProof="0" dirty="0" err="1">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adipiscing</a:t>
            </a: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1" i="0" u="none" strike="noStrike" kern="1200" cap="none" spc="0" normalizeH="0" baseline="0" noProof="0" dirty="0" err="1">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Ut </a:t>
            </a:r>
            <a:r>
              <a:rPr kumimoji="0" lang="en-US" sz="1200" b="1" i="0" u="none" strike="noStrike" kern="1200" cap="none" spc="0" normalizeH="0" baseline="0" noProof="0" dirty="0" err="1">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1" i="0" u="none" strike="noStrike" kern="1200" cap="none" spc="0" normalizeH="0" baseline="0" noProof="0" dirty="0" err="1">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tellus</a:t>
            </a: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1" i="0" u="none" strike="noStrike" kern="1200" cap="none" spc="0" normalizeH="0" baseline="0" noProof="0" dirty="0" err="1">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luctus</a:t>
            </a: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1" i="0" u="none" strike="noStrike" kern="1200" cap="none" spc="0" normalizeH="0" baseline="0" noProof="0" dirty="0" err="1">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nec</a:t>
            </a: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1" i="0" u="none" strike="noStrike" kern="1200" cap="none" spc="0" normalizeH="0" baseline="0" noProof="0" dirty="0" err="1">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ullamcorper</a:t>
            </a: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1" i="0" u="none" strike="noStrike" kern="1200" cap="none" spc="0" normalizeH="0" baseline="0" noProof="0" dirty="0" err="1">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mattis</a:t>
            </a: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pulvinar </a:t>
            </a:r>
            <a:r>
              <a:rPr kumimoji="0" lang="en-US" sz="1200" b="1" i="0" u="none" strike="noStrike" kern="1200" cap="none" spc="0" normalizeH="0" baseline="0" noProof="0" dirty="0" err="1">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dapibus</a:t>
            </a: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1" i="0" u="none" strike="noStrike" kern="1200" cap="none" spc="0" normalizeH="0" baseline="0" noProof="0" dirty="0" err="1">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leo</a:t>
            </a: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t>
            </a:r>
          </a:p>
        </p:txBody>
      </p:sp>
      <p:sp>
        <p:nvSpPr>
          <p:cNvPr id="56" name="TextBox 25">
            <a:extLst>
              <a:ext uri="{FF2B5EF4-FFF2-40B4-BE49-F238E27FC236}">
                <a16:creationId xmlns:a16="http://schemas.microsoft.com/office/drawing/2014/main" id="{6833B4BE-87CA-3ED3-562C-058BFF403D09}"/>
              </a:ext>
            </a:extLst>
          </p:cNvPr>
          <p:cNvSpPr txBox="1"/>
          <p:nvPr/>
        </p:nvSpPr>
        <p:spPr>
          <a:xfrm>
            <a:off x="8378935" y="4733196"/>
            <a:ext cx="3441589" cy="553998"/>
          </a:xfrm>
          <a:prstGeom prst="rect">
            <a:avLst/>
          </a:prstGeom>
          <a:noFill/>
          <a:ln w="19050">
            <a:noFill/>
          </a:ln>
        </p:spPr>
        <p:txBody>
          <a:bodyPr wrap="square" lIns="0" tIns="0" rIns="0" bIns="0" rtlCol="0" anchor="t">
            <a:spAutoFit/>
          </a:bodyPr>
          <a:lstStyle/>
          <a:p>
            <a:pPr marR="0" lvl="0"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Lorem ipsum dolor sit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amet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consectetur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adipiscing</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Ut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tellus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luctus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nec</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ullamcorper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mattis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pulvinar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dapibus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leo</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t>
            </a:r>
          </a:p>
        </p:txBody>
      </p:sp>
      <p:sp>
        <p:nvSpPr>
          <p:cNvPr id="57" name="TextBox 25">
            <a:extLst>
              <a:ext uri="{FF2B5EF4-FFF2-40B4-BE49-F238E27FC236}">
                <a16:creationId xmlns:a16="http://schemas.microsoft.com/office/drawing/2014/main" id="{E491C010-0647-B3D7-E772-405B71F808E0}"/>
              </a:ext>
            </a:extLst>
          </p:cNvPr>
          <p:cNvSpPr txBox="1"/>
          <p:nvPr/>
        </p:nvSpPr>
        <p:spPr>
          <a:xfrm>
            <a:off x="1827930" y="5763644"/>
            <a:ext cx="3812117" cy="553998"/>
          </a:xfrm>
          <a:prstGeom prst="rect">
            <a:avLst/>
          </a:prstGeom>
          <a:noFill/>
          <a:ln w="19050">
            <a:noFill/>
          </a:ln>
        </p:spPr>
        <p:txBody>
          <a:bodyPr wrap="square" lIns="0" tIns="0" rIns="0" bIns="0" rtlCol="0" anchor="t">
            <a:spAutoFit/>
          </a:bodyPr>
          <a:lstStyle/>
          <a:p>
            <a:pPr>
              <a:spcBef>
                <a:spcPts val="300"/>
              </a:spcBef>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Lorem ipsum dolor sit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amet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consectetur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adipiscing</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Ut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tellus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luctus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nec</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ullamcorper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mattis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pulvinar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dapibus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leo</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t>
            </a:r>
          </a:p>
        </p:txBody>
      </p:sp>
      <p:sp>
        <p:nvSpPr>
          <p:cNvPr id="58" name="TextBox 25">
            <a:extLst>
              <a:ext uri="{FF2B5EF4-FFF2-40B4-BE49-F238E27FC236}">
                <a16:creationId xmlns:a16="http://schemas.microsoft.com/office/drawing/2014/main" id="{6153E5BB-63F1-9749-E5C0-150C127220AD}"/>
              </a:ext>
            </a:extLst>
          </p:cNvPr>
          <p:cNvSpPr txBox="1"/>
          <p:nvPr/>
        </p:nvSpPr>
        <p:spPr>
          <a:xfrm>
            <a:off x="488579" y="4473412"/>
            <a:ext cx="3452015" cy="553998"/>
          </a:xfrm>
          <a:prstGeom prst="rect">
            <a:avLst/>
          </a:prstGeom>
          <a:noFill/>
          <a:ln w="19050">
            <a:noFill/>
          </a:ln>
        </p:spPr>
        <p:txBody>
          <a:bodyPr wrap="square" lIns="0" tIns="0" rIns="0" bIns="0" rtlCol="0" anchor="t">
            <a:spAutoFit/>
          </a:bodyPr>
          <a:lstStyle/>
          <a:p>
            <a:pPr>
              <a:spcBef>
                <a:spcPts val="300"/>
              </a:spcBef>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Lorem ipsum dolor sit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amet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consectetur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adipiscing</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Ut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tellus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luctus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nec</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ullamcorper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mattis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pulvinar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dapibus</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leo</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t>
            </a:r>
          </a:p>
        </p:txBody>
      </p:sp>
      <p:cxnSp>
        <p:nvCxnSpPr>
          <p:cNvPr id="4" name="Conector recto 9">
            <a:extLst>
              <a:ext uri="{FF2B5EF4-FFF2-40B4-BE49-F238E27FC236}">
                <a16:creationId xmlns:a16="http://schemas.microsoft.com/office/drawing/2014/main" id="{7039F3F7-7F15-F27E-5EF5-315A9AA58F78}"/>
              </a:ext>
            </a:extLst>
          </p:cNvPr>
          <p:cNvCxnSpPr>
            <a:cxnSpLocks/>
          </p:cNvCxnSpPr>
          <p:nvPr/>
        </p:nvCxnSpPr>
        <p:spPr>
          <a:xfrm>
            <a:off x="6190094" y="3857654"/>
            <a:ext cx="1683826" cy="0"/>
          </a:xfrm>
          <a:prstGeom prst="line">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2" name="Marcador de pie de página 1">
            <a:extLst>
              <a:ext uri="{FF2B5EF4-FFF2-40B4-BE49-F238E27FC236}">
                <a16:creationId xmlns:a16="http://schemas.microsoft.com/office/drawing/2014/main" id="{1CCFA03B-DAF2-68FF-6FE7-E1D38D27FE38}"/>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40448082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98" name="Objeto 3097" hidden="1">
            <a:extLst>
              <a:ext uri="{FF2B5EF4-FFF2-40B4-BE49-F238E27FC236}">
                <a16:creationId xmlns:a16="http://schemas.microsoft.com/office/drawing/2014/main" id="{A3095335-FA21-5DB6-1089-8C57E4AB7D7F}"/>
              </a:ext>
            </a:extLst>
          </p:cNvPr>
          <p:cNvGraphicFramePr>
            <a:graphicFrameLocks noChangeAspect="1"/>
          </p:cNvGraphicFramePr>
          <p:nvPr>
            <p:custDataLst>
              <p:tags r:id="rId1"/>
            </p:custDataLst>
            <p:extLst>
              <p:ext uri="{D42A27DB-BD31-4B8C-83A1-F6EECF244321}">
                <p14:modId xmlns:p14="http://schemas.microsoft.com/office/powerpoint/2010/main" val="42767324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B31C177-DCE8-5686-5F3D-AA4B843F22C6}"/>
              </a:ext>
            </a:extLst>
          </p:cNvPr>
          <p:cNvSpPr>
            <a:spLocks noGrp="1"/>
          </p:cNvSpPr>
          <p:nvPr>
            <p:ph type="title"/>
          </p:nvPr>
        </p:nvSpPr>
        <p:spPr>
          <a:xfrm>
            <a:off x="384174" y="381000"/>
            <a:ext cx="11420475" cy="485775"/>
          </a:xfrm>
        </p:spPr>
        <p:txBody>
          <a:bodyPr vert="horz"/>
          <a:lstStyle/>
          <a:p>
            <a:r>
              <a:rPr lang="en-US" dirty="0"/>
              <a:t>McKinsey 7-S Framework — Template B Instructions</a:t>
            </a:r>
          </a:p>
        </p:txBody>
      </p:sp>
      <p:sp>
        <p:nvSpPr>
          <p:cNvPr id="6" name="TextBox 25">
            <a:extLst>
              <a:ext uri="{FF2B5EF4-FFF2-40B4-BE49-F238E27FC236}">
                <a16:creationId xmlns:a16="http://schemas.microsoft.com/office/drawing/2014/main" id="{1B6775B8-9625-C7EF-1490-951DB94D9114}"/>
              </a:ext>
            </a:extLst>
          </p:cNvPr>
          <p:cNvSpPr txBox="1"/>
          <p:nvPr/>
        </p:nvSpPr>
        <p:spPr>
          <a:xfrm>
            <a:off x="384175" y="1152525"/>
            <a:ext cx="2859088" cy="2578100"/>
          </a:xfrm>
          <a:prstGeom prst="rect">
            <a:avLst/>
          </a:prstGeom>
          <a:solidFill>
            <a:srgbClr val="E8E8E8"/>
          </a:solidFill>
          <a:ln w="19050">
            <a:solidFill>
              <a:schemeClr val="bg1"/>
            </a:solidFill>
          </a:ln>
        </p:spPr>
        <p:txBody>
          <a:bodyPr wrap="square" lIns="468000" tIns="72000" rIns="36000" bIns="36000" rtlCol="0" anchor="t">
            <a:noAutofit/>
          </a:bodyPr>
          <a:lstStyle/>
          <a:p>
            <a:pPr marR="0" lvl="0" algn="l"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a:p>
            <a:pPr marR="0" lvl="0" algn="l" defTabSz="914400" rtl="0" eaLnBrk="1" fontAlgn="auto" latinLnBrk="0" hangingPunct="1">
              <a:lnSpc>
                <a:spcPct val="100000"/>
              </a:lnSpc>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7" name="TextBox 25">
            <a:extLst>
              <a:ext uri="{FF2B5EF4-FFF2-40B4-BE49-F238E27FC236}">
                <a16:creationId xmlns:a16="http://schemas.microsoft.com/office/drawing/2014/main" id="{9CB8897A-9CE3-1AE8-2F30-A7BFDECDF940}"/>
              </a:ext>
            </a:extLst>
          </p:cNvPr>
          <p:cNvSpPr txBox="1"/>
          <p:nvPr/>
        </p:nvSpPr>
        <p:spPr>
          <a:xfrm>
            <a:off x="3243263" y="1152525"/>
            <a:ext cx="2859088" cy="2578100"/>
          </a:xfrm>
          <a:prstGeom prst="rect">
            <a:avLst/>
          </a:prstGeom>
          <a:solidFill>
            <a:schemeClr val="bg1">
              <a:lumMod val="95000"/>
            </a:schemeClr>
          </a:solidFill>
          <a:ln w="19050">
            <a:solidFill>
              <a:schemeClr val="bg1"/>
            </a:solidFill>
          </a:ln>
        </p:spPr>
        <p:txBody>
          <a:bodyPr wrap="square" lIns="468000" tIns="72000" rIns="36000" bIns="36000" rtlCol="0" anchor="t">
            <a:noAutofit/>
          </a:bodyPr>
          <a:lstStyle/>
          <a:p>
            <a:pPr marR="0" lvl="0" algn="l"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a:p>
            <a:pPr marR="0" lvl="0" algn="l" defTabSz="914400" rtl="0" eaLnBrk="1" fontAlgn="auto" latinLnBrk="0" hangingPunct="1">
              <a:lnSpc>
                <a:spcPct val="100000"/>
              </a:lnSpc>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8" name="TextBox 25">
            <a:extLst>
              <a:ext uri="{FF2B5EF4-FFF2-40B4-BE49-F238E27FC236}">
                <a16:creationId xmlns:a16="http://schemas.microsoft.com/office/drawing/2014/main" id="{C7D9CDB4-B7C1-AF96-977C-70373609A48C}"/>
              </a:ext>
            </a:extLst>
          </p:cNvPr>
          <p:cNvSpPr txBox="1"/>
          <p:nvPr/>
        </p:nvSpPr>
        <p:spPr>
          <a:xfrm>
            <a:off x="6102350" y="1152525"/>
            <a:ext cx="2859088" cy="2578100"/>
          </a:xfrm>
          <a:prstGeom prst="rect">
            <a:avLst/>
          </a:prstGeom>
          <a:solidFill>
            <a:srgbClr val="E8E8E8"/>
          </a:solidFill>
          <a:ln w="19050">
            <a:solidFill>
              <a:schemeClr val="bg1"/>
            </a:solidFill>
          </a:ln>
        </p:spPr>
        <p:txBody>
          <a:bodyPr wrap="square" lIns="468000" tIns="72000" rIns="36000" bIns="36000" rtlCol="0" anchor="t">
            <a:noAutofit/>
          </a:bodyPr>
          <a:lstStyle>
            <a:defPPr>
              <a:defRPr lang="en-US"/>
            </a:defPPr>
            <a:lvl1pPr marR="0" lvl="0" fontAlgn="auto">
              <a:lnSpc>
                <a:spcPct val="100000"/>
              </a:lnSpc>
              <a:spcAft>
                <a:spcPts val="0"/>
              </a:spcAft>
              <a:buClrTx/>
              <a:buSzTx/>
              <a:tabLst/>
              <a:defRPr kumimoji="0" sz="1200" b="1" i="0" u="none" strike="noStrike" cap="none" spc="0" normalizeH="0" baseline="0">
                <a:ln>
                  <a:noFill/>
                </a:ln>
                <a:solidFill>
                  <a:schemeClr val="tx2"/>
                </a:solidFill>
                <a:effectLst/>
                <a:uLnTx/>
                <a:uFillTx/>
                <a:latin typeface="Verdana"/>
                <a:ea typeface="Verdana" panose="020B0604030504040204" pitchFamily="34" charset="0"/>
                <a:cs typeface="Verdana" panose="020B0604030504040204" pitchFamily="34" charset="0"/>
              </a:defRPr>
            </a:lvl1pPr>
          </a:lstStyle>
          <a:p>
            <a:r>
              <a:rPr lang="en-US" dirty="0">
                <a:sym typeface="Verdana" panose="020B0604030504040204" pitchFamily="34" charset="0"/>
              </a:rPr>
              <a:t>Text</a:t>
            </a:r>
          </a:p>
          <a:p>
            <a:r>
              <a:rPr lang="en-US" b="0" dirty="0">
                <a:solidFill>
                  <a:schemeClr val="tx1"/>
                </a:solidFill>
                <a:sym typeface="Verdana" panose="020B0604030504040204" pitchFamily="34" charset="0"/>
              </a:rPr>
              <a:t>Text</a:t>
            </a:r>
          </a:p>
        </p:txBody>
      </p:sp>
      <p:sp>
        <p:nvSpPr>
          <p:cNvPr id="9" name="TextBox 25">
            <a:extLst>
              <a:ext uri="{FF2B5EF4-FFF2-40B4-BE49-F238E27FC236}">
                <a16:creationId xmlns:a16="http://schemas.microsoft.com/office/drawing/2014/main" id="{8B9F5AAE-D2A9-FBE1-9001-E2AA19CEF19F}"/>
              </a:ext>
            </a:extLst>
          </p:cNvPr>
          <p:cNvSpPr txBox="1"/>
          <p:nvPr/>
        </p:nvSpPr>
        <p:spPr>
          <a:xfrm>
            <a:off x="8961438" y="1152525"/>
            <a:ext cx="2859088" cy="2578100"/>
          </a:xfrm>
          <a:prstGeom prst="rect">
            <a:avLst/>
          </a:prstGeom>
          <a:solidFill>
            <a:schemeClr val="bg1">
              <a:lumMod val="95000"/>
            </a:schemeClr>
          </a:solidFill>
          <a:ln w="19050">
            <a:solidFill>
              <a:schemeClr val="bg1"/>
            </a:solidFill>
          </a:ln>
        </p:spPr>
        <p:txBody>
          <a:bodyPr wrap="square" lIns="468000" tIns="72000" rIns="36000" bIns="36000" rtlCol="0" anchor="t">
            <a:noAutofit/>
          </a:bodyPr>
          <a:lstStyle/>
          <a:p>
            <a:pPr marR="0" lvl="0" algn="l"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a:p>
            <a:pPr marR="0" lvl="0" algn="l" defTabSz="914400" rtl="0" eaLnBrk="1" fontAlgn="auto" latinLnBrk="0" hangingPunct="1">
              <a:lnSpc>
                <a:spcPct val="100000"/>
              </a:lnSpc>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10" name="TextBox 25">
            <a:extLst>
              <a:ext uri="{FF2B5EF4-FFF2-40B4-BE49-F238E27FC236}">
                <a16:creationId xmlns:a16="http://schemas.microsoft.com/office/drawing/2014/main" id="{B5C41DDD-AD1E-5639-61B1-B9F7D2262D6D}"/>
              </a:ext>
            </a:extLst>
          </p:cNvPr>
          <p:cNvSpPr txBox="1"/>
          <p:nvPr/>
        </p:nvSpPr>
        <p:spPr>
          <a:xfrm>
            <a:off x="384175" y="3730625"/>
            <a:ext cx="2859089" cy="2578100"/>
          </a:xfrm>
          <a:prstGeom prst="rect">
            <a:avLst/>
          </a:prstGeom>
          <a:solidFill>
            <a:schemeClr val="bg1">
              <a:lumMod val="95000"/>
            </a:schemeClr>
          </a:solidFill>
          <a:ln w="19050">
            <a:solidFill>
              <a:schemeClr val="bg1"/>
            </a:solidFill>
          </a:ln>
        </p:spPr>
        <p:txBody>
          <a:bodyPr wrap="square" lIns="468000" tIns="72000" rIns="36000" bIns="36000" rtlCol="0" anchor="t">
            <a:noAutofit/>
          </a:bodyPr>
          <a:lstStyle/>
          <a:p>
            <a:pPr marR="0" lvl="0" algn="l"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a:p>
            <a:pPr marR="0" lvl="0" algn="l" defTabSz="914400" rtl="0" eaLnBrk="1" fontAlgn="auto" latinLnBrk="0" hangingPunct="1">
              <a:lnSpc>
                <a:spcPct val="100000"/>
              </a:lnSpc>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11" name="TextBox 25">
            <a:extLst>
              <a:ext uri="{FF2B5EF4-FFF2-40B4-BE49-F238E27FC236}">
                <a16:creationId xmlns:a16="http://schemas.microsoft.com/office/drawing/2014/main" id="{7B4692A5-A40A-8853-966E-B404C4613810}"/>
              </a:ext>
            </a:extLst>
          </p:cNvPr>
          <p:cNvSpPr txBox="1"/>
          <p:nvPr/>
        </p:nvSpPr>
        <p:spPr>
          <a:xfrm>
            <a:off x="3243263" y="3730625"/>
            <a:ext cx="2859089" cy="2578100"/>
          </a:xfrm>
          <a:prstGeom prst="rect">
            <a:avLst/>
          </a:prstGeom>
          <a:solidFill>
            <a:srgbClr val="E8E8E8"/>
          </a:solidFill>
          <a:ln w="19050">
            <a:solidFill>
              <a:schemeClr val="bg1"/>
            </a:solidFill>
          </a:ln>
        </p:spPr>
        <p:txBody>
          <a:bodyPr wrap="square" lIns="468000" tIns="72000" rIns="36000" bIns="36000" rtlCol="0" anchor="t">
            <a:noAutofit/>
          </a:bodyPr>
          <a:lstStyle>
            <a:defPPr>
              <a:defRPr lang="en-US"/>
            </a:defPPr>
            <a:lvl1pPr marR="0" lvl="0" fontAlgn="auto">
              <a:lnSpc>
                <a:spcPct val="100000"/>
              </a:lnSpc>
              <a:spcAft>
                <a:spcPts val="0"/>
              </a:spcAft>
              <a:buClrTx/>
              <a:buSzTx/>
              <a:tabLst/>
              <a:defRPr kumimoji="0" sz="1200" b="1" i="0" u="none" strike="noStrike" cap="none" spc="0" normalizeH="0" baseline="0">
                <a:ln>
                  <a:noFill/>
                </a:ln>
                <a:solidFill>
                  <a:schemeClr val="tx2"/>
                </a:solidFill>
                <a:effectLst/>
                <a:uLnTx/>
                <a:uFillTx/>
                <a:latin typeface="Verdana"/>
                <a:ea typeface="Verdana" panose="020B0604030504040204" pitchFamily="34" charset="0"/>
                <a:cs typeface="Verdana" panose="020B0604030504040204" pitchFamily="34" charset="0"/>
              </a:defRPr>
            </a:lvl1pPr>
          </a:lstStyle>
          <a:p>
            <a:r>
              <a:rPr lang="en-US" dirty="0">
                <a:sym typeface="Verdana" panose="020B0604030504040204" pitchFamily="34" charset="0"/>
              </a:rPr>
              <a:t>Text</a:t>
            </a:r>
          </a:p>
          <a:p>
            <a:r>
              <a:rPr lang="en-US" b="0" dirty="0">
                <a:solidFill>
                  <a:schemeClr val="tx1"/>
                </a:solidFill>
                <a:sym typeface="Verdana" panose="020B0604030504040204" pitchFamily="34" charset="0"/>
              </a:rPr>
              <a:t>Text</a:t>
            </a:r>
          </a:p>
        </p:txBody>
      </p:sp>
      <p:sp>
        <p:nvSpPr>
          <p:cNvPr id="12" name="TextBox 25">
            <a:extLst>
              <a:ext uri="{FF2B5EF4-FFF2-40B4-BE49-F238E27FC236}">
                <a16:creationId xmlns:a16="http://schemas.microsoft.com/office/drawing/2014/main" id="{5A125CB8-0693-F70A-B1E9-E59F448200AC}"/>
              </a:ext>
            </a:extLst>
          </p:cNvPr>
          <p:cNvSpPr txBox="1"/>
          <p:nvPr/>
        </p:nvSpPr>
        <p:spPr>
          <a:xfrm>
            <a:off x="6102350" y="3730625"/>
            <a:ext cx="2859089" cy="2578100"/>
          </a:xfrm>
          <a:prstGeom prst="rect">
            <a:avLst/>
          </a:prstGeom>
          <a:solidFill>
            <a:schemeClr val="bg1">
              <a:lumMod val="95000"/>
            </a:schemeClr>
          </a:solidFill>
          <a:ln w="19050">
            <a:solidFill>
              <a:schemeClr val="bg1"/>
            </a:solidFill>
          </a:ln>
        </p:spPr>
        <p:txBody>
          <a:bodyPr wrap="square" lIns="468000" tIns="72000" rIns="36000" bIns="36000" rtlCol="0" anchor="t">
            <a:noAutofit/>
          </a:bodyPr>
          <a:lstStyle/>
          <a:p>
            <a:pPr marR="0" lvl="0" algn="l"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a:p>
            <a:pPr marR="0" lvl="0" algn="l" defTabSz="914400" rtl="0" eaLnBrk="1" fontAlgn="auto" latinLnBrk="0" hangingPunct="1">
              <a:lnSpc>
                <a:spcPct val="100000"/>
              </a:lnSpc>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16" name="Freeform 29">
            <a:extLst>
              <a:ext uri="{FF2B5EF4-FFF2-40B4-BE49-F238E27FC236}">
                <a16:creationId xmlns:a16="http://schemas.microsoft.com/office/drawing/2014/main" id="{BD48AA5C-7B93-50B9-6A57-8E6BD34EC5E1}"/>
              </a:ext>
            </a:extLst>
          </p:cNvPr>
          <p:cNvSpPr>
            <a:spLocks noEditPoints="1"/>
          </p:cNvSpPr>
          <p:nvPr/>
        </p:nvSpPr>
        <p:spPr bwMode="auto">
          <a:xfrm>
            <a:off x="480885" y="1254556"/>
            <a:ext cx="224083" cy="301283"/>
          </a:xfrm>
          <a:custGeom>
            <a:avLst/>
            <a:gdLst>
              <a:gd name="T0" fmla="*/ 211 w 214"/>
              <a:gd name="T1" fmla="*/ 90 h 295"/>
              <a:gd name="T2" fmla="*/ 185 w 214"/>
              <a:gd name="T3" fmla="*/ 73 h 295"/>
              <a:gd name="T4" fmla="*/ 170 w 214"/>
              <a:gd name="T5" fmla="*/ 46 h 295"/>
              <a:gd name="T6" fmla="*/ 129 w 214"/>
              <a:gd name="T7" fmla="*/ 6 h 295"/>
              <a:gd name="T8" fmla="*/ 123 w 214"/>
              <a:gd name="T9" fmla="*/ 0 h 295"/>
              <a:gd name="T10" fmla="*/ 99 w 214"/>
              <a:gd name="T11" fmla="*/ 14 h 295"/>
              <a:gd name="T12" fmla="*/ 81 w 214"/>
              <a:gd name="T13" fmla="*/ 27 h 295"/>
              <a:gd name="T14" fmla="*/ 38 w 214"/>
              <a:gd name="T15" fmla="*/ 67 h 295"/>
              <a:gd name="T16" fmla="*/ 18 w 214"/>
              <a:gd name="T17" fmla="*/ 116 h 295"/>
              <a:gd name="T18" fmla="*/ 16 w 214"/>
              <a:gd name="T19" fmla="*/ 154 h 295"/>
              <a:gd name="T20" fmla="*/ 23 w 214"/>
              <a:gd name="T21" fmla="*/ 206 h 295"/>
              <a:gd name="T22" fmla="*/ 17 w 214"/>
              <a:gd name="T23" fmla="*/ 212 h 295"/>
              <a:gd name="T24" fmla="*/ 0 w 214"/>
              <a:gd name="T25" fmla="*/ 251 h 295"/>
              <a:gd name="T26" fmla="*/ 6 w 214"/>
              <a:gd name="T27" fmla="*/ 295 h 295"/>
              <a:gd name="T28" fmla="*/ 197 w 214"/>
              <a:gd name="T29" fmla="*/ 289 h 295"/>
              <a:gd name="T30" fmla="*/ 182 w 214"/>
              <a:gd name="T31" fmla="*/ 213 h 295"/>
              <a:gd name="T32" fmla="*/ 175 w 214"/>
              <a:gd name="T33" fmla="*/ 206 h 295"/>
              <a:gd name="T34" fmla="*/ 174 w 214"/>
              <a:gd name="T35" fmla="*/ 205 h 295"/>
              <a:gd name="T36" fmla="*/ 167 w 214"/>
              <a:gd name="T37" fmla="*/ 183 h 295"/>
              <a:gd name="T38" fmla="*/ 132 w 214"/>
              <a:gd name="T39" fmla="*/ 116 h 295"/>
              <a:gd name="T40" fmla="*/ 170 w 214"/>
              <a:gd name="T41" fmla="*/ 126 h 295"/>
              <a:gd name="T42" fmla="*/ 193 w 214"/>
              <a:gd name="T43" fmla="*/ 131 h 295"/>
              <a:gd name="T44" fmla="*/ 213 w 214"/>
              <a:gd name="T45" fmla="*/ 97 h 295"/>
              <a:gd name="T46" fmla="*/ 185 w 214"/>
              <a:gd name="T47" fmla="*/ 243 h 295"/>
              <a:gd name="T48" fmla="*/ 186 w 214"/>
              <a:gd name="T49" fmla="*/ 284 h 295"/>
              <a:gd name="T50" fmla="*/ 12 w 214"/>
              <a:gd name="T51" fmla="*/ 251 h 295"/>
              <a:gd name="T52" fmla="*/ 13 w 214"/>
              <a:gd name="T53" fmla="*/ 242 h 295"/>
              <a:gd name="T54" fmla="*/ 104 w 214"/>
              <a:gd name="T55" fmla="*/ 242 h 295"/>
              <a:gd name="T56" fmla="*/ 104 w 214"/>
              <a:gd name="T57" fmla="*/ 242 h 295"/>
              <a:gd name="T58" fmla="*/ 171 w 214"/>
              <a:gd name="T59" fmla="*/ 219 h 295"/>
              <a:gd name="T60" fmla="*/ 173 w 214"/>
              <a:gd name="T61" fmla="*/ 220 h 295"/>
              <a:gd name="T62" fmla="*/ 180 w 214"/>
              <a:gd name="T63" fmla="*/ 231 h 295"/>
              <a:gd name="T64" fmla="*/ 104 w 214"/>
              <a:gd name="T65" fmla="*/ 231 h 295"/>
              <a:gd name="T66" fmla="*/ 104 w 214"/>
              <a:gd name="T67" fmla="*/ 231 h 295"/>
              <a:gd name="T68" fmla="*/ 18 w 214"/>
              <a:gd name="T69" fmla="*/ 231 h 295"/>
              <a:gd name="T70" fmla="*/ 25 w 214"/>
              <a:gd name="T71" fmla="*/ 220 h 295"/>
              <a:gd name="T72" fmla="*/ 26 w 214"/>
              <a:gd name="T73" fmla="*/ 219 h 295"/>
              <a:gd name="T74" fmla="*/ 166 w 214"/>
              <a:gd name="T75" fmla="*/ 214 h 295"/>
              <a:gd name="T76" fmla="*/ 191 w 214"/>
              <a:gd name="T77" fmla="*/ 118 h 295"/>
              <a:gd name="T78" fmla="*/ 180 w 214"/>
              <a:gd name="T79" fmla="*/ 116 h 295"/>
              <a:gd name="T80" fmla="*/ 122 w 214"/>
              <a:gd name="T81" fmla="*/ 100 h 295"/>
              <a:gd name="T82" fmla="*/ 112 w 214"/>
              <a:gd name="T83" fmla="*/ 106 h 295"/>
              <a:gd name="T84" fmla="*/ 162 w 214"/>
              <a:gd name="T85" fmla="*/ 202 h 295"/>
              <a:gd name="T86" fmla="*/ 33 w 214"/>
              <a:gd name="T87" fmla="*/ 202 h 295"/>
              <a:gd name="T88" fmla="*/ 27 w 214"/>
              <a:gd name="T89" fmla="*/ 153 h 295"/>
              <a:gd name="T90" fmla="*/ 31 w 214"/>
              <a:gd name="T91" fmla="*/ 113 h 295"/>
              <a:gd name="T92" fmla="*/ 49 w 214"/>
              <a:gd name="T93" fmla="*/ 72 h 295"/>
              <a:gd name="T94" fmla="*/ 109 w 214"/>
              <a:gd name="T95" fmla="*/ 21 h 295"/>
              <a:gd name="T96" fmla="*/ 117 w 214"/>
              <a:gd name="T97" fmla="*/ 16 h 295"/>
              <a:gd name="T98" fmla="*/ 120 w 214"/>
              <a:gd name="T99" fmla="*/ 40 h 295"/>
              <a:gd name="T100" fmla="*/ 176 w 214"/>
              <a:gd name="T101" fmla="*/ 79 h 295"/>
              <a:gd name="T102" fmla="*/ 200 w 214"/>
              <a:gd name="T103" fmla="*/ 97 h 295"/>
              <a:gd name="T104" fmla="*/ 191 w 214"/>
              <a:gd name="T105" fmla="*/ 11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4" h="295">
                <a:moveTo>
                  <a:pt x="213" y="97"/>
                </a:moveTo>
                <a:cubicBezTo>
                  <a:pt x="214" y="94"/>
                  <a:pt x="213" y="91"/>
                  <a:pt x="211" y="90"/>
                </a:cubicBezTo>
                <a:cubicBezTo>
                  <a:pt x="185" y="73"/>
                  <a:pt x="185" y="73"/>
                  <a:pt x="185" y="73"/>
                </a:cubicBezTo>
                <a:cubicBezTo>
                  <a:pt x="185" y="73"/>
                  <a:pt x="185" y="73"/>
                  <a:pt x="185" y="73"/>
                </a:cubicBezTo>
                <a:cubicBezTo>
                  <a:pt x="174" y="49"/>
                  <a:pt x="174" y="49"/>
                  <a:pt x="174" y="49"/>
                </a:cubicBezTo>
                <a:cubicBezTo>
                  <a:pt x="173" y="47"/>
                  <a:pt x="172" y="46"/>
                  <a:pt x="170" y="46"/>
                </a:cubicBezTo>
                <a:cubicBezTo>
                  <a:pt x="128" y="31"/>
                  <a:pt x="128" y="31"/>
                  <a:pt x="128" y="31"/>
                </a:cubicBezTo>
                <a:cubicBezTo>
                  <a:pt x="129" y="6"/>
                  <a:pt x="129" y="6"/>
                  <a:pt x="129" y="6"/>
                </a:cubicBezTo>
                <a:cubicBezTo>
                  <a:pt x="129" y="4"/>
                  <a:pt x="128" y="2"/>
                  <a:pt x="126" y="1"/>
                </a:cubicBezTo>
                <a:cubicBezTo>
                  <a:pt x="125" y="0"/>
                  <a:pt x="124" y="0"/>
                  <a:pt x="123" y="0"/>
                </a:cubicBezTo>
                <a:cubicBezTo>
                  <a:pt x="122" y="0"/>
                  <a:pt x="121" y="0"/>
                  <a:pt x="120" y="1"/>
                </a:cubicBezTo>
                <a:cubicBezTo>
                  <a:pt x="119" y="2"/>
                  <a:pt x="110" y="7"/>
                  <a:pt x="99" y="14"/>
                </a:cubicBezTo>
                <a:cubicBezTo>
                  <a:pt x="95" y="17"/>
                  <a:pt x="92" y="19"/>
                  <a:pt x="88" y="22"/>
                </a:cubicBezTo>
                <a:cubicBezTo>
                  <a:pt x="86" y="23"/>
                  <a:pt x="84" y="25"/>
                  <a:pt x="81" y="27"/>
                </a:cubicBezTo>
                <a:cubicBezTo>
                  <a:pt x="70" y="35"/>
                  <a:pt x="61" y="42"/>
                  <a:pt x="54" y="49"/>
                </a:cubicBezTo>
                <a:cubicBezTo>
                  <a:pt x="46" y="56"/>
                  <a:pt x="41" y="62"/>
                  <a:pt x="38" y="67"/>
                </a:cubicBezTo>
                <a:cubicBezTo>
                  <a:pt x="37" y="69"/>
                  <a:pt x="36" y="71"/>
                  <a:pt x="35" y="73"/>
                </a:cubicBezTo>
                <a:cubicBezTo>
                  <a:pt x="29" y="86"/>
                  <a:pt x="22" y="99"/>
                  <a:pt x="18" y="116"/>
                </a:cubicBezTo>
                <a:cubicBezTo>
                  <a:pt x="17" y="120"/>
                  <a:pt x="17" y="124"/>
                  <a:pt x="16" y="128"/>
                </a:cubicBezTo>
                <a:cubicBezTo>
                  <a:pt x="15" y="137"/>
                  <a:pt x="15" y="145"/>
                  <a:pt x="16" y="154"/>
                </a:cubicBezTo>
                <a:cubicBezTo>
                  <a:pt x="18" y="182"/>
                  <a:pt x="21" y="199"/>
                  <a:pt x="22" y="206"/>
                </a:cubicBezTo>
                <a:cubicBezTo>
                  <a:pt x="23" y="206"/>
                  <a:pt x="23" y="206"/>
                  <a:pt x="23" y="206"/>
                </a:cubicBezTo>
                <a:cubicBezTo>
                  <a:pt x="22" y="206"/>
                  <a:pt x="22" y="206"/>
                  <a:pt x="22" y="206"/>
                </a:cubicBezTo>
                <a:cubicBezTo>
                  <a:pt x="20" y="208"/>
                  <a:pt x="19" y="210"/>
                  <a:pt x="17" y="212"/>
                </a:cubicBezTo>
                <a:cubicBezTo>
                  <a:pt x="16" y="213"/>
                  <a:pt x="16" y="213"/>
                  <a:pt x="16" y="213"/>
                </a:cubicBezTo>
                <a:cubicBezTo>
                  <a:pt x="9" y="222"/>
                  <a:pt x="0" y="236"/>
                  <a:pt x="0" y="251"/>
                </a:cubicBezTo>
                <a:cubicBezTo>
                  <a:pt x="0" y="289"/>
                  <a:pt x="0" y="289"/>
                  <a:pt x="0" y="289"/>
                </a:cubicBezTo>
                <a:cubicBezTo>
                  <a:pt x="0" y="293"/>
                  <a:pt x="3" y="295"/>
                  <a:pt x="6" y="295"/>
                </a:cubicBezTo>
                <a:cubicBezTo>
                  <a:pt x="192" y="295"/>
                  <a:pt x="192" y="295"/>
                  <a:pt x="192" y="295"/>
                </a:cubicBezTo>
                <a:cubicBezTo>
                  <a:pt x="195" y="295"/>
                  <a:pt x="197" y="293"/>
                  <a:pt x="197" y="289"/>
                </a:cubicBezTo>
                <a:cubicBezTo>
                  <a:pt x="197" y="251"/>
                  <a:pt x="197" y="251"/>
                  <a:pt x="197" y="251"/>
                </a:cubicBezTo>
                <a:cubicBezTo>
                  <a:pt x="197" y="236"/>
                  <a:pt x="189" y="222"/>
                  <a:pt x="182" y="213"/>
                </a:cubicBezTo>
                <a:cubicBezTo>
                  <a:pt x="181" y="213"/>
                  <a:pt x="181" y="213"/>
                  <a:pt x="181" y="212"/>
                </a:cubicBezTo>
                <a:cubicBezTo>
                  <a:pt x="179" y="210"/>
                  <a:pt x="177" y="208"/>
                  <a:pt x="175" y="206"/>
                </a:cubicBezTo>
                <a:cubicBezTo>
                  <a:pt x="175" y="206"/>
                  <a:pt x="175" y="206"/>
                  <a:pt x="174" y="205"/>
                </a:cubicBezTo>
                <a:cubicBezTo>
                  <a:pt x="174" y="205"/>
                  <a:pt x="174" y="205"/>
                  <a:pt x="174" y="205"/>
                </a:cubicBezTo>
                <a:cubicBezTo>
                  <a:pt x="174" y="205"/>
                  <a:pt x="174" y="205"/>
                  <a:pt x="174" y="205"/>
                </a:cubicBezTo>
                <a:cubicBezTo>
                  <a:pt x="173" y="199"/>
                  <a:pt x="171" y="191"/>
                  <a:pt x="167" y="183"/>
                </a:cubicBezTo>
                <a:cubicBezTo>
                  <a:pt x="158" y="160"/>
                  <a:pt x="144" y="135"/>
                  <a:pt x="133" y="117"/>
                </a:cubicBezTo>
                <a:cubicBezTo>
                  <a:pt x="132" y="116"/>
                  <a:pt x="132" y="116"/>
                  <a:pt x="132" y="116"/>
                </a:cubicBezTo>
                <a:cubicBezTo>
                  <a:pt x="134" y="116"/>
                  <a:pt x="134" y="116"/>
                  <a:pt x="134" y="116"/>
                </a:cubicBezTo>
                <a:cubicBezTo>
                  <a:pt x="143" y="119"/>
                  <a:pt x="155" y="122"/>
                  <a:pt x="170" y="126"/>
                </a:cubicBezTo>
                <a:cubicBezTo>
                  <a:pt x="174" y="126"/>
                  <a:pt x="178" y="127"/>
                  <a:pt x="182" y="128"/>
                </a:cubicBezTo>
                <a:cubicBezTo>
                  <a:pt x="186" y="129"/>
                  <a:pt x="190" y="130"/>
                  <a:pt x="193" y="131"/>
                </a:cubicBezTo>
                <a:cubicBezTo>
                  <a:pt x="196" y="131"/>
                  <a:pt x="199" y="130"/>
                  <a:pt x="200" y="127"/>
                </a:cubicBezTo>
                <a:lnTo>
                  <a:pt x="213" y="97"/>
                </a:lnTo>
                <a:close/>
                <a:moveTo>
                  <a:pt x="185" y="242"/>
                </a:moveTo>
                <a:cubicBezTo>
                  <a:pt x="185" y="243"/>
                  <a:pt x="185" y="243"/>
                  <a:pt x="185" y="243"/>
                </a:cubicBezTo>
                <a:cubicBezTo>
                  <a:pt x="186" y="246"/>
                  <a:pt x="186" y="248"/>
                  <a:pt x="186" y="251"/>
                </a:cubicBezTo>
                <a:cubicBezTo>
                  <a:pt x="186" y="284"/>
                  <a:pt x="186" y="284"/>
                  <a:pt x="186" y="284"/>
                </a:cubicBezTo>
                <a:cubicBezTo>
                  <a:pt x="12" y="284"/>
                  <a:pt x="12" y="284"/>
                  <a:pt x="12" y="284"/>
                </a:cubicBezTo>
                <a:cubicBezTo>
                  <a:pt x="12" y="251"/>
                  <a:pt x="12" y="251"/>
                  <a:pt x="12" y="251"/>
                </a:cubicBezTo>
                <a:cubicBezTo>
                  <a:pt x="12" y="248"/>
                  <a:pt x="12" y="246"/>
                  <a:pt x="13" y="243"/>
                </a:cubicBezTo>
                <a:cubicBezTo>
                  <a:pt x="13" y="242"/>
                  <a:pt x="13" y="242"/>
                  <a:pt x="13" y="242"/>
                </a:cubicBezTo>
                <a:cubicBezTo>
                  <a:pt x="104" y="242"/>
                  <a:pt x="104" y="242"/>
                  <a:pt x="104" y="242"/>
                </a:cubicBezTo>
                <a:cubicBezTo>
                  <a:pt x="104" y="242"/>
                  <a:pt x="104" y="242"/>
                  <a:pt x="104" y="242"/>
                </a:cubicBezTo>
                <a:cubicBezTo>
                  <a:pt x="104" y="242"/>
                  <a:pt x="104" y="242"/>
                  <a:pt x="104" y="242"/>
                </a:cubicBezTo>
                <a:cubicBezTo>
                  <a:pt x="104" y="242"/>
                  <a:pt x="104" y="242"/>
                  <a:pt x="104" y="242"/>
                </a:cubicBezTo>
                <a:lnTo>
                  <a:pt x="185" y="242"/>
                </a:lnTo>
                <a:close/>
                <a:moveTo>
                  <a:pt x="171" y="219"/>
                </a:moveTo>
                <a:cubicBezTo>
                  <a:pt x="172" y="220"/>
                  <a:pt x="172" y="220"/>
                  <a:pt x="172" y="220"/>
                </a:cubicBezTo>
                <a:cubicBezTo>
                  <a:pt x="173" y="220"/>
                  <a:pt x="173" y="220"/>
                  <a:pt x="173" y="220"/>
                </a:cubicBezTo>
                <a:cubicBezTo>
                  <a:pt x="175" y="223"/>
                  <a:pt x="177" y="226"/>
                  <a:pt x="179" y="230"/>
                </a:cubicBezTo>
                <a:cubicBezTo>
                  <a:pt x="180" y="231"/>
                  <a:pt x="180" y="231"/>
                  <a:pt x="180" y="231"/>
                </a:cubicBezTo>
                <a:cubicBezTo>
                  <a:pt x="104" y="231"/>
                  <a:pt x="104" y="231"/>
                  <a:pt x="104" y="231"/>
                </a:cubicBezTo>
                <a:cubicBezTo>
                  <a:pt x="104" y="231"/>
                  <a:pt x="104" y="231"/>
                  <a:pt x="104" y="231"/>
                </a:cubicBezTo>
                <a:cubicBezTo>
                  <a:pt x="104" y="231"/>
                  <a:pt x="104" y="231"/>
                  <a:pt x="104" y="231"/>
                </a:cubicBezTo>
                <a:cubicBezTo>
                  <a:pt x="104" y="231"/>
                  <a:pt x="104" y="231"/>
                  <a:pt x="104" y="231"/>
                </a:cubicBezTo>
                <a:cubicBezTo>
                  <a:pt x="104" y="231"/>
                  <a:pt x="104" y="231"/>
                  <a:pt x="104" y="231"/>
                </a:cubicBezTo>
                <a:cubicBezTo>
                  <a:pt x="18" y="231"/>
                  <a:pt x="18" y="231"/>
                  <a:pt x="18" y="231"/>
                </a:cubicBezTo>
                <a:cubicBezTo>
                  <a:pt x="19" y="230"/>
                  <a:pt x="19" y="230"/>
                  <a:pt x="19" y="230"/>
                </a:cubicBezTo>
                <a:cubicBezTo>
                  <a:pt x="20" y="226"/>
                  <a:pt x="23" y="223"/>
                  <a:pt x="25" y="220"/>
                </a:cubicBezTo>
                <a:cubicBezTo>
                  <a:pt x="25" y="220"/>
                  <a:pt x="25" y="220"/>
                  <a:pt x="25" y="220"/>
                </a:cubicBezTo>
                <a:cubicBezTo>
                  <a:pt x="26" y="220"/>
                  <a:pt x="26" y="220"/>
                  <a:pt x="26" y="219"/>
                </a:cubicBezTo>
                <a:cubicBezTo>
                  <a:pt x="31" y="214"/>
                  <a:pt x="31" y="214"/>
                  <a:pt x="31" y="214"/>
                </a:cubicBezTo>
                <a:cubicBezTo>
                  <a:pt x="166" y="214"/>
                  <a:pt x="166" y="214"/>
                  <a:pt x="166" y="214"/>
                </a:cubicBezTo>
                <a:lnTo>
                  <a:pt x="171" y="219"/>
                </a:lnTo>
                <a:close/>
                <a:moveTo>
                  <a:pt x="191" y="118"/>
                </a:moveTo>
                <a:cubicBezTo>
                  <a:pt x="191" y="118"/>
                  <a:pt x="191" y="118"/>
                  <a:pt x="191" y="118"/>
                </a:cubicBezTo>
                <a:cubicBezTo>
                  <a:pt x="187" y="118"/>
                  <a:pt x="183" y="117"/>
                  <a:pt x="180" y="116"/>
                </a:cubicBezTo>
                <a:cubicBezTo>
                  <a:pt x="175" y="115"/>
                  <a:pt x="171" y="114"/>
                  <a:pt x="167" y="113"/>
                </a:cubicBezTo>
                <a:cubicBezTo>
                  <a:pt x="142" y="108"/>
                  <a:pt x="125" y="103"/>
                  <a:pt x="122" y="100"/>
                </a:cubicBezTo>
                <a:cubicBezTo>
                  <a:pt x="120" y="98"/>
                  <a:pt x="116" y="97"/>
                  <a:pt x="114" y="99"/>
                </a:cubicBezTo>
                <a:cubicBezTo>
                  <a:pt x="111" y="100"/>
                  <a:pt x="111" y="104"/>
                  <a:pt x="112" y="106"/>
                </a:cubicBezTo>
                <a:cubicBezTo>
                  <a:pt x="114" y="109"/>
                  <a:pt x="152" y="167"/>
                  <a:pt x="162" y="202"/>
                </a:cubicBezTo>
                <a:cubicBezTo>
                  <a:pt x="162" y="202"/>
                  <a:pt x="162" y="202"/>
                  <a:pt x="162" y="202"/>
                </a:cubicBezTo>
                <a:cubicBezTo>
                  <a:pt x="33" y="202"/>
                  <a:pt x="33" y="202"/>
                  <a:pt x="33" y="202"/>
                </a:cubicBezTo>
                <a:cubicBezTo>
                  <a:pt x="33" y="202"/>
                  <a:pt x="33" y="202"/>
                  <a:pt x="33" y="202"/>
                </a:cubicBezTo>
                <a:cubicBezTo>
                  <a:pt x="32" y="198"/>
                  <a:pt x="31" y="192"/>
                  <a:pt x="30" y="183"/>
                </a:cubicBezTo>
                <a:cubicBezTo>
                  <a:pt x="29" y="174"/>
                  <a:pt x="28" y="164"/>
                  <a:pt x="27" y="153"/>
                </a:cubicBezTo>
                <a:cubicBezTo>
                  <a:pt x="26" y="144"/>
                  <a:pt x="27" y="135"/>
                  <a:pt x="28" y="126"/>
                </a:cubicBezTo>
                <a:cubicBezTo>
                  <a:pt x="29" y="122"/>
                  <a:pt x="30" y="117"/>
                  <a:pt x="31" y="113"/>
                </a:cubicBezTo>
                <a:cubicBezTo>
                  <a:pt x="35" y="100"/>
                  <a:pt x="40" y="89"/>
                  <a:pt x="45" y="79"/>
                </a:cubicBezTo>
                <a:cubicBezTo>
                  <a:pt x="46" y="77"/>
                  <a:pt x="48" y="74"/>
                  <a:pt x="49" y="72"/>
                </a:cubicBezTo>
                <a:cubicBezTo>
                  <a:pt x="54" y="61"/>
                  <a:pt x="79" y="42"/>
                  <a:pt x="99" y="28"/>
                </a:cubicBezTo>
                <a:cubicBezTo>
                  <a:pt x="102" y="26"/>
                  <a:pt x="106" y="24"/>
                  <a:pt x="109" y="21"/>
                </a:cubicBezTo>
                <a:cubicBezTo>
                  <a:pt x="112" y="20"/>
                  <a:pt x="114" y="18"/>
                  <a:pt x="116" y="17"/>
                </a:cubicBezTo>
                <a:cubicBezTo>
                  <a:pt x="117" y="16"/>
                  <a:pt x="117" y="16"/>
                  <a:pt x="117" y="16"/>
                </a:cubicBezTo>
                <a:cubicBezTo>
                  <a:pt x="116" y="35"/>
                  <a:pt x="116" y="35"/>
                  <a:pt x="116" y="35"/>
                </a:cubicBezTo>
                <a:cubicBezTo>
                  <a:pt x="116" y="37"/>
                  <a:pt x="118" y="39"/>
                  <a:pt x="120" y="40"/>
                </a:cubicBezTo>
                <a:cubicBezTo>
                  <a:pt x="164" y="56"/>
                  <a:pt x="164" y="56"/>
                  <a:pt x="164" y="56"/>
                </a:cubicBezTo>
                <a:cubicBezTo>
                  <a:pt x="176" y="79"/>
                  <a:pt x="176" y="79"/>
                  <a:pt x="176" y="79"/>
                </a:cubicBezTo>
                <a:cubicBezTo>
                  <a:pt x="176" y="80"/>
                  <a:pt x="177" y="81"/>
                  <a:pt x="178" y="82"/>
                </a:cubicBezTo>
                <a:cubicBezTo>
                  <a:pt x="200" y="97"/>
                  <a:pt x="200" y="97"/>
                  <a:pt x="200" y="97"/>
                </a:cubicBezTo>
                <a:cubicBezTo>
                  <a:pt x="200" y="97"/>
                  <a:pt x="200" y="97"/>
                  <a:pt x="200" y="97"/>
                </a:cubicBezTo>
                <a:lnTo>
                  <a:pt x="191" y="118"/>
                </a:lnTo>
                <a:close/>
              </a:path>
            </a:pathLst>
          </a:custGeom>
          <a:solidFill>
            <a:schemeClr val="tx2"/>
          </a:solidFill>
          <a:ln>
            <a:noFill/>
          </a:ln>
        </p:spPr>
        <p:txBody>
          <a:bodyPr vert="horz" wrap="square" lIns="91419" tIns="45709" rIns="91419" bIns="45709" numCol="1" anchor="t" anchorCtr="0" compatLnSpc="1">
            <a:prstTxWarp prst="textNoShape">
              <a:avLst/>
            </a:prstTxWarp>
          </a:bodyPr>
          <a:lstStyle/>
          <a:p>
            <a:endParaRPr lang="en-US" dirty="0"/>
          </a:p>
        </p:txBody>
      </p:sp>
      <p:grpSp>
        <p:nvGrpSpPr>
          <p:cNvPr id="17" name="Group 146">
            <a:extLst>
              <a:ext uri="{FF2B5EF4-FFF2-40B4-BE49-F238E27FC236}">
                <a16:creationId xmlns:a16="http://schemas.microsoft.com/office/drawing/2014/main" id="{D990B4B2-3F7B-F5AA-4A56-90D8BA5A692B}"/>
              </a:ext>
            </a:extLst>
          </p:cNvPr>
          <p:cNvGrpSpPr>
            <a:grpSpLocks noChangeAspect="1"/>
          </p:cNvGrpSpPr>
          <p:nvPr/>
        </p:nvGrpSpPr>
        <p:grpSpPr bwMode="auto">
          <a:xfrm>
            <a:off x="3333239" y="1259810"/>
            <a:ext cx="280561" cy="290775"/>
            <a:chOff x="6545" y="1716"/>
            <a:chExt cx="412" cy="427"/>
          </a:xfrm>
          <a:solidFill>
            <a:schemeClr val="tx2"/>
          </a:solidFill>
        </p:grpSpPr>
        <p:sp>
          <p:nvSpPr>
            <p:cNvPr id="18" name="Freeform 147">
              <a:extLst>
                <a:ext uri="{FF2B5EF4-FFF2-40B4-BE49-F238E27FC236}">
                  <a16:creationId xmlns:a16="http://schemas.microsoft.com/office/drawing/2014/main" id="{BC1F9CDE-9ED5-E8C4-AA65-12813CCCF271}"/>
                </a:ext>
              </a:extLst>
            </p:cNvPr>
            <p:cNvSpPr>
              <a:spLocks noEditPoints="1"/>
            </p:cNvSpPr>
            <p:nvPr/>
          </p:nvSpPr>
          <p:spPr bwMode="auto">
            <a:xfrm>
              <a:off x="6671" y="1743"/>
              <a:ext cx="195" cy="169"/>
            </a:xfrm>
            <a:custGeom>
              <a:avLst/>
              <a:gdLst>
                <a:gd name="T0" fmla="*/ 66 w 132"/>
                <a:gd name="T1" fmla="*/ 114 h 114"/>
                <a:gd name="T2" fmla="*/ 64 w 132"/>
                <a:gd name="T3" fmla="*/ 114 h 114"/>
                <a:gd name="T4" fmla="*/ 4 w 132"/>
                <a:gd name="T5" fmla="*/ 90 h 114"/>
                <a:gd name="T6" fmla="*/ 0 w 132"/>
                <a:gd name="T7" fmla="*/ 84 h 114"/>
                <a:gd name="T8" fmla="*/ 0 w 132"/>
                <a:gd name="T9" fmla="*/ 6 h 114"/>
                <a:gd name="T10" fmla="*/ 3 w 132"/>
                <a:gd name="T11" fmla="*/ 1 h 114"/>
                <a:gd name="T12" fmla="*/ 8 w 132"/>
                <a:gd name="T13" fmla="*/ 0 h 114"/>
                <a:gd name="T14" fmla="*/ 66 w 132"/>
                <a:gd name="T15" fmla="*/ 18 h 114"/>
                <a:gd name="T16" fmla="*/ 125 w 132"/>
                <a:gd name="T17" fmla="*/ 0 h 114"/>
                <a:gd name="T18" fmla="*/ 130 w 132"/>
                <a:gd name="T19" fmla="*/ 1 h 114"/>
                <a:gd name="T20" fmla="*/ 132 w 132"/>
                <a:gd name="T21" fmla="*/ 6 h 114"/>
                <a:gd name="T22" fmla="*/ 132 w 132"/>
                <a:gd name="T23" fmla="*/ 84 h 114"/>
                <a:gd name="T24" fmla="*/ 128 w 132"/>
                <a:gd name="T25" fmla="*/ 90 h 114"/>
                <a:gd name="T26" fmla="*/ 68 w 132"/>
                <a:gd name="T27" fmla="*/ 114 h 114"/>
                <a:gd name="T28" fmla="*/ 66 w 132"/>
                <a:gd name="T29" fmla="*/ 114 h 114"/>
                <a:gd name="T30" fmla="*/ 12 w 132"/>
                <a:gd name="T31" fmla="*/ 80 h 114"/>
                <a:gd name="T32" fmla="*/ 66 w 132"/>
                <a:gd name="T33" fmla="*/ 102 h 114"/>
                <a:gd name="T34" fmla="*/ 120 w 132"/>
                <a:gd name="T35" fmla="*/ 80 h 114"/>
                <a:gd name="T36" fmla="*/ 120 w 132"/>
                <a:gd name="T37" fmla="*/ 14 h 114"/>
                <a:gd name="T38" fmla="*/ 68 w 132"/>
                <a:gd name="T39" fmla="*/ 30 h 114"/>
                <a:gd name="T40" fmla="*/ 65 w 132"/>
                <a:gd name="T41" fmla="*/ 30 h 114"/>
                <a:gd name="T42" fmla="*/ 12 w 132"/>
                <a:gd name="T43" fmla="*/ 14 h 114"/>
                <a:gd name="T44" fmla="*/ 12 w 132"/>
                <a:gd name="T45" fmla="*/ 8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2" h="114">
                  <a:moveTo>
                    <a:pt x="66" y="114"/>
                  </a:moveTo>
                  <a:cubicBezTo>
                    <a:pt x="65" y="114"/>
                    <a:pt x="65" y="114"/>
                    <a:pt x="64" y="114"/>
                  </a:cubicBezTo>
                  <a:cubicBezTo>
                    <a:pt x="4" y="90"/>
                    <a:pt x="4" y="90"/>
                    <a:pt x="4" y="90"/>
                  </a:cubicBezTo>
                  <a:cubicBezTo>
                    <a:pt x="2" y="89"/>
                    <a:pt x="0" y="86"/>
                    <a:pt x="0" y="84"/>
                  </a:cubicBezTo>
                  <a:cubicBezTo>
                    <a:pt x="0" y="6"/>
                    <a:pt x="0" y="6"/>
                    <a:pt x="0" y="6"/>
                  </a:cubicBezTo>
                  <a:cubicBezTo>
                    <a:pt x="0" y="4"/>
                    <a:pt x="1" y="2"/>
                    <a:pt x="3" y="1"/>
                  </a:cubicBezTo>
                  <a:cubicBezTo>
                    <a:pt x="4" y="0"/>
                    <a:pt x="6" y="0"/>
                    <a:pt x="8" y="0"/>
                  </a:cubicBezTo>
                  <a:cubicBezTo>
                    <a:pt x="66" y="18"/>
                    <a:pt x="66" y="18"/>
                    <a:pt x="66" y="18"/>
                  </a:cubicBezTo>
                  <a:cubicBezTo>
                    <a:pt x="125" y="0"/>
                    <a:pt x="125" y="0"/>
                    <a:pt x="125" y="0"/>
                  </a:cubicBezTo>
                  <a:cubicBezTo>
                    <a:pt x="126" y="0"/>
                    <a:pt x="128" y="0"/>
                    <a:pt x="130" y="1"/>
                  </a:cubicBezTo>
                  <a:cubicBezTo>
                    <a:pt x="131" y="2"/>
                    <a:pt x="132" y="4"/>
                    <a:pt x="132" y="6"/>
                  </a:cubicBezTo>
                  <a:cubicBezTo>
                    <a:pt x="132" y="84"/>
                    <a:pt x="132" y="84"/>
                    <a:pt x="132" y="84"/>
                  </a:cubicBezTo>
                  <a:cubicBezTo>
                    <a:pt x="132" y="86"/>
                    <a:pt x="131" y="89"/>
                    <a:pt x="128" y="90"/>
                  </a:cubicBezTo>
                  <a:cubicBezTo>
                    <a:pt x="68" y="114"/>
                    <a:pt x="68" y="114"/>
                    <a:pt x="68" y="114"/>
                  </a:cubicBezTo>
                  <a:cubicBezTo>
                    <a:pt x="68" y="114"/>
                    <a:pt x="67" y="114"/>
                    <a:pt x="66" y="114"/>
                  </a:cubicBezTo>
                  <a:close/>
                  <a:moveTo>
                    <a:pt x="12" y="80"/>
                  </a:moveTo>
                  <a:cubicBezTo>
                    <a:pt x="66" y="102"/>
                    <a:pt x="66" y="102"/>
                    <a:pt x="66" y="102"/>
                  </a:cubicBezTo>
                  <a:cubicBezTo>
                    <a:pt x="120" y="80"/>
                    <a:pt x="120" y="80"/>
                    <a:pt x="120" y="80"/>
                  </a:cubicBezTo>
                  <a:cubicBezTo>
                    <a:pt x="120" y="14"/>
                    <a:pt x="120" y="14"/>
                    <a:pt x="120" y="14"/>
                  </a:cubicBezTo>
                  <a:cubicBezTo>
                    <a:pt x="68" y="30"/>
                    <a:pt x="68" y="30"/>
                    <a:pt x="68" y="30"/>
                  </a:cubicBezTo>
                  <a:cubicBezTo>
                    <a:pt x="67" y="30"/>
                    <a:pt x="66" y="30"/>
                    <a:pt x="65" y="30"/>
                  </a:cubicBezTo>
                  <a:cubicBezTo>
                    <a:pt x="12" y="14"/>
                    <a:pt x="12" y="14"/>
                    <a:pt x="12" y="14"/>
                  </a:cubicBezTo>
                  <a:lnTo>
                    <a:pt x="12"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9" name="Freeform 148">
              <a:extLst>
                <a:ext uri="{FF2B5EF4-FFF2-40B4-BE49-F238E27FC236}">
                  <a16:creationId xmlns:a16="http://schemas.microsoft.com/office/drawing/2014/main" id="{B3BB112B-A970-279E-DF5B-C869B961E2EF}"/>
                </a:ext>
              </a:extLst>
            </p:cNvPr>
            <p:cNvSpPr>
              <a:spLocks/>
            </p:cNvSpPr>
            <p:nvPr/>
          </p:nvSpPr>
          <p:spPr bwMode="auto">
            <a:xfrm>
              <a:off x="6671" y="1716"/>
              <a:ext cx="197" cy="46"/>
            </a:xfrm>
            <a:custGeom>
              <a:avLst/>
              <a:gdLst>
                <a:gd name="T0" fmla="*/ 126 w 133"/>
                <a:gd name="T1" fmla="*/ 30 h 31"/>
                <a:gd name="T2" fmla="*/ 125 w 133"/>
                <a:gd name="T3" fmla="*/ 30 h 31"/>
                <a:gd name="T4" fmla="*/ 66 w 133"/>
                <a:gd name="T5" fmla="*/ 12 h 31"/>
                <a:gd name="T6" fmla="*/ 8 w 133"/>
                <a:gd name="T7" fmla="*/ 30 h 31"/>
                <a:gd name="T8" fmla="*/ 0 w 133"/>
                <a:gd name="T9" fmla="*/ 26 h 31"/>
                <a:gd name="T10" fmla="*/ 5 w 133"/>
                <a:gd name="T11" fmla="*/ 18 h 31"/>
                <a:gd name="T12" fmla="*/ 65 w 133"/>
                <a:gd name="T13" fmla="*/ 0 h 31"/>
                <a:gd name="T14" fmla="*/ 68 w 133"/>
                <a:gd name="T15" fmla="*/ 0 h 31"/>
                <a:gd name="T16" fmla="*/ 128 w 133"/>
                <a:gd name="T17" fmla="*/ 18 h 31"/>
                <a:gd name="T18" fmla="*/ 132 w 133"/>
                <a:gd name="T19" fmla="*/ 26 h 31"/>
                <a:gd name="T20" fmla="*/ 126 w 133"/>
                <a:gd name="T21"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31">
                  <a:moveTo>
                    <a:pt x="126" y="30"/>
                  </a:moveTo>
                  <a:cubicBezTo>
                    <a:pt x="126" y="30"/>
                    <a:pt x="125" y="30"/>
                    <a:pt x="125" y="30"/>
                  </a:cubicBezTo>
                  <a:cubicBezTo>
                    <a:pt x="66" y="12"/>
                    <a:pt x="66" y="12"/>
                    <a:pt x="66" y="12"/>
                  </a:cubicBezTo>
                  <a:cubicBezTo>
                    <a:pt x="8" y="30"/>
                    <a:pt x="8" y="30"/>
                    <a:pt x="8" y="30"/>
                  </a:cubicBezTo>
                  <a:cubicBezTo>
                    <a:pt x="5" y="31"/>
                    <a:pt x="1" y="29"/>
                    <a:pt x="0" y="26"/>
                  </a:cubicBezTo>
                  <a:cubicBezTo>
                    <a:pt x="0" y="23"/>
                    <a:pt x="1" y="19"/>
                    <a:pt x="5" y="18"/>
                  </a:cubicBezTo>
                  <a:cubicBezTo>
                    <a:pt x="65" y="0"/>
                    <a:pt x="65" y="0"/>
                    <a:pt x="65" y="0"/>
                  </a:cubicBezTo>
                  <a:cubicBezTo>
                    <a:pt x="66" y="0"/>
                    <a:pt x="67" y="0"/>
                    <a:pt x="68" y="0"/>
                  </a:cubicBezTo>
                  <a:cubicBezTo>
                    <a:pt x="128" y="18"/>
                    <a:pt x="128" y="18"/>
                    <a:pt x="128" y="18"/>
                  </a:cubicBezTo>
                  <a:cubicBezTo>
                    <a:pt x="131" y="19"/>
                    <a:pt x="133" y="23"/>
                    <a:pt x="132" y="26"/>
                  </a:cubicBezTo>
                  <a:cubicBezTo>
                    <a:pt x="131" y="28"/>
                    <a:pt x="129" y="30"/>
                    <a:pt x="1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0" name="Freeform 149">
              <a:extLst>
                <a:ext uri="{FF2B5EF4-FFF2-40B4-BE49-F238E27FC236}">
                  <a16:creationId xmlns:a16="http://schemas.microsoft.com/office/drawing/2014/main" id="{7D57777E-1226-2FF3-C154-AED31B254336}"/>
                </a:ext>
              </a:extLst>
            </p:cNvPr>
            <p:cNvSpPr>
              <a:spLocks/>
            </p:cNvSpPr>
            <p:nvPr/>
          </p:nvSpPr>
          <p:spPr bwMode="auto">
            <a:xfrm>
              <a:off x="6760" y="1770"/>
              <a:ext cx="18" cy="142"/>
            </a:xfrm>
            <a:custGeom>
              <a:avLst/>
              <a:gdLst>
                <a:gd name="T0" fmla="*/ 6 w 12"/>
                <a:gd name="T1" fmla="*/ 96 h 96"/>
                <a:gd name="T2" fmla="*/ 0 w 12"/>
                <a:gd name="T3" fmla="*/ 90 h 96"/>
                <a:gd name="T4" fmla="*/ 0 w 12"/>
                <a:gd name="T5" fmla="*/ 6 h 96"/>
                <a:gd name="T6" fmla="*/ 6 w 12"/>
                <a:gd name="T7" fmla="*/ 0 h 96"/>
                <a:gd name="T8" fmla="*/ 12 w 12"/>
                <a:gd name="T9" fmla="*/ 6 h 96"/>
                <a:gd name="T10" fmla="*/ 12 w 12"/>
                <a:gd name="T11" fmla="*/ 90 h 96"/>
                <a:gd name="T12" fmla="*/ 6 w 12"/>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12" h="96">
                  <a:moveTo>
                    <a:pt x="6" y="96"/>
                  </a:moveTo>
                  <a:cubicBezTo>
                    <a:pt x="3" y="96"/>
                    <a:pt x="0" y="93"/>
                    <a:pt x="0" y="90"/>
                  </a:cubicBezTo>
                  <a:cubicBezTo>
                    <a:pt x="0" y="6"/>
                    <a:pt x="0" y="6"/>
                    <a:pt x="0" y="6"/>
                  </a:cubicBezTo>
                  <a:cubicBezTo>
                    <a:pt x="0" y="2"/>
                    <a:pt x="3" y="0"/>
                    <a:pt x="6" y="0"/>
                  </a:cubicBezTo>
                  <a:cubicBezTo>
                    <a:pt x="10" y="0"/>
                    <a:pt x="12" y="2"/>
                    <a:pt x="12" y="6"/>
                  </a:cubicBezTo>
                  <a:cubicBezTo>
                    <a:pt x="12" y="90"/>
                    <a:pt x="12" y="90"/>
                    <a:pt x="12" y="90"/>
                  </a:cubicBezTo>
                  <a:cubicBezTo>
                    <a:pt x="12" y="93"/>
                    <a:pt x="10" y="96"/>
                    <a:pt x="6"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1" name="Freeform 150">
              <a:extLst>
                <a:ext uri="{FF2B5EF4-FFF2-40B4-BE49-F238E27FC236}">
                  <a16:creationId xmlns:a16="http://schemas.microsoft.com/office/drawing/2014/main" id="{B123F8AE-E4CD-C1ED-0005-4457D76FE3D2}"/>
                </a:ext>
              </a:extLst>
            </p:cNvPr>
            <p:cNvSpPr>
              <a:spLocks noEditPoints="1"/>
            </p:cNvSpPr>
            <p:nvPr/>
          </p:nvSpPr>
          <p:spPr bwMode="auto">
            <a:xfrm>
              <a:off x="6795" y="1929"/>
              <a:ext cx="160" cy="134"/>
            </a:xfrm>
            <a:custGeom>
              <a:avLst/>
              <a:gdLst>
                <a:gd name="T0" fmla="*/ 54 w 108"/>
                <a:gd name="T1" fmla="*/ 90 h 90"/>
                <a:gd name="T2" fmla="*/ 52 w 108"/>
                <a:gd name="T3" fmla="*/ 89 h 90"/>
                <a:gd name="T4" fmla="*/ 4 w 108"/>
                <a:gd name="T5" fmla="*/ 65 h 90"/>
                <a:gd name="T6" fmla="*/ 0 w 108"/>
                <a:gd name="T7" fmla="*/ 60 h 90"/>
                <a:gd name="T8" fmla="*/ 0 w 108"/>
                <a:gd name="T9" fmla="*/ 6 h 90"/>
                <a:gd name="T10" fmla="*/ 3 w 108"/>
                <a:gd name="T11" fmla="*/ 1 h 90"/>
                <a:gd name="T12" fmla="*/ 8 w 108"/>
                <a:gd name="T13" fmla="*/ 0 h 90"/>
                <a:gd name="T14" fmla="*/ 54 w 108"/>
                <a:gd name="T15" fmla="*/ 18 h 90"/>
                <a:gd name="T16" fmla="*/ 100 w 108"/>
                <a:gd name="T17" fmla="*/ 0 h 90"/>
                <a:gd name="T18" fmla="*/ 106 w 108"/>
                <a:gd name="T19" fmla="*/ 1 h 90"/>
                <a:gd name="T20" fmla="*/ 108 w 108"/>
                <a:gd name="T21" fmla="*/ 6 h 90"/>
                <a:gd name="T22" fmla="*/ 108 w 108"/>
                <a:gd name="T23" fmla="*/ 60 h 90"/>
                <a:gd name="T24" fmla="*/ 105 w 108"/>
                <a:gd name="T25" fmla="*/ 65 h 90"/>
                <a:gd name="T26" fmla="*/ 57 w 108"/>
                <a:gd name="T27" fmla="*/ 89 h 90"/>
                <a:gd name="T28" fmla="*/ 54 w 108"/>
                <a:gd name="T29" fmla="*/ 90 h 90"/>
                <a:gd name="T30" fmla="*/ 12 w 108"/>
                <a:gd name="T31" fmla="*/ 56 h 90"/>
                <a:gd name="T32" fmla="*/ 54 w 108"/>
                <a:gd name="T33" fmla="*/ 77 h 90"/>
                <a:gd name="T34" fmla="*/ 96 w 108"/>
                <a:gd name="T35" fmla="*/ 56 h 90"/>
                <a:gd name="T36" fmla="*/ 96 w 108"/>
                <a:gd name="T37" fmla="*/ 15 h 90"/>
                <a:gd name="T38" fmla="*/ 56 w 108"/>
                <a:gd name="T39" fmla="*/ 30 h 90"/>
                <a:gd name="T40" fmla="*/ 52 w 108"/>
                <a:gd name="T41" fmla="*/ 30 h 90"/>
                <a:gd name="T42" fmla="*/ 12 w 108"/>
                <a:gd name="T43" fmla="*/ 15 h 90"/>
                <a:gd name="T44" fmla="*/ 12 w 108"/>
                <a:gd name="T45" fmla="*/ 5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8" h="90">
                  <a:moveTo>
                    <a:pt x="54" y="90"/>
                  </a:moveTo>
                  <a:cubicBezTo>
                    <a:pt x="53" y="90"/>
                    <a:pt x="52" y="90"/>
                    <a:pt x="52" y="89"/>
                  </a:cubicBezTo>
                  <a:cubicBezTo>
                    <a:pt x="4" y="65"/>
                    <a:pt x="4" y="65"/>
                    <a:pt x="4" y="65"/>
                  </a:cubicBezTo>
                  <a:cubicBezTo>
                    <a:pt x="2" y="64"/>
                    <a:pt x="0" y="62"/>
                    <a:pt x="0" y="60"/>
                  </a:cubicBezTo>
                  <a:cubicBezTo>
                    <a:pt x="0" y="6"/>
                    <a:pt x="0" y="6"/>
                    <a:pt x="0" y="6"/>
                  </a:cubicBezTo>
                  <a:cubicBezTo>
                    <a:pt x="0" y="4"/>
                    <a:pt x="1" y="2"/>
                    <a:pt x="3" y="1"/>
                  </a:cubicBezTo>
                  <a:cubicBezTo>
                    <a:pt x="4" y="0"/>
                    <a:pt x="7" y="0"/>
                    <a:pt x="8" y="0"/>
                  </a:cubicBezTo>
                  <a:cubicBezTo>
                    <a:pt x="54" y="18"/>
                    <a:pt x="54" y="18"/>
                    <a:pt x="54" y="18"/>
                  </a:cubicBezTo>
                  <a:cubicBezTo>
                    <a:pt x="100" y="0"/>
                    <a:pt x="100" y="0"/>
                    <a:pt x="100" y="0"/>
                  </a:cubicBezTo>
                  <a:cubicBezTo>
                    <a:pt x="102" y="0"/>
                    <a:pt x="104" y="0"/>
                    <a:pt x="106" y="1"/>
                  </a:cubicBezTo>
                  <a:cubicBezTo>
                    <a:pt x="107" y="2"/>
                    <a:pt x="108" y="4"/>
                    <a:pt x="108" y="6"/>
                  </a:cubicBezTo>
                  <a:cubicBezTo>
                    <a:pt x="108" y="60"/>
                    <a:pt x="108" y="60"/>
                    <a:pt x="108" y="60"/>
                  </a:cubicBezTo>
                  <a:cubicBezTo>
                    <a:pt x="108" y="62"/>
                    <a:pt x="107" y="64"/>
                    <a:pt x="105" y="65"/>
                  </a:cubicBezTo>
                  <a:cubicBezTo>
                    <a:pt x="57" y="89"/>
                    <a:pt x="57" y="89"/>
                    <a:pt x="57" y="89"/>
                  </a:cubicBezTo>
                  <a:cubicBezTo>
                    <a:pt x="56" y="90"/>
                    <a:pt x="55" y="90"/>
                    <a:pt x="54" y="90"/>
                  </a:cubicBezTo>
                  <a:close/>
                  <a:moveTo>
                    <a:pt x="12" y="56"/>
                  </a:moveTo>
                  <a:cubicBezTo>
                    <a:pt x="54" y="77"/>
                    <a:pt x="54" y="77"/>
                    <a:pt x="54" y="77"/>
                  </a:cubicBezTo>
                  <a:cubicBezTo>
                    <a:pt x="96" y="56"/>
                    <a:pt x="96" y="56"/>
                    <a:pt x="96" y="56"/>
                  </a:cubicBezTo>
                  <a:cubicBezTo>
                    <a:pt x="96" y="15"/>
                    <a:pt x="96" y="15"/>
                    <a:pt x="96" y="15"/>
                  </a:cubicBezTo>
                  <a:cubicBezTo>
                    <a:pt x="56" y="30"/>
                    <a:pt x="56" y="30"/>
                    <a:pt x="56" y="30"/>
                  </a:cubicBezTo>
                  <a:cubicBezTo>
                    <a:pt x="55" y="30"/>
                    <a:pt x="53" y="30"/>
                    <a:pt x="52" y="30"/>
                  </a:cubicBezTo>
                  <a:cubicBezTo>
                    <a:pt x="12" y="15"/>
                    <a:pt x="12" y="15"/>
                    <a:pt x="12" y="15"/>
                  </a:cubicBezTo>
                  <a:lnTo>
                    <a:pt x="12"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2" name="Freeform 151">
              <a:extLst>
                <a:ext uri="{FF2B5EF4-FFF2-40B4-BE49-F238E27FC236}">
                  <a16:creationId xmlns:a16="http://schemas.microsoft.com/office/drawing/2014/main" id="{AE5A94F6-3084-7041-011B-72021B7384F3}"/>
                </a:ext>
              </a:extLst>
            </p:cNvPr>
            <p:cNvSpPr>
              <a:spLocks/>
            </p:cNvSpPr>
            <p:nvPr/>
          </p:nvSpPr>
          <p:spPr bwMode="auto">
            <a:xfrm>
              <a:off x="6794" y="1903"/>
              <a:ext cx="163" cy="46"/>
            </a:xfrm>
            <a:custGeom>
              <a:avLst/>
              <a:gdLst>
                <a:gd name="T0" fmla="*/ 103 w 110"/>
                <a:gd name="T1" fmla="*/ 30 h 31"/>
                <a:gd name="T2" fmla="*/ 101 w 110"/>
                <a:gd name="T3" fmla="*/ 30 h 31"/>
                <a:gd name="T4" fmla="*/ 55 w 110"/>
                <a:gd name="T5" fmla="*/ 12 h 31"/>
                <a:gd name="T6" fmla="*/ 9 w 110"/>
                <a:gd name="T7" fmla="*/ 30 h 31"/>
                <a:gd name="T8" fmla="*/ 2 w 110"/>
                <a:gd name="T9" fmla="*/ 26 h 31"/>
                <a:gd name="T10" fmla="*/ 5 w 110"/>
                <a:gd name="T11" fmla="*/ 18 h 31"/>
                <a:gd name="T12" fmla="*/ 53 w 110"/>
                <a:gd name="T13" fmla="*/ 0 h 31"/>
                <a:gd name="T14" fmla="*/ 57 w 110"/>
                <a:gd name="T15" fmla="*/ 0 h 31"/>
                <a:gd name="T16" fmla="*/ 105 w 110"/>
                <a:gd name="T17" fmla="*/ 18 h 31"/>
                <a:gd name="T18" fmla="*/ 109 w 110"/>
                <a:gd name="T19" fmla="*/ 26 h 31"/>
                <a:gd name="T20" fmla="*/ 103 w 110"/>
                <a:gd name="T21"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31">
                  <a:moveTo>
                    <a:pt x="103" y="30"/>
                  </a:moveTo>
                  <a:cubicBezTo>
                    <a:pt x="103" y="30"/>
                    <a:pt x="102" y="30"/>
                    <a:pt x="101" y="30"/>
                  </a:cubicBezTo>
                  <a:cubicBezTo>
                    <a:pt x="55" y="12"/>
                    <a:pt x="55" y="12"/>
                    <a:pt x="55" y="12"/>
                  </a:cubicBezTo>
                  <a:cubicBezTo>
                    <a:pt x="9" y="30"/>
                    <a:pt x="9" y="30"/>
                    <a:pt x="9" y="30"/>
                  </a:cubicBezTo>
                  <a:cubicBezTo>
                    <a:pt x="6" y="31"/>
                    <a:pt x="3" y="29"/>
                    <a:pt x="2" y="26"/>
                  </a:cubicBezTo>
                  <a:cubicBezTo>
                    <a:pt x="0" y="23"/>
                    <a:pt x="2" y="20"/>
                    <a:pt x="5" y="18"/>
                  </a:cubicBezTo>
                  <a:cubicBezTo>
                    <a:pt x="53" y="0"/>
                    <a:pt x="53" y="0"/>
                    <a:pt x="53" y="0"/>
                  </a:cubicBezTo>
                  <a:cubicBezTo>
                    <a:pt x="54" y="0"/>
                    <a:pt x="56" y="0"/>
                    <a:pt x="57" y="0"/>
                  </a:cubicBezTo>
                  <a:cubicBezTo>
                    <a:pt x="105" y="18"/>
                    <a:pt x="105" y="18"/>
                    <a:pt x="105" y="18"/>
                  </a:cubicBezTo>
                  <a:cubicBezTo>
                    <a:pt x="108" y="20"/>
                    <a:pt x="110" y="23"/>
                    <a:pt x="109" y="26"/>
                  </a:cubicBezTo>
                  <a:cubicBezTo>
                    <a:pt x="108" y="29"/>
                    <a:pt x="106" y="30"/>
                    <a:pt x="103"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3" name="Freeform 152">
              <a:extLst>
                <a:ext uri="{FF2B5EF4-FFF2-40B4-BE49-F238E27FC236}">
                  <a16:creationId xmlns:a16="http://schemas.microsoft.com/office/drawing/2014/main" id="{688918A5-3CFF-7F6B-EB94-07937C3E49BA}"/>
                </a:ext>
              </a:extLst>
            </p:cNvPr>
            <p:cNvSpPr>
              <a:spLocks/>
            </p:cNvSpPr>
            <p:nvPr/>
          </p:nvSpPr>
          <p:spPr bwMode="auto">
            <a:xfrm>
              <a:off x="6866" y="1956"/>
              <a:ext cx="18" cy="107"/>
            </a:xfrm>
            <a:custGeom>
              <a:avLst/>
              <a:gdLst>
                <a:gd name="T0" fmla="*/ 6 w 12"/>
                <a:gd name="T1" fmla="*/ 72 h 72"/>
                <a:gd name="T2" fmla="*/ 0 w 12"/>
                <a:gd name="T3" fmla="*/ 66 h 72"/>
                <a:gd name="T4" fmla="*/ 0 w 12"/>
                <a:gd name="T5" fmla="*/ 6 h 72"/>
                <a:gd name="T6" fmla="*/ 6 w 12"/>
                <a:gd name="T7" fmla="*/ 0 h 72"/>
                <a:gd name="T8" fmla="*/ 12 w 12"/>
                <a:gd name="T9" fmla="*/ 6 h 72"/>
                <a:gd name="T10" fmla="*/ 12 w 12"/>
                <a:gd name="T11" fmla="*/ 66 h 72"/>
                <a:gd name="T12" fmla="*/ 6 w 12"/>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2" h="72">
                  <a:moveTo>
                    <a:pt x="6" y="72"/>
                  </a:moveTo>
                  <a:cubicBezTo>
                    <a:pt x="3" y="72"/>
                    <a:pt x="0" y="69"/>
                    <a:pt x="0" y="66"/>
                  </a:cubicBezTo>
                  <a:cubicBezTo>
                    <a:pt x="0" y="6"/>
                    <a:pt x="0" y="6"/>
                    <a:pt x="0" y="6"/>
                  </a:cubicBezTo>
                  <a:cubicBezTo>
                    <a:pt x="0" y="2"/>
                    <a:pt x="3" y="0"/>
                    <a:pt x="6" y="0"/>
                  </a:cubicBezTo>
                  <a:cubicBezTo>
                    <a:pt x="10" y="0"/>
                    <a:pt x="12" y="2"/>
                    <a:pt x="12" y="6"/>
                  </a:cubicBezTo>
                  <a:cubicBezTo>
                    <a:pt x="12" y="66"/>
                    <a:pt x="12" y="66"/>
                    <a:pt x="12" y="66"/>
                  </a:cubicBezTo>
                  <a:cubicBezTo>
                    <a:pt x="12" y="69"/>
                    <a:pt x="10"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4" name="Freeform 153">
              <a:extLst>
                <a:ext uri="{FF2B5EF4-FFF2-40B4-BE49-F238E27FC236}">
                  <a16:creationId xmlns:a16="http://schemas.microsoft.com/office/drawing/2014/main" id="{47035AC5-B88E-F194-4A42-2C66E911B7EC}"/>
                </a:ext>
              </a:extLst>
            </p:cNvPr>
            <p:cNvSpPr>
              <a:spLocks noEditPoints="1"/>
            </p:cNvSpPr>
            <p:nvPr/>
          </p:nvSpPr>
          <p:spPr bwMode="auto">
            <a:xfrm>
              <a:off x="6547" y="1947"/>
              <a:ext cx="231" cy="196"/>
            </a:xfrm>
            <a:custGeom>
              <a:avLst/>
              <a:gdLst>
                <a:gd name="T0" fmla="*/ 78 w 156"/>
                <a:gd name="T1" fmla="*/ 132 h 132"/>
                <a:gd name="T2" fmla="*/ 76 w 156"/>
                <a:gd name="T3" fmla="*/ 132 h 132"/>
                <a:gd name="T4" fmla="*/ 4 w 156"/>
                <a:gd name="T5" fmla="*/ 108 h 132"/>
                <a:gd name="T6" fmla="*/ 0 w 156"/>
                <a:gd name="T7" fmla="*/ 102 h 132"/>
                <a:gd name="T8" fmla="*/ 0 w 156"/>
                <a:gd name="T9" fmla="*/ 6 h 132"/>
                <a:gd name="T10" fmla="*/ 3 w 156"/>
                <a:gd name="T11" fmla="*/ 1 h 132"/>
                <a:gd name="T12" fmla="*/ 8 w 156"/>
                <a:gd name="T13" fmla="*/ 0 h 132"/>
                <a:gd name="T14" fmla="*/ 78 w 156"/>
                <a:gd name="T15" fmla="*/ 24 h 132"/>
                <a:gd name="T16" fmla="*/ 148 w 156"/>
                <a:gd name="T17" fmla="*/ 0 h 132"/>
                <a:gd name="T18" fmla="*/ 154 w 156"/>
                <a:gd name="T19" fmla="*/ 1 h 132"/>
                <a:gd name="T20" fmla="*/ 156 w 156"/>
                <a:gd name="T21" fmla="*/ 6 h 132"/>
                <a:gd name="T22" fmla="*/ 156 w 156"/>
                <a:gd name="T23" fmla="*/ 102 h 132"/>
                <a:gd name="T24" fmla="*/ 152 w 156"/>
                <a:gd name="T25" fmla="*/ 108 h 132"/>
                <a:gd name="T26" fmla="*/ 80 w 156"/>
                <a:gd name="T27" fmla="*/ 132 h 132"/>
                <a:gd name="T28" fmla="*/ 78 w 156"/>
                <a:gd name="T29" fmla="*/ 132 h 132"/>
                <a:gd name="T30" fmla="*/ 12 w 156"/>
                <a:gd name="T31" fmla="*/ 98 h 132"/>
                <a:gd name="T32" fmla="*/ 78 w 156"/>
                <a:gd name="T33" fmla="*/ 120 h 132"/>
                <a:gd name="T34" fmla="*/ 144 w 156"/>
                <a:gd name="T35" fmla="*/ 98 h 132"/>
                <a:gd name="T36" fmla="*/ 144 w 156"/>
                <a:gd name="T37" fmla="*/ 14 h 132"/>
                <a:gd name="T38" fmla="*/ 80 w 156"/>
                <a:gd name="T39" fmla="*/ 36 h 132"/>
                <a:gd name="T40" fmla="*/ 76 w 156"/>
                <a:gd name="T41" fmla="*/ 36 h 132"/>
                <a:gd name="T42" fmla="*/ 12 w 156"/>
                <a:gd name="T43" fmla="*/ 14 h 132"/>
                <a:gd name="T44" fmla="*/ 12 w 156"/>
                <a:gd name="T45" fmla="*/ 98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6" h="132">
                  <a:moveTo>
                    <a:pt x="78" y="132"/>
                  </a:moveTo>
                  <a:cubicBezTo>
                    <a:pt x="78" y="132"/>
                    <a:pt x="77" y="132"/>
                    <a:pt x="76" y="132"/>
                  </a:cubicBezTo>
                  <a:cubicBezTo>
                    <a:pt x="4" y="108"/>
                    <a:pt x="4" y="108"/>
                    <a:pt x="4" y="108"/>
                  </a:cubicBezTo>
                  <a:cubicBezTo>
                    <a:pt x="2" y="107"/>
                    <a:pt x="0" y="105"/>
                    <a:pt x="0" y="102"/>
                  </a:cubicBezTo>
                  <a:cubicBezTo>
                    <a:pt x="0" y="6"/>
                    <a:pt x="0" y="6"/>
                    <a:pt x="0" y="6"/>
                  </a:cubicBezTo>
                  <a:cubicBezTo>
                    <a:pt x="0" y="4"/>
                    <a:pt x="1" y="2"/>
                    <a:pt x="3" y="1"/>
                  </a:cubicBezTo>
                  <a:cubicBezTo>
                    <a:pt x="4" y="0"/>
                    <a:pt x="6" y="0"/>
                    <a:pt x="8" y="0"/>
                  </a:cubicBezTo>
                  <a:cubicBezTo>
                    <a:pt x="78" y="24"/>
                    <a:pt x="78" y="24"/>
                    <a:pt x="78" y="24"/>
                  </a:cubicBezTo>
                  <a:cubicBezTo>
                    <a:pt x="148" y="0"/>
                    <a:pt x="148" y="0"/>
                    <a:pt x="148" y="0"/>
                  </a:cubicBezTo>
                  <a:cubicBezTo>
                    <a:pt x="150" y="0"/>
                    <a:pt x="152" y="0"/>
                    <a:pt x="154" y="1"/>
                  </a:cubicBezTo>
                  <a:cubicBezTo>
                    <a:pt x="155" y="2"/>
                    <a:pt x="156" y="4"/>
                    <a:pt x="156" y="6"/>
                  </a:cubicBezTo>
                  <a:cubicBezTo>
                    <a:pt x="156" y="102"/>
                    <a:pt x="156" y="102"/>
                    <a:pt x="156" y="102"/>
                  </a:cubicBezTo>
                  <a:cubicBezTo>
                    <a:pt x="156" y="105"/>
                    <a:pt x="155" y="107"/>
                    <a:pt x="152" y="108"/>
                  </a:cubicBezTo>
                  <a:cubicBezTo>
                    <a:pt x="80" y="132"/>
                    <a:pt x="80" y="132"/>
                    <a:pt x="80" y="132"/>
                  </a:cubicBezTo>
                  <a:cubicBezTo>
                    <a:pt x="80" y="132"/>
                    <a:pt x="79" y="132"/>
                    <a:pt x="78" y="132"/>
                  </a:cubicBezTo>
                  <a:close/>
                  <a:moveTo>
                    <a:pt x="12" y="98"/>
                  </a:moveTo>
                  <a:cubicBezTo>
                    <a:pt x="78" y="120"/>
                    <a:pt x="78" y="120"/>
                    <a:pt x="78" y="120"/>
                  </a:cubicBezTo>
                  <a:cubicBezTo>
                    <a:pt x="144" y="98"/>
                    <a:pt x="144" y="98"/>
                    <a:pt x="144" y="98"/>
                  </a:cubicBezTo>
                  <a:cubicBezTo>
                    <a:pt x="144" y="14"/>
                    <a:pt x="144" y="14"/>
                    <a:pt x="144" y="14"/>
                  </a:cubicBezTo>
                  <a:cubicBezTo>
                    <a:pt x="80" y="36"/>
                    <a:pt x="80" y="36"/>
                    <a:pt x="80" y="36"/>
                  </a:cubicBezTo>
                  <a:cubicBezTo>
                    <a:pt x="79" y="36"/>
                    <a:pt x="78" y="36"/>
                    <a:pt x="76" y="36"/>
                  </a:cubicBezTo>
                  <a:cubicBezTo>
                    <a:pt x="12" y="14"/>
                    <a:pt x="12" y="14"/>
                    <a:pt x="12" y="14"/>
                  </a:cubicBezTo>
                  <a:lnTo>
                    <a:pt x="12"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5" name="Freeform 154">
              <a:extLst>
                <a:ext uri="{FF2B5EF4-FFF2-40B4-BE49-F238E27FC236}">
                  <a16:creationId xmlns:a16="http://schemas.microsoft.com/office/drawing/2014/main" id="{B23C7CDC-592C-B1F8-2A12-359EE130E285}"/>
                </a:ext>
              </a:extLst>
            </p:cNvPr>
            <p:cNvSpPr>
              <a:spLocks/>
            </p:cNvSpPr>
            <p:nvPr/>
          </p:nvSpPr>
          <p:spPr bwMode="auto">
            <a:xfrm>
              <a:off x="6545" y="1912"/>
              <a:ext cx="234" cy="54"/>
            </a:xfrm>
            <a:custGeom>
              <a:avLst/>
              <a:gdLst>
                <a:gd name="T0" fmla="*/ 151 w 158"/>
                <a:gd name="T1" fmla="*/ 36 h 37"/>
                <a:gd name="T2" fmla="*/ 149 w 158"/>
                <a:gd name="T3" fmla="*/ 36 h 37"/>
                <a:gd name="T4" fmla="*/ 79 w 158"/>
                <a:gd name="T5" fmla="*/ 12 h 37"/>
                <a:gd name="T6" fmla="*/ 9 w 158"/>
                <a:gd name="T7" fmla="*/ 36 h 37"/>
                <a:gd name="T8" fmla="*/ 2 w 158"/>
                <a:gd name="T9" fmla="*/ 32 h 37"/>
                <a:gd name="T10" fmla="*/ 5 w 158"/>
                <a:gd name="T11" fmla="*/ 24 h 37"/>
                <a:gd name="T12" fmla="*/ 77 w 158"/>
                <a:gd name="T13" fmla="*/ 0 h 37"/>
                <a:gd name="T14" fmla="*/ 81 w 158"/>
                <a:gd name="T15" fmla="*/ 0 h 37"/>
                <a:gd name="T16" fmla="*/ 153 w 158"/>
                <a:gd name="T17" fmla="*/ 24 h 37"/>
                <a:gd name="T18" fmla="*/ 157 w 158"/>
                <a:gd name="T19" fmla="*/ 32 h 37"/>
                <a:gd name="T20" fmla="*/ 151 w 158"/>
                <a:gd name="T21"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8" h="37">
                  <a:moveTo>
                    <a:pt x="151" y="36"/>
                  </a:moveTo>
                  <a:cubicBezTo>
                    <a:pt x="151" y="36"/>
                    <a:pt x="150" y="36"/>
                    <a:pt x="149" y="36"/>
                  </a:cubicBezTo>
                  <a:cubicBezTo>
                    <a:pt x="79" y="12"/>
                    <a:pt x="79" y="12"/>
                    <a:pt x="79" y="12"/>
                  </a:cubicBezTo>
                  <a:cubicBezTo>
                    <a:pt x="9" y="36"/>
                    <a:pt x="9" y="36"/>
                    <a:pt x="9" y="36"/>
                  </a:cubicBezTo>
                  <a:cubicBezTo>
                    <a:pt x="6" y="37"/>
                    <a:pt x="3" y="35"/>
                    <a:pt x="2" y="32"/>
                  </a:cubicBezTo>
                  <a:cubicBezTo>
                    <a:pt x="0" y="29"/>
                    <a:pt x="2" y="25"/>
                    <a:pt x="5" y="24"/>
                  </a:cubicBezTo>
                  <a:cubicBezTo>
                    <a:pt x="77" y="0"/>
                    <a:pt x="77" y="0"/>
                    <a:pt x="77" y="0"/>
                  </a:cubicBezTo>
                  <a:cubicBezTo>
                    <a:pt x="79" y="0"/>
                    <a:pt x="80" y="0"/>
                    <a:pt x="81" y="0"/>
                  </a:cubicBezTo>
                  <a:cubicBezTo>
                    <a:pt x="153" y="24"/>
                    <a:pt x="153" y="24"/>
                    <a:pt x="153" y="24"/>
                  </a:cubicBezTo>
                  <a:cubicBezTo>
                    <a:pt x="156" y="25"/>
                    <a:pt x="158" y="29"/>
                    <a:pt x="157" y="32"/>
                  </a:cubicBezTo>
                  <a:cubicBezTo>
                    <a:pt x="156" y="34"/>
                    <a:pt x="154" y="36"/>
                    <a:pt x="151"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6" name="Freeform 155">
              <a:extLst>
                <a:ext uri="{FF2B5EF4-FFF2-40B4-BE49-F238E27FC236}">
                  <a16:creationId xmlns:a16="http://schemas.microsoft.com/office/drawing/2014/main" id="{294C5396-CA80-E3FD-896B-42C91093171A}"/>
                </a:ext>
              </a:extLst>
            </p:cNvPr>
            <p:cNvSpPr>
              <a:spLocks/>
            </p:cNvSpPr>
            <p:nvPr/>
          </p:nvSpPr>
          <p:spPr bwMode="auto">
            <a:xfrm>
              <a:off x="6653" y="1983"/>
              <a:ext cx="18" cy="160"/>
            </a:xfrm>
            <a:custGeom>
              <a:avLst/>
              <a:gdLst>
                <a:gd name="T0" fmla="*/ 6 w 12"/>
                <a:gd name="T1" fmla="*/ 108 h 108"/>
                <a:gd name="T2" fmla="*/ 0 w 12"/>
                <a:gd name="T3" fmla="*/ 102 h 108"/>
                <a:gd name="T4" fmla="*/ 0 w 12"/>
                <a:gd name="T5" fmla="*/ 6 h 108"/>
                <a:gd name="T6" fmla="*/ 6 w 12"/>
                <a:gd name="T7" fmla="*/ 0 h 108"/>
                <a:gd name="T8" fmla="*/ 12 w 12"/>
                <a:gd name="T9" fmla="*/ 6 h 108"/>
                <a:gd name="T10" fmla="*/ 12 w 12"/>
                <a:gd name="T11" fmla="*/ 102 h 108"/>
                <a:gd name="T12" fmla="*/ 6 w 12"/>
                <a:gd name="T13" fmla="*/ 108 h 108"/>
              </a:gdLst>
              <a:ahLst/>
              <a:cxnLst>
                <a:cxn ang="0">
                  <a:pos x="T0" y="T1"/>
                </a:cxn>
                <a:cxn ang="0">
                  <a:pos x="T2" y="T3"/>
                </a:cxn>
                <a:cxn ang="0">
                  <a:pos x="T4" y="T5"/>
                </a:cxn>
                <a:cxn ang="0">
                  <a:pos x="T6" y="T7"/>
                </a:cxn>
                <a:cxn ang="0">
                  <a:pos x="T8" y="T9"/>
                </a:cxn>
                <a:cxn ang="0">
                  <a:pos x="T10" y="T11"/>
                </a:cxn>
                <a:cxn ang="0">
                  <a:pos x="T12" y="T13"/>
                </a:cxn>
              </a:cxnLst>
              <a:rect l="0" t="0" r="r" b="b"/>
              <a:pathLst>
                <a:path w="12" h="108">
                  <a:moveTo>
                    <a:pt x="6" y="108"/>
                  </a:moveTo>
                  <a:cubicBezTo>
                    <a:pt x="3" y="108"/>
                    <a:pt x="0" y="105"/>
                    <a:pt x="0" y="102"/>
                  </a:cubicBezTo>
                  <a:cubicBezTo>
                    <a:pt x="0" y="6"/>
                    <a:pt x="0" y="6"/>
                    <a:pt x="0" y="6"/>
                  </a:cubicBezTo>
                  <a:cubicBezTo>
                    <a:pt x="0" y="2"/>
                    <a:pt x="3" y="0"/>
                    <a:pt x="6" y="0"/>
                  </a:cubicBezTo>
                  <a:cubicBezTo>
                    <a:pt x="10" y="0"/>
                    <a:pt x="12" y="2"/>
                    <a:pt x="12" y="6"/>
                  </a:cubicBezTo>
                  <a:cubicBezTo>
                    <a:pt x="12" y="102"/>
                    <a:pt x="12" y="102"/>
                    <a:pt x="12" y="102"/>
                  </a:cubicBezTo>
                  <a:cubicBezTo>
                    <a:pt x="12" y="105"/>
                    <a:pt x="10" y="108"/>
                    <a:pt x="6"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nvGrpSpPr>
          <p:cNvPr id="27" name="Group 38">
            <a:extLst>
              <a:ext uri="{FF2B5EF4-FFF2-40B4-BE49-F238E27FC236}">
                <a16:creationId xmlns:a16="http://schemas.microsoft.com/office/drawing/2014/main" id="{8CD3335D-4F51-CA38-5C7D-80E091B471F7}"/>
              </a:ext>
            </a:extLst>
          </p:cNvPr>
          <p:cNvGrpSpPr>
            <a:grpSpLocks noChangeAspect="1"/>
          </p:cNvGrpSpPr>
          <p:nvPr/>
        </p:nvGrpSpPr>
        <p:grpSpPr bwMode="auto">
          <a:xfrm>
            <a:off x="6165850" y="1248135"/>
            <a:ext cx="306014" cy="314125"/>
            <a:chOff x="4482" y="439"/>
            <a:chExt cx="415" cy="426"/>
          </a:xfrm>
          <a:solidFill>
            <a:schemeClr val="tx2"/>
          </a:solidFill>
        </p:grpSpPr>
        <p:sp>
          <p:nvSpPr>
            <p:cNvPr id="28" name="Freeform 39">
              <a:extLst>
                <a:ext uri="{FF2B5EF4-FFF2-40B4-BE49-F238E27FC236}">
                  <a16:creationId xmlns:a16="http://schemas.microsoft.com/office/drawing/2014/main" id="{606A996B-E988-63BB-8A0E-BE5FA290A015}"/>
                </a:ext>
              </a:extLst>
            </p:cNvPr>
            <p:cNvSpPr>
              <a:spLocks noEditPoints="1"/>
            </p:cNvSpPr>
            <p:nvPr/>
          </p:nvSpPr>
          <p:spPr bwMode="auto">
            <a:xfrm>
              <a:off x="4651" y="439"/>
              <a:ext cx="246" cy="249"/>
            </a:xfrm>
            <a:custGeom>
              <a:avLst/>
              <a:gdLst>
                <a:gd name="T0" fmla="*/ 66 w 166"/>
                <a:gd name="T1" fmla="*/ 168 h 168"/>
                <a:gd name="T2" fmla="*/ 60 w 166"/>
                <a:gd name="T3" fmla="*/ 146 h 168"/>
                <a:gd name="T4" fmla="*/ 27 w 166"/>
                <a:gd name="T5" fmla="*/ 143 h 168"/>
                <a:gd name="T6" fmla="*/ 1 w 166"/>
                <a:gd name="T7" fmla="*/ 110 h 168"/>
                <a:gd name="T8" fmla="*/ 3 w 166"/>
                <a:gd name="T9" fmla="*/ 102 h 168"/>
                <a:gd name="T10" fmla="*/ 18 w 166"/>
                <a:gd name="T11" fmla="*/ 74 h 168"/>
                <a:gd name="T12" fmla="*/ 1 w 166"/>
                <a:gd name="T13" fmla="*/ 62 h 168"/>
                <a:gd name="T14" fmla="*/ 20 w 166"/>
                <a:gd name="T15" fmla="*/ 26 h 168"/>
                <a:gd name="T16" fmla="*/ 42 w 166"/>
                <a:gd name="T17" fmla="*/ 32 h 168"/>
                <a:gd name="T18" fmla="*/ 60 w 166"/>
                <a:gd name="T19" fmla="*/ 6 h 168"/>
                <a:gd name="T20" fmla="*/ 102 w 166"/>
                <a:gd name="T21" fmla="*/ 0 h 168"/>
                <a:gd name="T22" fmla="*/ 108 w 166"/>
                <a:gd name="T23" fmla="*/ 23 h 168"/>
                <a:gd name="T24" fmla="*/ 139 w 166"/>
                <a:gd name="T25" fmla="*/ 24 h 168"/>
                <a:gd name="T26" fmla="*/ 147 w 166"/>
                <a:gd name="T27" fmla="*/ 26 h 168"/>
                <a:gd name="T28" fmla="*/ 165 w 166"/>
                <a:gd name="T29" fmla="*/ 62 h 168"/>
                <a:gd name="T30" fmla="*/ 148 w 166"/>
                <a:gd name="T31" fmla="*/ 74 h 168"/>
                <a:gd name="T32" fmla="*/ 163 w 166"/>
                <a:gd name="T33" fmla="*/ 102 h 168"/>
                <a:gd name="T34" fmla="*/ 165 w 166"/>
                <a:gd name="T35" fmla="*/ 110 h 168"/>
                <a:gd name="T36" fmla="*/ 143 w 166"/>
                <a:gd name="T37" fmla="*/ 144 h 168"/>
                <a:gd name="T38" fmla="*/ 125 w 166"/>
                <a:gd name="T39" fmla="*/ 135 h 168"/>
                <a:gd name="T40" fmla="*/ 108 w 166"/>
                <a:gd name="T41" fmla="*/ 162 h 168"/>
                <a:gd name="T42" fmla="*/ 72 w 166"/>
                <a:gd name="T43" fmla="*/ 156 h 168"/>
                <a:gd name="T44" fmla="*/ 96 w 166"/>
                <a:gd name="T45" fmla="*/ 141 h 168"/>
                <a:gd name="T46" fmla="*/ 120 w 166"/>
                <a:gd name="T47" fmla="*/ 123 h 168"/>
                <a:gd name="T48" fmla="*/ 139 w 166"/>
                <a:gd name="T49" fmla="*/ 130 h 168"/>
                <a:gd name="T50" fmla="*/ 139 w 166"/>
                <a:gd name="T51" fmla="*/ 102 h 168"/>
                <a:gd name="T52" fmla="*/ 136 w 166"/>
                <a:gd name="T53" fmla="*/ 72 h 168"/>
                <a:gd name="T54" fmla="*/ 151 w 166"/>
                <a:gd name="T55" fmla="*/ 58 h 168"/>
                <a:gd name="T56" fmla="*/ 127 w 166"/>
                <a:gd name="T57" fmla="*/ 45 h 168"/>
                <a:gd name="T58" fmla="*/ 100 w 166"/>
                <a:gd name="T59" fmla="*/ 32 h 168"/>
                <a:gd name="T60" fmla="*/ 96 w 166"/>
                <a:gd name="T61" fmla="*/ 12 h 168"/>
                <a:gd name="T62" fmla="*/ 72 w 166"/>
                <a:gd name="T63" fmla="*/ 26 h 168"/>
                <a:gd name="T64" fmla="*/ 48 w 166"/>
                <a:gd name="T65" fmla="*/ 44 h 168"/>
                <a:gd name="T66" fmla="*/ 27 w 166"/>
                <a:gd name="T67" fmla="*/ 37 h 168"/>
                <a:gd name="T68" fmla="*/ 28 w 166"/>
                <a:gd name="T69" fmla="*/ 65 h 168"/>
                <a:gd name="T70" fmla="*/ 30 w 166"/>
                <a:gd name="T71" fmla="*/ 95 h 168"/>
                <a:gd name="T72" fmla="*/ 15 w 166"/>
                <a:gd name="T73" fmla="*/ 109 h 168"/>
                <a:gd name="T74" fmla="*/ 40 w 166"/>
                <a:gd name="T75" fmla="*/ 123 h 168"/>
                <a:gd name="T76" fmla="*/ 68 w 166"/>
                <a:gd name="T77" fmla="*/ 135 h 168"/>
                <a:gd name="T78" fmla="*/ 72 w 166"/>
                <a:gd name="T7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6" h="168">
                  <a:moveTo>
                    <a:pt x="102" y="168"/>
                  </a:moveTo>
                  <a:cubicBezTo>
                    <a:pt x="66" y="168"/>
                    <a:pt x="66" y="168"/>
                    <a:pt x="66" y="168"/>
                  </a:cubicBezTo>
                  <a:cubicBezTo>
                    <a:pt x="63" y="168"/>
                    <a:pt x="60" y="165"/>
                    <a:pt x="60" y="162"/>
                  </a:cubicBezTo>
                  <a:cubicBezTo>
                    <a:pt x="60" y="146"/>
                    <a:pt x="60" y="146"/>
                    <a:pt x="60" y="146"/>
                  </a:cubicBezTo>
                  <a:cubicBezTo>
                    <a:pt x="52" y="143"/>
                    <a:pt x="47" y="139"/>
                    <a:pt x="42" y="135"/>
                  </a:cubicBezTo>
                  <a:cubicBezTo>
                    <a:pt x="27" y="143"/>
                    <a:pt x="27" y="143"/>
                    <a:pt x="27" y="143"/>
                  </a:cubicBezTo>
                  <a:cubicBezTo>
                    <a:pt x="25" y="145"/>
                    <a:pt x="21" y="144"/>
                    <a:pt x="19" y="141"/>
                  </a:cubicBezTo>
                  <a:cubicBezTo>
                    <a:pt x="1" y="110"/>
                    <a:pt x="1" y="110"/>
                    <a:pt x="1" y="110"/>
                  </a:cubicBezTo>
                  <a:cubicBezTo>
                    <a:pt x="1" y="109"/>
                    <a:pt x="0" y="107"/>
                    <a:pt x="1" y="106"/>
                  </a:cubicBezTo>
                  <a:cubicBezTo>
                    <a:pt x="1" y="104"/>
                    <a:pt x="2" y="103"/>
                    <a:pt x="3" y="102"/>
                  </a:cubicBezTo>
                  <a:cubicBezTo>
                    <a:pt x="18" y="94"/>
                    <a:pt x="18" y="94"/>
                    <a:pt x="18" y="94"/>
                  </a:cubicBezTo>
                  <a:cubicBezTo>
                    <a:pt x="17" y="87"/>
                    <a:pt x="17" y="80"/>
                    <a:pt x="18" y="74"/>
                  </a:cubicBezTo>
                  <a:cubicBezTo>
                    <a:pt x="4" y="65"/>
                    <a:pt x="4" y="65"/>
                    <a:pt x="4" y="65"/>
                  </a:cubicBezTo>
                  <a:cubicBezTo>
                    <a:pt x="2" y="65"/>
                    <a:pt x="1" y="63"/>
                    <a:pt x="1" y="62"/>
                  </a:cubicBezTo>
                  <a:cubicBezTo>
                    <a:pt x="0" y="60"/>
                    <a:pt x="1" y="59"/>
                    <a:pt x="1" y="57"/>
                  </a:cubicBezTo>
                  <a:cubicBezTo>
                    <a:pt x="20" y="26"/>
                    <a:pt x="20" y="26"/>
                    <a:pt x="20" y="26"/>
                  </a:cubicBezTo>
                  <a:cubicBezTo>
                    <a:pt x="21" y="23"/>
                    <a:pt x="25" y="22"/>
                    <a:pt x="28" y="24"/>
                  </a:cubicBezTo>
                  <a:cubicBezTo>
                    <a:pt x="42" y="32"/>
                    <a:pt x="42" y="32"/>
                    <a:pt x="42" y="32"/>
                  </a:cubicBezTo>
                  <a:cubicBezTo>
                    <a:pt x="47" y="28"/>
                    <a:pt x="52" y="24"/>
                    <a:pt x="60" y="22"/>
                  </a:cubicBezTo>
                  <a:cubicBezTo>
                    <a:pt x="60" y="6"/>
                    <a:pt x="60" y="6"/>
                    <a:pt x="60" y="6"/>
                  </a:cubicBezTo>
                  <a:cubicBezTo>
                    <a:pt x="60" y="2"/>
                    <a:pt x="63" y="0"/>
                    <a:pt x="66" y="0"/>
                  </a:cubicBezTo>
                  <a:cubicBezTo>
                    <a:pt x="102" y="0"/>
                    <a:pt x="102" y="0"/>
                    <a:pt x="102" y="0"/>
                  </a:cubicBezTo>
                  <a:cubicBezTo>
                    <a:pt x="106" y="0"/>
                    <a:pt x="108" y="2"/>
                    <a:pt x="108" y="6"/>
                  </a:cubicBezTo>
                  <a:cubicBezTo>
                    <a:pt x="108" y="23"/>
                    <a:pt x="108" y="23"/>
                    <a:pt x="108" y="23"/>
                  </a:cubicBezTo>
                  <a:cubicBezTo>
                    <a:pt x="115" y="26"/>
                    <a:pt x="121" y="29"/>
                    <a:pt x="125" y="32"/>
                  </a:cubicBezTo>
                  <a:cubicBezTo>
                    <a:pt x="139" y="24"/>
                    <a:pt x="139" y="24"/>
                    <a:pt x="139" y="24"/>
                  </a:cubicBezTo>
                  <a:cubicBezTo>
                    <a:pt x="140" y="23"/>
                    <a:pt x="142" y="23"/>
                    <a:pt x="143" y="23"/>
                  </a:cubicBezTo>
                  <a:cubicBezTo>
                    <a:pt x="145" y="24"/>
                    <a:pt x="146" y="25"/>
                    <a:pt x="147" y="26"/>
                  </a:cubicBezTo>
                  <a:cubicBezTo>
                    <a:pt x="165" y="57"/>
                    <a:pt x="165" y="57"/>
                    <a:pt x="165" y="57"/>
                  </a:cubicBezTo>
                  <a:cubicBezTo>
                    <a:pt x="166" y="59"/>
                    <a:pt x="166" y="60"/>
                    <a:pt x="165" y="62"/>
                  </a:cubicBezTo>
                  <a:cubicBezTo>
                    <a:pt x="165" y="63"/>
                    <a:pt x="164" y="65"/>
                    <a:pt x="163" y="65"/>
                  </a:cubicBezTo>
                  <a:cubicBezTo>
                    <a:pt x="148" y="74"/>
                    <a:pt x="148" y="74"/>
                    <a:pt x="148" y="74"/>
                  </a:cubicBezTo>
                  <a:cubicBezTo>
                    <a:pt x="149" y="80"/>
                    <a:pt x="149" y="87"/>
                    <a:pt x="148" y="94"/>
                  </a:cubicBezTo>
                  <a:cubicBezTo>
                    <a:pt x="163" y="102"/>
                    <a:pt x="163" y="102"/>
                    <a:pt x="163" y="102"/>
                  </a:cubicBezTo>
                  <a:cubicBezTo>
                    <a:pt x="164" y="103"/>
                    <a:pt x="165" y="104"/>
                    <a:pt x="165" y="106"/>
                  </a:cubicBezTo>
                  <a:cubicBezTo>
                    <a:pt x="166" y="107"/>
                    <a:pt x="166" y="109"/>
                    <a:pt x="165" y="110"/>
                  </a:cubicBezTo>
                  <a:cubicBezTo>
                    <a:pt x="147" y="141"/>
                    <a:pt x="147" y="141"/>
                    <a:pt x="147" y="141"/>
                  </a:cubicBezTo>
                  <a:cubicBezTo>
                    <a:pt x="146" y="143"/>
                    <a:pt x="145" y="144"/>
                    <a:pt x="143" y="144"/>
                  </a:cubicBezTo>
                  <a:cubicBezTo>
                    <a:pt x="142" y="144"/>
                    <a:pt x="140" y="144"/>
                    <a:pt x="139" y="143"/>
                  </a:cubicBezTo>
                  <a:cubicBezTo>
                    <a:pt x="125" y="135"/>
                    <a:pt x="125" y="135"/>
                    <a:pt x="125" y="135"/>
                  </a:cubicBezTo>
                  <a:cubicBezTo>
                    <a:pt x="121" y="138"/>
                    <a:pt x="115" y="142"/>
                    <a:pt x="108" y="145"/>
                  </a:cubicBezTo>
                  <a:cubicBezTo>
                    <a:pt x="108" y="162"/>
                    <a:pt x="108" y="162"/>
                    <a:pt x="108" y="162"/>
                  </a:cubicBezTo>
                  <a:cubicBezTo>
                    <a:pt x="108" y="165"/>
                    <a:pt x="106" y="168"/>
                    <a:pt x="102" y="168"/>
                  </a:cubicBezTo>
                  <a:close/>
                  <a:moveTo>
                    <a:pt x="72" y="156"/>
                  </a:moveTo>
                  <a:cubicBezTo>
                    <a:pt x="96" y="156"/>
                    <a:pt x="96" y="156"/>
                    <a:pt x="96" y="156"/>
                  </a:cubicBezTo>
                  <a:cubicBezTo>
                    <a:pt x="96" y="141"/>
                    <a:pt x="96" y="141"/>
                    <a:pt x="96" y="141"/>
                  </a:cubicBezTo>
                  <a:cubicBezTo>
                    <a:pt x="96" y="139"/>
                    <a:pt x="98" y="136"/>
                    <a:pt x="100" y="135"/>
                  </a:cubicBezTo>
                  <a:cubicBezTo>
                    <a:pt x="109" y="131"/>
                    <a:pt x="116" y="127"/>
                    <a:pt x="120" y="123"/>
                  </a:cubicBezTo>
                  <a:cubicBezTo>
                    <a:pt x="122" y="122"/>
                    <a:pt x="125" y="121"/>
                    <a:pt x="127" y="123"/>
                  </a:cubicBezTo>
                  <a:cubicBezTo>
                    <a:pt x="139" y="130"/>
                    <a:pt x="139" y="130"/>
                    <a:pt x="139" y="130"/>
                  </a:cubicBezTo>
                  <a:cubicBezTo>
                    <a:pt x="151" y="109"/>
                    <a:pt x="151" y="109"/>
                    <a:pt x="151" y="109"/>
                  </a:cubicBezTo>
                  <a:cubicBezTo>
                    <a:pt x="139" y="102"/>
                    <a:pt x="139" y="102"/>
                    <a:pt x="139" y="102"/>
                  </a:cubicBezTo>
                  <a:cubicBezTo>
                    <a:pt x="136" y="101"/>
                    <a:pt x="135" y="98"/>
                    <a:pt x="136" y="95"/>
                  </a:cubicBezTo>
                  <a:cubicBezTo>
                    <a:pt x="137" y="87"/>
                    <a:pt x="137" y="80"/>
                    <a:pt x="136" y="72"/>
                  </a:cubicBezTo>
                  <a:cubicBezTo>
                    <a:pt x="135" y="69"/>
                    <a:pt x="136" y="67"/>
                    <a:pt x="139" y="65"/>
                  </a:cubicBezTo>
                  <a:cubicBezTo>
                    <a:pt x="151" y="58"/>
                    <a:pt x="151" y="58"/>
                    <a:pt x="151" y="58"/>
                  </a:cubicBezTo>
                  <a:cubicBezTo>
                    <a:pt x="139" y="37"/>
                    <a:pt x="139" y="37"/>
                    <a:pt x="139" y="37"/>
                  </a:cubicBezTo>
                  <a:cubicBezTo>
                    <a:pt x="127" y="45"/>
                    <a:pt x="127" y="45"/>
                    <a:pt x="127" y="45"/>
                  </a:cubicBezTo>
                  <a:cubicBezTo>
                    <a:pt x="125" y="46"/>
                    <a:pt x="122" y="46"/>
                    <a:pt x="120" y="44"/>
                  </a:cubicBezTo>
                  <a:cubicBezTo>
                    <a:pt x="116" y="40"/>
                    <a:pt x="109" y="36"/>
                    <a:pt x="100" y="32"/>
                  </a:cubicBezTo>
                  <a:cubicBezTo>
                    <a:pt x="98" y="31"/>
                    <a:pt x="96" y="29"/>
                    <a:pt x="96" y="26"/>
                  </a:cubicBezTo>
                  <a:cubicBezTo>
                    <a:pt x="96" y="12"/>
                    <a:pt x="96" y="12"/>
                    <a:pt x="96" y="12"/>
                  </a:cubicBezTo>
                  <a:cubicBezTo>
                    <a:pt x="72" y="12"/>
                    <a:pt x="72" y="12"/>
                    <a:pt x="72" y="12"/>
                  </a:cubicBezTo>
                  <a:cubicBezTo>
                    <a:pt x="72" y="26"/>
                    <a:pt x="72" y="26"/>
                    <a:pt x="72" y="26"/>
                  </a:cubicBezTo>
                  <a:cubicBezTo>
                    <a:pt x="72" y="29"/>
                    <a:pt x="71" y="32"/>
                    <a:pt x="68" y="32"/>
                  </a:cubicBezTo>
                  <a:cubicBezTo>
                    <a:pt x="57" y="35"/>
                    <a:pt x="54" y="38"/>
                    <a:pt x="48" y="44"/>
                  </a:cubicBezTo>
                  <a:cubicBezTo>
                    <a:pt x="46" y="45"/>
                    <a:pt x="43" y="46"/>
                    <a:pt x="40" y="45"/>
                  </a:cubicBezTo>
                  <a:cubicBezTo>
                    <a:pt x="27" y="37"/>
                    <a:pt x="27" y="37"/>
                    <a:pt x="27" y="37"/>
                  </a:cubicBezTo>
                  <a:cubicBezTo>
                    <a:pt x="15" y="58"/>
                    <a:pt x="15" y="58"/>
                    <a:pt x="15" y="58"/>
                  </a:cubicBezTo>
                  <a:cubicBezTo>
                    <a:pt x="28" y="65"/>
                    <a:pt x="28" y="65"/>
                    <a:pt x="28" y="65"/>
                  </a:cubicBezTo>
                  <a:cubicBezTo>
                    <a:pt x="30" y="67"/>
                    <a:pt x="31" y="69"/>
                    <a:pt x="30" y="72"/>
                  </a:cubicBezTo>
                  <a:cubicBezTo>
                    <a:pt x="29" y="80"/>
                    <a:pt x="29" y="88"/>
                    <a:pt x="30" y="95"/>
                  </a:cubicBezTo>
                  <a:cubicBezTo>
                    <a:pt x="31" y="98"/>
                    <a:pt x="30" y="101"/>
                    <a:pt x="28" y="102"/>
                  </a:cubicBezTo>
                  <a:cubicBezTo>
                    <a:pt x="15" y="109"/>
                    <a:pt x="15" y="109"/>
                    <a:pt x="15" y="109"/>
                  </a:cubicBezTo>
                  <a:cubicBezTo>
                    <a:pt x="27" y="130"/>
                    <a:pt x="27" y="130"/>
                    <a:pt x="27" y="130"/>
                  </a:cubicBezTo>
                  <a:cubicBezTo>
                    <a:pt x="40" y="123"/>
                    <a:pt x="40" y="123"/>
                    <a:pt x="40" y="123"/>
                  </a:cubicBezTo>
                  <a:cubicBezTo>
                    <a:pt x="43" y="121"/>
                    <a:pt x="45" y="122"/>
                    <a:pt x="47" y="123"/>
                  </a:cubicBezTo>
                  <a:cubicBezTo>
                    <a:pt x="54" y="129"/>
                    <a:pt x="57" y="133"/>
                    <a:pt x="68" y="135"/>
                  </a:cubicBezTo>
                  <a:cubicBezTo>
                    <a:pt x="71" y="136"/>
                    <a:pt x="72" y="138"/>
                    <a:pt x="72" y="141"/>
                  </a:cubicBezTo>
                  <a:lnTo>
                    <a:pt x="7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9" name="Freeform 40">
              <a:extLst>
                <a:ext uri="{FF2B5EF4-FFF2-40B4-BE49-F238E27FC236}">
                  <a16:creationId xmlns:a16="http://schemas.microsoft.com/office/drawing/2014/main" id="{9060BD16-D82A-0624-1E31-793DFC1DD47C}"/>
                </a:ext>
              </a:extLst>
            </p:cNvPr>
            <p:cNvSpPr>
              <a:spLocks noEditPoints="1"/>
            </p:cNvSpPr>
            <p:nvPr/>
          </p:nvSpPr>
          <p:spPr bwMode="auto">
            <a:xfrm>
              <a:off x="4729" y="519"/>
              <a:ext cx="89" cy="89"/>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0" name="Freeform 41">
              <a:extLst>
                <a:ext uri="{FF2B5EF4-FFF2-40B4-BE49-F238E27FC236}">
                  <a16:creationId xmlns:a16="http://schemas.microsoft.com/office/drawing/2014/main" id="{399C65CD-2D59-DCBC-6459-647CED40B1C3}"/>
                </a:ext>
              </a:extLst>
            </p:cNvPr>
            <p:cNvSpPr>
              <a:spLocks noEditPoints="1"/>
            </p:cNvSpPr>
            <p:nvPr/>
          </p:nvSpPr>
          <p:spPr bwMode="auto">
            <a:xfrm>
              <a:off x="4482" y="617"/>
              <a:ext cx="246" cy="248"/>
            </a:xfrm>
            <a:custGeom>
              <a:avLst/>
              <a:gdLst>
                <a:gd name="T0" fmla="*/ 66 w 166"/>
                <a:gd name="T1" fmla="*/ 168 h 168"/>
                <a:gd name="T2" fmla="*/ 60 w 166"/>
                <a:gd name="T3" fmla="*/ 146 h 168"/>
                <a:gd name="T4" fmla="*/ 27 w 166"/>
                <a:gd name="T5" fmla="*/ 143 h 168"/>
                <a:gd name="T6" fmla="*/ 1 w 166"/>
                <a:gd name="T7" fmla="*/ 110 h 168"/>
                <a:gd name="T8" fmla="*/ 3 w 166"/>
                <a:gd name="T9" fmla="*/ 102 h 168"/>
                <a:gd name="T10" fmla="*/ 18 w 166"/>
                <a:gd name="T11" fmla="*/ 74 h 168"/>
                <a:gd name="T12" fmla="*/ 1 w 166"/>
                <a:gd name="T13" fmla="*/ 62 h 168"/>
                <a:gd name="T14" fmla="*/ 20 w 166"/>
                <a:gd name="T15" fmla="*/ 26 h 168"/>
                <a:gd name="T16" fmla="*/ 42 w 166"/>
                <a:gd name="T17" fmla="*/ 32 h 168"/>
                <a:gd name="T18" fmla="*/ 60 w 166"/>
                <a:gd name="T19" fmla="*/ 6 h 168"/>
                <a:gd name="T20" fmla="*/ 102 w 166"/>
                <a:gd name="T21" fmla="*/ 0 h 168"/>
                <a:gd name="T22" fmla="*/ 108 w 166"/>
                <a:gd name="T23" fmla="*/ 23 h 168"/>
                <a:gd name="T24" fmla="*/ 138 w 166"/>
                <a:gd name="T25" fmla="*/ 24 h 168"/>
                <a:gd name="T26" fmla="*/ 147 w 166"/>
                <a:gd name="T27" fmla="*/ 26 h 168"/>
                <a:gd name="T28" fmla="*/ 165 w 166"/>
                <a:gd name="T29" fmla="*/ 62 h 168"/>
                <a:gd name="T30" fmla="*/ 148 w 166"/>
                <a:gd name="T31" fmla="*/ 74 h 168"/>
                <a:gd name="T32" fmla="*/ 163 w 166"/>
                <a:gd name="T33" fmla="*/ 102 h 168"/>
                <a:gd name="T34" fmla="*/ 165 w 166"/>
                <a:gd name="T35" fmla="*/ 110 h 168"/>
                <a:gd name="T36" fmla="*/ 143 w 166"/>
                <a:gd name="T37" fmla="*/ 144 h 168"/>
                <a:gd name="T38" fmla="*/ 125 w 166"/>
                <a:gd name="T39" fmla="*/ 135 h 168"/>
                <a:gd name="T40" fmla="*/ 108 w 166"/>
                <a:gd name="T41" fmla="*/ 162 h 168"/>
                <a:gd name="T42" fmla="*/ 72 w 166"/>
                <a:gd name="T43" fmla="*/ 156 h 168"/>
                <a:gd name="T44" fmla="*/ 96 w 166"/>
                <a:gd name="T45" fmla="*/ 141 h 168"/>
                <a:gd name="T46" fmla="*/ 120 w 166"/>
                <a:gd name="T47" fmla="*/ 123 h 168"/>
                <a:gd name="T48" fmla="*/ 139 w 166"/>
                <a:gd name="T49" fmla="*/ 130 h 168"/>
                <a:gd name="T50" fmla="*/ 139 w 166"/>
                <a:gd name="T51" fmla="*/ 102 h 168"/>
                <a:gd name="T52" fmla="*/ 136 w 166"/>
                <a:gd name="T53" fmla="*/ 72 h 168"/>
                <a:gd name="T54" fmla="*/ 151 w 166"/>
                <a:gd name="T55" fmla="*/ 58 h 168"/>
                <a:gd name="T56" fmla="*/ 127 w 166"/>
                <a:gd name="T57" fmla="*/ 45 h 168"/>
                <a:gd name="T58" fmla="*/ 100 w 166"/>
                <a:gd name="T59" fmla="*/ 32 h 168"/>
                <a:gd name="T60" fmla="*/ 96 w 166"/>
                <a:gd name="T61" fmla="*/ 12 h 168"/>
                <a:gd name="T62" fmla="*/ 72 w 166"/>
                <a:gd name="T63" fmla="*/ 26 h 168"/>
                <a:gd name="T64" fmla="*/ 48 w 166"/>
                <a:gd name="T65" fmla="*/ 44 h 168"/>
                <a:gd name="T66" fmla="*/ 27 w 166"/>
                <a:gd name="T67" fmla="*/ 37 h 168"/>
                <a:gd name="T68" fmla="*/ 28 w 166"/>
                <a:gd name="T69" fmla="*/ 65 h 168"/>
                <a:gd name="T70" fmla="*/ 30 w 166"/>
                <a:gd name="T71" fmla="*/ 95 h 168"/>
                <a:gd name="T72" fmla="*/ 15 w 166"/>
                <a:gd name="T73" fmla="*/ 109 h 168"/>
                <a:gd name="T74" fmla="*/ 40 w 166"/>
                <a:gd name="T75" fmla="*/ 123 h 168"/>
                <a:gd name="T76" fmla="*/ 68 w 166"/>
                <a:gd name="T77" fmla="*/ 135 h 168"/>
                <a:gd name="T78" fmla="*/ 72 w 166"/>
                <a:gd name="T7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6" h="168">
                  <a:moveTo>
                    <a:pt x="102" y="168"/>
                  </a:moveTo>
                  <a:cubicBezTo>
                    <a:pt x="66" y="168"/>
                    <a:pt x="66" y="168"/>
                    <a:pt x="66" y="168"/>
                  </a:cubicBezTo>
                  <a:cubicBezTo>
                    <a:pt x="63" y="168"/>
                    <a:pt x="60" y="165"/>
                    <a:pt x="60" y="162"/>
                  </a:cubicBezTo>
                  <a:cubicBezTo>
                    <a:pt x="60" y="146"/>
                    <a:pt x="60" y="146"/>
                    <a:pt x="60" y="146"/>
                  </a:cubicBezTo>
                  <a:cubicBezTo>
                    <a:pt x="52" y="143"/>
                    <a:pt x="47" y="139"/>
                    <a:pt x="42" y="135"/>
                  </a:cubicBezTo>
                  <a:cubicBezTo>
                    <a:pt x="27" y="143"/>
                    <a:pt x="27" y="143"/>
                    <a:pt x="27" y="143"/>
                  </a:cubicBezTo>
                  <a:cubicBezTo>
                    <a:pt x="25" y="145"/>
                    <a:pt x="21" y="144"/>
                    <a:pt x="19" y="141"/>
                  </a:cubicBezTo>
                  <a:cubicBezTo>
                    <a:pt x="1" y="110"/>
                    <a:pt x="1" y="110"/>
                    <a:pt x="1" y="110"/>
                  </a:cubicBezTo>
                  <a:cubicBezTo>
                    <a:pt x="0" y="109"/>
                    <a:pt x="0" y="107"/>
                    <a:pt x="1" y="106"/>
                  </a:cubicBezTo>
                  <a:cubicBezTo>
                    <a:pt x="1" y="104"/>
                    <a:pt x="2" y="103"/>
                    <a:pt x="3" y="102"/>
                  </a:cubicBezTo>
                  <a:cubicBezTo>
                    <a:pt x="18" y="94"/>
                    <a:pt x="18" y="94"/>
                    <a:pt x="18" y="94"/>
                  </a:cubicBezTo>
                  <a:cubicBezTo>
                    <a:pt x="17" y="87"/>
                    <a:pt x="17" y="80"/>
                    <a:pt x="18" y="74"/>
                  </a:cubicBezTo>
                  <a:cubicBezTo>
                    <a:pt x="4" y="65"/>
                    <a:pt x="4" y="65"/>
                    <a:pt x="4" y="65"/>
                  </a:cubicBezTo>
                  <a:cubicBezTo>
                    <a:pt x="2" y="65"/>
                    <a:pt x="1" y="63"/>
                    <a:pt x="1" y="62"/>
                  </a:cubicBezTo>
                  <a:cubicBezTo>
                    <a:pt x="0" y="60"/>
                    <a:pt x="1" y="59"/>
                    <a:pt x="1" y="57"/>
                  </a:cubicBezTo>
                  <a:cubicBezTo>
                    <a:pt x="20" y="26"/>
                    <a:pt x="20" y="26"/>
                    <a:pt x="20" y="26"/>
                  </a:cubicBezTo>
                  <a:cubicBezTo>
                    <a:pt x="21" y="23"/>
                    <a:pt x="25" y="22"/>
                    <a:pt x="28" y="24"/>
                  </a:cubicBezTo>
                  <a:cubicBezTo>
                    <a:pt x="42" y="32"/>
                    <a:pt x="42" y="32"/>
                    <a:pt x="42" y="32"/>
                  </a:cubicBezTo>
                  <a:cubicBezTo>
                    <a:pt x="47" y="28"/>
                    <a:pt x="52" y="24"/>
                    <a:pt x="60" y="22"/>
                  </a:cubicBezTo>
                  <a:cubicBezTo>
                    <a:pt x="60" y="6"/>
                    <a:pt x="60" y="6"/>
                    <a:pt x="60" y="6"/>
                  </a:cubicBezTo>
                  <a:cubicBezTo>
                    <a:pt x="60" y="2"/>
                    <a:pt x="63" y="0"/>
                    <a:pt x="66" y="0"/>
                  </a:cubicBezTo>
                  <a:cubicBezTo>
                    <a:pt x="102" y="0"/>
                    <a:pt x="102" y="0"/>
                    <a:pt x="102" y="0"/>
                  </a:cubicBezTo>
                  <a:cubicBezTo>
                    <a:pt x="106" y="0"/>
                    <a:pt x="108" y="2"/>
                    <a:pt x="108" y="6"/>
                  </a:cubicBezTo>
                  <a:cubicBezTo>
                    <a:pt x="108" y="23"/>
                    <a:pt x="108" y="23"/>
                    <a:pt x="108" y="23"/>
                  </a:cubicBezTo>
                  <a:cubicBezTo>
                    <a:pt x="115" y="26"/>
                    <a:pt x="121" y="29"/>
                    <a:pt x="125" y="32"/>
                  </a:cubicBezTo>
                  <a:cubicBezTo>
                    <a:pt x="138" y="24"/>
                    <a:pt x="138" y="24"/>
                    <a:pt x="138" y="24"/>
                  </a:cubicBezTo>
                  <a:cubicBezTo>
                    <a:pt x="140" y="23"/>
                    <a:pt x="142" y="23"/>
                    <a:pt x="143" y="23"/>
                  </a:cubicBezTo>
                  <a:cubicBezTo>
                    <a:pt x="145" y="24"/>
                    <a:pt x="146" y="25"/>
                    <a:pt x="147" y="26"/>
                  </a:cubicBezTo>
                  <a:cubicBezTo>
                    <a:pt x="165" y="57"/>
                    <a:pt x="165" y="57"/>
                    <a:pt x="165" y="57"/>
                  </a:cubicBezTo>
                  <a:cubicBezTo>
                    <a:pt x="166" y="59"/>
                    <a:pt x="166" y="60"/>
                    <a:pt x="165" y="62"/>
                  </a:cubicBezTo>
                  <a:cubicBezTo>
                    <a:pt x="165" y="63"/>
                    <a:pt x="164" y="65"/>
                    <a:pt x="163" y="65"/>
                  </a:cubicBezTo>
                  <a:cubicBezTo>
                    <a:pt x="148" y="74"/>
                    <a:pt x="148" y="74"/>
                    <a:pt x="148" y="74"/>
                  </a:cubicBezTo>
                  <a:cubicBezTo>
                    <a:pt x="149" y="80"/>
                    <a:pt x="149" y="87"/>
                    <a:pt x="148" y="94"/>
                  </a:cubicBezTo>
                  <a:cubicBezTo>
                    <a:pt x="163" y="102"/>
                    <a:pt x="163" y="102"/>
                    <a:pt x="163" y="102"/>
                  </a:cubicBezTo>
                  <a:cubicBezTo>
                    <a:pt x="164" y="103"/>
                    <a:pt x="165" y="104"/>
                    <a:pt x="165" y="106"/>
                  </a:cubicBezTo>
                  <a:cubicBezTo>
                    <a:pt x="166" y="107"/>
                    <a:pt x="166" y="109"/>
                    <a:pt x="165" y="110"/>
                  </a:cubicBezTo>
                  <a:cubicBezTo>
                    <a:pt x="147" y="141"/>
                    <a:pt x="147" y="141"/>
                    <a:pt x="147" y="141"/>
                  </a:cubicBezTo>
                  <a:cubicBezTo>
                    <a:pt x="146" y="143"/>
                    <a:pt x="145" y="144"/>
                    <a:pt x="143" y="144"/>
                  </a:cubicBezTo>
                  <a:cubicBezTo>
                    <a:pt x="142" y="144"/>
                    <a:pt x="140" y="144"/>
                    <a:pt x="138" y="143"/>
                  </a:cubicBezTo>
                  <a:cubicBezTo>
                    <a:pt x="125" y="135"/>
                    <a:pt x="125" y="135"/>
                    <a:pt x="125" y="135"/>
                  </a:cubicBezTo>
                  <a:cubicBezTo>
                    <a:pt x="121" y="138"/>
                    <a:pt x="115" y="142"/>
                    <a:pt x="108" y="145"/>
                  </a:cubicBezTo>
                  <a:cubicBezTo>
                    <a:pt x="108" y="162"/>
                    <a:pt x="108" y="162"/>
                    <a:pt x="108" y="162"/>
                  </a:cubicBezTo>
                  <a:cubicBezTo>
                    <a:pt x="108" y="165"/>
                    <a:pt x="106" y="168"/>
                    <a:pt x="102" y="168"/>
                  </a:cubicBezTo>
                  <a:close/>
                  <a:moveTo>
                    <a:pt x="72" y="156"/>
                  </a:moveTo>
                  <a:cubicBezTo>
                    <a:pt x="96" y="156"/>
                    <a:pt x="96" y="156"/>
                    <a:pt x="96" y="156"/>
                  </a:cubicBezTo>
                  <a:cubicBezTo>
                    <a:pt x="96" y="141"/>
                    <a:pt x="96" y="141"/>
                    <a:pt x="96" y="141"/>
                  </a:cubicBezTo>
                  <a:cubicBezTo>
                    <a:pt x="96" y="139"/>
                    <a:pt x="98" y="136"/>
                    <a:pt x="100" y="135"/>
                  </a:cubicBezTo>
                  <a:cubicBezTo>
                    <a:pt x="109" y="131"/>
                    <a:pt x="116" y="127"/>
                    <a:pt x="120" y="123"/>
                  </a:cubicBezTo>
                  <a:cubicBezTo>
                    <a:pt x="122" y="122"/>
                    <a:pt x="125" y="121"/>
                    <a:pt x="127" y="123"/>
                  </a:cubicBezTo>
                  <a:cubicBezTo>
                    <a:pt x="139" y="130"/>
                    <a:pt x="139" y="130"/>
                    <a:pt x="139" y="130"/>
                  </a:cubicBezTo>
                  <a:cubicBezTo>
                    <a:pt x="151" y="109"/>
                    <a:pt x="151" y="109"/>
                    <a:pt x="151" y="109"/>
                  </a:cubicBezTo>
                  <a:cubicBezTo>
                    <a:pt x="139" y="102"/>
                    <a:pt x="139" y="102"/>
                    <a:pt x="139" y="102"/>
                  </a:cubicBezTo>
                  <a:cubicBezTo>
                    <a:pt x="136" y="101"/>
                    <a:pt x="135" y="98"/>
                    <a:pt x="136" y="95"/>
                  </a:cubicBezTo>
                  <a:cubicBezTo>
                    <a:pt x="137" y="87"/>
                    <a:pt x="137" y="80"/>
                    <a:pt x="136" y="72"/>
                  </a:cubicBezTo>
                  <a:cubicBezTo>
                    <a:pt x="135" y="69"/>
                    <a:pt x="136" y="67"/>
                    <a:pt x="139" y="65"/>
                  </a:cubicBezTo>
                  <a:cubicBezTo>
                    <a:pt x="151" y="58"/>
                    <a:pt x="151" y="58"/>
                    <a:pt x="151" y="58"/>
                  </a:cubicBezTo>
                  <a:cubicBezTo>
                    <a:pt x="139" y="37"/>
                    <a:pt x="139" y="37"/>
                    <a:pt x="139" y="37"/>
                  </a:cubicBezTo>
                  <a:cubicBezTo>
                    <a:pt x="127" y="45"/>
                    <a:pt x="127" y="45"/>
                    <a:pt x="127" y="45"/>
                  </a:cubicBezTo>
                  <a:cubicBezTo>
                    <a:pt x="125" y="46"/>
                    <a:pt x="122" y="46"/>
                    <a:pt x="120" y="44"/>
                  </a:cubicBezTo>
                  <a:cubicBezTo>
                    <a:pt x="116" y="40"/>
                    <a:pt x="109" y="36"/>
                    <a:pt x="100" y="32"/>
                  </a:cubicBezTo>
                  <a:cubicBezTo>
                    <a:pt x="98" y="31"/>
                    <a:pt x="96" y="29"/>
                    <a:pt x="96" y="26"/>
                  </a:cubicBezTo>
                  <a:cubicBezTo>
                    <a:pt x="96" y="12"/>
                    <a:pt x="96" y="12"/>
                    <a:pt x="96" y="12"/>
                  </a:cubicBezTo>
                  <a:cubicBezTo>
                    <a:pt x="72" y="12"/>
                    <a:pt x="72" y="12"/>
                    <a:pt x="72" y="12"/>
                  </a:cubicBezTo>
                  <a:cubicBezTo>
                    <a:pt x="72" y="26"/>
                    <a:pt x="72" y="26"/>
                    <a:pt x="72" y="26"/>
                  </a:cubicBezTo>
                  <a:cubicBezTo>
                    <a:pt x="72" y="29"/>
                    <a:pt x="71" y="32"/>
                    <a:pt x="68" y="32"/>
                  </a:cubicBezTo>
                  <a:cubicBezTo>
                    <a:pt x="58" y="35"/>
                    <a:pt x="54" y="38"/>
                    <a:pt x="48" y="44"/>
                  </a:cubicBezTo>
                  <a:cubicBezTo>
                    <a:pt x="46" y="45"/>
                    <a:pt x="43" y="46"/>
                    <a:pt x="40" y="45"/>
                  </a:cubicBezTo>
                  <a:cubicBezTo>
                    <a:pt x="27" y="37"/>
                    <a:pt x="27" y="37"/>
                    <a:pt x="27" y="37"/>
                  </a:cubicBezTo>
                  <a:cubicBezTo>
                    <a:pt x="15" y="58"/>
                    <a:pt x="15" y="58"/>
                    <a:pt x="15" y="58"/>
                  </a:cubicBezTo>
                  <a:cubicBezTo>
                    <a:pt x="28" y="65"/>
                    <a:pt x="28" y="65"/>
                    <a:pt x="28" y="65"/>
                  </a:cubicBezTo>
                  <a:cubicBezTo>
                    <a:pt x="30" y="67"/>
                    <a:pt x="31" y="69"/>
                    <a:pt x="30" y="72"/>
                  </a:cubicBezTo>
                  <a:cubicBezTo>
                    <a:pt x="29" y="80"/>
                    <a:pt x="29" y="88"/>
                    <a:pt x="30" y="95"/>
                  </a:cubicBezTo>
                  <a:cubicBezTo>
                    <a:pt x="31" y="98"/>
                    <a:pt x="30" y="101"/>
                    <a:pt x="28" y="102"/>
                  </a:cubicBezTo>
                  <a:cubicBezTo>
                    <a:pt x="15" y="109"/>
                    <a:pt x="15" y="109"/>
                    <a:pt x="15" y="109"/>
                  </a:cubicBezTo>
                  <a:cubicBezTo>
                    <a:pt x="27" y="130"/>
                    <a:pt x="27" y="130"/>
                    <a:pt x="27" y="130"/>
                  </a:cubicBezTo>
                  <a:cubicBezTo>
                    <a:pt x="40" y="123"/>
                    <a:pt x="40" y="123"/>
                    <a:pt x="40" y="123"/>
                  </a:cubicBezTo>
                  <a:cubicBezTo>
                    <a:pt x="43" y="121"/>
                    <a:pt x="45" y="122"/>
                    <a:pt x="47" y="123"/>
                  </a:cubicBezTo>
                  <a:cubicBezTo>
                    <a:pt x="54" y="129"/>
                    <a:pt x="57" y="133"/>
                    <a:pt x="68" y="135"/>
                  </a:cubicBezTo>
                  <a:cubicBezTo>
                    <a:pt x="71" y="136"/>
                    <a:pt x="72" y="138"/>
                    <a:pt x="72" y="141"/>
                  </a:cubicBezTo>
                  <a:lnTo>
                    <a:pt x="7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1" name="Freeform 42">
              <a:extLst>
                <a:ext uri="{FF2B5EF4-FFF2-40B4-BE49-F238E27FC236}">
                  <a16:creationId xmlns:a16="http://schemas.microsoft.com/office/drawing/2014/main" id="{DF3E26B0-4302-61E8-D918-596B082DDD74}"/>
                </a:ext>
              </a:extLst>
            </p:cNvPr>
            <p:cNvSpPr>
              <a:spLocks noEditPoints="1"/>
            </p:cNvSpPr>
            <p:nvPr/>
          </p:nvSpPr>
          <p:spPr bwMode="auto">
            <a:xfrm>
              <a:off x="4561" y="696"/>
              <a:ext cx="88" cy="89"/>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sp>
        <p:nvSpPr>
          <p:cNvPr id="3072" name="Freeform 151">
            <a:extLst>
              <a:ext uri="{FF2B5EF4-FFF2-40B4-BE49-F238E27FC236}">
                <a16:creationId xmlns:a16="http://schemas.microsoft.com/office/drawing/2014/main" id="{0286D4A7-D5F7-10D4-108B-47C933049DBA}"/>
              </a:ext>
            </a:extLst>
          </p:cNvPr>
          <p:cNvSpPr>
            <a:spLocks noEditPoints="1"/>
          </p:cNvSpPr>
          <p:nvPr/>
        </p:nvSpPr>
        <p:spPr bwMode="auto">
          <a:xfrm>
            <a:off x="466726" y="3859574"/>
            <a:ext cx="252400" cy="241659"/>
          </a:xfrm>
          <a:custGeom>
            <a:avLst/>
            <a:gdLst>
              <a:gd name="T0" fmla="*/ 151 w 191"/>
              <a:gd name="T1" fmla="*/ 181 h 182"/>
              <a:gd name="T2" fmla="*/ 148 w 191"/>
              <a:gd name="T3" fmla="*/ 181 h 182"/>
              <a:gd name="T4" fmla="*/ 95 w 191"/>
              <a:gd name="T5" fmla="*/ 153 h 182"/>
              <a:gd name="T6" fmla="*/ 43 w 191"/>
              <a:gd name="T7" fmla="*/ 181 h 182"/>
              <a:gd name="T8" fmla="*/ 37 w 191"/>
              <a:gd name="T9" fmla="*/ 180 h 182"/>
              <a:gd name="T10" fmla="*/ 34 w 191"/>
              <a:gd name="T11" fmla="*/ 174 h 182"/>
              <a:gd name="T12" fmla="*/ 44 w 191"/>
              <a:gd name="T13" fmla="*/ 116 h 182"/>
              <a:gd name="T14" fmla="*/ 2 w 191"/>
              <a:gd name="T15" fmla="*/ 75 h 182"/>
              <a:gd name="T16" fmla="*/ 0 w 191"/>
              <a:gd name="T17" fmla="*/ 69 h 182"/>
              <a:gd name="T18" fmla="*/ 5 w 191"/>
              <a:gd name="T19" fmla="*/ 65 h 182"/>
              <a:gd name="T20" fmla="*/ 64 w 191"/>
              <a:gd name="T21" fmla="*/ 56 h 182"/>
              <a:gd name="T22" fmla="*/ 90 w 191"/>
              <a:gd name="T23" fmla="*/ 3 h 182"/>
              <a:gd name="T24" fmla="*/ 95 w 191"/>
              <a:gd name="T25" fmla="*/ 0 h 182"/>
              <a:gd name="T26" fmla="*/ 95 w 191"/>
              <a:gd name="T27" fmla="*/ 0 h 182"/>
              <a:gd name="T28" fmla="*/ 101 w 191"/>
              <a:gd name="T29" fmla="*/ 3 h 182"/>
              <a:gd name="T30" fmla="*/ 127 w 191"/>
              <a:gd name="T31" fmla="*/ 56 h 182"/>
              <a:gd name="T32" fmla="*/ 186 w 191"/>
              <a:gd name="T33" fmla="*/ 65 h 182"/>
              <a:gd name="T34" fmla="*/ 191 w 191"/>
              <a:gd name="T35" fmla="*/ 69 h 182"/>
              <a:gd name="T36" fmla="*/ 189 w 191"/>
              <a:gd name="T37" fmla="*/ 75 h 182"/>
              <a:gd name="T38" fmla="*/ 147 w 191"/>
              <a:gd name="T39" fmla="*/ 116 h 182"/>
              <a:gd name="T40" fmla="*/ 157 w 191"/>
              <a:gd name="T41" fmla="*/ 174 h 182"/>
              <a:gd name="T42" fmla="*/ 154 w 191"/>
              <a:gd name="T43" fmla="*/ 180 h 182"/>
              <a:gd name="T44" fmla="*/ 151 w 191"/>
              <a:gd name="T45" fmla="*/ 181 h 182"/>
              <a:gd name="T46" fmla="*/ 95 w 191"/>
              <a:gd name="T47" fmla="*/ 140 h 182"/>
              <a:gd name="T48" fmla="*/ 98 w 191"/>
              <a:gd name="T49" fmla="*/ 141 h 182"/>
              <a:gd name="T50" fmla="*/ 143 w 191"/>
              <a:gd name="T51" fmla="*/ 164 h 182"/>
              <a:gd name="T52" fmla="*/ 134 w 191"/>
              <a:gd name="T53" fmla="*/ 115 h 182"/>
              <a:gd name="T54" fmla="*/ 136 w 191"/>
              <a:gd name="T55" fmla="*/ 110 h 182"/>
              <a:gd name="T56" fmla="*/ 172 w 191"/>
              <a:gd name="T57" fmla="*/ 75 h 182"/>
              <a:gd name="T58" fmla="*/ 122 w 191"/>
              <a:gd name="T59" fmla="*/ 68 h 182"/>
              <a:gd name="T60" fmla="*/ 118 w 191"/>
              <a:gd name="T61" fmla="*/ 64 h 182"/>
              <a:gd name="T62" fmla="*/ 95 w 191"/>
              <a:gd name="T63" fmla="*/ 20 h 182"/>
              <a:gd name="T64" fmla="*/ 73 w 191"/>
              <a:gd name="T65" fmla="*/ 64 h 182"/>
              <a:gd name="T66" fmla="*/ 69 w 191"/>
              <a:gd name="T67" fmla="*/ 68 h 182"/>
              <a:gd name="T68" fmla="*/ 19 w 191"/>
              <a:gd name="T69" fmla="*/ 75 h 182"/>
              <a:gd name="T70" fmla="*/ 55 w 191"/>
              <a:gd name="T71" fmla="*/ 110 h 182"/>
              <a:gd name="T72" fmla="*/ 57 w 191"/>
              <a:gd name="T73" fmla="*/ 115 h 182"/>
              <a:gd name="T74" fmla="*/ 48 w 191"/>
              <a:gd name="T75" fmla="*/ 164 h 182"/>
              <a:gd name="T76" fmla="*/ 93 w 191"/>
              <a:gd name="T77" fmla="*/ 141 h 182"/>
              <a:gd name="T78" fmla="*/ 95 w 191"/>
              <a:gd name="T79" fmla="*/ 14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1" h="182">
                <a:moveTo>
                  <a:pt x="151" y="181"/>
                </a:moveTo>
                <a:cubicBezTo>
                  <a:pt x="150" y="181"/>
                  <a:pt x="149" y="181"/>
                  <a:pt x="148" y="181"/>
                </a:cubicBezTo>
                <a:cubicBezTo>
                  <a:pt x="95" y="153"/>
                  <a:pt x="95" y="153"/>
                  <a:pt x="95" y="153"/>
                </a:cubicBezTo>
                <a:cubicBezTo>
                  <a:pt x="43" y="181"/>
                  <a:pt x="43" y="181"/>
                  <a:pt x="43" y="181"/>
                </a:cubicBezTo>
                <a:cubicBezTo>
                  <a:pt x="41" y="182"/>
                  <a:pt x="38" y="181"/>
                  <a:pt x="37" y="180"/>
                </a:cubicBezTo>
                <a:cubicBezTo>
                  <a:pt x="35" y="179"/>
                  <a:pt x="34" y="176"/>
                  <a:pt x="34" y="174"/>
                </a:cubicBezTo>
                <a:cubicBezTo>
                  <a:pt x="44" y="116"/>
                  <a:pt x="44" y="116"/>
                  <a:pt x="44" y="116"/>
                </a:cubicBezTo>
                <a:cubicBezTo>
                  <a:pt x="2" y="75"/>
                  <a:pt x="2" y="75"/>
                  <a:pt x="2" y="75"/>
                </a:cubicBezTo>
                <a:cubicBezTo>
                  <a:pt x="0" y="73"/>
                  <a:pt x="0" y="71"/>
                  <a:pt x="0" y="69"/>
                </a:cubicBezTo>
                <a:cubicBezTo>
                  <a:pt x="1" y="67"/>
                  <a:pt x="3" y="65"/>
                  <a:pt x="5" y="65"/>
                </a:cubicBezTo>
                <a:cubicBezTo>
                  <a:pt x="64" y="56"/>
                  <a:pt x="64" y="56"/>
                  <a:pt x="64" y="56"/>
                </a:cubicBezTo>
                <a:cubicBezTo>
                  <a:pt x="90" y="3"/>
                  <a:pt x="90" y="3"/>
                  <a:pt x="90" y="3"/>
                </a:cubicBezTo>
                <a:cubicBezTo>
                  <a:pt x="91" y="1"/>
                  <a:pt x="93" y="0"/>
                  <a:pt x="95" y="0"/>
                </a:cubicBezTo>
                <a:cubicBezTo>
                  <a:pt x="95" y="0"/>
                  <a:pt x="95" y="0"/>
                  <a:pt x="95" y="0"/>
                </a:cubicBezTo>
                <a:cubicBezTo>
                  <a:pt x="98" y="0"/>
                  <a:pt x="100" y="1"/>
                  <a:pt x="101" y="3"/>
                </a:cubicBezTo>
                <a:cubicBezTo>
                  <a:pt x="127" y="56"/>
                  <a:pt x="127" y="56"/>
                  <a:pt x="127" y="56"/>
                </a:cubicBezTo>
                <a:cubicBezTo>
                  <a:pt x="186" y="65"/>
                  <a:pt x="186" y="65"/>
                  <a:pt x="186" y="65"/>
                </a:cubicBezTo>
                <a:cubicBezTo>
                  <a:pt x="188" y="65"/>
                  <a:pt x="190" y="67"/>
                  <a:pt x="191" y="69"/>
                </a:cubicBezTo>
                <a:cubicBezTo>
                  <a:pt x="191" y="71"/>
                  <a:pt x="191" y="73"/>
                  <a:pt x="189" y="75"/>
                </a:cubicBezTo>
                <a:cubicBezTo>
                  <a:pt x="147" y="116"/>
                  <a:pt x="147" y="116"/>
                  <a:pt x="147" y="116"/>
                </a:cubicBezTo>
                <a:cubicBezTo>
                  <a:pt x="157" y="174"/>
                  <a:pt x="157" y="174"/>
                  <a:pt x="157" y="174"/>
                </a:cubicBezTo>
                <a:cubicBezTo>
                  <a:pt x="157" y="176"/>
                  <a:pt x="156" y="179"/>
                  <a:pt x="154" y="180"/>
                </a:cubicBezTo>
                <a:cubicBezTo>
                  <a:pt x="153" y="181"/>
                  <a:pt x="152" y="181"/>
                  <a:pt x="151" y="181"/>
                </a:cubicBezTo>
                <a:close/>
                <a:moveTo>
                  <a:pt x="95" y="140"/>
                </a:moveTo>
                <a:cubicBezTo>
                  <a:pt x="96" y="140"/>
                  <a:pt x="97" y="141"/>
                  <a:pt x="98" y="141"/>
                </a:cubicBezTo>
                <a:cubicBezTo>
                  <a:pt x="143" y="164"/>
                  <a:pt x="143" y="164"/>
                  <a:pt x="143" y="164"/>
                </a:cubicBezTo>
                <a:cubicBezTo>
                  <a:pt x="134" y="115"/>
                  <a:pt x="134" y="115"/>
                  <a:pt x="134" y="115"/>
                </a:cubicBezTo>
                <a:cubicBezTo>
                  <a:pt x="134" y="113"/>
                  <a:pt x="135" y="111"/>
                  <a:pt x="136" y="110"/>
                </a:cubicBezTo>
                <a:cubicBezTo>
                  <a:pt x="172" y="75"/>
                  <a:pt x="172" y="75"/>
                  <a:pt x="172" y="75"/>
                </a:cubicBezTo>
                <a:cubicBezTo>
                  <a:pt x="122" y="68"/>
                  <a:pt x="122" y="68"/>
                  <a:pt x="122" y="68"/>
                </a:cubicBezTo>
                <a:cubicBezTo>
                  <a:pt x="120" y="67"/>
                  <a:pt x="119" y="66"/>
                  <a:pt x="118" y="64"/>
                </a:cubicBezTo>
                <a:cubicBezTo>
                  <a:pt x="95" y="20"/>
                  <a:pt x="95" y="20"/>
                  <a:pt x="95" y="20"/>
                </a:cubicBezTo>
                <a:cubicBezTo>
                  <a:pt x="73" y="64"/>
                  <a:pt x="73" y="64"/>
                  <a:pt x="73" y="64"/>
                </a:cubicBezTo>
                <a:cubicBezTo>
                  <a:pt x="72" y="66"/>
                  <a:pt x="71" y="67"/>
                  <a:pt x="69" y="68"/>
                </a:cubicBezTo>
                <a:cubicBezTo>
                  <a:pt x="19" y="75"/>
                  <a:pt x="19" y="75"/>
                  <a:pt x="19" y="75"/>
                </a:cubicBezTo>
                <a:cubicBezTo>
                  <a:pt x="55" y="110"/>
                  <a:pt x="55" y="110"/>
                  <a:pt x="55" y="110"/>
                </a:cubicBezTo>
                <a:cubicBezTo>
                  <a:pt x="56" y="111"/>
                  <a:pt x="57" y="113"/>
                  <a:pt x="57" y="115"/>
                </a:cubicBezTo>
                <a:cubicBezTo>
                  <a:pt x="48" y="164"/>
                  <a:pt x="48" y="164"/>
                  <a:pt x="48" y="164"/>
                </a:cubicBezTo>
                <a:cubicBezTo>
                  <a:pt x="93" y="141"/>
                  <a:pt x="93" y="141"/>
                  <a:pt x="93" y="141"/>
                </a:cubicBezTo>
                <a:cubicBezTo>
                  <a:pt x="94" y="141"/>
                  <a:pt x="94" y="140"/>
                  <a:pt x="95" y="140"/>
                </a:cubicBezTo>
                <a:close/>
              </a:path>
            </a:pathLst>
          </a:custGeom>
          <a:solidFill>
            <a:schemeClr val="tx2"/>
          </a:solidFill>
          <a:ln>
            <a:noFill/>
          </a:ln>
        </p:spPr>
        <p:txBody>
          <a:bodyPr vert="horz" wrap="square" lIns="91419" tIns="45709" rIns="91419" bIns="45709" numCol="1" anchor="t" anchorCtr="0" compatLnSpc="1">
            <a:prstTxWarp prst="textNoShape">
              <a:avLst/>
            </a:prstTxWarp>
          </a:bodyPr>
          <a:lstStyle/>
          <a:p>
            <a:endParaRPr lang="en-US" dirty="0"/>
          </a:p>
        </p:txBody>
      </p:sp>
      <p:grpSp>
        <p:nvGrpSpPr>
          <p:cNvPr id="3073" name="Group 31">
            <a:extLst>
              <a:ext uri="{FF2B5EF4-FFF2-40B4-BE49-F238E27FC236}">
                <a16:creationId xmlns:a16="http://schemas.microsoft.com/office/drawing/2014/main" id="{EAD173AA-1426-CFFC-082A-5CAAF059D18E}"/>
              </a:ext>
            </a:extLst>
          </p:cNvPr>
          <p:cNvGrpSpPr>
            <a:grpSpLocks noChangeAspect="1"/>
          </p:cNvGrpSpPr>
          <p:nvPr/>
        </p:nvGrpSpPr>
        <p:grpSpPr bwMode="auto">
          <a:xfrm>
            <a:off x="3306763" y="3817437"/>
            <a:ext cx="333513" cy="325933"/>
            <a:chOff x="3619" y="663"/>
            <a:chExt cx="440" cy="430"/>
          </a:xfrm>
          <a:solidFill>
            <a:schemeClr val="tx2"/>
          </a:solidFill>
        </p:grpSpPr>
        <p:sp>
          <p:nvSpPr>
            <p:cNvPr id="3075" name="Freeform 32">
              <a:extLst>
                <a:ext uri="{FF2B5EF4-FFF2-40B4-BE49-F238E27FC236}">
                  <a16:creationId xmlns:a16="http://schemas.microsoft.com/office/drawing/2014/main" id="{3316CA7A-1E74-9959-7C11-90AA2CEA5A6A}"/>
                </a:ext>
              </a:extLst>
            </p:cNvPr>
            <p:cNvSpPr>
              <a:spLocks noEditPoints="1"/>
            </p:cNvSpPr>
            <p:nvPr/>
          </p:nvSpPr>
          <p:spPr bwMode="auto">
            <a:xfrm>
              <a:off x="3646" y="806"/>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076" name="Freeform 33">
              <a:extLst>
                <a:ext uri="{FF2B5EF4-FFF2-40B4-BE49-F238E27FC236}">
                  <a16:creationId xmlns:a16="http://schemas.microsoft.com/office/drawing/2014/main" id="{454D6213-59CC-4B44-FF7F-3C13F6DABBA7}"/>
                </a:ext>
              </a:extLst>
            </p:cNvPr>
            <p:cNvSpPr>
              <a:spLocks noEditPoints="1"/>
            </p:cNvSpPr>
            <p:nvPr/>
          </p:nvSpPr>
          <p:spPr bwMode="auto">
            <a:xfrm>
              <a:off x="3619" y="914"/>
              <a:ext cx="147"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077" name="Freeform 34">
              <a:extLst>
                <a:ext uri="{FF2B5EF4-FFF2-40B4-BE49-F238E27FC236}">
                  <a16:creationId xmlns:a16="http://schemas.microsoft.com/office/drawing/2014/main" id="{E175F633-064E-768C-C40C-5DFE8587C918}"/>
                </a:ext>
              </a:extLst>
            </p:cNvPr>
            <p:cNvSpPr>
              <a:spLocks noEditPoints="1"/>
            </p:cNvSpPr>
            <p:nvPr/>
          </p:nvSpPr>
          <p:spPr bwMode="auto">
            <a:xfrm>
              <a:off x="3940" y="806"/>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078" name="Freeform 35">
              <a:extLst>
                <a:ext uri="{FF2B5EF4-FFF2-40B4-BE49-F238E27FC236}">
                  <a16:creationId xmlns:a16="http://schemas.microsoft.com/office/drawing/2014/main" id="{9D4CF02C-742D-8389-8B29-9C11EBBA97A9}"/>
                </a:ext>
              </a:extLst>
            </p:cNvPr>
            <p:cNvSpPr>
              <a:spLocks noEditPoints="1"/>
            </p:cNvSpPr>
            <p:nvPr/>
          </p:nvSpPr>
          <p:spPr bwMode="auto">
            <a:xfrm>
              <a:off x="3912" y="914"/>
              <a:ext cx="147"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079" name="Freeform 36">
              <a:extLst>
                <a:ext uri="{FF2B5EF4-FFF2-40B4-BE49-F238E27FC236}">
                  <a16:creationId xmlns:a16="http://schemas.microsoft.com/office/drawing/2014/main" id="{00948C13-EB14-2213-B548-F79A2B240A15}"/>
                </a:ext>
              </a:extLst>
            </p:cNvPr>
            <p:cNvSpPr>
              <a:spLocks noEditPoints="1"/>
            </p:cNvSpPr>
            <p:nvPr/>
          </p:nvSpPr>
          <p:spPr bwMode="auto">
            <a:xfrm>
              <a:off x="3793" y="663"/>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080" name="Freeform 37">
              <a:extLst>
                <a:ext uri="{FF2B5EF4-FFF2-40B4-BE49-F238E27FC236}">
                  <a16:creationId xmlns:a16="http://schemas.microsoft.com/office/drawing/2014/main" id="{0A534123-437A-0958-F390-CF7970466C51}"/>
                </a:ext>
              </a:extLst>
            </p:cNvPr>
            <p:cNvSpPr>
              <a:spLocks noEditPoints="1"/>
            </p:cNvSpPr>
            <p:nvPr/>
          </p:nvSpPr>
          <p:spPr bwMode="auto">
            <a:xfrm>
              <a:off x="3766" y="771"/>
              <a:ext cx="146"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3081" name="Group 128">
            <a:extLst>
              <a:ext uri="{FF2B5EF4-FFF2-40B4-BE49-F238E27FC236}">
                <a16:creationId xmlns:a16="http://schemas.microsoft.com/office/drawing/2014/main" id="{5493BFD2-E43E-A559-C3F3-CD76DF633352}"/>
              </a:ext>
            </a:extLst>
          </p:cNvPr>
          <p:cNvGrpSpPr>
            <a:grpSpLocks noChangeAspect="1"/>
          </p:cNvGrpSpPr>
          <p:nvPr/>
        </p:nvGrpSpPr>
        <p:grpSpPr bwMode="auto">
          <a:xfrm>
            <a:off x="6184639" y="3826754"/>
            <a:ext cx="268437" cy="307298"/>
            <a:chOff x="1398" y="2998"/>
            <a:chExt cx="373" cy="427"/>
          </a:xfrm>
          <a:solidFill>
            <a:schemeClr val="tx2"/>
          </a:solidFill>
        </p:grpSpPr>
        <p:sp>
          <p:nvSpPr>
            <p:cNvPr id="3082" name="Freeform 129">
              <a:extLst>
                <a:ext uri="{FF2B5EF4-FFF2-40B4-BE49-F238E27FC236}">
                  <a16:creationId xmlns:a16="http://schemas.microsoft.com/office/drawing/2014/main" id="{693F7DFC-C360-2800-D504-7517316D4B3E}"/>
                </a:ext>
              </a:extLst>
            </p:cNvPr>
            <p:cNvSpPr>
              <a:spLocks noEditPoints="1"/>
            </p:cNvSpPr>
            <p:nvPr/>
          </p:nvSpPr>
          <p:spPr bwMode="auto">
            <a:xfrm>
              <a:off x="1451" y="3052"/>
              <a:ext cx="266" cy="266"/>
            </a:xfrm>
            <a:custGeom>
              <a:avLst/>
              <a:gdLst>
                <a:gd name="T0" fmla="*/ 90 w 180"/>
                <a:gd name="T1" fmla="*/ 180 h 180"/>
                <a:gd name="T2" fmla="*/ 0 w 180"/>
                <a:gd name="T3" fmla="*/ 90 h 180"/>
                <a:gd name="T4" fmla="*/ 90 w 180"/>
                <a:gd name="T5" fmla="*/ 0 h 180"/>
                <a:gd name="T6" fmla="*/ 180 w 180"/>
                <a:gd name="T7" fmla="*/ 90 h 180"/>
                <a:gd name="T8" fmla="*/ 90 w 180"/>
                <a:gd name="T9" fmla="*/ 180 h 180"/>
                <a:gd name="T10" fmla="*/ 90 w 180"/>
                <a:gd name="T11" fmla="*/ 12 h 180"/>
                <a:gd name="T12" fmla="*/ 12 w 180"/>
                <a:gd name="T13" fmla="*/ 90 h 180"/>
                <a:gd name="T14" fmla="*/ 90 w 180"/>
                <a:gd name="T15" fmla="*/ 168 h 180"/>
                <a:gd name="T16" fmla="*/ 168 w 180"/>
                <a:gd name="T17" fmla="*/ 90 h 180"/>
                <a:gd name="T18" fmla="*/ 90 w 180"/>
                <a:gd name="T19" fmla="*/ 1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0" h="180">
                  <a:moveTo>
                    <a:pt x="90" y="180"/>
                  </a:moveTo>
                  <a:cubicBezTo>
                    <a:pt x="40" y="180"/>
                    <a:pt x="0" y="139"/>
                    <a:pt x="0" y="90"/>
                  </a:cubicBezTo>
                  <a:cubicBezTo>
                    <a:pt x="0" y="40"/>
                    <a:pt x="40" y="0"/>
                    <a:pt x="90" y="0"/>
                  </a:cubicBezTo>
                  <a:cubicBezTo>
                    <a:pt x="139" y="0"/>
                    <a:pt x="180" y="40"/>
                    <a:pt x="180" y="90"/>
                  </a:cubicBezTo>
                  <a:cubicBezTo>
                    <a:pt x="180" y="139"/>
                    <a:pt x="139" y="180"/>
                    <a:pt x="90" y="180"/>
                  </a:cubicBezTo>
                  <a:close/>
                  <a:moveTo>
                    <a:pt x="90" y="12"/>
                  </a:moveTo>
                  <a:cubicBezTo>
                    <a:pt x="47" y="12"/>
                    <a:pt x="12" y="47"/>
                    <a:pt x="12" y="90"/>
                  </a:cubicBezTo>
                  <a:cubicBezTo>
                    <a:pt x="12" y="133"/>
                    <a:pt x="47" y="168"/>
                    <a:pt x="90" y="168"/>
                  </a:cubicBezTo>
                  <a:cubicBezTo>
                    <a:pt x="133" y="168"/>
                    <a:pt x="168" y="133"/>
                    <a:pt x="168" y="90"/>
                  </a:cubicBezTo>
                  <a:cubicBezTo>
                    <a:pt x="168" y="47"/>
                    <a:pt x="13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3083" name="Freeform 130">
              <a:extLst>
                <a:ext uri="{FF2B5EF4-FFF2-40B4-BE49-F238E27FC236}">
                  <a16:creationId xmlns:a16="http://schemas.microsoft.com/office/drawing/2014/main" id="{F746F52C-6D8A-7B21-7005-994B3937915D}"/>
                </a:ext>
              </a:extLst>
            </p:cNvPr>
            <p:cNvSpPr>
              <a:spLocks/>
            </p:cNvSpPr>
            <p:nvPr/>
          </p:nvSpPr>
          <p:spPr bwMode="auto">
            <a:xfrm>
              <a:off x="1522" y="3300"/>
              <a:ext cx="124" cy="54"/>
            </a:xfrm>
            <a:custGeom>
              <a:avLst/>
              <a:gdLst>
                <a:gd name="T0" fmla="*/ 78 w 84"/>
                <a:gd name="T1" fmla="*/ 36 h 36"/>
                <a:gd name="T2" fmla="*/ 6 w 84"/>
                <a:gd name="T3" fmla="*/ 36 h 36"/>
                <a:gd name="T4" fmla="*/ 0 w 84"/>
                <a:gd name="T5" fmla="*/ 30 h 36"/>
                <a:gd name="T6" fmla="*/ 0 w 84"/>
                <a:gd name="T7" fmla="*/ 0 h 36"/>
                <a:gd name="T8" fmla="*/ 12 w 84"/>
                <a:gd name="T9" fmla="*/ 0 h 36"/>
                <a:gd name="T10" fmla="*/ 12 w 84"/>
                <a:gd name="T11" fmla="*/ 24 h 36"/>
                <a:gd name="T12" fmla="*/ 72 w 84"/>
                <a:gd name="T13" fmla="*/ 24 h 36"/>
                <a:gd name="T14" fmla="*/ 72 w 84"/>
                <a:gd name="T15" fmla="*/ 0 h 36"/>
                <a:gd name="T16" fmla="*/ 84 w 84"/>
                <a:gd name="T17" fmla="*/ 0 h 36"/>
                <a:gd name="T18" fmla="*/ 84 w 84"/>
                <a:gd name="T19" fmla="*/ 30 h 36"/>
                <a:gd name="T20" fmla="*/ 78 w 84"/>
                <a:gd name="T21"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 h="36">
                  <a:moveTo>
                    <a:pt x="78" y="36"/>
                  </a:moveTo>
                  <a:cubicBezTo>
                    <a:pt x="6" y="36"/>
                    <a:pt x="6" y="36"/>
                    <a:pt x="6" y="36"/>
                  </a:cubicBezTo>
                  <a:cubicBezTo>
                    <a:pt x="2" y="36"/>
                    <a:pt x="0" y="33"/>
                    <a:pt x="0" y="30"/>
                  </a:cubicBezTo>
                  <a:cubicBezTo>
                    <a:pt x="0" y="0"/>
                    <a:pt x="0" y="0"/>
                    <a:pt x="0" y="0"/>
                  </a:cubicBezTo>
                  <a:cubicBezTo>
                    <a:pt x="12" y="0"/>
                    <a:pt x="12" y="0"/>
                    <a:pt x="12" y="0"/>
                  </a:cubicBezTo>
                  <a:cubicBezTo>
                    <a:pt x="12" y="24"/>
                    <a:pt x="12" y="24"/>
                    <a:pt x="12" y="24"/>
                  </a:cubicBezTo>
                  <a:cubicBezTo>
                    <a:pt x="72" y="24"/>
                    <a:pt x="72" y="24"/>
                    <a:pt x="72" y="24"/>
                  </a:cubicBezTo>
                  <a:cubicBezTo>
                    <a:pt x="72" y="0"/>
                    <a:pt x="72" y="0"/>
                    <a:pt x="72" y="0"/>
                  </a:cubicBezTo>
                  <a:cubicBezTo>
                    <a:pt x="84" y="0"/>
                    <a:pt x="84" y="0"/>
                    <a:pt x="84" y="0"/>
                  </a:cubicBezTo>
                  <a:cubicBezTo>
                    <a:pt x="84" y="30"/>
                    <a:pt x="84" y="30"/>
                    <a:pt x="84" y="30"/>
                  </a:cubicBezTo>
                  <a:cubicBezTo>
                    <a:pt x="84" y="33"/>
                    <a:pt x="81" y="36"/>
                    <a:pt x="78"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3084" name="Freeform 131">
              <a:extLst>
                <a:ext uri="{FF2B5EF4-FFF2-40B4-BE49-F238E27FC236}">
                  <a16:creationId xmlns:a16="http://schemas.microsoft.com/office/drawing/2014/main" id="{74EB845A-C732-5AE5-256F-86656F6386E3}"/>
                </a:ext>
              </a:extLst>
            </p:cNvPr>
            <p:cNvSpPr>
              <a:spLocks noEditPoints="1"/>
            </p:cNvSpPr>
            <p:nvPr/>
          </p:nvSpPr>
          <p:spPr bwMode="auto">
            <a:xfrm>
              <a:off x="1540" y="3336"/>
              <a:ext cx="88" cy="53"/>
            </a:xfrm>
            <a:custGeom>
              <a:avLst/>
              <a:gdLst>
                <a:gd name="T0" fmla="*/ 54 w 60"/>
                <a:gd name="T1" fmla="*/ 36 h 36"/>
                <a:gd name="T2" fmla="*/ 6 w 60"/>
                <a:gd name="T3" fmla="*/ 36 h 36"/>
                <a:gd name="T4" fmla="*/ 0 w 60"/>
                <a:gd name="T5" fmla="*/ 30 h 36"/>
                <a:gd name="T6" fmla="*/ 0 w 60"/>
                <a:gd name="T7" fmla="*/ 6 h 36"/>
                <a:gd name="T8" fmla="*/ 6 w 60"/>
                <a:gd name="T9" fmla="*/ 0 h 36"/>
                <a:gd name="T10" fmla="*/ 54 w 60"/>
                <a:gd name="T11" fmla="*/ 0 h 36"/>
                <a:gd name="T12" fmla="*/ 60 w 60"/>
                <a:gd name="T13" fmla="*/ 6 h 36"/>
                <a:gd name="T14" fmla="*/ 60 w 60"/>
                <a:gd name="T15" fmla="*/ 30 h 36"/>
                <a:gd name="T16" fmla="*/ 54 w 60"/>
                <a:gd name="T17" fmla="*/ 36 h 36"/>
                <a:gd name="T18" fmla="*/ 12 w 60"/>
                <a:gd name="T19" fmla="*/ 24 h 36"/>
                <a:gd name="T20" fmla="*/ 48 w 60"/>
                <a:gd name="T21" fmla="*/ 24 h 36"/>
                <a:gd name="T22" fmla="*/ 48 w 60"/>
                <a:gd name="T23" fmla="*/ 12 h 36"/>
                <a:gd name="T24" fmla="*/ 12 w 60"/>
                <a:gd name="T25" fmla="*/ 12 h 36"/>
                <a:gd name="T26" fmla="*/ 12 w 60"/>
                <a:gd name="T27"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36">
                  <a:moveTo>
                    <a:pt x="54" y="36"/>
                  </a:moveTo>
                  <a:cubicBezTo>
                    <a:pt x="6" y="36"/>
                    <a:pt x="6" y="36"/>
                    <a:pt x="6" y="36"/>
                  </a:cubicBezTo>
                  <a:cubicBezTo>
                    <a:pt x="2" y="36"/>
                    <a:pt x="0" y="33"/>
                    <a:pt x="0" y="30"/>
                  </a:cubicBezTo>
                  <a:cubicBezTo>
                    <a:pt x="0" y="6"/>
                    <a:pt x="0" y="6"/>
                    <a:pt x="0" y="6"/>
                  </a:cubicBezTo>
                  <a:cubicBezTo>
                    <a:pt x="0" y="3"/>
                    <a:pt x="2" y="0"/>
                    <a:pt x="6" y="0"/>
                  </a:cubicBezTo>
                  <a:cubicBezTo>
                    <a:pt x="54" y="0"/>
                    <a:pt x="54" y="0"/>
                    <a:pt x="54" y="0"/>
                  </a:cubicBezTo>
                  <a:cubicBezTo>
                    <a:pt x="57" y="0"/>
                    <a:pt x="60" y="3"/>
                    <a:pt x="60" y="6"/>
                  </a:cubicBezTo>
                  <a:cubicBezTo>
                    <a:pt x="60" y="30"/>
                    <a:pt x="60" y="30"/>
                    <a:pt x="60" y="30"/>
                  </a:cubicBezTo>
                  <a:cubicBezTo>
                    <a:pt x="60" y="33"/>
                    <a:pt x="57" y="36"/>
                    <a:pt x="54" y="36"/>
                  </a:cubicBezTo>
                  <a:close/>
                  <a:moveTo>
                    <a:pt x="12" y="24"/>
                  </a:moveTo>
                  <a:cubicBezTo>
                    <a:pt x="48" y="24"/>
                    <a:pt x="48" y="24"/>
                    <a:pt x="48" y="24"/>
                  </a:cubicBezTo>
                  <a:cubicBezTo>
                    <a:pt x="48" y="12"/>
                    <a:pt x="48" y="12"/>
                    <a:pt x="48" y="12"/>
                  </a:cubicBezTo>
                  <a:cubicBezTo>
                    <a:pt x="12" y="12"/>
                    <a:pt x="12" y="12"/>
                    <a:pt x="12" y="12"/>
                  </a:cubicBez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3085" name="Freeform 132">
              <a:extLst>
                <a:ext uri="{FF2B5EF4-FFF2-40B4-BE49-F238E27FC236}">
                  <a16:creationId xmlns:a16="http://schemas.microsoft.com/office/drawing/2014/main" id="{DB0A6542-AEEA-2C2F-C7DC-7D0920697196}"/>
                </a:ext>
              </a:extLst>
            </p:cNvPr>
            <p:cNvSpPr>
              <a:spLocks/>
            </p:cNvSpPr>
            <p:nvPr/>
          </p:nvSpPr>
          <p:spPr bwMode="auto">
            <a:xfrm>
              <a:off x="1575" y="3371"/>
              <a:ext cx="18" cy="54"/>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2" y="36"/>
                    <a:pt x="0" y="33"/>
                    <a:pt x="0" y="30"/>
                  </a:cubicBezTo>
                  <a:cubicBezTo>
                    <a:pt x="0" y="6"/>
                    <a:pt x="0" y="6"/>
                    <a:pt x="0" y="6"/>
                  </a:cubicBezTo>
                  <a:cubicBezTo>
                    <a:pt x="0" y="3"/>
                    <a:pt x="2" y="0"/>
                    <a:pt x="6" y="0"/>
                  </a:cubicBezTo>
                  <a:cubicBezTo>
                    <a:pt x="9" y="0"/>
                    <a:pt x="12" y="3"/>
                    <a:pt x="12" y="6"/>
                  </a:cubicBezTo>
                  <a:cubicBezTo>
                    <a:pt x="12" y="30"/>
                    <a:pt x="12" y="30"/>
                    <a:pt x="12" y="30"/>
                  </a:cubicBezTo>
                  <a:cubicBezTo>
                    <a:pt x="12" y="33"/>
                    <a:pt x="9"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3086" name="Freeform 133">
              <a:extLst>
                <a:ext uri="{FF2B5EF4-FFF2-40B4-BE49-F238E27FC236}">
                  <a16:creationId xmlns:a16="http://schemas.microsoft.com/office/drawing/2014/main" id="{E283DBED-3C49-F124-C62E-47C50FF04DD1}"/>
                </a:ext>
              </a:extLst>
            </p:cNvPr>
            <p:cNvSpPr>
              <a:spLocks/>
            </p:cNvSpPr>
            <p:nvPr/>
          </p:nvSpPr>
          <p:spPr bwMode="auto">
            <a:xfrm>
              <a:off x="1575" y="2998"/>
              <a:ext cx="18" cy="36"/>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2" y="24"/>
                    <a:pt x="0" y="21"/>
                    <a:pt x="0" y="18"/>
                  </a:cubicBezTo>
                  <a:cubicBezTo>
                    <a:pt x="0" y="6"/>
                    <a:pt x="0" y="6"/>
                    <a:pt x="0" y="6"/>
                  </a:cubicBezTo>
                  <a:cubicBezTo>
                    <a:pt x="0" y="3"/>
                    <a:pt x="2" y="0"/>
                    <a:pt x="6" y="0"/>
                  </a:cubicBezTo>
                  <a:cubicBezTo>
                    <a:pt x="9" y="0"/>
                    <a:pt x="12" y="3"/>
                    <a:pt x="12" y="6"/>
                  </a:cubicBezTo>
                  <a:cubicBezTo>
                    <a:pt x="12" y="18"/>
                    <a:pt x="12" y="18"/>
                    <a:pt x="12" y="18"/>
                  </a:cubicBezTo>
                  <a:cubicBezTo>
                    <a:pt x="12" y="21"/>
                    <a:pt x="9"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3087" name="Freeform 134">
              <a:extLst>
                <a:ext uri="{FF2B5EF4-FFF2-40B4-BE49-F238E27FC236}">
                  <a16:creationId xmlns:a16="http://schemas.microsoft.com/office/drawing/2014/main" id="{A9BE0AE2-3590-2F3C-595F-DCB6EFB4EFDC}"/>
                </a:ext>
              </a:extLst>
            </p:cNvPr>
            <p:cNvSpPr>
              <a:spLocks/>
            </p:cNvSpPr>
            <p:nvPr/>
          </p:nvSpPr>
          <p:spPr bwMode="auto">
            <a:xfrm>
              <a:off x="1686" y="3049"/>
              <a:ext cx="33" cy="31"/>
            </a:xfrm>
            <a:custGeom>
              <a:avLst/>
              <a:gdLst>
                <a:gd name="T0" fmla="*/ 7 w 22"/>
                <a:gd name="T1" fmla="*/ 21 h 21"/>
                <a:gd name="T2" fmla="*/ 3 w 22"/>
                <a:gd name="T3" fmla="*/ 20 h 21"/>
                <a:gd name="T4" fmla="*/ 3 w 22"/>
                <a:gd name="T5" fmla="*/ 11 h 21"/>
                <a:gd name="T6" fmla="*/ 11 w 22"/>
                <a:gd name="T7" fmla="*/ 3 h 21"/>
                <a:gd name="T8" fmla="*/ 20 w 22"/>
                <a:gd name="T9" fmla="*/ 3 h 21"/>
                <a:gd name="T10" fmla="*/ 20 w 22"/>
                <a:gd name="T11" fmla="*/ 11 h 21"/>
                <a:gd name="T12" fmla="*/ 11 w 22"/>
                <a:gd name="T13" fmla="*/ 20 h 21"/>
                <a:gd name="T14" fmla="*/ 7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7" y="21"/>
                  </a:moveTo>
                  <a:cubicBezTo>
                    <a:pt x="5" y="21"/>
                    <a:pt x="4" y="21"/>
                    <a:pt x="3" y="20"/>
                  </a:cubicBezTo>
                  <a:cubicBezTo>
                    <a:pt x="0" y="17"/>
                    <a:pt x="0" y="14"/>
                    <a:pt x="3" y="11"/>
                  </a:cubicBezTo>
                  <a:cubicBezTo>
                    <a:pt x="11" y="3"/>
                    <a:pt x="11" y="3"/>
                    <a:pt x="11" y="3"/>
                  </a:cubicBezTo>
                  <a:cubicBezTo>
                    <a:pt x="14" y="0"/>
                    <a:pt x="17" y="0"/>
                    <a:pt x="20" y="3"/>
                  </a:cubicBezTo>
                  <a:cubicBezTo>
                    <a:pt x="22" y="5"/>
                    <a:pt x="22" y="9"/>
                    <a:pt x="20" y="11"/>
                  </a:cubicBezTo>
                  <a:cubicBezTo>
                    <a:pt x="11" y="20"/>
                    <a:pt x="11" y="20"/>
                    <a:pt x="11" y="20"/>
                  </a:cubicBezTo>
                  <a:cubicBezTo>
                    <a:pt x="10" y="21"/>
                    <a:pt x="9" y="21"/>
                    <a:pt x="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3088" name="Freeform 135">
              <a:extLst>
                <a:ext uri="{FF2B5EF4-FFF2-40B4-BE49-F238E27FC236}">
                  <a16:creationId xmlns:a16="http://schemas.microsoft.com/office/drawing/2014/main" id="{8C0FD5EA-4E33-2711-660B-A96B45397880}"/>
                </a:ext>
              </a:extLst>
            </p:cNvPr>
            <p:cNvSpPr>
              <a:spLocks/>
            </p:cNvSpPr>
            <p:nvPr/>
          </p:nvSpPr>
          <p:spPr bwMode="auto">
            <a:xfrm>
              <a:off x="1735" y="3176"/>
              <a:ext cx="36" cy="18"/>
            </a:xfrm>
            <a:custGeom>
              <a:avLst/>
              <a:gdLst>
                <a:gd name="T0" fmla="*/ 18 w 24"/>
                <a:gd name="T1" fmla="*/ 12 h 12"/>
                <a:gd name="T2" fmla="*/ 6 w 24"/>
                <a:gd name="T3" fmla="*/ 12 h 12"/>
                <a:gd name="T4" fmla="*/ 0 w 24"/>
                <a:gd name="T5" fmla="*/ 6 h 12"/>
                <a:gd name="T6" fmla="*/ 6 w 24"/>
                <a:gd name="T7" fmla="*/ 0 h 12"/>
                <a:gd name="T8" fmla="*/ 18 w 24"/>
                <a:gd name="T9" fmla="*/ 0 h 12"/>
                <a:gd name="T10" fmla="*/ 24 w 24"/>
                <a:gd name="T11" fmla="*/ 6 h 12"/>
                <a:gd name="T12" fmla="*/ 18 w 2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12"/>
                  </a:moveTo>
                  <a:cubicBezTo>
                    <a:pt x="6" y="12"/>
                    <a:pt x="6" y="12"/>
                    <a:pt x="6" y="12"/>
                  </a:cubicBezTo>
                  <a:cubicBezTo>
                    <a:pt x="2" y="12"/>
                    <a:pt x="0" y="9"/>
                    <a:pt x="0" y="6"/>
                  </a:cubicBezTo>
                  <a:cubicBezTo>
                    <a:pt x="0" y="3"/>
                    <a:pt x="2" y="0"/>
                    <a:pt x="6" y="0"/>
                  </a:cubicBezTo>
                  <a:cubicBezTo>
                    <a:pt x="18" y="0"/>
                    <a:pt x="18" y="0"/>
                    <a:pt x="18" y="0"/>
                  </a:cubicBezTo>
                  <a:cubicBezTo>
                    <a:pt x="21" y="0"/>
                    <a:pt x="24" y="3"/>
                    <a:pt x="24" y="6"/>
                  </a:cubicBezTo>
                  <a:cubicBezTo>
                    <a:pt x="24" y="9"/>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3089" name="Freeform 136">
              <a:extLst>
                <a:ext uri="{FF2B5EF4-FFF2-40B4-BE49-F238E27FC236}">
                  <a16:creationId xmlns:a16="http://schemas.microsoft.com/office/drawing/2014/main" id="{CCEAC66C-5D89-CBBE-F3DD-67E2C5414A94}"/>
                </a:ext>
              </a:extLst>
            </p:cNvPr>
            <p:cNvSpPr>
              <a:spLocks/>
            </p:cNvSpPr>
            <p:nvPr/>
          </p:nvSpPr>
          <p:spPr bwMode="auto">
            <a:xfrm>
              <a:off x="1686" y="3288"/>
              <a:ext cx="33" cy="31"/>
            </a:xfrm>
            <a:custGeom>
              <a:avLst/>
              <a:gdLst>
                <a:gd name="T0" fmla="*/ 15 w 22"/>
                <a:gd name="T1" fmla="*/ 21 h 21"/>
                <a:gd name="T2" fmla="*/ 11 w 22"/>
                <a:gd name="T3" fmla="*/ 19 h 21"/>
                <a:gd name="T4" fmla="*/ 3 w 22"/>
                <a:gd name="T5" fmla="*/ 10 h 21"/>
                <a:gd name="T6" fmla="*/ 3 w 22"/>
                <a:gd name="T7" fmla="*/ 2 h 21"/>
                <a:gd name="T8" fmla="*/ 11 w 22"/>
                <a:gd name="T9" fmla="*/ 2 h 21"/>
                <a:gd name="T10" fmla="*/ 20 w 22"/>
                <a:gd name="T11" fmla="*/ 10 h 21"/>
                <a:gd name="T12" fmla="*/ 20 w 22"/>
                <a:gd name="T13" fmla="*/ 19 h 21"/>
                <a:gd name="T14" fmla="*/ 15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15" y="21"/>
                  </a:moveTo>
                  <a:cubicBezTo>
                    <a:pt x="14" y="21"/>
                    <a:pt x="12" y="20"/>
                    <a:pt x="11" y="19"/>
                  </a:cubicBezTo>
                  <a:cubicBezTo>
                    <a:pt x="3" y="10"/>
                    <a:pt x="3" y="10"/>
                    <a:pt x="3" y="10"/>
                  </a:cubicBezTo>
                  <a:cubicBezTo>
                    <a:pt x="0" y="8"/>
                    <a:pt x="0" y="4"/>
                    <a:pt x="3" y="2"/>
                  </a:cubicBezTo>
                  <a:cubicBezTo>
                    <a:pt x="5" y="0"/>
                    <a:pt x="9" y="0"/>
                    <a:pt x="11" y="2"/>
                  </a:cubicBezTo>
                  <a:cubicBezTo>
                    <a:pt x="20" y="10"/>
                    <a:pt x="20" y="10"/>
                    <a:pt x="20" y="10"/>
                  </a:cubicBezTo>
                  <a:cubicBezTo>
                    <a:pt x="22" y="13"/>
                    <a:pt x="22" y="17"/>
                    <a:pt x="20" y="19"/>
                  </a:cubicBezTo>
                  <a:cubicBezTo>
                    <a:pt x="19" y="20"/>
                    <a:pt x="17"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3090" name="Freeform 137">
              <a:extLst>
                <a:ext uri="{FF2B5EF4-FFF2-40B4-BE49-F238E27FC236}">
                  <a16:creationId xmlns:a16="http://schemas.microsoft.com/office/drawing/2014/main" id="{7A25C024-5156-BB8F-7B2F-9A80BFC4B9C1}"/>
                </a:ext>
              </a:extLst>
            </p:cNvPr>
            <p:cNvSpPr>
              <a:spLocks/>
            </p:cNvSpPr>
            <p:nvPr/>
          </p:nvSpPr>
          <p:spPr bwMode="auto">
            <a:xfrm>
              <a:off x="1448" y="3049"/>
              <a:ext cx="32" cy="31"/>
            </a:xfrm>
            <a:custGeom>
              <a:avLst/>
              <a:gdLst>
                <a:gd name="T0" fmla="*/ 15 w 22"/>
                <a:gd name="T1" fmla="*/ 21 h 21"/>
                <a:gd name="T2" fmla="*/ 11 w 22"/>
                <a:gd name="T3" fmla="*/ 20 h 21"/>
                <a:gd name="T4" fmla="*/ 3 w 22"/>
                <a:gd name="T5" fmla="*/ 11 h 21"/>
                <a:gd name="T6" fmla="*/ 3 w 22"/>
                <a:gd name="T7" fmla="*/ 3 h 21"/>
                <a:gd name="T8" fmla="*/ 11 w 22"/>
                <a:gd name="T9" fmla="*/ 3 h 21"/>
                <a:gd name="T10" fmla="*/ 20 w 22"/>
                <a:gd name="T11" fmla="*/ 11 h 21"/>
                <a:gd name="T12" fmla="*/ 20 w 22"/>
                <a:gd name="T13" fmla="*/ 20 h 21"/>
                <a:gd name="T14" fmla="*/ 15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15" y="21"/>
                  </a:moveTo>
                  <a:cubicBezTo>
                    <a:pt x="14" y="21"/>
                    <a:pt x="12" y="21"/>
                    <a:pt x="11" y="20"/>
                  </a:cubicBezTo>
                  <a:cubicBezTo>
                    <a:pt x="3" y="11"/>
                    <a:pt x="3" y="11"/>
                    <a:pt x="3" y="11"/>
                  </a:cubicBezTo>
                  <a:cubicBezTo>
                    <a:pt x="0" y="9"/>
                    <a:pt x="0" y="5"/>
                    <a:pt x="3" y="3"/>
                  </a:cubicBezTo>
                  <a:cubicBezTo>
                    <a:pt x="5" y="0"/>
                    <a:pt x="9" y="0"/>
                    <a:pt x="11" y="3"/>
                  </a:cubicBezTo>
                  <a:cubicBezTo>
                    <a:pt x="20" y="11"/>
                    <a:pt x="20" y="11"/>
                    <a:pt x="20" y="11"/>
                  </a:cubicBezTo>
                  <a:cubicBezTo>
                    <a:pt x="22" y="14"/>
                    <a:pt x="22" y="17"/>
                    <a:pt x="20" y="20"/>
                  </a:cubicBezTo>
                  <a:cubicBezTo>
                    <a:pt x="18" y="21"/>
                    <a:pt x="17"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3091" name="Freeform 138">
              <a:extLst>
                <a:ext uri="{FF2B5EF4-FFF2-40B4-BE49-F238E27FC236}">
                  <a16:creationId xmlns:a16="http://schemas.microsoft.com/office/drawing/2014/main" id="{4088B9AD-9B16-EFB1-D3EA-48D2F5EEF9FA}"/>
                </a:ext>
              </a:extLst>
            </p:cNvPr>
            <p:cNvSpPr>
              <a:spLocks/>
            </p:cNvSpPr>
            <p:nvPr/>
          </p:nvSpPr>
          <p:spPr bwMode="auto">
            <a:xfrm>
              <a:off x="1398" y="3176"/>
              <a:ext cx="35" cy="18"/>
            </a:xfrm>
            <a:custGeom>
              <a:avLst/>
              <a:gdLst>
                <a:gd name="T0" fmla="*/ 18 w 24"/>
                <a:gd name="T1" fmla="*/ 12 h 12"/>
                <a:gd name="T2" fmla="*/ 6 w 24"/>
                <a:gd name="T3" fmla="*/ 12 h 12"/>
                <a:gd name="T4" fmla="*/ 0 w 24"/>
                <a:gd name="T5" fmla="*/ 6 h 12"/>
                <a:gd name="T6" fmla="*/ 6 w 24"/>
                <a:gd name="T7" fmla="*/ 0 h 12"/>
                <a:gd name="T8" fmla="*/ 18 w 24"/>
                <a:gd name="T9" fmla="*/ 0 h 12"/>
                <a:gd name="T10" fmla="*/ 24 w 24"/>
                <a:gd name="T11" fmla="*/ 6 h 12"/>
                <a:gd name="T12" fmla="*/ 18 w 2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12"/>
                  </a:moveTo>
                  <a:cubicBezTo>
                    <a:pt x="6" y="12"/>
                    <a:pt x="6" y="12"/>
                    <a:pt x="6" y="12"/>
                  </a:cubicBezTo>
                  <a:cubicBezTo>
                    <a:pt x="2" y="12"/>
                    <a:pt x="0" y="9"/>
                    <a:pt x="0" y="6"/>
                  </a:cubicBezTo>
                  <a:cubicBezTo>
                    <a:pt x="0" y="3"/>
                    <a:pt x="2" y="0"/>
                    <a:pt x="6" y="0"/>
                  </a:cubicBezTo>
                  <a:cubicBezTo>
                    <a:pt x="18" y="0"/>
                    <a:pt x="18" y="0"/>
                    <a:pt x="18" y="0"/>
                  </a:cubicBezTo>
                  <a:cubicBezTo>
                    <a:pt x="21" y="0"/>
                    <a:pt x="24" y="3"/>
                    <a:pt x="24" y="6"/>
                  </a:cubicBezTo>
                  <a:cubicBezTo>
                    <a:pt x="24" y="9"/>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3092" name="Freeform 139">
              <a:extLst>
                <a:ext uri="{FF2B5EF4-FFF2-40B4-BE49-F238E27FC236}">
                  <a16:creationId xmlns:a16="http://schemas.microsoft.com/office/drawing/2014/main" id="{74DABF6D-0A74-9799-3F07-BE4D75571002}"/>
                </a:ext>
              </a:extLst>
            </p:cNvPr>
            <p:cNvSpPr>
              <a:spLocks/>
            </p:cNvSpPr>
            <p:nvPr/>
          </p:nvSpPr>
          <p:spPr bwMode="auto">
            <a:xfrm>
              <a:off x="1448" y="3288"/>
              <a:ext cx="32" cy="31"/>
            </a:xfrm>
            <a:custGeom>
              <a:avLst/>
              <a:gdLst>
                <a:gd name="T0" fmla="*/ 7 w 22"/>
                <a:gd name="T1" fmla="*/ 21 h 21"/>
                <a:gd name="T2" fmla="*/ 3 w 22"/>
                <a:gd name="T3" fmla="*/ 19 h 21"/>
                <a:gd name="T4" fmla="*/ 3 w 22"/>
                <a:gd name="T5" fmla="*/ 10 h 21"/>
                <a:gd name="T6" fmla="*/ 11 w 22"/>
                <a:gd name="T7" fmla="*/ 2 h 21"/>
                <a:gd name="T8" fmla="*/ 20 w 22"/>
                <a:gd name="T9" fmla="*/ 2 h 21"/>
                <a:gd name="T10" fmla="*/ 20 w 22"/>
                <a:gd name="T11" fmla="*/ 10 h 21"/>
                <a:gd name="T12" fmla="*/ 11 w 22"/>
                <a:gd name="T13" fmla="*/ 19 h 21"/>
                <a:gd name="T14" fmla="*/ 7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7" y="21"/>
                  </a:moveTo>
                  <a:cubicBezTo>
                    <a:pt x="5" y="21"/>
                    <a:pt x="4" y="20"/>
                    <a:pt x="3" y="19"/>
                  </a:cubicBezTo>
                  <a:cubicBezTo>
                    <a:pt x="0" y="17"/>
                    <a:pt x="0" y="13"/>
                    <a:pt x="3" y="10"/>
                  </a:cubicBezTo>
                  <a:cubicBezTo>
                    <a:pt x="11" y="2"/>
                    <a:pt x="11" y="2"/>
                    <a:pt x="11" y="2"/>
                  </a:cubicBezTo>
                  <a:cubicBezTo>
                    <a:pt x="13" y="0"/>
                    <a:pt x="17" y="0"/>
                    <a:pt x="20" y="2"/>
                  </a:cubicBezTo>
                  <a:cubicBezTo>
                    <a:pt x="22" y="4"/>
                    <a:pt x="22" y="8"/>
                    <a:pt x="20" y="10"/>
                  </a:cubicBezTo>
                  <a:cubicBezTo>
                    <a:pt x="11" y="19"/>
                    <a:pt x="11" y="19"/>
                    <a:pt x="11" y="19"/>
                  </a:cubicBezTo>
                  <a:cubicBezTo>
                    <a:pt x="10" y="20"/>
                    <a:pt x="8" y="21"/>
                    <a:pt x="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3093" name="Freeform 140">
              <a:extLst>
                <a:ext uri="{FF2B5EF4-FFF2-40B4-BE49-F238E27FC236}">
                  <a16:creationId xmlns:a16="http://schemas.microsoft.com/office/drawing/2014/main" id="{685EC48A-6273-7C09-E61E-261746086CC9}"/>
                </a:ext>
              </a:extLst>
            </p:cNvPr>
            <p:cNvSpPr>
              <a:spLocks noEditPoints="1"/>
            </p:cNvSpPr>
            <p:nvPr/>
          </p:nvSpPr>
          <p:spPr bwMode="auto">
            <a:xfrm>
              <a:off x="1504" y="3176"/>
              <a:ext cx="160" cy="133"/>
            </a:xfrm>
            <a:custGeom>
              <a:avLst/>
              <a:gdLst>
                <a:gd name="T0" fmla="*/ 60 w 108"/>
                <a:gd name="T1" fmla="*/ 90 h 90"/>
                <a:gd name="T2" fmla="*/ 58 w 108"/>
                <a:gd name="T3" fmla="*/ 90 h 90"/>
                <a:gd name="T4" fmla="*/ 54 w 108"/>
                <a:gd name="T5" fmla="*/ 84 h 90"/>
                <a:gd name="T6" fmla="*/ 49 w 108"/>
                <a:gd name="T7" fmla="*/ 90 h 90"/>
                <a:gd name="T8" fmla="*/ 42 w 108"/>
                <a:gd name="T9" fmla="*/ 85 h 90"/>
                <a:gd name="T10" fmla="*/ 30 w 108"/>
                <a:gd name="T11" fmla="*/ 36 h 90"/>
                <a:gd name="T12" fmla="*/ 18 w 108"/>
                <a:gd name="T13" fmla="*/ 36 h 90"/>
                <a:gd name="T14" fmla="*/ 0 w 108"/>
                <a:gd name="T15" fmla="*/ 18 h 90"/>
                <a:gd name="T16" fmla="*/ 18 w 108"/>
                <a:gd name="T17" fmla="*/ 0 h 90"/>
                <a:gd name="T18" fmla="*/ 38 w 108"/>
                <a:gd name="T19" fmla="*/ 16 h 90"/>
                <a:gd name="T20" fmla="*/ 40 w 108"/>
                <a:gd name="T21" fmla="*/ 24 h 90"/>
                <a:gd name="T22" fmla="*/ 67 w 108"/>
                <a:gd name="T23" fmla="*/ 24 h 90"/>
                <a:gd name="T24" fmla="*/ 69 w 108"/>
                <a:gd name="T25" fmla="*/ 16 h 90"/>
                <a:gd name="T26" fmla="*/ 90 w 108"/>
                <a:gd name="T27" fmla="*/ 0 h 90"/>
                <a:gd name="T28" fmla="*/ 108 w 108"/>
                <a:gd name="T29" fmla="*/ 18 h 90"/>
                <a:gd name="T30" fmla="*/ 90 w 108"/>
                <a:gd name="T31" fmla="*/ 36 h 90"/>
                <a:gd name="T32" fmla="*/ 77 w 108"/>
                <a:gd name="T33" fmla="*/ 36 h 90"/>
                <a:gd name="T34" fmla="*/ 65 w 108"/>
                <a:gd name="T35" fmla="*/ 85 h 90"/>
                <a:gd name="T36" fmla="*/ 60 w 108"/>
                <a:gd name="T37" fmla="*/ 90 h 90"/>
                <a:gd name="T38" fmla="*/ 43 w 108"/>
                <a:gd name="T39" fmla="*/ 36 h 90"/>
                <a:gd name="T40" fmla="*/ 53 w 108"/>
                <a:gd name="T41" fmla="*/ 82 h 90"/>
                <a:gd name="T42" fmla="*/ 54 w 108"/>
                <a:gd name="T43" fmla="*/ 84 h 90"/>
                <a:gd name="T44" fmla="*/ 54 w 108"/>
                <a:gd name="T45" fmla="*/ 82 h 90"/>
                <a:gd name="T46" fmla="*/ 65 w 108"/>
                <a:gd name="T47" fmla="*/ 36 h 90"/>
                <a:gd name="T48" fmla="*/ 43 w 108"/>
                <a:gd name="T49" fmla="*/ 36 h 90"/>
                <a:gd name="T50" fmla="*/ 80 w 108"/>
                <a:gd name="T51" fmla="*/ 24 h 90"/>
                <a:gd name="T52" fmla="*/ 90 w 108"/>
                <a:gd name="T53" fmla="*/ 24 h 90"/>
                <a:gd name="T54" fmla="*/ 96 w 108"/>
                <a:gd name="T55" fmla="*/ 18 h 90"/>
                <a:gd name="T56" fmla="*/ 90 w 108"/>
                <a:gd name="T57" fmla="*/ 12 h 90"/>
                <a:gd name="T58" fmla="*/ 81 w 108"/>
                <a:gd name="T59" fmla="*/ 19 h 90"/>
                <a:gd name="T60" fmla="*/ 80 w 108"/>
                <a:gd name="T61" fmla="*/ 24 h 90"/>
                <a:gd name="T62" fmla="*/ 18 w 108"/>
                <a:gd name="T63" fmla="*/ 12 h 90"/>
                <a:gd name="T64" fmla="*/ 12 w 108"/>
                <a:gd name="T65" fmla="*/ 18 h 90"/>
                <a:gd name="T66" fmla="*/ 18 w 108"/>
                <a:gd name="T67" fmla="*/ 24 h 90"/>
                <a:gd name="T68" fmla="*/ 28 w 108"/>
                <a:gd name="T69" fmla="*/ 24 h 90"/>
                <a:gd name="T70" fmla="*/ 26 w 108"/>
                <a:gd name="T71" fmla="*/ 19 h 90"/>
                <a:gd name="T72" fmla="*/ 18 w 108"/>
                <a:gd name="T73"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8" h="90">
                  <a:moveTo>
                    <a:pt x="60" y="90"/>
                  </a:moveTo>
                  <a:cubicBezTo>
                    <a:pt x="59" y="90"/>
                    <a:pt x="59" y="90"/>
                    <a:pt x="58" y="90"/>
                  </a:cubicBezTo>
                  <a:cubicBezTo>
                    <a:pt x="56" y="89"/>
                    <a:pt x="54" y="87"/>
                    <a:pt x="54" y="84"/>
                  </a:cubicBezTo>
                  <a:cubicBezTo>
                    <a:pt x="54" y="87"/>
                    <a:pt x="52" y="89"/>
                    <a:pt x="49" y="90"/>
                  </a:cubicBezTo>
                  <a:cubicBezTo>
                    <a:pt x="46" y="90"/>
                    <a:pt x="43" y="88"/>
                    <a:pt x="42" y="85"/>
                  </a:cubicBezTo>
                  <a:cubicBezTo>
                    <a:pt x="30" y="36"/>
                    <a:pt x="30" y="36"/>
                    <a:pt x="30" y="36"/>
                  </a:cubicBezTo>
                  <a:cubicBezTo>
                    <a:pt x="18" y="36"/>
                    <a:pt x="18" y="36"/>
                    <a:pt x="18" y="36"/>
                  </a:cubicBezTo>
                  <a:cubicBezTo>
                    <a:pt x="8" y="36"/>
                    <a:pt x="0" y="28"/>
                    <a:pt x="0" y="18"/>
                  </a:cubicBezTo>
                  <a:cubicBezTo>
                    <a:pt x="0" y="8"/>
                    <a:pt x="8" y="0"/>
                    <a:pt x="18" y="0"/>
                  </a:cubicBezTo>
                  <a:cubicBezTo>
                    <a:pt x="28" y="0"/>
                    <a:pt x="36" y="7"/>
                    <a:pt x="38" y="16"/>
                  </a:cubicBezTo>
                  <a:cubicBezTo>
                    <a:pt x="40" y="24"/>
                    <a:pt x="40" y="24"/>
                    <a:pt x="40" y="24"/>
                  </a:cubicBezTo>
                  <a:cubicBezTo>
                    <a:pt x="67" y="24"/>
                    <a:pt x="67" y="24"/>
                    <a:pt x="67" y="24"/>
                  </a:cubicBezTo>
                  <a:cubicBezTo>
                    <a:pt x="69" y="16"/>
                    <a:pt x="69" y="16"/>
                    <a:pt x="69" y="16"/>
                  </a:cubicBezTo>
                  <a:cubicBezTo>
                    <a:pt x="71" y="7"/>
                    <a:pt x="80" y="0"/>
                    <a:pt x="90" y="0"/>
                  </a:cubicBezTo>
                  <a:cubicBezTo>
                    <a:pt x="100" y="0"/>
                    <a:pt x="108" y="8"/>
                    <a:pt x="108" y="18"/>
                  </a:cubicBezTo>
                  <a:cubicBezTo>
                    <a:pt x="108" y="28"/>
                    <a:pt x="100" y="36"/>
                    <a:pt x="90" y="36"/>
                  </a:cubicBezTo>
                  <a:cubicBezTo>
                    <a:pt x="77" y="36"/>
                    <a:pt x="77" y="36"/>
                    <a:pt x="77" y="36"/>
                  </a:cubicBezTo>
                  <a:cubicBezTo>
                    <a:pt x="65" y="85"/>
                    <a:pt x="65" y="85"/>
                    <a:pt x="65" y="85"/>
                  </a:cubicBezTo>
                  <a:cubicBezTo>
                    <a:pt x="65" y="88"/>
                    <a:pt x="62" y="90"/>
                    <a:pt x="60" y="90"/>
                  </a:cubicBezTo>
                  <a:close/>
                  <a:moveTo>
                    <a:pt x="43" y="36"/>
                  </a:moveTo>
                  <a:cubicBezTo>
                    <a:pt x="53" y="82"/>
                    <a:pt x="53" y="82"/>
                    <a:pt x="53" y="82"/>
                  </a:cubicBezTo>
                  <a:cubicBezTo>
                    <a:pt x="54" y="83"/>
                    <a:pt x="54" y="83"/>
                    <a:pt x="54" y="84"/>
                  </a:cubicBezTo>
                  <a:cubicBezTo>
                    <a:pt x="54" y="83"/>
                    <a:pt x="54" y="83"/>
                    <a:pt x="54" y="82"/>
                  </a:cubicBezTo>
                  <a:cubicBezTo>
                    <a:pt x="65" y="36"/>
                    <a:pt x="65" y="36"/>
                    <a:pt x="65" y="36"/>
                  </a:cubicBezTo>
                  <a:lnTo>
                    <a:pt x="43" y="36"/>
                  </a:lnTo>
                  <a:close/>
                  <a:moveTo>
                    <a:pt x="80" y="24"/>
                  </a:moveTo>
                  <a:cubicBezTo>
                    <a:pt x="90" y="24"/>
                    <a:pt x="90" y="24"/>
                    <a:pt x="90" y="24"/>
                  </a:cubicBezTo>
                  <a:cubicBezTo>
                    <a:pt x="93" y="24"/>
                    <a:pt x="96" y="21"/>
                    <a:pt x="96" y="18"/>
                  </a:cubicBezTo>
                  <a:cubicBezTo>
                    <a:pt x="96" y="15"/>
                    <a:pt x="93" y="12"/>
                    <a:pt x="90" y="12"/>
                  </a:cubicBezTo>
                  <a:cubicBezTo>
                    <a:pt x="85" y="12"/>
                    <a:pt x="82" y="15"/>
                    <a:pt x="81" y="19"/>
                  </a:cubicBezTo>
                  <a:lnTo>
                    <a:pt x="80" y="24"/>
                  </a:lnTo>
                  <a:close/>
                  <a:moveTo>
                    <a:pt x="18" y="12"/>
                  </a:moveTo>
                  <a:cubicBezTo>
                    <a:pt x="14" y="12"/>
                    <a:pt x="12" y="15"/>
                    <a:pt x="12" y="18"/>
                  </a:cubicBezTo>
                  <a:cubicBezTo>
                    <a:pt x="12" y="21"/>
                    <a:pt x="14" y="24"/>
                    <a:pt x="18" y="24"/>
                  </a:cubicBezTo>
                  <a:cubicBezTo>
                    <a:pt x="28" y="24"/>
                    <a:pt x="28" y="24"/>
                    <a:pt x="28" y="24"/>
                  </a:cubicBezTo>
                  <a:cubicBezTo>
                    <a:pt x="26" y="19"/>
                    <a:pt x="26" y="19"/>
                    <a:pt x="26" y="19"/>
                  </a:cubicBezTo>
                  <a:cubicBezTo>
                    <a:pt x="26" y="15"/>
                    <a:pt x="22"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grpSp>
      <p:grpSp>
        <p:nvGrpSpPr>
          <p:cNvPr id="3094" name="Group 14">
            <a:extLst>
              <a:ext uri="{FF2B5EF4-FFF2-40B4-BE49-F238E27FC236}">
                <a16:creationId xmlns:a16="http://schemas.microsoft.com/office/drawing/2014/main" id="{FAA59A3C-110D-A356-25BE-FFC4F51AA84C}"/>
              </a:ext>
            </a:extLst>
          </p:cNvPr>
          <p:cNvGrpSpPr>
            <a:grpSpLocks noChangeAspect="1"/>
          </p:cNvGrpSpPr>
          <p:nvPr/>
        </p:nvGrpSpPr>
        <p:grpSpPr bwMode="auto">
          <a:xfrm>
            <a:off x="9024938" y="1265638"/>
            <a:ext cx="307097" cy="279118"/>
            <a:chOff x="2398" y="433"/>
            <a:chExt cx="461" cy="419"/>
          </a:xfrm>
          <a:solidFill>
            <a:schemeClr val="tx2"/>
          </a:solidFill>
        </p:grpSpPr>
        <p:sp>
          <p:nvSpPr>
            <p:cNvPr id="3095" name="Freeform 15">
              <a:extLst>
                <a:ext uri="{FF2B5EF4-FFF2-40B4-BE49-F238E27FC236}">
                  <a16:creationId xmlns:a16="http://schemas.microsoft.com/office/drawing/2014/main" id="{83EDA726-8CC0-6282-DDFF-1D45364F8100}"/>
                </a:ext>
              </a:extLst>
            </p:cNvPr>
            <p:cNvSpPr>
              <a:spLocks noEditPoints="1"/>
            </p:cNvSpPr>
            <p:nvPr/>
          </p:nvSpPr>
          <p:spPr bwMode="auto">
            <a:xfrm>
              <a:off x="2398" y="433"/>
              <a:ext cx="461" cy="419"/>
            </a:xfrm>
            <a:custGeom>
              <a:avLst/>
              <a:gdLst>
                <a:gd name="T0" fmla="*/ 240 w 312"/>
                <a:gd name="T1" fmla="*/ 92 h 284"/>
                <a:gd name="T2" fmla="*/ 195 w 312"/>
                <a:gd name="T3" fmla="*/ 7 h 284"/>
                <a:gd name="T4" fmla="*/ 116 w 312"/>
                <a:gd name="T5" fmla="*/ 7 h 284"/>
                <a:gd name="T6" fmla="*/ 71 w 312"/>
                <a:gd name="T7" fmla="*/ 92 h 284"/>
                <a:gd name="T8" fmla="*/ 71 w 312"/>
                <a:gd name="T9" fmla="*/ 195 h 284"/>
                <a:gd name="T10" fmla="*/ 83 w 312"/>
                <a:gd name="T11" fmla="*/ 281 h 284"/>
                <a:gd name="T12" fmla="*/ 156 w 312"/>
                <a:gd name="T13" fmla="*/ 249 h 284"/>
                <a:gd name="T14" fmla="*/ 241 w 312"/>
                <a:gd name="T15" fmla="*/ 195 h 284"/>
                <a:gd name="T16" fmla="*/ 164 w 312"/>
                <a:gd name="T17" fmla="*/ 45 h 284"/>
                <a:gd name="T18" fmla="*/ 229 w 312"/>
                <a:gd name="T19" fmla="*/ 89 h 284"/>
                <a:gd name="T20" fmla="*/ 192 w 312"/>
                <a:gd name="T21" fmla="*/ 84 h 284"/>
                <a:gd name="T22" fmla="*/ 95 w 312"/>
                <a:gd name="T23" fmla="*/ 157 h 284"/>
                <a:gd name="T24" fmla="*/ 113 w 312"/>
                <a:gd name="T25" fmla="*/ 190 h 284"/>
                <a:gd name="T26" fmla="*/ 85 w 312"/>
                <a:gd name="T27" fmla="*/ 186 h 284"/>
                <a:gd name="T28" fmla="*/ 86 w 312"/>
                <a:gd name="T29" fmla="*/ 100 h 284"/>
                <a:gd name="T30" fmla="*/ 101 w 312"/>
                <a:gd name="T31" fmla="*/ 115 h 284"/>
                <a:gd name="T32" fmla="*/ 86 w 312"/>
                <a:gd name="T33" fmla="*/ 101 h 284"/>
                <a:gd name="T34" fmla="*/ 101 w 312"/>
                <a:gd name="T35" fmla="*/ 142 h 284"/>
                <a:gd name="T36" fmla="*/ 126 w 312"/>
                <a:gd name="T37" fmla="*/ 95 h 284"/>
                <a:gd name="T38" fmla="*/ 200 w 312"/>
                <a:gd name="T39" fmla="*/ 120 h 284"/>
                <a:gd name="T40" fmla="*/ 199 w 312"/>
                <a:gd name="T41" fmla="*/ 166 h 284"/>
                <a:gd name="T42" fmla="*/ 156 w 312"/>
                <a:gd name="T43" fmla="*/ 193 h 284"/>
                <a:gd name="T44" fmla="*/ 112 w 312"/>
                <a:gd name="T45" fmla="*/ 166 h 284"/>
                <a:gd name="T46" fmla="*/ 217 w 312"/>
                <a:gd name="T47" fmla="*/ 157 h 284"/>
                <a:gd name="T48" fmla="*/ 227 w 312"/>
                <a:gd name="T49" fmla="*/ 186 h 284"/>
                <a:gd name="T50" fmla="*/ 217 w 312"/>
                <a:gd name="T51" fmla="*/ 128 h 284"/>
                <a:gd name="T52" fmla="*/ 200 w 312"/>
                <a:gd name="T53" fmla="*/ 96 h 284"/>
                <a:gd name="T54" fmla="*/ 226 w 312"/>
                <a:gd name="T55" fmla="*/ 101 h 284"/>
                <a:gd name="T56" fmla="*/ 156 w 312"/>
                <a:gd name="T57" fmla="*/ 54 h 284"/>
                <a:gd name="T58" fmla="*/ 156 w 312"/>
                <a:gd name="T59" fmla="*/ 82 h 284"/>
                <a:gd name="T60" fmla="*/ 156 w 312"/>
                <a:gd name="T61" fmla="*/ 54 h 284"/>
                <a:gd name="T62" fmla="*/ 148 w 312"/>
                <a:gd name="T63" fmla="*/ 45 h 284"/>
                <a:gd name="T64" fmla="*/ 119 w 312"/>
                <a:gd name="T65" fmla="*/ 84 h 284"/>
                <a:gd name="T66" fmla="*/ 83 w 312"/>
                <a:gd name="T67" fmla="*/ 89 h 284"/>
                <a:gd name="T68" fmla="*/ 28 w 312"/>
                <a:gd name="T69" fmla="*/ 165 h 284"/>
                <a:gd name="T70" fmla="*/ 74 w 312"/>
                <a:gd name="T71" fmla="*/ 103 h 284"/>
                <a:gd name="T72" fmla="*/ 88 w 312"/>
                <a:gd name="T73" fmla="*/ 142 h 284"/>
                <a:gd name="T74" fmla="*/ 89 w 312"/>
                <a:gd name="T75" fmla="*/ 271 h 284"/>
                <a:gd name="T76" fmla="*/ 82 w 312"/>
                <a:gd name="T77" fmla="*/ 197 h 284"/>
                <a:gd name="T78" fmla="*/ 148 w 312"/>
                <a:gd name="T79" fmla="*/ 240 h 284"/>
                <a:gd name="T80" fmla="*/ 156 w 312"/>
                <a:gd name="T81" fmla="*/ 231 h 284"/>
                <a:gd name="T82" fmla="*/ 156 w 312"/>
                <a:gd name="T83" fmla="*/ 204 h 284"/>
                <a:gd name="T84" fmla="*/ 156 w 312"/>
                <a:gd name="T85" fmla="*/ 231 h 284"/>
                <a:gd name="T86" fmla="*/ 164 w 312"/>
                <a:gd name="T87" fmla="*/ 240 h 284"/>
                <a:gd name="T88" fmla="*/ 191 w 312"/>
                <a:gd name="T89" fmla="*/ 203 h 284"/>
                <a:gd name="T90" fmla="*/ 230 w 312"/>
                <a:gd name="T91" fmla="*/ 197 h 284"/>
                <a:gd name="T92" fmla="*/ 238 w 312"/>
                <a:gd name="T93" fmla="*/ 183 h 284"/>
                <a:gd name="T94" fmla="*/ 237 w 312"/>
                <a:gd name="T95" fmla="*/ 103 h 284"/>
                <a:gd name="T96" fmla="*/ 300 w 312"/>
                <a:gd name="T97" fmla="*/ 143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284">
                  <a:moveTo>
                    <a:pt x="293" y="173"/>
                  </a:moveTo>
                  <a:cubicBezTo>
                    <a:pt x="305" y="164"/>
                    <a:pt x="312" y="154"/>
                    <a:pt x="312" y="143"/>
                  </a:cubicBezTo>
                  <a:cubicBezTo>
                    <a:pt x="312" y="122"/>
                    <a:pt x="285" y="103"/>
                    <a:pt x="240" y="92"/>
                  </a:cubicBezTo>
                  <a:cubicBezTo>
                    <a:pt x="240" y="92"/>
                    <a:pt x="240" y="92"/>
                    <a:pt x="240" y="92"/>
                  </a:cubicBezTo>
                  <a:cubicBezTo>
                    <a:pt x="240" y="92"/>
                    <a:pt x="240" y="92"/>
                    <a:pt x="240" y="92"/>
                  </a:cubicBezTo>
                  <a:cubicBezTo>
                    <a:pt x="245" y="70"/>
                    <a:pt x="247" y="51"/>
                    <a:pt x="245" y="36"/>
                  </a:cubicBezTo>
                  <a:cubicBezTo>
                    <a:pt x="243" y="20"/>
                    <a:pt x="237" y="10"/>
                    <a:pt x="228" y="5"/>
                  </a:cubicBezTo>
                  <a:cubicBezTo>
                    <a:pt x="219" y="0"/>
                    <a:pt x="208" y="1"/>
                    <a:pt x="195" y="7"/>
                  </a:cubicBezTo>
                  <a:cubicBezTo>
                    <a:pt x="183" y="12"/>
                    <a:pt x="169" y="23"/>
                    <a:pt x="156" y="37"/>
                  </a:cubicBezTo>
                  <a:cubicBezTo>
                    <a:pt x="156" y="37"/>
                    <a:pt x="156" y="37"/>
                    <a:pt x="156" y="37"/>
                  </a:cubicBezTo>
                  <a:cubicBezTo>
                    <a:pt x="156" y="37"/>
                    <a:pt x="156" y="37"/>
                    <a:pt x="156" y="37"/>
                  </a:cubicBezTo>
                  <a:cubicBezTo>
                    <a:pt x="142" y="23"/>
                    <a:pt x="129" y="12"/>
                    <a:pt x="116" y="7"/>
                  </a:cubicBezTo>
                  <a:cubicBezTo>
                    <a:pt x="104" y="1"/>
                    <a:pt x="93" y="0"/>
                    <a:pt x="84" y="5"/>
                  </a:cubicBezTo>
                  <a:cubicBezTo>
                    <a:pt x="75" y="10"/>
                    <a:pt x="69" y="20"/>
                    <a:pt x="67" y="36"/>
                  </a:cubicBezTo>
                  <a:cubicBezTo>
                    <a:pt x="65" y="51"/>
                    <a:pt x="66" y="70"/>
                    <a:pt x="71" y="92"/>
                  </a:cubicBezTo>
                  <a:cubicBezTo>
                    <a:pt x="71" y="92"/>
                    <a:pt x="71" y="92"/>
                    <a:pt x="71" y="92"/>
                  </a:cubicBezTo>
                  <a:cubicBezTo>
                    <a:pt x="71" y="92"/>
                    <a:pt x="71" y="92"/>
                    <a:pt x="71" y="92"/>
                  </a:cubicBezTo>
                  <a:cubicBezTo>
                    <a:pt x="27" y="103"/>
                    <a:pt x="0" y="122"/>
                    <a:pt x="0" y="143"/>
                  </a:cubicBezTo>
                  <a:cubicBezTo>
                    <a:pt x="0" y="154"/>
                    <a:pt x="7" y="164"/>
                    <a:pt x="19" y="173"/>
                  </a:cubicBezTo>
                  <a:cubicBezTo>
                    <a:pt x="31" y="182"/>
                    <a:pt x="49" y="189"/>
                    <a:pt x="71" y="195"/>
                  </a:cubicBezTo>
                  <a:cubicBezTo>
                    <a:pt x="71" y="195"/>
                    <a:pt x="71" y="195"/>
                    <a:pt x="71" y="195"/>
                  </a:cubicBezTo>
                  <a:cubicBezTo>
                    <a:pt x="71" y="195"/>
                    <a:pt x="71" y="195"/>
                    <a:pt x="71" y="195"/>
                  </a:cubicBezTo>
                  <a:cubicBezTo>
                    <a:pt x="65" y="216"/>
                    <a:pt x="64" y="235"/>
                    <a:pt x="66" y="250"/>
                  </a:cubicBezTo>
                  <a:cubicBezTo>
                    <a:pt x="68" y="266"/>
                    <a:pt x="74" y="276"/>
                    <a:pt x="83" y="281"/>
                  </a:cubicBezTo>
                  <a:cubicBezTo>
                    <a:pt x="87" y="283"/>
                    <a:pt x="91" y="284"/>
                    <a:pt x="96" y="284"/>
                  </a:cubicBezTo>
                  <a:cubicBezTo>
                    <a:pt x="113" y="284"/>
                    <a:pt x="134" y="272"/>
                    <a:pt x="156" y="249"/>
                  </a:cubicBezTo>
                  <a:cubicBezTo>
                    <a:pt x="156" y="249"/>
                    <a:pt x="156" y="249"/>
                    <a:pt x="156" y="249"/>
                  </a:cubicBezTo>
                  <a:cubicBezTo>
                    <a:pt x="156" y="249"/>
                    <a:pt x="156" y="249"/>
                    <a:pt x="156" y="249"/>
                  </a:cubicBezTo>
                  <a:cubicBezTo>
                    <a:pt x="178" y="272"/>
                    <a:pt x="199" y="284"/>
                    <a:pt x="216" y="284"/>
                  </a:cubicBezTo>
                  <a:cubicBezTo>
                    <a:pt x="220" y="284"/>
                    <a:pt x="225" y="283"/>
                    <a:pt x="228" y="281"/>
                  </a:cubicBezTo>
                  <a:cubicBezTo>
                    <a:pt x="238" y="276"/>
                    <a:pt x="244" y="266"/>
                    <a:pt x="246" y="250"/>
                  </a:cubicBezTo>
                  <a:cubicBezTo>
                    <a:pt x="248" y="235"/>
                    <a:pt x="246" y="216"/>
                    <a:pt x="241" y="195"/>
                  </a:cubicBezTo>
                  <a:cubicBezTo>
                    <a:pt x="241" y="195"/>
                    <a:pt x="241" y="195"/>
                    <a:pt x="241" y="195"/>
                  </a:cubicBezTo>
                  <a:cubicBezTo>
                    <a:pt x="241" y="195"/>
                    <a:pt x="241" y="195"/>
                    <a:pt x="241" y="195"/>
                  </a:cubicBezTo>
                  <a:cubicBezTo>
                    <a:pt x="263" y="189"/>
                    <a:pt x="280" y="182"/>
                    <a:pt x="293" y="173"/>
                  </a:cubicBezTo>
                  <a:close/>
                  <a:moveTo>
                    <a:pt x="164" y="45"/>
                  </a:moveTo>
                  <a:cubicBezTo>
                    <a:pt x="183" y="25"/>
                    <a:pt x="202" y="13"/>
                    <a:pt x="215" y="13"/>
                  </a:cubicBezTo>
                  <a:cubicBezTo>
                    <a:pt x="217" y="13"/>
                    <a:pt x="220" y="14"/>
                    <a:pt x="222" y="15"/>
                  </a:cubicBezTo>
                  <a:cubicBezTo>
                    <a:pt x="229" y="18"/>
                    <a:pt x="233" y="27"/>
                    <a:pt x="234" y="40"/>
                  </a:cubicBezTo>
                  <a:cubicBezTo>
                    <a:pt x="235" y="53"/>
                    <a:pt x="233" y="70"/>
                    <a:pt x="229" y="89"/>
                  </a:cubicBezTo>
                  <a:cubicBezTo>
                    <a:pt x="229" y="89"/>
                    <a:pt x="229" y="89"/>
                    <a:pt x="229" y="89"/>
                  </a:cubicBezTo>
                  <a:cubicBezTo>
                    <a:pt x="229" y="89"/>
                    <a:pt x="229" y="89"/>
                    <a:pt x="229" y="89"/>
                  </a:cubicBezTo>
                  <a:cubicBezTo>
                    <a:pt x="217" y="87"/>
                    <a:pt x="205" y="85"/>
                    <a:pt x="192" y="84"/>
                  </a:cubicBezTo>
                  <a:cubicBezTo>
                    <a:pt x="192" y="84"/>
                    <a:pt x="192" y="84"/>
                    <a:pt x="192" y="84"/>
                  </a:cubicBezTo>
                  <a:cubicBezTo>
                    <a:pt x="192" y="84"/>
                    <a:pt x="192" y="84"/>
                    <a:pt x="192" y="84"/>
                  </a:cubicBezTo>
                  <a:cubicBezTo>
                    <a:pt x="183" y="70"/>
                    <a:pt x="174" y="57"/>
                    <a:pt x="164" y="45"/>
                  </a:cubicBezTo>
                  <a:cubicBezTo>
                    <a:pt x="164" y="45"/>
                    <a:pt x="164" y="45"/>
                    <a:pt x="164" y="45"/>
                  </a:cubicBezTo>
                  <a:close/>
                  <a:moveTo>
                    <a:pt x="95" y="157"/>
                  </a:moveTo>
                  <a:cubicBezTo>
                    <a:pt x="95" y="157"/>
                    <a:pt x="95" y="157"/>
                    <a:pt x="95" y="157"/>
                  </a:cubicBezTo>
                  <a:cubicBezTo>
                    <a:pt x="97" y="162"/>
                    <a:pt x="100" y="166"/>
                    <a:pt x="102" y="171"/>
                  </a:cubicBezTo>
                  <a:cubicBezTo>
                    <a:pt x="106" y="178"/>
                    <a:pt x="109" y="184"/>
                    <a:pt x="113" y="190"/>
                  </a:cubicBezTo>
                  <a:cubicBezTo>
                    <a:pt x="113" y="190"/>
                    <a:pt x="113" y="190"/>
                    <a:pt x="113" y="190"/>
                  </a:cubicBezTo>
                  <a:cubicBezTo>
                    <a:pt x="113" y="190"/>
                    <a:pt x="113" y="190"/>
                    <a:pt x="113" y="190"/>
                  </a:cubicBezTo>
                  <a:cubicBezTo>
                    <a:pt x="103" y="189"/>
                    <a:pt x="94" y="188"/>
                    <a:pt x="85" y="186"/>
                  </a:cubicBezTo>
                  <a:cubicBezTo>
                    <a:pt x="85" y="186"/>
                    <a:pt x="85" y="186"/>
                    <a:pt x="85" y="186"/>
                  </a:cubicBezTo>
                  <a:cubicBezTo>
                    <a:pt x="85" y="186"/>
                    <a:pt x="85" y="186"/>
                    <a:pt x="85" y="186"/>
                  </a:cubicBezTo>
                  <a:cubicBezTo>
                    <a:pt x="88" y="177"/>
                    <a:pt x="91" y="167"/>
                    <a:pt x="95" y="157"/>
                  </a:cubicBezTo>
                  <a:close/>
                  <a:moveTo>
                    <a:pt x="86" y="101"/>
                  </a:moveTo>
                  <a:cubicBezTo>
                    <a:pt x="86" y="100"/>
                    <a:pt x="86" y="100"/>
                    <a:pt x="86" y="100"/>
                  </a:cubicBezTo>
                  <a:cubicBezTo>
                    <a:pt x="86" y="100"/>
                    <a:pt x="86" y="100"/>
                    <a:pt x="86" y="100"/>
                  </a:cubicBezTo>
                  <a:cubicBezTo>
                    <a:pt x="94" y="99"/>
                    <a:pt x="103" y="97"/>
                    <a:pt x="112" y="96"/>
                  </a:cubicBezTo>
                  <a:cubicBezTo>
                    <a:pt x="112" y="96"/>
                    <a:pt x="112" y="96"/>
                    <a:pt x="112" y="96"/>
                  </a:cubicBezTo>
                  <a:cubicBezTo>
                    <a:pt x="112" y="97"/>
                    <a:pt x="112" y="97"/>
                    <a:pt x="112" y="97"/>
                  </a:cubicBezTo>
                  <a:cubicBezTo>
                    <a:pt x="108" y="103"/>
                    <a:pt x="105" y="109"/>
                    <a:pt x="101" y="115"/>
                  </a:cubicBezTo>
                  <a:cubicBezTo>
                    <a:pt x="99" y="119"/>
                    <a:pt x="97" y="123"/>
                    <a:pt x="95" y="127"/>
                  </a:cubicBezTo>
                  <a:cubicBezTo>
                    <a:pt x="95" y="128"/>
                    <a:pt x="95" y="128"/>
                    <a:pt x="95" y="128"/>
                  </a:cubicBezTo>
                  <a:cubicBezTo>
                    <a:pt x="95" y="127"/>
                    <a:pt x="95" y="127"/>
                    <a:pt x="95" y="127"/>
                  </a:cubicBezTo>
                  <a:cubicBezTo>
                    <a:pt x="91" y="118"/>
                    <a:pt x="88" y="109"/>
                    <a:pt x="86" y="101"/>
                  </a:cubicBezTo>
                  <a:close/>
                  <a:moveTo>
                    <a:pt x="112" y="166"/>
                  </a:moveTo>
                  <a:cubicBezTo>
                    <a:pt x="108" y="158"/>
                    <a:pt x="105" y="150"/>
                    <a:pt x="101" y="142"/>
                  </a:cubicBezTo>
                  <a:cubicBezTo>
                    <a:pt x="101" y="142"/>
                    <a:pt x="101" y="142"/>
                    <a:pt x="101" y="142"/>
                  </a:cubicBezTo>
                  <a:cubicBezTo>
                    <a:pt x="101" y="142"/>
                    <a:pt x="101" y="142"/>
                    <a:pt x="101" y="142"/>
                  </a:cubicBezTo>
                  <a:cubicBezTo>
                    <a:pt x="104" y="135"/>
                    <a:pt x="108" y="127"/>
                    <a:pt x="112" y="120"/>
                  </a:cubicBezTo>
                  <a:cubicBezTo>
                    <a:pt x="116" y="112"/>
                    <a:pt x="121" y="103"/>
                    <a:pt x="126" y="95"/>
                  </a:cubicBezTo>
                  <a:cubicBezTo>
                    <a:pt x="126" y="95"/>
                    <a:pt x="126" y="95"/>
                    <a:pt x="126" y="95"/>
                  </a:cubicBezTo>
                  <a:cubicBezTo>
                    <a:pt x="126" y="95"/>
                    <a:pt x="126" y="95"/>
                    <a:pt x="126" y="95"/>
                  </a:cubicBezTo>
                  <a:cubicBezTo>
                    <a:pt x="146" y="94"/>
                    <a:pt x="166" y="94"/>
                    <a:pt x="186" y="95"/>
                  </a:cubicBezTo>
                  <a:cubicBezTo>
                    <a:pt x="186" y="95"/>
                    <a:pt x="186" y="95"/>
                    <a:pt x="186" y="95"/>
                  </a:cubicBezTo>
                  <a:cubicBezTo>
                    <a:pt x="186" y="95"/>
                    <a:pt x="186" y="95"/>
                    <a:pt x="186" y="95"/>
                  </a:cubicBezTo>
                  <a:cubicBezTo>
                    <a:pt x="191" y="103"/>
                    <a:pt x="196" y="112"/>
                    <a:pt x="200" y="120"/>
                  </a:cubicBezTo>
                  <a:cubicBezTo>
                    <a:pt x="204" y="127"/>
                    <a:pt x="207" y="135"/>
                    <a:pt x="211" y="142"/>
                  </a:cubicBezTo>
                  <a:cubicBezTo>
                    <a:pt x="211" y="142"/>
                    <a:pt x="211" y="142"/>
                    <a:pt x="211" y="142"/>
                  </a:cubicBezTo>
                  <a:cubicBezTo>
                    <a:pt x="211" y="142"/>
                    <a:pt x="211" y="142"/>
                    <a:pt x="211" y="142"/>
                  </a:cubicBezTo>
                  <a:cubicBezTo>
                    <a:pt x="207" y="150"/>
                    <a:pt x="203" y="158"/>
                    <a:pt x="199" y="166"/>
                  </a:cubicBezTo>
                  <a:cubicBezTo>
                    <a:pt x="195" y="175"/>
                    <a:pt x="190" y="183"/>
                    <a:pt x="185" y="192"/>
                  </a:cubicBezTo>
                  <a:cubicBezTo>
                    <a:pt x="185" y="192"/>
                    <a:pt x="185" y="192"/>
                    <a:pt x="185" y="192"/>
                  </a:cubicBezTo>
                  <a:cubicBezTo>
                    <a:pt x="185" y="192"/>
                    <a:pt x="185" y="192"/>
                    <a:pt x="185" y="192"/>
                  </a:cubicBezTo>
                  <a:cubicBezTo>
                    <a:pt x="175" y="192"/>
                    <a:pt x="165" y="193"/>
                    <a:pt x="156" y="193"/>
                  </a:cubicBezTo>
                  <a:cubicBezTo>
                    <a:pt x="146" y="193"/>
                    <a:pt x="137" y="192"/>
                    <a:pt x="127" y="192"/>
                  </a:cubicBezTo>
                  <a:cubicBezTo>
                    <a:pt x="127" y="192"/>
                    <a:pt x="127" y="192"/>
                    <a:pt x="127" y="192"/>
                  </a:cubicBezTo>
                  <a:cubicBezTo>
                    <a:pt x="127" y="192"/>
                    <a:pt x="127" y="192"/>
                    <a:pt x="127" y="192"/>
                  </a:cubicBezTo>
                  <a:cubicBezTo>
                    <a:pt x="122" y="183"/>
                    <a:pt x="117" y="175"/>
                    <a:pt x="112" y="166"/>
                  </a:cubicBezTo>
                  <a:close/>
                  <a:moveTo>
                    <a:pt x="199" y="190"/>
                  </a:moveTo>
                  <a:cubicBezTo>
                    <a:pt x="203" y="184"/>
                    <a:pt x="206" y="178"/>
                    <a:pt x="209" y="171"/>
                  </a:cubicBezTo>
                  <a:cubicBezTo>
                    <a:pt x="212" y="166"/>
                    <a:pt x="214" y="162"/>
                    <a:pt x="217" y="157"/>
                  </a:cubicBezTo>
                  <a:cubicBezTo>
                    <a:pt x="217" y="157"/>
                    <a:pt x="217" y="157"/>
                    <a:pt x="217" y="157"/>
                  </a:cubicBezTo>
                  <a:cubicBezTo>
                    <a:pt x="217" y="157"/>
                    <a:pt x="217" y="157"/>
                    <a:pt x="217" y="157"/>
                  </a:cubicBezTo>
                  <a:cubicBezTo>
                    <a:pt x="221" y="167"/>
                    <a:pt x="224" y="177"/>
                    <a:pt x="227" y="186"/>
                  </a:cubicBezTo>
                  <a:cubicBezTo>
                    <a:pt x="227" y="186"/>
                    <a:pt x="227" y="186"/>
                    <a:pt x="227" y="186"/>
                  </a:cubicBezTo>
                  <a:cubicBezTo>
                    <a:pt x="227" y="186"/>
                    <a:pt x="227" y="186"/>
                    <a:pt x="227" y="186"/>
                  </a:cubicBezTo>
                  <a:cubicBezTo>
                    <a:pt x="218" y="188"/>
                    <a:pt x="209" y="189"/>
                    <a:pt x="199" y="190"/>
                  </a:cubicBezTo>
                  <a:cubicBezTo>
                    <a:pt x="199" y="190"/>
                    <a:pt x="199" y="190"/>
                    <a:pt x="199" y="190"/>
                  </a:cubicBezTo>
                  <a:close/>
                  <a:moveTo>
                    <a:pt x="217" y="127"/>
                  </a:moveTo>
                  <a:cubicBezTo>
                    <a:pt x="217" y="128"/>
                    <a:pt x="217" y="128"/>
                    <a:pt x="217" y="128"/>
                  </a:cubicBezTo>
                  <a:cubicBezTo>
                    <a:pt x="217" y="127"/>
                    <a:pt x="217" y="127"/>
                    <a:pt x="217" y="127"/>
                  </a:cubicBezTo>
                  <a:cubicBezTo>
                    <a:pt x="214" y="123"/>
                    <a:pt x="212" y="119"/>
                    <a:pt x="210" y="115"/>
                  </a:cubicBezTo>
                  <a:cubicBezTo>
                    <a:pt x="207" y="109"/>
                    <a:pt x="204" y="103"/>
                    <a:pt x="200" y="97"/>
                  </a:cubicBezTo>
                  <a:cubicBezTo>
                    <a:pt x="200" y="96"/>
                    <a:pt x="200" y="96"/>
                    <a:pt x="200" y="96"/>
                  </a:cubicBezTo>
                  <a:cubicBezTo>
                    <a:pt x="200" y="96"/>
                    <a:pt x="200" y="96"/>
                    <a:pt x="200" y="96"/>
                  </a:cubicBezTo>
                  <a:cubicBezTo>
                    <a:pt x="209" y="97"/>
                    <a:pt x="218" y="99"/>
                    <a:pt x="226" y="100"/>
                  </a:cubicBezTo>
                  <a:cubicBezTo>
                    <a:pt x="226" y="100"/>
                    <a:pt x="226" y="100"/>
                    <a:pt x="226" y="100"/>
                  </a:cubicBezTo>
                  <a:cubicBezTo>
                    <a:pt x="226" y="101"/>
                    <a:pt x="226" y="101"/>
                    <a:pt x="226" y="101"/>
                  </a:cubicBezTo>
                  <a:cubicBezTo>
                    <a:pt x="223" y="109"/>
                    <a:pt x="220" y="118"/>
                    <a:pt x="217" y="127"/>
                  </a:cubicBezTo>
                  <a:close/>
                  <a:moveTo>
                    <a:pt x="156" y="54"/>
                  </a:moveTo>
                  <a:cubicBezTo>
                    <a:pt x="156" y="54"/>
                    <a:pt x="156" y="54"/>
                    <a:pt x="156" y="54"/>
                  </a:cubicBezTo>
                  <a:cubicBezTo>
                    <a:pt x="156" y="54"/>
                    <a:pt x="156" y="54"/>
                    <a:pt x="156" y="54"/>
                  </a:cubicBezTo>
                  <a:cubicBezTo>
                    <a:pt x="163" y="63"/>
                    <a:pt x="171" y="72"/>
                    <a:pt x="178" y="83"/>
                  </a:cubicBezTo>
                  <a:cubicBezTo>
                    <a:pt x="178" y="83"/>
                    <a:pt x="178" y="83"/>
                    <a:pt x="178" y="83"/>
                  </a:cubicBezTo>
                  <a:cubicBezTo>
                    <a:pt x="178" y="83"/>
                    <a:pt x="178" y="83"/>
                    <a:pt x="178" y="83"/>
                  </a:cubicBezTo>
                  <a:cubicBezTo>
                    <a:pt x="170" y="83"/>
                    <a:pt x="163" y="82"/>
                    <a:pt x="156" y="82"/>
                  </a:cubicBezTo>
                  <a:cubicBezTo>
                    <a:pt x="149" y="82"/>
                    <a:pt x="141" y="83"/>
                    <a:pt x="134" y="83"/>
                  </a:cubicBezTo>
                  <a:cubicBezTo>
                    <a:pt x="134" y="83"/>
                    <a:pt x="134" y="83"/>
                    <a:pt x="134" y="83"/>
                  </a:cubicBezTo>
                  <a:cubicBezTo>
                    <a:pt x="134" y="83"/>
                    <a:pt x="134" y="83"/>
                    <a:pt x="134" y="83"/>
                  </a:cubicBezTo>
                  <a:cubicBezTo>
                    <a:pt x="141" y="72"/>
                    <a:pt x="148" y="63"/>
                    <a:pt x="156" y="54"/>
                  </a:cubicBezTo>
                  <a:close/>
                  <a:moveTo>
                    <a:pt x="78" y="40"/>
                  </a:moveTo>
                  <a:cubicBezTo>
                    <a:pt x="79" y="27"/>
                    <a:pt x="83" y="18"/>
                    <a:pt x="89" y="15"/>
                  </a:cubicBezTo>
                  <a:cubicBezTo>
                    <a:pt x="92" y="14"/>
                    <a:pt x="94" y="13"/>
                    <a:pt x="97" y="13"/>
                  </a:cubicBezTo>
                  <a:cubicBezTo>
                    <a:pt x="110" y="13"/>
                    <a:pt x="129" y="25"/>
                    <a:pt x="148" y="45"/>
                  </a:cubicBezTo>
                  <a:cubicBezTo>
                    <a:pt x="148" y="45"/>
                    <a:pt x="148" y="45"/>
                    <a:pt x="148" y="45"/>
                  </a:cubicBezTo>
                  <a:cubicBezTo>
                    <a:pt x="148" y="45"/>
                    <a:pt x="148" y="45"/>
                    <a:pt x="148" y="45"/>
                  </a:cubicBezTo>
                  <a:cubicBezTo>
                    <a:pt x="138" y="57"/>
                    <a:pt x="128" y="70"/>
                    <a:pt x="119" y="84"/>
                  </a:cubicBezTo>
                  <a:cubicBezTo>
                    <a:pt x="119" y="84"/>
                    <a:pt x="119" y="84"/>
                    <a:pt x="119" y="84"/>
                  </a:cubicBezTo>
                  <a:cubicBezTo>
                    <a:pt x="119" y="84"/>
                    <a:pt x="119" y="84"/>
                    <a:pt x="119" y="84"/>
                  </a:cubicBezTo>
                  <a:cubicBezTo>
                    <a:pt x="107" y="85"/>
                    <a:pt x="94" y="87"/>
                    <a:pt x="83" y="89"/>
                  </a:cubicBezTo>
                  <a:cubicBezTo>
                    <a:pt x="83" y="89"/>
                    <a:pt x="83" y="89"/>
                    <a:pt x="83" y="89"/>
                  </a:cubicBezTo>
                  <a:cubicBezTo>
                    <a:pt x="83" y="89"/>
                    <a:pt x="83" y="89"/>
                    <a:pt x="83" y="89"/>
                  </a:cubicBezTo>
                  <a:cubicBezTo>
                    <a:pt x="78" y="70"/>
                    <a:pt x="76" y="53"/>
                    <a:pt x="78" y="40"/>
                  </a:cubicBezTo>
                  <a:close/>
                  <a:moveTo>
                    <a:pt x="74" y="183"/>
                  </a:moveTo>
                  <a:cubicBezTo>
                    <a:pt x="74" y="183"/>
                    <a:pt x="74" y="183"/>
                    <a:pt x="74" y="183"/>
                  </a:cubicBezTo>
                  <a:cubicBezTo>
                    <a:pt x="55" y="179"/>
                    <a:pt x="39" y="172"/>
                    <a:pt x="28" y="165"/>
                  </a:cubicBezTo>
                  <a:cubicBezTo>
                    <a:pt x="17" y="158"/>
                    <a:pt x="11" y="151"/>
                    <a:pt x="11" y="143"/>
                  </a:cubicBezTo>
                  <a:cubicBezTo>
                    <a:pt x="11" y="136"/>
                    <a:pt x="17" y="128"/>
                    <a:pt x="28" y="121"/>
                  </a:cubicBezTo>
                  <a:cubicBezTo>
                    <a:pt x="39" y="114"/>
                    <a:pt x="55" y="108"/>
                    <a:pt x="74" y="103"/>
                  </a:cubicBezTo>
                  <a:cubicBezTo>
                    <a:pt x="74" y="103"/>
                    <a:pt x="74" y="103"/>
                    <a:pt x="74" y="103"/>
                  </a:cubicBezTo>
                  <a:cubicBezTo>
                    <a:pt x="74" y="103"/>
                    <a:pt x="74" y="103"/>
                    <a:pt x="74" y="103"/>
                  </a:cubicBezTo>
                  <a:cubicBezTo>
                    <a:pt x="78" y="116"/>
                    <a:pt x="83" y="129"/>
                    <a:pt x="88" y="142"/>
                  </a:cubicBezTo>
                  <a:cubicBezTo>
                    <a:pt x="88" y="142"/>
                    <a:pt x="88" y="142"/>
                    <a:pt x="88" y="142"/>
                  </a:cubicBezTo>
                  <a:cubicBezTo>
                    <a:pt x="88" y="142"/>
                    <a:pt x="88" y="142"/>
                    <a:pt x="88" y="142"/>
                  </a:cubicBezTo>
                  <a:cubicBezTo>
                    <a:pt x="82" y="156"/>
                    <a:pt x="77" y="170"/>
                    <a:pt x="74" y="183"/>
                  </a:cubicBezTo>
                  <a:close/>
                  <a:moveTo>
                    <a:pt x="148" y="240"/>
                  </a:moveTo>
                  <a:cubicBezTo>
                    <a:pt x="128" y="261"/>
                    <a:pt x="109" y="273"/>
                    <a:pt x="96" y="273"/>
                  </a:cubicBezTo>
                  <a:cubicBezTo>
                    <a:pt x="93" y="273"/>
                    <a:pt x="91" y="272"/>
                    <a:pt x="89" y="271"/>
                  </a:cubicBezTo>
                  <a:cubicBezTo>
                    <a:pt x="82" y="268"/>
                    <a:pt x="78" y="259"/>
                    <a:pt x="77" y="246"/>
                  </a:cubicBezTo>
                  <a:cubicBezTo>
                    <a:pt x="76" y="233"/>
                    <a:pt x="77" y="216"/>
                    <a:pt x="82" y="197"/>
                  </a:cubicBezTo>
                  <a:cubicBezTo>
                    <a:pt x="82" y="197"/>
                    <a:pt x="82" y="197"/>
                    <a:pt x="82" y="197"/>
                  </a:cubicBezTo>
                  <a:cubicBezTo>
                    <a:pt x="82" y="197"/>
                    <a:pt x="82" y="197"/>
                    <a:pt x="82" y="197"/>
                  </a:cubicBezTo>
                  <a:cubicBezTo>
                    <a:pt x="94" y="200"/>
                    <a:pt x="107" y="201"/>
                    <a:pt x="120" y="203"/>
                  </a:cubicBezTo>
                  <a:cubicBezTo>
                    <a:pt x="120" y="203"/>
                    <a:pt x="120" y="203"/>
                    <a:pt x="120" y="203"/>
                  </a:cubicBezTo>
                  <a:cubicBezTo>
                    <a:pt x="120" y="203"/>
                    <a:pt x="120" y="203"/>
                    <a:pt x="120" y="203"/>
                  </a:cubicBezTo>
                  <a:cubicBezTo>
                    <a:pt x="129" y="216"/>
                    <a:pt x="138" y="229"/>
                    <a:pt x="148" y="240"/>
                  </a:cubicBezTo>
                  <a:cubicBezTo>
                    <a:pt x="148" y="240"/>
                    <a:pt x="148" y="240"/>
                    <a:pt x="148" y="240"/>
                  </a:cubicBezTo>
                  <a:close/>
                  <a:moveTo>
                    <a:pt x="156" y="231"/>
                  </a:moveTo>
                  <a:cubicBezTo>
                    <a:pt x="156" y="231"/>
                    <a:pt x="156" y="231"/>
                    <a:pt x="156" y="231"/>
                  </a:cubicBezTo>
                  <a:cubicBezTo>
                    <a:pt x="156" y="231"/>
                    <a:pt x="156" y="231"/>
                    <a:pt x="156" y="231"/>
                  </a:cubicBezTo>
                  <a:cubicBezTo>
                    <a:pt x="149" y="223"/>
                    <a:pt x="142" y="214"/>
                    <a:pt x="135" y="204"/>
                  </a:cubicBezTo>
                  <a:cubicBezTo>
                    <a:pt x="135" y="204"/>
                    <a:pt x="135" y="204"/>
                    <a:pt x="135" y="204"/>
                  </a:cubicBezTo>
                  <a:cubicBezTo>
                    <a:pt x="135" y="204"/>
                    <a:pt x="135" y="204"/>
                    <a:pt x="135" y="204"/>
                  </a:cubicBezTo>
                  <a:cubicBezTo>
                    <a:pt x="142" y="204"/>
                    <a:pt x="149" y="204"/>
                    <a:pt x="156" y="204"/>
                  </a:cubicBezTo>
                  <a:cubicBezTo>
                    <a:pt x="163" y="204"/>
                    <a:pt x="170" y="204"/>
                    <a:pt x="177" y="204"/>
                  </a:cubicBezTo>
                  <a:cubicBezTo>
                    <a:pt x="177" y="204"/>
                    <a:pt x="177" y="204"/>
                    <a:pt x="177" y="204"/>
                  </a:cubicBezTo>
                  <a:cubicBezTo>
                    <a:pt x="177" y="204"/>
                    <a:pt x="177" y="204"/>
                    <a:pt x="177" y="204"/>
                  </a:cubicBezTo>
                  <a:cubicBezTo>
                    <a:pt x="170" y="214"/>
                    <a:pt x="163" y="223"/>
                    <a:pt x="156" y="231"/>
                  </a:cubicBezTo>
                  <a:close/>
                  <a:moveTo>
                    <a:pt x="235" y="246"/>
                  </a:moveTo>
                  <a:cubicBezTo>
                    <a:pt x="234" y="259"/>
                    <a:pt x="229" y="268"/>
                    <a:pt x="223" y="271"/>
                  </a:cubicBezTo>
                  <a:cubicBezTo>
                    <a:pt x="221" y="272"/>
                    <a:pt x="218" y="273"/>
                    <a:pt x="215" y="273"/>
                  </a:cubicBezTo>
                  <a:cubicBezTo>
                    <a:pt x="202" y="273"/>
                    <a:pt x="184" y="261"/>
                    <a:pt x="164" y="240"/>
                  </a:cubicBezTo>
                  <a:cubicBezTo>
                    <a:pt x="164" y="240"/>
                    <a:pt x="164" y="240"/>
                    <a:pt x="164" y="240"/>
                  </a:cubicBezTo>
                  <a:cubicBezTo>
                    <a:pt x="164" y="240"/>
                    <a:pt x="164" y="240"/>
                    <a:pt x="164" y="240"/>
                  </a:cubicBezTo>
                  <a:cubicBezTo>
                    <a:pt x="173" y="229"/>
                    <a:pt x="182" y="216"/>
                    <a:pt x="191" y="203"/>
                  </a:cubicBezTo>
                  <a:cubicBezTo>
                    <a:pt x="191" y="203"/>
                    <a:pt x="191" y="203"/>
                    <a:pt x="191" y="203"/>
                  </a:cubicBezTo>
                  <a:cubicBezTo>
                    <a:pt x="191" y="203"/>
                    <a:pt x="191" y="203"/>
                    <a:pt x="191" y="203"/>
                  </a:cubicBezTo>
                  <a:cubicBezTo>
                    <a:pt x="205" y="201"/>
                    <a:pt x="218" y="200"/>
                    <a:pt x="230" y="197"/>
                  </a:cubicBezTo>
                  <a:cubicBezTo>
                    <a:pt x="230" y="197"/>
                    <a:pt x="230" y="197"/>
                    <a:pt x="230" y="197"/>
                  </a:cubicBezTo>
                  <a:cubicBezTo>
                    <a:pt x="230" y="197"/>
                    <a:pt x="230" y="197"/>
                    <a:pt x="230" y="197"/>
                  </a:cubicBezTo>
                  <a:cubicBezTo>
                    <a:pt x="234" y="216"/>
                    <a:pt x="236" y="233"/>
                    <a:pt x="235" y="246"/>
                  </a:cubicBezTo>
                  <a:close/>
                  <a:moveTo>
                    <a:pt x="238" y="183"/>
                  </a:moveTo>
                  <a:cubicBezTo>
                    <a:pt x="238" y="183"/>
                    <a:pt x="238" y="183"/>
                    <a:pt x="238" y="183"/>
                  </a:cubicBezTo>
                  <a:cubicBezTo>
                    <a:pt x="238" y="183"/>
                    <a:pt x="238" y="183"/>
                    <a:pt x="238" y="183"/>
                  </a:cubicBezTo>
                  <a:cubicBezTo>
                    <a:pt x="234" y="170"/>
                    <a:pt x="229" y="156"/>
                    <a:pt x="223" y="142"/>
                  </a:cubicBezTo>
                  <a:cubicBezTo>
                    <a:pt x="223" y="142"/>
                    <a:pt x="223" y="142"/>
                    <a:pt x="223" y="142"/>
                  </a:cubicBezTo>
                  <a:cubicBezTo>
                    <a:pt x="223" y="142"/>
                    <a:pt x="223" y="142"/>
                    <a:pt x="223" y="142"/>
                  </a:cubicBezTo>
                  <a:cubicBezTo>
                    <a:pt x="229" y="129"/>
                    <a:pt x="234" y="116"/>
                    <a:pt x="237" y="103"/>
                  </a:cubicBezTo>
                  <a:cubicBezTo>
                    <a:pt x="237" y="103"/>
                    <a:pt x="237" y="103"/>
                    <a:pt x="237" y="103"/>
                  </a:cubicBezTo>
                  <a:cubicBezTo>
                    <a:pt x="237" y="103"/>
                    <a:pt x="237" y="103"/>
                    <a:pt x="237" y="103"/>
                  </a:cubicBezTo>
                  <a:cubicBezTo>
                    <a:pt x="256" y="108"/>
                    <a:pt x="272" y="114"/>
                    <a:pt x="283" y="121"/>
                  </a:cubicBezTo>
                  <a:cubicBezTo>
                    <a:pt x="294" y="128"/>
                    <a:pt x="300" y="136"/>
                    <a:pt x="300" y="143"/>
                  </a:cubicBezTo>
                  <a:cubicBezTo>
                    <a:pt x="300" y="151"/>
                    <a:pt x="294" y="158"/>
                    <a:pt x="284" y="165"/>
                  </a:cubicBezTo>
                  <a:cubicBezTo>
                    <a:pt x="273" y="172"/>
                    <a:pt x="257" y="179"/>
                    <a:pt x="238"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096" name="Freeform 16">
              <a:extLst>
                <a:ext uri="{FF2B5EF4-FFF2-40B4-BE49-F238E27FC236}">
                  <a16:creationId xmlns:a16="http://schemas.microsoft.com/office/drawing/2014/main" id="{1BFD37E2-B2F8-704F-1806-23FDC974F8DE}"/>
                </a:ext>
              </a:extLst>
            </p:cNvPr>
            <p:cNvSpPr>
              <a:spLocks noEditPoints="1"/>
            </p:cNvSpPr>
            <p:nvPr/>
          </p:nvSpPr>
          <p:spPr bwMode="auto">
            <a:xfrm>
              <a:off x="2588" y="604"/>
              <a:ext cx="80" cy="80"/>
            </a:xfrm>
            <a:custGeom>
              <a:avLst/>
              <a:gdLst>
                <a:gd name="T0" fmla="*/ 27 w 54"/>
                <a:gd name="T1" fmla="*/ 0 h 54"/>
                <a:gd name="T2" fmla="*/ 0 w 54"/>
                <a:gd name="T3" fmla="*/ 27 h 54"/>
                <a:gd name="T4" fmla="*/ 27 w 54"/>
                <a:gd name="T5" fmla="*/ 54 h 54"/>
                <a:gd name="T6" fmla="*/ 54 w 54"/>
                <a:gd name="T7" fmla="*/ 27 h 54"/>
                <a:gd name="T8" fmla="*/ 27 w 54"/>
                <a:gd name="T9" fmla="*/ 0 h 54"/>
                <a:gd name="T10" fmla="*/ 27 w 54"/>
                <a:gd name="T11" fmla="*/ 43 h 54"/>
                <a:gd name="T12" fmla="*/ 12 w 54"/>
                <a:gd name="T13" fmla="*/ 27 h 54"/>
                <a:gd name="T14" fmla="*/ 27 w 54"/>
                <a:gd name="T15" fmla="*/ 12 h 54"/>
                <a:gd name="T16" fmla="*/ 43 w 54"/>
                <a:gd name="T17" fmla="*/ 27 h 54"/>
                <a:gd name="T18" fmla="*/ 27 w 54"/>
                <a:gd name="T19" fmla="*/ 4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54">
                  <a:moveTo>
                    <a:pt x="27" y="0"/>
                  </a:moveTo>
                  <a:cubicBezTo>
                    <a:pt x="12" y="0"/>
                    <a:pt x="0" y="12"/>
                    <a:pt x="0" y="27"/>
                  </a:cubicBezTo>
                  <a:cubicBezTo>
                    <a:pt x="0" y="42"/>
                    <a:pt x="12" y="54"/>
                    <a:pt x="27" y="54"/>
                  </a:cubicBezTo>
                  <a:cubicBezTo>
                    <a:pt x="42" y="54"/>
                    <a:pt x="54" y="42"/>
                    <a:pt x="54" y="27"/>
                  </a:cubicBezTo>
                  <a:cubicBezTo>
                    <a:pt x="54" y="12"/>
                    <a:pt x="42" y="0"/>
                    <a:pt x="27" y="0"/>
                  </a:cubicBezTo>
                  <a:close/>
                  <a:moveTo>
                    <a:pt x="27" y="43"/>
                  </a:moveTo>
                  <a:cubicBezTo>
                    <a:pt x="19" y="43"/>
                    <a:pt x="12" y="36"/>
                    <a:pt x="12" y="27"/>
                  </a:cubicBezTo>
                  <a:cubicBezTo>
                    <a:pt x="12" y="19"/>
                    <a:pt x="19" y="12"/>
                    <a:pt x="27" y="12"/>
                  </a:cubicBezTo>
                  <a:cubicBezTo>
                    <a:pt x="36" y="12"/>
                    <a:pt x="43" y="19"/>
                    <a:pt x="43" y="27"/>
                  </a:cubicBezTo>
                  <a:cubicBezTo>
                    <a:pt x="43" y="36"/>
                    <a:pt x="36" y="43"/>
                    <a:pt x="2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sp>
        <p:nvSpPr>
          <p:cNvPr id="5" name="Marcador de pie de página 4">
            <a:extLst>
              <a:ext uri="{FF2B5EF4-FFF2-40B4-BE49-F238E27FC236}">
                <a16:creationId xmlns:a16="http://schemas.microsoft.com/office/drawing/2014/main" id="{1DBEFFDF-1DAA-CDB1-B25E-226334C759C0}"/>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2493809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Ansoff Matrix</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16743957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o 7" hidden="1">
            <a:extLst>
              <a:ext uri="{FF2B5EF4-FFF2-40B4-BE49-F238E27FC236}">
                <a16:creationId xmlns:a16="http://schemas.microsoft.com/office/drawing/2014/main" id="{1511337C-119A-E058-3FEB-4E62FE565B36}"/>
              </a:ext>
            </a:extLst>
          </p:cNvPr>
          <p:cNvGraphicFramePr>
            <a:graphicFrameLocks noChangeAspect="1"/>
          </p:cNvGraphicFramePr>
          <p:nvPr>
            <p:custDataLst>
              <p:tags r:id="rId1"/>
            </p:custDataLst>
            <p:extLst>
              <p:ext uri="{D42A27DB-BD31-4B8C-83A1-F6EECF244321}">
                <p14:modId xmlns:p14="http://schemas.microsoft.com/office/powerpoint/2010/main" val="30140847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ítulo 3">
            <a:extLst>
              <a:ext uri="{FF2B5EF4-FFF2-40B4-BE49-F238E27FC236}">
                <a16:creationId xmlns:a16="http://schemas.microsoft.com/office/drawing/2014/main" id="{FD7CD411-77CA-A721-0126-71050CF6AC7D}"/>
              </a:ext>
            </a:extLst>
          </p:cNvPr>
          <p:cNvSpPr>
            <a:spLocks noGrp="1"/>
          </p:cNvSpPr>
          <p:nvPr>
            <p:ph type="title"/>
          </p:nvPr>
        </p:nvSpPr>
        <p:spPr/>
        <p:txBody>
          <a:bodyPr vert="horz"/>
          <a:lstStyle/>
          <a:p>
            <a:r>
              <a:rPr lang="en-US" dirty="0"/>
              <a:t>Ansoff Matrix — Overview</a:t>
            </a:r>
          </a:p>
        </p:txBody>
      </p:sp>
      <p:sp>
        <p:nvSpPr>
          <p:cNvPr id="5" name="Marcador de texto 4">
            <a:extLst>
              <a:ext uri="{FF2B5EF4-FFF2-40B4-BE49-F238E27FC236}">
                <a16:creationId xmlns:a16="http://schemas.microsoft.com/office/drawing/2014/main" id="{FA80061F-A2EE-B114-08DD-15856B71D636}"/>
              </a:ext>
            </a:extLst>
          </p:cNvPr>
          <p:cNvSpPr>
            <a:spLocks noGrp="1"/>
          </p:cNvSpPr>
          <p:nvPr>
            <p:ph type="body" sz="quarter" idx="18"/>
          </p:nvPr>
        </p:nvSpPr>
        <p:spPr/>
        <p:txBody>
          <a:bodyPr/>
          <a:lstStyle/>
          <a:p>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The Ansoff Matrix was developed by H. Igor Ansoff and first published in the Harvard Business Review in 1957, in an article titled "Strategies for Diversification."</a:t>
            </a:r>
            <a:endParaRPr lang="en-US" dirty="0"/>
          </a:p>
        </p:txBody>
      </p:sp>
      <p:sp>
        <p:nvSpPr>
          <p:cNvPr id="6" name="Marcador de texto 5">
            <a:extLst>
              <a:ext uri="{FF2B5EF4-FFF2-40B4-BE49-F238E27FC236}">
                <a16:creationId xmlns:a16="http://schemas.microsoft.com/office/drawing/2014/main" id="{19BC71F2-2865-673E-E88E-C41B2FECBC4A}"/>
              </a:ext>
            </a:extLst>
          </p:cNvPr>
          <p:cNvSpPr>
            <a:spLocks noGrp="1"/>
          </p:cNvSpPr>
          <p:nvPr>
            <p:ph type="body" sz="quarter" idx="19"/>
          </p:nvPr>
        </p:nvSpPr>
        <p:spPr/>
        <p:txBody>
          <a:bodyPr/>
          <a:lstStyle/>
          <a:p>
            <a:pPr marL="0" marR="0" lvl="0" indent="0" algn="l" defTabSz="914400" rtl="0" eaLnBrk="1" fontAlgn="auto" latinLnBrk="0" hangingPunct="1">
              <a:lnSpc>
                <a:spcPct val="100000"/>
              </a:lnSpc>
              <a:spcAft>
                <a:spcPts val="0"/>
              </a:spcAft>
              <a:buClrTx/>
              <a:buSzTx/>
              <a:buNone/>
              <a:tabLst/>
              <a:defRPr/>
            </a:pP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The Ansoff Matrix, also known as the Product-Market Growth Matrix, is a strategic planning tool that helps organizations analyze and plan their product and market growth strategy. The matrix consists of four different growth strategies:</a:t>
            </a:r>
          </a:p>
          <a:p>
            <a:pPr marL="228600" marR="0" lvl="0" indent="-22860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Market Penetration</a:t>
            </a: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lang="en-US" sz="11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S</a:t>
            </a:r>
            <a:r>
              <a:rPr kumimoji="0" lang="en-US" sz="110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elling</a:t>
            </a: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more of an existing product to an existing market</a:t>
            </a:r>
            <a:r>
              <a:rPr lang="en-US" sz="11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 with t</a:t>
            </a: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he aim to increase market share, customer loyalty and revenue.</a:t>
            </a:r>
          </a:p>
          <a:p>
            <a:pPr marL="228600" marR="0" lvl="0" indent="-22860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Product Development</a:t>
            </a: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lang="en-US" sz="11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C</a:t>
            </a:r>
            <a:r>
              <a:rPr kumimoji="0" lang="en-US" sz="110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reating</a:t>
            </a: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and introducing new products to an existing market with the aim to provide customers with more options, increase sales and revenue, and expand market share.</a:t>
            </a:r>
          </a:p>
          <a:p>
            <a:pPr marL="228600" marR="0" lvl="0" indent="-22860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Market Development</a:t>
            </a: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lang="en-US" sz="11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I</a:t>
            </a:r>
            <a:r>
              <a:rPr kumimoji="0" lang="en-US" sz="110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ntroducing</a:t>
            </a: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an existing product to a new market</a:t>
            </a:r>
            <a:r>
              <a:rPr lang="en-US" sz="11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 with t</a:t>
            </a: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he aim to increase revenue and market share by targeting new customers.</a:t>
            </a:r>
          </a:p>
          <a:p>
            <a:pPr marL="228600" marR="0" lvl="0" indent="-22860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Diversification</a:t>
            </a: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lang="en-US" sz="11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D</a:t>
            </a:r>
            <a:r>
              <a:rPr kumimoji="0" lang="en-US" sz="110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eveloping</a:t>
            </a: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new products and targeting new markets</a:t>
            </a:r>
            <a:r>
              <a:rPr lang="en-US" sz="11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 with t</a:t>
            </a: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he aim to spread risk and create new revenue streams.</a:t>
            </a:r>
            <a:endParaRPr lang="en-US" dirty="0"/>
          </a:p>
        </p:txBody>
      </p:sp>
      <p:sp>
        <p:nvSpPr>
          <p:cNvPr id="7" name="Marcador de texto 6">
            <a:extLst>
              <a:ext uri="{FF2B5EF4-FFF2-40B4-BE49-F238E27FC236}">
                <a16:creationId xmlns:a16="http://schemas.microsoft.com/office/drawing/2014/main" id="{821EBF19-3CA7-737D-14ED-9E5550D8A5B7}"/>
              </a:ext>
            </a:extLst>
          </p:cNvPr>
          <p:cNvSpPr>
            <a:spLocks noGrp="1"/>
          </p:cNvSpPr>
          <p:nvPr>
            <p:ph type="body" sz="quarter" idx="20"/>
          </p:nvPr>
        </p:nvSpPr>
        <p:spPr/>
        <p:txBody>
          <a:bodyPr/>
          <a:lstStyle/>
          <a:p>
            <a:pPr marL="228600" marR="0" lvl="0" indent="-228600" algn="l" defTabSz="914400" rtl="0" eaLnBrk="1" fontAlgn="auto" latinLnBrk="0" hangingPunct="1">
              <a:lnSpc>
                <a:spcPct val="100000"/>
              </a:lnSpc>
              <a:spcAft>
                <a:spcPts val="0"/>
              </a:spcAft>
              <a:buClrTx/>
              <a:buSzTx/>
              <a:buFont typeface="+mj-lt"/>
              <a:buAutoNum type="arabicPeriod"/>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Growth strategy</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If a client has an existing product that is performing well in the market, but is struggling to increase their market share, the recommendation might be a market penetration strategy.</a:t>
            </a:r>
          </a:p>
          <a:p>
            <a:pPr marL="228600" marR="0" lvl="0" indent="-228600" algn="l" defTabSz="914400" rtl="0" eaLnBrk="1" fontAlgn="auto" latinLnBrk="0" hangingPunct="1">
              <a:lnSpc>
                <a:spcPct val="100000"/>
              </a:lnSpc>
              <a:spcAft>
                <a:spcPts val="0"/>
              </a:spcAft>
              <a:buClrTx/>
              <a:buSzTx/>
              <a:buFont typeface="+mj-lt"/>
              <a:buAutoNum type="arabicPeriod"/>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Product development</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Should they focus on developing a new product for an existing market, or should they enter a new market with an existing product? This decision will depend on a variety of factors, including the client's resources, competitive landscape, and customer needs.</a:t>
            </a:r>
          </a:p>
          <a:p>
            <a:pPr marL="228600" marR="0" lvl="0" indent="-228600" algn="l" defTabSz="914400" rtl="0" eaLnBrk="1" fontAlgn="auto" latinLnBrk="0" hangingPunct="1">
              <a:lnSpc>
                <a:spcPct val="100000"/>
              </a:lnSpc>
              <a:spcAft>
                <a:spcPts val="0"/>
              </a:spcAft>
              <a:buClrTx/>
              <a:buSzTx/>
              <a:buFont typeface="+mj-lt"/>
              <a:buAutoNum type="arabicPeriod"/>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Diversification</a:t>
            </a:r>
            <a:r>
              <a:rPr kumimoji="0" lang="en-US" sz="11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By considering the different options available, we can help the client identify the most attractive opportunities and develop a plan to pursue them.</a:t>
            </a:r>
            <a:endParaRPr lang="en-US" dirty="0"/>
          </a:p>
        </p:txBody>
      </p:sp>
      <p:sp>
        <p:nvSpPr>
          <p:cNvPr id="13" name="Marcador de pie de página 12">
            <a:extLst>
              <a:ext uri="{FF2B5EF4-FFF2-40B4-BE49-F238E27FC236}">
                <a16:creationId xmlns:a16="http://schemas.microsoft.com/office/drawing/2014/main" id="{01058117-2A57-3247-B162-AEB6D441CE9A}"/>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5595232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749CC052-AB94-8E50-B0C6-C00F9032CC91}"/>
              </a:ext>
            </a:extLst>
          </p:cNvPr>
          <p:cNvGraphicFramePr>
            <a:graphicFrameLocks noChangeAspect="1"/>
          </p:cNvGraphicFramePr>
          <p:nvPr>
            <p:custDataLst>
              <p:tags r:id="rId1"/>
            </p:custDataLst>
            <p:extLst>
              <p:ext uri="{D42A27DB-BD31-4B8C-83A1-F6EECF244321}">
                <p14:modId xmlns:p14="http://schemas.microsoft.com/office/powerpoint/2010/main" val="30314044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B31C177-DCE8-5686-5F3D-AA4B843F22C6}"/>
              </a:ext>
            </a:extLst>
          </p:cNvPr>
          <p:cNvSpPr>
            <a:spLocks noGrp="1"/>
          </p:cNvSpPr>
          <p:nvPr>
            <p:ph type="title"/>
          </p:nvPr>
        </p:nvSpPr>
        <p:spPr/>
        <p:txBody>
          <a:bodyPr vert="horz"/>
          <a:lstStyle/>
          <a:p>
            <a:r>
              <a:rPr lang="en-US" dirty="0"/>
              <a:t>Ansoff Matrix — Template</a:t>
            </a:r>
          </a:p>
        </p:txBody>
      </p:sp>
      <p:sp>
        <p:nvSpPr>
          <p:cNvPr id="9" name="Rectángulo 8">
            <a:extLst>
              <a:ext uri="{FF2B5EF4-FFF2-40B4-BE49-F238E27FC236}">
                <a16:creationId xmlns:a16="http://schemas.microsoft.com/office/drawing/2014/main" id="{E39B6120-658B-2D5E-B17B-04A14D628FED}"/>
              </a:ext>
            </a:extLst>
          </p:cNvPr>
          <p:cNvSpPr/>
          <p:nvPr/>
        </p:nvSpPr>
        <p:spPr>
          <a:xfrm>
            <a:off x="659621" y="1152525"/>
            <a:ext cx="5580452" cy="2422943"/>
          </a:xfrm>
          <a:prstGeom prst="rect">
            <a:avLst/>
          </a:prstGeom>
          <a:solidFill>
            <a:srgbClr val="E8E8E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algn="ctr"/>
            <a:r>
              <a:rPr lang="en-US" sz="1600" b="1" dirty="0">
                <a:solidFill>
                  <a:schemeClr val="tx2"/>
                </a:solidFill>
              </a:rPr>
              <a:t>Market development</a:t>
            </a:r>
          </a:p>
        </p:txBody>
      </p:sp>
      <p:sp>
        <p:nvSpPr>
          <p:cNvPr id="10" name="Rectángulo 9">
            <a:extLst>
              <a:ext uri="{FF2B5EF4-FFF2-40B4-BE49-F238E27FC236}">
                <a16:creationId xmlns:a16="http://schemas.microsoft.com/office/drawing/2014/main" id="{6C11EF65-EA24-9A88-794F-7E17F7E62850}"/>
              </a:ext>
            </a:extLst>
          </p:cNvPr>
          <p:cNvSpPr/>
          <p:nvPr/>
        </p:nvSpPr>
        <p:spPr>
          <a:xfrm>
            <a:off x="6240073" y="1152525"/>
            <a:ext cx="5580452" cy="24229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algn="ctr"/>
            <a:r>
              <a:rPr lang="en-US" sz="1600" b="1" dirty="0">
                <a:solidFill>
                  <a:schemeClr val="tx2"/>
                </a:solidFill>
              </a:rPr>
              <a:t>Diversification</a:t>
            </a:r>
          </a:p>
        </p:txBody>
      </p:sp>
      <p:sp>
        <p:nvSpPr>
          <p:cNvPr id="11" name="Rectángulo 10">
            <a:extLst>
              <a:ext uri="{FF2B5EF4-FFF2-40B4-BE49-F238E27FC236}">
                <a16:creationId xmlns:a16="http://schemas.microsoft.com/office/drawing/2014/main" id="{6633C7B9-0085-FCAE-26DB-77FAFE142AE9}"/>
              </a:ext>
            </a:extLst>
          </p:cNvPr>
          <p:cNvSpPr/>
          <p:nvPr/>
        </p:nvSpPr>
        <p:spPr>
          <a:xfrm>
            <a:off x="659621" y="3575468"/>
            <a:ext cx="5580452" cy="24229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algn="ctr"/>
            <a:r>
              <a:rPr lang="en-US" sz="1600" b="1" dirty="0">
                <a:solidFill>
                  <a:schemeClr val="tx2"/>
                </a:solidFill>
              </a:rPr>
              <a:t>Market penetration</a:t>
            </a:r>
          </a:p>
        </p:txBody>
      </p:sp>
      <p:sp>
        <p:nvSpPr>
          <p:cNvPr id="12" name="Rectángulo 11">
            <a:extLst>
              <a:ext uri="{FF2B5EF4-FFF2-40B4-BE49-F238E27FC236}">
                <a16:creationId xmlns:a16="http://schemas.microsoft.com/office/drawing/2014/main" id="{8FE3BA11-85FC-6C46-6CAC-FB97D08C3B97}"/>
              </a:ext>
            </a:extLst>
          </p:cNvPr>
          <p:cNvSpPr/>
          <p:nvPr/>
        </p:nvSpPr>
        <p:spPr>
          <a:xfrm>
            <a:off x="6240073" y="3575468"/>
            <a:ext cx="5580452" cy="2422943"/>
          </a:xfrm>
          <a:prstGeom prst="rect">
            <a:avLst/>
          </a:prstGeom>
          <a:solidFill>
            <a:srgbClr val="E8E8E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algn="ctr"/>
            <a:r>
              <a:rPr lang="en-US" sz="1600" b="1" dirty="0">
                <a:solidFill>
                  <a:schemeClr val="tx2"/>
                </a:solidFill>
              </a:rPr>
              <a:t>Product development</a:t>
            </a:r>
          </a:p>
        </p:txBody>
      </p:sp>
      <p:sp>
        <p:nvSpPr>
          <p:cNvPr id="15" name="TextBox 25">
            <a:extLst>
              <a:ext uri="{FF2B5EF4-FFF2-40B4-BE49-F238E27FC236}">
                <a16:creationId xmlns:a16="http://schemas.microsoft.com/office/drawing/2014/main" id="{32364BB3-24B6-31EE-B7AB-0C1490C52E17}"/>
              </a:ext>
            </a:extLst>
          </p:cNvPr>
          <p:cNvSpPr txBox="1"/>
          <p:nvPr/>
        </p:nvSpPr>
        <p:spPr>
          <a:xfrm rot="16200000">
            <a:off x="-353789" y="2235312"/>
            <a:ext cx="1738678" cy="257369"/>
          </a:xfrm>
          <a:prstGeom prst="rect">
            <a:avLst/>
          </a:prstGeom>
          <a:noFill/>
          <a:ln w="19050">
            <a:noFill/>
          </a:ln>
        </p:spPr>
        <p:txBody>
          <a:bodyPr wrap="square" lIns="0" tIns="0" rIns="0" bIns="72000" rtlCol="0" anchor="b">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New markets</a:t>
            </a:r>
          </a:p>
        </p:txBody>
      </p:sp>
      <p:sp>
        <p:nvSpPr>
          <p:cNvPr id="16" name="TextBox 25">
            <a:extLst>
              <a:ext uri="{FF2B5EF4-FFF2-40B4-BE49-F238E27FC236}">
                <a16:creationId xmlns:a16="http://schemas.microsoft.com/office/drawing/2014/main" id="{D56508F5-0F58-3D2D-1F08-C63083EE4D93}"/>
              </a:ext>
            </a:extLst>
          </p:cNvPr>
          <p:cNvSpPr txBox="1"/>
          <p:nvPr/>
        </p:nvSpPr>
        <p:spPr>
          <a:xfrm>
            <a:off x="2157565" y="6051355"/>
            <a:ext cx="2584564" cy="257369"/>
          </a:xfrm>
          <a:prstGeom prst="rect">
            <a:avLst/>
          </a:prstGeom>
          <a:noFill/>
          <a:ln w="19050">
            <a:noFill/>
          </a:ln>
        </p:spPr>
        <p:txBody>
          <a:bodyPr wrap="square" lIns="0" tIns="72000" rIns="0" bIns="0" rtlCol="0" anchor="b">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Existing products/ services</a:t>
            </a:r>
          </a:p>
        </p:txBody>
      </p:sp>
      <p:sp>
        <p:nvSpPr>
          <p:cNvPr id="17" name="TextBox 25">
            <a:extLst>
              <a:ext uri="{FF2B5EF4-FFF2-40B4-BE49-F238E27FC236}">
                <a16:creationId xmlns:a16="http://schemas.microsoft.com/office/drawing/2014/main" id="{FAA903C0-6125-5D79-4074-70A71FF44B40}"/>
              </a:ext>
            </a:extLst>
          </p:cNvPr>
          <p:cNvSpPr txBox="1"/>
          <p:nvPr/>
        </p:nvSpPr>
        <p:spPr>
          <a:xfrm>
            <a:off x="7738017" y="6051355"/>
            <a:ext cx="2584564" cy="257369"/>
          </a:xfrm>
          <a:prstGeom prst="rect">
            <a:avLst/>
          </a:prstGeom>
          <a:noFill/>
          <a:ln w="19050">
            <a:noFill/>
          </a:ln>
        </p:spPr>
        <p:txBody>
          <a:bodyPr wrap="square" lIns="0" tIns="72000" rIns="0" bIns="0" rtlCol="0" anchor="b">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New products/ services</a:t>
            </a:r>
          </a:p>
        </p:txBody>
      </p:sp>
      <p:sp>
        <p:nvSpPr>
          <p:cNvPr id="18" name="TextBox 25">
            <a:extLst>
              <a:ext uri="{FF2B5EF4-FFF2-40B4-BE49-F238E27FC236}">
                <a16:creationId xmlns:a16="http://schemas.microsoft.com/office/drawing/2014/main" id="{BC1AFB6C-6504-73D5-180A-DEEB2F948D54}"/>
              </a:ext>
            </a:extLst>
          </p:cNvPr>
          <p:cNvSpPr txBox="1"/>
          <p:nvPr/>
        </p:nvSpPr>
        <p:spPr>
          <a:xfrm rot="16200000">
            <a:off x="-341091" y="4658255"/>
            <a:ext cx="1738678" cy="257369"/>
          </a:xfrm>
          <a:prstGeom prst="rect">
            <a:avLst/>
          </a:prstGeom>
          <a:noFill/>
          <a:ln w="19050">
            <a:noFill/>
          </a:ln>
        </p:spPr>
        <p:txBody>
          <a:bodyPr wrap="square" lIns="0" tIns="0" rIns="0" bIns="72000" rtlCol="0" anchor="b">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Existing markets</a:t>
            </a:r>
          </a:p>
        </p:txBody>
      </p:sp>
      <p:sp>
        <p:nvSpPr>
          <p:cNvPr id="20" name="TextBox 25">
            <a:extLst>
              <a:ext uri="{FF2B5EF4-FFF2-40B4-BE49-F238E27FC236}">
                <a16:creationId xmlns:a16="http://schemas.microsoft.com/office/drawing/2014/main" id="{AA15F2B9-287F-6DA8-4CBA-C6954ABC4D8E}"/>
              </a:ext>
            </a:extLst>
          </p:cNvPr>
          <p:cNvSpPr txBox="1"/>
          <p:nvPr/>
        </p:nvSpPr>
        <p:spPr>
          <a:xfrm>
            <a:off x="659622" y="1585085"/>
            <a:ext cx="5580452" cy="553998"/>
          </a:xfrm>
          <a:prstGeom prst="rect">
            <a:avLst/>
          </a:prstGeom>
          <a:noFill/>
        </p:spPr>
        <p:txBody>
          <a:bodyPr wrap="square" lIns="72000" tIns="0" rIns="36000" bIns="0" rtlCol="0" anchor="t">
            <a:spAutoFit/>
          </a:bodyPr>
          <a:lstStyle/>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21" name="TextBox 25">
            <a:extLst>
              <a:ext uri="{FF2B5EF4-FFF2-40B4-BE49-F238E27FC236}">
                <a16:creationId xmlns:a16="http://schemas.microsoft.com/office/drawing/2014/main" id="{A36E0C95-BB90-59E2-CDC5-553165145E9E}"/>
              </a:ext>
            </a:extLst>
          </p:cNvPr>
          <p:cNvSpPr txBox="1"/>
          <p:nvPr/>
        </p:nvSpPr>
        <p:spPr>
          <a:xfrm>
            <a:off x="6240073" y="1585085"/>
            <a:ext cx="5580452" cy="553998"/>
          </a:xfrm>
          <a:prstGeom prst="rect">
            <a:avLst/>
          </a:prstGeom>
          <a:noFill/>
        </p:spPr>
        <p:txBody>
          <a:bodyPr wrap="square" lIns="72000" tIns="0" rIns="36000" bIns="0" rtlCol="0" anchor="t">
            <a:spAutoFit/>
          </a:bodyPr>
          <a:lstStyle/>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22" name="TextBox 25">
            <a:extLst>
              <a:ext uri="{FF2B5EF4-FFF2-40B4-BE49-F238E27FC236}">
                <a16:creationId xmlns:a16="http://schemas.microsoft.com/office/drawing/2014/main" id="{E73E698C-722A-1869-9CC0-AFECD041E2D6}"/>
              </a:ext>
            </a:extLst>
          </p:cNvPr>
          <p:cNvSpPr txBox="1"/>
          <p:nvPr/>
        </p:nvSpPr>
        <p:spPr>
          <a:xfrm>
            <a:off x="659622" y="4008027"/>
            <a:ext cx="5580452" cy="553998"/>
          </a:xfrm>
          <a:prstGeom prst="rect">
            <a:avLst/>
          </a:prstGeom>
          <a:noFill/>
        </p:spPr>
        <p:txBody>
          <a:bodyPr wrap="square" lIns="72000" tIns="0" rIns="36000" bIns="0" rtlCol="0" anchor="t">
            <a:spAutoFit/>
          </a:bodyPr>
          <a:lstStyle/>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23" name="TextBox 25">
            <a:extLst>
              <a:ext uri="{FF2B5EF4-FFF2-40B4-BE49-F238E27FC236}">
                <a16:creationId xmlns:a16="http://schemas.microsoft.com/office/drawing/2014/main" id="{777B8D96-C386-5B25-D477-DA5B3C921924}"/>
              </a:ext>
            </a:extLst>
          </p:cNvPr>
          <p:cNvSpPr txBox="1"/>
          <p:nvPr/>
        </p:nvSpPr>
        <p:spPr>
          <a:xfrm>
            <a:off x="6240073" y="4008027"/>
            <a:ext cx="5580452" cy="553998"/>
          </a:xfrm>
          <a:prstGeom prst="rect">
            <a:avLst/>
          </a:prstGeom>
          <a:noFill/>
        </p:spPr>
        <p:txBody>
          <a:bodyPr wrap="square" lIns="72000" tIns="0" rIns="36000" bIns="0" rtlCol="0" anchor="t">
            <a:spAutoFit/>
          </a:bodyPr>
          <a:lstStyle/>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4" name="Marcador de pie de página 3">
            <a:extLst>
              <a:ext uri="{FF2B5EF4-FFF2-40B4-BE49-F238E27FC236}">
                <a16:creationId xmlns:a16="http://schemas.microsoft.com/office/drawing/2014/main" id="{663569CC-8384-21F4-9D2C-ED5EFAF5ABAD}"/>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4749248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Force Field Analysis</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11816127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1DA09C37-7938-57A6-2699-47F3EA9C855E}"/>
              </a:ext>
            </a:extLst>
          </p:cNvPr>
          <p:cNvGraphicFramePr>
            <a:graphicFrameLocks noChangeAspect="1"/>
          </p:cNvGraphicFramePr>
          <p:nvPr>
            <p:custDataLst>
              <p:tags r:id="rId1"/>
            </p:custDataLst>
            <p:extLst>
              <p:ext uri="{D42A27DB-BD31-4B8C-83A1-F6EECF244321}">
                <p14:modId xmlns:p14="http://schemas.microsoft.com/office/powerpoint/2010/main" val="18643071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85E40EF0-37BB-2653-DC0A-DA9EFD08FB14}"/>
              </a:ext>
            </a:extLst>
          </p:cNvPr>
          <p:cNvSpPr>
            <a:spLocks noGrp="1"/>
          </p:cNvSpPr>
          <p:nvPr>
            <p:ph type="title"/>
          </p:nvPr>
        </p:nvSpPr>
        <p:spPr/>
        <p:txBody>
          <a:bodyPr vert="horz"/>
          <a:lstStyle/>
          <a:p>
            <a:r>
              <a:rPr lang="en-US" dirty="0"/>
              <a:t>Force Field Analysis — Overview</a:t>
            </a:r>
          </a:p>
        </p:txBody>
      </p:sp>
      <p:sp>
        <p:nvSpPr>
          <p:cNvPr id="3" name="Marcador de texto 2">
            <a:extLst>
              <a:ext uri="{FF2B5EF4-FFF2-40B4-BE49-F238E27FC236}">
                <a16:creationId xmlns:a16="http://schemas.microsoft.com/office/drawing/2014/main" id="{1BB49736-2A3F-1FB1-956E-512AD434A9F9}"/>
              </a:ext>
            </a:extLst>
          </p:cNvPr>
          <p:cNvSpPr>
            <a:spLocks noGrp="1"/>
          </p:cNvSpPr>
          <p:nvPr>
            <p:ph type="body" sz="quarter" idx="18"/>
          </p:nvPr>
        </p:nvSpPr>
        <p:spPr/>
        <p:txBody>
          <a:bodyPr/>
          <a:lstStyle/>
          <a:p>
            <a:r>
              <a:rPr lang="en-US" dirty="0"/>
              <a:t>The Force Field Analysis was created by Kurt Lewin in the 1940s, used in his work as a social psychologist. In the modern world, it is used for making and communicating decisions about whether to go ahead with a change or not.</a:t>
            </a:r>
          </a:p>
        </p:txBody>
      </p:sp>
      <p:sp>
        <p:nvSpPr>
          <p:cNvPr id="4" name="Marcador de texto 3">
            <a:extLst>
              <a:ext uri="{FF2B5EF4-FFF2-40B4-BE49-F238E27FC236}">
                <a16:creationId xmlns:a16="http://schemas.microsoft.com/office/drawing/2014/main" id="{E13A5784-5FFB-7EA9-5B3C-E29AE796BDD2}"/>
              </a:ext>
            </a:extLst>
          </p:cNvPr>
          <p:cNvSpPr>
            <a:spLocks noGrp="1"/>
          </p:cNvSpPr>
          <p:nvPr>
            <p:ph type="body" sz="quarter" idx="19"/>
          </p:nvPr>
        </p:nvSpPr>
        <p:spPr/>
        <p:txBody>
          <a:bodyPr/>
          <a:lstStyle/>
          <a:p>
            <a:pPr marL="0" indent="0">
              <a:buFont typeface="Arial" panose="020B0604020202020204" pitchFamily="34" charset="0"/>
              <a:buNone/>
            </a:pPr>
            <a:r>
              <a:rPr lang="en-US" dirty="0"/>
              <a:t>Force Field Analysis is a tool used to analyze the forces or factors that drive or impede a particular change or goal.</a:t>
            </a:r>
          </a:p>
          <a:p>
            <a:r>
              <a:rPr lang="en-US" b="1" dirty="0"/>
              <a:t>Concept: </a:t>
            </a:r>
            <a:r>
              <a:rPr lang="en-US" dirty="0"/>
              <a:t>Any goal or desired change is influenced by two opposing sets of forces, driving forces (positive or supportive factors) and restraining forces (negative or hindering factors). Force Field Analysis helps to identify and evaluate these forces and their impact on the desired change or goal.</a:t>
            </a:r>
          </a:p>
          <a:p>
            <a:r>
              <a:rPr lang="en-US" b="1" dirty="0"/>
              <a:t>Process: </a:t>
            </a:r>
            <a:r>
              <a:rPr lang="en-US" dirty="0"/>
              <a:t>Identifying and listing all the driving and restraining forces that affect the desired change or goal, and then assigning a score to each force based on its strength and impact. The scores are then used to create a visual representation of the forces on a diagram, with driving forces on one side and restraining forces on the other.</a:t>
            </a:r>
          </a:p>
          <a:p>
            <a:r>
              <a:rPr lang="en-US" b="1" dirty="0"/>
              <a:t>Use: </a:t>
            </a:r>
            <a:r>
              <a:rPr lang="en-US" dirty="0"/>
              <a:t>Once the diagram is created, efforts can be focused on increasing the driving forces and reducing the restraining forces to achieve the desired change or goal. The analysis can be used to identify the key factors that influence a particular situation and develop strategies to achieve the desired outcome.</a:t>
            </a:r>
          </a:p>
        </p:txBody>
      </p:sp>
      <p:sp>
        <p:nvSpPr>
          <p:cNvPr id="5" name="Marcador de texto 4">
            <a:extLst>
              <a:ext uri="{FF2B5EF4-FFF2-40B4-BE49-F238E27FC236}">
                <a16:creationId xmlns:a16="http://schemas.microsoft.com/office/drawing/2014/main" id="{3569D1CE-890D-B39D-34F8-CCC174108086}"/>
              </a:ext>
            </a:extLst>
          </p:cNvPr>
          <p:cNvSpPr>
            <a:spLocks noGrp="1"/>
          </p:cNvSpPr>
          <p:nvPr>
            <p:ph type="body" sz="quarter" idx="20"/>
          </p:nvPr>
        </p:nvSpPr>
        <p:spPr/>
        <p:txBody>
          <a:bodyPr/>
          <a:lstStyle/>
          <a:p>
            <a:r>
              <a:rPr lang="en-US" b="1" dirty="0"/>
              <a:t>Change Management: </a:t>
            </a:r>
            <a:r>
              <a:rPr lang="en-US" dirty="0"/>
              <a:t>Identify the driving and restraining forces that will affect the success of the change. By analyzing these forces, the company can develop strategies to strengthen the driving forces and reduce the restraining forces to increase the chances of success.</a:t>
            </a:r>
          </a:p>
          <a:p>
            <a:r>
              <a:rPr lang="en-US" b="1" dirty="0"/>
              <a:t>Organizational Development: </a:t>
            </a:r>
            <a:r>
              <a:rPr lang="en-US" dirty="0"/>
              <a:t>Identify the key factors that impact organizational performance, such as leadership style, communication, culture, and structure. </a:t>
            </a:r>
          </a:p>
          <a:p>
            <a:r>
              <a:rPr lang="en-US" b="1" dirty="0"/>
              <a:t>Strategic Planning: </a:t>
            </a:r>
            <a:r>
              <a:rPr lang="en-US" dirty="0"/>
              <a:t>Analyze the driving and restraining forces to determine whether the strategy is likely to succeed, and develop contingency plans to address any potential obstacles.</a:t>
            </a:r>
          </a:p>
          <a:p>
            <a:r>
              <a:rPr lang="en-US" b="1" dirty="0"/>
              <a:t>Marketing: </a:t>
            </a:r>
            <a:r>
              <a:rPr lang="en-US" dirty="0"/>
              <a:t>Evaluate the effectiveness of a marketing campaign and whether it is likely to achieve its objectives, and develop strategies to strengthen the driving forces and mitigate the restraining forces.</a:t>
            </a:r>
          </a:p>
        </p:txBody>
      </p:sp>
      <p:sp>
        <p:nvSpPr>
          <p:cNvPr id="12" name="Marcador de pie de página 11">
            <a:extLst>
              <a:ext uri="{FF2B5EF4-FFF2-40B4-BE49-F238E27FC236}">
                <a16:creationId xmlns:a16="http://schemas.microsoft.com/office/drawing/2014/main" id="{FE37E0D3-08DA-8809-8183-80DB0F5082FC}"/>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2072497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p:txBody>
          <a:bodyPr/>
          <a:lstStyle/>
          <a:p>
            <a:r>
              <a:rPr lang="en-US" dirty="0"/>
              <a:t>Force Field Analysis — Template</a:t>
            </a:r>
          </a:p>
        </p:txBody>
      </p:sp>
      <p:sp>
        <p:nvSpPr>
          <p:cNvPr id="7" name="Diagrama de flujo: disco magnético 6">
            <a:extLst>
              <a:ext uri="{FF2B5EF4-FFF2-40B4-BE49-F238E27FC236}">
                <a16:creationId xmlns:a16="http://schemas.microsoft.com/office/drawing/2014/main" id="{21BDC1AA-0619-B47A-1972-181CA395DB47}"/>
              </a:ext>
            </a:extLst>
          </p:cNvPr>
          <p:cNvSpPr/>
          <p:nvPr/>
        </p:nvSpPr>
        <p:spPr>
          <a:xfrm>
            <a:off x="4933950" y="5001741"/>
            <a:ext cx="2298700" cy="1306984"/>
          </a:xfrm>
          <a:prstGeom prst="flowChartMagneticDisk">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216000" rIns="0" bIns="0" rtlCol="0" anchor="ctr"/>
          <a:lstStyle/>
          <a:p>
            <a:pPr algn="ctr"/>
            <a:r>
              <a:rPr lang="en-US" b="1" dirty="0">
                <a:solidFill>
                  <a:schemeClr val="bg1"/>
                </a:solidFill>
              </a:rPr>
              <a:t>5</a:t>
            </a:r>
          </a:p>
        </p:txBody>
      </p:sp>
      <p:sp>
        <p:nvSpPr>
          <p:cNvPr id="8" name="Diagrama de flujo: disco magnético 7">
            <a:extLst>
              <a:ext uri="{FF2B5EF4-FFF2-40B4-BE49-F238E27FC236}">
                <a16:creationId xmlns:a16="http://schemas.microsoft.com/office/drawing/2014/main" id="{3CB5F467-5B16-AAD5-6434-8F9820801389}"/>
              </a:ext>
            </a:extLst>
          </p:cNvPr>
          <p:cNvSpPr/>
          <p:nvPr/>
        </p:nvSpPr>
        <p:spPr>
          <a:xfrm>
            <a:off x="4933950" y="4134015"/>
            <a:ext cx="2298700" cy="1306984"/>
          </a:xfrm>
          <a:prstGeom prst="flowChartMagneticDisk">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216000" rIns="0" bIns="0" rtlCol="0" anchor="ctr"/>
          <a:lstStyle/>
          <a:p>
            <a:pPr algn="ctr"/>
            <a:r>
              <a:rPr lang="en-US" b="1" dirty="0">
                <a:solidFill>
                  <a:schemeClr val="bg1"/>
                </a:solidFill>
              </a:rPr>
              <a:t>4</a:t>
            </a:r>
          </a:p>
        </p:txBody>
      </p:sp>
      <p:sp>
        <p:nvSpPr>
          <p:cNvPr id="9" name="Diagrama de flujo: disco magnético 8">
            <a:extLst>
              <a:ext uri="{FF2B5EF4-FFF2-40B4-BE49-F238E27FC236}">
                <a16:creationId xmlns:a16="http://schemas.microsoft.com/office/drawing/2014/main" id="{D7638434-4A69-999F-C848-E4710B961CEC}"/>
              </a:ext>
            </a:extLst>
          </p:cNvPr>
          <p:cNvSpPr/>
          <p:nvPr/>
        </p:nvSpPr>
        <p:spPr>
          <a:xfrm>
            <a:off x="4933950" y="3262951"/>
            <a:ext cx="2298700" cy="1306984"/>
          </a:xfrm>
          <a:prstGeom prst="flowChartMagneticDisk">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216000" rIns="0" bIns="0" rtlCol="0" anchor="ctr"/>
          <a:lstStyle/>
          <a:p>
            <a:pPr algn="ctr"/>
            <a:r>
              <a:rPr lang="en-US" b="1" dirty="0">
                <a:solidFill>
                  <a:schemeClr val="bg1"/>
                </a:solidFill>
              </a:rPr>
              <a:t>3</a:t>
            </a:r>
          </a:p>
        </p:txBody>
      </p:sp>
      <p:sp>
        <p:nvSpPr>
          <p:cNvPr id="10" name="Diagrama de flujo: disco magnético 9">
            <a:extLst>
              <a:ext uri="{FF2B5EF4-FFF2-40B4-BE49-F238E27FC236}">
                <a16:creationId xmlns:a16="http://schemas.microsoft.com/office/drawing/2014/main" id="{108F2A53-F8E6-8B16-E6B9-67D813356E45}"/>
              </a:ext>
            </a:extLst>
          </p:cNvPr>
          <p:cNvSpPr/>
          <p:nvPr/>
        </p:nvSpPr>
        <p:spPr>
          <a:xfrm>
            <a:off x="4933950" y="2388551"/>
            <a:ext cx="2298700" cy="1306984"/>
          </a:xfrm>
          <a:prstGeom prst="flowChartMagneticDisk">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216000" rIns="0" bIns="0" rtlCol="0" anchor="ctr"/>
          <a:lstStyle/>
          <a:p>
            <a:pPr algn="ctr"/>
            <a:r>
              <a:rPr lang="en-US" b="1" dirty="0">
                <a:solidFill>
                  <a:schemeClr val="bg1"/>
                </a:solidFill>
              </a:rPr>
              <a:t>2</a:t>
            </a:r>
          </a:p>
        </p:txBody>
      </p:sp>
      <p:sp>
        <p:nvSpPr>
          <p:cNvPr id="11" name="Diagrama de flujo: disco magnético 10">
            <a:extLst>
              <a:ext uri="{FF2B5EF4-FFF2-40B4-BE49-F238E27FC236}">
                <a16:creationId xmlns:a16="http://schemas.microsoft.com/office/drawing/2014/main" id="{A016E1B1-1734-FE99-3086-5798C8B85DDB}"/>
              </a:ext>
            </a:extLst>
          </p:cNvPr>
          <p:cNvSpPr/>
          <p:nvPr/>
        </p:nvSpPr>
        <p:spPr>
          <a:xfrm>
            <a:off x="4933950" y="1520825"/>
            <a:ext cx="2298700" cy="1306984"/>
          </a:xfrm>
          <a:prstGeom prst="flowChartMagneticDisk">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216000" rIns="0" bIns="0" rtlCol="0" anchor="ctr"/>
          <a:lstStyle/>
          <a:p>
            <a:pPr algn="ctr"/>
            <a:r>
              <a:rPr lang="en-US" b="1" dirty="0">
                <a:solidFill>
                  <a:schemeClr val="bg1"/>
                </a:solidFill>
              </a:rPr>
              <a:t>1</a:t>
            </a:r>
          </a:p>
        </p:txBody>
      </p:sp>
      <p:sp>
        <p:nvSpPr>
          <p:cNvPr id="12" name="Flecha: pentágono 11">
            <a:extLst>
              <a:ext uri="{FF2B5EF4-FFF2-40B4-BE49-F238E27FC236}">
                <a16:creationId xmlns:a16="http://schemas.microsoft.com/office/drawing/2014/main" id="{4F3AD6B1-DF7C-D9AD-F2FF-670E5585E057}"/>
              </a:ext>
            </a:extLst>
          </p:cNvPr>
          <p:cNvSpPr/>
          <p:nvPr/>
        </p:nvSpPr>
        <p:spPr>
          <a:xfrm>
            <a:off x="371475" y="1797845"/>
            <a:ext cx="4458880" cy="758824"/>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en-US" sz="1200" dirty="0">
                <a:solidFill>
                  <a:schemeClr val="tx1"/>
                </a:solidFill>
              </a:rPr>
              <a:t>XXX</a:t>
            </a:r>
          </a:p>
        </p:txBody>
      </p:sp>
      <p:sp>
        <p:nvSpPr>
          <p:cNvPr id="13" name="Rectángulo 12">
            <a:extLst>
              <a:ext uri="{FF2B5EF4-FFF2-40B4-BE49-F238E27FC236}">
                <a16:creationId xmlns:a16="http://schemas.microsoft.com/office/drawing/2014/main" id="{CB338199-736D-D218-BCE8-549B9DCE8DF8}"/>
              </a:ext>
            </a:extLst>
          </p:cNvPr>
          <p:cNvSpPr/>
          <p:nvPr/>
        </p:nvSpPr>
        <p:spPr>
          <a:xfrm>
            <a:off x="384175" y="1520826"/>
            <a:ext cx="444618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spAutoFit/>
          </a:bodyPr>
          <a:lstStyle/>
          <a:p>
            <a:r>
              <a:rPr lang="en-US" sz="1600" b="1" dirty="0">
                <a:solidFill>
                  <a:schemeClr val="tx2"/>
                </a:solidFill>
              </a:rPr>
              <a:t>Driving force </a:t>
            </a:r>
            <a:r>
              <a:rPr lang="en-US" sz="1200" dirty="0">
                <a:solidFill>
                  <a:schemeClr val="tx2"/>
                </a:solidFill>
              </a:rPr>
              <a:t>(positive forces for change)</a:t>
            </a:r>
          </a:p>
        </p:txBody>
      </p:sp>
      <p:sp>
        <p:nvSpPr>
          <p:cNvPr id="14" name="Flecha: pentágono 13">
            <a:extLst>
              <a:ext uri="{FF2B5EF4-FFF2-40B4-BE49-F238E27FC236}">
                <a16:creationId xmlns:a16="http://schemas.microsoft.com/office/drawing/2014/main" id="{D0329306-C05B-B7D3-B7B0-83BD2C1C5D67}"/>
              </a:ext>
            </a:extLst>
          </p:cNvPr>
          <p:cNvSpPr/>
          <p:nvPr/>
        </p:nvSpPr>
        <p:spPr>
          <a:xfrm>
            <a:off x="371475" y="2662631"/>
            <a:ext cx="4458880" cy="758824"/>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en-US" sz="1200">
                <a:solidFill>
                  <a:schemeClr val="tx1"/>
                </a:solidFill>
              </a:rPr>
              <a:t>XXX</a:t>
            </a:r>
            <a:endParaRPr lang="en-US" sz="1200" dirty="0">
              <a:solidFill>
                <a:schemeClr val="tx1"/>
              </a:solidFill>
            </a:endParaRPr>
          </a:p>
        </p:txBody>
      </p:sp>
      <p:sp>
        <p:nvSpPr>
          <p:cNvPr id="15" name="Flecha: pentágono 14">
            <a:extLst>
              <a:ext uri="{FF2B5EF4-FFF2-40B4-BE49-F238E27FC236}">
                <a16:creationId xmlns:a16="http://schemas.microsoft.com/office/drawing/2014/main" id="{B4D79D13-B265-03BA-5C93-26362E62705A}"/>
              </a:ext>
            </a:extLst>
          </p:cNvPr>
          <p:cNvSpPr/>
          <p:nvPr/>
        </p:nvSpPr>
        <p:spPr>
          <a:xfrm>
            <a:off x="371475" y="3540485"/>
            <a:ext cx="4458880" cy="758824"/>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en-US" sz="1200">
                <a:solidFill>
                  <a:schemeClr val="tx1"/>
                </a:solidFill>
              </a:rPr>
              <a:t>XXX</a:t>
            </a:r>
            <a:endParaRPr lang="en-US" sz="1200" dirty="0" err="1">
              <a:solidFill>
                <a:schemeClr val="tx1"/>
              </a:solidFill>
            </a:endParaRPr>
          </a:p>
        </p:txBody>
      </p:sp>
      <p:sp>
        <p:nvSpPr>
          <p:cNvPr id="16" name="Flecha: pentágono 15">
            <a:extLst>
              <a:ext uri="{FF2B5EF4-FFF2-40B4-BE49-F238E27FC236}">
                <a16:creationId xmlns:a16="http://schemas.microsoft.com/office/drawing/2014/main" id="{BF4A6EA1-0FAE-D8FD-ED6E-93DB65BC9CF7}"/>
              </a:ext>
            </a:extLst>
          </p:cNvPr>
          <p:cNvSpPr/>
          <p:nvPr/>
        </p:nvSpPr>
        <p:spPr>
          <a:xfrm>
            <a:off x="371475" y="4411432"/>
            <a:ext cx="4458880" cy="758824"/>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en-US" sz="1200">
                <a:solidFill>
                  <a:schemeClr val="tx1"/>
                </a:solidFill>
              </a:rPr>
              <a:t>XXX</a:t>
            </a:r>
            <a:endParaRPr lang="en-US" sz="1200" dirty="0" err="1">
              <a:solidFill>
                <a:schemeClr val="tx1"/>
              </a:solidFill>
            </a:endParaRPr>
          </a:p>
        </p:txBody>
      </p:sp>
      <p:sp>
        <p:nvSpPr>
          <p:cNvPr id="17" name="Flecha: pentágono 16">
            <a:extLst>
              <a:ext uri="{FF2B5EF4-FFF2-40B4-BE49-F238E27FC236}">
                <a16:creationId xmlns:a16="http://schemas.microsoft.com/office/drawing/2014/main" id="{238F00B1-A825-ACCA-FD5B-DE08A37E5836}"/>
              </a:ext>
            </a:extLst>
          </p:cNvPr>
          <p:cNvSpPr/>
          <p:nvPr/>
        </p:nvSpPr>
        <p:spPr>
          <a:xfrm>
            <a:off x="371475" y="5277606"/>
            <a:ext cx="4458880" cy="758824"/>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en-US" sz="1200">
                <a:solidFill>
                  <a:schemeClr val="tx1"/>
                </a:solidFill>
              </a:rPr>
              <a:t>XXX</a:t>
            </a:r>
            <a:endParaRPr lang="en-US" sz="1200" dirty="0" err="1">
              <a:solidFill>
                <a:schemeClr val="tx1"/>
              </a:solidFill>
            </a:endParaRPr>
          </a:p>
        </p:txBody>
      </p:sp>
      <p:sp>
        <p:nvSpPr>
          <p:cNvPr id="18" name="Flecha: pentágono 17">
            <a:extLst>
              <a:ext uri="{FF2B5EF4-FFF2-40B4-BE49-F238E27FC236}">
                <a16:creationId xmlns:a16="http://schemas.microsoft.com/office/drawing/2014/main" id="{51453C37-260E-400D-2D5D-7C3382621D32}"/>
              </a:ext>
            </a:extLst>
          </p:cNvPr>
          <p:cNvSpPr/>
          <p:nvPr/>
        </p:nvSpPr>
        <p:spPr>
          <a:xfrm flipH="1">
            <a:off x="7361645" y="1797845"/>
            <a:ext cx="4458880" cy="758824"/>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algn="r"/>
            <a:r>
              <a:rPr lang="en-US" sz="1200" dirty="0">
                <a:solidFill>
                  <a:schemeClr val="tx1"/>
                </a:solidFill>
              </a:rPr>
              <a:t>XXX</a:t>
            </a:r>
          </a:p>
        </p:txBody>
      </p:sp>
      <p:sp>
        <p:nvSpPr>
          <p:cNvPr id="19" name="Flecha: pentágono 18">
            <a:extLst>
              <a:ext uri="{FF2B5EF4-FFF2-40B4-BE49-F238E27FC236}">
                <a16:creationId xmlns:a16="http://schemas.microsoft.com/office/drawing/2014/main" id="{7E444423-1D33-35BE-7325-F0A52542838D}"/>
              </a:ext>
            </a:extLst>
          </p:cNvPr>
          <p:cNvSpPr/>
          <p:nvPr/>
        </p:nvSpPr>
        <p:spPr>
          <a:xfrm flipH="1">
            <a:off x="7361645" y="2662631"/>
            <a:ext cx="4458880" cy="758824"/>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algn="r"/>
            <a:r>
              <a:rPr lang="en-US" sz="1200">
                <a:solidFill>
                  <a:schemeClr val="tx1"/>
                </a:solidFill>
              </a:rPr>
              <a:t>XXX</a:t>
            </a:r>
            <a:endParaRPr lang="en-US" sz="1200" dirty="0" err="1">
              <a:solidFill>
                <a:schemeClr val="tx1"/>
              </a:solidFill>
            </a:endParaRPr>
          </a:p>
        </p:txBody>
      </p:sp>
      <p:sp>
        <p:nvSpPr>
          <p:cNvPr id="20" name="Flecha: pentágono 19">
            <a:extLst>
              <a:ext uri="{FF2B5EF4-FFF2-40B4-BE49-F238E27FC236}">
                <a16:creationId xmlns:a16="http://schemas.microsoft.com/office/drawing/2014/main" id="{0D975337-6E0F-91CE-192D-D7EA4EE150BF}"/>
              </a:ext>
            </a:extLst>
          </p:cNvPr>
          <p:cNvSpPr/>
          <p:nvPr/>
        </p:nvSpPr>
        <p:spPr>
          <a:xfrm flipH="1">
            <a:off x="7361645" y="3540485"/>
            <a:ext cx="4458880" cy="758824"/>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algn="r"/>
            <a:r>
              <a:rPr lang="en-US" sz="1200">
                <a:solidFill>
                  <a:schemeClr val="tx1"/>
                </a:solidFill>
              </a:rPr>
              <a:t>XXX</a:t>
            </a:r>
            <a:endParaRPr lang="en-US" sz="1200" dirty="0" err="1">
              <a:solidFill>
                <a:schemeClr val="tx1"/>
              </a:solidFill>
            </a:endParaRPr>
          </a:p>
        </p:txBody>
      </p:sp>
      <p:sp>
        <p:nvSpPr>
          <p:cNvPr id="21" name="Flecha: pentágono 20">
            <a:extLst>
              <a:ext uri="{FF2B5EF4-FFF2-40B4-BE49-F238E27FC236}">
                <a16:creationId xmlns:a16="http://schemas.microsoft.com/office/drawing/2014/main" id="{BB3B50CA-03E7-083A-7EE0-322C70AA7661}"/>
              </a:ext>
            </a:extLst>
          </p:cNvPr>
          <p:cNvSpPr/>
          <p:nvPr/>
        </p:nvSpPr>
        <p:spPr>
          <a:xfrm flipH="1">
            <a:off x="7361645" y="4411432"/>
            <a:ext cx="4458880" cy="758824"/>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algn="r"/>
            <a:r>
              <a:rPr lang="en-US" sz="1200">
                <a:solidFill>
                  <a:schemeClr val="tx1"/>
                </a:solidFill>
              </a:rPr>
              <a:t>XXX</a:t>
            </a:r>
            <a:endParaRPr lang="en-US" sz="1200" dirty="0" err="1">
              <a:solidFill>
                <a:schemeClr val="tx1"/>
              </a:solidFill>
            </a:endParaRPr>
          </a:p>
        </p:txBody>
      </p:sp>
      <p:sp>
        <p:nvSpPr>
          <p:cNvPr id="22" name="Flecha: pentágono 21">
            <a:extLst>
              <a:ext uri="{FF2B5EF4-FFF2-40B4-BE49-F238E27FC236}">
                <a16:creationId xmlns:a16="http://schemas.microsoft.com/office/drawing/2014/main" id="{0C5059F4-D1FB-FD91-E74A-CD698D746593}"/>
              </a:ext>
            </a:extLst>
          </p:cNvPr>
          <p:cNvSpPr/>
          <p:nvPr/>
        </p:nvSpPr>
        <p:spPr>
          <a:xfrm flipH="1">
            <a:off x="7361645" y="5277606"/>
            <a:ext cx="4458880" cy="758824"/>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algn="r"/>
            <a:r>
              <a:rPr lang="en-US" sz="1200">
                <a:solidFill>
                  <a:schemeClr val="tx1"/>
                </a:solidFill>
              </a:rPr>
              <a:t>XXX</a:t>
            </a:r>
            <a:endParaRPr lang="en-US" sz="1200" dirty="0" err="1">
              <a:solidFill>
                <a:schemeClr val="tx1"/>
              </a:solidFill>
            </a:endParaRPr>
          </a:p>
        </p:txBody>
      </p:sp>
      <p:sp>
        <p:nvSpPr>
          <p:cNvPr id="23" name="Rectángulo 22">
            <a:extLst>
              <a:ext uri="{FF2B5EF4-FFF2-40B4-BE49-F238E27FC236}">
                <a16:creationId xmlns:a16="http://schemas.microsoft.com/office/drawing/2014/main" id="{6139D555-0628-9E1F-7A61-081F0871258F}"/>
              </a:ext>
            </a:extLst>
          </p:cNvPr>
          <p:cNvSpPr/>
          <p:nvPr/>
        </p:nvSpPr>
        <p:spPr>
          <a:xfrm>
            <a:off x="7374345" y="1520826"/>
            <a:ext cx="444618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spAutoFit/>
          </a:bodyPr>
          <a:lstStyle/>
          <a:p>
            <a:pPr algn="r"/>
            <a:r>
              <a:rPr lang="en-US" sz="1600" b="1" dirty="0">
                <a:solidFill>
                  <a:schemeClr val="tx2"/>
                </a:solidFill>
              </a:rPr>
              <a:t>Restraining forces </a:t>
            </a:r>
            <a:r>
              <a:rPr lang="en-US" sz="1200" dirty="0">
                <a:solidFill>
                  <a:schemeClr val="tx2"/>
                </a:solidFill>
              </a:rPr>
              <a:t>(Obstacles to change)</a:t>
            </a:r>
          </a:p>
        </p:txBody>
      </p:sp>
      <p:sp>
        <p:nvSpPr>
          <p:cNvPr id="2" name="Marcador de pie de página 1">
            <a:extLst>
              <a:ext uri="{FF2B5EF4-FFF2-40B4-BE49-F238E27FC236}">
                <a16:creationId xmlns:a16="http://schemas.microsoft.com/office/drawing/2014/main" id="{048ED0DB-149B-6B5A-3167-EDEE9C7F57F7}"/>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4380082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The 3 C’s</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4492217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5A93AC04-4E81-4F75-A179-7EA7D4662073}"/>
              </a:ext>
            </a:extLst>
          </p:cNvPr>
          <p:cNvGraphicFramePr>
            <a:graphicFrameLocks noChangeAspect="1"/>
          </p:cNvGraphicFramePr>
          <p:nvPr>
            <p:custDataLst>
              <p:tags r:id="rId1"/>
            </p:custDataLst>
            <p:extLst>
              <p:ext uri="{D42A27DB-BD31-4B8C-83A1-F6EECF244321}">
                <p14:modId xmlns:p14="http://schemas.microsoft.com/office/powerpoint/2010/main" val="39798100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9BB98BE0-5D34-715C-0E32-88D473E9C134}"/>
              </a:ext>
            </a:extLst>
          </p:cNvPr>
          <p:cNvSpPr>
            <a:spLocks noGrp="1"/>
          </p:cNvSpPr>
          <p:nvPr>
            <p:ph type="title"/>
          </p:nvPr>
        </p:nvSpPr>
        <p:spPr/>
        <p:txBody>
          <a:bodyPr vert="horz"/>
          <a:lstStyle/>
          <a:p>
            <a:r>
              <a:rPr lang="en-US" dirty="0"/>
              <a:t>The 3 C’s — Overview</a:t>
            </a:r>
          </a:p>
        </p:txBody>
      </p:sp>
      <p:sp>
        <p:nvSpPr>
          <p:cNvPr id="3" name="Marcador de texto 2">
            <a:extLst>
              <a:ext uri="{FF2B5EF4-FFF2-40B4-BE49-F238E27FC236}">
                <a16:creationId xmlns:a16="http://schemas.microsoft.com/office/drawing/2014/main" id="{EA9E1547-62FC-9607-60DF-78D926245287}"/>
              </a:ext>
            </a:extLst>
          </p:cNvPr>
          <p:cNvSpPr>
            <a:spLocks noGrp="1"/>
          </p:cNvSpPr>
          <p:nvPr>
            <p:ph type="body" sz="quarter" idx="18"/>
          </p:nvPr>
        </p:nvSpPr>
        <p:spPr/>
        <p:txBody>
          <a:bodyPr/>
          <a:lstStyle/>
          <a:p>
            <a:r>
              <a:rPr lang="en-US" dirty="0"/>
              <a:t>The concept of the 3 C's was first introduced by business consultant Kenichi Ohmae, a former partner at McKinsey &amp; Company, in his 1982 book The Mind of the Strategist.</a:t>
            </a:r>
          </a:p>
        </p:txBody>
      </p:sp>
      <p:sp>
        <p:nvSpPr>
          <p:cNvPr id="4" name="Marcador de texto 3">
            <a:extLst>
              <a:ext uri="{FF2B5EF4-FFF2-40B4-BE49-F238E27FC236}">
                <a16:creationId xmlns:a16="http://schemas.microsoft.com/office/drawing/2014/main" id="{C45BBAD5-5C1F-696A-BD75-AF55DC75DBC0}"/>
              </a:ext>
            </a:extLst>
          </p:cNvPr>
          <p:cNvSpPr>
            <a:spLocks noGrp="1"/>
          </p:cNvSpPr>
          <p:nvPr>
            <p:ph type="body" sz="quarter" idx="19"/>
          </p:nvPr>
        </p:nvSpPr>
        <p:spPr/>
        <p:txBody>
          <a:bodyPr/>
          <a:lstStyle/>
          <a:p>
            <a:pPr marL="0" indent="0">
              <a:buFont typeface="Arial" panose="020B0604020202020204" pitchFamily="34" charset="0"/>
              <a:buNone/>
            </a:pPr>
            <a:r>
              <a:rPr lang="en-US" dirty="0"/>
              <a:t>The 3 C's is a business framework that focuses on three critical factors: Company, Customer, and Competitors. By analyzing these three elements, you will be able to find the key success factor (KSF) and create a viable marketing strategy. </a:t>
            </a:r>
          </a:p>
          <a:p>
            <a:pPr marL="0" indent="0">
              <a:buFont typeface="Arial" panose="020B0604020202020204" pitchFamily="34" charset="0"/>
              <a:buNone/>
            </a:pPr>
            <a:r>
              <a:rPr lang="en-US" dirty="0"/>
              <a:t>You can start with any of the 3 C’s, but it is recommended that you analyze the customers first, then the competitors, and finally the company you are working for.</a:t>
            </a:r>
          </a:p>
          <a:p>
            <a:r>
              <a:rPr lang="en-US" b="1" dirty="0"/>
              <a:t>Customers</a:t>
            </a:r>
            <a:r>
              <a:rPr lang="en-US" dirty="0"/>
              <a:t>: In-depth consumer research which might include demographic data, interviews, and user testing.</a:t>
            </a:r>
          </a:p>
          <a:p>
            <a:r>
              <a:rPr lang="en-US" b="1" dirty="0"/>
              <a:t>Competitors: </a:t>
            </a:r>
            <a:r>
              <a:rPr lang="en-US" dirty="0"/>
              <a:t>Comparison websites, research, and competition analysis. </a:t>
            </a:r>
          </a:p>
          <a:p>
            <a:r>
              <a:rPr lang="en-US" b="1" dirty="0"/>
              <a:t>Company: </a:t>
            </a:r>
            <a:r>
              <a:rPr lang="en-US" dirty="0"/>
              <a:t>Analyze your own company, enumerating the strong points and resources that produce them.</a:t>
            </a:r>
          </a:p>
        </p:txBody>
      </p:sp>
      <p:sp>
        <p:nvSpPr>
          <p:cNvPr id="5" name="Marcador de texto 4">
            <a:extLst>
              <a:ext uri="{FF2B5EF4-FFF2-40B4-BE49-F238E27FC236}">
                <a16:creationId xmlns:a16="http://schemas.microsoft.com/office/drawing/2014/main" id="{083CDF60-65C9-5159-581C-ECC9E8E4DE88}"/>
              </a:ext>
            </a:extLst>
          </p:cNvPr>
          <p:cNvSpPr>
            <a:spLocks noGrp="1"/>
          </p:cNvSpPr>
          <p:nvPr>
            <p:ph type="body" sz="quarter" idx="20"/>
          </p:nvPr>
        </p:nvSpPr>
        <p:spPr/>
        <p:txBody>
          <a:bodyPr/>
          <a:lstStyle/>
          <a:p>
            <a:r>
              <a:rPr lang="en-US" b="1" dirty="0"/>
              <a:t>Market analysis: </a:t>
            </a:r>
            <a:r>
              <a:rPr lang="en-US" dirty="0"/>
              <a:t>Identify key customer segments, evaluate the competitive landscape, and assess the company's strengths and weaknesses.</a:t>
            </a:r>
          </a:p>
          <a:p>
            <a:r>
              <a:rPr lang="en-US" b="1" dirty="0"/>
              <a:t>Business strategy development: </a:t>
            </a:r>
            <a:r>
              <a:rPr lang="en-US" dirty="0"/>
              <a:t>Identify new opportunities, evaluate the feasibility of different strategies, and prioritize initiatives based on their impact on customers, competitors, and the company.</a:t>
            </a:r>
          </a:p>
          <a:p>
            <a:r>
              <a:rPr lang="en-US" b="1" dirty="0"/>
              <a:t>Mergers and acquisitions: </a:t>
            </a:r>
            <a:r>
              <a:rPr lang="en-US" dirty="0"/>
              <a:t>Evaluate potential acquisition targets or partners. By analyzing the target's customers, competitors, and internal capabilities, a company can determine whether the acquisition will create value and identify potential integration challenges.</a:t>
            </a:r>
          </a:p>
          <a:p>
            <a:r>
              <a:rPr lang="en-US" b="1" dirty="0"/>
              <a:t>Brand positioning: </a:t>
            </a:r>
            <a:r>
              <a:rPr lang="en-US" dirty="0"/>
              <a:t>Identify customer needs and preferences, evaluate the competitive landscape, and develop a positioning strategy that differentiates the company from its competitors.</a:t>
            </a:r>
          </a:p>
          <a:p>
            <a:r>
              <a:rPr lang="en-US" b="1" dirty="0"/>
              <a:t>Pricing strategy: </a:t>
            </a:r>
            <a:r>
              <a:rPr lang="en-US" dirty="0"/>
              <a:t>By understanding customer needs and preferences, evaluating the competitive landscape, and assessing the company's internal capabilities, a company can develop a pricing strategy that maximizes revenue and profitability.</a:t>
            </a:r>
          </a:p>
        </p:txBody>
      </p:sp>
      <p:sp>
        <p:nvSpPr>
          <p:cNvPr id="11" name="Marcador de pie de página 10">
            <a:extLst>
              <a:ext uri="{FF2B5EF4-FFF2-40B4-BE49-F238E27FC236}">
                <a16:creationId xmlns:a16="http://schemas.microsoft.com/office/drawing/2014/main" id="{D6472B0D-7E9D-2978-A164-94B361D7804D}"/>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193175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o 8" hidden="1">
            <a:extLst>
              <a:ext uri="{FF2B5EF4-FFF2-40B4-BE49-F238E27FC236}">
                <a16:creationId xmlns:a16="http://schemas.microsoft.com/office/drawing/2014/main" id="{E846CE6D-996B-25B9-B2AF-45E8CA47B103}"/>
              </a:ext>
            </a:extLst>
          </p:cNvPr>
          <p:cNvGraphicFramePr>
            <a:graphicFrameLocks noChangeAspect="1"/>
          </p:cNvGraphicFramePr>
          <p:nvPr>
            <p:custDataLst>
              <p:tags r:id="rId1"/>
            </p:custDataLst>
            <p:extLst>
              <p:ext uri="{D42A27DB-BD31-4B8C-83A1-F6EECF244321}">
                <p14:modId xmlns:p14="http://schemas.microsoft.com/office/powerpoint/2010/main" val="25064817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p:txBody>
          <a:bodyPr vert="horz"/>
          <a:lstStyle/>
          <a:p>
            <a:r>
              <a:rPr lang="en-US" dirty="0"/>
              <a:t>The 3 C’s — Template</a:t>
            </a:r>
          </a:p>
        </p:txBody>
      </p:sp>
      <p:graphicFrame>
        <p:nvGraphicFramePr>
          <p:cNvPr id="10" name="Tabla 10">
            <a:extLst>
              <a:ext uri="{FF2B5EF4-FFF2-40B4-BE49-F238E27FC236}">
                <a16:creationId xmlns:a16="http://schemas.microsoft.com/office/drawing/2014/main" id="{E40933CC-EAAD-3267-193A-F4E6782E8EF0}"/>
              </a:ext>
            </a:extLst>
          </p:cNvPr>
          <p:cNvGraphicFramePr>
            <a:graphicFrameLocks noGrp="1"/>
          </p:cNvGraphicFramePr>
          <p:nvPr>
            <p:extLst>
              <p:ext uri="{D42A27DB-BD31-4B8C-83A1-F6EECF244321}">
                <p14:modId xmlns:p14="http://schemas.microsoft.com/office/powerpoint/2010/main" val="3438929059"/>
              </p:ext>
            </p:extLst>
          </p:nvPr>
        </p:nvGraphicFramePr>
        <p:xfrm>
          <a:off x="371476" y="1520825"/>
          <a:ext cx="11433174" cy="4787901"/>
        </p:xfrm>
        <a:graphic>
          <a:graphicData uri="http://schemas.openxmlformats.org/drawingml/2006/table">
            <a:tbl>
              <a:tblPr firstRow="1" bandRow="1">
                <a:tableStyleId>{5C22544A-7EE6-4342-B048-85BDC9FD1C3A}</a:tableStyleId>
              </a:tblPr>
              <a:tblGrid>
                <a:gridCol w="1529895">
                  <a:extLst>
                    <a:ext uri="{9D8B030D-6E8A-4147-A177-3AD203B41FA5}">
                      <a16:colId xmlns:a16="http://schemas.microsoft.com/office/drawing/2014/main" val="25118887"/>
                    </a:ext>
                  </a:extLst>
                </a:gridCol>
                <a:gridCol w="9903279">
                  <a:extLst>
                    <a:ext uri="{9D8B030D-6E8A-4147-A177-3AD203B41FA5}">
                      <a16:colId xmlns:a16="http://schemas.microsoft.com/office/drawing/2014/main" val="2398883508"/>
                    </a:ext>
                  </a:extLst>
                </a:gridCol>
              </a:tblGrid>
              <a:tr h="285453">
                <a:tc>
                  <a:txBody>
                    <a:bodyPr/>
                    <a:lstStyle/>
                    <a:p>
                      <a:r>
                        <a:rPr lang="en-US" sz="1400" dirty="0">
                          <a:solidFill>
                            <a:schemeClr val="tx2"/>
                          </a:solidFill>
                        </a:rPr>
                        <a:t>3C’s</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2"/>
                          </a:solidFill>
                        </a:rPr>
                        <a:t>Strategy</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2374223"/>
                  </a:ext>
                </a:extLst>
              </a:tr>
              <a:tr h="1500816">
                <a:tc>
                  <a:txBody>
                    <a:bodyPr/>
                    <a:lstStyle/>
                    <a:p>
                      <a:pPr algn="ctr"/>
                      <a:endParaRPr lang="en-US" sz="1400" b="1" dirty="0">
                        <a:solidFill>
                          <a:schemeClr val="bg1"/>
                        </a:solidFill>
                      </a:endParaRPr>
                    </a:p>
                    <a:p>
                      <a:pPr algn="ctr"/>
                      <a:endParaRPr lang="en-US" sz="1400" b="1" dirty="0">
                        <a:solidFill>
                          <a:schemeClr val="bg1"/>
                        </a:solidFill>
                      </a:endParaRPr>
                    </a:p>
                    <a:p>
                      <a:pPr algn="ctr"/>
                      <a:endParaRPr lang="en-US" sz="1400" b="1" dirty="0">
                        <a:solidFill>
                          <a:schemeClr val="bg1"/>
                        </a:solidFill>
                      </a:endParaRPr>
                    </a:p>
                    <a:p>
                      <a:pPr algn="ctr"/>
                      <a:r>
                        <a:rPr lang="en-US" sz="1400" b="1" dirty="0">
                          <a:solidFill>
                            <a:schemeClr val="bg1"/>
                          </a:solidFill>
                        </a:rPr>
                        <a:t>Company</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177800" indent="-177800">
                        <a:buFont typeface="Arial" panose="020B0604020202020204" pitchFamily="34" charset="0"/>
                        <a:buChar char="•"/>
                      </a:pPr>
                      <a:r>
                        <a:rPr lang="en-US" sz="1200" dirty="0">
                          <a:solidFill>
                            <a:schemeClr val="tx1"/>
                          </a:solidFill>
                        </a:rPr>
                        <a:t>XXX</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944546"/>
                  </a:ext>
                </a:extLst>
              </a:tr>
              <a:tr h="1500816">
                <a:tc>
                  <a:txBody>
                    <a:bodyPr/>
                    <a:lstStyle/>
                    <a:p>
                      <a:pPr algn="ctr"/>
                      <a:endParaRPr lang="en-US" sz="1400" b="1" dirty="0">
                        <a:solidFill>
                          <a:schemeClr val="bg1"/>
                        </a:solidFill>
                      </a:endParaRPr>
                    </a:p>
                    <a:p>
                      <a:pPr algn="ctr"/>
                      <a:endParaRPr lang="en-US" sz="1400" b="1" dirty="0">
                        <a:solidFill>
                          <a:schemeClr val="bg1"/>
                        </a:solidFill>
                      </a:endParaRPr>
                    </a:p>
                    <a:p>
                      <a:pPr algn="ctr"/>
                      <a:endParaRPr lang="en-US" sz="1400" b="1" dirty="0">
                        <a:solidFill>
                          <a:schemeClr val="bg1"/>
                        </a:solidFill>
                      </a:endParaRPr>
                    </a:p>
                    <a:p>
                      <a:pPr algn="ctr"/>
                      <a:r>
                        <a:rPr lang="en-US" sz="1400" b="1" dirty="0">
                          <a:solidFill>
                            <a:schemeClr val="bg1"/>
                          </a:solidFill>
                        </a:rPr>
                        <a:t>Customers</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177800" indent="-177800">
                        <a:buFont typeface="Arial" panose="020B0604020202020204" pitchFamily="34" charset="0"/>
                        <a:buChar char="•"/>
                      </a:pPr>
                      <a:r>
                        <a:rPr lang="en-US" sz="1200" dirty="0">
                          <a:solidFill>
                            <a:schemeClr val="tx1"/>
                          </a:solidFill>
                        </a:rPr>
                        <a:t>XXX</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523552"/>
                  </a:ext>
                </a:extLst>
              </a:tr>
              <a:tr h="1500816">
                <a:tc>
                  <a:txBody>
                    <a:bodyPr/>
                    <a:lstStyle/>
                    <a:p>
                      <a:pPr algn="ctr"/>
                      <a:endParaRPr lang="en-US" sz="1400" b="1" dirty="0">
                        <a:solidFill>
                          <a:schemeClr val="bg1"/>
                        </a:solidFill>
                      </a:endParaRPr>
                    </a:p>
                    <a:p>
                      <a:pPr algn="ctr"/>
                      <a:endParaRPr lang="en-US" sz="1400" b="1" dirty="0">
                        <a:solidFill>
                          <a:schemeClr val="bg1"/>
                        </a:solidFill>
                      </a:endParaRPr>
                    </a:p>
                    <a:p>
                      <a:pPr algn="ctr"/>
                      <a:endParaRPr lang="en-US" sz="1400" b="1" dirty="0">
                        <a:solidFill>
                          <a:schemeClr val="bg1"/>
                        </a:solidFill>
                      </a:endParaRPr>
                    </a:p>
                    <a:p>
                      <a:pPr algn="ctr"/>
                      <a:r>
                        <a:rPr lang="en-US" sz="1400" b="1" dirty="0">
                          <a:solidFill>
                            <a:schemeClr val="bg1"/>
                          </a:solidFill>
                        </a:rPr>
                        <a:t>Competitors</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177800" indent="-177800">
                        <a:buFont typeface="Arial" panose="020B0604020202020204" pitchFamily="34" charset="0"/>
                        <a:buChar char="•"/>
                      </a:pPr>
                      <a:r>
                        <a:rPr lang="en-US" sz="1200" dirty="0">
                          <a:solidFill>
                            <a:schemeClr val="tx1"/>
                          </a:solidFill>
                        </a:rPr>
                        <a:t>XXX</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8882217"/>
                  </a:ext>
                </a:extLst>
              </a:tr>
            </a:tbl>
          </a:graphicData>
        </a:graphic>
      </p:graphicFrame>
      <p:grpSp>
        <p:nvGrpSpPr>
          <p:cNvPr id="12" name="Group 172">
            <a:extLst>
              <a:ext uri="{FF2B5EF4-FFF2-40B4-BE49-F238E27FC236}">
                <a16:creationId xmlns:a16="http://schemas.microsoft.com/office/drawing/2014/main" id="{D0659892-C127-B045-A494-082359519910}"/>
              </a:ext>
            </a:extLst>
          </p:cNvPr>
          <p:cNvGrpSpPr>
            <a:grpSpLocks noChangeAspect="1"/>
          </p:cNvGrpSpPr>
          <p:nvPr/>
        </p:nvGrpSpPr>
        <p:grpSpPr bwMode="auto">
          <a:xfrm>
            <a:off x="868781" y="2096671"/>
            <a:ext cx="549614" cy="549614"/>
            <a:chOff x="4477" y="3000"/>
            <a:chExt cx="426" cy="426"/>
          </a:xfrm>
          <a:solidFill>
            <a:schemeClr val="bg1"/>
          </a:solidFill>
        </p:grpSpPr>
        <p:sp>
          <p:nvSpPr>
            <p:cNvPr id="13" name="Freeform 173">
              <a:extLst>
                <a:ext uri="{FF2B5EF4-FFF2-40B4-BE49-F238E27FC236}">
                  <a16:creationId xmlns:a16="http://schemas.microsoft.com/office/drawing/2014/main" id="{E516E175-651D-EA07-F7F0-7C755EA19A89}"/>
                </a:ext>
              </a:extLst>
            </p:cNvPr>
            <p:cNvSpPr>
              <a:spLocks/>
            </p:cNvSpPr>
            <p:nvPr/>
          </p:nvSpPr>
          <p:spPr bwMode="auto">
            <a:xfrm>
              <a:off x="4477" y="3408"/>
              <a:ext cx="426" cy="18"/>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10"/>
                    <a:pt x="0" y="6"/>
                  </a:cubicBezTo>
                  <a:cubicBezTo>
                    <a:pt x="0" y="3"/>
                    <a:pt x="3" y="0"/>
                    <a:pt x="6" y="0"/>
                  </a:cubicBezTo>
                  <a:cubicBezTo>
                    <a:pt x="282" y="0"/>
                    <a:pt x="282" y="0"/>
                    <a:pt x="282" y="0"/>
                  </a:cubicBezTo>
                  <a:cubicBezTo>
                    <a:pt x="286" y="0"/>
                    <a:pt x="288" y="3"/>
                    <a:pt x="288" y="6"/>
                  </a:cubicBezTo>
                  <a:cubicBezTo>
                    <a:pt x="288" y="10"/>
                    <a:pt x="28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4" name="Freeform 174">
              <a:extLst>
                <a:ext uri="{FF2B5EF4-FFF2-40B4-BE49-F238E27FC236}">
                  <a16:creationId xmlns:a16="http://schemas.microsoft.com/office/drawing/2014/main" id="{21BACF51-FD72-E885-68EF-F5E295489648}"/>
                </a:ext>
              </a:extLst>
            </p:cNvPr>
            <p:cNvSpPr>
              <a:spLocks noEditPoints="1"/>
            </p:cNvSpPr>
            <p:nvPr/>
          </p:nvSpPr>
          <p:spPr bwMode="auto">
            <a:xfrm>
              <a:off x="4601" y="3071"/>
              <a:ext cx="178" cy="355"/>
            </a:xfrm>
            <a:custGeom>
              <a:avLst/>
              <a:gdLst>
                <a:gd name="T0" fmla="*/ 114 w 120"/>
                <a:gd name="T1" fmla="*/ 240 h 240"/>
                <a:gd name="T2" fmla="*/ 6 w 120"/>
                <a:gd name="T3" fmla="*/ 240 h 240"/>
                <a:gd name="T4" fmla="*/ 0 w 120"/>
                <a:gd name="T5" fmla="*/ 234 h 240"/>
                <a:gd name="T6" fmla="*/ 0 w 120"/>
                <a:gd name="T7" fmla="*/ 6 h 240"/>
                <a:gd name="T8" fmla="*/ 6 w 120"/>
                <a:gd name="T9" fmla="*/ 0 h 240"/>
                <a:gd name="T10" fmla="*/ 114 w 120"/>
                <a:gd name="T11" fmla="*/ 0 h 240"/>
                <a:gd name="T12" fmla="*/ 120 w 120"/>
                <a:gd name="T13" fmla="*/ 6 h 240"/>
                <a:gd name="T14" fmla="*/ 120 w 120"/>
                <a:gd name="T15" fmla="*/ 234 h 240"/>
                <a:gd name="T16" fmla="*/ 114 w 120"/>
                <a:gd name="T17" fmla="*/ 240 h 240"/>
                <a:gd name="T18" fmla="*/ 12 w 120"/>
                <a:gd name="T19" fmla="*/ 228 h 240"/>
                <a:gd name="T20" fmla="*/ 108 w 120"/>
                <a:gd name="T21" fmla="*/ 228 h 240"/>
                <a:gd name="T22" fmla="*/ 108 w 120"/>
                <a:gd name="T23" fmla="*/ 12 h 240"/>
                <a:gd name="T24" fmla="*/ 12 w 120"/>
                <a:gd name="T25" fmla="*/ 12 h 240"/>
                <a:gd name="T26" fmla="*/ 12 w 120"/>
                <a:gd name="T27" fmla="*/ 22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 h="240">
                  <a:moveTo>
                    <a:pt x="114" y="240"/>
                  </a:moveTo>
                  <a:cubicBezTo>
                    <a:pt x="6" y="240"/>
                    <a:pt x="6" y="240"/>
                    <a:pt x="6" y="240"/>
                  </a:cubicBezTo>
                  <a:cubicBezTo>
                    <a:pt x="3" y="240"/>
                    <a:pt x="0" y="238"/>
                    <a:pt x="0" y="234"/>
                  </a:cubicBezTo>
                  <a:cubicBezTo>
                    <a:pt x="0" y="6"/>
                    <a:pt x="0" y="6"/>
                    <a:pt x="0" y="6"/>
                  </a:cubicBezTo>
                  <a:cubicBezTo>
                    <a:pt x="0" y="3"/>
                    <a:pt x="3" y="0"/>
                    <a:pt x="6" y="0"/>
                  </a:cubicBezTo>
                  <a:cubicBezTo>
                    <a:pt x="114" y="0"/>
                    <a:pt x="114" y="0"/>
                    <a:pt x="114" y="0"/>
                  </a:cubicBezTo>
                  <a:cubicBezTo>
                    <a:pt x="118" y="0"/>
                    <a:pt x="120" y="3"/>
                    <a:pt x="120" y="6"/>
                  </a:cubicBezTo>
                  <a:cubicBezTo>
                    <a:pt x="120" y="234"/>
                    <a:pt x="120" y="234"/>
                    <a:pt x="120" y="234"/>
                  </a:cubicBezTo>
                  <a:cubicBezTo>
                    <a:pt x="120" y="238"/>
                    <a:pt x="118" y="240"/>
                    <a:pt x="114" y="240"/>
                  </a:cubicBezTo>
                  <a:close/>
                  <a:moveTo>
                    <a:pt x="12" y="228"/>
                  </a:moveTo>
                  <a:cubicBezTo>
                    <a:pt x="108" y="228"/>
                    <a:pt x="108" y="228"/>
                    <a:pt x="108" y="228"/>
                  </a:cubicBezTo>
                  <a:cubicBezTo>
                    <a:pt x="108" y="12"/>
                    <a:pt x="108" y="12"/>
                    <a:pt x="108" y="12"/>
                  </a:cubicBezTo>
                  <a:cubicBezTo>
                    <a:pt x="12" y="12"/>
                    <a:pt x="12" y="12"/>
                    <a:pt x="12" y="12"/>
                  </a:cubicBezTo>
                  <a:lnTo>
                    <a:pt x="12" y="2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5" name="Freeform 175">
              <a:extLst>
                <a:ext uri="{FF2B5EF4-FFF2-40B4-BE49-F238E27FC236}">
                  <a16:creationId xmlns:a16="http://schemas.microsoft.com/office/drawing/2014/main" id="{FB77B911-FE4D-42F7-5BDA-49653683513F}"/>
                </a:ext>
              </a:extLst>
            </p:cNvPr>
            <p:cNvSpPr>
              <a:spLocks noEditPoints="1"/>
            </p:cNvSpPr>
            <p:nvPr/>
          </p:nvSpPr>
          <p:spPr bwMode="auto">
            <a:xfrm>
              <a:off x="4797" y="3231"/>
              <a:ext cx="88" cy="195"/>
            </a:xfrm>
            <a:custGeom>
              <a:avLst/>
              <a:gdLst>
                <a:gd name="T0" fmla="*/ 54 w 60"/>
                <a:gd name="T1" fmla="*/ 132 h 132"/>
                <a:gd name="T2" fmla="*/ 6 w 60"/>
                <a:gd name="T3" fmla="*/ 132 h 132"/>
                <a:gd name="T4" fmla="*/ 0 w 60"/>
                <a:gd name="T5" fmla="*/ 126 h 132"/>
                <a:gd name="T6" fmla="*/ 0 w 60"/>
                <a:gd name="T7" fmla="*/ 6 h 132"/>
                <a:gd name="T8" fmla="*/ 6 w 60"/>
                <a:gd name="T9" fmla="*/ 0 h 132"/>
                <a:gd name="T10" fmla="*/ 54 w 60"/>
                <a:gd name="T11" fmla="*/ 0 h 132"/>
                <a:gd name="T12" fmla="*/ 60 w 60"/>
                <a:gd name="T13" fmla="*/ 6 h 132"/>
                <a:gd name="T14" fmla="*/ 60 w 60"/>
                <a:gd name="T15" fmla="*/ 126 h 132"/>
                <a:gd name="T16" fmla="*/ 54 w 60"/>
                <a:gd name="T17" fmla="*/ 132 h 132"/>
                <a:gd name="T18" fmla="*/ 12 w 60"/>
                <a:gd name="T19" fmla="*/ 120 h 132"/>
                <a:gd name="T20" fmla="*/ 48 w 60"/>
                <a:gd name="T21" fmla="*/ 120 h 132"/>
                <a:gd name="T22" fmla="*/ 48 w 60"/>
                <a:gd name="T23" fmla="*/ 12 h 132"/>
                <a:gd name="T24" fmla="*/ 12 w 60"/>
                <a:gd name="T25" fmla="*/ 12 h 132"/>
                <a:gd name="T26" fmla="*/ 12 w 60"/>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132">
                  <a:moveTo>
                    <a:pt x="54" y="132"/>
                  </a:moveTo>
                  <a:cubicBezTo>
                    <a:pt x="6" y="132"/>
                    <a:pt x="6" y="132"/>
                    <a:pt x="6" y="132"/>
                  </a:cubicBezTo>
                  <a:cubicBezTo>
                    <a:pt x="3" y="132"/>
                    <a:pt x="0" y="130"/>
                    <a:pt x="0" y="126"/>
                  </a:cubicBezTo>
                  <a:cubicBezTo>
                    <a:pt x="0" y="6"/>
                    <a:pt x="0" y="6"/>
                    <a:pt x="0" y="6"/>
                  </a:cubicBezTo>
                  <a:cubicBezTo>
                    <a:pt x="0" y="3"/>
                    <a:pt x="3" y="0"/>
                    <a:pt x="6" y="0"/>
                  </a:cubicBezTo>
                  <a:cubicBezTo>
                    <a:pt x="54" y="0"/>
                    <a:pt x="54" y="0"/>
                    <a:pt x="54" y="0"/>
                  </a:cubicBezTo>
                  <a:cubicBezTo>
                    <a:pt x="58" y="0"/>
                    <a:pt x="60" y="3"/>
                    <a:pt x="60" y="6"/>
                  </a:cubicBezTo>
                  <a:cubicBezTo>
                    <a:pt x="60" y="126"/>
                    <a:pt x="60" y="126"/>
                    <a:pt x="60" y="126"/>
                  </a:cubicBezTo>
                  <a:cubicBezTo>
                    <a:pt x="60" y="130"/>
                    <a:pt x="58" y="132"/>
                    <a:pt x="54" y="132"/>
                  </a:cubicBezTo>
                  <a:close/>
                  <a:moveTo>
                    <a:pt x="12" y="120"/>
                  </a:moveTo>
                  <a:cubicBezTo>
                    <a:pt x="48" y="120"/>
                    <a:pt x="48" y="120"/>
                    <a:pt x="48" y="120"/>
                  </a:cubicBezTo>
                  <a:cubicBezTo>
                    <a:pt x="48" y="12"/>
                    <a:pt x="48" y="12"/>
                    <a:pt x="48"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6" name="Freeform 176">
              <a:extLst>
                <a:ext uri="{FF2B5EF4-FFF2-40B4-BE49-F238E27FC236}">
                  <a16:creationId xmlns:a16="http://schemas.microsoft.com/office/drawing/2014/main" id="{AC0F55C6-0E72-7E25-CCCD-312CE9420CD4}"/>
                </a:ext>
              </a:extLst>
            </p:cNvPr>
            <p:cNvSpPr>
              <a:spLocks noEditPoints="1"/>
            </p:cNvSpPr>
            <p:nvPr/>
          </p:nvSpPr>
          <p:spPr bwMode="auto">
            <a:xfrm>
              <a:off x="4495" y="3231"/>
              <a:ext cx="88" cy="195"/>
            </a:xfrm>
            <a:custGeom>
              <a:avLst/>
              <a:gdLst>
                <a:gd name="T0" fmla="*/ 54 w 60"/>
                <a:gd name="T1" fmla="*/ 132 h 132"/>
                <a:gd name="T2" fmla="*/ 6 w 60"/>
                <a:gd name="T3" fmla="*/ 132 h 132"/>
                <a:gd name="T4" fmla="*/ 0 w 60"/>
                <a:gd name="T5" fmla="*/ 126 h 132"/>
                <a:gd name="T6" fmla="*/ 0 w 60"/>
                <a:gd name="T7" fmla="*/ 6 h 132"/>
                <a:gd name="T8" fmla="*/ 6 w 60"/>
                <a:gd name="T9" fmla="*/ 0 h 132"/>
                <a:gd name="T10" fmla="*/ 54 w 60"/>
                <a:gd name="T11" fmla="*/ 0 h 132"/>
                <a:gd name="T12" fmla="*/ 60 w 60"/>
                <a:gd name="T13" fmla="*/ 6 h 132"/>
                <a:gd name="T14" fmla="*/ 60 w 60"/>
                <a:gd name="T15" fmla="*/ 126 h 132"/>
                <a:gd name="T16" fmla="*/ 54 w 60"/>
                <a:gd name="T17" fmla="*/ 132 h 132"/>
                <a:gd name="T18" fmla="*/ 12 w 60"/>
                <a:gd name="T19" fmla="*/ 120 h 132"/>
                <a:gd name="T20" fmla="*/ 48 w 60"/>
                <a:gd name="T21" fmla="*/ 120 h 132"/>
                <a:gd name="T22" fmla="*/ 48 w 60"/>
                <a:gd name="T23" fmla="*/ 12 h 132"/>
                <a:gd name="T24" fmla="*/ 12 w 60"/>
                <a:gd name="T25" fmla="*/ 12 h 132"/>
                <a:gd name="T26" fmla="*/ 12 w 60"/>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132">
                  <a:moveTo>
                    <a:pt x="54" y="132"/>
                  </a:moveTo>
                  <a:cubicBezTo>
                    <a:pt x="6" y="132"/>
                    <a:pt x="6" y="132"/>
                    <a:pt x="6" y="132"/>
                  </a:cubicBezTo>
                  <a:cubicBezTo>
                    <a:pt x="3" y="132"/>
                    <a:pt x="0" y="130"/>
                    <a:pt x="0" y="126"/>
                  </a:cubicBezTo>
                  <a:cubicBezTo>
                    <a:pt x="0" y="6"/>
                    <a:pt x="0" y="6"/>
                    <a:pt x="0" y="6"/>
                  </a:cubicBezTo>
                  <a:cubicBezTo>
                    <a:pt x="0" y="3"/>
                    <a:pt x="3" y="0"/>
                    <a:pt x="6" y="0"/>
                  </a:cubicBezTo>
                  <a:cubicBezTo>
                    <a:pt x="54" y="0"/>
                    <a:pt x="54" y="0"/>
                    <a:pt x="54" y="0"/>
                  </a:cubicBezTo>
                  <a:cubicBezTo>
                    <a:pt x="58" y="0"/>
                    <a:pt x="60" y="3"/>
                    <a:pt x="60" y="6"/>
                  </a:cubicBezTo>
                  <a:cubicBezTo>
                    <a:pt x="60" y="126"/>
                    <a:pt x="60" y="126"/>
                    <a:pt x="60" y="126"/>
                  </a:cubicBezTo>
                  <a:cubicBezTo>
                    <a:pt x="60" y="130"/>
                    <a:pt x="58" y="132"/>
                    <a:pt x="54" y="132"/>
                  </a:cubicBezTo>
                  <a:close/>
                  <a:moveTo>
                    <a:pt x="12" y="120"/>
                  </a:moveTo>
                  <a:cubicBezTo>
                    <a:pt x="48" y="120"/>
                    <a:pt x="48" y="120"/>
                    <a:pt x="48" y="120"/>
                  </a:cubicBezTo>
                  <a:cubicBezTo>
                    <a:pt x="48" y="12"/>
                    <a:pt x="48" y="12"/>
                    <a:pt x="48"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7" name="Freeform 177">
              <a:extLst>
                <a:ext uri="{FF2B5EF4-FFF2-40B4-BE49-F238E27FC236}">
                  <a16:creationId xmlns:a16="http://schemas.microsoft.com/office/drawing/2014/main" id="{69931F57-CC00-E72C-35E1-AA0715E34743}"/>
                </a:ext>
              </a:extLst>
            </p:cNvPr>
            <p:cNvSpPr>
              <a:spLocks/>
            </p:cNvSpPr>
            <p:nvPr/>
          </p:nvSpPr>
          <p:spPr bwMode="auto">
            <a:xfrm>
              <a:off x="4548" y="3213"/>
              <a:ext cx="18" cy="36"/>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3" y="24"/>
                    <a:pt x="0" y="22"/>
                    <a:pt x="0" y="18"/>
                  </a:cubicBezTo>
                  <a:cubicBezTo>
                    <a:pt x="0" y="6"/>
                    <a:pt x="0" y="6"/>
                    <a:pt x="0" y="6"/>
                  </a:cubicBezTo>
                  <a:cubicBezTo>
                    <a:pt x="0" y="3"/>
                    <a:pt x="3" y="0"/>
                    <a:pt x="6" y="0"/>
                  </a:cubicBezTo>
                  <a:cubicBezTo>
                    <a:pt x="10" y="0"/>
                    <a:pt x="12" y="3"/>
                    <a:pt x="12" y="6"/>
                  </a:cubicBezTo>
                  <a:cubicBezTo>
                    <a:pt x="12" y="18"/>
                    <a:pt x="12" y="18"/>
                    <a:pt x="12" y="18"/>
                  </a:cubicBezTo>
                  <a:cubicBezTo>
                    <a:pt x="12" y="22"/>
                    <a:pt x="10"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8" name="Freeform 178">
              <a:extLst>
                <a:ext uri="{FF2B5EF4-FFF2-40B4-BE49-F238E27FC236}">
                  <a16:creationId xmlns:a16="http://schemas.microsoft.com/office/drawing/2014/main" id="{F3CCA703-D777-C1A9-2542-F9E1FC1F9A4C}"/>
                </a:ext>
              </a:extLst>
            </p:cNvPr>
            <p:cNvSpPr>
              <a:spLocks/>
            </p:cNvSpPr>
            <p:nvPr/>
          </p:nvSpPr>
          <p:spPr bwMode="auto">
            <a:xfrm>
              <a:off x="4814" y="3213"/>
              <a:ext cx="18" cy="36"/>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3" y="24"/>
                    <a:pt x="0" y="22"/>
                    <a:pt x="0" y="18"/>
                  </a:cubicBezTo>
                  <a:cubicBezTo>
                    <a:pt x="0" y="6"/>
                    <a:pt x="0" y="6"/>
                    <a:pt x="0" y="6"/>
                  </a:cubicBezTo>
                  <a:cubicBezTo>
                    <a:pt x="0" y="3"/>
                    <a:pt x="3" y="0"/>
                    <a:pt x="6" y="0"/>
                  </a:cubicBezTo>
                  <a:cubicBezTo>
                    <a:pt x="10" y="0"/>
                    <a:pt x="12" y="3"/>
                    <a:pt x="12" y="6"/>
                  </a:cubicBezTo>
                  <a:cubicBezTo>
                    <a:pt x="12" y="18"/>
                    <a:pt x="12" y="18"/>
                    <a:pt x="12" y="18"/>
                  </a:cubicBezTo>
                  <a:cubicBezTo>
                    <a:pt x="12" y="22"/>
                    <a:pt x="10"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9" name="Freeform 179">
              <a:extLst>
                <a:ext uri="{FF2B5EF4-FFF2-40B4-BE49-F238E27FC236}">
                  <a16:creationId xmlns:a16="http://schemas.microsoft.com/office/drawing/2014/main" id="{938069CD-64E2-78DF-3DC4-2744796C7ADF}"/>
                </a:ext>
              </a:extLst>
            </p:cNvPr>
            <p:cNvSpPr>
              <a:spLocks noEditPoints="1"/>
            </p:cNvSpPr>
            <p:nvPr/>
          </p:nvSpPr>
          <p:spPr bwMode="auto">
            <a:xfrm>
              <a:off x="4654" y="3036"/>
              <a:ext cx="72" cy="53"/>
            </a:xfrm>
            <a:custGeom>
              <a:avLst/>
              <a:gdLst>
                <a:gd name="T0" fmla="*/ 42 w 48"/>
                <a:gd name="T1" fmla="*/ 36 h 36"/>
                <a:gd name="T2" fmla="*/ 6 w 48"/>
                <a:gd name="T3" fmla="*/ 36 h 36"/>
                <a:gd name="T4" fmla="*/ 0 w 48"/>
                <a:gd name="T5" fmla="*/ 30 h 36"/>
                <a:gd name="T6" fmla="*/ 0 w 48"/>
                <a:gd name="T7" fmla="*/ 6 h 36"/>
                <a:gd name="T8" fmla="*/ 6 w 48"/>
                <a:gd name="T9" fmla="*/ 0 h 36"/>
                <a:gd name="T10" fmla="*/ 42 w 48"/>
                <a:gd name="T11" fmla="*/ 0 h 36"/>
                <a:gd name="T12" fmla="*/ 48 w 48"/>
                <a:gd name="T13" fmla="*/ 6 h 36"/>
                <a:gd name="T14" fmla="*/ 48 w 48"/>
                <a:gd name="T15" fmla="*/ 30 h 36"/>
                <a:gd name="T16" fmla="*/ 42 w 48"/>
                <a:gd name="T17" fmla="*/ 36 h 36"/>
                <a:gd name="T18" fmla="*/ 12 w 48"/>
                <a:gd name="T19" fmla="*/ 24 h 36"/>
                <a:gd name="T20" fmla="*/ 36 w 48"/>
                <a:gd name="T21" fmla="*/ 24 h 36"/>
                <a:gd name="T22" fmla="*/ 36 w 48"/>
                <a:gd name="T23" fmla="*/ 12 h 36"/>
                <a:gd name="T24" fmla="*/ 12 w 48"/>
                <a:gd name="T25" fmla="*/ 12 h 36"/>
                <a:gd name="T26" fmla="*/ 12 w 48"/>
                <a:gd name="T27"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36">
                  <a:moveTo>
                    <a:pt x="42" y="36"/>
                  </a:moveTo>
                  <a:cubicBezTo>
                    <a:pt x="6" y="36"/>
                    <a:pt x="6" y="36"/>
                    <a:pt x="6" y="36"/>
                  </a:cubicBezTo>
                  <a:cubicBezTo>
                    <a:pt x="3" y="36"/>
                    <a:pt x="0" y="34"/>
                    <a:pt x="0" y="30"/>
                  </a:cubicBezTo>
                  <a:cubicBezTo>
                    <a:pt x="0" y="6"/>
                    <a:pt x="0" y="6"/>
                    <a:pt x="0" y="6"/>
                  </a:cubicBezTo>
                  <a:cubicBezTo>
                    <a:pt x="0" y="3"/>
                    <a:pt x="3" y="0"/>
                    <a:pt x="6" y="0"/>
                  </a:cubicBezTo>
                  <a:cubicBezTo>
                    <a:pt x="42" y="0"/>
                    <a:pt x="42" y="0"/>
                    <a:pt x="42" y="0"/>
                  </a:cubicBezTo>
                  <a:cubicBezTo>
                    <a:pt x="46" y="0"/>
                    <a:pt x="48" y="3"/>
                    <a:pt x="48" y="6"/>
                  </a:cubicBezTo>
                  <a:cubicBezTo>
                    <a:pt x="48" y="30"/>
                    <a:pt x="48" y="30"/>
                    <a:pt x="48" y="30"/>
                  </a:cubicBezTo>
                  <a:cubicBezTo>
                    <a:pt x="48" y="34"/>
                    <a:pt x="46" y="36"/>
                    <a:pt x="42" y="36"/>
                  </a:cubicBezTo>
                  <a:close/>
                  <a:moveTo>
                    <a:pt x="12" y="24"/>
                  </a:moveTo>
                  <a:cubicBezTo>
                    <a:pt x="36" y="24"/>
                    <a:pt x="36" y="24"/>
                    <a:pt x="36" y="24"/>
                  </a:cubicBezTo>
                  <a:cubicBezTo>
                    <a:pt x="36" y="12"/>
                    <a:pt x="36" y="12"/>
                    <a:pt x="36" y="12"/>
                  </a:cubicBezTo>
                  <a:cubicBezTo>
                    <a:pt x="12" y="12"/>
                    <a:pt x="12" y="12"/>
                    <a:pt x="12" y="12"/>
                  </a:cubicBez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0" name="Freeform 180">
              <a:extLst>
                <a:ext uri="{FF2B5EF4-FFF2-40B4-BE49-F238E27FC236}">
                  <a16:creationId xmlns:a16="http://schemas.microsoft.com/office/drawing/2014/main" id="{804C01AF-BC7D-92E7-5B86-D4622266681B}"/>
                </a:ext>
              </a:extLst>
            </p:cNvPr>
            <p:cNvSpPr>
              <a:spLocks/>
            </p:cNvSpPr>
            <p:nvPr/>
          </p:nvSpPr>
          <p:spPr bwMode="auto">
            <a:xfrm>
              <a:off x="4690" y="3000"/>
              <a:ext cx="18" cy="54"/>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3" y="36"/>
                    <a:pt x="0" y="34"/>
                    <a:pt x="0" y="30"/>
                  </a:cubicBezTo>
                  <a:cubicBezTo>
                    <a:pt x="0" y="6"/>
                    <a:pt x="0" y="6"/>
                    <a:pt x="0" y="6"/>
                  </a:cubicBezTo>
                  <a:cubicBezTo>
                    <a:pt x="0" y="3"/>
                    <a:pt x="3" y="0"/>
                    <a:pt x="6" y="0"/>
                  </a:cubicBezTo>
                  <a:cubicBezTo>
                    <a:pt x="10" y="0"/>
                    <a:pt x="12" y="3"/>
                    <a:pt x="12" y="6"/>
                  </a:cubicBezTo>
                  <a:cubicBezTo>
                    <a:pt x="12" y="30"/>
                    <a:pt x="12" y="30"/>
                    <a:pt x="12" y="30"/>
                  </a:cubicBezTo>
                  <a:cubicBezTo>
                    <a:pt x="12" y="34"/>
                    <a:pt x="10"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1" name="Freeform 181">
              <a:extLst>
                <a:ext uri="{FF2B5EF4-FFF2-40B4-BE49-F238E27FC236}">
                  <a16:creationId xmlns:a16="http://schemas.microsoft.com/office/drawing/2014/main" id="{82647D2C-E089-8CEC-75E1-DE9E17F10383}"/>
                </a:ext>
              </a:extLst>
            </p:cNvPr>
            <p:cNvSpPr>
              <a:spLocks/>
            </p:cNvSpPr>
            <p:nvPr/>
          </p:nvSpPr>
          <p:spPr bwMode="auto">
            <a:xfrm>
              <a:off x="4637" y="3125"/>
              <a:ext cx="106" cy="17"/>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70" y="0"/>
                    <a:pt x="72" y="3"/>
                    <a:pt x="72" y="6"/>
                  </a:cubicBezTo>
                  <a:cubicBezTo>
                    <a:pt x="72" y="10"/>
                    <a:pt x="70"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2" name="Freeform 182">
              <a:extLst>
                <a:ext uri="{FF2B5EF4-FFF2-40B4-BE49-F238E27FC236}">
                  <a16:creationId xmlns:a16="http://schemas.microsoft.com/office/drawing/2014/main" id="{3ED03708-4DB0-E6BA-6EB0-962A6958F6A0}"/>
                </a:ext>
              </a:extLst>
            </p:cNvPr>
            <p:cNvSpPr>
              <a:spLocks/>
            </p:cNvSpPr>
            <p:nvPr/>
          </p:nvSpPr>
          <p:spPr bwMode="auto">
            <a:xfrm>
              <a:off x="4637" y="3178"/>
              <a:ext cx="106" cy="17"/>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70" y="0"/>
                    <a:pt x="72" y="3"/>
                    <a:pt x="72" y="6"/>
                  </a:cubicBezTo>
                  <a:cubicBezTo>
                    <a:pt x="72" y="10"/>
                    <a:pt x="70"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3" name="Freeform 183">
              <a:extLst>
                <a:ext uri="{FF2B5EF4-FFF2-40B4-BE49-F238E27FC236}">
                  <a16:creationId xmlns:a16="http://schemas.microsoft.com/office/drawing/2014/main" id="{248B06F8-F07C-E8E0-C109-BCCDE4039789}"/>
                </a:ext>
              </a:extLst>
            </p:cNvPr>
            <p:cNvSpPr>
              <a:spLocks/>
            </p:cNvSpPr>
            <p:nvPr/>
          </p:nvSpPr>
          <p:spPr bwMode="auto">
            <a:xfrm>
              <a:off x="4637" y="3231"/>
              <a:ext cx="106"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70" y="0"/>
                    <a:pt x="72" y="3"/>
                    <a:pt x="72" y="6"/>
                  </a:cubicBezTo>
                  <a:cubicBezTo>
                    <a:pt x="72" y="10"/>
                    <a:pt x="70"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4" name="Freeform 184">
              <a:extLst>
                <a:ext uri="{FF2B5EF4-FFF2-40B4-BE49-F238E27FC236}">
                  <a16:creationId xmlns:a16="http://schemas.microsoft.com/office/drawing/2014/main" id="{F209F9A4-E120-7311-98D1-3A42EEDE92F1}"/>
                </a:ext>
              </a:extLst>
            </p:cNvPr>
            <p:cNvSpPr>
              <a:spLocks/>
            </p:cNvSpPr>
            <p:nvPr/>
          </p:nvSpPr>
          <p:spPr bwMode="auto">
            <a:xfrm>
              <a:off x="4637" y="3284"/>
              <a:ext cx="106"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70" y="0"/>
                    <a:pt x="72" y="3"/>
                    <a:pt x="72" y="6"/>
                  </a:cubicBezTo>
                  <a:cubicBezTo>
                    <a:pt x="72" y="10"/>
                    <a:pt x="70"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5" name="Freeform 185">
              <a:extLst>
                <a:ext uri="{FF2B5EF4-FFF2-40B4-BE49-F238E27FC236}">
                  <a16:creationId xmlns:a16="http://schemas.microsoft.com/office/drawing/2014/main" id="{632E77D0-0D24-EA3B-96BE-7CA438D03DE1}"/>
                </a:ext>
              </a:extLst>
            </p:cNvPr>
            <p:cNvSpPr>
              <a:spLocks/>
            </p:cNvSpPr>
            <p:nvPr/>
          </p:nvSpPr>
          <p:spPr bwMode="auto">
            <a:xfrm>
              <a:off x="4637" y="3337"/>
              <a:ext cx="106"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70" y="0"/>
                    <a:pt x="72" y="3"/>
                    <a:pt x="72" y="6"/>
                  </a:cubicBezTo>
                  <a:cubicBezTo>
                    <a:pt x="72" y="10"/>
                    <a:pt x="70"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nvGrpSpPr>
          <p:cNvPr id="26" name="Group 31">
            <a:extLst>
              <a:ext uri="{FF2B5EF4-FFF2-40B4-BE49-F238E27FC236}">
                <a16:creationId xmlns:a16="http://schemas.microsoft.com/office/drawing/2014/main" id="{4F76E6EA-4274-67B7-D345-D9C111105139}"/>
              </a:ext>
            </a:extLst>
          </p:cNvPr>
          <p:cNvGrpSpPr>
            <a:grpSpLocks noChangeAspect="1"/>
          </p:cNvGrpSpPr>
          <p:nvPr/>
        </p:nvGrpSpPr>
        <p:grpSpPr bwMode="auto">
          <a:xfrm>
            <a:off x="855228" y="3588474"/>
            <a:ext cx="576720" cy="563612"/>
            <a:chOff x="3619" y="663"/>
            <a:chExt cx="440" cy="430"/>
          </a:xfrm>
          <a:solidFill>
            <a:schemeClr val="bg1"/>
          </a:solidFill>
        </p:grpSpPr>
        <p:sp>
          <p:nvSpPr>
            <p:cNvPr id="27" name="Freeform 32">
              <a:extLst>
                <a:ext uri="{FF2B5EF4-FFF2-40B4-BE49-F238E27FC236}">
                  <a16:creationId xmlns:a16="http://schemas.microsoft.com/office/drawing/2014/main" id="{2BC7C3C3-8599-22D7-6086-10332F23A806}"/>
                </a:ext>
              </a:extLst>
            </p:cNvPr>
            <p:cNvSpPr>
              <a:spLocks noEditPoints="1"/>
            </p:cNvSpPr>
            <p:nvPr/>
          </p:nvSpPr>
          <p:spPr bwMode="auto">
            <a:xfrm>
              <a:off x="3646" y="806"/>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8" name="Freeform 33">
              <a:extLst>
                <a:ext uri="{FF2B5EF4-FFF2-40B4-BE49-F238E27FC236}">
                  <a16:creationId xmlns:a16="http://schemas.microsoft.com/office/drawing/2014/main" id="{325DDF2D-0A5D-FB86-9068-1DCAF1048831}"/>
                </a:ext>
              </a:extLst>
            </p:cNvPr>
            <p:cNvSpPr>
              <a:spLocks noEditPoints="1"/>
            </p:cNvSpPr>
            <p:nvPr/>
          </p:nvSpPr>
          <p:spPr bwMode="auto">
            <a:xfrm>
              <a:off x="3619" y="914"/>
              <a:ext cx="147"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9" name="Freeform 34">
              <a:extLst>
                <a:ext uri="{FF2B5EF4-FFF2-40B4-BE49-F238E27FC236}">
                  <a16:creationId xmlns:a16="http://schemas.microsoft.com/office/drawing/2014/main" id="{672E0A69-2AC7-106A-6FF0-FDFA4985E1B4}"/>
                </a:ext>
              </a:extLst>
            </p:cNvPr>
            <p:cNvSpPr>
              <a:spLocks noEditPoints="1"/>
            </p:cNvSpPr>
            <p:nvPr/>
          </p:nvSpPr>
          <p:spPr bwMode="auto">
            <a:xfrm>
              <a:off x="3940" y="806"/>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0" name="Freeform 35">
              <a:extLst>
                <a:ext uri="{FF2B5EF4-FFF2-40B4-BE49-F238E27FC236}">
                  <a16:creationId xmlns:a16="http://schemas.microsoft.com/office/drawing/2014/main" id="{8030DE8D-3B7D-4FDC-13E1-3BDE0C26B634}"/>
                </a:ext>
              </a:extLst>
            </p:cNvPr>
            <p:cNvSpPr>
              <a:spLocks noEditPoints="1"/>
            </p:cNvSpPr>
            <p:nvPr/>
          </p:nvSpPr>
          <p:spPr bwMode="auto">
            <a:xfrm>
              <a:off x="3912" y="914"/>
              <a:ext cx="147"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1" name="Freeform 36">
              <a:extLst>
                <a:ext uri="{FF2B5EF4-FFF2-40B4-BE49-F238E27FC236}">
                  <a16:creationId xmlns:a16="http://schemas.microsoft.com/office/drawing/2014/main" id="{78CF6E5A-B423-ED23-C3DF-0166A7F3D11B}"/>
                </a:ext>
              </a:extLst>
            </p:cNvPr>
            <p:cNvSpPr>
              <a:spLocks noEditPoints="1"/>
            </p:cNvSpPr>
            <p:nvPr/>
          </p:nvSpPr>
          <p:spPr bwMode="auto">
            <a:xfrm>
              <a:off x="3793" y="663"/>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072" name="Freeform 37">
              <a:extLst>
                <a:ext uri="{FF2B5EF4-FFF2-40B4-BE49-F238E27FC236}">
                  <a16:creationId xmlns:a16="http://schemas.microsoft.com/office/drawing/2014/main" id="{52E8A8CC-092C-A34B-75B3-72758A44A3C9}"/>
                </a:ext>
              </a:extLst>
            </p:cNvPr>
            <p:cNvSpPr>
              <a:spLocks noEditPoints="1"/>
            </p:cNvSpPr>
            <p:nvPr/>
          </p:nvSpPr>
          <p:spPr bwMode="auto">
            <a:xfrm>
              <a:off x="3766" y="771"/>
              <a:ext cx="146"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3073" name="Group 86">
            <a:extLst>
              <a:ext uri="{FF2B5EF4-FFF2-40B4-BE49-F238E27FC236}">
                <a16:creationId xmlns:a16="http://schemas.microsoft.com/office/drawing/2014/main" id="{10C9D8B7-9BD4-F63E-A334-78D419B45DAF}"/>
              </a:ext>
            </a:extLst>
          </p:cNvPr>
          <p:cNvGrpSpPr>
            <a:grpSpLocks noChangeAspect="1"/>
          </p:cNvGrpSpPr>
          <p:nvPr/>
        </p:nvGrpSpPr>
        <p:grpSpPr bwMode="auto">
          <a:xfrm>
            <a:off x="890811" y="5215289"/>
            <a:ext cx="505555" cy="376805"/>
            <a:chOff x="4476" y="1776"/>
            <a:chExt cx="428" cy="319"/>
          </a:xfrm>
          <a:solidFill>
            <a:schemeClr val="bg1"/>
          </a:solidFill>
        </p:grpSpPr>
        <p:sp>
          <p:nvSpPr>
            <p:cNvPr id="3075" name="Freeform 87">
              <a:extLst>
                <a:ext uri="{FF2B5EF4-FFF2-40B4-BE49-F238E27FC236}">
                  <a16:creationId xmlns:a16="http://schemas.microsoft.com/office/drawing/2014/main" id="{CCDE6008-5B14-A346-2F20-E226D040C552}"/>
                </a:ext>
              </a:extLst>
            </p:cNvPr>
            <p:cNvSpPr>
              <a:spLocks noEditPoints="1"/>
            </p:cNvSpPr>
            <p:nvPr/>
          </p:nvSpPr>
          <p:spPr bwMode="auto">
            <a:xfrm>
              <a:off x="4478" y="1917"/>
              <a:ext cx="142" cy="178"/>
            </a:xfrm>
            <a:custGeom>
              <a:avLst/>
              <a:gdLst>
                <a:gd name="T0" fmla="*/ 90 w 96"/>
                <a:gd name="T1" fmla="*/ 120 h 120"/>
                <a:gd name="T2" fmla="*/ 6 w 96"/>
                <a:gd name="T3" fmla="*/ 120 h 120"/>
                <a:gd name="T4" fmla="*/ 0 w 96"/>
                <a:gd name="T5" fmla="*/ 114 h 120"/>
                <a:gd name="T6" fmla="*/ 0 w 96"/>
                <a:gd name="T7" fmla="*/ 6 h 120"/>
                <a:gd name="T8" fmla="*/ 6 w 96"/>
                <a:gd name="T9" fmla="*/ 0 h 120"/>
                <a:gd name="T10" fmla="*/ 90 w 96"/>
                <a:gd name="T11" fmla="*/ 0 h 120"/>
                <a:gd name="T12" fmla="*/ 96 w 96"/>
                <a:gd name="T13" fmla="*/ 6 h 120"/>
                <a:gd name="T14" fmla="*/ 96 w 96"/>
                <a:gd name="T15" fmla="*/ 114 h 120"/>
                <a:gd name="T16" fmla="*/ 90 w 96"/>
                <a:gd name="T17" fmla="*/ 120 h 120"/>
                <a:gd name="T18" fmla="*/ 12 w 96"/>
                <a:gd name="T19" fmla="*/ 108 h 120"/>
                <a:gd name="T20" fmla="*/ 84 w 96"/>
                <a:gd name="T21" fmla="*/ 108 h 120"/>
                <a:gd name="T22" fmla="*/ 84 w 96"/>
                <a:gd name="T23" fmla="*/ 12 h 120"/>
                <a:gd name="T24" fmla="*/ 12 w 96"/>
                <a:gd name="T25" fmla="*/ 12 h 120"/>
                <a:gd name="T26" fmla="*/ 12 w 96"/>
                <a:gd name="T2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 h="120">
                  <a:moveTo>
                    <a:pt x="90" y="120"/>
                  </a:moveTo>
                  <a:cubicBezTo>
                    <a:pt x="6" y="120"/>
                    <a:pt x="6" y="120"/>
                    <a:pt x="6" y="120"/>
                  </a:cubicBezTo>
                  <a:cubicBezTo>
                    <a:pt x="2" y="120"/>
                    <a:pt x="0" y="118"/>
                    <a:pt x="0" y="114"/>
                  </a:cubicBezTo>
                  <a:cubicBezTo>
                    <a:pt x="0" y="6"/>
                    <a:pt x="0" y="6"/>
                    <a:pt x="0" y="6"/>
                  </a:cubicBezTo>
                  <a:cubicBezTo>
                    <a:pt x="0" y="3"/>
                    <a:pt x="2" y="0"/>
                    <a:pt x="6" y="0"/>
                  </a:cubicBezTo>
                  <a:cubicBezTo>
                    <a:pt x="90" y="0"/>
                    <a:pt x="90" y="0"/>
                    <a:pt x="90" y="0"/>
                  </a:cubicBezTo>
                  <a:cubicBezTo>
                    <a:pt x="93" y="0"/>
                    <a:pt x="96" y="3"/>
                    <a:pt x="96" y="6"/>
                  </a:cubicBezTo>
                  <a:cubicBezTo>
                    <a:pt x="96" y="114"/>
                    <a:pt x="96" y="114"/>
                    <a:pt x="96" y="114"/>
                  </a:cubicBezTo>
                  <a:cubicBezTo>
                    <a:pt x="96" y="118"/>
                    <a:pt x="93" y="120"/>
                    <a:pt x="90" y="120"/>
                  </a:cubicBezTo>
                  <a:close/>
                  <a:moveTo>
                    <a:pt x="12" y="108"/>
                  </a:moveTo>
                  <a:cubicBezTo>
                    <a:pt x="84" y="108"/>
                    <a:pt x="84" y="108"/>
                    <a:pt x="84" y="108"/>
                  </a:cubicBezTo>
                  <a:cubicBezTo>
                    <a:pt x="84" y="12"/>
                    <a:pt x="84" y="12"/>
                    <a:pt x="84" y="12"/>
                  </a:cubicBezTo>
                  <a:cubicBezTo>
                    <a:pt x="12" y="12"/>
                    <a:pt x="12" y="12"/>
                    <a:pt x="12" y="12"/>
                  </a:cubicBezTo>
                  <a:lnTo>
                    <a:pt x="12"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076" name="Freeform 88">
              <a:extLst>
                <a:ext uri="{FF2B5EF4-FFF2-40B4-BE49-F238E27FC236}">
                  <a16:creationId xmlns:a16="http://schemas.microsoft.com/office/drawing/2014/main" id="{379B0C4D-648B-2574-ECE2-88D62A4B445F}"/>
                </a:ext>
              </a:extLst>
            </p:cNvPr>
            <p:cNvSpPr>
              <a:spLocks noEditPoints="1"/>
            </p:cNvSpPr>
            <p:nvPr/>
          </p:nvSpPr>
          <p:spPr bwMode="auto">
            <a:xfrm>
              <a:off x="4762" y="1917"/>
              <a:ext cx="142" cy="178"/>
            </a:xfrm>
            <a:custGeom>
              <a:avLst/>
              <a:gdLst>
                <a:gd name="T0" fmla="*/ 90 w 96"/>
                <a:gd name="T1" fmla="*/ 120 h 120"/>
                <a:gd name="T2" fmla="*/ 6 w 96"/>
                <a:gd name="T3" fmla="*/ 120 h 120"/>
                <a:gd name="T4" fmla="*/ 0 w 96"/>
                <a:gd name="T5" fmla="*/ 114 h 120"/>
                <a:gd name="T6" fmla="*/ 0 w 96"/>
                <a:gd name="T7" fmla="*/ 6 h 120"/>
                <a:gd name="T8" fmla="*/ 6 w 96"/>
                <a:gd name="T9" fmla="*/ 0 h 120"/>
                <a:gd name="T10" fmla="*/ 90 w 96"/>
                <a:gd name="T11" fmla="*/ 0 h 120"/>
                <a:gd name="T12" fmla="*/ 96 w 96"/>
                <a:gd name="T13" fmla="*/ 6 h 120"/>
                <a:gd name="T14" fmla="*/ 96 w 96"/>
                <a:gd name="T15" fmla="*/ 114 h 120"/>
                <a:gd name="T16" fmla="*/ 90 w 96"/>
                <a:gd name="T17" fmla="*/ 120 h 120"/>
                <a:gd name="T18" fmla="*/ 12 w 96"/>
                <a:gd name="T19" fmla="*/ 108 h 120"/>
                <a:gd name="T20" fmla="*/ 84 w 96"/>
                <a:gd name="T21" fmla="*/ 108 h 120"/>
                <a:gd name="T22" fmla="*/ 84 w 96"/>
                <a:gd name="T23" fmla="*/ 12 h 120"/>
                <a:gd name="T24" fmla="*/ 12 w 96"/>
                <a:gd name="T25" fmla="*/ 12 h 120"/>
                <a:gd name="T26" fmla="*/ 12 w 96"/>
                <a:gd name="T2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 h="120">
                  <a:moveTo>
                    <a:pt x="90" y="120"/>
                  </a:moveTo>
                  <a:cubicBezTo>
                    <a:pt x="6" y="120"/>
                    <a:pt x="6" y="120"/>
                    <a:pt x="6" y="120"/>
                  </a:cubicBezTo>
                  <a:cubicBezTo>
                    <a:pt x="2" y="120"/>
                    <a:pt x="0" y="118"/>
                    <a:pt x="0" y="114"/>
                  </a:cubicBezTo>
                  <a:cubicBezTo>
                    <a:pt x="0" y="6"/>
                    <a:pt x="0" y="6"/>
                    <a:pt x="0" y="6"/>
                  </a:cubicBezTo>
                  <a:cubicBezTo>
                    <a:pt x="0" y="3"/>
                    <a:pt x="2" y="0"/>
                    <a:pt x="6" y="0"/>
                  </a:cubicBezTo>
                  <a:cubicBezTo>
                    <a:pt x="90" y="0"/>
                    <a:pt x="90" y="0"/>
                    <a:pt x="90" y="0"/>
                  </a:cubicBezTo>
                  <a:cubicBezTo>
                    <a:pt x="93" y="0"/>
                    <a:pt x="96" y="3"/>
                    <a:pt x="96" y="6"/>
                  </a:cubicBezTo>
                  <a:cubicBezTo>
                    <a:pt x="96" y="114"/>
                    <a:pt x="96" y="114"/>
                    <a:pt x="96" y="114"/>
                  </a:cubicBezTo>
                  <a:cubicBezTo>
                    <a:pt x="96" y="118"/>
                    <a:pt x="93" y="120"/>
                    <a:pt x="90" y="120"/>
                  </a:cubicBezTo>
                  <a:close/>
                  <a:moveTo>
                    <a:pt x="12" y="108"/>
                  </a:moveTo>
                  <a:cubicBezTo>
                    <a:pt x="84" y="108"/>
                    <a:pt x="84" y="108"/>
                    <a:pt x="84" y="108"/>
                  </a:cubicBezTo>
                  <a:cubicBezTo>
                    <a:pt x="84" y="12"/>
                    <a:pt x="84" y="12"/>
                    <a:pt x="84" y="12"/>
                  </a:cubicBezTo>
                  <a:cubicBezTo>
                    <a:pt x="12" y="12"/>
                    <a:pt x="12" y="12"/>
                    <a:pt x="12" y="12"/>
                  </a:cubicBezTo>
                  <a:lnTo>
                    <a:pt x="12"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077" name="Freeform 89">
              <a:extLst>
                <a:ext uri="{FF2B5EF4-FFF2-40B4-BE49-F238E27FC236}">
                  <a16:creationId xmlns:a16="http://schemas.microsoft.com/office/drawing/2014/main" id="{D4BC4737-0D4E-ED94-ED3D-9E6D77B253E7}"/>
                </a:ext>
              </a:extLst>
            </p:cNvPr>
            <p:cNvSpPr>
              <a:spLocks noEditPoints="1"/>
            </p:cNvSpPr>
            <p:nvPr/>
          </p:nvSpPr>
          <p:spPr bwMode="auto">
            <a:xfrm>
              <a:off x="4602" y="1829"/>
              <a:ext cx="178" cy="266"/>
            </a:xfrm>
            <a:custGeom>
              <a:avLst/>
              <a:gdLst>
                <a:gd name="T0" fmla="*/ 114 w 120"/>
                <a:gd name="T1" fmla="*/ 180 h 180"/>
                <a:gd name="T2" fmla="*/ 6 w 120"/>
                <a:gd name="T3" fmla="*/ 180 h 180"/>
                <a:gd name="T4" fmla="*/ 0 w 120"/>
                <a:gd name="T5" fmla="*/ 174 h 180"/>
                <a:gd name="T6" fmla="*/ 0 w 120"/>
                <a:gd name="T7" fmla="*/ 6 h 180"/>
                <a:gd name="T8" fmla="*/ 6 w 120"/>
                <a:gd name="T9" fmla="*/ 0 h 180"/>
                <a:gd name="T10" fmla="*/ 114 w 120"/>
                <a:gd name="T11" fmla="*/ 0 h 180"/>
                <a:gd name="T12" fmla="*/ 120 w 120"/>
                <a:gd name="T13" fmla="*/ 6 h 180"/>
                <a:gd name="T14" fmla="*/ 120 w 120"/>
                <a:gd name="T15" fmla="*/ 174 h 180"/>
                <a:gd name="T16" fmla="*/ 114 w 120"/>
                <a:gd name="T17" fmla="*/ 180 h 180"/>
                <a:gd name="T18" fmla="*/ 12 w 120"/>
                <a:gd name="T19" fmla="*/ 168 h 180"/>
                <a:gd name="T20" fmla="*/ 108 w 120"/>
                <a:gd name="T21" fmla="*/ 168 h 180"/>
                <a:gd name="T22" fmla="*/ 108 w 120"/>
                <a:gd name="T23" fmla="*/ 12 h 180"/>
                <a:gd name="T24" fmla="*/ 12 w 120"/>
                <a:gd name="T25" fmla="*/ 12 h 180"/>
                <a:gd name="T26" fmla="*/ 12 w 120"/>
                <a:gd name="T27" fmla="*/ 16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 h="180">
                  <a:moveTo>
                    <a:pt x="114" y="180"/>
                  </a:moveTo>
                  <a:cubicBezTo>
                    <a:pt x="6" y="180"/>
                    <a:pt x="6" y="180"/>
                    <a:pt x="6" y="180"/>
                  </a:cubicBezTo>
                  <a:cubicBezTo>
                    <a:pt x="2" y="180"/>
                    <a:pt x="0" y="178"/>
                    <a:pt x="0" y="174"/>
                  </a:cubicBezTo>
                  <a:cubicBezTo>
                    <a:pt x="0" y="6"/>
                    <a:pt x="0" y="6"/>
                    <a:pt x="0" y="6"/>
                  </a:cubicBezTo>
                  <a:cubicBezTo>
                    <a:pt x="0" y="3"/>
                    <a:pt x="2" y="0"/>
                    <a:pt x="6" y="0"/>
                  </a:cubicBezTo>
                  <a:cubicBezTo>
                    <a:pt x="114" y="0"/>
                    <a:pt x="114" y="0"/>
                    <a:pt x="114" y="0"/>
                  </a:cubicBezTo>
                  <a:cubicBezTo>
                    <a:pt x="117" y="0"/>
                    <a:pt x="120" y="3"/>
                    <a:pt x="120" y="6"/>
                  </a:cubicBezTo>
                  <a:cubicBezTo>
                    <a:pt x="120" y="174"/>
                    <a:pt x="120" y="174"/>
                    <a:pt x="120" y="174"/>
                  </a:cubicBezTo>
                  <a:cubicBezTo>
                    <a:pt x="120" y="178"/>
                    <a:pt x="117" y="180"/>
                    <a:pt x="114" y="180"/>
                  </a:cubicBezTo>
                  <a:close/>
                  <a:moveTo>
                    <a:pt x="12" y="168"/>
                  </a:moveTo>
                  <a:cubicBezTo>
                    <a:pt x="108" y="168"/>
                    <a:pt x="108" y="168"/>
                    <a:pt x="108" y="168"/>
                  </a:cubicBezTo>
                  <a:cubicBezTo>
                    <a:pt x="108" y="12"/>
                    <a:pt x="108" y="12"/>
                    <a:pt x="108" y="12"/>
                  </a:cubicBezTo>
                  <a:cubicBezTo>
                    <a:pt x="12" y="12"/>
                    <a:pt x="12" y="12"/>
                    <a:pt x="12" y="12"/>
                  </a:cubicBezTo>
                  <a:lnTo>
                    <a:pt x="12"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078" name="Freeform 90">
              <a:extLst>
                <a:ext uri="{FF2B5EF4-FFF2-40B4-BE49-F238E27FC236}">
                  <a16:creationId xmlns:a16="http://schemas.microsoft.com/office/drawing/2014/main" id="{AA367E3B-C45B-F0C3-4341-F77E0A719E63}"/>
                </a:ext>
              </a:extLst>
            </p:cNvPr>
            <p:cNvSpPr>
              <a:spLocks noEditPoints="1"/>
            </p:cNvSpPr>
            <p:nvPr/>
          </p:nvSpPr>
          <p:spPr bwMode="auto">
            <a:xfrm>
              <a:off x="4762" y="1864"/>
              <a:ext cx="142" cy="71"/>
            </a:xfrm>
            <a:custGeom>
              <a:avLst/>
              <a:gdLst>
                <a:gd name="T0" fmla="*/ 90 w 96"/>
                <a:gd name="T1" fmla="*/ 48 h 48"/>
                <a:gd name="T2" fmla="*/ 6 w 96"/>
                <a:gd name="T3" fmla="*/ 48 h 48"/>
                <a:gd name="T4" fmla="*/ 0 w 96"/>
                <a:gd name="T5" fmla="*/ 42 h 48"/>
                <a:gd name="T6" fmla="*/ 0 w 96"/>
                <a:gd name="T7" fmla="*/ 6 h 48"/>
                <a:gd name="T8" fmla="*/ 6 w 96"/>
                <a:gd name="T9" fmla="*/ 0 h 48"/>
                <a:gd name="T10" fmla="*/ 72 w 96"/>
                <a:gd name="T11" fmla="*/ 0 h 48"/>
                <a:gd name="T12" fmla="*/ 77 w 96"/>
                <a:gd name="T13" fmla="*/ 4 h 48"/>
                <a:gd name="T14" fmla="*/ 95 w 96"/>
                <a:gd name="T15" fmla="*/ 40 h 48"/>
                <a:gd name="T16" fmla="*/ 95 w 96"/>
                <a:gd name="T17" fmla="*/ 46 h 48"/>
                <a:gd name="T18" fmla="*/ 90 w 96"/>
                <a:gd name="T19" fmla="*/ 48 h 48"/>
                <a:gd name="T20" fmla="*/ 12 w 96"/>
                <a:gd name="T21" fmla="*/ 36 h 48"/>
                <a:gd name="T22" fmla="*/ 80 w 96"/>
                <a:gd name="T23" fmla="*/ 36 h 48"/>
                <a:gd name="T24" fmla="*/ 68 w 96"/>
                <a:gd name="T25" fmla="*/ 12 h 48"/>
                <a:gd name="T26" fmla="*/ 12 w 96"/>
                <a:gd name="T27" fmla="*/ 12 h 48"/>
                <a:gd name="T28" fmla="*/ 12 w 96"/>
                <a:gd name="T29"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6" h="48">
                  <a:moveTo>
                    <a:pt x="90" y="48"/>
                  </a:moveTo>
                  <a:cubicBezTo>
                    <a:pt x="6" y="48"/>
                    <a:pt x="6" y="48"/>
                    <a:pt x="6" y="48"/>
                  </a:cubicBezTo>
                  <a:cubicBezTo>
                    <a:pt x="2" y="48"/>
                    <a:pt x="0" y="46"/>
                    <a:pt x="0" y="42"/>
                  </a:cubicBezTo>
                  <a:cubicBezTo>
                    <a:pt x="0" y="6"/>
                    <a:pt x="0" y="6"/>
                    <a:pt x="0" y="6"/>
                  </a:cubicBezTo>
                  <a:cubicBezTo>
                    <a:pt x="0" y="3"/>
                    <a:pt x="2" y="0"/>
                    <a:pt x="6" y="0"/>
                  </a:cubicBezTo>
                  <a:cubicBezTo>
                    <a:pt x="72" y="0"/>
                    <a:pt x="72" y="0"/>
                    <a:pt x="72" y="0"/>
                  </a:cubicBezTo>
                  <a:cubicBezTo>
                    <a:pt x="74" y="0"/>
                    <a:pt x="76" y="2"/>
                    <a:pt x="77" y="4"/>
                  </a:cubicBezTo>
                  <a:cubicBezTo>
                    <a:pt x="95" y="40"/>
                    <a:pt x="95" y="40"/>
                    <a:pt x="95" y="40"/>
                  </a:cubicBezTo>
                  <a:cubicBezTo>
                    <a:pt x="96" y="42"/>
                    <a:pt x="96" y="44"/>
                    <a:pt x="95" y="46"/>
                  </a:cubicBezTo>
                  <a:cubicBezTo>
                    <a:pt x="94" y="47"/>
                    <a:pt x="92" y="48"/>
                    <a:pt x="90" y="48"/>
                  </a:cubicBezTo>
                  <a:close/>
                  <a:moveTo>
                    <a:pt x="12" y="36"/>
                  </a:moveTo>
                  <a:cubicBezTo>
                    <a:pt x="80" y="36"/>
                    <a:pt x="80" y="36"/>
                    <a:pt x="80" y="36"/>
                  </a:cubicBezTo>
                  <a:cubicBezTo>
                    <a:pt x="68" y="12"/>
                    <a:pt x="68" y="12"/>
                    <a:pt x="68"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079" name="Freeform 91">
              <a:extLst>
                <a:ext uri="{FF2B5EF4-FFF2-40B4-BE49-F238E27FC236}">
                  <a16:creationId xmlns:a16="http://schemas.microsoft.com/office/drawing/2014/main" id="{92EF5F7D-2703-B13B-10BA-AF297BAC64F4}"/>
                </a:ext>
              </a:extLst>
            </p:cNvPr>
            <p:cNvSpPr>
              <a:spLocks noEditPoints="1"/>
            </p:cNvSpPr>
            <p:nvPr/>
          </p:nvSpPr>
          <p:spPr bwMode="auto">
            <a:xfrm>
              <a:off x="4476" y="1864"/>
              <a:ext cx="144" cy="71"/>
            </a:xfrm>
            <a:custGeom>
              <a:avLst/>
              <a:gdLst>
                <a:gd name="T0" fmla="*/ 91 w 97"/>
                <a:gd name="T1" fmla="*/ 48 h 48"/>
                <a:gd name="T2" fmla="*/ 7 w 97"/>
                <a:gd name="T3" fmla="*/ 48 h 48"/>
                <a:gd name="T4" fmla="*/ 2 w 97"/>
                <a:gd name="T5" fmla="*/ 46 h 48"/>
                <a:gd name="T6" fmla="*/ 1 w 97"/>
                <a:gd name="T7" fmla="*/ 40 h 48"/>
                <a:gd name="T8" fmla="*/ 19 w 97"/>
                <a:gd name="T9" fmla="*/ 4 h 48"/>
                <a:gd name="T10" fmla="*/ 25 w 97"/>
                <a:gd name="T11" fmla="*/ 0 h 48"/>
                <a:gd name="T12" fmla="*/ 91 w 97"/>
                <a:gd name="T13" fmla="*/ 0 h 48"/>
                <a:gd name="T14" fmla="*/ 97 w 97"/>
                <a:gd name="T15" fmla="*/ 6 h 48"/>
                <a:gd name="T16" fmla="*/ 97 w 97"/>
                <a:gd name="T17" fmla="*/ 42 h 48"/>
                <a:gd name="T18" fmla="*/ 91 w 97"/>
                <a:gd name="T19" fmla="*/ 48 h 48"/>
                <a:gd name="T20" fmla="*/ 16 w 97"/>
                <a:gd name="T21" fmla="*/ 36 h 48"/>
                <a:gd name="T22" fmla="*/ 85 w 97"/>
                <a:gd name="T23" fmla="*/ 36 h 48"/>
                <a:gd name="T24" fmla="*/ 85 w 97"/>
                <a:gd name="T25" fmla="*/ 12 h 48"/>
                <a:gd name="T26" fmla="*/ 28 w 97"/>
                <a:gd name="T27" fmla="*/ 12 h 48"/>
                <a:gd name="T28" fmla="*/ 16 w 97"/>
                <a:gd name="T29"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7" h="48">
                  <a:moveTo>
                    <a:pt x="91" y="48"/>
                  </a:moveTo>
                  <a:cubicBezTo>
                    <a:pt x="7" y="48"/>
                    <a:pt x="7" y="48"/>
                    <a:pt x="7" y="48"/>
                  </a:cubicBezTo>
                  <a:cubicBezTo>
                    <a:pt x="5" y="48"/>
                    <a:pt x="3" y="47"/>
                    <a:pt x="2" y="46"/>
                  </a:cubicBezTo>
                  <a:cubicBezTo>
                    <a:pt x="0" y="44"/>
                    <a:pt x="0" y="42"/>
                    <a:pt x="1" y="40"/>
                  </a:cubicBezTo>
                  <a:cubicBezTo>
                    <a:pt x="19" y="4"/>
                    <a:pt x="19" y="4"/>
                    <a:pt x="19" y="4"/>
                  </a:cubicBezTo>
                  <a:cubicBezTo>
                    <a:pt x="20" y="2"/>
                    <a:pt x="22" y="0"/>
                    <a:pt x="25" y="0"/>
                  </a:cubicBezTo>
                  <a:cubicBezTo>
                    <a:pt x="91" y="0"/>
                    <a:pt x="91" y="0"/>
                    <a:pt x="91" y="0"/>
                  </a:cubicBezTo>
                  <a:cubicBezTo>
                    <a:pt x="94" y="0"/>
                    <a:pt x="97" y="3"/>
                    <a:pt x="97" y="6"/>
                  </a:cubicBezTo>
                  <a:cubicBezTo>
                    <a:pt x="97" y="42"/>
                    <a:pt x="97" y="42"/>
                    <a:pt x="97" y="42"/>
                  </a:cubicBezTo>
                  <a:cubicBezTo>
                    <a:pt x="97" y="46"/>
                    <a:pt x="94" y="48"/>
                    <a:pt x="91" y="48"/>
                  </a:cubicBezTo>
                  <a:close/>
                  <a:moveTo>
                    <a:pt x="16" y="36"/>
                  </a:moveTo>
                  <a:cubicBezTo>
                    <a:pt x="85" y="36"/>
                    <a:pt x="85" y="36"/>
                    <a:pt x="85" y="36"/>
                  </a:cubicBezTo>
                  <a:cubicBezTo>
                    <a:pt x="85" y="12"/>
                    <a:pt x="85" y="12"/>
                    <a:pt x="85" y="12"/>
                  </a:cubicBezTo>
                  <a:cubicBezTo>
                    <a:pt x="28" y="12"/>
                    <a:pt x="28" y="12"/>
                    <a:pt x="28" y="12"/>
                  </a:cubicBezTo>
                  <a:lnTo>
                    <a:pt x="16"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080" name="Freeform 92">
              <a:extLst>
                <a:ext uri="{FF2B5EF4-FFF2-40B4-BE49-F238E27FC236}">
                  <a16:creationId xmlns:a16="http://schemas.microsoft.com/office/drawing/2014/main" id="{ADED5CA8-285E-696E-1603-C6AE458549A4}"/>
                </a:ext>
              </a:extLst>
            </p:cNvPr>
            <p:cNvSpPr>
              <a:spLocks noEditPoints="1"/>
            </p:cNvSpPr>
            <p:nvPr/>
          </p:nvSpPr>
          <p:spPr bwMode="auto">
            <a:xfrm>
              <a:off x="4601" y="1776"/>
              <a:ext cx="179" cy="71"/>
            </a:xfrm>
            <a:custGeom>
              <a:avLst/>
              <a:gdLst>
                <a:gd name="T0" fmla="*/ 115 w 121"/>
                <a:gd name="T1" fmla="*/ 48 h 48"/>
                <a:gd name="T2" fmla="*/ 7 w 121"/>
                <a:gd name="T3" fmla="*/ 48 h 48"/>
                <a:gd name="T4" fmla="*/ 2 w 121"/>
                <a:gd name="T5" fmla="*/ 46 h 48"/>
                <a:gd name="T6" fmla="*/ 1 w 121"/>
                <a:gd name="T7" fmla="*/ 40 h 48"/>
                <a:gd name="T8" fmla="*/ 19 w 121"/>
                <a:gd name="T9" fmla="*/ 4 h 48"/>
                <a:gd name="T10" fmla="*/ 25 w 121"/>
                <a:gd name="T11" fmla="*/ 0 h 48"/>
                <a:gd name="T12" fmla="*/ 97 w 121"/>
                <a:gd name="T13" fmla="*/ 0 h 48"/>
                <a:gd name="T14" fmla="*/ 102 w 121"/>
                <a:gd name="T15" fmla="*/ 4 h 48"/>
                <a:gd name="T16" fmla="*/ 120 w 121"/>
                <a:gd name="T17" fmla="*/ 40 h 48"/>
                <a:gd name="T18" fmla="*/ 120 w 121"/>
                <a:gd name="T19" fmla="*/ 46 h 48"/>
                <a:gd name="T20" fmla="*/ 115 w 121"/>
                <a:gd name="T21" fmla="*/ 48 h 48"/>
                <a:gd name="T22" fmla="*/ 16 w 121"/>
                <a:gd name="T23" fmla="*/ 36 h 48"/>
                <a:gd name="T24" fmla="*/ 105 w 121"/>
                <a:gd name="T25" fmla="*/ 36 h 48"/>
                <a:gd name="T26" fmla="*/ 93 w 121"/>
                <a:gd name="T27" fmla="*/ 12 h 48"/>
                <a:gd name="T28" fmla="*/ 28 w 121"/>
                <a:gd name="T29" fmla="*/ 12 h 48"/>
                <a:gd name="T30" fmla="*/ 16 w 121"/>
                <a:gd name="T31"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1" h="48">
                  <a:moveTo>
                    <a:pt x="115" y="48"/>
                  </a:moveTo>
                  <a:cubicBezTo>
                    <a:pt x="7" y="48"/>
                    <a:pt x="7" y="48"/>
                    <a:pt x="7" y="48"/>
                  </a:cubicBezTo>
                  <a:cubicBezTo>
                    <a:pt x="5" y="48"/>
                    <a:pt x="3" y="47"/>
                    <a:pt x="2" y="46"/>
                  </a:cubicBezTo>
                  <a:cubicBezTo>
                    <a:pt x="0" y="44"/>
                    <a:pt x="0" y="42"/>
                    <a:pt x="1" y="40"/>
                  </a:cubicBezTo>
                  <a:cubicBezTo>
                    <a:pt x="19" y="4"/>
                    <a:pt x="19" y="4"/>
                    <a:pt x="19" y="4"/>
                  </a:cubicBezTo>
                  <a:cubicBezTo>
                    <a:pt x="20" y="2"/>
                    <a:pt x="22" y="0"/>
                    <a:pt x="25" y="0"/>
                  </a:cubicBezTo>
                  <a:cubicBezTo>
                    <a:pt x="97" y="0"/>
                    <a:pt x="97" y="0"/>
                    <a:pt x="97" y="0"/>
                  </a:cubicBezTo>
                  <a:cubicBezTo>
                    <a:pt x="99" y="0"/>
                    <a:pt x="101" y="2"/>
                    <a:pt x="102" y="4"/>
                  </a:cubicBezTo>
                  <a:cubicBezTo>
                    <a:pt x="120" y="40"/>
                    <a:pt x="120" y="40"/>
                    <a:pt x="120" y="40"/>
                  </a:cubicBezTo>
                  <a:cubicBezTo>
                    <a:pt x="121" y="42"/>
                    <a:pt x="121" y="44"/>
                    <a:pt x="120" y="46"/>
                  </a:cubicBezTo>
                  <a:cubicBezTo>
                    <a:pt x="119" y="47"/>
                    <a:pt x="117" y="48"/>
                    <a:pt x="115" y="48"/>
                  </a:cubicBezTo>
                  <a:close/>
                  <a:moveTo>
                    <a:pt x="16" y="36"/>
                  </a:moveTo>
                  <a:cubicBezTo>
                    <a:pt x="105" y="36"/>
                    <a:pt x="105" y="36"/>
                    <a:pt x="105" y="36"/>
                  </a:cubicBezTo>
                  <a:cubicBezTo>
                    <a:pt x="93" y="12"/>
                    <a:pt x="93" y="12"/>
                    <a:pt x="93" y="12"/>
                  </a:cubicBezTo>
                  <a:cubicBezTo>
                    <a:pt x="28" y="12"/>
                    <a:pt x="28" y="12"/>
                    <a:pt x="28" y="12"/>
                  </a:cubicBezTo>
                  <a:lnTo>
                    <a:pt x="16"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081" name="Freeform 93">
              <a:extLst>
                <a:ext uri="{FF2B5EF4-FFF2-40B4-BE49-F238E27FC236}">
                  <a16:creationId xmlns:a16="http://schemas.microsoft.com/office/drawing/2014/main" id="{88AD3BF1-E54D-3F9E-B27F-D9A8617AB3FB}"/>
                </a:ext>
              </a:extLst>
            </p:cNvPr>
            <p:cNvSpPr>
              <a:spLocks/>
            </p:cNvSpPr>
            <p:nvPr/>
          </p:nvSpPr>
          <p:spPr bwMode="auto">
            <a:xfrm>
              <a:off x="4663" y="1909"/>
              <a:ext cx="46" cy="105"/>
            </a:xfrm>
            <a:custGeom>
              <a:avLst/>
              <a:gdLst>
                <a:gd name="T0" fmla="*/ 25 w 31"/>
                <a:gd name="T1" fmla="*/ 71 h 71"/>
                <a:gd name="T2" fmla="*/ 19 w 31"/>
                <a:gd name="T3" fmla="*/ 65 h 71"/>
                <a:gd name="T4" fmla="*/ 19 w 31"/>
                <a:gd name="T5" fmla="*/ 15 h 71"/>
                <a:gd name="T6" fmla="*/ 9 w 31"/>
                <a:gd name="T7" fmla="*/ 19 h 71"/>
                <a:gd name="T8" fmla="*/ 1 w 31"/>
                <a:gd name="T9" fmla="*/ 15 h 71"/>
                <a:gd name="T10" fmla="*/ 5 w 31"/>
                <a:gd name="T11" fmla="*/ 8 h 71"/>
                <a:gd name="T12" fmla="*/ 23 w 31"/>
                <a:gd name="T13" fmla="*/ 1 h 71"/>
                <a:gd name="T14" fmla="*/ 28 w 31"/>
                <a:gd name="T15" fmla="*/ 2 h 71"/>
                <a:gd name="T16" fmla="*/ 31 w 31"/>
                <a:gd name="T17" fmla="*/ 6 h 71"/>
                <a:gd name="T18" fmla="*/ 31 w 31"/>
                <a:gd name="T19" fmla="*/ 65 h 71"/>
                <a:gd name="T20" fmla="*/ 25 w 31"/>
                <a:gd name="T21"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 h="71">
                  <a:moveTo>
                    <a:pt x="25" y="71"/>
                  </a:moveTo>
                  <a:cubicBezTo>
                    <a:pt x="21" y="71"/>
                    <a:pt x="19" y="68"/>
                    <a:pt x="19" y="65"/>
                  </a:cubicBezTo>
                  <a:cubicBezTo>
                    <a:pt x="19" y="15"/>
                    <a:pt x="19" y="15"/>
                    <a:pt x="19" y="15"/>
                  </a:cubicBezTo>
                  <a:cubicBezTo>
                    <a:pt x="9" y="19"/>
                    <a:pt x="9" y="19"/>
                    <a:pt x="9" y="19"/>
                  </a:cubicBezTo>
                  <a:cubicBezTo>
                    <a:pt x="6" y="20"/>
                    <a:pt x="2" y="18"/>
                    <a:pt x="1" y="15"/>
                  </a:cubicBezTo>
                  <a:cubicBezTo>
                    <a:pt x="0" y="12"/>
                    <a:pt x="1" y="9"/>
                    <a:pt x="5" y="8"/>
                  </a:cubicBezTo>
                  <a:cubicBezTo>
                    <a:pt x="23" y="1"/>
                    <a:pt x="23" y="1"/>
                    <a:pt x="23" y="1"/>
                  </a:cubicBezTo>
                  <a:cubicBezTo>
                    <a:pt x="24" y="0"/>
                    <a:pt x="26" y="0"/>
                    <a:pt x="28" y="2"/>
                  </a:cubicBezTo>
                  <a:cubicBezTo>
                    <a:pt x="30" y="3"/>
                    <a:pt x="31" y="4"/>
                    <a:pt x="31" y="6"/>
                  </a:cubicBezTo>
                  <a:cubicBezTo>
                    <a:pt x="31" y="65"/>
                    <a:pt x="31" y="65"/>
                    <a:pt x="31" y="65"/>
                  </a:cubicBezTo>
                  <a:cubicBezTo>
                    <a:pt x="31" y="68"/>
                    <a:pt x="28" y="71"/>
                    <a:pt x="25"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082" name="Freeform 94">
              <a:extLst>
                <a:ext uri="{FF2B5EF4-FFF2-40B4-BE49-F238E27FC236}">
                  <a16:creationId xmlns:a16="http://schemas.microsoft.com/office/drawing/2014/main" id="{246B1FC8-8863-DE85-4EF6-758B97D49B3F}"/>
                </a:ext>
              </a:extLst>
            </p:cNvPr>
            <p:cNvSpPr>
              <a:spLocks/>
            </p:cNvSpPr>
            <p:nvPr/>
          </p:nvSpPr>
          <p:spPr bwMode="auto">
            <a:xfrm>
              <a:off x="4524" y="1963"/>
              <a:ext cx="52" cy="88"/>
            </a:xfrm>
            <a:custGeom>
              <a:avLst/>
              <a:gdLst>
                <a:gd name="T0" fmla="*/ 29 w 35"/>
                <a:gd name="T1" fmla="*/ 59 h 59"/>
                <a:gd name="T2" fmla="*/ 6 w 35"/>
                <a:gd name="T3" fmla="*/ 59 h 59"/>
                <a:gd name="T4" fmla="*/ 1 w 35"/>
                <a:gd name="T5" fmla="*/ 56 h 59"/>
                <a:gd name="T6" fmla="*/ 1 w 35"/>
                <a:gd name="T7" fmla="*/ 50 h 59"/>
                <a:gd name="T8" fmla="*/ 22 w 35"/>
                <a:gd name="T9" fmla="*/ 21 h 59"/>
                <a:gd name="T10" fmla="*/ 23 w 35"/>
                <a:gd name="T11" fmla="*/ 18 h 59"/>
                <a:gd name="T12" fmla="*/ 17 w 35"/>
                <a:gd name="T13" fmla="*/ 12 h 59"/>
                <a:gd name="T14" fmla="*/ 12 w 35"/>
                <a:gd name="T15" fmla="*/ 17 h 59"/>
                <a:gd name="T16" fmla="*/ 6 w 35"/>
                <a:gd name="T17" fmla="*/ 23 h 59"/>
                <a:gd name="T18" fmla="*/ 0 w 35"/>
                <a:gd name="T19" fmla="*/ 17 h 59"/>
                <a:gd name="T20" fmla="*/ 17 w 35"/>
                <a:gd name="T21" fmla="*/ 0 h 59"/>
                <a:gd name="T22" fmla="*/ 35 w 35"/>
                <a:gd name="T23" fmla="*/ 18 h 59"/>
                <a:gd name="T24" fmla="*/ 31 w 35"/>
                <a:gd name="T25" fmla="*/ 28 h 59"/>
                <a:gd name="T26" fmla="*/ 18 w 35"/>
                <a:gd name="T27" fmla="*/ 47 h 59"/>
                <a:gd name="T28" fmla="*/ 29 w 35"/>
                <a:gd name="T29" fmla="*/ 47 h 59"/>
                <a:gd name="T30" fmla="*/ 35 w 35"/>
                <a:gd name="T31" fmla="*/ 53 h 59"/>
                <a:gd name="T32" fmla="*/ 29 w 35"/>
                <a:gd name="T3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59">
                  <a:moveTo>
                    <a:pt x="29" y="59"/>
                  </a:moveTo>
                  <a:cubicBezTo>
                    <a:pt x="6" y="59"/>
                    <a:pt x="6" y="59"/>
                    <a:pt x="6" y="59"/>
                  </a:cubicBezTo>
                  <a:cubicBezTo>
                    <a:pt x="4" y="59"/>
                    <a:pt x="2" y="58"/>
                    <a:pt x="1" y="56"/>
                  </a:cubicBezTo>
                  <a:cubicBezTo>
                    <a:pt x="0" y="54"/>
                    <a:pt x="0" y="52"/>
                    <a:pt x="1" y="50"/>
                  </a:cubicBezTo>
                  <a:cubicBezTo>
                    <a:pt x="22" y="21"/>
                    <a:pt x="22" y="21"/>
                    <a:pt x="22" y="21"/>
                  </a:cubicBezTo>
                  <a:cubicBezTo>
                    <a:pt x="22" y="20"/>
                    <a:pt x="23" y="19"/>
                    <a:pt x="23" y="18"/>
                  </a:cubicBezTo>
                  <a:cubicBezTo>
                    <a:pt x="23" y="15"/>
                    <a:pt x="20" y="12"/>
                    <a:pt x="17" y="12"/>
                  </a:cubicBezTo>
                  <a:cubicBezTo>
                    <a:pt x="15" y="12"/>
                    <a:pt x="12" y="15"/>
                    <a:pt x="12" y="17"/>
                  </a:cubicBezTo>
                  <a:cubicBezTo>
                    <a:pt x="12" y="21"/>
                    <a:pt x="9" y="23"/>
                    <a:pt x="6" y="23"/>
                  </a:cubicBezTo>
                  <a:cubicBezTo>
                    <a:pt x="3" y="23"/>
                    <a:pt x="0" y="20"/>
                    <a:pt x="0" y="17"/>
                  </a:cubicBezTo>
                  <a:cubicBezTo>
                    <a:pt x="1" y="8"/>
                    <a:pt x="8" y="0"/>
                    <a:pt x="17" y="0"/>
                  </a:cubicBezTo>
                  <a:cubicBezTo>
                    <a:pt x="27" y="0"/>
                    <a:pt x="35" y="8"/>
                    <a:pt x="35" y="18"/>
                  </a:cubicBezTo>
                  <a:cubicBezTo>
                    <a:pt x="35" y="22"/>
                    <a:pt x="33" y="26"/>
                    <a:pt x="31" y="28"/>
                  </a:cubicBezTo>
                  <a:cubicBezTo>
                    <a:pt x="18" y="47"/>
                    <a:pt x="18" y="47"/>
                    <a:pt x="18" y="47"/>
                  </a:cubicBezTo>
                  <a:cubicBezTo>
                    <a:pt x="29" y="47"/>
                    <a:pt x="29" y="47"/>
                    <a:pt x="29" y="47"/>
                  </a:cubicBezTo>
                  <a:cubicBezTo>
                    <a:pt x="32" y="47"/>
                    <a:pt x="35" y="50"/>
                    <a:pt x="35" y="53"/>
                  </a:cubicBezTo>
                  <a:cubicBezTo>
                    <a:pt x="35" y="57"/>
                    <a:pt x="32" y="59"/>
                    <a:pt x="29"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083" name="Freeform 95">
              <a:extLst>
                <a:ext uri="{FF2B5EF4-FFF2-40B4-BE49-F238E27FC236}">
                  <a16:creationId xmlns:a16="http://schemas.microsoft.com/office/drawing/2014/main" id="{48673955-64D7-809F-3BC7-B825F056FD63}"/>
                </a:ext>
              </a:extLst>
            </p:cNvPr>
            <p:cNvSpPr>
              <a:spLocks/>
            </p:cNvSpPr>
            <p:nvPr/>
          </p:nvSpPr>
          <p:spPr bwMode="auto">
            <a:xfrm>
              <a:off x="4805" y="1962"/>
              <a:ext cx="52" cy="53"/>
            </a:xfrm>
            <a:custGeom>
              <a:avLst/>
              <a:gdLst>
                <a:gd name="T0" fmla="*/ 18 w 35"/>
                <a:gd name="T1" fmla="*/ 36 h 36"/>
                <a:gd name="T2" fmla="*/ 12 w 35"/>
                <a:gd name="T3" fmla="*/ 30 h 36"/>
                <a:gd name="T4" fmla="*/ 18 w 35"/>
                <a:gd name="T5" fmla="*/ 24 h 36"/>
                <a:gd name="T6" fmla="*/ 23 w 35"/>
                <a:gd name="T7" fmla="*/ 18 h 36"/>
                <a:gd name="T8" fmla="*/ 18 w 35"/>
                <a:gd name="T9" fmla="*/ 12 h 36"/>
                <a:gd name="T10" fmla="*/ 13 w 35"/>
                <a:gd name="T11" fmla="*/ 18 h 36"/>
                <a:gd name="T12" fmla="*/ 6 w 35"/>
                <a:gd name="T13" fmla="*/ 24 h 36"/>
                <a:gd name="T14" fmla="*/ 1 w 35"/>
                <a:gd name="T15" fmla="*/ 17 h 36"/>
                <a:gd name="T16" fmla="*/ 18 w 35"/>
                <a:gd name="T17" fmla="*/ 0 h 36"/>
                <a:gd name="T18" fmla="*/ 35 w 35"/>
                <a:gd name="T19" fmla="*/ 18 h 36"/>
                <a:gd name="T20" fmla="*/ 18 w 35"/>
                <a:gd name="T21"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36">
                  <a:moveTo>
                    <a:pt x="18" y="36"/>
                  </a:moveTo>
                  <a:cubicBezTo>
                    <a:pt x="15" y="36"/>
                    <a:pt x="12" y="34"/>
                    <a:pt x="12" y="30"/>
                  </a:cubicBezTo>
                  <a:cubicBezTo>
                    <a:pt x="12" y="27"/>
                    <a:pt x="15" y="24"/>
                    <a:pt x="18" y="24"/>
                  </a:cubicBezTo>
                  <a:cubicBezTo>
                    <a:pt x="20" y="24"/>
                    <a:pt x="23" y="24"/>
                    <a:pt x="23" y="18"/>
                  </a:cubicBezTo>
                  <a:cubicBezTo>
                    <a:pt x="23" y="12"/>
                    <a:pt x="20" y="12"/>
                    <a:pt x="18" y="12"/>
                  </a:cubicBezTo>
                  <a:cubicBezTo>
                    <a:pt x="16" y="12"/>
                    <a:pt x="13" y="12"/>
                    <a:pt x="13" y="18"/>
                  </a:cubicBezTo>
                  <a:cubicBezTo>
                    <a:pt x="12" y="21"/>
                    <a:pt x="10" y="24"/>
                    <a:pt x="6" y="24"/>
                  </a:cubicBezTo>
                  <a:cubicBezTo>
                    <a:pt x="3" y="24"/>
                    <a:pt x="0" y="21"/>
                    <a:pt x="1" y="17"/>
                  </a:cubicBezTo>
                  <a:cubicBezTo>
                    <a:pt x="1" y="7"/>
                    <a:pt x="8" y="0"/>
                    <a:pt x="18" y="0"/>
                  </a:cubicBezTo>
                  <a:cubicBezTo>
                    <a:pt x="30" y="0"/>
                    <a:pt x="35" y="9"/>
                    <a:pt x="35" y="18"/>
                  </a:cubicBezTo>
                  <a:cubicBezTo>
                    <a:pt x="35" y="27"/>
                    <a:pt x="30" y="36"/>
                    <a:pt x="18"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084" name="Freeform 96">
              <a:extLst>
                <a:ext uri="{FF2B5EF4-FFF2-40B4-BE49-F238E27FC236}">
                  <a16:creationId xmlns:a16="http://schemas.microsoft.com/office/drawing/2014/main" id="{24F073ED-6CB5-4636-2260-95225C5574DB}"/>
                </a:ext>
              </a:extLst>
            </p:cNvPr>
            <p:cNvSpPr>
              <a:spLocks/>
            </p:cNvSpPr>
            <p:nvPr/>
          </p:nvSpPr>
          <p:spPr bwMode="auto">
            <a:xfrm>
              <a:off x="4805" y="1997"/>
              <a:ext cx="52" cy="54"/>
            </a:xfrm>
            <a:custGeom>
              <a:avLst/>
              <a:gdLst>
                <a:gd name="T0" fmla="*/ 18 w 35"/>
                <a:gd name="T1" fmla="*/ 36 h 36"/>
                <a:gd name="T2" fmla="*/ 1 w 35"/>
                <a:gd name="T3" fmla="*/ 20 h 36"/>
                <a:gd name="T4" fmla="*/ 6 w 35"/>
                <a:gd name="T5" fmla="*/ 13 h 36"/>
                <a:gd name="T6" fmla="*/ 13 w 35"/>
                <a:gd name="T7" fmla="*/ 19 h 36"/>
                <a:gd name="T8" fmla="*/ 18 w 35"/>
                <a:gd name="T9" fmla="*/ 24 h 36"/>
                <a:gd name="T10" fmla="*/ 23 w 35"/>
                <a:gd name="T11" fmla="*/ 18 h 36"/>
                <a:gd name="T12" fmla="*/ 18 w 35"/>
                <a:gd name="T13" fmla="*/ 12 h 36"/>
                <a:gd name="T14" fmla="*/ 12 w 35"/>
                <a:gd name="T15" fmla="*/ 6 h 36"/>
                <a:gd name="T16" fmla="*/ 18 w 35"/>
                <a:gd name="T17" fmla="*/ 0 h 36"/>
                <a:gd name="T18" fmla="*/ 35 w 35"/>
                <a:gd name="T19" fmla="*/ 18 h 36"/>
                <a:gd name="T20" fmla="*/ 18 w 35"/>
                <a:gd name="T21"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36">
                  <a:moveTo>
                    <a:pt x="18" y="36"/>
                  </a:moveTo>
                  <a:cubicBezTo>
                    <a:pt x="8" y="36"/>
                    <a:pt x="1" y="30"/>
                    <a:pt x="1" y="20"/>
                  </a:cubicBezTo>
                  <a:cubicBezTo>
                    <a:pt x="0" y="16"/>
                    <a:pt x="3" y="13"/>
                    <a:pt x="6" y="13"/>
                  </a:cubicBezTo>
                  <a:cubicBezTo>
                    <a:pt x="10" y="13"/>
                    <a:pt x="12" y="16"/>
                    <a:pt x="13" y="19"/>
                  </a:cubicBezTo>
                  <a:cubicBezTo>
                    <a:pt x="13" y="24"/>
                    <a:pt x="16" y="24"/>
                    <a:pt x="18" y="24"/>
                  </a:cubicBezTo>
                  <a:cubicBezTo>
                    <a:pt x="20" y="24"/>
                    <a:pt x="23" y="24"/>
                    <a:pt x="23" y="18"/>
                  </a:cubicBezTo>
                  <a:cubicBezTo>
                    <a:pt x="23" y="12"/>
                    <a:pt x="20" y="12"/>
                    <a:pt x="18" y="12"/>
                  </a:cubicBezTo>
                  <a:cubicBezTo>
                    <a:pt x="15" y="12"/>
                    <a:pt x="12" y="10"/>
                    <a:pt x="12" y="6"/>
                  </a:cubicBezTo>
                  <a:cubicBezTo>
                    <a:pt x="12" y="3"/>
                    <a:pt x="15" y="0"/>
                    <a:pt x="18" y="0"/>
                  </a:cubicBezTo>
                  <a:cubicBezTo>
                    <a:pt x="30" y="0"/>
                    <a:pt x="35" y="9"/>
                    <a:pt x="35" y="18"/>
                  </a:cubicBezTo>
                  <a:cubicBezTo>
                    <a:pt x="35" y="27"/>
                    <a:pt x="30" y="36"/>
                    <a:pt x="18"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sp>
        <p:nvSpPr>
          <p:cNvPr id="6" name="Marcador de pie de página 5">
            <a:extLst>
              <a:ext uri="{FF2B5EF4-FFF2-40B4-BE49-F238E27FC236}">
                <a16:creationId xmlns:a16="http://schemas.microsoft.com/office/drawing/2014/main" id="{83DD8755-FA76-CB2F-D77C-A16BEEE46E61}"/>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621746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The 4 Ps</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35089953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7C4B6F97-8517-A68F-D474-8707B7CE0CE4}"/>
              </a:ext>
            </a:extLst>
          </p:cNvPr>
          <p:cNvGraphicFramePr>
            <a:graphicFrameLocks noChangeAspect="1"/>
          </p:cNvGraphicFramePr>
          <p:nvPr>
            <p:custDataLst>
              <p:tags r:id="rId1"/>
            </p:custDataLst>
            <p:extLst>
              <p:ext uri="{D42A27DB-BD31-4B8C-83A1-F6EECF244321}">
                <p14:modId xmlns:p14="http://schemas.microsoft.com/office/powerpoint/2010/main" val="20136577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47AE00C8-2937-AD8B-B959-370B2F429BBC}"/>
              </a:ext>
            </a:extLst>
          </p:cNvPr>
          <p:cNvSpPr>
            <a:spLocks noGrp="1"/>
          </p:cNvSpPr>
          <p:nvPr>
            <p:ph type="title"/>
          </p:nvPr>
        </p:nvSpPr>
        <p:spPr/>
        <p:txBody>
          <a:bodyPr vert="horz"/>
          <a:lstStyle/>
          <a:p>
            <a:r>
              <a:rPr lang="en-US" dirty="0"/>
              <a:t>The 4 Ps — Overview</a:t>
            </a:r>
          </a:p>
        </p:txBody>
      </p:sp>
      <p:sp>
        <p:nvSpPr>
          <p:cNvPr id="3" name="Marcador de texto 2">
            <a:extLst>
              <a:ext uri="{FF2B5EF4-FFF2-40B4-BE49-F238E27FC236}">
                <a16:creationId xmlns:a16="http://schemas.microsoft.com/office/drawing/2014/main" id="{A7C5E19C-C34B-3D5C-987B-865D153C1A7D}"/>
              </a:ext>
            </a:extLst>
          </p:cNvPr>
          <p:cNvSpPr>
            <a:spLocks noGrp="1"/>
          </p:cNvSpPr>
          <p:nvPr>
            <p:ph type="body" sz="quarter" idx="18"/>
          </p:nvPr>
        </p:nvSpPr>
        <p:spPr/>
        <p:txBody>
          <a:bodyPr/>
          <a:lstStyle/>
          <a:p>
            <a:r>
              <a:rPr lang="en-US" dirty="0"/>
              <a:t>The 4 Ps framework was first introduced by marketing professor E. Jerome McCarthy in 1960. It is sometimes referred to as the "marketing mix."</a:t>
            </a:r>
          </a:p>
        </p:txBody>
      </p:sp>
      <p:sp>
        <p:nvSpPr>
          <p:cNvPr id="4" name="Marcador de texto 3">
            <a:extLst>
              <a:ext uri="{FF2B5EF4-FFF2-40B4-BE49-F238E27FC236}">
                <a16:creationId xmlns:a16="http://schemas.microsoft.com/office/drawing/2014/main" id="{ECB661C7-C922-59DC-186B-0D8E59392C32}"/>
              </a:ext>
            </a:extLst>
          </p:cNvPr>
          <p:cNvSpPr>
            <a:spLocks noGrp="1"/>
          </p:cNvSpPr>
          <p:nvPr>
            <p:ph type="body" sz="quarter" idx="19"/>
          </p:nvPr>
        </p:nvSpPr>
        <p:spPr/>
        <p:txBody>
          <a:bodyPr/>
          <a:lstStyle/>
          <a:p>
            <a:pPr marL="0" indent="0">
              <a:buFont typeface="Arial" panose="020B0604020202020204" pitchFamily="34" charset="0"/>
              <a:buNone/>
            </a:pPr>
            <a:r>
              <a:rPr lang="en-US" dirty="0"/>
              <a:t>The 4 Ps framework is a marketing concept that is used to develop a marketing strategy for a product or service. The 4 Ps stand for:</a:t>
            </a:r>
          </a:p>
          <a:p>
            <a:r>
              <a:rPr lang="en-US" b="1" dirty="0"/>
              <a:t>Product: </a:t>
            </a:r>
            <a:r>
              <a:rPr lang="en-US" dirty="0"/>
              <a:t>This refers to the actual product or service that is being marketed, including its design, features, quality, packaging, branding, and other related aspects.</a:t>
            </a:r>
          </a:p>
          <a:p>
            <a:r>
              <a:rPr lang="en-US" b="1" dirty="0"/>
              <a:t>Price: </a:t>
            </a:r>
            <a:r>
              <a:rPr lang="en-US" dirty="0"/>
              <a:t>This refers to the amount that the product or service is being sold for, including any discounts, promotions, or pricing strategies that may be used.</a:t>
            </a:r>
          </a:p>
          <a:p>
            <a:r>
              <a:rPr lang="en-US" b="1" dirty="0"/>
              <a:t>Place: </a:t>
            </a:r>
            <a:r>
              <a:rPr lang="en-US" dirty="0"/>
              <a:t>This refers to the distribution channels and locations where the product or service is being sold, such as online, in retail stores, or through wholesalers.</a:t>
            </a:r>
          </a:p>
          <a:p>
            <a:r>
              <a:rPr lang="en-US" b="1" dirty="0"/>
              <a:t>Promotion: </a:t>
            </a:r>
            <a:r>
              <a:rPr lang="en-US" dirty="0"/>
              <a:t>This refers to the marketing and advertising strategies that are being used to promote the product or service, including advertising campaigns, sales promotions, public relations, and other forms of marketing communication.</a:t>
            </a:r>
          </a:p>
        </p:txBody>
      </p:sp>
      <p:sp>
        <p:nvSpPr>
          <p:cNvPr id="5" name="Marcador de texto 4">
            <a:extLst>
              <a:ext uri="{FF2B5EF4-FFF2-40B4-BE49-F238E27FC236}">
                <a16:creationId xmlns:a16="http://schemas.microsoft.com/office/drawing/2014/main" id="{3CFF0995-A7F8-5F7B-2D5C-0752099B5076}"/>
              </a:ext>
            </a:extLst>
          </p:cNvPr>
          <p:cNvSpPr>
            <a:spLocks noGrp="1"/>
          </p:cNvSpPr>
          <p:nvPr>
            <p:ph type="body" sz="quarter" idx="20"/>
          </p:nvPr>
        </p:nvSpPr>
        <p:spPr/>
        <p:txBody>
          <a:bodyPr/>
          <a:lstStyle/>
          <a:p>
            <a:r>
              <a:rPr lang="en-US" b="1" dirty="0"/>
              <a:t>Product Launch Strategy: </a:t>
            </a:r>
            <a:r>
              <a:rPr lang="en-US" dirty="0"/>
              <a:t>Analyze the product features, design, quality, packaging, branding, and other related aspects to identify the unique selling points of the product and create a marketing strategy that effectively reaches the target audience.</a:t>
            </a:r>
          </a:p>
          <a:p>
            <a:r>
              <a:rPr lang="en-US" b="1" dirty="0"/>
              <a:t>Price Optimization: </a:t>
            </a:r>
            <a:r>
              <a:rPr lang="en-US" dirty="0"/>
              <a:t>Analyze the market demand, competitors' pricing strategies, and the perceived value of the product or service. This analysis can help us develop pricing strategies that maximize profitability while still maintaining customer satisfaction.</a:t>
            </a:r>
          </a:p>
          <a:p>
            <a:r>
              <a:rPr lang="en-US" b="1" dirty="0"/>
              <a:t>Channel Optimization: </a:t>
            </a:r>
            <a:r>
              <a:rPr lang="en-US" dirty="0"/>
              <a:t>Identify the most effective channels to reach the target audience, analyzing factors such as the cost of distribution, channel reach, and customer preferences to develop a distribution strategy that maximizes reach and profitability.</a:t>
            </a:r>
          </a:p>
          <a:p>
            <a:r>
              <a:rPr lang="en-US" b="1" dirty="0"/>
              <a:t>Branding Strategy: </a:t>
            </a:r>
            <a:r>
              <a:rPr lang="en-US" dirty="0"/>
              <a:t>For companies looking to develop or revamp their branding strategy, the framework can be used to analyze the product or service's unique features and benefits and develop a brand positioning strategy that resonates with the target audience.</a:t>
            </a:r>
          </a:p>
        </p:txBody>
      </p:sp>
      <p:sp>
        <p:nvSpPr>
          <p:cNvPr id="11" name="Marcador de pie de página 10">
            <a:extLst>
              <a:ext uri="{FF2B5EF4-FFF2-40B4-BE49-F238E27FC236}">
                <a16:creationId xmlns:a16="http://schemas.microsoft.com/office/drawing/2014/main" id="{FAB8B302-743B-3108-1311-7DA41D305332}"/>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9044812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p:txBody>
          <a:bodyPr/>
          <a:lstStyle/>
          <a:p>
            <a:r>
              <a:rPr lang="en-US" dirty="0"/>
              <a:t>The 4 Ps — Template</a:t>
            </a:r>
          </a:p>
        </p:txBody>
      </p:sp>
      <p:sp>
        <p:nvSpPr>
          <p:cNvPr id="4" name="Rectángulo 3">
            <a:extLst>
              <a:ext uri="{FF2B5EF4-FFF2-40B4-BE49-F238E27FC236}">
                <a16:creationId xmlns:a16="http://schemas.microsoft.com/office/drawing/2014/main" id="{7717944A-00BB-196B-A01A-9C693EECF86A}"/>
              </a:ext>
            </a:extLst>
          </p:cNvPr>
          <p:cNvSpPr/>
          <p:nvPr/>
        </p:nvSpPr>
        <p:spPr>
          <a:xfrm>
            <a:off x="384173" y="1152525"/>
            <a:ext cx="11436352" cy="5156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endParaRPr lang="de-DE" sz="1600" b="1" dirty="0">
              <a:solidFill>
                <a:schemeClr val="tx2"/>
              </a:solidFill>
            </a:endParaRPr>
          </a:p>
        </p:txBody>
      </p:sp>
      <p:sp>
        <p:nvSpPr>
          <p:cNvPr id="8" name="TextBox 18">
            <a:extLst>
              <a:ext uri="{FF2B5EF4-FFF2-40B4-BE49-F238E27FC236}">
                <a16:creationId xmlns:a16="http://schemas.microsoft.com/office/drawing/2014/main" id="{9F887555-9E1C-9981-15B0-A5C54D99E769}"/>
              </a:ext>
            </a:extLst>
          </p:cNvPr>
          <p:cNvSpPr txBox="1"/>
          <p:nvPr/>
        </p:nvSpPr>
        <p:spPr>
          <a:xfrm>
            <a:off x="7915275" y="1152525"/>
            <a:ext cx="3905250" cy="257369"/>
          </a:xfrm>
          <a:prstGeom prst="rect">
            <a:avLst/>
          </a:prstGeom>
          <a:noFill/>
        </p:spPr>
        <p:txBody>
          <a:bodyPr wrap="square" lIns="72000" tIns="72000" rIns="36000" bIns="0" rtlCol="0" anchor="t">
            <a:spAutoFit/>
          </a:bodyPr>
          <a:lstStyle/>
          <a:p>
            <a:pPr marL="177800" marR="0" lvl="0" indent="-177800" defTabSz="228600" rtl="0" eaLnBrk="1" fontAlgn="auto" latinLnBrk="0" hangingPunct="1">
              <a:lnSpc>
                <a:spcPct val="100000"/>
              </a:lnSpc>
              <a:spcBef>
                <a:spcPts val="300"/>
              </a:spcBef>
              <a:buClrTx/>
              <a:buSzTx/>
              <a:buFont typeface="Arial" panose="020B0604020202020204" pitchFamily="34" charset="0"/>
              <a:buChar char="•"/>
              <a:tabLst/>
              <a:defRPr/>
            </a:pPr>
            <a:r>
              <a:rPr lang="en-US" sz="1200" dirty="0">
                <a:latin typeface="Verdana"/>
              </a:rPr>
              <a:t>XXX</a:t>
            </a:r>
            <a:endParaRPr kumimoji="0" lang="en-US" sz="1200" i="0" u="none" strike="noStrike" kern="1200" cap="none" spc="0" normalizeH="0" baseline="0" noProof="0" dirty="0">
              <a:ln>
                <a:noFill/>
              </a:ln>
              <a:effectLst/>
              <a:uLnTx/>
              <a:uFillTx/>
              <a:latin typeface="Verdana"/>
              <a:ea typeface="+mn-ea"/>
              <a:cs typeface="+mn-cs"/>
            </a:endParaRPr>
          </a:p>
        </p:txBody>
      </p:sp>
      <p:sp>
        <p:nvSpPr>
          <p:cNvPr id="9" name="TextBox 18">
            <a:extLst>
              <a:ext uri="{FF2B5EF4-FFF2-40B4-BE49-F238E27FC236}">
                <a16:creationId xmlns:a16="http://schemas.microsoft.com/office/drawing/2014/main" id="{A898FD66-B740-BB81-2DB2-2908640979A2}"/>
              </a:ext>
            </a:extLst>
          </p:cNvPr>
          <p:cNvSpPr txBox="1"/>
          <p:nvPr/>
        </p:nvSpPr>
        <p:spPr>
          <a:xfrm>
            <a:off x="384173" y="1152525"/>
            <a:ext cx="4069841" cy="257369"/>
          </a:xfrm>
          <a:prstGeom prst="rect">
            <a:avLst/>
          </a:prstGeom>
          <a:noFill/>
        </p:spPr>
        <p:txBody>
          <a:bodyPr wrap="square" lIns="72000" tIns="72000" rIns="36000" bIns="0" rtlCol="0" anchor="t">
            <a:spAutoFit/>
          </a:bodyPr>
          <a:lstStyle/>
          <a:p>
            <a:pPr marL="177800" marR="0" lvl="0" indent="-177800" defTabSz="228600" rtl="0" eaLnBrk="1" fontAlgn="auto" latinLnBrk="0" hangingPunct="1">
              <a:lnSpc>
                <a:spcPct val="100000"/>
              </a:lnSpc>
              <a:spcBef>
                <a:spcPts val="300"/>
              </a:spcBef>
              <a:buClrTx/>
              <a:buSzTx/>
              <a:buFont typeface="Arial" panose="020B0604020202020204" pitchFamily="34" charset="0"/>
              <a:buChar char="•"/>
              <a:tabLst/>
              <a:defRPr/>
            </a:pPr>
            <a:r>
              <a:rPr lang="en-US" sz="1200" dirty="0">
                <a:latin typeface="Verdana"/>
              </a:rPr>
              <a:t>XXX</a:t>
            </a:r>
            <a:endParaRPr kumimoji="0" lang="en-US" sz="1200" i="0" u="none" strike="noStrike" kern="1200" cap="none" spc="0" normalizeH="0" baseline="0" noProof="0" dirty="0">
              <a:ln>
                <a:noFill/>
              </a:ln>
              <a:effectLst/>
              <a:uLnTx/>
              <a:uFillTx/>
              <a:latin typeface="Verdana"/>
              <a:ea typeface="+mn-ea"/>
              <a:cs typeface="+mn-cs"/>
            </a:endParaRPr>
          </a:p>
        </p:txBody>
      </p:sp>
      <p:sp>
        <p:nvSpPr>
          <p:cNvPr id="10" name="TextBox 18">
            <a:extLst>
              <a:ext uri="{FF2B5EF4-FFF2-40B4-BE49-F238E27FC236}">
                <a16:creationId xmlns:a16="http://schemas.microsoft.com/office/drawing/2014/main" id="{7507D332-67E9-DAF3-A806-2EC47F77B861}"/>
              </a:ext>
            </a:extLst>
          </p:cNvPr>
          <p:cNvSpPr txBox="1"/>
          <p:nvPr/>
        </p:nvSpPr>
        <p:spPr>
          <a:xfrm>
            <a:off x="7915275" y="3774784"/>
            <a:ext cx="3905250" cy="257369"/>
          </a:xfrm>
          <a:prstGeom prst="rect">
            <a:avLst/>
          </a:prstGeom>
          <a:noFill/>
        </p:spPr>
        <p:txBody>
          <a:bodyPr wrap="square" lIns="72000" tIns="72000" rIns="36000" bIns="0" rtlCol="0" anchor="t">
            <a:spAutoFit/>
          </a:bodyPr>
          <a:lstStyle/>
          <a:p>
            <a:pPr marL="177800" marR="0" lvl="0" indent="-177800" defTabSz="228600" rtl="0" eaLnBrk="1" fontAlgn="auto" latinLnBrk="0" hangingPunct="1">
              <a:lnSpc>
                <a:spcPct val="100000"/>
              </a:lnSpc>
              <a:spcBef>
                <a:spcPts val="300"/>
              </a:spcBef>
              <a:buClrTx/>
              <a:buSzTx/>
              <a:buFont typeface="Arial" panose="020B0604020202020204" pitchFamily="34" charset="0"/>
              <a:buChar char="•"/>
              <a:tabLst/>
              <a:defRPr/>
            </a:pPr>
            <a:r>
              <a:rPr lang="en-US" sz="1200" dirty="0">
                <a:latin typeface="Verdana"/>
              </a:rPr>
              <a:t>XXX</a:t>
            </a:r>
            <a:endParaRPr kumimoji="0" lang="en-US" sz="1200" i="0" u="none" strike="noStrike" kern="1200" cap="none" spc="0" normalizeH="0" baseline="0" noProof="0" dirty="0">
              <a:ln>
                <a:noFill/>
              </a:ln>
              <a:effectLst/>
              <a:uLnTx/>
              <a:uFillTx/>
              <a:latin typeface="Verdana"/>
              <a:ea typeface="+mn-ea"/>
              <a:cs typeface="+mn-cs"/>
            </a:endParaRPr>
          </a:p>
        </p:txBody>
      </p:sp>
      <p:sp>
        <p:nvSpPr>
          <p:cNvPr id="11" name="TextBox 18">
            <a:extLst>
              <a:ext uri="{FF2B5EF4-FFF2-40B4-BE49-F238E27FC236}">
                <a16:creationId xmlns:a16="http://schemas.microsoft.com/office/drawing/2014/main" id="{046EA2EE-B60E-383D-E418-9F553F2326F2}"/>
              </a:ext>
            </a:extLst>
          </p:cNvPr>
          <p:cNvSpPr txBox="1"/>
          <p:nvPr/>
        </p:nvSpPr>
        <p:spPr>
          <a:xfrm>
            <a:off x="384173" y="3774784"/>
            <a:ext cx="4069841" cy="257369"/>
          </a:xfrm>
          <a:prstGeom prst="rect">
            <a:avLst/>
          </a:prstGeom>
          <a:noFill/>
        </p:spPr>
        <p:txBody>
          <a:bodyPr wrap="square" lIns="72000" tIns="72000" rIns="36000" bIns="0" rtlCol="0" anchor="t">
            <a:spAutoFit/>
          </a:bodyPr>
          <a:lstStyle/>
          <a:p>
            <a:pPr marL="177800" marR="0" lvl="0" indent="-177800" defTabSz="228600" rtl="0" eaLnBrk="1" fontAlgn="auto" latinLnBrk="0" hangingPunct="1">
              <a:lnSpc>
                <a:spcPct val="100000"/>
              </a:lnSpc>
              <a:spcBef>
                <a:spcPts val="300"/>
              </a:spcBef>
              <a:buClrTx/>
              <a:buSzTx/>
              <a:buFont typeface="Arial" panose="020B0604020202020204" pitchFamily="34" charset="0"/>
              <a:buChar char="•"/>
              <a:tabLst/>
              <a:defRPr/>
            </a:pPr>
            <a:r>
              <a:rPr lang="en-US" sz="1200" dirty="0">
                <a:latin typeface="Verdana"/>
              </a:rPr>
              <a:t>XXX</a:t>
            </a:r>
            <a:endParaRPr kumimoji="0" lang="en-US" sz="1200" i="0" u="none" strike="noStrike" kern="1200" cap="none" spc="0" normalizeH="0" baseline="0" noProof="0" dirty="0">
              <a:ln>
                <a:noFill/>
              </a:ln>
              <a:effectLst/>
              <a:uLnTx/>
              <a:uFillTx/>
              <a:latin typeface="Verdana"/>
              <a:ea typeface="+mn-ea"/>
              <a:cs typeface="+mn-cs"/>
            </a:endParaRPr>
          </a:p>
        </p:txBody>
      </p:sp>
      <p:sp>
        <p:nvSpPr>
          <p:cNvPr id="7" name="Elipse 6">
            <a:extLst>
              <a:ext uri="{FF2B5EF4-FFF2-40B4-BE49-F238E27FC236}">
                <a16:creationId xmlns:a16="http://schemas.microsoft.com/office/drawing/2014/main" id="{FFE329E3-2EB1-BF4E-CEAC-C64AB4713293}"/>
              </a:ext>
            </a:extLst>
          </p:cNvPr>
          <p:cNvSpPr/>
          <p:nvPr/>
        </p:nvSpPr>
        <p:spPr>
          <a:xfrm>
            <a:off x="4384673" y="2012949"/>
            <a:ext cx="3435352" cy="3435352"/>
          </a:xfrm>
          <a:prstGeom prst="ellipse">
            <a:avLst/>
          </a:prstGeom>
          <a:solidFill>
            <a:schemeClr val="accent1"/>
          </a:solidFill>
          <a:ln w="57150">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tIns="0" rIns="0" bIns="0" rtlCol="0" anchor="t"/>
          <a:lstStyle/>
          <a:p>
            <a:pPr algn="ctr"/>
            <a:endParaRPr lang="en-US" sz="1600" b="1" dirty="0">
              <a:solidFill>
                <a:schemeClr val="accent1"/>
              </a:solidFill>
            </a:endParaRPr>
          </a:p>
        </p:txBody>
      </p:sp>
      <p:sp>
        <p:nvSpPr>
          <p:cNvPr id="12" name="TextBox 18">
            <a:extLst>
              <a:ext uri="{FF2B5EF4-FFF2-40B4-BE49-F238E27FC236}">
                <a16:creationId xmlns:a16="http://schemas.microsoft.com/office/drawing/2014/main" id="{D158D04D-93B5-CBDF-AD66-9A2E2A743CDD}"/>
              </a:ext>
            </a:extLst>
          </p:cNvPr>
          <p:cNvSpPr txBox="1"/>
          <p:nvPr/>
        </p:nvSpPr>
        <p:spPr>
          <a:xfrm>
            <a:off x="4563938" y="3217037"/>
            <a:ext cx="1412106" cy="276999"/>
          </a:xfrm>
          <a:prstGeom prst="rect">
            <a:avLst/>
          </a:prstGeom>
          <a:noFill/>
        </p:spPr>
        <p:txBody>
          <a:bodyPr wrap="square" lIns="0" tIns="0" rIns="0" bIns="0" rtlCol="0" anchor="t">
            <a:spAutoFit/>
          </a:bodyPr>
          <a:lstStyle/>
          <a:p>
            <a:pPr marR="0" lvl="0" algn="ctr" defTabSz="228600" rtl="0" eaLnBrk="1" fontAlgn="auto" latinLnBrk="0" hangingPunct="1">
              <a:lnSpc>
                <a:spcPct val="100000"/>
              </a:lnSpc>
              <a:spcBef>
                <a:spcPts val="300"/>
              </a:spcBef>
              <a:buClrTx/>
              <a:buSzTx/>
              <a:tabLst/>
              <a:defRPr/>
            </a:pPr>
            <a:r>
              <a:rPr kumimoji="0" lang="en-US" b="1" i="0" u="none" strike="noStrike" kern="1200" cap="none" spc="0" normalizeH="0" baseline="0" noProof="0" dirty="0">
                <a:ln>
                  <a:noFill/>
                </a:ln>
                <a:solidFill>
                  <a:schemeClr val="bg1"/>
                </a:solidFill>
                <a:effectLst/>
                <a:uLnTx/>
                <a:uFillTx/>
                <a:latin typeface="Verdana"/>
                <a:ea typeface="+mn-ea"/>
                <a:cs typeface="+mn-cs"/>
              </a:rPr>
              <a:t>Product</a:t>
            </a:r>
            <a:endParaRPr kumimoji="0" lang="en-US" i="0" u="none" strike="noStrike" kern="1200" cap="none" spc="0" normalizeH="0" baseline="0" noProof="0" dirty="0">
              <a:ln>
                <a:noFill/>
              </a:ln>
              <a:solidFill>
                <a:schemeClr val="bg1"/>
              </a:solidFill>
              <a:effectLst/>
              <a:uLnTx/>
              <a:uFillTx/>
              <a:latin typeface="Verdana"/>
              <a:ea typeface="+mn-ea"/>
              <a:cs typeface="+mn-cs"/>
            </a:endParaRPr>
          </a:p>
        </p:txBody>
      </p:sp>
      <p:cxnSp>
        <p:nvCxnSpPr>
          <p:cNvPr id="14" name="Conector recto 13">
            <a:extLst>
              <a:ext uri="{FF2B5EF4-FFF2-40B4-BE49-F238E27FC236}">
                <a16:creationId xmlns:a16="http://schemas.microsoft.com/office/drawing/2014/main" id="{BF3A37D9-EC72-D4AB-34B4-D2041F5695B2}"/>
              </a:ext>
            </a:extLst>
          </p:cNvPr>
          <p:cNvCxnSpPr>
            <a:cxnSpLocks/>
          </p:cNvCxnSpPr>
          <p:nvPr/>
        </p:nvCxnSpPr>
        <p:spPr>
          <a:xfrm flipV="1">
            <a:off x="6102349" y="1152525"/>
            <a:ext cx="0" cy="515620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752701E1-7EE4-2998-E297-44EFA10B6F77}"/>
              </a:ext>
            </a:extLst>
          </p:cNvPr>
          <p:cNvCxnSpPr>
            <a:cxnSpLocks/>
          </p:cNvCxnSpPr>
          <p:nvPr/>
        </p:nvCxnSpPr>
        <p:spPr>
          <a:xfrm>
            <a:off x="384173" y="3730625"/>
            <a:ext cx="1143635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TextBox 18">
            <a:extLst>
              <a:ext uri="{FF2B5EF4-FFF2-40B4-BE49-F238E27FC236}">
                <a16:creationId xmlns:a16="http://schemas.microsoft.com/office/drawing/2014/main" id="{2C0776F8-38AD-C64D-D636-D99FFEDCB173}"/>
              </a:ext>
            </a:extLst>
          </p:cNvPr>
          <p:cNvSpPr txBox="1"/>
          <p:nvPr/>
        </p:nvSpPr>
        <p:spPr>
          <a:xfrm>
            <a:off x="6207890" y="3217037"/>
            <a:ext cx="1412106" cy="276999"/>
          </a:xfrm>
          <a:prstGeom prst="rect">
            <a:avLst/>
          </a:prstGeom>
          <a:noFill/>
        </p:spPr>
        <p:txBody>
          <a:bodyPr wrap="square" lIns="0" tIns="0" rIns="0" bIns="0" rtlCol="0" anchor="t">
            <a:spAutoFit/>
          </a:bodyPr>
          <a:lstStyle/>
          <a:p>
            <a:pPr marR="0" lvl="0" algn="ctr" defTabSz="228600" rtl="0" eaLnBrk="1" fontAlgn="auto" latinLnBrk="0" hangingPunct="1">
              <a:lnSpc>
                <a:spcPct val="100000"/>
              </a:lnSpc>
              <a:spcBef>
                <a:spcPts val="300"/>
              </a:spcBef>
              <a:buClrTx/>
              <a:buSzTx/>
              <a:tabLst/>
              <a:defRPr/>
            </a:pPr>
            <a:r>
              <a:rPr kumimoji="0" lang="en-US" b="1" i="0" u="none" strike="noStrike" kern="1200" cap="none" spc="0" normalizeH="0" baseline="0" noProof="0" dirty="0">
                <a:ln>
                  <a:noFill/>
                </a:ln>
                <a:solidFill>
                  <a:schemeClr val="bg1"/>
                </a:solidFill>
                <a:effectLst/>
                <a:uLnTx/>
                <a:uFillTx/>
                <a:latin typeface="Verdana"/>
                <a:ea typeface="+mn-ea"/>
                <a:cs typeface="+mn-cs"/>
              </a:rPr>
              <a:t>Price</a:t>
            </a:r>
            <a:endParaRPr kumimoji="0" lang="en-US" i="0" u="none" strike="noStrike" kern="1200" cap="none" spc="0" normalizeH="0" baseline="0" noProof="0" dirty="0">
              <a:ln>
                <a:noFill/>
              </a:ln>
              <a:solidFill>
                <a:schemeClr val="bg1"/>
              </a:solidFill>
              <a:effectLst/>
              <a:uLnTx/>
              <a:uFillTx/>
              <a:latin typeface="Verdana"/>
              <a:ea typeface="+mn-ea"/>
              <a:cs typeface="+mn-cs"/>
            </a:endParaRPr>
          </a:p>
        </p:txBody>
      </p:sp>
      <p:sp>
        <p:nvSpPr>
          <p:cNvPr id="21" name="TextBox 18">
            <a:extLst>
              <a:ext uri="{FF2B5EF4-FFF2-40B4-BE49-F238E27FC236}">
                <a16:creationId xmlns:a16="http://schemas.microsoft.com/office/drawing/2014/main" id="{313C464F-3139-F926-1045-4E2040648BE9}"/>
              </a:ext>
            </a:extLst>
          </p:cNvPr>
          <p:cNvSpPr txBox="1"/>
          <p:nvPr/>
        </p:nvSpPr>
        <p:spPr>
          <a:xfrm>
            <a:off x="4563938" y="3984179"/>
            <a:ext cx="1412106" cy="276999"/>
          </a:xfrm>
          <a:prstGeom prst="rect">
            <a:avLst/>
          </a:prstGeom>
          <a:noFill/>
        </p:spPr>
        <p:txBody>
          <a:bodyPr wrap="square" lIns="0" tIns="0" rIns="0" bIns="0" rtlCol="0" anchor="t">
            <a:spAutoFit/>
          </a:bodyPr>
          <a:lstStyle/>
          <a:p>
            <a:pPr marR="0" lvl="0" algn="ctr" defTabSz="228600" rtl="0" eaLnBrk="1" fontAlgn="auto" latinLnBrk="0" hangingPunct="1">
              <a:lnSpc>
                <a:spcPct val="100000"/>
              </a:lnSpc>
              <a:spcBef>
                <a:spcPts val="300"/>
              </a:spcBef>
              <a:buClrTx/>
              <a:buSzTx/>
              <a:tabLst/>
              <a:defRPr/>
            </a:pPr>
            <a:r>
              <a:rPr kumimoji="0" lang="en-US" b="1" i="0" u="none" strike="noStrike" kern="1200" cap="none" spc="0" normalizeH="0" baseline="0" noProof="0" dirty="0">
                <a:ln>
                  <a:noFill/>
                </a:ln>
                <a:solidFill>
                  <a:schemeClr val="bg1"/>
                </a:solidFill>
                <a:effectLst/>
                <a:uLnTx/>
                <a:uFillTx/>
                <a:latin typeface="Verdana"/>
                <a:ea typeface="+mn-ea"/>
                <a:cs typeface="+mn-cs"/>
              </a:rPr>
              <a:t>Place</a:t>
            </a:r>
            <a:endParaRPr kumimoji="0" lang="en-US" i="0" u="none" strike="noStrike" kern="1200" cap="none" spc="0" normalizeH="0" baseline="0" noProof="0" dirty="0">
              <a:ln>
                <a:noFill/>
              </a:ln>
              <a:solidFill>
                <a:schemeClr val="bg1"/>
              </a:solidFill>
              <a:effectLst/>
              <a:uLnTx/>
              <a:uFillTx/>
              <a:latin typeface="Verdana"/>
              <a:ea typeface="+mn-ea"/>
              <a:cs typeface="+mn-cs"/>
            </a:endParaRPr>
          </a:p>
        </p:txBody>
      </p:sp>
      <p:sp>
        <p:nvSpPr>
          <p:cNvPr id="22" name="TextBox 18">
            <a:extLst>
              <a:ext uri="{FF2B5EF4-FFF2-40B4-BE49-F238E27FC236}">
                <a16:creationId xmlns:a16="http://schemas.microsoft.com/office/drawing/2014/main" id="{A9083A93-7705-3208-AE91-A371C9CB0278}"/>
              </a:ext>
            </a:extLst>
          </p:cNvPr>
          <p:cNvSpPr txBox="1"/>
          <p:nvPr/>
        </p:nvSpPr>
        <p:spPr>
          <a:xfrm>
            <a:off x="6207890" y="3984179"/>
            <a:ext cx="1412106" cy="276999"/>
          </a:xfrm>
          <a:prstGeom prst="rect">
            <a:avLst/>
          </a:prstGeom>
          <a:noFill/>
        </p:spPr>
        <p:txBody>
          <a:bodyPr wrap="square" lIns="0" tIns="0" rIns="0" bIns="0" rtlCol="0" anchor="t">
            <a:spAutoFit/>
          </a:bodyPr>
          <a:lstStyle/>
          <a:p>
            <a:pPr marR="0" lvl="0" algn="ctr" defTabSz="228600" rtl="0" eaLnBrk="1" fontAlgn="auto" latinLnBrk="0" hangingPunct="1">
              <a:lnSpc>
                <a:spcPct val="100000"/>
              </a:lnSpc>
              <a:spcBef>
                <a:spcPts val="300"/>
              </a:spcBef>
              <a:buClrTx/>
              <a:buSzTx/>
              <a:tabLst/>
              <a:defRPr/>
            </a:pPr>
            <a:r>
              <a:rPr kumimoji="0" lang="en-US" b="1" i="0" u="none" strike="noStrike" kern="1200" cap="none" spc="0" normalizeH="0" baseline="0" noProof="0" dirty="0">
                <a:ln>
                  <a:noFill/>
                </a:ln>
                <a:solidFill>
                  <a:schemeClr val="bg1"/>
                </a:solidFill>
                <a:effectLst/>
                <a:uLnTx/>
                <a:uFillTx/>
                <a:latin typeface="Verdana"/>
                <a:ea typeface="+mn-ea"/>
                <a:cs typeface="+mn-cs"/>
              </a:rPr>
              <a:t>Promotion</a:t>
            </a:r>
            <a:endParaRPr kumimoji="0" lang="en-US" i="0" u="none" strike="noStrike" kern="1200" cap="none" spc="0" normalizeH="0" baseline="0" noProof="0" dirty="0">
              <a:ln>
                <a:noFill/>
              </a:ln>
              <a:solidFill>
                <a:schemeClr val="bg1"/>
              </a:solidFill>
              <a:effectLst/>
              <a:uLnTx/>
              <a:uFillTx/>
              <a:latin typeface="Verdana"/>
              <a:ea typeface="+mn-ea"/>
              <a:cs typeface="+mn-cs"/>
            </a:endParaRPr>
          </a:p>
        </p:txBody>
      </p:sp>
      <p:grpSp>
        <p:nvGrpSpPr>
          <p:cNvPr id="5130" name="Group 140">
            <a:extLst>
              <a:ext uri="{FF2B5EF4-FFF2-40B4-BE49-F238E27FC236}">
                <a16:creationId xmlns:a16="http://schemas.microsoft.com/office/drawing/2014/main" id="{A9A301B6-184C-9567-8767-4963DFF7779A}"/>
              </a:ext>
            </a:extLst>
          </p:cNvPr>
          <p:cNvGrpSpPr>
            <a:grpSpLocks noChangeAspect="1"/>
          </p:cNvGrpSpPr>
          <p:nvPr/>
        </p:nvGrpSpPr>
        <p:grpSpPr bwMode="auto">
          <a:xfrm>
            <a:off x="5013170" y="4322280"/>
            <a:ext cx="513643" cy="513641"/>
            <a:chOff x="1560" y="3157"/>
            <a:chExt cx="426" cy="426"/>
          </a:xfrm>
          <a:solidFill>
            <a:schemeClr val="bg1"/>
          </a:solidFill>
        </p:grpSpPr>
        <p:sp>
          <p:nvSpPr>
            <p:cNvPr id="5131" name="Freeform 141">
              <a:extLst>
                <a:ext uri="{FF2B5EF4-FFF2-40B4-BE49-F238E27FC236}">
                  <a16:creationId xmlns:a16="http://schemas.microsoft.com/office/drawing/2014/main" id="{0D666F31-8280-B3EB-9B58-55C7495029B5}"/>
                </a:ext>
              </a:extLst>
            </p:cNvPr>
            <p:cNvSpPr>
              <a:spLocks noEditPoints="1"/>
            </p:cNvSpPr>
            <p:nvPr/>
          </p:nvSpPr>
          <p:spPr bwMode="auto">
            <a:xfrm>
              <a:off x="1702" y="3211"/>
              <a:ext cx="142" cy="141"/>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2" y="96"/>
                    <a:pt x="0" y="75"/>
                    <a:pt x="0" y="48"/>
                  </a:cubicBezTo>
                  <a:cubicBezTo>
                    <a:pt x="0" y="22"/>
                    <a:pt x="22" y="0"/>
                    <a:pt x="48" y="0"/>
                  </a:cubicBezTo>
                  <a:cubicBezTo>
                    <a:pt x="75" y="0"/>
                    <a:pt x="96" y="22"/>
                    <a:pt x="96" y="48"/>
                  </a:cubicBezTo>
                  <a:cubicBezTo>
                    <a:pt x="96" y="75"/>
                    <a:pt x="75" y="96"/>
                    <a:pt x="48" y="96"/>
                  </a:cubicBezTo>
                  <a:close/>
                  <a:moveTo>
                    <a:pt x="48" y="12"/>
                  </a:moveTo>
                  <a:cubicBezTo>
                    <a:pt x="28" y="12"/>
                    <a:pt x="12" y="29"/>
                    <a:pt x="12" y="48"/>
                  </a:cubicBezTo>
                  <a:cubicBezTo>
                    <a:pt x="12" y="68"/>
                    <a:pt x="28" y="84"/>
                    <a:pt x="48" y="84"/>
                  </a:cubicBezTo>
                  <a:cubicBezTo>
                    <a:pt x="68" y="84"/>
                    <a:pt x="84" y="68"/>
                    <a:pt x="84" y="48"/>
                  </a:cubicBezTo>
                  <a:cubicBezTo>
                    <a:pt x="84" y="29"/>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5132" name="Freeform 142">
              <a:extLst>
                <a:ext uri="{FF2B5EF4-FFF2-40B4-BE49-F238E27FC236}">
                  <a16:creationId xmlns:a16="http://schemas.microsoft.com/office/drawing/2014/main" id="{C977FBDD-EC30-A953-CF01-0FF603BB0CBB}"/>
                </a:ext>
              </a:extLst>
            </p:cNvPr>
            <p:cNvSpPr>
              <a:spLocks noEditPoints="1"/>
            </p:cNvSpPr>
            <p:nvPr/>
          </p:nvSpPr>
          <p:spPr bwMode="auto">
            <a:xfrm>
              <a:off x="1643" y="3157"/>
              <a:ext cx="262" cy="392"/>
            </a:xfrm>
            <a:custGeom>
              <a:avLst/>
              <a:gdLst>
                <a:gd name="T0" fmla="*/ 88 w 177"/>
                <a:gd name="T1" fmla="*/ 265 h 265"/>
                <a:gd name="T2" fmla="*/ 88 w 177"/>
                <a:gd name="T3" fmla="*/ 265 h 265"/>
                <a:gd name="T4" fmla="*/ 83 w 177"/>
                <a:gd name="T5" fmla="*/ 262 h 265"/>
                <a:gd name="T6" fmla="*/ 0 w 177"/>
                <a:gd name="T7" fmla="*/ 89 h 265"/>
                <a:gd name="T8" fmla="*/ 88 w 177"/>
                <a:gd name="T9" fmla="*/ 0 h 265"/>
                <a:gd name="T10" fmla="*/ 177 w 177"/>
                <a:gd name="T11" fmla="*/ 89 h 265"/>
                <a:gd name="T12" fmla="*/ 93 w 177"/>
                <a:gd name="T13" fmla="*/ 262 h 265"/>
                <a:gd name="T14" fmla="*/ 88 w 177"/>
                <a:gd name="T15" fmla="*/ 265 h 265"/>
                <a:gd name="T16" fmla="*/ 88 w 177"/>
                <a:gd name="T17" fmla="*/ 12 h 265"/>
                <a:gd name="T18" fmla="*/ 12 w 177"/>
                <a:gd name="T19" fmla="*/ 89 h 265"/>
                <a:gd name="T20" fmla="*/ 88 w 177"/>
                <a:gd name="T21" fmla="*/ 248 h 265"/>
                <a:gd name="T22" fmla="*/ 165 w 177"/>
                <a:gd name="T23" fmla="*/ 89 h 265"/>
                <a:gd name="T24" fmla="*/ 88 w 177"/>
                <a:gd name="T25"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265">
                  <a:moveTo>
                    <a:pt x="88" y="265"/>
                  </a:moveTo>
                  <a:cubicBezTo>
                    <a:pt x="88" y="265"/>
                    <a:pt x="88" y="265"/>
                    <a:pt x="88" y="265"/>
                  </a:cubicBezTo>
                  <a:cubicBezTo>
                    <a:pt x="86" y="265"/>
                    <a:pt x="84" y="264"/>
                    <a:pt x="83" y="262"/>
                  </a:cubicBezTo>
                  <a:cubicBezTo>
                    <a:pt x="80" y="257"/>
                    <a:pt x="0" y="135"/>
                    <a:pt x="0" y="89"/>
                  </a:cubicBezTo>
                  <a:cubicBezTo>
                    <a:pt x="0" y="40"/>
                    <a:pt x="40" y="0"/>
                    <a:pt x="88" y="0"/>
                  </a:cubicBezTo>
                  <a:cubicBezTo>
                    <a:pt x="137" y="0"/>
                    <a:pt x="177" y="40"/>
                    <a:pt x="177" y="89"/>
                  </a:cubicBezTo>
                  <a:cubicBezTo>
                    <a:pt x="177" y="135"/>
                    <a:pt x="97" y="257"/>
                    <a:pt x="93" y="262"/>
                  </a:cubicBezTo>
                  <a:cubicBezTo>
                    <a:pt x="92" y="264"/>
                    <a:pt x="90" y="265"/>
                    <a:pt x="88" y="265"/>
                  </a:cubicBezTo>
                  <a:close/>
                  <a:moveTo>
                    <a:pt x="88" y="12"/>
                  </a:moveTo>
                  <a:cubicBezTo>
                    <a:pt x="46" y="12"/>
                    <a:pt x="12" y="47"/>
                    <a:pt x="12" y="89"/>
                  </a:cubicBezTo>
                  <a:cubicBezTo>
                    <a:pt x="12" y="126"/>
                    <a:pt x="71" y="220"/>
                    <a:pt x="88" y="248"/>
                  </a:cubicBezTo>
                  <a:cubicBezTo>
                    <a:pt x="106" y="220"/>
                    <a:pt x="165" y="126"/>
                    <a:pt x="165" y="89"/>
                  </a:cubicBezTo>
                  <a:cubicBezTo>
                    <a:pt x="165" y="47"/>
                    <a:pt x="130" y="12"/>
                    <a:pt x="8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5133" name="Freeform 143">
              <a:extLst>
                <a:ext uri="{FF2B5EF4-FFF2-40B4-BE49-F238E27FC236}">
                  <a16:creationId xmlns:a16="http://schemas.microsoft.com/office/drawing/2014/main" id="{7A9B44C3-3D2A-704A-014B-6117B71E488A}"/>
                </a:ext>
              </a:extLst>
            </p:cNvPr>
            <p:cNvSpPr>
              <a:spLocks noEditPoints="1"/>
            </p:cNvSpPr>
            <p:nvPr/>
          </p:nvSpPr>
          <p:spPr bwMode="auto">
            <a:xfrm>
              <a:off x="1560" y="3499"/>
              <a:ext cx="426" cy="84"/>
            </a:xfrm>
            <a:custGeom>
              <a:avLst/>
              <a:gdLst>
                <a:gd name="T0" fmla="*/ 144 w 288"/>
                <a:gd name="T1" fmla="*/ 57 h 57"/>
                <a:gd name="T2" fmla="*/ 0 w 288"/>
                <a:gd name="T3" fmla="*/ 27 h 57"/>
                <a:gd name="T4" fmla="*/ 83 w 288"/>
                <a:gd name="T5" fmla="*/ 0 h 57"/>
                <a:gd name="T6" fmla="*/ 90 w 288"/>
                <a:gd name="T7" fmla="*/ 5 h 57"/>
                <a:gd name="T8" fmla="*/ 84 w 288"/>
                <a:gd name="T9" fmla="*/ 12 h 57"/>
                <a:gd name="T10" fmla="*/ 13 w 288"/>
                <a:gd name="T11" fmla="*/ 27 h 57"/>
                <a:gd name="T12" fmla="*/ 144 w 288"/>
                <a:gd name="T13" fmla="*/ 45 h 57"/>
                <a:gd name="T14" fmla="*/ 276 w 288"/>
                <a:gd name="T15" fmla="*/ 27 h 57"/>
                <a:gd name="T16" fmla="*/ 204 w 288"/>
                <a:gd name="T17" fmla="*/ 12 h 57"/>
                <a:gd name="T18" fmla="*/ 198 w 288"/>
                <a:gd name="T19" fmla="*/ 5 h 57"/>
                <a:gd name="T20" fmla="*/ 205 w 288"/>
                <a:gd name="T21" fmla="*/ 0 h 57"/>
                <a:gd name="T22" fmla="*/ 288 w 288"/>
                <a:gd name="T23" fmla="*/ 27 h 57"/>
                <a:gd name="T24" fmla="*/ 144 w 288"/>
                <a:gd name="T25" fmla="*/ 57 h 57"/>
                <a:gd name="T26" fmla="*/ 276 w 288"/>
                <a:gd name="T27" fmla="*/ 28 h 57"/>
                <a:gd name="T28" fmla="*/ 276 w 288"/>
                <a:gd name="T2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8" h="57">
                  <a:moveTo>
                    <a:pt x="144" y="57"/>
                  </a:moveTo>
                  <a:cubicBezTo>
                    <a:pt x="130" y="57"/>
                    <a:pt x="0" y="57"/>
                    <a:pt x="0" y="27"/>
                  </a:cubicBezTo>
                  <a:cubicBezTo>
                    <a:pt x="0" y="14"/>
                    <a:pt x="28" y="5"/>
                    <a:pt x="83" y="0"/>
                  </a:cubicBezTo>
                  <a:cubicBezTo>
                    <a:pt x="87" y="0"/>
                    <a:pt x="89" y="2"/>
                    <a:pt x="90" y="5"/>
                  </a:cubicBezTo>
                  <a:cubicBezTo>
                    <a:pt x="90" y="9"/>
                    <a:pt x="88" y="12"/>
                    <a:pt x="84" y="12"/>
                  </a:cubicBezTo>
                  <a:cubicBezTo>
                    <a:pt x="33" y="16"/>
                    <a:pt x="16" y="24"/>
                    <a:pt x="13" y="27"/>
                  </a:cubicBezTo>
                  <a:cubicBezTo>
                    <a:pt x="18" y="34"/>
                    <a:pt x="65" y="45"/>
                    <a:pt x="144" y="45"/>
                  </a:cubicBezTo>
                  <a:cubicBezTo>
                    <a:pt x="223" y="45"/>
                    <a:pt x="270" y="34"/>
                    <a:pt x="276" y="27"/>
                  </a:cubicBezTo>
                  <a:cubicBezTo>
                    <a:pt x="273" y="24"/>
                    <a:pt x="255" y="16"/>
                    <a:pt x="204" y="12"/>
                  </a:cubicBezTo>
                  <a:cubicBezTo>
                    <a:pt x="200" y="12"/>
                    <a:pt x="198" y="9"/>
                    <a:pt x="198" y="5"/>
                  </a:cubicBezTo>
                  <a:cubicBezTo>
                    <a:pt x="199" y="2"/>
                    <a:pt x="201" y="0"/>
                    <a:pt x="205" y="0"/>
                  </a:cubicBezTo>
                  <a:cubicBezTo>
                    <a:pt x="260" y="5"/>
                    <a:pt x="288" y="14"/>
                    <a:pt x="288" y="27"/>
                  </a:cubicBezTo>
                  <a:cubicBezTo>
                    <a:pt x="288" y="57"/>
                    <a:pt x="159" y="57"/>
                    <a:pt x="144" y="57"/>
                  </a:cubicBezTo>
                  <a:close/>
                  <a:moveTo>
                    <a:pt x="276" y="28"/>
                  </a:moveTo>
                  <a:cubicBezTo>
                    <a:pt x="276" y="28"/>
                    <a:pt x="276" y="28"/>
                    <a:pt x="27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nvGrpSpPr>
          <p:cNvPr id="5134" name="Group 60">
            <a:extLst>
              <a:ext uri="{FF2B5EF4-FFF2-40B4-BE49-F238E27FC236}">
                <a16:creationId xmlns:a16="http://schemas.microsoft.com/office/drawing/2014/main" id="{CC250104-8265-7D71-75AF-FD9899AB577E}"/>
              </a:ext>
            </a:extLst>
          </p:cNvPr>
          <p:cNvGrpSpPr>
            <a:grpSpLocks noChangeAspect="1"/>
          </p:cNvGrpSpPr>
          <p:nvPr/>
        </p:nvGrpSpPr>
        <p:grpSpPr bwMode="auto">
          <a:xfrm rot="20135090">
            <a:off x="6679866" y="4384037"/>
            <a:ext cx="468155" cy="390127"/>
            <a:chOff x="6539" y="476"/>
            <a:chExt cx="426" cy="355"/>
          </a:xfrm>
          <a:solidFill>
            <a:schemeClr val="bg1"/>
          </a:solidFill>
        </p:grpSpPr>
        <p:sp>
          <p:nvSpPr>
            <p:cNvPr id="5135" name="Freeform 61">
              <a:extLst>
                <a:ext uri="{FF2B5EF4-FFF2-40B4-BE49-F238E27FC236}">
                  <a16:creationId xmlns:a16="http://schemas.microsoft.com/office/drawing/2014/main" id="{C4ACB0C7-62EE-9F82-0EA5-4C470A84FF7B}"/>
                </a:ext>
              </a:extLst>
            </p:cNvPr>
            <p:cNvSpPr>
              <a:spLocks/>
            </p:cNvSpPr>
            <p:nvPr/>
          </p:nvSpPr>
          <p:spPr bwMode="auto">
            <a:xfrm>
              <a:off x="6539" y="600"/>
              <a:ext cx="18" cy="106"/>
            </a:xfrm>
            <a:custGeom>
              <a:avLst/>
              <a:gdLst>
                <a:gd name="T0" fmla="*/ 6 w 12"/>
                <a:gd name="T1" fmla="*/ 72 h 72"/>
                <a:gd name="T2" fmla="*/ 0 w 12"/>
                <a:gd name="T3" fmla="*/ 66 h 72"/>
                <a:gd name="T4" fmla="*/ 0 w 12"/>
                <a:gd name="T5" fmla="*/ 6 h 72"/>
                <a:gd name="T6" fmla="*/ 6 w 12"/>
                <a:gd name="T7" fmla="*/ 0 h 72"/>
                <a:gd name="T8" fmla="*/ 12 w 12"/>
                <a:gd name="T9" fmla="*/ 6 h 72"/>
                <a:gd name="T10" fmla="*/ 12 w 12"/>
                <a:gd name="T11" fmla="*/ 66 h 72"/>
                <a:gd name="T12" fmla="*/ 6 w 12"/>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2" h="72">
                  <a:moveTo>
                    <a:pt x="6" y="72"/>
                  </a:moveTo>
                  <a:cubicBezTo>
                    <a:pt x="3" y="72"/>
                    <a:pt x="0" y="70"/>
                    <a:pt x="0" y="66"/>
                  </a:cubicBezTo>
                  <a:cubicBezTo>
                    <a:pt x="0" y="6"/>
                    <a:pt x="0" y="6"/>
                    <a:pt x="0" y="6"/>
                  </a:cubicBezTo>
                  <a:cubicBezTo>
                    <a:pt x="0" y="3"/>
                    <a:pt x="3" y="0"/>
                    <a:pt x="6" y="0"/>
                  </a:cubicBezTo>
                  <a:cubicBezTo>
                    <a:pt x="10" y="0"/>
                    <a:pt x="12" y="3"/>
                    <a:pt x="12" y="6"/>
                  </a:cubicBezTo>
                  <a:cubicBezTo>
                    <a:pt x="12" y="66"/>
                    <a:pt x="12" y="66"/>
                    <a:pt x="12" y="66"/>
                  </a:cubicBezTo>
                  <a:cubicBezTo>
                    <a:pt x="12" y="70"/>
                    <a:pt x="10"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5136" name="Freeform 62">
              <a:extLst>
                <a:ext uri="{FF2B5EF4-FFF2-40B4-BE49-F238E27FC236}">
                  <a16:creationId xmlns:a16="http://schemas.microsoft.com/office/drawing/2014/main" id="{48B38EE5-3E74-5E0F-691A-F065D2382033}"/>
                </a:ext>
              </a:extLst>
            </p:cNvPr>
            <p:cNvSpPr>
              <a:spLocks/>
            </p:cNvSpPr>
            <p:nvPr/>
          </p:nvSpPr>
          <p:spPr bwMode="auto">
            <a:xfrm>
              <a:off x="6947" y="476"/>
              <a:ext cx="18" cy="355"/>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10" y="0"/>
                    <a:pt x="12" y="3"/>
                    <a:pt x="12" y="6"/>
                  </a:cubicBezTo>
                  <a:cubicBezTo>
                    <a:pt x="12" y="234"/>
                    <a:pt x="12" y="234"/>
                    <a:pt x="12" y="234"/>
                  </a:cubicBezTo>
                  <a:cubicBezTo>
                    <a:pt x="12" y="238"/>
                    <a:pt x="10" y="240"/>
                    <a:pt x="6" y="2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5137" name="Freeform 63">
              <a:extLst>
                <a:ext uri="{FF2B5EF4-FFF2-40B4-BE49-F238E27FC236}">
                  <a16:creationId xmlns:a16="http://schemas.microsoft.com/office/drawing/2014/main" id="{C771A4A3-EE71-83A7-970A-0BF05AD9683F}"/>
                </a:ext>
              </a:extLst>
            </p:cNvPr>
            <p:cNvSpPr>
              <a:spLocks noEditPoints="1"/>
            </p:cNvSpPr>
            <p:nvPr/>
          </p:nvSpPr>
          <p:spPr bwMode="auto">
            <a:xfrm>
              <a:off x="6539" y="494"/>
              <a:ext cx="426" cy="319"/>
            </a:xfrm>
            <a:custGeom>
              <a:avLst/>
              <a:gdLst>
                <a:gd name="T0" fmla="*/ 282 w 288"/>
                <a:gd name="T1" fmla="*/ 216 h 216"/>
                <a:gd name="T2" fmla="*/ 281 w 288"/>
                <a:gd name="T3" fmla="*/ 216 h 216"/>
                <a:gd name="T4" fmla="*/ 5 w 288"/>
                <a:gd name="T5" fmla="*/ 132 h 216"/>
                <a:gd name="T6" fmla="*/ 0 w 288"/>
                <a:gd name="T7" fmla="*/ 126 h 216"/>
                <a:gd name="T8" fmla="*/ 0 w 288"/>
                <a:gd name="T9" fmla="*/ 90 h 216"/>
                <a:gd name="T10" fmla="*/ 5 w 288"/>
                <a:gd name="T11" fmla="*/ 85 h 216"/>
                <a:gd name="T12" fmla="*/ 281 w 288"/>
                <a:gd name="T13" fmla="*/ 1 h 216"/>
                <a:gd name="T14" fmla="*/ 286 w 288"/>
                <a:gd name="T15" fmla="*/ 2 h 216"/>
                <a:gd name="T16" fmla="*/ 288 w 288"/>
                <a:gd name="T17" fmla="*/ 6 h 216"/>
                <a:gd name="T18" fmla="*/ 288 w 288"/>
                <a:gd name="T19" fmla="*/ 210 h 216"/>
                <a:gd name="T20" fmla="*/ 286 w 288"/>
                <a:gd name="T21" fmla="*/ 215 h 216"/>
                <a:gd name="T22" fmla="*/ 282 w 288"/>
                <a:gd name="T23" fmla="*/ 216 h 216"/>
                <a:gd name="T24" fmla="*/ 12 w 288"/>
                <a:gd name="T25" fmla="*/ 122 h 216"/>
                <a:gd name="T26" fmla="*/ 276 w 288"/>
                <a:gd name="T27" fmla="*/ 202 h 216"/>
                <a:gd name="T28" fmla="*/ 276 w 288"/>
                <a:gd name="T29" fmla="*/ 15 h 216"/>
                <a:gd name="T30" fmla="*/ 12 w 288"/>
                <a:gd name="T31" fmla="*/ 95 h 216"/>
                <a:gd name="T32" fmla="*/ 12 w 288"/>
                <a:gd name="T33" fmla="*/ 12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216">
                  <a:moveTo>
                    <a:pt x="282" y="216"/>
                  </a:moveTo>
                  <a:cubicBezTo>
                    <a:pt x="282" y="216"/>
                    <a:pt x="281" y="216"/>
                    <a:pt x="281" y="216"/>
                  </a:cubicBezTo>
                  <a:cubicBezTo>
                    <a:pt x="5" y="132"/>
                    <a:pt x="5" y="132"/>
                    <a:pt x="5" y="132"/>
                  </a:cubicBezTo>
                  <a:cubicBezTo>
                    <a:pt x="2" y="131"/>
                    <a:pt x="0" y="129"/>
                    <a:pt x="0" y="126"/>
                  </a:cubicBezTo>
                  <a:cubicBezTo>
                    <a:pt x="0" y="90"/>
                    <a:pt x="0" y="90"/>
                    <a:pt x="0" y="90"/>
                  </a:cubicBezTo>
                  <a:cubicBezTo>
                    <a:pt x="0" y="88"/>
                    <a:pt x="2" y="85"/>
                    <a:pt x="5" y="85"/>
                  </a:cubicBezTo>
                  <a:cubicBezTo>
                    <a:pt x="281" y="1"/>
                    <a:pt x="281" y="1"/>
                    <a:pt x="281" y="1"/>
                  </a:cubicBezTo>
                  <a:cubicBezTo>
                    <a:pt x="282" y="0"/>
                    <a:pt x="284" y="0"/>
                    <a:pt x="286" y="2"/>
                  </a:cubicBezTo>
                  <a:cubicBezTo>
                    <a:pt x="288" y="3"/>
                    <a:pt x="288" y="5"/>
                    <a:pt x="288" y="6"/>
                  </a:cubicBezTo>
                  <a:cubicBezTo>
                    <a:pt x="288" y="210"/>
                    <a:pt x="288" y="210"/>
                    <a:pt x="288" y="210"/>
                  </a:cubicBezTo>
                  <a:cubicBezTo>
                    <a:pt x="288" y="212"/>
                    <a:pt x="288" y="214"/>
                    <a:pt x="286" y="215"/>
                  </a:cubicBezTo>
                  <a:cubicBezTo>
                    <a:pt x="285" y="216"/>
                    <a:pt x="284" y="216"/>
                    <a:pt x="282" y="216"/>
                  </a:cubicBezTo>
                  <a:close/>
                  <a:moveTo>
                    <a:pt x="12" y="122"/>
                  </a:moveTo>
                  <a:cubicBezTo>
                    <a:pt x="276" y="202"/>
                    <a:pt x="276" y="202"/>
                    <a:pt x="276" y="202"/>
                  </a:cubicBezTo>
                  <a:cubicBezTo>
                    <a:pt x="276" y="15"/>
                    <a:pt x="276" y="15"/>
                    <a:pt x="276" y="15"/>
                  </a:cubicBezTo>
                  <a:cubicBezTo>
                    <a:pt x="12" y="95"/>
                    <a:pt x="12" y="95"/>
                    <a:pt x="12" y="95"/>
                  </a:cubicBezTo>
                  <a:lnTo>
                    <a:pt x="12"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5138" name="Freeform 64">
              <a:extLst>
                <a:ext uri="{FF2B5EF4-FFF2-40B4-BE49-F238E27FC236}">
                  <a16:creationId xmlns:a16="http://schemas.microsoft.com/office/drawing/2014/main" id="{717E367B-27A5-C28E-F230-A467A0E9CA80}"/>
                </a:ext>
              </a:extLst>
            </p:cNvPr>
            <p:cNvSpPr>
              <a:spLocks/>
            </p:cNvSpPr>
            <p:nvPr/>
          </p:nvSpPr>
          <p:spPr bwMode="auto">
            <a:xfrm>
              <a:off x="6628" y="698"/>
              <a:ext cx="142" cy="127"/>
            </a:xfrm>
            <a:custGeom>
              <a:avLst/>
              <a:gdLst>
                <a:gd name="T0" fmla="*/ 48 w 96"/>
                <a:gd name="T1" fmla="*/ 86 h 86"/>
                <a:gd name="T2" fmla="*/ 0 w 96"/>
                <a:gd name="T3" fmla="*/ 38 h 86"/>
                <a:gd name="T4" fmla="*/ 0 w 96"/>
                <a:gd name="T5" fmla="*/ 6 h 86"/>
                <a:gd name="T6" fmla="*/ 6 w 96"/>
                <a:gd name="T7" fmla="*/ 0 h 86"/>
                <a:gd name="T8" fmla="*/ 12 w 96"/>
                <a:gd name="T9" fmla="*/ 6 h 86"/>
                <a:gd name="T10" fmla="*/ 12 w 96"/>
                <a:gd name="T11" fmla="*/ 38 h 86"/>
                <a:gd name="T12" fmla="*/ 48 w 96"/>
                <a:gd name="T13" fmla="*/ 74 h 86"/>
                <a:gd name="T14" fmla="*/ 84 w 96"/>
                <a:gd name="T15" fmla="*/ 38 h 86"/>
                <a:gd name="T16" fmla="*/ 90 w 96"/>
                <a:gd name="T17" fmla="*/ 32 h 86"/>
                <a:gd name="T18" fmla="*/ 96 w 96"/>
                <a:gd name="T19" fmla="*/ 38 h 86"/>
                <a:gd name="T20" fmla="*/ 48 w 96"/>
                <a:gd name="T21"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6" h="86">
                  <a:moveTo>
                    <a:pt x="48" y="86"/>
                  </a:moveTo>
                  <a:cubicBezTo>
                    <a:pt x="22" y="86"/>
                    <a:pt x="0" y="64"/>
                    <a:pt x="0" y="38"/>
                  </a:cubicBezTo>
                  <a:cubicBezTo>
                    <a:pt x="0" y="6"/>
                    <a:pt x="0" y="6"/>
                    <a:pt x="0" y="6"/>
                  </a:cubicBezTo>
                  <a:cubicBezTo>
                    <a:pt x="0" y="3"/>
                    <a:pt x="3" y="0"/>
                    <a:pt x="6" y="0"/>
                  </a:cubicBezTo>
                  <a:cubicBezTo>
                    <a:pt x="10" y="0"/>
                    <a:pt x="12" y="3"/>
                    <a:pt x="12" y="6"/>
                  </a:cubicBezTo>
                  <a:cubicBezTo>
                    <a:pt x="12" y="38"/>
                    <a:pt x="12" y="38"/>
                    <a:pt x="12" y="38"/>
                  </a:cubicBezTo>
                  <a:cubicBezTo>
                    <a:pt x="12" y="58"/>
                    <a:pt x="29" y="74"/>
                    <a:pt x="48" y="74"/>
                  </a:cubicBezTo>
                  <a:cubicBezTo>
                    <a:pt x="68" y="74"/>
                    <a:pt x="84" y="58"/>
                    <a:pt x="84" y="38"/>
                  </a:cubicBezTo>
                  <a:cubicBezTo>
                    <a:pt x="84" y="34"/>
                    <a:pt x="87" y="32"/>
                    <a:pt x="90" y="32"/>
                  </a:cubicBezTo>
                  <a:cubicBezTo>
                    <a:pt x="94" y="32"/>
                    <a:pt x="96" y="34"/>
                    <a:pt x="96" y="38"/>
                  </a:cubicBezTo>
                  <a:cubicBezTo>
                    <a:pt x="96" y="64"/>
                    <a:pt x="75" y="86"/>
                    <a:pt x="48"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nvGrpSpPr>
          <p:cNvPr id="5155" name="Grupo 5154">
            <a:extLst>
              <a:ext uri="{FF2B5EF4-FFF2-40B4-BE49-F238E27FC236}">
                <a16:creationId xmlns:a16="http://schemas.microsoft.com/office/drawing/2014/main" id="{C6C01FC8-4DE1-EB1E-332D-69BD10F2AB97}"/>
              </a:ext>
            </a:extLst>
          </p:cNvPr>
          <p:cNvGrpSpPr/>
          <p:nvPr/>
        </p:nvGrpSpPr>
        <p:grpSpPr>
          <a:xfrm>
            <a:off x="6673282" y="2659747"/>
            <a:ext cx="481323" cy="494592"/>
            <a:chOff x="6484939" y="804408"/>
            <a:chExt cx="481323" cy="494592"/>
          </a:xfrm>
          <a:solidFill>
            <a:schemeClr val="bg1"/>
          </a:solidFill>
        </p:grpSpPr>
        <p:sp>
          <p:nvSpPr>
            <p:cNvPr id="5153" name="Freeform 5">
              <a:extLst>
                <a:ext uri="{FF2B5EF4-FFF2-40B4-BE49-F238E27FC236}">
                  <a16:creationId xmlns:a16="http://schemas.microsoft.com/office/drawing/2014/main" id="{3349C367-E70B-2888-0140-C41F625FDE31}"/>
                </a:ext>
              </a:extLst>
            </p:cNvPr>
            <p:cNvSpPr>
              <a:spLocks/>
            </p:cNvSpPr>
            <p:nvPr/>
          </p:nvSpPr>
          <p:spPr bwMode="auto">
            <a:xfrm>
              <a:off x="6680363" y="1005864"/>
              <a:ext cx="176123" cy="179742"/>
            </a:xfrm>
            <a:custGeom>
              <a:avLst/>
              <a:gdLst>
                <a:gd name="T0" fmla="*/ 3 w 35"/>
                <a:gd name="T1" fmla="*/ 0 h 35"/>
                <a:gd name="T2" fmla="*/ 0 w 35"/>
                <a:gd name="T3" fmla="*/ 0 h 35"/>
                <a:gd name="T4" fmla="*/ 0 w 35"/>
                <a:gd name="T5" fmla="*/ 3 h 35"/>
                <a:gd name="T6" fmla="*/ 3 w 35"/>
                <a:gd name="T7" fmla="*/ 6 h 35"/>
                <a:gd name="T8" fmla="*/ 4 w 35"/>
                <a:gd name="T9" fmla="*/ 19 h 35"/>
                <a:gd name="T10" fmla="*/ 19 w 35"/>
                <a:gd name="T11" fmla="*/ 19 h 35"/>
                <a:gd name="T12" fmla="*/ 28 w 35"/>
                <a:gd name="T13" fmla="*/ 19 h 35"/>
                <a:gd name="T14" fmla="*/ 28 w 35"/>
                <a:gd name="T15" fmla="*/ 28 h 35"/>
                <a:gd name="T16" fmla="*/ 19 w 35"/>
                <a:gd name="T17" fmla="*/ 28 h 35"/>
                <a:gd name="T18" fmla="*/ 16 w 35"/>
                <a:gd name="T19" fmla="*/ 28 h 35"/>
                <a:gd name="T20" fmla="*/ 16 w 35"/>
                <a:gd name="T21" fmla="*/ 31 h 35"/>
                <a:gd name="T22" fmla="*/ 23 w 35"/>
                <a:gd name="T23" fmla="*/ 34 h 35"/>
                <a:gd name="T24" fmla="*/ 29 w 35"/>
                <a:gd name="T25" fmla="*/ 32 h 35"/>
                <a:gd name="T26" fmla="*/ 32 w 35"/>
                <a:gd name="T27" fmla="*/ 34 h 35"/>
                <a:gd name="T28" fmla="*/ 33 w 35"/>
                <a:gd name="T29" fmla="*/ 35 h 35"/>
                <a:gd name="T30" fmla="*/ 34 w 35"/>
                <a:gd name="T31" fmla="*/ 34 h 35"/>
                <a:gd name="T32" fmla="*/ 34 w 35"/>
                <a:gd name="T33" fmla="*/ 32 h 35"/>
                <a:gd name="T34" fmla="*/ 32 w 35"/>
                <a:gd name="T35" fmla="*/ 29 h 35"/>
                <a:gd name="T36" fmla="*/ 31 w 35"/>
                <a:gd name="T37" fmla="*/ 16 h 35"/>
                <a:gd name="T38" fmla="*/ 16 w 35"/>
                <a:gd name="T39" fmla="*/ 16 h 35"/>
                <a:gd name="T40" fmla="*/ 7 w 35"/>
                <a:gd name="T41" fmla="*/ 16 h 35"/>
                <a:gd name="T42" fmla="*/ 7 w 35"/>
                <a:gd name="T43" fmla="*/ 7 h 35"/>
                <a:gd name="T44" fmla="*/ 12 w 35"/>
                <a:gd name="T45" fmla="*/ 5 h 35"/>
                <a:gd name="T46" fmla="*/ 12 w 35"/>
                <a:gd name="T47" fmla="*/ 5 h 35"/>
                <a:gd name="T48" fmla="*/ 16 w 35"/>
                <a:gd name="T49" fmla="*/ 7 h 35"/>
                <a:gd name="T50" fmla="*/ 19 w 35"/>
                <a:gd name="T51" fmla="*/ 7 h 35"/>
                <a:gd name="T52" fmla="*/ 19 w 35"/>
                <a:gd name="T53" fmla="*/ 4 h 35"/>
                <a:gd name="T54" fmla="*/ 12 w 35"/>
                <a:gd name="T55" fmla="*/ 1 h 35"/>
                <a:gd name="T56" fmla="*/ 12 w 35"/>
                <a:gd name="T57" fmla="*/ 1 h 35"/>
                <a:gd name="T58" fmla="*/ 6 w 35"/>
                <a:gd name="T59" fmla="*/ 3 h 35"/>
                <a:gd name="T60" fmla="*/ 3 w 35"/>
                <a:gd name="T61"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5" h="35">
                  <a:moveTo>
                    <a:pt x="3" y="0"/>
                  </a:moveTo>
                  <a:cubicBezTo>
                    <a:pt x="3" y="0"/>
                    <a:pt x="1" y="0"/>
                    <a:pt x="0" y="0"/>
                  </a:cubicBezTo>
                  <a:cubicBezTo>
                    <a:pt x="0" y="1"/>
                    <a:pt x="0" y="3"/>
                    <a:pt x="0" y="3"/>
                  </a:cubicBezTo>
                  <a:cubicBezTo>
                    <a:pt x="3" y="6"/>
                    <a:pt x="3" y="6"/>
                    <a:pt x="3" y="6"/>
                  </a:cubicBezTo>
                  <a:cubicBezTo>
                    <a:pt x="0" y="10"/>
                    <a:pt x="1" y="15"/>
                    <a:pt x="4" y="19"/>
                  </a:cubicBezTo>
                  <a:cubicBezTo>
                    <a:pt x="8" y="23"/>
                    <a:pt x="15" y="23"/>
                    <a:pt x="19" y="19"/>
                  </a:cubicBezTo>
                  <a:cubicBezTo>
                    <a:pt x="21" y="16"/>
                    <a:pt x="25" y="16"/>
                    <a:pt x="28" y="19"/>
                  </a:cubicBezTo>
                  <a:cubicBezTo>
                    <a:pt x="30" y="21"/>
                    <a:pt x="30" y="25"/>
                    <a:pt x="28" y="28"/>
                  </a:cubicBezTo>
                  <a:cubicBezTo>
                    <a:pt x="25" y="30"/>
                    <a:pt x="21" y="30"/>
                    <a:pt x="19" y="28"/>
                  </a:cubicBezTo>
                  <a:cubicBezTo>
                    <a:pt x="18" y="27"/>
                    <a:pt x="17" y="27"/>
                    <a:pt x="16" y="28"/>
                  </a:cubicBezTo>
                  <a:cubicBezTo>
                    <a:pt x="15" y="28"/>
                    <a:pt x="15" y="30"/>
                    <a:pt x="16" y="31"/>
                  </a:cubicBezTo>
                  <a:cubicBezTo>
                    <a:pt x="18" y="33"/>
                    <a:pt x="21" y="34"/>
                    <a:pt x="23" y="34"/>
                  </a:cubicBezTo>
                  <a:cubicBezTo>
                    <a:pt x="25" y="34"/>
                    <a:pt x="27" y="33"/>
                    <a:pt x="29" y="32"/>
                  </a:cubicBezTo>
                  <a:cubicBezTo>
                    <a:pt x="32" y="34"/>
                    <a:pt x="32" y="34"/>
                    <a:pt x="32" y="34"/>
                  </a:cubicBezTo>
                  <a:cubicBezTo>
                    <a:pt x="32" y="35"/>
                    <a:pt x="32" y="35"/>
                    <a:pt x="33" y="35"/>
                  </a:cubicBezTo>
                  <a:cubicBezTo>
                    <a:pt x="34" y="35"/>
                    <a:pt x="34" y="35"/>
                    <a:pt x="34" y="34"/>
                  </a:cubicBezTo>
                  <a:cubicBezTo>
                    <a:pt x="35" y="34"/>
                    <a:pt x="35" y="32"/>
                    <a:pt x="34" y="32"/>
                  </a:cubicBezTo>
                  <a:cubicBezTo>
                    <a:pt x="32" y="29"/>
                    <a:pt x="32" y="29"/>
                    <a:pt x="32" y="29"/>
                  </a:cubicBezTo>
                  <a:cubicBezTo>
                    <a:pt x="34" y="25"/>
                    <a:pt x="34" y="20"/>
                    <a:pt x="31" y="16"/>
                  </a:cubicBezTo>
                  <a:cubicBezTo>
                    <a:pt x="27" y="12"/>
                    <a:pt x="20" y="12"/>
                    <a:pt x="16" y="16"/>
                  </a:cubicBezTo>
                  <a:cubicBezTo>
                    <a:pt x="14" y="18"/>
                    <a:pt x="10" y="18"/>
                    <a:pt x="7" y="16"/>
                  </a:cubicBezTo>
                  <a:cubicBezTo>
                    <a:pt x="5" y="14"/>
                    <a:pt x="5" y="10"/>
                    <a:pt x="7" y="7"/>
                  </a:cubicBezTo>
                  <a:cubicBezTo>
                    <a:pt x="8" y="6"/>
                    <a:pt x="10" y="5"/>
                    <a:pt x="12" y="5"/>
                  </a:cubicBezTo>
                  <a:cubicBezTo>
                    <a:pt x="12" y="5"/>
                    <a:pt x="12" y="5"/>
                    <a:pt x="12" y="5"/>
                  </a:cubicBezTo>
                  <a:cubicBezTo>
                    <a:pt x="13" y="5"/>
                    <a:pt x="15" y="6"/>
                    <a:pt x="16" y="7"/>
                  </a:cubicBezTo>
                  <a:cubicBezTo>
                    <a:pt x="17" y="8"/>
                    <a:pt x="18" y="8"/>
                    <a:pt x="19" y="7"/>
                  </a:cubicBezTo>
                  <a:cubicBezTo>
                    <a:pt x="20" y="6"/>
                    <a:pt x="20" y="5"/>
                    <a:pt x="19" y="4"/>
                  </a:cubicBezTo>
                  <a:cubicBezTo>
                    <a:pt x="17" y="2"/>
                    <a:pt x="14" y="1"/>
                    <a:pt x="12" y="1"/>
                  </a:cubicBezTo>
                  <a:cubicBezTo>
                    <a:pt x="12" y="1"/>
                    <a:pt x="12" y="1"/>
                    <a:pt x="12" y="1"/>
                  </a:cubicBezTo>
                  <a:cubicBezTo>
                    <a:pt x="10" y="1"/>
                    <a:pt x="8" y="2"/>
                    <a:pt x="6" y="3"/>
                  </a:cubicBezTo>
                  <a:lnTo>
                    <a:pt x="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54" name="Freeform 6">
              <a:extLst>
                <a:ext uri="{FF2B5EF4-FFF2-40B4-BE49-F238E27FC236}">
                  <a16:creationId xmlns:a16="http://schemas.microsoft.com/office/drawing/2014/main" id="{C34E3450-2454-0304-E534-85A8842C445B}"/>
                </a:ext>
              </a:extLst>
            </p:cNvPr>
            <p:cNvSpPr>
              <a:spLocks noEditPoints="1"/>
            </p:cNvSpPr>
            <p:nvPr/>
          </p:nvSpPr>
          <p:spPr bwMode="auto">
            <a:xfrm>
              <a:off x="6484939" y="804408"/>
              <a:ext cx="481323" cy="494592"/>
            </a:xfrm>
            <a:custGeom>
              <a:avLst/>
              <a:gdLst>
                <a:gd name="T0" fmla="*/ 95 w 96"/>
                <a:gd name="T1" fmla="*/ 59 h 96"/>
                <a:gd name="T2" fmla="*/ 45 w 96"/>
                <a:gd name="T3" fmla="*/ 9 h 96"/>
                <a:gd name="T4" fmla="*/ 44 w 96"/>
                <a:gd name="T5" fmla="*/ 8 h 96"/>
                <a:gd name="T6" fmla="*/ 11 w 96"/>
                <a:gd name="T7" fmla="*/ 8 h 96"/>
                <a:gd name="T8" fmla="*/ 3 w 96"/>
                <a:gd name="T9" fmla="*/ 1 h 96"/>
                <a:gd name="T10" fmla="*/ 1 w 96"/>
                <a:gd name="T11" fmla="*/ 1 h 96"/>
                <a:gd name="T12" fmla="*/ 1 w 96"/>
                <a:gd name="T13" fmla="*/ 3 h 96"/>
                <a:gd name="T14" fmla="*/ 8 w 96"/>
                <a:gd name="T15" fmla="*/ 11 h 96"/>
                <a:gd name="T16" fmla="*/ 8 w 96"/>
                <a:gd name="T17" fmla="*/ 44 h 96"/>
                <a:gd name="T18" fmla="*/ 9 w 96"/>
                <a:gd name="T19" fmla="*/ 45 h 96"/>
                <a:gd name="T20" fmla="*/ 59 w 96"/>
                <a:gd name="T21" fmla="*/ 95 h 96"/>
                <a:gd name="T22" fmla="*/ 60 w 96"/>
                <a:gd name="T23" fmla="*/ 96 h 96"/>
                <a:gd name="T24" fmla="*/ 61 w 96"/>
                <a:gd name="T25" fmla="*/ 95 h 96"/>
                <a:gd name="T26" fmla="*/ 95 w 96"/>
                <a:gd name="T27" fmla="*/ 61 h 96"/>
                <a:gd name="T28" fmla="*/ 95 w 96"/>
                <a:gd name="T29" fmla="*/ 59 h 96"/>
                <a:gd name="T30" fmla="*/ 60 w 96"/>
                <a:gd name="T31" fmla="*/ 91 h 96"/>
                <a:gd name="T32" fmla="*/ 12 w 96"/>
                <a:gd name="T33" fmla="*/ 43 h 96"/>
                <a:gd name="T34" fmla="*/ 12 w 96"/>
                <a:gd name="T35" fmla="*/ 15 h 96"/>
                <a:gd name="T36" fmla="*/ 22 w 96"/>
                <a:gd name="T37" fmla="*/ 25 h 96"/>
                <a:gd name="T38" fmla="*/ 20 w 96"/>
                <a:gd name="T39" fmla="*/ 30 h 96"/>
                <a:gd name="T40" fmla="*/ 30 w 96"/>
                <a:gd name="T41" fmla="*/ 40 h 96"/>
                <a:gd name="T42" fmla="*/ 40 w 96"/>
                <a:gd name="T43" fmla="*/ 30 h 96"/>
                <a:gd name="T44" fmla="*/ 30 w 96"/>
                <a:gd name="T45" fmla="*/ 20 h 96"/>
                <a:gd name="T46" fmla="*/ 25 w 96"/>
                <a:gd name="T47" fmla="*/ 22 h 96"/>
                <a:gd name="T48" fmla="*/ 15 w 96"/>
                <a:gd name="T49" fmla="*/ 12 h 96"/>
                <a:gd name="T50" fmla="*/ 43 w 96"/>
                <a:gd name="T51" fmla="*/ 12 h 96"/>
                <a:gd name="T52" fmla="*/ 91 w 96"/>
                <a:gd name="T53" fmla="*/ 60 h 96"/>
                <a:gd name="T54" fmla="*/ 60 w 96"/>
                <a:gd name="T55" fmla="*/ 91 h 96"/>
                <a:gd name="T56" fmla="*/ 27 w 96"/>
                <a:gd name="T57" fmla="*/ 29 h 96"/>
                <a:gd name="T58" fmla="*/ 28 w 96"/>
                <a:gd name="T59" fmla="*/ 30 h 96"/>
                <a:gd name="T60" fmla="*/ 29 w 96"/>
                <a:gd name="T61" fmla="*/ 29 h 96"/>
                <a:gd name="T62" fmla="*/ 29 w 96"/>
                <a:gd name="T63" fmla="*/ 27 h 96"/>
                <a:gd name="T64" fmla="*/ 27 w 96"/>
                <a:gd name="T65" fmla="*/ 25 h 96"/>
                <a:gd name="T66" fmla="*/ 30 w 96"/>
                <a:gd name="T67" fmla="*/ 24 h 96"/>
                <a:gd name="T68" fmla="*/ 36 w 96"/>
                <a:gd name="T69" fmla="*/ 30 h 96"/>
                <a:gd name="T70" fmla="*/ 30 w 96"/>
                <a:gd name="T71" fmla="*/ 36 h 96"/>
                <a:gd name="T72" fmla="*/ 24 w 96"/>
                <a:gd name="T73" fmla="*/ 30 h 96"/>
                <a:gd name="T74" fmla="*/ 25 w 96"/>
                <a:gd name="T75" fmla="*/ 27 h 96"/>
                <a:gd name="T76" fmla="*/ 27 w 96"/>
                <a:gd name="T77"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6" h="96">
                  <a:moveTo>
                    <a:pt x="95" y="59"/>
                  </a:moveTo>
                  <a:cubicBezTo>
                    <a:pt x="45" y="9"/>
                    <a:pt x="45" y="9"/>
                    <a:pt x="45" y="9"/>
                  </a:cubicBezTo>
                  <a:cubicBezTo>
                    <a:pt x="45" y="8"/>
                    <a:pt x="45" y="8"/>
                    <a:pt x="44" y="8"/>
                  </a:cubicBezTo>
                  <a:cubicBezTo>
                    <a:pt x="11" y="8"/>
                    <a:pt x="11" y="8"/>
                    <a:pt x="11" y="8"/>
                  </a:cubicBezTo>
                  <a:cubicBezTo>
                    <a:pt x="3" y="1"/>
                    <a:pt x="3" y="1"/>
                    <a:pt x="3" y="1"/>
                  </a:cubicBezTo>
                  <a:cubicBezTo>
                    <a:pt x="3" y="0"/>
                    <a:pt x="1" y="0"/>
                    <a:pt x="1" y="1"/>
                  </a:cubicBezTo>
                  <a:cubicBezTo>
                    <a:pt x="0" y="1"/>
                    <a:pt x="0" y="3"/>
                    <a:pt x="1" y="3"/>
                  </a:cubicBezTo>
                  <a:cubicBezTo>
                    <a:pt x="8" y="11"/>
                    <a:pt x="8" y="11"/>
                    <a:pt x="8" y="11"/>
                  </a:cubicBezTo>
                  <a:cubicBezTo>
                    <a:pt x="8" y="44"/>
                    <a:pt x="8" y="44"/>
                    <a:pt x="8" y="44"/>
                  </a:cubicBezTo>
                  <a:cubicBezTo>
                    <a:pt x="8" y="45"/>
                    <a:pt x="8" y="45"/>
                    <a:pt x="9" y="45"/>
                  </a:cubicBezTo>
                  <a:cubicBezTo>
                    <a:pt x="59" y="95"/>
                    <a:pt x="59" y="95"/>
                    <a:pt x="59" y="95"/>
                  </a:cubicBezTo>
                  <a:cubicBezTo>
                    <a:pt x="59" y="96"/>
                    <a:pt x="60" y="96"/>
                    <a:pt x="60" y="96"/>
                  </a:cubicBezTo>
                  <a:cubicBezTo>
                    <a:pt x="61" y="96"/>
                    <a:pt x="61" y="96"/>
                    <a:pt x="61" y="95"/>
                  </a:cubicBezTo>
                  <a:cubicBezTo>
                    <a:pt x="95" y="61"/>
                    <a:pt x="95" y="61"/>
                    <a:pt x="95" y="61"/>
                  </a:cubicBezTo>
                  <a:cubicBezTo>
                    <a:pt x="96" y="61"/>
                    <a:pt x="96" y="59"/>
                    <a:pt x="95" y="59"/>
                  </a:cubicBezTo>
                  <a:close/>
                  <a:moveTo>
                    <a:pt x="60" y="91"/>
                  </a:moveTo>
                  <a:cubicBezTo>
                    <a:pt x="12" y="43"/>
                    <a:pt x="12" y="43"/>
                    <a:pt x="12" y="43"/>
                  </a:cubicBezTo>
                  <a:cubicBezTo>
                    <a:pt x="12" y="15"/>
                    <a:pt x="12" y="15"/>
                    <a:pt x="12" y="15"/>
                  </a:cubicBezTo>
                  <a:cubicBezTo>
                    <a:pt x="22" y="25"/>
                    <a:pt x="22" y="25"/>
                    <a:pt x="22" y="25"/>
                  </a:cubicBezTo>
                  <a:cubicBezTo>
                    <a:pt x="21" y="26"/>
                    <a:pt x="20" y="28"/>
                    <a:pt x="20" y="30"/>
                  </a:cubicBezTo>
                  <a:cubicBezTo>
                    <a:pt x="20" y="36"/>
                    <a:pt x="25" y="40"/>
                    <a:pt x="30" y="40"/>
                  </a:cubicBezTo>
                  <a:cubicBezTo>
                    <a:pt x="36" y="40"/>
                    <a:pt x="40" y="36"/>
                    <a:pt x="40" y="30"/>
                  </a:cubicBezTo>
                  <a:cubicBezTo>
                    <a:pt x="40" y="25"/>
                    <a:pt x="36" y="20"/>
                    <a:pt x="30" y="20"/>
                  </a:cubicBezTo>
                  <a:cubicBezTo>
                    <a:pt x="28" y="20"/>
                    <a:pt x="26" y="21"/>
                    <a:pt x="25" y="22"/>
                  </a:cubicBezTo>
                  <a:cubicBezTo>
                    <a:pt x="15" y="12"/>
                    <a:pt x="15" y="12"/>
                    <a:pt x="15" y="12"/>
                  </a:cubicBezTo>
                  <a:cubicBezTo>
                    <a:pt x="43" y="12"/>
                    <a:pt x="43" y="12"/>
                    <a:pt x="43" y="12"/>
                  </a:cubicBezTo>
                  <a:cubicBezTo>
                    <a:pt x="91" y="60"/>
                    <a:pt x="91" y="60"/>
                    <a:pt x="91" y="60"/>
                  </a:cubicBezTo>
                  <a:lnTo>
                    <a:pt x="60" y="91"/>
                  </a:lnTo>
                  <a:close/>
                  <a:moveTo>
                    <a:pt x="27" y="29"/>
                  </a:moveTo>
                  <a:cubicBezTo>
                    <a:pt x="27" y="30"/>
                    <a:pt x="27" y="30"/>
                    <a:pt x="28" y="30"/>
                  </a:cubicBezTo>
                  <a:cubicBezTo>
                    <a:pt x="29" y="30"/>
                    <a:pt x="29" y="30"/>
                    <a:pt x="29" y="29"/>
                  </a:cubicBezTo>
                  <a:cubicBezTo>
                    <a:pt x="30" y="29"/>
                    <a:pt x="30" y="27"/>
                    <a:pt x="29" y="27"/>
                  </a:cubicBezTo>
                  <a:cubicBezTo>
                    <a:pt x="27" y="25"/>
                    <a:pt x="27" y="25"/>
                    <a:pt x="27" y="25"/>
                  </a:cubicBezTo>
                  <a:cubicBezTo>
                    <a:pt x="28" y="24"/>
                    <a:pt x="29" y="24"/>
                    <a:pt x="30" y="24"/>
                  </a:cubicBezTo>
                  <a:cubicBezTo>
                    <a:pt x="33" y="24"/>
                    <a:pt x="36" y="27"/>
                    <a:pt x="36" y="30"/>
                  </a:cubicBezTo>
                  <a:cubicBezTo>
                    <a:pt x="36" y="33"/>
                    <a:pt x="33" y="36"/>
                    <a:pt x="30" y="36"/>
                  </a:cubicBezTo>
                  <a:cubicBezTo>
                    <a:pt x="27" y="36"/>
                    <a:pt x="24" y="33"/>
                    <a:pt x="24" y="30"/>
                  </a:cubicBezTo>
                  <a:cubicBezTo>
                    <a:pt x="24" y="29"/>
                    <a:pt x="24" y="28"/>
                    <a:pt x="25" y="27"/>
                  </a:cubicBezTo>
                  <a:lnTo>
                    <a:pt x="27"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5164" name="Grupo 5163">
            <a:extLst>
              <a:ext uri="{FF2B5EF4-FFF2-40B4-BE49-F238E27FC236}">
                <a16:creationId xmlns:a16="http://schemas.microsoft.com/office/drawing/2014/main" id="{528A9A9E-BC6D-A135-9189-037010E74A3C}"/>
              </a:ext>
            </a:extLst>
          </p:cNvPr>
          <p:cNvGrpSpPr/>
          <p:nvPr/>
        </p:nvGrpSpPr>
        <p:grpSpPr>
          <a:xfrm>
            <a:off x="5037897" y="2663750"/>
            <a:ext cx="464188" cy="486587"/>
            <a:chOff x="5269991" y="830189"/>
            <a:chExt cx="464188" cy="486587"/>
          </a:xfrm>
          <a:solidFill>
            <a:schemeClr val="bg1"/>
          </a:solidFill>
        </p:grpSpPr>
        <p:sp>
          <p:nvSpPr>
            <p:cNvPr id="5140" name="Freeform 129">
              <a:extLst>
                <a:ext uri="{FF2B5EF4-FFF2-40B4-BE49-F238E27FC236}">
                  <a16:creationId xmlns:a16="http://schemas.microsoft.com/office/drawing/2014/main" id="{36CA854B-57FD-CC9E-B097-F112DAC58FB5}"/>
                </a:ext>
              </a:extLst>
            </p:cNvPr>
            <p:cNvSpPr>
              <a:spLocks noEditPoints="1"/>
            </p:cNvSpPr>
            <p:nvPr/>
          </p:nvSpPr>
          <p:spPr bwMode="auto">
            <a:xfrm>
              <a:off x="5335948" y="897390"/>
              <a:ext cx="331030" cy="331029"/>
            </a:xfrm>
            <a:custGeom>
              <a:avLst/>
              <a:gdLst>
                <a:gd name="T0" fmla="*/ 90 w 180"/>
                <a:gd name="T1" fmla="*/ 180 h 180"/>
                <a:gd name="T2" fmla="*/ 0 w 180"/>
                <a:gd name="T3" fmla="*/ 90 h 180"/>
                <a:gd name="T4" fmla="*/ 90 w 180"/>
                <a:gd name="T5" fmla="*/ 0 h 180"/>
                <a:gd name="T6" fmla="*/ 180 w 180"/>
                <a:gd name="T7" fmla="*/ 90 h 180"/>
                <a:gd name="T8" fmla="*/ 90 w 180"/>
                <a:gd name="T9" fmla="*/ 180 h 180"/>
                <a:gd name="T10" fmla="*/ 90 w 180"/>
                <a:gd name="T11" fmla="*/ 12 h 180"/>
                <a:gd name="T12" fmla="*/ 12 w 180"/>
                <a:gd name="T13" fmla="*/ 90 h 180"/>
                <a:gd name="T14" fmla="*/ 90 w 180"/>
                <a:gd name="T15" fmla="*/ 168 h 180"/>
                <a:gd name="T16" fmla="*/ 168 w 180"/>
                <a:gd name="T17" fmla="*/ 90 h 180"/>
                <a:gd name="T18" fmla="*/ 90 w 180"/>
                <a:gd name="T19" fmla="*/ 1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0" h="180">
                  <a:moveTo>
                    <a:pt x="90" y="180"/>
                  </a:moveTo>
                  <a:cubicBezTo>
                    <a:pt x="40" y="180"/>
                    <a:pt x="0" y="139"/>
                    <a:pt x="0" y="90"/>
                  </a:cubicBezTo>
                  <a:cubicBezTo>
                    <a:pt x="0" y="40"/>
                    <a:pt x="40" y="0"/>
                    <a:pt x="90" y="0"/>
                  </a:cubicBezTo>
                  <a:cubicBezTo>
                    <a:pt x="139" y="0"/>
                    <a:pt x="180" y="40"/>
                    <a:pt x="180" y="90"/>
                  </a:cubicBezTo>
                  <a:cubicBezTo>
                    <a:pt x="180" y="139"/>
                    <a:pt x="139" y="180"/>
                    <a:pt x="90" y="180"/>
                  </a:cubicBezTo>
                  <a:close/>
                  <a:moveTo>
                    <a:pt x="90" y="12"/>
                  </a:moveTo>
                  <a:cubicBezTo>
                    <a:pt x="47" y="12"/>
                    <a:pt x="12" y="47"/>
                    <a:pt x="12" y="90"/>
                  </a:cubicBezTo>
                  <a:cubicBezTo>
                    <a:pt x="12" y="133"/>
                    <a:pt x="47" y="168"/>
                    <a:pt x="90" y="168"/>
                  </a:cubicBezTo>
                  <a:cubicBezTo>
                    <a:pt x="133" y="168"/>
                    <a:pt x="168" y="133"/>
                    <a:pt x="168" y="90"/>
                  </a:cubicBezTo>
                  <a:cubicBezTo>
                    <a:pt x="168" y="47"/>
                    <a:pt x="13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41" name="Freeform 130">
              <a:extLst>
                <a:ext uri="{FF2B5EF4-FFF2-40B4-BE49-F238E27FC236}">
                  <a16:creationId xmlns:a16="http://schemas.microsoft.com/office/drawing/2014/main" id="{6A0DEA12-EA5B-E50A-4899-E5F153373446}"/>
                </a:ext>
              </a:extLst>
            </p:cNvPr>
            <p:cNvSpPr>
              <a:spLocks/>
            </p:cNvSpPr>
            <p:nvPr/>
          </p:nvSpPr>
          <p:spPr bwMode="auto">
            <a:xfrm>
              <a:off x="5424306" y="1206018"/>
              <a:ext cx="154315" cy="67201"/>
            </a:xfrm>
            <a:custGeom>
              <a:avLst/>
              <a:gdLst>
                <a:gd name="T0" fmla="*/ 78 w 84"/>
                <a:gd name="T1" fmla="*/ 36 h 36"/>
                <a:gd name="T2" fmla="*/ 6 w 84"/>
                <a:gd name="T3" fmla="*/ 36 h 36"/>
                <a:gd name="T4" fmla="*/ 0 w 84"/>
                <a:gd name="T5" fmla="*/ 30 h 36"/>
                <a:gd name="T6" fmla="*/ 0 w 84"/>
                <a:gd name="T7" fmla="*/ 0 h 36"/>
                <a:gd name="T8" fmla="*/ 12 w 84"/>
                <a:gd name="T9" fmla="*/ 0 h 36"/>
                <a:gd name="T10" fmla="*/ 12 w 84"/>
                <a:gd name="T11" fmla="*/ 24 h 36"/>
                <a:gd name="T12" fmla="*/ 72 w 84"/>
                <a:gd name="T13" fmla="*/ 24 h 36"/>
                <a:gd name="T14" fmla="*/ 72 w 84"/>
                <a:gd name="T15" fmla="*/ 0 h 36"/>
                <a:gd name="T16" fmla="*/ 84 w 84"/>
                <a:gd name="T17" fmla="*/ 0 h 36"/>
                <a:gd name="T18" fmla="*/ 84 w 84"/>
                <a:gd name="T19" fmla="*/ 30 h 36"/>
                <a:gd name="T20" fmla="*/ 78 w 84"/>
                <a:gd name="T21"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 h="36">
                  <a:moveTo>
                    <a:pt x="78" y="36"/>
                  </a:moveTo>
                  <a:cubicBezTo>
                    <a:pt x="6" y="36"/>
                    <a:pt x="6" y="36"/>
                    <a:pt x="6" y="36"/>
                  </a:cubicBezTo>
                  <a:cubicBezTo>
                    <a:pt x="2" y="36"/>
                    <a:pt x="0" y="33"/>
                    <a:pt x="0" y="30"/>
                  </a:cubicBezTo>
                  <a:cubicBezTo>
                    <a:pt x="0" y="0"/>
                    <a:pt x="0" y="0"/>
                    <a:pt x="0" y="0"/>
                  </a:cubicBezTo>
                  <a:cubicBezTo>
                    <a:pt x="12" y="0"/>
                    <a:pt x="12" y="0"/>
                    <a:pt x="12" y="0"/>
                  </a:cubicBezTo>
                  <a:cubicBezTo>
                    <a:pt x="12" y="24"/>
                    <a:pt x="12" y="24"/>
                    <a:pt x="12" y="24"/>
                  </a:cubicBezTo>
                  <a:cubicBezTo>
                    <a:pt x="72" y="24"/>
                    <a:pt x="72" y="24"/>
                    <a:pt x="72" y="24"/>
                  </a:cubicBezTo>
                  <a:cubicBezTo>
                    <a:pt x="72" y="0"/>
                    <a:pt x="72" y="0"/>
                    <a:pt x="72" y="0"/>
                  </a:cubicBezTo>
                  <a:cubicBezTo>
                    <a:pt x="84" y="0"/>
                    <a:pt x="84" y="0"/>
                    <a:pt x="84" y="0"/>
                  </a:cubicBezTo>
                  <a:cubicBezTo>
                    <a:pt x="84" y="30"/>
                    <a:pt x="84" y="30"/>
                    <a:pt x="84" y="30"/>
                  </a:cubicBezTo>
                  <a:cubicBezTo>
                    <a:pt x="84" y="33"/>
                    <a:pt x="81" y="36"/>
                    <a:pt x="78"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42" name="Freeform 131">
              <a:extLst>
                <a:ext uri="{FF2B5EF4-FFF2-40B4-BE49-F238E27FC236}">
                  <a16:creationId xmlns:a16="http://schemas.microsoft.com/office/drawing/2014/main" id="{7811979D-D9D6-F88A-FFAD-37C1B5FFA7EA}"/>
                </a:ext>
              </a:extLst>
            </p:cNvPr>
            <p:cNvSpPr>
              <a:spLocks noEditPoints="1"/>
            </p:cNvSpPr>
            <p:nvPr/>
          </p:nvSpPr>
          <p:spPr bwMode="auto">
            <a:xfrm>
              <a:off x="5446706" y="1250819"/>
              <a:ext cx="109514" cy="65957"/>
            </a:xfrm>
            <a:custGeom>
              <a:avLst/>
              <a:gdLst>
                <a:gd name="T0" fmla="*/ 54 w 60"/>
                <a:gd name="T1" fmla="*/ 36 h 36"/>
                <a:gd name="T2" fmla="*/ 6 w 60"/>
                <a:gd name="T3" fmla="*/ 36 h 36"/>
                <a:gd name="T4" fmla="*/ 0 w 60"/>
                <a:gd name="T5" fmla="*/ 30 h 36"/>
                <a:gd name="T6" fmla="*/ 0 w 60"/>
                <a:gd name="T7" fmla="*/ 6 h 36"/>
                <a:gd name="T8" fmla="*/ 6 w 60"/>
                <a:gd name="T9" fmla="*/ 0 h 36"/>
                <a:gd name="T10" fmla="*/ 54 w 60"/>
                <a:gd name="T11" fmla="*/ 0 h 36"/>
                <a:gd name="T12" fmla="*/ 60 w 60"/>
                <a:gd name="T13" fmla="*/ 6 h 36"/>
                <a:gd name="T14" fmla="*/ 60 w 60"/>
                <a:gd name="T15" fmla="*/ 30 h 36"/>
                <a:gd name="T16" fmla="*/ 54 w 60"/>
                <a:gd name="T17" fmla="*/ 36 h 36"/>
                <a:gd name="T18" fmla="*/ 12 w 60"/>
                <a:gd name="T19" fmla="*/ 24 h 36"/>
                <a:gd name="T20" fmla="*/ 48 w 60"/>
                <a:gd name="T21" fmla="*/ 24 h 36"/>
                <a:gd name="T22" fmla="*/ 48 w 60"/>
                <a:gd name="T23" fmla="*/ 12 h 36"/>
                <a:gd name="T24" fmla="*/ 12 w 60"/>
                <a:gd name="T25" fmla="*/ 12 h 36"/>
                <a:gd name="T26" fmla="*/ 12 w 60"/>
                <a:gd name="T27"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36">
                  <a:moveTo>
                    <a:pt x="54" y="36"/>
                  </a:moveTo>
                  <a:cubicBezTo>
                    <a:pt x="6" y="36"/>
                    <a:pt x="6" y="36"/>
                    <a:pt x="6" y="36"/>
                  </a:cubicBezTo>
                  <a:cubicBezTo>
                    <a:pt x="2" y="36"/>
                    <a:pt x="0" y="33"/>
                    <a:pt x="0" y="30"/>
                  </a:cubicBezTo>
                  <a:cubicBezTo>
                    <a:pt x="0" y="6"/>
                    <a:pt x="0" y="6"/>
                    <a:pt x="0" y="6"/>
                  </a:cubicBezTo>
                  <a:cubicBezTo>
                    <a:pt x="0" y="3"/>
                    <a:pt x="2" y="0"/>
                    <a:pt x="6" y="0"/>
                  </a:cubicBezTo>
                  <a:cubicBezTo>
                    <a:pt x="54" y="0"/>
                    <a:pt x="54" y="0"/>
                    <a:pt x="54" y="0"/>
                  </a:cubicBezTo>
                  <a:cubicBezTo>
                    <a:pt x="57" y="0"/>
                    <a:pt x="60" y="3"/>
                    <a:pt x="60" y="6"/>
                  </a:cubicBezTo>
                  <a:cubicBezTo>
                    <a:pt x="60" y="30"/>
                    <a:pt x="60" y="30"/>
                    <a:pt x="60" y="30"/>
                  </a:cubicBezTo>
                  <a:cubicBezTo>
                    <a:pt x="60" y="33"/>
                    <a:pt x="57" y="36"/>
                    <a:pt x="54" y="36"/>
                  </a:cubicBezTo>
                  <a:close/>
                  <a:moveTo>
                    <a:pt x="12" y="24"/>
                  </a:moveTo>
                  <a:cubicBezTo>
                    <a:pt x="48" y="24"/>
                    <a:pt x="48" y="24"/>
                    <a:pt x="48" y="24"/>
                  </a:cubicBezTo>
                  <a:cubicBezTo>
                    <a:pt x="48" y="12"/>
                    <a:pt x="48" y="12"/>
                    <a:pt x="48" y="12"/>
                  </a:cubicBezTo>
                  <a:cubicBezTo>
                    <a:pt x="12" y="12"/>
                    <a:pt x="12" y="12"/>
                    <a:pt x="12" y="12"/>
                  </a:cubicBez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44" name="Freeform 133">
              <a:extLst>
                <a:ext uri="{FF2B5EF4-FFF2-40B4-BE49-F238E27FC236}">
                  <a16:creationId xmlns:a16="http://schemas.microsoft.com/office/drawing/2014/main" id="{106DAAC3-650E-D429-64F0-9C4F2A8BDD9F}"/>
                </a:ext>
              </a:extLst>
            </p:cNvPr>
            <p:cNvSpPr>
              <a:spLocks/>
            </p:cNvSpPr>
            <p:nvPr/>
          </p:nvSpPr>
          <p:spPr bwMode="auto">
            <a:xfrm>
              <a:off x="5490263" y="830189"/>
              <a:ext cx="22400" cy="44801"/>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2" y="24"/>
                    <a:pt x="0" y="21"/>
                    <a:pt x="0" y="18"/>
                  </a:cubicBezTo>
                  <a:cubicBezTo>
                    <a:pt x="0" y="6"/>
                    <a:pt x="0" y="6"/>
                    <a:pt x="0" y="6"/>
                  </a:cubicBezTo>
                  <a:cubicBezTo>
                    <a:pt x="0" y="3"/>
                    <a:pt x="2" y="0"/>
                    <a:pt x="6" y="0"/>
                  </a:cubicBezTo>
                  <a:cubicBezTo>
                    <a:pt x="9" y="0"/>
                    <a:pt x="12" y="3"/>
                    <a:pt x="12" y="6"/>
                  </a:cubicBezTo>
                  <a:cubicBezTo>
                    <a:pt x="12" y="18"/>
                    <a:pt x="12" y="18"/>
                    <a:pt x="12" y="18"/>
                  </a:cubicBezTo>
                  <a:cubicBezTo>
                    <a:pt x="12" y="21"/>
                    <a:pt x="9"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45" name="Freeform 134">
              <a:extLst>
                <a:ext uri="{FF2B5EF4-FFF2-40B4-BE49-F238E27FC236}">
                  <a16:creationId xmlns:a16="http://schemas.microsoft.com/office/drawing/2014/main" id="{AE789E47-C0BF-7D37-39F5-710FA8B3DF09}"/>
                </a:ext>
              </a:extLst>
            </p:cNvPr>
            <p:cNvSpPr>
              <a:spLocks/>
            </p:cNvSpPr>
            <p:nvPr/>
          </p:nvSpPr>
          <p:spPr bwMode="auto">
            <a:xfrm>
              <a:off x="5628399" y="893657"/>
              <a:ext cx="41068" cy="38579"/>
            </a:xfrm>
            <a:custGeom>
              <a:avLst/>
              <a:gdLst>
                <a:gd name="T0" fmla="*/ 7 w 22"/>
                <a:gd name="T1" fmla="*/ 21 h 21"/>
                <a:gd name="T2" fmla="*/ 3 w 22"/>
                <a:gd name="T3" fmla="*/ 20 h 21"/>
                <a:gd name="T4" fmla="*/ 3 w 22"/>
                <a:gd name="T5" fmla="*/ 11 h 21"/>
                <a:gd name="T6" fmla="*/ 11 w 22"/>
                <a:gd name="T7" fmla="*/ 3 h 21"/>
                <a:gd name="T8" fmla="*/ 20 w 22"/>
                <a:gd name="T9" fmla="*/ 3 h 21"/>
                <a:gd name="T10" fmla="*/ 20 w 22"/>
                <a:gd name="T11" fmla="*/ 11 h 21"/>
                <a:gd name="T12" fmla="*/ 11 w 22"/>
                <a:gd name="T13" fmla="*/ 20 h 21"/>
                <a:gd name="T14" fmla="*/ 7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7" y="21"/>
                  </a:moveTo>
                  <a:cubicBezTo>
                    <a:pt x="5" y="21"/>
                    <a:pt x="4" y="21"/>
                    <a:pt x="3" y="20"/>
                  </a:cubicBezTo>
                  <a:cubicBezTo>
                    <a:pt x="0" y="17"/>
                    <a:pt x="0" y="14"/>
                    <a:pt x="3" y="11"/>
                  </a:cubicBezTo>
                  <a:cubicBezTo>
                    <a:pt x="11" y="3"/>
                    <a:pt x="11" y="3"/>
                    <a:pt x="11" y="3"/>
                  </a:cubicBezTo>
                  <a:cubicBezTo>
                    <a:pt x="14" y="0"/>
                    <a:pt x="17" y="0"/>
                    <a:pt x="20" y="3"/>
                  </a:cubicBezTo>
                  <a:cubicBezTo>
                    <a:pt x="22" y="5"/>
                    <a:pt x="22" y="9"/>
                    <a:pt x="20" y="11"/>
                  </a:cubicBezTo>
                  <a:cubicBezTo>
                    <a:pt x="11" y="20"/>
                    <a:pt x="11" y="20"/>
                    <a:pt x="11" y="20"/>
                  </a:cubicBezTo>
                  <a:cubicBezTo>
                    <a:pt x="10" y="21"/>
                    <a:pt x="9" y="21"/>
                    <a:pt x="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46" name="Freeform 135">
              <a:extLst>
                <a:ext uri="{FF2B5EF4-FFF2-40B4-BE49-F238E27FC236}">
                  <a16:creationId xmlns:a16="http://schemas.microsoft.com/office/drawing/2014/main" id="{828BC1BC-4C99-ECE1-992F-27F26026E070}"/>
                </a:ext>
              </a:extLst>
            </p:cNvPr>
            <p:cNvSpPr>
              <a:spLocks/>
            </p:cNvSpPr>
            <p:nvPr/>
          </p:nvSpPr>
          <p:spPr bwMode="auto">
            <a:xfrm>
              <a:off x="5689378" y="1051704"/>
              <a:ext cx="44801" cy="22400"/>
            </a:xfrm>
            <a:custGeom>
              <a:avLst/>
              <a:gdLst>
                <a:gd name="T0" fmla="*/ 18 w 24"/>
                <a:gd name="T1" fmla="*/ 12 h 12"/>
                <a:gd name="T2" fmla="*/ 6 w 24"/>
                <a:gd name="T3" fmla="*/ 12 h 12"/>
                <a:gd name="T4" fmla="*/ 0 w 24"/>
                <a:gd name="T5" fmla="*/ 6 h 12"/>
                <a:gd name="T6" fmla="*/ 6 w 24"/>
                <a:gd name="T7" fmla="*/ 0 h 12"/>
                <a:gd name="T8" fmla="*/ 18 w 24"/>
                <a:gd name="T9" fmla="*/ 0 h 12"/>
                <a:gd name="T10" fmla="*/ 24 w 24"/>
                <a:gd name="T11" fmla="*/ 6 h 12"/>
                <a:gd name="T12" fmla="*/ 18 w 2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12"/>
                  </a:moveTo>
                  <a:cubicBezTo>
                    <a:pt x="6" y="12"/>
                    <a:pt x="6" y="12"/>
                    <a:pt x="6" y="12"/>
                  </a:cubicBezTo>
                  <a:cubicBezTo>
                    <a:pt x="2" y="12"/>
                    <a:pt x="0" y="9"/>
                    <a:pt x="0" y="6"/>
                  </a:cubicBezTo>
                  <a:cubicBezTo>
                    <a:pt x="0" y="3"/>
                    <a:pt x="2" y="0"/>
                    <a:pt x="6" y="0"/>
                  </a:cubicBezTo>
                  <a:cubicBezTo>
                    <a:pt x="18" y="0"/>
                    <a:pt x="18" y="0"/>
                    <a:pt x="18" y="0"/>
                  </a:cubicBezTo>
                  <a:cubicBezTo>
                    <a:pt x="21" y="0"/>
                    <a:pt x="24" y="3"/>
                    <a:pt x="24" y="6"/>
                  </a:cubicBezTo>
                  <a:cubicBezTo>
                    <a:pt x="24" y="9"/>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47" name="Freeform 136">
              <a:extLst>
                <a:ext uri="{FF2B5EF4-FFF2-40B4-BE49-F238E27FC236}">
                  <a16:creationId xmlns:a16="http://schemas.microsoft.com/office/drawing/2014/main" id="{A2E4B48B-26CF-9695-F96E-523264DA911C}"/>
                </a:ext>
              </a:extLst>
            </p:cNvPr>
            <p:cNvSpPr>
              <a:spLocks/>
            </p:cNvSpPr>
            <p:nvPr/>
          </p:nvSpPr>
          <p:spPr bwMode="auto">
            <a:xfrm>
              <a:off x="5628399" y="1191085"/>
              <a:ext cx="41068" cy="38579"/>
            </a:xfrm>
            <a:custGeom>
              <a:avLst/>
              <a:gdLst>
                <a:gd name="T0" fmla="*/ 15 w 22"/>
                <a:gd name="T1" fmla="*/ 21 h 21"/>
                <a:gd name="T2" fmla="*/ 11 w 22"/>
                <a:gd name="T3" fmla="*/ 19 h 21"/>
                <a:gd name="T4" fmla="*/ 3 w 22"/>
                <a:gd name="T5" fmla="*/ 10 h 21"/>
                <a:gd name="T6" fmla="*/ 3 w 22"/>
                <a:gd name="T7" fmla="*/ 2 h 21"/>
                <a:gd name="T8" fmla="*/ 11 w 22"/>
                <a:gd name="T9" fmla="*/ 2 h 21"/>
                <a:gd name="T10" fmla="*/ 20 w 22"/>
                <a:gd name="T11" fmla="*/ 10 h 21"/>
                <a:gd name="T12" fmla="*/ 20 w 22"/>
                <a:gd name="T13" fmla="*/ 19 h 21"/>
                <a:gd name="T14" fmla="*/ 15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15" y="21"/>
                  </a:moveTo>
                  <a:cubicBezTo>
                    <a:pt x="14" y="21"/>
                    <a:pt x="12" y="20"/>
                    <a:pt x="11" y="19"/>
                  </a:cubicBezTo>
                  <a:cubicBezTo>
                    <a:pt x="3" y="10"/>
                    <a:pt x="3" y="10"/>
                    <a:pt x="3" y="10"/>
                  </a:cubicBezTo>
                  <a:cubicBezTo>
                    <a:pt x="0" y="8"/>
                    <a:pt x="0" y="4"/>
                    <a:pt x="3" y="2"/>
                  </a:cubicBezTo>
                  <a:cubicBezTo>
                    <a:pt x="5" y="0"/>
                    <a:pt x="9" y="0"/>
                    <a:pt x="11" y="2"/>
                  </a:cubicBezTo>
                  <a:cubicBezTo>
                    <a:pt x="20" y="10"/>
                    <a:pt x="20" y="10"/>
                    <a:pt x="20" y="10"/>
                  </a:cubicBezTo>
                  <a:cubicBezTo>
                    <a:pt x="22" y="13"/>
                    <a:pt x="22" y="17"/>
                    <a:pt x="20" y="19"/>
                  </a:cubicBezTo>
                  <a:cubicBezTo>
                    <a:pt x="19" y="20"/>
                    <a:pt x="17"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48" name="Freeform 137">
              <a:extLst>
                <a:ext uri="{FF2B5EF4-FFF2-40B4-BE49-F238E27FC236}">
                  <a16:creationId xmlns:a16="http://schemas.microsoft.com/office/drawing/2014/main" id="{6ED6B429-CD1A-654D-C93D-081002CABED9}"/>
                </a:ext>
              </a:extLst>
            </p:cNvPr>
            <p:cNvSpPr>
              <a:spLocks/>
            </p:cNvSpPr>
            <p:nvPr/>
          </p:nvSpPr>
          <p:spPr bwMode="auto">
            <a:xfrm>
              <a:off x="5332215" y="893657"/>
              <a:ext cx="39823" cy="38579"/>
            </a:xfrm>
            <a:custGeom>
              <a:avLst/>
              <a:gdLst>
                <a:gd name="T0" fmla="*/ 15 w 22"/>
                <a:gd name="T1" fmla="*/ 21 h 21"/>
                <a:gd name="T2" fmla="*/ 11 w 22"/>
                <a:gd name="T3" fmla="*/ 20 h 21"/>
                <a:gd name="T4" fmla="*/ 3 w 22"/>
                <a:gd name="T5" fmla="*/ 11 h 21"/>
                <a:gd name="T6" fmla="*/ 3 w 22"/>
                <a:gd name="T7" fmla="*/ 3 h 21"/>
                <a:gd name="T8" fmla="*/ 11 w 22"/>
                <a:gd name="T9" fmla="*/ 3 h 21"/>
                <a:gd name="T10" fmla="*/ 20 w 22"/>
                <a:gd name="T11" fmla="*/ 11 h 21"/>
                <a:gd name="T12" fmla="*/ 20 w 22"/>
                <a:gd name="T13" fmla="*/ 20 h 21"/>
                <a:gd name="T14" fmla="*/ 15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15" y="21"/>
                  </a:moveTo>
                  <a:cubicBezTo>
                    <a:pt x="14" y="21"/>
                    <a:pt x="12" y="21"/>
                    <a:pt x="11" y="20"/>
                  </a:cubicBezTo>
                  <a:cubicBezTo>
                    <a:pt x="3" y="11"/>
                    <a:pt x="3" y="11"/>
                    <a:pt x="3" y="11"/>
                  </a:cubicBezTo>
                  <a:cubicBezTo>
                    <a:pt x="0" y="9"/>
                    <a:pt x="0" y="5"/>
                    <a:pt x="3" y="3"/>
                  </a:cubicBezTo>
                  <a:cubicBezTo>
                    <a:pt x="5" y="0"/>
                    <a:pt x="9" y="0"/>
                    <a:pt x="11" y="3"/>
                  </a:cubicBezTo>
                  <a:cubicBezTo>
                    <a:pt x="20" y="11"/>
                    <a:pt x="20" y="11"/>
                    <a:pt x="20" y="11"/>
                  </a:cubicBezTo>
                  <a:cubicBezTo>
                    <a:pt x="22" y="14"/>
                    <a:pt x="22" y="17"/>
                    <a:pt x="20" y="20"/>
                  </a:cubicBezTo>
                  <a:cubicBezTo>
                    <a:pt x="18" y="21"/>
                    <a:pt x="17"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49" name="Freeform 138">
              <a:extLst>
                <a:ext uri="{FF2B5EF4-FFF2-40B4-BE49-F238E27FC236}">
                  <a16:creationId xmlns:a16="http://schemas.microsoft.com/office/drawing/2014/main" id="{2B86F58B-CEE9-DE24-34AF-DAF497F7AA98}"/>
                </a:ext>
              </a:extLst>
            </p:cNvPr>
            <p:cNvSpPr>
              <a:spLocks/>
            </p:cNvSpPr>
            <p:nvPr/>
          </p:nvSpPr>
          <p:spPr bwMode="auto">
            <a:xfrm>
              <a:off x="5269991" y="1051704"/>
              <a:ext cx="43557" cy="22400"/>
            </a:xfrm>
            <a:custGeom>
              <a:avLst/>
              <a:gdLst>
                <a:gd name="T0" fmla="*/ 18 w 24"/>
                <a:gd name="T1" fmla="*/ 12 h 12"/>
                <a:gd name="T2" fmla="*/ 6 w 24"/>
                <a:gd name="T3" fmla="*/ 12 h 12"/>
                <a:gd name="T4" fmla="*/ 0 w 24"/>
                <a:gd name="T5" fmla="*/ 6 h 12"/>
                <a:gd name="T6" fmla="*/ 6 w 24"/>
                <a:gd name="T7" fmla="*/ 0 h 12"/>
                <a:gd name="T8" fmla="*/ 18 w 24"/>
                <a:gd name="T9" fmla="*/ 0 h 12"/>
                <a:gd name="T10" fmla="*/ 24 w 24"/>
                <a:gd name="T11" fmla="*/ 6 h 12"/>
                <a:gd name="T12" fmla="*/ 18 w 2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12"/>
                  </a:moveTo>
                  <a:cubicBezTo>
                    <a:pt x="6" y="12"/>
                    <a:pt x="6" y="12"/>
                    <a:pt x="6" y="12"/>
                  </a:cubicBezTo>
                  <a:cubicBezTo>
                    <a:pt x="2" y="12"/>
                    <a:pt x="0" y="9"/>
                    <a:pt x="0" y="6"/>
                  </a:cubicBezTo>
                  <a:cubicBezTo>
                    <a:pt x="0" y="3"/>
                    <a:pt x="2" y="0"/>
                    <a:pt x="6" y="0"/>
                  </a:cubicBezTo>
                  <a:cubicBezTo>
                    <a:pt x="18" y="0"/>
                    <a:pt x="18" y="0"/>
                    <a:pt x="18" y="0"/>
                  </a:cubicBezTo>
                  <a:cubicBezTo>
                    <a:pt x="21" y="0"/>
                    <a:pt x="24" y="3"/>
                    <a:pt x="24" y="6"/>
                  </a:cubicBezTo>
                  <a:cubicBezTo>
                    <a:pt x="24" y="9"/>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50" name="Freeform 139">
              <a:extLst>
                <a:ext uri="{FF2B5EF4-FFF2-40B4-BE49-F238E27FC236}">
                  <a16:creationId xmlns:a16="http://schemas.microsoft.com/office/drawing/2014/main" id="{7806D50C-6886-64A1-3EC9-E842B38283D6}"/>
                </a:ext>
              </a:extLst>
            </p:cNvPr>
            <p:cNvSpPr>
              <a:spLocks/>
            </p:cNvSpPr>
            <p:nvPr/>
          </p:nvSpPr>
          <p:spPr bwMode="auto">
            <a:xfrm>
              <a:off x="5332215" y="1191085"/>
              <a:ext cx="39823" cy="38579"/>
            </a:xfrm>
            <a:custGeom>
              <a:avLst/>
              <a:gdLst>
                <a:gd name="T0" fmla="*/ 7 w 22"/>
                <a:gd name="T1" fmla="*/ 21 h 21"/>
                <a:gd name="T2" fmla="*/ 3 w 22"/>
                <a:gd name="T3" fmla="*/ 19 h 21"/>
                <a:gd name="T4" fmla="*/ 3 w 22"/>
                <a:gd name="T5" fmla="*/ 10 h 21"/>
                <a:gd name="T6" fmla="*/ 11 w 22"/>
                <a:gd name="T7" fmla="*/ 2 h 21"/>
                <a:gd name="T8" fmla="*/ 20 w 22"/>
                <a:gd name="T9" fmla="*/ 2 h 21"/>
                <a:gd name="T10" fmla="*/ 20 w 22"/>
                <a:gd name="T11" fmla="*/ 10 h 21"/>
                <a:gd name="T12" fmla="*/ 11 w 22"/>
                <a:gd name="T13" fmla="*/ 19 h 21"/>
                <a:gd name="T14" fmla="*/ 7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7" y="21"/>
                  </a:moveTo>
                  <a:cubicBezTo>
                    <a:pt x="5" y="21"/>
                    <a:pt x="4" y="20"/>
                    <a:pt x="3" y="19"/>
                  </a:cubicBezTo>
                  <a:cubicBezTo>
                    <a:pt x="0" y="17"/>
                    <a:pt x="0" y="13"/>
                    <a:pt x="3" y="10"/>
                  </a:cubicBezTo>
                  <a:cubicBezTo>
                    <a:pt x="11" y="2"/>
                    <a:pt x="11" y="2"/>
                    <a:pt x="11" y="2"/>
                  </a:cubicBezTo>
                  <a:cubicBezTo>
                    <a:pt x="13" y="0"/>
                    <a:pt x="17" y="0"/>
                    <a:pt x="20" y="2"/>
                  </a:cubicBezTo>
                  <a:cubicBezTo>
                    <a:pt x="22" y="4"/>
                    <a:pt x="22" y="8"/>
                    <a:pt x="20" y="10"/>
                  </a:cubicBezTo>
                  <a:cubicBezTo>
                    <a:pt x="11" y="19"/>
                    <a:pt x="11" y="19"/>
                    <a:pt x="11" y="19"/>
                  </a:cubicBezTo>
                  <a:cubicBezTo>
                    <a:pt x="10" y="20"/>
                    <a:pt x="8" y="21"/>
                    <a:pt x="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grpSp>
          <p:nvGrpSpPr>
            <p:cNvPr id="5156" name="Group 19">
              <a:extLst>
                <a:ext uri="{FF2B5EF4-FFF2-40B4-BE49-F238E27FC236}">
                  <a16:creationId xmlns:a16="http://schemas.microsoft.com/office/drawing/2014/main" id="{E38749C2-67F9-844D-B553-AA0DC4D4C047}"/>
                </a:ext>
              </a:extLst>
            </p:cNvPr>
            <p:cNvGrpSpPr>
              <a:grpSpLocks noChangeAspect="1"/>
            </p:cNvGrpSpPr>
            <p:nvPr/>
          </p:nvGrpSpPr>
          <p:grpSpPr bwMode="auto">
            <a:xfrm>
              <a:off x="5464931" y="981348"/>
              <a:ext cx="73061" cy="154507"/>
              <a:chOff x="2894" y="927"/>
              <a:chExt cx="61" cy="129"/>
            </a:xfrm>
            <a:grpFill/>
          </p:grpSpPr>
          <p:sp>
            <p:nvSpPr>
              <p:cNvPr id="5158" name="Freeform 21">
                <a:extLst>
                  <a:ext uri="{FF2B5EF4-FFF2-40B4-BE49-F238E27FC236}">
                    <a16:creationId xmlns:a16="http://schemas.microsoft.com/office/drawing/2014/main" id="{3344C4D8-2E58-5AFF-D88E-25CD96DACC6F}"/>
                  </a:ext>
                </a:extLst>
              </p:cNvPr>
              <p:cNvSpPr>
                <a:spLocks/>
              </p:cNvSpPr>
              <p:nvPr/>
            </p:nvSpPr>
            <p:spPr bwMode="auto">
              <a:xfrm>
                <a:off x="2894" y="942"/>
                <a:ext cx="61" cy="100"/>
              </a:xfrm>
              <a:custGeom>
                <a:avLst/>
                <a:gdLst>
                  <a:gd name="T0" fmla="*/ 20 w 40"/>
                  <a:gd name="T1" fmla="*/ 67 h 67"/>
                  <a:gd name="T2" fmla="*/ 0 w 40"/>
                  <a:gd name="T3" fmla="*/ 47 h 67"/>
                  <a:gd name="T4" fmla="*/ 6 w 40"/>
                  <a:gd name="T5" fmla="*/ 41 h 67"/>
                  <a:gd name="T6" fmla="*/ 12 w 40"/>
                  <a:gd name="T7" fmla="*/ 47 h 67"/>
                  <a:gd name="T8" fmla="*/ 20 w 40"/>
                  <a:gd name="T9" fmla="*/ 55 h 67"/>
                  <a:gd name="T10" fmla="*/ 28 w 40"/>
                  <a:gd name="T11" fmla="*/ 47 h 67"/>
                  <a:gd name="T12" fmla="*/ 20 w 40"/>
                  <a:gd name="T13" fmla="*/ 39 h 67"/>
                  <a:gd name="T14" fmla="*/ 0 w 40"/>
                  <a:gd name="T15" fmla="*/ 19 h 67"/>
                  <a:gd name="T16" fmla="*/ 20 w 40"/>
                  <a:gd name="T17" fmla="*/ 0 h 67"/>
                  <a:gd name="T18" fmla="*/ 40 w 40"/>
                  <a:gd name="T19" fmla="*/ 19 h 67"/>
                  <a:gd name="T20" fmla="*/ 34 w 40"/>
                  <a:gd name="T21" fmla="*/ 25 h 67"/>
                  <a:gd name="T22" fmla="*/ 28 w 40"/>
                  <a:gd name="T23" fmla="*/ 19 h 67"/>
                  <a:gd name="T24" fmla="*/ 20 w 40"/>
                  <a:gd name="T25" fmla="*/ 12 h 67"/>
                  <a:gd name="T26" fmla="*/ 12 w 40"/>
                  <a:gd name="T27" fmla="*/ 19 h 67"/>
                  <a:gd name="T28" fmla="*/ 20 w 40"/>
                  <a:gd name="T29" fmla="*/ 27 h 67"/>
                  <a:gd name="T30" fmla="*/ 40 w 40"/>
                  <a:gd name="T31" fmla="*/ 47 h 67"/>
                  <a:gd name="T32" fmla="*/ 20 w 40"/>
                  <a:gd name="T33"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 h="67">
                    <a:moveTo>
                      <a:pt x="20" y="67"/>
                    </a:moveTo>
                    <a:cubicBezTo>
                      <a:pt x="9" y="67"/>
                      <a:pt x="0" y="58"/>
                      <a:pt x="0" y="47"/>
                    </a:cubicBezTo>
                    <a:cubicBezTo>
                      <a:pt x="0" y="44"/>
                      <a:pt x="3" y="41"/>
                      <a:pt x="6" y="41"/>
                    </a:cubicBezTo>
                    <a:cubicBezTo>
                      <a:pt x="9" y="41"/>
                      <a:pt x="12" y="44"/>
                      <a:pt x="12" y="47"/>
                    </a:cubicBezTo>
                    <a:cubicBezTo>
                      <a:pt x="12" y="52"/>
                      <a:pt x="15" y="55"/>
                      <a:pt x="20" y="55"/>
                    </a:cubicBezTo>
                    <a:cubicBezTo>
                      <a:pt x="24" y="55"/>
                      <a:pt x="28" y="52"/>
                      <a:pt x="28" y="47"/>
                    </a:cubicBezTo>
                    <a:cubicBezTo>
                      <a:pt x="28" y="43"/>
                      <a:pt x="24" y="39"/>
                      <a:pt x="20" y="39"/>
                    </a:cubicBezTo>
                    <a:cubicBezTo>
                      <a:pt x="9" y="39"/>
                      <a:pt x="0" y="30"/>
                      <a:pt x="0" y="19"/>
                    </a:cubicBezTo>
                    <a:cubicBezTo>
                      <a:pt x="0" y="8"/>
                      <a:pt x="9" y="0"/>
                      <a:pt x="20" y="0"/>
                    </a:cubicBezTo>
                    <a:cubicBezTo>
                      <a:pt x="31" y="0"/>
                      <a:pt x="40" y="8"/>
                      <a:pt x="40" y="19"/>
                    </a:cubicBezTo>
                    <a:cubicBezTo>
                      <a:pt x="40" y="23"/>
                      <a:pt x="37" y="25"/>
                      <a:pt x="34" y="25"/>
                    </a:cubicBezTo>
                    <a:cubicBezTo>
                      <a:pt x="30" y="25"/>
                      <a:pt x="28" y="23"/>
                      <a:pt x="28" y="19"/>
                    </a:cubicBezTo>
                    <a:cubicBezTo>
                      <a:pt x="28" y="15"/>
                      <a:pt x="24" y="12"/>
                      <a:pt x="20" y="12"/>
                    </a:cubicBezTo>
                    <a:cubicBezTo>
                      <a:pt x="15" y="12"/>
                      <a:pt x="12" y="15"/>
                      <a:pt x="12" y="19"/>
                    </a:cubicBezTo>
                    <a:cubicBezTo>
                      <a:pt x="12" y="24"/>
                      <a:pt x="15" y="27"/>
                      <a:pt x="20" y="27"/>
                    </a:cubicBezTo>
                    <a:cubicBezTo>
                      <a:pt x="31" y="27"/>
                      <a:pt x="40" y="36"/>
                      <a:pt x="40" y="47"/>
                    </a:cubicBezTo>
                    <a:cubicBezTo>
                      <a:pt x="40" y="58"/>
                      <a:pt x="31" y="67"/>
                      <a:pt x="20"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59" name="Freeform 22">
                <a:extLst>
                  <a:ext uri="{FF2B5EF4-FFF2-40B4-BE49-F238E27FC236}">
                    <a16:creationId xmlns:a16="http://schemas.microsoft.com/office/drawing/2014/main" id="{6669B3F8-A45B-FF70-B701-1F49FD29C286}"/>
                  </a:ext>
                </a:extLst>
              </p:cNvPr>
              <p:cNvSpPr>
                <a:spLocks/>
              </p:cNvSpPr>
              <p:nvPr/>
            </p:nvSpPr>
            <p:spPr bwMode="auto">
              <a:xfrm>
                <a:off x="2916" y="1024"/>
                <a:ext cx="18" cy="32"/>
              </a:xfrm>
              <a:custGeom>
                <a:avLst/>
                <a:gdLst>
                  <a:gd name="T0" fmla="*/ 6 w 12"/>
                  <a:gd name="T1" fmla="*/ 21 h 21"/>
                  <a:gd name="T2" fmla="*/ 0 w 12"/>
                  <a:gd name="T3" fmla="*/ 15 h 21"/>
                  <a:gd name="T4" fmla="*/ 0 w 12"/>
                  <a:gd name="T5" fmla="*/ 6 h 21"/>
                  <a:gd name="T6" fmla="*/ 6 w 12"/>
                  <a:gd name="T7" fmla="*/ 0 h 21"/>
                  <a:gd name="T8" fmla="*/ 12 w 12"/>
                  <a:gd name="T9" fmla="*/ 6 h 21"/>
                  <a:gd name="T10" fmla="*/ 12 w 12"/>
                  <a:gd name="T11" fmla="*/ 15 h 21"/>
                  <a:gd name="T12" fmla="*/ 6 w 12"/>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12" h="21">
                    <a:moveTo>
                      <a:pt x="6" y="21"/>
                    </a:moveTo>
                    <a:cubicBezTo>
                      <a:pt x="3" y="21"/>
                      <a:pt x="0" y="19"/>
                      <a:pt x="0" y="15"/>
                    </a:cubicBezTo>
                    <a:cubicBezTo>
                      <a:pt x="0" y="6"/>
                      <a:pt x="0" y="6"/>
                      <a:pt x="0" y="6"/>
                    </a:cubicBezTo>
                    <a:cubicBezTo>
                      <a:pt x="0" y="3"/>
                      <a:pt x="3" y="0"/>
                      <a:pt x="6" y="0"/>
                    </a:cubicBezTo>
                    <a:cubicBezTo>
                      <a:pt x="9" y="0"/>
                      <a:pt x="12" y="3"/>
                      <a:pt x="12" y="6"/>
                    </a:cubicBezTo>
                    <a:cubicBezTo>
                      <a:pt x="12" y="15"/>
                      <a:pt x="12" y="15"/>
                      <a:pt x="12" y="15"/>
                    </a:cubicBezTo>
                    <a:cubicBezTo>
                      <a:pt x="12" y="19"/>
                      <a:pt x="9" y="21"/>
                      <a:pt x="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60" name="Freeform 23">
                <a:extLst>
                  <a:ext uri="{FF2B5EF4-FFF2-40B4-BE49-F238E27FC236}">
                    <a16:creationId xmlns:a16="http://schemas.microsoft.com/office/drawing/2014/main" id="{AF320382-3ADB-5E85-DE0B-C0FDEDFF4949}"/>
                  </a:ext>
                </a:extLst>
              </p:cNvPr>
              <p:cNvSpPr>
                <a:spLocks/>
              </p:cNvSpPr>
              <p:nvPr/>
            </p:nvSpPr>
            <p:spPr bwMode="auto">
              <a:xfrm>
                <a:off x="2916" y="927"/>
                <a:ext cx="18" cy="33"/>
              </a:xfrm>
              <a:custGeom>
                <a:avLst/>
                <a:gdLst>
                  <a:gd name="T0" fmla="*/ 6 w 12"/>
                  <a:gd name="T1" fmla="*/ 22 h 22"/>
                  <a:gd name="T2" fmla="*/ 0 w 12"/>
                  <a:gd name="T3" fmla="*/ 16 h 22"/>
                  <a:gd name="T4" fmla="*/ 0 w 12"/>
                  <a:gd name="T5" fmla="*/ 6 h 22"/>
                  <a:gd name="T6" fmla="*/ 6 w 12"/>
                  <a:gd name="T7" fmla="*/ 0 h 22"/>
                  <a:gd name="T8" fmla="*/ 12 w 12"/>
                  <a:gd name="T9" fmla="*/ 6 h 22"/>
                  <a:gd name="T10" fmla="*/ 12 w 12"/>
                  <a:gd name="T11" fmla="*/ 16 h 22"/>
                  <a:gd name="T12" fmla="*/ 6 w 12"/>
                  <a:gd name="T13" fmla="*/ 22 h 22"/>
                </a:gdLst>
                <a:ahLst/>
                <a:cxnLst>
                  <a:cxn ang="0">
                    <a:pos x="T0" y="T1"/>
                  </a:cxn>
                  <a:cxn ang="0">
                    <a:pos x="T2" y="T3"/>
                  </a:cxn>
                  <a:cxn ang="0">
                    <a:pos x="T4" y="T5"/>
                  </a:cxn>
                  <a:cxn ang="0">
                    <a:pos x="T6" y="T7"/>
                  </a:cxn>
                  <a:cxn ang="0">
                    <a:pos x="T8" y="T9"/>
                  </a:cxn>
                  <a:cxn ang="0">
                    <a:pos x="T10" y="T11"/>
                  </a:cxn>
                  <a:cxn ang="0">
                    <a:pos x="T12" y="T13"/>
                  </a:cxn>
                </a:cxnLst>
                <a:rect l="0" t="0" r="r" b="b"/>
                <a:pathLst>
                  <a:path w="12" h="22">
                    <a:moveTo>
                      <a:pt x="6" y="22"/>
                    </a:moveTo>
                    <a:cubicBezTo>
                      <a:pt x="3" y="22"/>
                      <a:pt x="0" y="19"/>
                      <a:pt x="0" y="16"/>
                    </a:cubicBezTo>
                    <a:cubicBezTo>
                      <a:pt x="0" y="6"/>
                      <a:pt x="0" y="6"/>
                      <a:pt x="0" y="6"/>
                    </a:cubicBezTo>
                    <a:cubicBezTo>
                      <a:pt x="0" y="3"/>
                      <a:pt x="3" y="0"/>
                      <a:pt x="6" y="0"/>
                    </a:cubicBezTo>
                    <a:cubicBezTo>
                      <a:pt x="9" y="0"/>
                      <a:pt x="12" y="3"/>
                      <a:pt x="12" y="6"/>
                    </a:cubicBezTo>
                    <a:cubicBezTo>
                      <a:pt x="12" y="16"/>
                      <a:pt x="12" y="16"/>
                      <a:pt x="12" y="16"/>
                    </a:cubicBezTo>
                    <a:cubicBezTo>
                      <a:pt x="12" y="19"/>
                      <a:pt x="9" y="22"/>
                      <a:pt x="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sp>
        <p:nvSpPr>
          <p:cNvPr id="26" name="Marcador de pie de página 25">
            <a:extLst>
              <a:ext uri="{FF2B5EF4-FFF2-40B4-BE49-F238E27FC236}">
                <a16:creationId xmlns:a16="http://schemas.microsoft.com/office/drawing/2014/main" id="{FB1BF91F-4E40-B99A-2574-2D5F4634558A}"/>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7160261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SWOT Analysis</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25091478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493876C2-C941-5629-589B-9D1584918980}"/>
              </a:ext>
            </a:extLst>
          </p:cNvPr>
          <p:cNvGraphicFramePr>
            <a:graphicFrameLocks noChangeAspect="1"/>
          </p:cNvGraphicFramePr>
          <p:nvPr>
            <p:custDataLst>
              <p:tags r:id="rId1"/>
            </p:custDataLst>
            <p:extLst>
              <p:ext uri="{D42A27DB-BD31-4B8C-83A1-F6EECF244321}">
                <p14:modId xmlns:p14="http://schemas.microsoft.com/office/powerpoint/2010/main" val="42605770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07EFF04F-86F2-2330-EC84-A7F1D7D96CAB}"/>
              </a:ext>
            </a:extLst>
          </p:cNvPr>
          <p:cNvSpPr>
            <a:spLocks noGrp="1"/>
          </p:cNvSpPr>
          <p:nvPr>
            <p:ph type="title"/>
          </p:nvPr>
        </p:nvSpPr>
        <p:spPr/>
        <p:txBody>
          <a:bodyPr vert="horz"/>
          <a:lstStyle/>
          <a:p>
            <a:r>
              <a:rPr lang="en-US" dirty="0"/>
              <a:t>SWOT Analysis — Overview</a:t>
            </a:r>
          </a:p>
        </p:txBody>
      </p:sp>
      <p:sp>
        <p:nvSpPr>
          <p:cNvPr id="3" name="Marcador de texto 2">
            <a:extLst>
              <a:ext uri="{FF2B5EF4-FFF2-40B4-BE49-F238E27FC236}">
                <a16:creationId xmlns:a16="http://schemas.microsoft.com/office/drawing/2014/main" id="{C345F006-CF77-8C22-D871-E7AF692DAE18}"/>
              </a:ext>
            </a:extLst>
          </p:cNvPr>
          <p:cNvSpPr>
            <a:spLocks noGrp="1"/>
          </p:cNvSpPr>
          <p:nvPr>
            <p:ph type="body" sz="quarter" idx="18"/>
          </p:nvPr>
        </p:nvSpPr>
        <p:spPr/>
        <p:txBody>
          <a:bodyPr/>
          <a:lstStyle/>
          <a:p>
            <a:r>
              <a:rPr lang="en-US" dirty="0"/>
              <a:t>The origin of SWOT analysis is not entirely clear, but it is believed to have been developed in the 1960s and 1970s by Albert S. Humphrey, a management consultant at the Stanford Research Institute (SRI) in California, USA.</a:t>
            </a:r>
          </a:p>
        </p:txBody>
      </p:sp>
      <p:sp>
        <p:nvSpPr>
          <p:cNvPr id="4" name="Marcador de texto 3">
            <a:extLst>
              <a:ext uri="{FF2B5EF4-FFF2-40B4-BE49-F238E27FC236}">
                <a16:creationId xmlns:a16="http://schemas.microsoft.com/office/drawing/2014/main" id="{222A3758-F9D4-BDDB-33AE-604609020768}"/>
              </a:ext>
            </a:extLst>
          </p:cNvPr>
          <p:cNvSpPr>
            <a:spLocks noGrp="1"/>
          </p:cNvSpPr>
          <p:nvPr>
            <p:ph type="body" sz="quarter" idx="19"/>
          </p:nvPr>
        </p:nvSpPr>
        <p:spPr/>
        <p:txBody>
          <a:bodyPr/>
          <a:lstStyle/>
          <a:p>
            <a:pPr marL="0" indent="0">
              <a:buFont typeface="Arial" panose="020B0604020202020204" pitchFamily="34" charset="0"/>
              <a:buNone/>
            </a:pPr>
            <a:r>
              <a:rPr lang="en-US" dirty="0"/>
              <a:t>A SWOT analysis is a technique for assessing these four aspects of a business to analyze what a company does best now, and devise a successful strategy for the future. SWOT stands for:</a:t>
            </a:r>
          </a:p>
          <a:p>
            <a:r>
              <a:rPr lang="en-US" b="1" dirty="0"/>
              <a:t>Strengths: </a:t>
            </a:r>
            <a:r>
              <a:rPr lang="en-US" dirty="0"/>
              <a:t>What do you do well? What unique resources can you draw on? What do others see as your strengths?</a:t>
            </a:r>
          </a:p>
          <a:p>
            <a:r>
              <a:rPr lang="en-US" b="1" dirty="0"/>
              <a:t>Weaknesses: </a:t>
            </a:r>
            <a:r>
              <a:rPr lang="en-US" dirty="0"/>
              <a:t>What could you improve? Where do you have fewer resources than others? What are others likely to see as weaknesses?</a:t>
            </a:r>
          </a:p>
          <a:p>
            <a:r>
              <a:rPr lang="en-US" b="1" dirty="0"/>
              <a:t>Opportunities: </a:t>
            </a:r>
            <a:r>
              <a:rPr lang="en-US" dirty="0"/>
              <a:t>What opportunities are open to you? What trends could you take advantage of? How can you turn your strengths into opportunities?</a:t>
            </a:r>
          </a:p>
          <a:p>
            <a:r>
              <a:rPr lang="en-US" b="1" dirty="0"/>
              <a:t>Threats: </a:t>
            </a:r>
            <a:r>
              <a:rPr lang="en-US" dirty="0"/>
              <a:t>What threats could harm you? What is your competition doing? What threats do your weaknesses expose?</a:t>
            </a:r>
          </a:p>
        </p:txBody>
      </p:sp>
      <p:sp>
        <p:nvSpPr>
          <p:cNvPr id="5" name="Marcador de texto 4">
            <a:extLst>
              <a:ext uri="{FF2B5EF4-FFF2-40B4-BE49-F238E27FC236}">
                <a16:creationId xmlns:a16="http://schemas.microsoft.com/office/drawing/2014/main" id="{7F53CD22-03AB-F3ED-8D47-5EA11EBB4ED3}"/>
              </a:ext>
            </a:extLst>
          </p:cNvPr>
          <p:cNvSpPr>
            <a:spLocks noGrp="1"/>
          </p:cNvSpPr>
          <p:nvPr>
            <p:ph type="body" sz="quarter" idx="20"/>
          </p:nvPr>
        </p:nvSpPr>
        <p:spPr/>
        <p:txBody>
          <a:bodyPr/>
          <a:lstStyle/>
          <a:p>
            <a:r>
              <a:rPr lang="en-US" b="1" dirty="0"/>
              <a:t>Market Entry Strategy: </a:t>
            </a:r>
            <a:r>
              <a:rPr lang="en-US" dirty="0"/>
              <a:t>Identify the internal strengths and weaknesses of the company as well as external opportunities and threats in the new market. </a:t>
            </a:r>
          </a:p>
          <a:p>
            <a:r>
              <a:rPr lang="en-US" b="1" dirty="0"/>
              <a:t>Business Unit Strategy: </a:t>
            </a:r>
            <a:r>
              <a:rPr lang="en-US" dirty="0"/>
              <a:t>Evaluate the strengths and weaknesses of a business unit within an organization, as well as external opportunities and threats in the market. This can help the company identify areas for improvement and develop a strategic plan for the business unit.</a:t>
            </a:r>
          </a:p>
          <a:p>
            <a:r>
              <a:rPr lang="en-US" b="1" dirty="0"/>
              <a:t>Corporate Strategy: </a:t>
            </a:r>
            <a:r>
              <a:rPr lang="en-US" dirty="0"/>
              <a:t>Evaluate the strengths and weaknesses of the entire organization, as well as external opportunities and threats in the market. This can help the company develop a corporate strategy that aligns with its strengths and takes advantage of external opportunities while minimizing threats.</a:t>
            </a:r>
          </a:p>
          <a:p>
            <a:r>
              <a:rPr lang="en-US" b="1" dirty="0"/>
              <a:t>Mergers and Acquisitions: </a:t>
            </a:r>
            <a:r>
              <a:rPr lang="en-US" dirty="0"/>
              <a:t>Evaluate the strengths and weaknesses of both companies involved in a merger or acquisition, as well as external opportunities and threats in the market. This can help the companies identify potential synergies and risks involved in the deal.</a:t>
            </a:r>
          </a:p>
        </p:txBody>
      </p:sp>
      <p:sp>
        <p:nvSpPr>
          <p:cNvPr id="11" name="Marcador de pie de página 10">
            <a:extLst>
              <a:ext uri="{FF2B5EF4-FFF2-40B4-BE49-F238E27FC236}">
                <a16:creationId xmlns:a16="http://schemas.microsoft.com/office/drawing/2014/main" id="{AC69C44A-785F-64E4-3498-8112208E4DDA}"/>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9173949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p:txBody>
          <a:bodyPr/>
          <a:lstStyle/>
          <a:p>
            <a:r>
              <a:rPr lang="en-US" dirty="0"/>
              <a:t>SWOT Analysis — Template</a:t>
            </a:r>
          </a:p>
        </p:txBody>
      </p:sp>
      <p:sp>
        <p:nvSpPr>
          <p:cNvPr id="7" name="Rectángulo 6">
            <a:extLst>
              <a:ext uri="{FF2B5EF4-FFF2-40B4-BE49-F238E27FC236}">
                <a16:creationId xmlns:a16="http://schemas.microsoft.com/office/drawing/2014/main" id="{DD6DDDDE-F45F-171B-5204-5D5CF8D6F74F}"/>
              </a:ext>
            </a:extLst>
          </p:cNvPr>
          <p:cNvSpPr/>
          <p:nvPr/>
        </p:nvSpPr>
        <p:spPr>
          <a:xfrm>
            <a:off x="659621" y="1152525"/>
            <a:ext cx="5580452" cy="2422943"/>
          </a:xfrm>
          <a:prstGeom prst="rect">
            <a:avLst/>
          </a:prstGeom>
          <a:solidFill>
            <a:srgbClr val="E8E8E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algn="ctr"/>
            <a:r>
              <a:rPr lang="en-US" sz="1600" b="1" dirty="0">
                <a:solidFill>
                  <a:schemeClr val="tx2"/>
                </a:solidFill>
              </a:rPr>
              <a:t>Strengths</a:t>
            </a:r>
          </a:p>
        </p:txBody>
      </p:sp>
      <p:sp>
        <p:nvSpPr>
          <p:cNvPr id="10" name="Rectángulo 9">
            <a:extLst>
              <a:ext uri="{FF2B5EF4-FFF2-40B4-BE49-F238E27FC236}">
                <a16:creationId xmlns:a16="http://schemas.microsoft.com/office/drawing/2014/main" id="{3B09160D-1FE8-D1E6-EF05-0BEFBDFC497F}"/>
              </a:ext>
            </a:extLst>
          </p:cNvPr>
          <p:cNvSpPr/>
          <p:nvPr/>
        </p:nvSpPr>
        <p:spPr>
          <a:xfrm>
            <a:off x="6240073" y="1152525"/>
            <a:ext cx="5580452" cy="24229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algn="ctr"/>
            <a:r>
              <a:rPr lang="en-US" sz="1600" b="1" dirty="0">
                <a:solidFill>
                  <a:schemeClr val="tx2"/>
                </a:solidFill>
              </a:rPr>
              <a:t>Weaknesses</a:t>
            </a:r>
          </a:p>
        </p:txBody>
      </p:sp>
      <p:sp>
        <p:nvSpPr>
          <p:cNvPr id="11" name="Rectángulo 10">
            <a:extLst>
              <a:ext uri="{FF2B5EF4-FFF2-40B4-BE49-F238E27FC236}">
                <a16:creationId xmlns:a16="http://schemas.microsoft.com/office/drawing/2014/main" id="{D4A4F9E8-E5AF-FF6C-AA90-45FF5B6E36D7}"/>
              </a:ext>
            </a:extLst>
          </p:cNvPr>
          <p:cNvSpPr/>
          <p:nvPr/>
        </p:nvSpPr>
        <p:spPr>
          <a:xfrm>
            <a:off x="659621" y="3575468"/>
            <a:ext cx="5580452" cy="24229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algn="ctr"/>
            <a:r>
              <a:rPr lang="en-US" sz="1600" b="1" dirty="0">
                <a:solidFill>
                  <a:schemeClr val="tx2"/>
                </a:solidFill>
              </a:rPr>
              <a:t>Opportunities</a:t>
            </a:r>
          </a:p>
        </p:txBody>
      </p:sp>
      <p:sp>
        <p:nvSpPr>
          <p:cNvPr id="12" name="Rectángulo 11">
            <a:extLst>
              <a:ext uri="{FF2B5EF4-FFF2-40B4-BE49-F238E27FC236}">
                <a16:creationId xmlns:a16="http://schemas.microsoft.com/office/drawing/2014/main" id="{E3B1AFAA-714A-71B9-9F01-62AC4E694ABE}"/>
              </a:ext>
            </a:extLst>
          </p:cNvPr>
          <p:cNvSpPr/>
          <p:nvPr/>
        </p:nvSpPr>
        <p:spPr>
          <a:xfrm>
            <a:off x="6240073" y="3575468"/>
            <a:ext cx="5580452" cy="2422943"/>
          </a:xfrm>
          <a:prstGeom prst="rect">
            <a:avLst/>
          </a:prstGeom>
          <a:solidFill>
            <a:srgbClr val="E8E8E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algn="ctr"/>
            <a:r>
              <a:rPr lang="en-US" sz="1600" b="1" dirty="0">
                <a:solidFill>
                  <a:schemeClr val="tx2"/>
                </a:solidFill>
              </a:rPr>
              <a:t>Threats</a:t>
            </a:r>
          </a:p>
        </p:txBody>
      </p:sp>
      <p:sp>
        <p:nvSpPr>
          <p:cNvPr id="13" name="TextBox 25">
            <a:extLst>
              <a:ext uri="{FF2B5EF4-FFF2-40B4-BE49-F238E27FC236}">
                <a16:creationId xmlns:a16="http://schemas.microsoft.com/office/drawing/2014/main" id="{155AABBE-EC53-A537-D4C0-2A2FD9EF82E4}"/>
              </a:ext>
            </a:extLst>
          </p:cNvPr>
          <p:cNvSpPr txBox="1"/>
          <p:nvPr/>
        </p:nvSpPr>
        <p:spPr>
          <a:xfrm rot="16200000">
            <a:off x="-353789" y="2235312"/>
            <a:ext cx="1738678" cy="257369"/>
          </a:xfrm>
          <a:prstGeom prst="rect">
            <a:avLst/>
          </a:prstGeom>
          <a:noFill/>
          <a:ln w="19050">
            <a:noFill/>
          </a:ln>
        </p:spPr>
        <p:txBody>
          <a:bodyPr wrap="square" lIns="0" tIns="0" rIns="0" bIns="72000" rtlCol="0" anchor="b">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Internal</a:t>
            </a:r>
          </a:p>
        </p:txBody>
      </p:sp>
      <p:sp>
        <p:nvSpPr>
          <p:cNvPr id="14" name="TextBox 25">
            <a:extLst>
              <a:ext uri="{FF2B5EF4-FFF2-40B4-BE49-F238E27FC236}">
                <a16:creationId xmlns:a16="http://schemas.microsoft.com/office/drawing/2014/main" id="{3C73BDA1-A611-0433-4BEE-4C0E5A9219FA}"/>
              </a:ext>
            </a:extLst>
          </p:cNvPr>
          <p:cNvSpPr txBox="1"/>
          <p:nvPr/>
        </p:nvSpPr>
        <p:spPr>
          <a:xfrm>
            <a:off x="2157565" y="6051355"/>
            <a:ext cx="2584564" cy="257369"/>
          </a:xfrm>
          <a:prstGeom prst="rect">
            <a:avLst/>
          </a:prstGeom>
          <a:noFill/>
          <a:ln w="19050">
            <a:noFill/>
          </a:ln>
        </p:spPr>
        <p:txBody>
          <a:bodyPr wrap="square" lIns="0" tIns="72000" rIns="0" bIns="0" rtlCol="0" anchor="b">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Positive</a:t>
            </a:r>
          </a:p>
        </p:txBody>
      </p:sp>
      <p:sp>
        <p:nvSpPr>
          <p:cNvPr id="15" name="TextBox 25">
            <a:extLst>
              <a:ext uri="{FF2B5EF4-FFF2-40B4-BE49-F238E27FC236}">
                <a16:creationId xmlns:a16="http://schemas.microsoft.com/office/drawing/2014/main" id="{E3CD0BB4-D293-31C5-1889-20E97FA57526}"/>
              </a:ext>
            </a:extLst>
          </p:cNvPr>
          <p:cNvSpPr txBox="1"/>
          <p:nvPr/>
        </p:nvSpPr>
        <p:spPr>
          <a:xfrm>
            <a:off x="7738017" y="6051355"/>
            <a:ext cx="2584564" cy="257369"/>
          </a:xfrm>
          <a:prstGeom prst="rect">
            <a:avLst/>
          </a:prstGeom>
          <a:noFill/>
          <a:ln w="19050">
            <a:noFill/>
          </a:ln>
        </p:spPr>
        <p:txBody>
          <a:bodyPr wrap="square" lIns="0" tIns="72000" rIns="0" bIns="0" rtlCol="0" anchor="b">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Negative</a:t>
            </a:r>
          </a:p>
        </p:txBody>
      </p:sp>
      <p:sp>
        <p:nvSpPr>
          <p:cNvPr id="16" name="TextBox 25">
            <a:extLst>
              <a:ext uri="{FF2B5EF4-FFF2-40B4-BE49-F238E27FC236}">
                <a16:creationId xmlns:a16="http://schemas.microsoft.com/office/drawing/2014/main" id="{78322D32-F3ED-F975-2123-BB8DFF380E13}"/>
              </a:ext>
            </a:extLst>
          </p:cNvPr>
          <p:cNvSpPr txBox="1"/>
          <p:nvPr/>
        </p:nvSpPr>
        <p:spPr>
          <a:xfrm rot="16200000">
            <a:off x="-341091" y="4658255"/>
            <a:ext cx="1738678" cy="257369"/>
          </a:xfrm>
          <a:prstGeom prst="rect">
            <a:avLst/>
          </a:prstGeom>
          <a:noFill/>
          <a:ln w="19050">
            <a:noFill/>
          </a:ln>
        </p:spPr>
        <p:txBody>
          <a:bodyPr wrap="square" lIns="0" tIns="0" rIns="0" bIns="72000" rtlCol="0" anchor="b">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External</a:t>
            </a:r>
          </a:p>
        </p:txBody>
      </p:sp>
      <p:sp>
        <p:nvSpPr>
          <p:cNvPr id="17" name="TextBox 25">
            <a:extLst>
              <a:ext uri="{FF2B5EF4-FFF2-40B4-BE49-F238E27FC236}">
                <a16:creationId xmlns:a16="http://schemas.microsoft.com/office/drawing/2014/main" id="{3C864F20-6661-19EA-7B07-915C30888659}"/>
              </a:ext>
            </a:extLst>
          </p:cNvPr>
          <p:cNvSpPr txBox="1"/>
          <p:nvPr/>
        </p:nvSpPr>
        <p:spPr>
          <a:xfrm>
            <a:off x="659622" y="1585085"/>
            <a:ext cx="5580452" cy="553998"/>
          </a:xfrm>
          <a:prstGeom prst="rect">
            <a:avLst/>
          </a:prstGeom>
          <a:noFill/>
        </p:spPr>
        <p:txBody>
          <a:bodyPr wrap="square" lIns="72000" tIns="0" rIns="36000" bIns="0" rtlCol="0" anchor="t">
            <a:spAutoFit/>
          </a:bodyPr>
          <a:lstStyle/>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18" name="TextBox 25">
            <a:extLst>
              <a:ext uri="{FF2B5EF4-FFF2-40B4-BE49-F238E27FC236}">
                <a16:creationId xmlns:a16="http://schemas.microsoft.com/office/drawing/2014/main" id="{0B19E6F8-1D70-E4EE-25C5-887F0E428351}"/>
              </a:ext>
            </a:extLst>
          </p:cNvPr>
          <p:cNvSpPr txBox="1"/>
          <p:nvPr/>
        </p:nvSpPr>
        <p:spPr>
          <a:xfrm>
            <a:off x="6240073" y="1585085"/>
            <a:ext cx="5580452" cy="553998"/>
          </a:xfrm>
          <a:prstGeom prst="rect">
            <a:avLst/>
          </a:prstGeom>
          <a:noFill/>
        </p:spPr>
        <p:txBody>
          <a:bodyPr wrap="square" lIns="72000" tIns="0" rIns="36000" bIns="0" rtlCol="0" anchor="t">
            <a:spAutoFit/>
          </a:bodyPr>
          <a:lstStyle/>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19" name="TextBox 25">
            <a:extLst>
              <a:ext uri="{FF2B5EF4-FFF2-40B4-BE49-F238E27FC236}">
                <a16:creationId xmlns:a16="http://schemas.microsoft.com/office/drawing/2014/main" id="{22C5A8A5-ABAA-9817-7D2E-8B4B8247BEF9}"/>
              </a:ext>
            </a:extLst>
          </p:cNvPr>
          <p:cNvSpPr txBox="1"/>
          <p:nvPr/>
        </p:nvSpPr>
        <p:spPr>
          <a:xfrm>
            <a:off x="659622" y="4008027"/>
            <a:ext cx="5580452" cy="553998"/>
          </a:xfrm>
          <a:prstGeom prst="rect">
            <a:avLst/>
          </a:prstGeom>
          <a:noFill/>
        </p:spPr>
        <p:txBody>
          <a:bodyPr wrap="square" lIns="72000" tIns="0" rIns="36000" bIns="0" rtlCol="0" anchor="t">
            <a:spAutoFit/>
          </a:bodyPr>
          <a:lstStyle/>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20" name="TextBox 25">
            <a:extLst>
              <a:ext uri="{FF2B5EF4-FFF2-40B4-BE49-F238E27FC236}">
                <a16:creationId xmlns:a16="http://schemas.microsoft.com/office/drawing/2014/main" id="{926BE5FF-6413-9322-91D8-89C03BC3C336}"/>
              </a:ext>
            </a:extLst>
          </p:cNvPr>
          <p:cNvSpPr txBox="1"/>
          <p:nvPr/>
        </p:nvSpPr>
        <p:spPr>
          <a:xfrm>
            <a:off x="6240073" y="4008027"/>
            <a:ext cx="5580452" cy="553998"/>
          </a:xfrm>
          <a:prstGeom prst="rect">
            <a:avLst/>
          </a:prstGeom>
          <a:noFill/>
        </p:spPr>
        <p:txBody>
          <a:bodyPr wrap="square" lIns="72000" tIns="0" rIns="36000" bIns="0" rtlCol="0" anchor="t">
            <a:spAutoFit/>
          </a:bodyPr>
          <a:lstStyle/>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4" name="Marcador de pie de página 3">
            <a:extLst>
              <a:ext uri="{FF2B5EF4-FFF2-40B4-BE49-F238E27FC236}">
                <a16:creationId xmlns:a16="http://schemas.microsoft.com/office/drawing/2014/main" id="{2AE15EE7-9248-9B38-9067-DE68A10D3914}"/>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9005377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Profitability Framework</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35564351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8E50C80D-7E6D-C0B0-2C8D-1C8622443D34}"/>
              </a:ext>
            </a:extLst>
          </p:cNvPr>
          <p:cNvGraphicFramePr>
            <a:graphicFrameLocks noChangeAspect="1"/>
          </p:cNvGraphicFramePr>
          <p:nvPr>
            <p:custDataLst>
              <p:tags r:id="rId1"/>
            </p:custDataLst>
            <p:extLst>
              <p:ext uri="{D42A27DB-BD31-4B8C-83A1-F6EECF244321}">
                <p14:modId xmlns:p14="http://schemas.microsoft.com/office/powerpoint/2010/main" val="3638249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24912169-4FF6-1408-9A2E-4CDE45FF503A}"/>
              </a:ext>
            </a:extLst>
          </p:cNvPr>
          <p:cNvSpPr>
            <a:spLocks noGrp="1"/>
          </p:cNvSpPr>
          <p:nvPr>
            <p:ph type="title"/>
          </p:nvPr>
        </p:nvSpPr>
        <p:spPr/>
        <p:txBody>
          <a:bodyPr vert="horz"/>
          <a:lstStyle/>
          <a:p>
            <a:r>
              <a:rPr lang="en-US" dirty="0"/>
              <a:t>Profitability Framework — Overview</a:t>
            </a:r>
          </a:p>
        </p:txBody>
      </p:sp>
      <p:sp>
        <p:nvSpPr>
          <p:cNvPr id="3" name="Marcador de texto 2">
            <a:extLst>
              <a:ext uri="{FF2B5EF4-FFF2-40B4-BE49-F238E27FC236}">
                <a16:creationId xmlns:a16="http://schemas.microsoft.com/office/drawing/2014/main" id="{531E2901-51CA-F70E-1EB3-DA61045A0097}"/>
              </a:ext>
            </a:extLst>
          </p:cNvPr>
          <p:cNvSpPr>
            <a:spLocks noGrp="1"/>
          </p:cNvSpPr>
          <p:nvPr>
            <p:ph type="body" sz="quarter" idx="18"/>
          </p:nvPr>
        </p:nvSpPr>
        <p:spPr/>
        <p:txBody>
          <a:bodyPr/>
          <a:lstStyle/>
          <a:p>
            <a:r>
              <a:rPr lang="en-US" dirty="0"/>
              <a:t>It is not clear who exactly originated the Profitability Framework, as it has likely evolved over time through various business practices and research. However, the framework is commonly used and taught in business schools and consulting firms today.</a:t>
            </a:r>
          </a:p>
        </p:txBody>
      </p:sp>
      <p:sp>
        <p:nvSpPr>
          <p:cNvPr id="4" name="Marcador de texto 3">
            <a:extLst>
              <a:ext uri="{FF2B5EF4-FFF2-40B4-BE49-F238E27FC236}">
                <a16:creationId xmlns:a16="http://schemas.microsoft.com/office/drawing/2014/main" id="{175958FA-C281-B8DD-1422-8FEDBE7F2FD7}"/>
              </a:ext>
            </a:extLst>
          </p:cNvPr>
          <p:cNvSpPr>
            <a:spLocks noGrp="1"/>
          </p:cNvSpPr>
          <p:nvPr>
            <p:ph type="body" sz="quarter" idx="19"/>
          </p:nvPr>
        </p:nvSpPr>
        <p:spPr/>
        <p:txBody>
          <a:bodyPr/>
          <a:lstStyle/>
          <a:p>
            <a:pPr marL="0" indent="0">
              <a:buFont typeface="Arial" panose="020B0604020202020204" pitchFamily="34" charset="0"/>
              <a:buNone/>
            </a:pPr>
            <a:r>
              <a:rPr lang="en-US" dirty="0"/>
              <a:t>The Profitability Framework is a tool used in business and consulting to analyze and improve the profitability of a company.</a:t>
            </a:r>
          </a:p>
          <a:p>
            <a:pPr marL="0" indent="0">
              <a:buFont typeface="Arial" panose="020B0604020202020204" pitchFamily="34" charset="0"/>
              <a:buNone/>
            </a:pPr>
            <a:r>
              <a:rPr lang="en-US" dirty="0"/>
              <a:t>It typically involves analyzing a company's revenue and costs, identifying areas of inefficiency or waste, and developing strategies to increase revenue and reduce costs. It may also involve analyzing market trends, competition, and customer behavior to identify opportunities for growth and increased profitability.</a:t>
            </a:r>
          </a:p>
          <a:p>
            <a:pPr marL="0" indent="0">
              <a:buFont typeface="Arial" panose="020B0604020202020204" pitchFamily="34" charset="0"/>
              <a:buNone/>
            </a:pPr>
            <a:r>
              <a:rPr lang="en-US" dirty="0"/>
              <a:t>Overall, the Profitability Framework is a valuable tool for companies looking to improve their financial performance and make data-driven decisions.</a:t>
            </a:r>
          </a:p>
        </p:txBody>
      </p:sp>
      <p:sp>
        <p:nvSpPr>
          <p:cNvPr id="5" name="Marcador de texto 4">
            <a:extLst>
              <a:ext uri="{FF2B5EF4-FFF2-40B4-BE49-F238E27FC236}">
                <a16:creationId xmlns:a16="http://schemas.microsoft.com/office/drawing/2014/main" id="{56E46744-8306-C839-4997-3C50A0EFA7EA}"/>
              </a:ext>
            </a:extLst>
          </p:cNvPr>
          <p:cNvSpPr>
            <a:spLocks noGrp="1"/>
          </p:cNvSpPr>
          <p:nvPr>
            <p:ph type="body" sz="quarter" idx="20"/>
          </p:nvPr>
        </p:nvSpPr>
        <p:spPr/>
        <p:txBody>
          <a:bodyPr/>
          <a:lstStyle/>
          <a:p>
            <a:r>
              <a:rPr lang="en-US" b="1" dirty="0"/>
              <a:t>Cost Reduction Projects: </a:t>
            </a:r>
            <a:r>
              <a:rPr lang="en-US" dirty="0"/>
              <a:t>Analyzing the company's expenses and identifying areas where costs can be reduced without compromising quality or customer service. This helps identify the most significant cost drivers, prioritize the areas where cost reductions would have the biggest impact, and develop a plan to reduce costs.</a:t>
            </a:r>
          </a:p>
          <a:p>
            <a:r>
              <a:rPr lang="en-US" b="1" dirty="0"/>
              <a:t>Pricing Strategy Projects: </a:t>
            </a:r>
            <a:r>
              <a:rPr lang="en-US" dirty="0"/>
              <a:t>Analyzing the market, understanding customer needs and preferences, and developing a pricing strategy that maximizes profits. The profitability framework would be useful in this project as it would help determine the optimal price points that maximize revenue and profit.</a:t>
            </a:r>
          </a:p>
          <a:p>
            <a:r>
              <a:rPr lang="en-US" b="1" dirty="0"/>
              <a:t>Product and Service Mix Projects: </a:t>
            </a:r>
            <a:r>
              <a:rPr lang="en-US" dirty="0"/>
              <a:t>Analyzing the profitability of each product and service, identifying areas where the company can optimize its product and service mix, and developing a plan to increase profitability. The profitability framework would be a useful tool in this project as it would help determine which products and services contribute most to profits and which ones are dragging down profitability.</a:t>
            </a:r>
          </a:p>
        </p:txBody>
      </p:sp>
      <p:sp>
        <p:nvSpPr>
          <p:cNvPr id="11" name="Marcador de pie de página 10">
            <a:extLst>
              <a:ext uri="{FF2B5EF4-FFF2-40B4-BE49-F238E27FC236}">
                <a16:creationId xmlns:a16="http://schemas.microsoft.com/office/drawing/2014/main" id="{3B3233A2-3449-6755-4E55-8D00C18E74BA}"/>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1167997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9" name="Objeto 1038" hidden="1">
            <a:extLst>
              <a:ext uri="{FF2B5EF4-FFF2-40B4-BE49-F238E27FC236}">
                <a16:creationId xmlns:a16="http://schemas.microsoft.com/office/drawing/2014/main" id="{BF936B1D-EBF8-21A1-6C39-1BAB27156BF4}"/>
              </a:ext>
            </a:extLst>
          </p:cNvPr>
          <p:cNvGraphicFramePr>
            <a:graphicFrameLocks noChangeAspect="1"/>
          </p:cNvGraphicFramePr>
          <p:nvPr>
            <p:custDataLst>
              <p:tags r:id="rId1"/>
            </p:custDataLst>
            <p:extLst>
              <p:ext uri="{D42A27DB-BD31-4B8C-83A1-F6EECF244321}">
                <p14:modId xmlns:p14="http://schemas.microsoft.com/office/powerpoint/2010/main" val="4961621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43" name="Rectángulo 1042">
            <a:extLst>
              <a:ext uri="{FF2B5EF4-FFF2-40B4-BE49-F238E27FC236}">
                <a16:creationId xmlns:a16="http://schemas.microsoft.com/office/drawing/2014/main" id="{8D1EAC8F-663B-13FE-3B27-5E368A5612C6}"/>
              </a:ext>
            </a:extLst>
          </p:cNvPr>
          <p:cNvSpPr/>
          <p:nvPr/>
        </p:nvSpPr>
        <p:spPr>
          <a:xfrm>
            <a:off x="9048750" y="1520825"/>
            <a:ext cx="2771775" cy="47879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p:txBody>
          <a:bodyPr vert="horz"/>
          <a:lstStyle/>
          <a:p>
            <a:r>
              <a:rPr lang="en-US" dirty="0"/>
              <a:t>Profitability Framework — Template</a:t>
            </a:r>
          </a:p>
        </p:txBody>
      </p:sp>
      <p:sp>
        <p:nvSpPr>
          <p:cNvPr id="2" name="TextBox 25">
            <a:extLst>
              <a:ext uri="{FF2B5EF4-FFF2-40B4-BE49-F238E27FC236}">
                <a16:creationId xmlns:a16="http://schemas.microsoft.com/office/drawing/2014/main" id="{2412910B-CD78-1ED7-186F-E2F87755FDFD}"/>
              </a:ext>
            </a:extLst>
          </p:cNvPr>
          <p:cNvSpPr txBox="1"/>
          <p:nvPr/>
        </p:nvSpPr>
        <p:spPr>
          <a:xfrm>
            <a:off x="371475" y="3467413"/>
            <a:ext cx="1769745" cy="288147"/>
          </a:xfrm>
          <a:prstGeom prst="rect">
            <a:avLst/>
          </a:prstGeom>
          <a:solidFill>
            <a:schemeClr val="tx2"/>
          </a:solidFill>
        </p:spPr>
        <p:txBody>
          <a:bodyPr wrap="square" lIns="36000" tIns="36000" rIns="36000" bIns="3600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$100 MM</a:t>
            </a:r>
          </a:p>
        </p:txBody>
      </p:sp>
      <p:sp>
        <p:nvSpPr>
          <p:cNvPr id="4" name="TextBox 25">
            <a:extLst>
              <a:ext uri="{FF2B5EF4-FFF2-40B4-BE49-F238E27FC236}">
                <a16:creationId xmlns:a16="http://schemas.microsoft.com/office/drawing/2014/main" id="{0648D513-CD39-8C9C-B5AE-5AD0401FEB23}"/>
              </a:ext>
            </a:extLst>
          </p:cNvPr>
          <p:cNvSpPr txBox="1"/>
          <p:nvPr/>
        </p:nvSpPr>
        <p:spPr>
          <a:xfrm>
            <a:off x="371475" y="3755560"/>
            <a:ext cx="1769745" cy="606578"/>
          </a:xfrm>
          <a:prstGeom prst="rect">
            <a:avLst/>
          </a:prstGeom>
          <a:solidFill>
            <a:schemeClr val="bg1">
              <a:lumMod val="95000"/>
            </a:schemeClr>
          </a:solidFill>
        </p:spPr>
        <p:txBody>
          <a:bodyPr wrap="square" lIns="36000" tIns="36000" rIns="36000" bIns="36000" rtlCol="0" anchor="t">
            <a:noAutofit/>
          </a:bodyPr>
          <a:lstStyle/>
          <a:p>
            <a:pPr marR="0" lvl="0" algn="l" defTabSz="914400" rtl="0" eaLnBrk="1" fontAlgn="auto" latinLnBrk="0" hangingPunct="1">
              <a:lnSpc>
                <a:spcPct val="100000"/>
              </a:lnSpc>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Profits</a:t>
            </a:r>
          </a:p>
        </p:txBody>
      </p:sp>
      <p:sp>
        <p:nvSpPr>
          <p:cNvPr id="25" name="TextBox 25">
            <a:extLst>
              <a:ext uri="{FF2B5EF4-FFF2-40B4-BE49-F238E27FC236}">
                <a16:creationId xmlns:a16="http://schemas.microsoft.com/office/drawing/2014/main" id="{C7042CA0-12AB-32CA-4892-D3194F3C4679}"/>
              </a:ext>
            </a:extLst>
          </p:cNvPr>
          <p:cNvSpPr txBox="1"/>
          <p:nvPr/>
        </p:nvSpPr>
        <p:spPr>
          <a:xfrm>
            <a:off x="4710113" y="1520825"/>
            <a:ext cx="1769745" cy="288147"/>
          </a:xfrm>
          <a:prstGeom prst="rect">
            <a:avLst/>
          </a:prstGeom>
          <a:solidFill>
            <a:schemeClr val="tx2"/>
          </a:solidFill>
        </p:spPr>
        <p:txBody>
          <a:bodyPr wrap="square" lIns="36000" tIns="36000" rIns="36000" bIns="3600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10 MM</a:t>
            </a:r>
          </a:p>
        </p:txBody>
      </p:sp>
      <p:sp>
        <p:nvSpPr>
          <p:cNvPr id="26" name="TextBox 25">
            <a:extLst>
              <a:ext uri="{FF2B5EF4-FFF2-40B4-BE49-F238E27FC236}">
                <a16:creationId xmlns:a16="http://schemas.microsoft.com/office/drawing/2014/main" id="{42071DE6-DC82-3004-4CC5-8F5DD48EAA5C}"/>
              </a:ext>
            </a:extLst>
          </p:cNvPr>
          <p:cNvSpPr txBox="1"/>
          <p:nvPr/>
        </p:nvSpPr>
        <p:spPr>
          <a:xfrm>
            <a:off x="4710113" y="1808972"/>
            <a:ext cx="1769745" cy="606578"/>
          </a:xfrm>
          <a:prstGeom prst="rect">
            <a:avLst/>
          </a:prstGeom>
          <a:solidFill>
            <a:schemeClr val="bg1">
              <a:lumMod val="95000"/>
            </a:schemeClr>
          </a:solidFill>
        </p:spPr>
        <p:txBody>
          <a:bodyPr wrap="square" lIns="36000" tIns="36000" rIns="36000" bIns="36000" rtlCol="0" anchor="t">
            <a:noAutofit/>
          </a:bodyPr>
          <a:lstStyle/>
          <a:p>
            <a:pPr marR="0" lvl="0" algn="l" defTabSz="914400" rtl="0" eaLnBrk="1" fontAlgn="auto" latinLnBrk="0" hangingPunct="1">
              <a:lnSpc>
                <a:spcPct val="100000"/>
              </a:lnSpc>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Volume</a:t>
            </a:r>
          </a:p>
        </p:txBody>
      </p:sp>
      <p:sp>
        <p:nvSpPr>
          <p:cNvPr id="27" name="TextBox 25">
            <a:extLst>
              <a:ext uri="{FF2B5EF4-FFF2-40B4-BE49-F238E27FC236}">
                <a16:creationId xmlns:a16="http://schemas.microsoft.com/office/drawing/2014/main" id="{2492BBCF-BE28-3076-F14D-8F0808F247DD}"/>
              </a:ext>
            </a:extLst>
          </p:cNvPr>
          <p:cNvSpPr txBox="1"/>
          <p:nvPr/>
        </p:nvSpPr>
        <p:spPr>
          <a:xfrm>
            <a:off x="4710113" y="2818550"/>
            <a:ext cx="1769745" cy="288147"/>
          </a:xfrm>
          <a:prstGeom prst="rect">
            <a:avLst/>
          </a:prstGeom>
          <a:solidFill>
            <a:schemeClr val="tx2"/>
          </a:solidFill>
        </p:spPr>
        <p:txBody>
          <a:bodyPr wrap="square" lIns="36000" tIns="36000" rIns="36000" bIns="36000" rtlCol="0" anchor="t">
            <a:spAutoFit/>
          </a:bodyPr>
          <a:lstStyle/>
          <a:p>
            <a:pPr marR="0" lvl="0" algn="l" defTabSz="914400" rtl="0" eaLnBrk="1" fontAlgn="auto" latinLnBrk="0" hangingPunct="1">
              <a:lnSpc>
                <a:spcPct val="100000"/>
              </a:lnSpc>
              <a:spcBef>
                <a:spcPts val="300"/>
              </a:spcBef>
              <a:spcAft>
                <a:spcPts val="0"/>
              </a:spcAft>
              <a:buClrTx/>
              <a:buSzTx/>
              <a:tabLst/>
              <a:defRPr/>
            </a:pPr>
            <a:r>
              <a:rPr lang="en-US" sz="1400" b="1" dirty="0">
                <a:solidFill>
                  <a:schemeClr val="bg1"/>
                </a:solidFill>
                <a:latin typeface="Verdana"/>
                <a:ea typeface="Verdana" panose="020B0604030504040204" pitchFamily="34" charset="0"/>
                <a:cs typeface="Verdana" panose="020B0604030504040204" pitchFamily="34" charset="0"/>
                <a:sym typeface="Verdana" panose="020B0604030504040204" pitchFamily="34" charset="0"/>
              </a:rPr>
              <a:t>$30</a:t>
            </a:r>
            <a:endPar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28" name="TextBox 25">
            <a:extLst>
              <a:ext uri="{FF2B5EF4-FFF2-40B4-BE49-F238E27FC236}">
                <a16:creationId xmlns:a16="http://schemas.microsoft.com/office/drawing/2014/main" id="{818C240E-9C87-ACC4-5A51-B91879648D7D}"/>
              </a:ext>
            </a:extLst>
          </p:cNvPr>
          <p:cNvSpPr txBox="1"/>
          <p:nvPr/>
        </p:nvSpPr>
        <p:spPr>
          <a:xfrm>
            <a:off x="4710113" y="3106697"/>
            <a:ext cx="1769745" cy="606578"/>
          </a:xfrm>
          <a:prstGeom prst="rect">
            <a:avLst/>
          </a:prstGeom>
          <a:solidFill>
            <a:schemeClr val="bg1">
              <a:lumMod val="95000"/>
            </a:schemeClr>
          </a:solidFill>
        </p:spPr>
        <p:txBody>
          <a:bodyPr wrap="square" lIns="36000" tIns="36000" rIns="36000" bIns="36000" rtlCol="0" anchor="t">
            <a:noAutofit/>
          </a:bodyPr>
          <a:lstStyle/>
          <a:p>
            <a:pPr marR="0" lvl="0" algn="l" defTabSz="914400" rtl="0" eaLnBrk="1" fontAlgn="auto" latinLnBrk="0" hangingPunct="1">
              <a:lnSpc>
                <a:spcPct val="100000"/>
              </a:lnSpc>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Price per unit</a:t>
            </a:r>
          </a:p>
        </p:txBody>
      </p:sp>
      <p:sp>
        <p:nvSpPr>
          <p:cNvPr id="29" name="TextBox 25">
            <a:extLst>
              <a:ext uri="{FF2B5EF4-FFF2-40B4-BE49-F238E27FC236}">
                <a16:creationId xmlns:a16="http://schemas.microsoft.com/office/drawing/2014/main" id="{A4D02351-B177-393F-504B-773B37BF1B40}"/>
              </a:ext>
            </a:extLst>
          </p:cNvPr>
          <p:cNvSpPr txBox="1"/>
          <p:nvPr/>
        </p:nvSpPr>
        <p:spPr>
          <a:xfrm>
            <a:off x="4710113" y="4116275"/>
            <a:ext cx="1769745" cy="288147"/>
          </a:xfrm>
          <a:prstGeom prst="rect">
            <a:avLst/>
          </a:prstGeom>
          <a:solidFill>
            <a:schemeClr val="tx2"/>
          </a:solidFill>
        </p:spPr>
        <p:txBody>
          <a:bodyPr wrap="square" lIns="36000" tIns="36000" rIns="36000" bIns="3600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$80 MM</a:t>
            </a:r>
          </a:p>
        </p:txBody>
      </p:sp>
      <p:sp>
        <p:nvSpPr>
          <p:cNvPr id="30" name="TextBox 25">
            <a:extLst>
              <a:ext uri="{FF2B5EF4-FFF2-40B4-BE49-F238E27FC236}">
                <a16:creationId xmlns:a16="http://schemas.microsoft.com/office/drawing/2014/main" id="{26AFC69D-8FB5-CD65-7BFA-A6BEA91BAA44}"/>
              </a:ext>
            </a:extLst>
          </p:cNvPr>
          <p:cNvSpPr txBox="1"/>
          <p:nvPr/>
        </p:nvSpPr>
        <p:spPr>
          <a:xfrm>
            <a:off x="4710113" y="4404422"/>
            <a:ext cx="1769745" cy="606578"/>
          </a:xfrm>
          <a:prstGeom prst="rect">
            <a:avLst/>
          </a:prstGeom>
          <a:solidFill>
            <a:schemeClr val="bg1">
              <a:lumMod val="95000"/>
            </a:schemeClr>
          </a:solidFill>
        </p:spPr>
        <p:txBody>
          <a:bodyPr wrap="square" lIns="36000" tIns="36000" rIns="36000" bIns="36000" rtlCol="0" anchor="t">
            <a:noAutofit/>
          </a:bodyPr>
          <a:lstStyle/>
          <a:p>
            <a:pPr marR="0" lvl="0" algn="l" defTabSz="914400" rtl="0" eaLnBrk="1" fontAlgn="auto" latinLnBrk="0" hangingPunct="1">
              <a:lnSpc>
                <a:spcPct val="100000"/>
              </a:lnSpc>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Fixed costs</a:t>
            </a:r>
          </a:p>
        </p:txBody>
      </p:sp>
      <p:sp>
        <p:nvSpPr>
          <p:cNvPr id="31" name="TextBox 25">
            <a:extLst>
              <a:ext uri="{FF2B5EF4-FFF2-40B4-BE49-F238E27FC236}">
                <a16:creationId xmlns:a16="http://schemas.microsoft.com/office/drawing/2014/main" id="{831BF664-0DE4-D218-94FC-6ECA659E244C}"/>
              </a:ext>
            </a:extLst>
          </p:cNvPr>
          <p:cNvSpPr txBox="1"/>
          <p:nvPr/>
        </p:nvSpPr>
        <p:spPr>
          <a:xfrm>
            <a:off x="4710113" y="5414000"/>
            <a:ext cx="1769745" cy="288147"/>
          </a:xfrm>
          <a:prstGeom prst="rect">
            <a:avLst/>
          </a:prstGeom>
          <a:solidFill>
            <a:schemeClr val="tx2"/>
          </a:solidFill>
        </p:spPr>
        <p:txBody>
          <a:bodyPr wrap="square" lIns="36000" tIns="36000" rIns="36000" bIns="3600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$120 MM</a:t>
            </a:r>
          </a:p>
        </p:txBody>
      </p:sp>
      <p:sp>
        <p:nvSpPr>
          <p:cNvPr id="1024" name="TextBox 25">
            <a:extLst>
              <a:ext uri="{FF2B5EF4-FFF2-40B4-BE49-F238E27FC236}">
                <a16:creationId xmlns:a16="http://schemas.microsoft.com/office/drawing/2014/main" id="{9EC00676-834F-F899-DDA8-C310F806DF37}"/>
              </a:ext>
            </a:extLst>
          </p:cNvPr>
          <p:cNvSpPr txBox="1"/>
          <p:nvPr/>
        </p:nvSpPr>
        <p:spPr>
          <a:xfrm>
            <a:off x="4710113" y="5702147"/>
            <a:ext cx="1769745" cy="606578"/>
          </a:xfrm>
          <a:prstGeom prst="rect">
            <a:avLst/>
          </a:prstGeom>
          <a:solidFill>
            <a:schemeClr val="bg1">
              <a:lumMod val="95000"/>
            </a:schemeClr>
          </a:solidFill>
        </p:spPr>
        <p:txBody>
          <a:bodyPr wrap="square" lIns="36000" tIns="36000" rIns="36000" bIns="36000" rtlCol="0" anchor="t">
            <a:noAutofit/>
          </a:bodyPr>
          <a:lstStyle/>
          <a:p>
            <a:pPr marR="0" lvl="0" algn="l" defTabSz="914400" rtl="0" eaLnBrk="1" fontAlgn="auto" latinLnBrk="0" hangingPunct="1">
              <a:lnSpc>
                <a:spcPct val="100000"/>
              </a:lnSpc>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Variable costs</a:t>
            </a:r>
          </a:p>
        </p:txBody>
      </p:sp>
      <p:sp>
        <p:nvSpPr>
          <p:cNvPr id="1028" name="TextBox 25">
            <a:extLst>
              <a:ext uri="{FF2B5EF4-FFF2-40B4-BE49-F238E27FC236}">
                <a16:creationId xmlns:a16="http://schemas.microsoft.com/office/drawing/2014/main" id="{EF2C0FAB-1AA1-D0BE-06E4-BE518A7363ED}"/>
              </a:ext>
            </a:extLst>
          </p:cNvPr>
          <p:cNvSpPr txBox="1"/>
          <p:nvPr/>
        </p:nvSpPr>
        <p:spPr>
          <a:xfrm>
            <a:off x="9158605" y="1697179"/>
            <a:ext cx="2552065" cy="288147"/>
          </a:xfrm>
          <a:prstGeom prst="rect">
            <a:avLst/>
          </a:prstGeom>
          <a:solidFill>
            <a:schemeClr val="tx2"/>
          </a:solidFill>
        </p:spPr>
        <p:txBody>
          <a:bodyPr wrap="square" lIns="36000" tIns="36000" rIns="36000" bIns="3600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Revenue segment</a:t>
            </a:r>
          </a:p>
        </p:txBody>
      </p:sp>
      <p:sp>
        <p:nvSpPr>
          <p:cNvPr id="1029" name="TextBox 25">
            <a:extLst>
              <a:ext uri="{FF2B5EF4-FFF2-40B4-BE49-F238E27FC236}">
                <a16:creationId xmlns:a16="http://schemas.microsoft.com/office/drawing/2014/main" id="{A2048163-C56F-3A0B-1096-6744B4DCF0E9}"/>
              </a:ext>
            </a:extLst>
          </p:cNvPr>
          <p:cNvSpPr txBox="1"/>
          <p:nvPr/>
        </p:nvSpPr>
        <p:spPr>
          <a:xfrm>
            <a:off x="9158605" y="1985326"/>
            <a:ext cx="2552065" cy="910600"/>
          </a:xfrm>
          <a:prstGeom prst="rect">
            <a:avLst/>
          </a:prstGeom>
          <a:solidFill>
            <a:schemeClr val="bg1">
              <a:lumMod val="85000"/>
            </a:schemeClr>
          </a:solidFill>
        </p:spPr>
        <p:txBody>
          <a:bodyPr wrap="square" lIns="36000" tIns="36000" rIns="36000" bIns="36000" rtlCol="0" anchor="t">
            <a:noAutofit/>
          </a:bodyPr>
          <a:lstStyle/>
          <a:p>
            <a:pPr marL="177800" marR="0" lvl="0" indent="-17780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By segment</a:t>
            </a:r>
          </a:p>
          <a:p>
            <a:pPr marL="177800" marR="0" lvl="0" indent="-17780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By product</a:t>
            </a:r>
          </a:p>
          <a:p>
            <a:pPr marL="177800" marR="0" lvl="0" indent="-17780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By geography</a:t>
            </a:r>
          </a:p>
        </p:txBody>
      </p:sp>
      <p:sp>
        <p:nvSpPr>
          <p:cNvPr id="1030" name="TextBox 25">
            <a:extLst>
              <a:ext uri="{FF2B5EF4-FFF2-40B4-BE49-F238E27FC236}">
                <a16:creationId xmlns:a16="http://schemas.microsoft.com/office/drawing/2014/main" id="{B90C157F-1D2A-7F64-5F6B-32369DBF8F63}"/>
              </a:ext>
            </a:extLst>
          </p:cNvPr>
          <p:cNvSpPr txBox="1"/>
          <p:nvPr/>
        </p:nvSpPr>
        <p:spPr>
          <a:xfrm>
            <a:off x="9158605" y="3315402"/>
            <a:ext cx="2552065" cy="288147"/>
          </a:xfrm>
          <a:prstGeom prst="rect">
            <a:avLst/>
          </a:prstGeom>
          <a:solidFill>
            <a:schemeClr val="tx2"/>
          </a:solidFill>
        </p:spPr>
        <p:txBody>
          <a:bodyPr wrap="square" lIns="36000" tIns="36000" rIns="36000" bIns="3600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Fixed expense</a:t>
            </a:r>
          </a:p>
        </p:txBody>
      </p:sp>
      <p:sp>
        <p:nvSpPr>
          <p:cNvPr id="1031" name="TextBox 25">
            <a:extLst>
              <a:ext uri="{FF2B5EF4-FFF2-40B4-BE49-F238E27FC236}">
                <a16:creationId xmlns:a16="http://schemas.microsoft.com/office/drawing/2014/main" id="{4C88AB53-68CD-8935-AF85-22DD0FC10053}"/>
              </a:ext>
            </a:extLst>
          </p:cNvPr>
          <p:cNvSpPr txBox="1"/>
          <p:nvPr/>
        </p:nvSpPr>
        <p:spPr>
          <a:xfrm>
            <a:off x="9158605" y="3603549"/>
            <a:ext cx="2552065" cy="910600"/>
          </a:xfrm>
          <a:prstGeom prst="rect">
            <a:avLst/>
          </a:prstGeom>
          <a:solidFill>
            <a:schemeClr val="bg1">
              <a:lumMod val="85000"/>
            </a:schemeClr>
          </a:solidFill>
        </p:spPr>
        <p:txBody>
          <a:bodyPr wrap="square" lIns="36000" tIns="36000" rIns="36000" bIns="36000" rtlCol="0" anchor="t">
            <a:noAutofit/>
          </a:bodyPr>
          <a:lstStyle/>
          <a:p>
            <a:pPr marL="177800" marR="0" lvl="0" indent="-17780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Rent</a:t>
            </a:r>
          </a:p>
          <a:p>
            <a:pPr marL="177800" marR="0" lvl="0" indent="-17780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Staff overhead</a:t>
            </a:r>
          </a:p>
          <a:p>
            <a:pPr marL="177800" marR="0" lvl="0" indent="-17780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1032" name="TextBox 25">
            <a:extLst>
              <a:ext uri="{FF2B5EF4-FFF2-40B4-BE49-F238E27FC236}">
                <a16:creationId xmlns:a16="http://schemas.microsoft.com/office/drawing/2014/main" id="{4A5E5019-F3D2-AAAF-C522-8CF382F59B1E}"/>
              </a:ext>
            </a:extLst>
          </p:cNvPr>
          <p:cNvSpPr txBox="1"/>
          <p:nvPr/>
        </p:nvSpPr>
        <p:spPr>
          <a:xfrm>
            <a:off x="9158605" y="4933625"/>
            <a:ext cx="2552065" cy="288147"/>
          </a:xfrm>
          <a:prstGeom prst="rect">
            <a:avLst/>
          </a:prstGeom>
          <a:solidFill>
            <a:schemeClr val="tx2"/>
          </a:solidFill>
        </p:spPr>
        <p:txBody>
          <a:bodyPr wrap="square" lIns="36000" tIns="36000" rIns="36000" bIns="3600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Variable expenses</a:t>
            </a:r>
          </a:p>
        </p:txBody>
      </p:sp>
      <p:sp>
        <p:nvSpPr>
          <p:cNvPr id="1033" name="TextBox 25">
            <a:extLst>
              <a:ext uri="{FF2B5EF4-FFF2-40B4-BE49-F238E27FC236}">
                <a16:creationId xmlns:a16="http://schemas.microsoft.com/office/drawing/2014/main" id="{4785D666-64E8-89A8-8350-BC8A8ABFA1A7}"/>
              </a:ext>
            </a:extLst>
          </p:cNvPr>
          <p:cNvSpPr txBox="1"/>
          <p:nvPr/>
        </p:nvSpPr>
        <p:spPr>
          <a:xfrm>
            <a:off x="9158605" y="5221772"/>
            <a:ext cx="2552065" cy="910600"/>
          </a:xfrm>
          <a:prstGeom prst="rect">
            <a:avLst/>
          </a:prstGeom>
          <a:solidFill>
            <a:schemeClr val="bg1">
              <a:lumMod val="85000"/>
            </a:schemeClr>
          </a:solidFill>
        </p:spPr>
        <p:txBody>
          <a:bodyPr wrap="square" lIns="36000" tIns="36000" rIns="36000" bIns="36000" rtlCol="0" anchor="t">
            <a:noAutofit/>
          </a:bodyPr>
          <a:lstStyle/>
          <a:p>
            <a:pPr marL="177800" marR="0" lvl="0" indent="-17780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Raw materials</a:t>
            </a:r>
          </a:p>
          <a:p>
            <a:pPr marL="177800" marR="0" lvl="0" indent="-17780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Delivery</a:t>
            </a:r>
          </a:p>
          <a:p>
            <a:pPr marL="177800" marR="0" lvl="0" indent="-17780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1025" name="TextBox 25">
            <a:extLst>
              <a:ext uri="{FF2B5EF4-FFF2-40B4-BE49-F238E27FC236}">
                <a16:creationId xmlns:a16="http://schemas.microsoft.com/office/drawing/2014/main" id="{D6E7032C-C4B1-99D5-2EDF-81B0B854560C}"/>
              </a:ext>
            </a:extLst>
          </p:cNvPr>
          <p:cNvSpPr txBox="1"/>
          <p:nvPr/>
        </p:nvSpPr>
        <p:spPr>
          <a:xfrm>
            <a:off x="6879432" y="5414000"/>
            <a:ext cx="1769745" cy="288147"/>
          </a:xfrm>
          <a:prstGeom prst="rect">
            <a:avLst/>
          </a:prstGeom>
          <a:solidFill>
            <a:schemeClr val="tx2"/>
          </a:solidFill>
        </p:spPr>
        <p:txBody>
          <a:bodyPr wrap="square" lIns="36000" tIns="36000" rIns="36000" bIns="3600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$12</a:t>
            </a:r>
          </a:p>
        </p:txBody>
      </p:sp>
      <p:sp>
        <p:nvSpPr>
          <p:cNvPr id="1027" name="TextBox 25">
            <a:extLst>
              <a:ext uri="{FF2B5EF4-FFF2-40B4-BE49-F238E27FC236}">
                <a16:creationId xmlns:a16="http://schemas.microsoft.com/office/drawing/2014/main" id="{97B188EB-FC63-DC75-6C01-931689941D19}"/>
              </a:ext>
            </a:extLst>
          </p:cNvPr>
          <p:cNvSpPr txBox="1"/>
          <p:nvPr/>
        </p:nvSpPr>
        <p:spPr>
          <a:xfrm>
            <a:off x="6879432" y="5702147"/>
            <a:ext cx="1769745" cy="606578"/>
          </a:xfrm>
          <a:prstGeom prst="rect">
            <a:avLst/>
          </a:prstGeom>
          <a:solidFill>
            <a:schemeClr val="bg1">
              <a:lumMod val="95000"/>
            </a:schemeClr>
          </a:solidFill>
        </p:spPr>
        <p:txBody>
          <a:bodyPr wrap="square" lIns="36000" tIns="36000" rIns="36000" bIns="36000" rtlCol="0" anchor="t">
            <a:noAutofit/>
          </a:bodyPr>
          <a:lstStyle/>
          <a:p>
            <a:pPr marR="0" lvl="0" algn="l" defTabSz="914400" rtl="0" eaLnBrk="1" fontAlgn="auto" latinLnBrk="0" hangingPunct="1">
              <a:lnSpc>
                <a:spcPct val="100000"/>
              </a:lnSpc>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Cost/ unit</a:t>
            </a:r>
          </a:p>
        </p:txBody>
      </p:sp>
      <p:sp>
        <p:nvSpPr>
          <p:cNvPr id="1034" name="TextBox 25">
            <a:extLst>
              <a:ext uri="{FF2B5EF4-FFF2-40B4-BE49-F238E27FC236}">
                <a16:creationId xmlns:a16="http://schemas.microsoft.com/office/drawing/2014/main" id="{D4E3679A-88D9-4F16-63DC-057DE3F3C26C}"/>
              </a:ext>
            </a:extLst>
          </p:cNvPr>
          <p:cNvSpPr txBox="1"/>
          <p:nvPr/>
        </p:nvSpPr>
        <p:spPr>
          <a:xfrm>
            <a:off x="6879432" y="4290100"/>
            <a:ext cx="1769745" cy="288147"/>
          </a:xfrm>
          <a:prstGeom prst="rect">
            <a:avLst/>
          </a:prstGeom>
          <a:solidFill>
            <a:schemeClr val="tx2"/>
          </a:solidFill>
        </p:spPr>
        <p:txBody>
          <a:bodyPr wrap="square" lIns="36000" tIns="36000" rIns="36000" bIns="3600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$10 MM</a:t>
            </a:r>
          </a:p>
        </p:txBody>
      </p:sp>
      <p:sp>
        <p:nvSpPr>
          <p:cNvPr id="1035" name="TextBox 25">
            <a:extLst>
              <a:ext uri="{FF2B5EF4-FFF2-40B4-BE49-F238E27FC236}">
                <a16:creationId xmlns:a16="http://schemas.microsoft.com/office/drawing/2014/main" id="{6D407CAB-7E53-CE89-3BEE-9DB5DF2C1811}"/>
              </a:ext>
            </a:extLst>
          </p:cNvPr>
          <p:cNvSpPr txBox="1"/>
          <p:nvPr/>
        </p:nvSpPr>
        <p:spPr>
          <a:xfrm>
            <a:off x="6879432" y="4578247"/>
            <a:ext cx="1769745" cy="606578"/>
          </a:xfrm>
          <a:prstGeom prst="rect">
            <a:avLst/>
          </a:prstGeom>
          <a:solidFill>
            <a:schemeClr val="bg1">
              <a:lumMod val="95000"/>
            </a:schemeClr>
          </a:solidFill>
        </p:spPr>
        <p:txBody>
          <a:bodyPr wrap="square" lIns="36000" tIns="36000" rIns="36000" bIns="36000" rtlCol="0" anchor="t">
            <a:noAutofit/>
          </a:bodyPr>
          <a:lstStyle/>
          <a:p>
            <a:pPr marR="0" lvl="0" algn="l" defTabSz="914400" rtl="0" eaLnBrk="1" fontAlgn="auto" latinLnBrk="0" hangingPunct="1">
              <a:lnSpc>
                <a:spcPct val="100000"/>
              </a:lnSpc>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Volume</a:t>
            </a:r>
          </a:p>
        </p:txBody>
      </p:sp>
      <p:sp>
        <p:nvSpPr>
          <p:cNvPr id="23" name="TextBox 25">
            <a:extLst>
              <a:ext uri="{FF2B5EF4-FFF2-40B4-BE49-F238E27FC236}">
                <a16:creationId xmlns:a16="http://schemas.microsoft.com/office/drawing/2014/main" id="{B43510BB-418F-998E-DC2C-92079403D9FE}"/>
              </a:ext>
            </a:extLst>
          </p:cNvPr>
          <p:cNvSpPr txBox="1"/>
          <p:nvPr/>
        </p:nvSpPr>
        <p:spPr>
          <a:xfrm>
            <a:off x="2540794" y="2157882"/>
            <a:ext cx="1769745" cy="288147"/>
          </a:xfrm>
          <a:prstGeom prst="rect">
            <a:avLst/>
          </a:prstGeom>
          <a:solidFill>
            <a:schemeClr val="tx2"/>
          </a:solidFill>
        </p:spPr>
        <p:txBody>
          <a:bodyPr wrap="square" lIns="36000" tIns="36000" rIns="36000" bIns="3600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$300 MM</a:t>
            </a:r>
          </a:p>
        </p:txBody>
      </p:sp>
      <p:sp>
        <p:nvSpPr>
          <p:cNvPr id="24" name="TextBox 25">
            <a:extLst>
              <a:ext uri="{FF2B5EF4-FFF2-40B4-BE49-F238E27FC236}">
                <a16:creationId xmlns:a16="http://schemas.microsoft.com/office/drawing/2014/main" id="{CF087242-0770-FA4F-2EF2-871A242EE279}"/>
              </a:ext>
            </a:extLst>
          </p:cNvPr>
          <p:cNvSpPr txBox="1"/>
          <p:nvPr/>
        </p:nvSpPr>
        <p:spPr>
          <a:xfrm>
            <a:off x="2540794" y="2446029"/>
            <a:ext cx="1769745" cy="606578"/>
          </a:xfrm>
          <a:prstGeom prst="rect">
            <a:avLst/>
          </a:prstGeom>
          <a:solidFill>
            <a:schemeClr val="bg1">
              <a:lumMod val="95000"/>
            </a:schemeClr>
          </a:solidFill>
        </p:spPr>
        <p:txBody>
          <a:bodyPr wrap="square" lIns="36000" tIns="36000" rIns="36000" bIns="36000" rtlCol="0" anchor="t">
            <a:noAutofit/>
          </a:bodyPr>
          <a:lstStyle/>
          <a:p>
            <a:pPr marR="0" lvl="0" algn="l" defTabSz="914400" rtl="0" eaLnBrk="1" fontAlgn="auto" latinLnBrk="0" hangingPunct="1">
              <a:lnSpc>
                <a:spcPct val="100000"/>
              </a:lnSpc>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Revenues</a:t>
            </a:r>
          </a:p>
        </p:txBody>
      </p:sp>
      <p:sp>
        <p:nvSpPr>
          <p:cNvPr id="1036" name="TextBox 25">
            <a:extLst>
              <a:ext uri="{FF2B5EF4-FFF2-40B4-BE49-F238E27FC236}">
                <a16:creationId xmlns:a16="http://schemas.microsoft.com/office/drawing/2014/main" id="{41CE73BC-E8E5-6A8F-1C3F-DEAF2463DEA2}"/>
              </a:ext>
            </a:extLst>
          </p:cNvPr>
          <p:cNvSpPr txBox="1"/>
          <p:nvPr/>
        </p:nvSpPr>
        <p:spPr>
          <a:xfrm>
            <a:off x="2540794" y="4764244"/>
            <a:ext cx="1769745" cy="288147"/>
          </a:xfrm>
          <a:prstGeom prst="rect">
            <a:avLst/>
          </a:prstGeom>
          <a:solidFill>
            <a:schemeClr val="tx2"/>
          </a:solidFill>
        </p:spPr>
        <p:txBody>
          <a:bodyPr wrap="square" lIns="36000" tIns="36000" rIns="36000" bIns="36000" rtlCol="0" anchor="t">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$200 MM</a:t>
            </a:r>
          </a:p>
        </p:txBody>
      </p:sp>
      <p:sp>
        <p:nvSpPr>
          <p:cNvPr id="1037" name="TextBox 25">
            <a:extLst>
              <a:ext uri="{FF2B5EF4-FFF2-40B4-BE49-F238E27FC236}">
                <a16:creationId xmlns:a16="http://schemas.microsoft.com/office/drawing/2014/main" id="{9BB8FC24-6246-97F5-811D-5A4EBEA47B35}"/>
              </a:ext>
            </a:extLst>
          </p:cNvPr>
          <p:cNvSpPr txBox="1"/>
          <p:nvPr/>
        </p:nvSpPr>
        <p:spPr>
          <a:xfrm>
            <a:off x="2540794" y="5052391"/>
            <a:ext cx="1769745" cy="606578"/>
          </a:xfrm>
          <a:prstGeom prst="rect">
            <a:avLst/>
          </a:prstGeom>
          <a:solidFill>
            <a:schemeClr val="bg1">
              <a:lumMod val="95000"/>
            </a:schemeClr>
          </a:solidFill>
        </p:spPr>
        <p:txBody>
          <a:bodyPr wrap="square" lIns="36000" tIns="36000" rIns="36000" bIns="36000" rtlCol="0" anchor="t">
            <a:noAutofit/>
          </a:bodyPr>
          <a:lstStyle/>
          <a:p>
            <a:pPr marR="0" lvl="0" algn="l" defTabSz="914400" rtl="0" eaLnBrk="1" fontAlgn="auto" latinLnBrk="0" hangingPunct="1">
              <a:lnSpc>
                <a:spcPct val="100000"/>
              </a:lnSpc>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Costs</a:t>
            </a:r>
          </a:p>
        </p:txBody>
      </p:sp>
      <p:cxnSp>
        <p:nvCxnSpPr>
          <p:cNvPr id="1057" name="Conector: angular 1056">
            <a:extLst>
              <a:ext uri="{FF2B5EF4-FFF2-40B4-BE49-F238E27FC236}">
                <a16:creationId xmlns:a16="http://schemas.microsoft.com/office/drawing/2014/main" id="{C89D9B81-083F-7F53-C93A-4A6CAAB1AD7F}"/>
              </a:ext>
            </a:extLst>
          </p:cNvPr>
          <p:cNvCxnSpPr>
            <a:cxnSpLocks/>
          </p:cNvCxnSpPr>
          <p:nvPr/>
        </p:nvCxnSpPr>
        <p:spPr>
          <a:xfrm flipV="1">
            <a:off x="4310539" y="1968188"/>
            <a:ext cx="399574" cy="637057"/>
          </a:xfrm>
          <a:prstGeom prst="bentConnector3">
            <a:avLst>
              <a:gd name="adj1" fmla="val 50000"/>
            </a:avLst>
          </a:prstGeom>
          <a:ln w="9525">
            <a:solidFill>
              <a:schemeClr val="bg1">
                <a:lumMod val="75000"/>
              </a:schemeClr>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065" name="Conector: angular 1064">
            <a:extLst>
              <a:ext uri="{FF2B5EF4-FFF2-40B4-BE49-F238E27FC236}">
                <a16:creationId xmlns:a16="http://schemas.microsoft.com/office/drawing/2014/main" id="{190F66AB-1627-32B8-0FE4-017D1D75211F}"/>
              </a:ext>
            </a:extLst>
          </p:cNvPr>
          <p:cNvCxnSpPr>
            <a:cxnSpLocks/>
          </p:cNvCxnSpPr>
          <p:nvPr/>
        </p:nvCxnSpPr>
        <p:spPr>
          <a:xfrm>
            <a:off x="2141220" y="3914776"/>
            <a:ext cx="399574" cy="1296831"/>
          </a:xfrm>
          <a:prstGeom prst="bentConnector3">
            <a:avLst>
              <a:gd name="adj1" fmla="val 50000"/>
            </a:avLst>
          </a:prstGeom>
          <a:ln w="9525">
            <a:solidFill>
              <a:schemeClr val="bg1">
                <a:lumMod val="75000"/>
              </a:schemeClr>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069" name="Conector: angular 1068">
            <a:extLst>
              <a:ext uri="{FF2B5EF4-FFF2-40B4-BE49-F238E27FC236}">
                <a16:creationId xmlns:a16="http://schemas.microsoft.com/office/drawing/2014/main" id="{8DBD05B8-FFD9-29D7-61DA-63B9B2257D53}"/>
              </a:ext>
            </a:extLst>
          </p:cNvPr>
          <p:cNvCxnSpPr>
            <a:cxnSpLocks/>
          </p:cNvCxnSpPr>
          <p:nvPr/>
        </p:nvCxnSpPr>
        <p:spPr>
          <a:xfrm flipV="1">
            <a:off x="2141220" y="2605245"/>
            <a:ext cx="399574" cy="1309531"/>
          </a:xfrm>
          <a:prstGeom prst="bentConnector3">
            <a:avLst>
              <a:gd name="adj1" fmla="val 50000"/>
            </a:avLst>
          </a:prstGeom>
          <a:ln w="9525">
            <a:solidFill>
              <a:schemeClr val="bg1">
                <a:lumMod val="75000"/>
              </a:schemeClr>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074" name="Conector: angular 1073">
            <a:extLst>
              <a:ext uri="{FF2B5EF4-FFF2-40B4-BE49-F238E27FC236}">
                <a16:creationId xmlns:a16="http://schemas.microsoft.com/office/drawing/2014/main" id="{B249F46A-EAED-174C-80F8-3D95DD71C444}"/>
              </a:ext>
            </a:extLst>
          </p:cNvPr>
          <p:cNvCxnSpPr>
            <a:cxnSpLocks/>
          </p:cNvCxnSpPr>
          <p:nvPr/>
        </p:nvCxnSpPr>
        <p:spPr>
          <a:xfrm>
            <a:off x="4310539" y="2605245"/>
            <a:ext cx="399574" cy="660668"/>
          </a:xfrm>
          <a:prstGeom prst="bentConnector3">
            <a:avLst>
              <a:gd name="adj1" fmla="val 50000"/>
            </a:avLst>
          </a:prstGeom>
          <a:ln w="9525">
            <a:solidFill>
              <a:schemeClr val="bg1">
                <a:lumMod val="75000"/>
              </a:schemeClr>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093" name="Conector: angular 1092">
            <a:extLst>
              <a:ext uri="{FF2B5EF4-FFF2-40B4-BE49-F238E27FC236}">
                <a16:creationId xmlns:a16="http://schemas.microsoft.com/office/drawing/2014/main" id="{424FB531-9D9F-5D60-0305-D4902866510F}"/>
              </a:ext>
            </a:extLst>
          </p:cNvPr>
          <p:cNvCxnSpPr>
            <a:cxnSpLocks/>
          </p:cNvCxnSpPr>
          <p:nvPr/>
        </p:nvCxnSpPr>
        <p:spPr>
          <a:xfrm flipV="1">
            <a:off x="4310539" y="4563638"/>
            <a:ext cx="399574" cy="647969"/>
          </a:xfrm>
          <a:prstGeom prst="bentConnector3">
            <a:avLst>
              <a:gd name="adj1" fmla="val 50000"/>
            </a:avLst>
          </a:prstGeom>
          <a:ln w="9525">
            <a:solidFill>
              <a:schemeClr val="bg1">
                <a:lumMod val="75000"/>
              </a:schemeClr>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094" name="Conector: angular 1093">
            <a:extLst>
              <a:ext uri="{FF2B5EF4-FFF2-40B4-BE49-F238E27FC236}">
                <a16:creationId xmlns:a16="http://schemas.microsoft.com/office/drawing/2014/main" id="{41EB247C-4575-222C-344A-5220332E6CDD}"/>
              </a:ext>
            </a:extLst>
          </p:cNvPr>
          <p:cNvCxnSpPr>
            <a:cxnSpLocks/>
          </p:cNvCxnSpPr>
          <p:nvPr/>
        </p:nvCxnSpPr>
        <p:spPr>
          <a:xfrm>
            <a:off x="4310539" y="5211607"/>
            <a:ext cx="399574" cy="649756"/>
          </a:xfrm>
          <a:prstGeom prst="bentConnector3">
            <a:avLst>
              <a:gd name="adj1" fmla="val 50000"/>
            </a:avLst>
          </a:prstGeom>
          <a:ln w="9525">
            <a:solidFill>
              <a:schemeClr val="bg1">
                <a:lumMod val="75000"/>
              </a:schemeClr>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113" name="Conector: angular 1112">
            <a:extLst>
              <a:ext uri="{FF2B5EF4-FFF2-40B4-BE49-F238E27FC236}">
                <a16:creationId xmlns:a16="http://schemas.microsoft.com/office/drawing/2014/main" id="{F6C6991F-7AA2-F83A-BF42-061D2BEBA034}"/>
              </a:ext>
            </a:extLst>
          </p:cNvPr>
          <p:cNvCxnSpPr>
            <a:cxnSpLocks/>
          </p:cNvCxnSpPr>
          <p:nvPr/>
        </p:nvCxnSpPr>
        <p:spPr>
          <a:xfrm flipV="1">
            <a:off x="6479858" y="4737463"/>
            <a:ext cx="399574" cy="1123900"/>
          </a:xfrm>
          <a:prstGeom prst="bentConnector3">
            <a:avLst>
              <a:gd name="adj1" fmla="val 50000"/>
            </a:avLst>
          </a:prstGeom>
          <a:ln w="9525">
            <a:solidFill>
              <a:schemeClr val="bg1">
                <a:lumMod val="75000"/>
              </a:schemeClr>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121" name="Conector recto de flecha 1120">
            <a:extLst>
              <a:ext uri="{FF2B5EF4-FFF2-40B4-BE49-F238E27FC236}">
                <a16:creationId xmlns:a16="http://schemas.microsoft.com/office/drawing/2014/main" id="{89C655C5-CC43-F79A-297F-2EE80C2D0040}"/>
              </a:ext>
            </a:extLst>
          </p:cNvPr>
          <p:cNvCxnSpPr>
            <a:cxnSpLocks/>
          </p:cNvCxnSpPr>
          <p:nvPr/>
        </p:nvCxnSpPr>
        <p:spPr>
          <a:xfrm>
            <a:off x="6479858" y="5861363"/>
            <a:ext cx="399574" cy="0"/>
          </a:xfrm>
          <a:prstGeom prst="straightConnector1">
            <a:avLst/>
          </a:prstGeom>
          <a:ln w="9525">
            <a:solidFill>
              <a:schemeClr val="bg1">
                <a:lumMod val="75000"/>
              </a:schemeClr>
            </a:solidFill>
            <a:tailEnd type="arrow" w="sm" len="sm"/>
          </a:ln>
        </p:spPr>
        <p:style>
          <a:lnRef idx="1">
            <a:schemeClr val="accent1"/>
          </a:lnRef>
          <a:fillRef idx="0">
            <a:schemeClr val="accent1"/>
          </a:fillRef>
          <a:effectRef idx="0">
            <a:schemeClr val="accent1"/>
          </a:effectRef>
          <a:fontRef idx="minor">
            <a:schemeClr val="tx1"/>
          </a:fontRef>
        </p:style>
      </p:cxnSp>
      <p:sp>
        <p:nvSpPr>
          <p:cNvPr id="5" name="Marcador de pie de página 4">
            <a:extLst>
              <a:ext uri="{FF2B5EF4-FFF2-40B4-BE49-F238E27FC236}">
                <a16:creationId xmlns:a16="http://schemas.microsoft.com/office/drawing/2014/main" id="{96399E15-1363-2EC3-83D2-899D1C5681AE}"/>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5144543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Blue Ocean Strategy</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2840217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DFD1D81F-12C5-7942-5245-9BE708C35841}"/>
              </a:ext>
            </a:extLst>
          </p:cNvPr>
          <p:cNvGraphicFramePr>
            <a:graphicFrameLocks noChangeAspect="1"/>
          </p:cNvGraphicFramePr>
          <p:nvPr>
            <p:custDataLst>
              <p:tags r:id="rId1"/>
            </p:custDataLst>
            <p:extLst>
              <p:ext uri="{D42A27DB-BD31-4B8C-83A1-F6EECF244321}">
                <p14:modId xmlns:p14="http://schemas.microsoft.com/office/powerpoint/2010/main" val="26045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3683426A-FA76-0E37-3675-32DE97BC2344}"/>
              </a:ext>
            </a:extLst>
          </p:cNvPr>
          <p:cNvSpPr>
            <a:spLocks noGrp="1"/>
          </p:cNvSpPr>
          <p:nvPr>
            <p:ph type="title"/>
          </p:nvPr>
        </p:nvSpPr>
        <p:spPr/>
        <p:txBody>
          <a:bodyPr vert="horz"/>
          <a:lstStyle/>
          <a:p>
            <a:r>
              <a:rPr lang="en-US" dirty="0"/>
              <a:t>Blue Ocean Strategy — Overview</a:t>
            </a:r>
          </a:p>
        </p:txBody>
      </p:sp>
      <p:sp>
        <p:nvSpPr>
          <p:cNvPr id="3" name="Marcador de texto 2">
            <a:extLst>
              <a:ext uri="{FF2B5EF4-FFF2-40B4-BE49-F238E27FC236}">
                <a16:creationId xmlns:a16="http://schemas.microsoft.com/office/drawing/2014/main" id="{4D076EDB-0843-1ED2-34D6-90E6F05BA507}"/>
              </a:ext>
            </a:extLst>
          </p:cNvPr>
          <p:cNvSpPr>
            <a:spLocks noGrp="1"/>
          </p:cNvSpPr>
          <p:nvPr>
            <p:ph type="body" sz="quarter" idx="18"/>
          </p:nvPr>
        </p:nvSpPr>
        <p:spPr/>
        <p:txBody>
          <a:bodyPr/>
          <a:lstStyle/>
          <a:p>
            <a:r>
              <a:rPr lang="en-US" dirty="0"/>
              <a:t>Blue Ocean Strategy is a business strategy framework developed by W. Chan Kim and Renée Mauborgne in their 2005 book </a:t>
            </a:r>
            <a:r>
              <a:rPr lang="en-US" i="1" dirty="0"/>
              <a:t>Blue Ocean Strategy: How to Create Uncontested Market Space and Make the Competition Irrelevant.</a:t>
            </a:r>
            <a:endParaRPr lang="en-US" dirty="0"/>
          </a:p>
        </p:txBody>
      </p:sp>
      <p:sp>
        <p:nvSpPr>
          <p:cNvPr id="4" name="Marcador de texto 3">
            <a:extLst>
              <a:ext uri="{FF2B5EF4-FFF2-40B4-BE49-F238E27FC236}">
                <a16:creationId xmlns:a16="http://schemas.microsoft.com/office/drawing/2014/main" id="{F5A35757-3BD9-4791-C5D2-E60E06510C8F}"/>
              </a:ext>
            </a:extLst>
          </p:cNvPr>
          <p:cNvSpPr>
            <a:spLocks noGrp="1"/>
          </p:cNvSpPr>
          <p:nvPr>
            <p:ph type="body" sz="quarter" idx="19"/>
          </p:nvPr>
        </p:nvSpPr>
        <p:spPr/>
        <p:txBody>
          <a:bodyPr/>
          <a:lstStyle/>
          <a:p>
            <a:pPr marL="0" indent="0">
              <a:buFont typeface="Arial" panose="020B0604020202020204" pitchFamily="34" charset="0"/>
              <a:buNone/>
            </a:pPr>
            <a:r>
              <a:rPr lang="en-US" dirty="0"/>
              <a:t>The strategy encourages businesses to seek out and create "blue oceans," or uncontested market spaces, rather than competing in "red oceans," or highly competitive and saturated markets.</a:t>
            </a:r>
          </a:p>
          <a:p>
            <a:pPr marL="0" indent="0">
              <a:buFont typeface="Arial" panose="020B0604020202020204" pitchFamily="34" charset="0"/>
              <a:buNone/>
            </a:pPr>
            <a:r>
              <a:rPr lang="en-US" dirty="0"/>
              <a:t>The goal of blue ocean strategy is to create new demand and uncontested market space by identifying and satisfying previously unmet customer needs. This is achieved through a process of value innovation, where companies simultaneously pursue differentiation and low cost.</a:t>
            </a:r>
          </a:p>
          <a:p>
            <a:pPr marL="0" indent="0">
              <a:buFont typeface="Arial" panose="020B0604020202020204" pitchFamily="34" charset="0"/>
              <a:buNone/>
            </a:pPr>
            <a:r>
              <a:rPr lang="en-US" dirty="0"/>
              <a:t>In contrast to traditional competitive strategy, which focuses on outperforming rivals within an existing industry, blue ocean strategy emphasizes creating new markets and opportunities, often through the development of entirely new products or services.</a:t>
            </a:r>
          </a:p>
        </p:txBody>
      </p:sp>
      <p:sp>
        <p:nvSpPr>
          <p:cNvPr id="5" name="Marcador de texto 4">
            <a:extLst>
              <a:ext uri="{FF2B5EF4-FFF2-40B4-BE49-F238E27FC236}">
                <a16:creationId xmlns:a16="http://schemas.microsoft.com/office/drawing/2014/main" id="{DC51AE0B-486A-20FD-7C8B-2E82BE7D118E}"/>
              </a:ext>
            </a:extLst>
          </p:cNvPr>
          <p:cNvSpPr>
            <a:spLocks noGrp="1"/>
          </p:cNvSpPr>
          <p:nvPr>
            <p:ph type="body" sz="quarter" idx="20"/>
          </p:nvPr>
        </p:nvSpPr>
        <p:spPr/>
        <p:txBody>
          <a:bodyPr/>
          <a:lstStyle/>
          <a:p>
            <a:r>
              <a:rPr lang="en-US" b="1" dirty="0"/>
              <a:t>Market Entry Strategy: </a:t>
            </a:r>
            <a:r>
              <a:rPr lang="en-US" dirty="0"/>
              <a:t>When a client wants to enter a new market, the framework can identify untapped market opportunities and help create a strategy that differentiates them from existing players in the market.</a:t>
            </a:r>
          </a:p>
          <a:p>
            <a:r>
              <a:rPr lang="en-US" b="1" dirty="0"/>
              <a:t>Product Development: </a:t>
            </a:r>
            <a:r>
              <a:rPr lang="en-US" dirty="0"/>
              <a:t>When a client wants to develop a new product, the framework can identify unmet customer needs and create a product that stands out in the market.</a:t>
            </a:r>
          </a:p>
          <a:p>
            <a:r>
              <a:rPr lang="en-US" b="1" dirty="0"/>
              <a:t>Industry Analysis: </a:t>
            </a:r>
            <a:r>
              <a:rPr lang="en-US" dirty="0"/>
              <a:t>When a client wants to understand the competitive landscape of their industry, the framework can identify areas of the market that are currently uncontested and provide recommendations on how they can create new demand and differentiate themselves from their competitors.</a:t>
            </a:r>
          </a:p>
          <a:p>
            <a:r>
              <a:rPr lang="en-US" b="1" dirty="0"/>
              <a:t>Corporate Strategy: </a:t>
            </a:r>
            <a:r>
              <a:rPr lang="en-US" dirty="0"/>
              <a:t>When a client wants to create a long-term corporate strategy, the framework can identify new markets and opportunities that they can pursue, rather than focusing solely on beating their competitors in existing markets.</a:t>
            </a:r>
          </a:p>
          <a:p>
            <a:r>
              <a:rPr lang="en-US" b="1" dirty="0"/>
              <a:t>Business Model Innovation: </a:t>
            </a:r>
            <a:r>
              <a:rPr lang="en-US" dirty="0"/>
              <a:t>When a client wants to innovate their business model, the framework can identify new ways to create and deliver value to customers, while simultaneously reducing costs and increasing profits.</a:t>
            </a:r>
          </a:p>
        </p:txBody>
      </p:sp>
      <p:sp>
        <p:nvSpPr>
          <p:cNvPr id="11" name="Marcador de pie de página 10">
            <a:extLst>
              <a:ext uri="{FF2B5EF4-FFF2-40B4-BE49-F238E27FC236}">
                <a16:creationId xmlns:a16="http://schemas.microsoft.com/office/drawing/2014/main" id="{E4FF46A5-E38E-73F6-94E3-3941B7783DB4}"/>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9241968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to 25" hidden="1">
            <a:extLst>
              <a:ext uri="{FF2B5EF4-FFF2-40B4-BE49-F238E27FC236}">
                <a16:creationId xmlns:a16="http://schemas.microsoft.com/office/drawing/2014/main" id="{B86ECC87-D4B4-E483-0708-11286B6D0756}"/>
              </a:ext>
            </a:extLst>
          </p:cNvPr>
          <p:cNvGraphicFramePr>
            <a:graphicFrameLocks noChangeAspect="1"/>
          </p:cNvGraphicFramePr>
          <p:nvPr>
            <p:custDataLst>
              <p:tags r:id="rId1"/>
            </p:custDataLst>
            <p:extLst>
              <p:ext uri="{D42A27DB-BD31-4B8C-83A1-F6EECF244321}">
                <p14:modId xmlns:p14="http://schemas.microsoft.com/office/powerpoint/2010/main" val="9115592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0" name="Rectángulo 19">
            <a:extLst>
              <a:ext uri="{FF2B5EF4-FFF2-40B4-BE49-F238E27FC236}">
                <a16:creationId xmlns:a16="http://schemas.microsoft.com/office/drawing/2014/main" id="{6FDC5AF6-D45B-A10F-E0D3-8B01D1A80D23}"/>
              </a:ext>
            </a:extLst>
          </p:cNvPr>
          <p:cNvSpPr/>
          <p:nvPr/>
        </p:nvSpPr>
        <p:spPr>
          <a:xfrm>
            <a:off x="4648200" y="1870415"/>
            <a:ext cx="2895600" cy="998661"/>
          </a:xfrm>
          <a:prstGeom prst="rect">
            <a:avLst/>
          </a:prstGeom>
          <a:gradFill>
            <a:gsLst>
              <a:gs pos="0">
                <a:srgbClr val="C00000"/>
              </a:gs>
              <a:gs pos="100000">
                <a:schemeClr val="tx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sz="1400" b="1" dirty="0">
                <a:solidFill>
                  <a:schemeClr val="bg1"/>
                </a:solidFill>
              </a:rPr>
              <a:t>Barriers</a:t>
            </a:r>
          </a:p>
        </p:txBody>
      </p:sp>
      <p:sp>
        <p:nvSpPr>
          <p:cNvPr id="21" name="Rectángulo 20">
            <a:extLst>
              <a:ext uri="{FF2B5EF4-FFF2-40B4-BE49-F238E27FC236}">
                <a16:creationId xmlns:a16="http://schemas.microsoft.com/office/drawing/2014/main" id="{F4FA4A9F-D168-E093-0D63-A9F5BBA47E56}"/>
              </a:ext>
            </a:extLst>
          </p:cNvPr>
          <p:cNvSpPr/>
          <p:nvPr/>
        </p:nvSpPr>
        <p:spPr>
          <a:xfrm>
            <a:off x="4648200" y="3008529"/>
            <a:ext cx="2895600" cy="998661"/>
          </a:xfrm>
          <a:prstGeom prst="rect">
            <a:avLst/>
          </a:prstGeom>
          <a:gradFill>
            <a:gsLst>
              <a:gs pos="0">
                <a:srgbClr val="C00000"/>
              </a:gs>
              <a:gs pos="100000">
                <a:schemeClr val="tx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sz="1400" b="1">
                <a:solidFill>
                  <a:schemeClr val="bg1"/>
                </a:solidFill>
              </a:rPr>
              <a:t>Suppliers</a:t>
            </a:r>
            <a:endParaRPr lang="en-US" sz="1400" b="1" dirty="0">
              <a:solidFill>
                <a:schemeClr val="bg1"/>
              </a:solidFill>
            </a:endParaRPr>
          </a:p>
        </p:txBody>
      </p:sp>
      <p:sp>
        <p:nvSpPr>
          <p:cNvPr id="22" name="Rectángulo 21">
            <a:extLst>
              <a:ext uri="{FF2B5EF4-FFF2-40B4-BE49-F238E27FC236}">
                <a16:creationId xmlns:a16="http://schemas.microsoft.com/office/drawing/2014/main" id="{0121EBBA-624D-95D6-390A-BB0CA254CDBC}"/>
              </a:ext>
            </a:extLst>
          </p:cNvPr>
          <p:cNvSpPr/>
          <p:nvPr/>
        </p:nvSpPr>
        <p:spPr>
          <a:xfrm>
            <a:off x="4648200" y="4163841"/>
            <a:ext cx="2895600" cy="998661"/>
          </a:xfrm>
          <a:prstGeom prst="rect">
            <a:avLst/>
          </a:prstGeom>
          <a:gradFill>
            <a:gsLst>
              <a:gs pos="0">
                <a:srgbClr val="C00000"/>
              </a:gs>
              <a:gs pos="100000">
                <a:schemeClr val="tx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sz="1400" b="1">
                <a:solidFill>
                  <a:schemeClr val="bg1"/>
                </a:solidFill>
              </a:rPr>
              <a:t>Clients</a:t>
            </a:r>
            <a:endParaRPr lang="en-US" sz="1400" b="1" dirty="0">
              <a:solidFill>
                <a:schemeClr val="bg1"/>
              </a:solidFill>
            </a:endParaRPr>
          </a:p>
        </p:txBody>
      </p:sp>
      <p:sp>
        <p:nvSpPr>
          <p:cNvPr id="23" name="Rectángulo 22">
            <a:extLst>
              <a:ext uri="{FF2B5EF4-FFF2-40B4-BE49-F238E27FC236}">
                <a16:creationId xmlns:a16="http://schemas.microsoft.com/office/drawing/2014/main" id="{AF832D75-CCA6-6348-D28D-131A954BCE63}"/>
              </a:ext>
            </a:extLst>
          </p:cNvPr>
          <p:cNvSpPr/>
          <p:nvPr/>
        </p:nvSpPr>
        <p:spPr>
          <a:xfrm>
            <a:off x="4648200" y="5310064"/>
            <a:ext cx="2895600" cy="998661"/>
          </a:xfrm>
          <a:prstGeom prst="rect">
            <a:avLst/>
          </a:prstGeom>
          <a:gradFill>
            <a:gsLst>
              <a:gs pos="0">
                <a:srgbClr val="C00000"/>
              </a:gs>
              <a:gs pos="100000">
                <a:schemeClr val="tx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sz="1400" b="1">
                <a:solidFill>
                  <a:schemeClr val="bg1"/>
                </a:solidFill>
              </a:rPr>
              <a:t>Competition</a:t>
            </a:r>
            <a:endParaRPr lang="en-US" sz="1400" b="1" dirty="0">
              <a:solidFill>
                <a:schemeClr val="bg1"/>
              </a:solidFill>
            </a:endParaRPr>
          </a:p>
        </p:txBody>
      </p:sp>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p:txBody>
          <a:bodyPr vert="horz"/>
          <a:lstStyle/>
          <a:p>
            <a:r>
              <a:rPr lang="en-US" dirty="0"/>
              <a:t>Blue Ocean Strategy — Template A</a:t>
            </a:r>
          </a:p>
        </p:txBody>
      </p:sp>
      <p:sp>
        <p:nvSpPr>
          <p:cNvPr id="9" name="Rectángulo 8">
            <a:extLst>
              <a:ext uri="{FF2B5EF4-FFF2-40B4-BE49-F238E27FC236}">
                <a16:creationId xmlns:a16="http://schemas.microsoft.com/office/drawing/2014/main" id="{4A8B4EEB-36F3-491B-05E2-CAB92EC1CA10}"/>
              </a:ext>
            </a:extLst>
          </p:cNvPr>
          <p:cNvSpPr/>
          <p:nvPr/>
        </p:nvSpPr>
        <p:spPr>
          <a:xfrm>
            <a:off x="384175" y="1520826"/>
            <a:ext cx="4446180"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spAutoFit/>
          </a:bodyPr>
          <a:lstStyle/>
          <a:p>
            <a:r>
              <a:rPr lang="en-US" sz="1400" b="1" dirty="0">
                <a:solidFill>
                  <a:srgbClr val="C00000"/>
                </a:solidFill>
              </a:rPr>
              <a:t>Red ocean strategy</a:t>
            </a:r>
            <a:endParaRPr lang="en-US" sz="1400" dirty="0">
              <a:solidFill>
                <a:srgbClr val="C00000"/>
              </a:solidFill>
            </a:endParaRPr>
          </a:p>
        </p:txBody>
      </p:sp>
      <p:sp>
        <p:nvSpPr>
          <p:cNvPr id="19" name="Rectángulo 18">
            <a:extLst>
              <a:ext uri="{FF2B5EF4-FFF2-40B4-BE49-F238E27FC236}">
                <a16:creationId xmlns:a16="http://schemas.microsoft.com/office/drawing/2014/main" id="{117F7792-1849-58F0-3E15-85E02234C2AC}"/>
              </a:ext>
            </a:extLst>
          </p:cNvPr>
          <p:cNvSpPr/>
          <p:nvPr/>
        </p:nvSpPr>
        <p:spPr>
          <a:xfrm>
            <a:off x="7543799" y="1520826"/>
            <a:ext cx="4276725"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r>
              <a:rPr lang="en-US" sz="1400" b="1" dirty="0">
                <a:solidFill>
                  <a:schemeClr val="tx2"/>
                </a:solidFill>
              </a:rPr>
              <a:t>Blue ocean strategy</a:t>
            </a:r>
            <a:endParaRPr lang="en-US" sz="1400" dirty="0">
              <a:solidFill>
                <a:schemeClr val="tx2"/>
              </a:solidFill>
            </a:endParaRPr>
          </a:p>
        </p:txBody>
      </p:sp>
      <p:sp>
        <p:nvSpPr>
          <p:cNvPr id="8" name="Flecha: pentágono 7">
            <a:extLst>
              <a:ext uri="{FF2B5EF4-FFF2-40B4-BE49-F238E27FC236}">
                <a16:creationId xmlns:a16="http://schemas.microsoft.com/office/drawing/2014/main" id="{288022C3-0F30-E09F-9C0E-BE78B9D49B5D}"/>
              </a:ext>
            </a:extLst>
          </p:cNvPr>
          <p:cNvSpPr/>
          <p:nvPr/>
        </p:nvSpPr>
        <p:spPr>
          <a:xfrm>
            <a:off x="371475" y="1870415"/>
            <a:ext cx="4458880" cy="998661"/>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en-US" sz="1200" dirty="0">
                <a:solidFill>
                  <a:schemeClr val="tx1"/>
                </a:solidFill>
              </a:rPr>
              <a:t>Look for opportunities to RAISE barriers. </a:t>
            </a:r>
          </a:p>
          <a:p>
            <a:r>
              <a:rPr lang="en-US" sz="1200" dirty="0">
                <a:solidFill>
                  <a:schemeClr val="tx1"/>
                </a:solidFill>
              </a:rPr>
              <a:t>Fight all new players or acquire them</a:t>
            </a:r>
          </a:p>
        </p:txBody>
      </p:sp>
      <p:sp>
        <p:nvSpPr>
          <p:cNvPr id="10" name="Flecha: pentágono 9">
            <a:extLst>
              <a:ext uri="{FF2B5EF4-FFF2-40B4-BE49-F238E27FC236}">
                <a16:creationId xmlns:a16="http://schemas.microsoft.com/office/drawing/2014/main" id="{0D2672BD-DB43-EC74-DA0F-C777B467D81F}"/>
              </a:ext>
            </a:extLst>
          </p:cNvPr>
          <p:cNvSpPr/>
          <p:nvPr/>
        </p:nvSpPr>
        <p:spPr>
          <a:xfrm>
            <a:off x="371475" y="3008529"/>
            <a:ext cx="4458880" cy="998661"/>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en-US" sz="1200" dirty="0">
                <a:solidFill>
                  <a:schemeClr val="tx1"/>
                </a:solidFill>
              </a:rPr>
              <a:t>Engage the BEST suppliers.</a:t>
            </a:r>
          </a:p>
          <a:p>
            <a:r>
              <a:rPr lang="en-US" sz="1200" dirty="0">
                <a:solidFill>
                  <a:schemeClr val="tx1"/>
                </a:solidFill>
              </a:rPr>
              <a:t>Reliable and well-established</a:t>
            </a:r>
          </a:p>
        </p:txBody>
      </p:sp>
      <p:sp>
        <p:nvSpPr>
          <p:cNvPr id="11" name="Flecha: pentágono 10">
            <a:extLst>
              <a:ext uri="{FF2B5EF4-FFF2-40B4-BE49-F238E27FC236}">
                <a16:creationId xmlns:a16="http://schemas.microsoft.com/office/drawing/2014/main" id="{D6C7A59F-754D-4C64-B962-2F1D1E0EEA5C}"/>
              </a:ext>
            </a:extLst>
          </p:cNvPr>
          <p:cNvSpPr/>
          <p:nvPr/>
        </p:nvSpPr>
        <p:spPr>
          <a:xfrm>
            <a:off x="371475" y="4163841"/>
            <a:ext cx="4458880" cy="998661"/>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en-US" sz="1200" dirty="0">
                <a:solidFill>
                  <a:schemeClr val="tx1"/>
                </a:solidFill>
              </a:rPr>
              <a:t>Client TLC is paramount.</a:t>
            </a:r>
          </a:p>
          <a:p>
            <a:r>
              <a:rPr lang="en-US" sz="1200" dirty="0">
                <a:solidFill>
                  <a:schemeClr val="tx1"/>
                </a:solidFill>
              </a:rPr>
              <a:t>They can defect at a moment’s notice</a:t>
            </a:r>
          </a:p>
        </p:txBody>
      </p:sp>
      <p:sp>
        <p:nvSpPr>
          <p:cNvPr id="12" name="Flecha: pentágono 11">
            <a:extLst>
              <a:ext uri="{FF2B5EF4-FFF2-40B4-BE49-F238E27FC236}">
                <a16:creationId xmlns:a16="http://schemas.microsoft.com/office/drawing/2014/main" id="{0D75C465-F3E9-151F-3F05-77041B80D23B}"/>
              </a:ext>
            </a:extLst>
          </p:cNvPr>
          <p:cNvSpPr/>
          <p:nvPr/>
        </p:nvSpPr>
        <p:spPr>
          <a:xfrm>
            <a:off x="371475" y="5310064"/>
            <a:ext cx="4458880" cy="998661"/>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r>
              <a:rPr lang="en-US" sz="1200" dirty="0">
                <a:solidFill>
                  <a:schemeClr val="tx1"/>
                </a:solidFill>
              </a:rPr>
              <a:t>Strive to be DIFFERENT or BETTER.</a:t>
            </a:r>
          </a:p>
          <a:p>
            <a:r>
              <a:rPr lang="en-US" sz="1200" dirty="0">
                <a:solidFill>
                  <a:schemeClr val="tx1"/>
                </a:solidFill>
              </a:rPr>
              <a:t>Track your competition closely</a:t>
            </a:r>
          </a:p>
        </p:txBody>
      </p:sp>
      <p:sp>
        <p:nvSpPr>
          <p:cNvPr id="14" name="Flecha: pentágono 13">
            <a:extLst>
              <a:ext uri="{FF2B5EF4-FFF2-40B4-BE49-F238E27FC236}">
                <a16:creationId xmlns:a16="http://schemas.microsoft.com/office/drawing/2014/main" id="{45414936-FE43-FACB-DB01-25B9BA6A2375}"/>
              </a:ext>
            </a:extLst>
          </p:cNvPr>
          <p:cNvSpPr/>
          <p:nvPr/>
        </p:nvSpPr>
        <p:spPr>
          <a:xfrm flipH="1">
            <a:off x="7361645" y="1870415"/>
            <a:ext cx="4458880" cy="998661"/>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36000" rIns="36000" bIns="36000" rtlCol="0" anchor="t"/>
          <a:lstStyle/>
          <a:p>
            <a:r>
              <a:rPr lang="en-US" sz="1200" dirty="0">
                <a:solidFill>
                  <a:schemeClr val="tx1"/>
                </a:solidFill>
              </a:rPr>
              <a:t>Don’t worry  about barriers at all.</a:t>
            </a:r>
          </a:p>
          <a:p>
            <a:r>
              <a:rPr lang="en-US" sz="1200" dirty="0">
                <a:solidFill>
                  <a:schemeClr val="tx1"/>
                </a:solidFill>
              </a:rPr>
              <a:t>If you can, raise them if it benefits you</a:t>
            </a:r>
          </a:p>
        </p:txBody>
      </p:sp>
      <p:sp>
        <p:nvSpPr>
          <p:cNvPr id="15" name="Flecha: pentágono 14">
            <a:extLst>
              <a:ext uri="{FF2B5EF4-FFF2-40B4-BE49-F238E27FC236}">
                <a16:creationId xmlns:a16="http://schemas.microsoft.com/office/drawing/2014/main" id="{24EBFFF6-2F7B-AE19-3467-BDE3AEAC3168}"/>
              </a:ext>
            </a:extLst>
          </p:cNvPr>
          <p:cNvSpPr/>
          <p:nvPr/>
        </p:nvSpPr>
        <p:spPr>
          <a:xfrm flipH="1">
            <a:off x="7361645" y="3008529"/>
            <a:ext cx="4458880" cy="998661"/>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36000" rIns="36000" bIns="36000" rtlCol="0" anchor="t"/>
          <a:lstStyle/>
          <a:p>
            <a:r>
              <a:rPr lang="en-US" sz="1200" dirty="0">
                <a:solidFill>
                  <a:schemeClr val="tx1"/>
                </a:solidFill>
              </a:rPr>
              <a:t>Engage FLEXIBLE suppliers who can quickly adapt to frequent change</a:t>
            </a:r>
          </a:p>
        </p:txBody>
      </p:sp>
      <p:sp>
        <p:nvSpPr>
          <p:cNvPr id="16" name="Flecha: pentágono 15">
            <a:extLst>
              <a:ext uri="{FF2B5EF4-FFF2-40B4-BE49-F238E27FC236}">
                <a16:creationId xmlns:a16="http://schemas.microsoft.com/office/drawing/2014/main" id="{65DD7226-C98F-F7B6-46D5-C2C5AA37E930}"/>
              </a:ext>
            </a:extLst>
          </p:cNvPr>
          <p:cNvSpPr/>
          <p:nvPr/>
        </p:nvSpPr>
        <p:spPr>
          <a:xfrm flipH="1">
            <a:off x="7361645" y="4163841"/>
            <a:ext cx="4458880" cy="998661"/>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36000" rIns="36000" bIns="36000" rtlCol="0" anchor="t"/>
          <a:lstStyle/>
          <a:p>
            <a:r>
              <a:rPr lang="en-US" sz="1200" dirty="0">
                <a:solidFill>
                  <a:schemeClr val="tx1"/>
                </a:solidFill>
              </a:rPr>
              <a:t>You set the CS benchmarks.</a:t>
            </a:r>
          </a:p>
          <a:p>
            <a:r>
              <a:rPr lang="en-US" sz="1200" dirty="0">
                <a:solidFill>
                  <a:schemeClr val="tx1"/>
                </a:solidFill>
              </a:rPr>
              <a:t>Develop comfortable relationships</a:t>
            </a:r>
          </a:p>
        </p:txBody>
      </p:sp>
      <p:sp>
        <p:nvSpPr>
          <p:cNvPr id="17" name="Flecha: pentágono 16">
            <a:extLst>
              <a:ext uri="{FF2B5EF4-FFF2-40B4-BE49-F238E27FC236}">
                <a16:creationId xmlns:a16="http://schemas.microsoft.com/office/drawing/2014/main" id="{13E5BB42-C90B-F36B-2513-0346797B3677}"/>
              </a:ext>
            </a:extLst>
          </p:cNvPr>
          <p:cNvSpPr/>
          <p:nvPr/>
        </p:nvSpPr>
        <p:spPr>
          <a:xfrm flipH="1">
            <a:off x="7361645" y="5310064"/>
            <a:ext cx="4458880" cy="998661"/>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36000" rIns="36000" bIns="36000" rtlCol="0" anchor="t"/>
          <a:lstStyle/>
          <a:p>
            <a:r>
              <a:rPr lang="en-US" sz="1200" dirty="0">
                <a:solidFill>
                  <a:schemeClr val="tx1"/>
                </a:solidFill>
              </a:rPr>
              <a:t>GROW FAST – so you leave the competition in the dust. Be the big fish in the pond</a:t>
            </a:r>
          </a:p>
        </p:txBody>
      </p:sp>
      <p:sp>
        <p:nvSpPr>
          <p:cNvPr id="2" name="Marcador de pie de página 1">
            <a:extLst>
              <a:ext uri="{FF2B5EF4-FFF2-40B4-BE49-F238E27FC236}">
                <a16:creationId xmlns:a16="http://schemas.microsoft.com/office/drawing/2014/main" id="{8F3F5D83-190C-B92C-6655-C2C98B3BDDC2}"/>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5555578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to 25" hidden="1">
            <a:extLst>
              <a:ext uri="{FF2B5EF4-FFF2-40B4-BE49-F238E27FC236}">
                <a16:creationId xmlns:a16="http://schemas.microsoft.com/office/drawing/2014/main" id="{B86ECC87-D4B4-E483-0708-11286B6D0756}"/>
              </a:ext>
            </a:extLst>
          </p:cNvPr>
          <p:cNvGraphicFramePr>
            <a:graphicFrameLocks noChangeAspect="1"/>
          </p:cNvGraphicFramePr>
          <p:nvPr>
            <p:custDataLst>
              <p:tags r:id="rId1"/>
            </p:custDataLst>
            <p:extLst>
              <p:ext uri="{D42A27DB-BD31-4B8C-83A1-F6EECF244321}">
                <p14:modId xmlns:p14="http://schemas.microsoft.com/office/powerpoint/2010/main" val="2132806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26" name="Objeto 25" hidden="1">
                        <a:extLst>
                          <a:ext uri="{FF2B5EF4-FFF2-40B4-BE49-F238E27FC236}">
                            <a16:creationId xmlns:a16="http://schemas.microsoft.com/office/drawing/2014/main" id="{B86ECC87-D4B4-E483-0708-11286B6D075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0" name="Rectángulo 19">
            <a:extLst>
              <a:ext uri="{FF2B5EF4-FFF2-40B4-BE49-F238E27FC236}">
                <a16:creationId xmlns:a16="http://schemas.microsoft.com/office/drawing/2014/main" id="{6FDC5AF6-D45B-A10F-E0D3-8B01D1A80D23}"/>
              </a:ext>
            </a:extLst>
          </p:cNvPr>
          <p:cNvSpPr/>
          <p:nvPr/>
        </p:nvSpPr>
        <p:spPr>
          <a:xfrm>
            <a:off x="4648200" y="1870415"/>
            <a:ext cx="2895600" cy="998661"/>
          </a:xfrm>
          <a:prstGeom prst="rect">
            <a:avLst/>
          </a:prstGeom>
          <a:gradFill>
            <a:gsLst>
              <a:gs pos="0">
                <a:srgbClr val="C00000"/>
              </a:gs>
              <a:gs pos="100000">
                <a:schemeClr val="tx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sz="1400" b="1" dirty="0">
                <a:solidFill>
                  <a:schemeClr val="bg1"/>
                </a:solidFill>
              </a:rPr>
              <a:t>Text</a:t>
            </a:r>
          </a:p>
        </p:txBody>
      </p:sp>
      <p:sp>
        <p:nvSpPr>
          <p:cNvPr id="21" name="Rectángulo 20">
            <a:extLst>
              <a:ext uri="{FF2B5EF4-FFF2-40B4-BE49-F238E27FC236}">
                <a16:creationId xmlns:a16="http://schemas.microsoft.com/office/drawing/2014/main" id="{F4FA4A9F-D168-E093-0D63-A9F5BBA47E56}"/>
              </a:ext>
            </a:extLst>
          </p:cNvPr>
          <p:cNvSpPr/>
          <p:nvPr/>
        </p:nvSpPr>
        <p:spPr>
          <a:xfrm>
            <a:off x="4648200" y="3008529"/>
            <a:ext cx="2895600" cy="998661"/>
          </a:xfrm>
          <a:prstGeom prst="rect">
            <a:avLst/>
          </a:prstGeom>
          <a:gradFill>
            <a:gsLst>
              <a:gs pos="0">
                <a:srgbClr val="C00000"/>
              </a:gs>
              <a:gs pos="100000">
                <a:schemeClr val="tx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sz="1400" b="1" dirty="0">
                <a:solidFill>
                  <a:schemeClr val="bg1"/>
                </a:solidFill>
              </a:rPr>
              <a:t>Text</a:t>
            </a:r>
          </a:p>
        </p:txBody>
      </p:sp>
      <p:sp>
        <p:nvSpPr>
          <p:cNvPr id="22" name="Rectángulo 21">
            <a:extLst>
              <a:ext uri="{FF2B5EF4-FFF2-40B4-BE49-F238E27FC236}">
                <a16:creationId xmlns:a16="http://schemas.microsoft.com/office/drawing/2014/main" id="{0121EBBA-624D-95D6-390A-BB0CA254CDBC}"/>
              </a:ext>
            </a:extLst>
          </p:cNvPr>
          <p:cNvSpPr/>
          <p:nvPr/>
        </p:nvSpPr>
        <p:spPr>
          <a:xfrm>
            <a:off x="4648200" y="4163841"/>
            <a:ext cx="2895600" cy="998661"/>
          </a:xfrm>
          <a:prstGeom prst="rect">
            <a:avLst/>
          </a:prstGeom>
          <a:gradFill>
            <a:gsLst>
              <a:gs pos="0">
                <a:srgbClr val="C00000"/>
              </a:gs>
              <a:gs pos="100000">
                <a:schemeClr val="tx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sz="1400" b="1" dirty="0">
                <a:solidFill>
                  <a:schemeClr val="bg1"/>
                </a:solidFill>
              </a:rPr>
              <a:t>Text</a:t>
            </a:r>
          </a:p>
        </p:txBody>
      </p:sp>
      <p:sp>
        <p:nvSpPr>
          <p:cNvPr id="23" name="Rectángulo 22">
            <a:extLst>
              <a:ext uri="{FF2B5EF4-FFF2-40B4-BE49-F238E27FC236}">
                <a16:creationId xmlns:a16="http://schemas.microsoft.com/office/drawing/2014/main" id="{AF832D75-CCA6-6348-D28D-131A954BCE63}"/>
              </a:ext>
            </a:extLst>
          </p:cNvPr>
          <p:cNvSpPr/>
          <p:nvPr/>
        </p:nvSpPr>
        <p:spPr>
          <a:xfrm>
            <a:off x="4648200" y="5310064"/>
            <a:ext cx="2895600" cy="998661"/>
          </a:xfrm>
          <a:prstGeom prst="rect">
            <a:avLst/>
          </a:prstGeom>
          <a:gradFill>
            <a:gsLst>
              <a:gs pos="0">
                <a:srgbClr val="C00000"/>
              </a:gs>
              <a:gs pos="100000">
                <a:schemeClr val="tx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sz="1400" b="1" dirty="0">
                <a:solidFill>
                  <a:schemeClr val="bg1"/>
                </a:solidFill>
              </a:rPr>
              <a:t>Text</a:t>
            </a:r>
          </a:p>
        </p:txBody>
      </p:sp>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p:txBody>
          <a:bodyPr vert="horz"/>
          <a:lstStyle/>
          <a:p>
            <a:r>
              <a:rPr lang="en-US" dirty="0"/>
              <a:t>Blue Ocean Strategy — Template B</a:t>
            </a:r>
          </a:p>
        </p:txBody>
      </p:sp>
      <p:sp>
        <p:nvSpPr>
          <p:cNvPr id="9" name="Rectángulo 8">
            <a:extLst>
              <a:ext uri="{FF2B5EF4-FFF2-40B4-BE49-F238E27FC236}">
                <a16:creationId xmlns:a16="http://schemas.microsoft.com/office/drawing/2014/main" id="{4A8B4EEB-36F3-491B-05E2-CAB92EC1CA10}"/>
              </a:ext>
            </a:extLst>
          </p:cNvPr>
          <p:cNvSpPr/>
          <p:nvPr/>
        </p:nvSpPr>
        <p:spPr>
          <a:xfrm>
            <a:off x="384175" y="1520826"/>
            <a:ext cx="4446180"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spAutoFit/>
          </a:bodyPr>
          <a:lstStyle/>
          <a:p>
            <a:r>
              <a:rPr lang="en-US" sz="1400" b="1" dirty="0">
                <a:solidFill>
                  <a:srgbClr val="C00000"/>
                </a:solidFill>
              </a:rPr>
              <a:t>XXX</a:t>
            </a:r>
            <a:endParaRPr lang="en-US" sz="1400" dirty="0">
              <a:solidFill>
                <a:srgbClr val="C00000"/>
              </a:solidFill>
            </a:endParaRPr>
          </a:p>
        </p:txBody>
      </p:sp>
      <p:sp>
        <p:nvSpPr>
          <p:cNvPr id="8" name="Flecha: pentágono 7">
            <a:extLst>
              <a:ext uri="{FF2B5EF4-FFF2-40B4-BE49-F238E27FC236}">
                <a16:creationId xmlns:a16="http://schemas.microsoft.com/office/drawing/2014/main" id="{288022C3-0F30-E09F-9C0E-BE78B9D49B5D}"/>
              </a:ext>
            </a:extLst>
          </p:cNvPr>
          <p:cNvSpPr/>
          <p:nvPr/>
        </p:nvSpPr>
        <p:spPr>
          <a:xfrm>
            <a:off x="371475" y="1870415"/>
            <a:ext cx="4458880" cy="998661"/>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74625" indent="-174625">
              <a:buFont typeface="Arial" panose="020B0604020202020204" pitchFamily="34" charset="0"/>
              <a:buChar char="•"/>
            </a:pPr>
            <a:r>
              <a:rPr lang="en-US" sz="1200" dirty="0">
                <a:solidFill>
                  <a:schemeClr val="tx1"/>
                </a:solidFill>
              </a:rPr>
              <a:t>XXX</a:t>
            </a:r>
          </a:p>
          <a:p>
            <a:pPr marL="174625" indent="-174625">
              <a:buFont typeface="Arial" panose="020B0604020202020204" pitchFamily="34" charset="0"/>
              <a:buChar char="•"/>
            </a:pPr>
            <a:r>
              <a:rPr lang="en-US" sz="1200" dirty="0">
                <a:solidFill>
                  <a:schemeClr val="tx1"/>
                </a:solidFill>
              </a:rPr>
              <a:t>XXX</a:t>
            </a:r>
          </a:p>
          <a:p>
            <a:pPr marL="174625" indent="-174625">
              <a:buFont typeface="Arial" panose="020B0604020202020204" pitchFamily="34" charset="0"/>
              <a:buChar char="•"/>
            </a:pPr>
            <a:r>
              <a:rPr lang="en-US" sz="1200" dirty="0">
                <a:solidFill>
                  <a:schemeClr val="tx1"/>
                </a:solidFill>
              </a:rPr>
              <a:t>XXX</a:t>
            </a:r>
          </a:p>
        </p:txBody>
      </p:sp>
      <p:sp>
        <p:nvSpPr>
          <p:cNvPr id="10" name="Flecha: pentágono 9">
            <a:extLst>
              <a:ext uri="{FF2B5EF4-FFF2-40B4-BE49-F238E27FC236}">
                <a16:creationId xmlns:a16="http://schemas.microsoft.com/office/drawing/2014/main" id="{0D2672BD-DB43-EC74-DA0F-C777B467D81F}"/>
              </a:ext>
            </a:extLst>
          </p:cNvPr>
          <p:cNvSpPr/>
          <p:nvPr/>
        </p:nvSpPr>
        <p:spPr>
          <a:xfrm>
            <a:off x="371475" y="3008529"/>
            <a:ext cx="4458880" cy="998661"/>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74625" indent="-174625">
              <a:buFont typeface="Arial" panose="020B0604020202020204" pitchFamily="34" charset="0"/>
              <a:buChar char="•"/>
            </a:pPr>
            <a:r>
              <a:rPr lang="en-US" sz="1200" dirty="0">
                <a:solidFill>
                  <a:schemeClr val="tx1"/>
                </a:solidFill>
              </a:rPr>
              <a:t>XXX</a:t>
            </a:r>
          </a:p>
          <a:p>
            <a:pPr marL="174625" indent="-174625">
              <a:buFont typeface="Arial" panose="020B0604020202020204" pitchFamily="34" charset="0"/>
              <a:buChar char="•"/>
            </a:pPr>
            <a:r>
              <a:rPr lang="en-US" sz="1200" dirty="0">
                <a:solidFill>
                  <a:schemeClr val="tx1"/>
                </a:solidFill>
              </a:rPr>
              <a:t>XXX</a:t>
            </a:r>
          </a:p>
          <a:p>
            <a:pPr marL="174625" indent="-174625">
              <a:buFont typeface="Arial" panose="020B0604020202020204" pitchFamily="34" charset="0"/>
              <a:buChar char="•"/>
            </a:pPr>
            <a:r>
              <a:rPr lang="en-US" sz="1200" dirty="0">
                <a:solidFill>
                  <a:schemeClr val="tx1"/>
                </a:solidFill>
              </a:rPr>
              <a:t>XXX</a:t>
            </a:r>
          </a:p>
        </p:txBody>
      </p:sp>
      <p:sp>
        <p:nvSpPr>
          <p:cNvPr id="11" name="Flecha: pentágono 10">
            <a:extLst>
              <a:ext uri="{FF2B5EF4-FFF2-40B4-BE49-F238E27FC236}">
                <a16:creationId xmlns:a16="http://schemas.microsoft.com/office/drawing/2014/main" id="{D6C7A59F-754D-4C64-B962-2F1D1E0EEA5C}"/>
              </a:ext>
            </a:extLst>
          </p:cNvPr>
          <p:cNvSpPr/>
          <p:nvPr/>
        </p:nvSpPr>
        <p:spPr>
          <a:xfrm>
            <a:off x="371475" y="4163841"/>
            <a:ext cx="4458880" cy="998661"/>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74625" indent="-174625">
              <a:buFont typeface="Arial" panose="020B0604020202020204" pitchFamily="34" charset="0"/>
              <a:buChar char="•"/>
            </a:pPr>
            <a:r>
              <a:rPr lang="en-US" sz="1200" dirty="0">
                <a:solidFill>
                  <a:schemeClr val="tx1"/>
                </a:solidFill>
              </a:rPr>
              <a:t>XXX</a:t>
            </a:r>
          </a:p>
          <a:p>
            <a:pPr marL="174625" indent="-174625">
              <a:buFont typeface="Arial" panose="020B0604020202020204" pitchFamily="34" charset="0"/>
              <a:buChar char="•"/>
            </a:pPr>
            <a:r>
              <a:rPr lang="en-US" sz="1200" dirty="0">
                <a:solidFill>
                  <a:schemeClr val="tx1"/>
                </a:solidFill>
              </a:rPr>
              <a:t>XXX</a:t>
            </a:r>
          </a:p>
          <a:p>
            <a:pPr marL="174625" indent="-174625">
              <a:buFont typeface="Arial" panose="020B0604020202020204" pitchFamily="34" charset="0"/>
              <a:buChar char="•"/>
            </a:pPr>
            <a:r>
              <a:rPr lang="en-US" sz="1200" dirty="0">
                <a:solidFill>
                  <a:schemeClr val="tx1"/>
                </a:solidFill>
              </a:rPr>
              <a:t>XXX</a:t>
            </a:r>
          </a:p>
        </p:txBody>
      </p:sp>
      <p:sp>
        <p:nvSpPr>
          <p:cNvPr id="12" name="Flecha: pentágono 11">
            <a:extLst>
              <a:ext uri="{FF2B5EF4-FFF2-40B4-BE49-F238E27FC236}">
                <a16:creationId xmlns:a16="http://schemas.microsoft.com/office/drawing/2014/main" id="{0D75C465-F3E9-151F-3F05-77041B80D23B}"/>
              </a:ext>
            </a:extLst>
          </p:cNvPr>
          <p:cNvSpPr/>
          <p:nvPr/>
        </p:nvSpPr>
        <p:spPr>
          <a:xfrm>
            <a:off x="371475" y="5310064"/>
            <a:ext cx="4458880" cy="998661"/>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74625" indent="-174625">
              <a:buFont typeface="Arial" panose="020B0604020202020204" pitchFamily="34" charset="0"/>
              <a:buChar char="•"/>
            </a:pPr>
            <a:r>
              <a:rPr lang="en-US" sz="1200" dirty="0">
                <a:solidFill>
                  <a:schemeClr val="tx1"/>
                </a:solidFill>
              </a:rPr>
              <a:t>XXX</a:t>
            </a:r>
          </a:p>
          <a:p>
            <a:pPr marL="174625" indent="-174625">
              <a:buFont typeface="Arial" panose="020B0604020202020204" pitchFamily="34" charset="0"/>
              <a:buChar char="•"/>
            </a:pPr>
            <a:r>
              <a:rPr lang="en-US" sz="1200" dirty="0">
                <a:solidFill>
                  <a:schemeClr val="tx1"/>
                </a:solidFill>
              </a:rPr>
              <a:t>XXX</a:t>
            </a:r>
          </a:p>
          <a:p>
            <a:pPr marL="174625" indent="-174625">
              <a:buFont typeface="Arial" panose="020B0604020202020204" pitchFamily="34" charset="0"/>
              <a:buChar char="•"/>
            </a:pPr>
            <a:r>
              <a:rPr lang="en-US" sz="1200" dirty="0">
                <a:solidFill>
                  <a:schemeClr val="tx1"/>
                </a:solidFill>
              </a:rPr>
              <a:t>XXX</a:t>
            </a:r>
          </a:p>
        </p:txBody>
      </p:sp>
      <p:sp>
        <p:nvSpPr>
          <p:cNvPr id="2" name="Rectángulo 1">
            <a:extLst>
              <a:ext uri="{FF2B5EF4-FFF2-40B4-BE49-F238E27FC236}">
                <a16:creationId xmlns:a16="http://schemas.microsoft.com/office/drawing/2014/main" id="{2A459652-DF05-C0CA-C748-A5892ACEF8DB}"/>
              </a:ext>
            </a:extLst>
          </p:cNvPr>
          <p:cNvSpPr/>
          <p:nvPr/>
        </p:nvSpPr>
        <p:spPr>
          <a:xfrm>
            <a:off x="7543799" y="1520826"/>
            <a:ext cx="4276725"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r>
              <a:rPr lang="en-US" sz="1400" b="1" dirty="0">
                <a:solidFill>
                  <a:schemeClr val="tx2"/>
                </a:solidFill>
              </a:rPr>
              <a:t>XXX</a:t>
            </a:r>
            <a:endParaRPr lang="en-US" sz="1400" dirty="0">
              <a:solidFill>
                <a:schemeClr val="tx2"/>
              </a:solidFill>
            </a:endParaRPr>
          </a:p>
        </p:txBody>
      </p:sp>
      <p:sp>
        <p:nvSpPr>
          <p:cNvPr id="4" name="Flecha: pentágono 3">
            <a:extLst>
              <a:ext uri="{FF2B5EF4-FFF2-40B4-BE49-F238E27FC236}">
                <a16:creationId xmlns:a16="http://schemas.microsoft.com/office/drawing/2014/main" id="{C4079BCE-5DD4-A040-95D7-E45CF7EBE05C}"/>
              </a:ext>
            </a:extLst>
          </p:cNvPr>
          <p:cNvSpPr/>
          <p:nvPr/>
        </p:nvSpPr>
        <p:spPr>
          <a:xfrm flipH="1">
            <a:off x="7361645" y="1870415"/>
            <a:ext cx="4458880" cy="998661"/>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36000" rIns="36000" bIns="36000" rtlCol="0" anchor="t"/>
          <a:lstStyle/>
          <a:p>
            <a:pPr marL="174625" indent="-174625">
              <a:buFont typeface="Arial" panose="020B0604020202020204" pitchFamily="34" charset="0"/>
              <a:buChar char="•"/>
            </a:pPr>
            <a:r>
              <a:rPr lang="en-US" sz="1200" dirty="0">
                <a:solidFill>
                  <a:schemeClr val="tx1"/>
                </a:solidFill>
              </a:rPr>
              <a:t>XXX</a:t>
            </a:r>
          </a:p>
          <a:p>
            <a:pPr marL="174625" indent="-174625">
              <a:buFont typeface="Arial" panose="020B0604020202020204" pitchFamily="34" charset="0"/>
              <a:buChar char="•"/>
            </a:pPr>
            <a:r>
              <a:rPr lang="en-US" sz="1200" dirty="0">
                <a:solidFill>
                  <a:schemeClr val="tx1"/>
                </a:solidFill>
              </a:rPr>
              <a:t>XXX</a:t>
            </a:r>
          </a:p>
          <a:p>
            <a:pPr marL="174625" indent="-174625">
              <a:buFont typeface="Arial" panose="020B0604020202020204" pitchFamily="34" charset="0"/>
              <a:buChar char="•"/>
            </a:pPr>
            <a:r>
              <a:rPr lang="en-US" sz="1200" dirty="0">
                <a:solidFill>
                  <a:schemeClr val="tx1"/>
                </a:solidFill>
              </a:rPr>
              <a:t>XXX</a:t>
            </a:r>
          </a:p>
        </p:txBody>
      </p:sp>
      <p:sp>
        <p:nvSpPr>
          <p:cNvPr id="5" name="Flecha: pentágono 4">
            <a:extLst>
              <a:ext uri="{FF2B5EF4-FFF2-40B4-BE49-F238E27FC236}">
                <a16:creationId xmlns:a16="http://schemas.microsoft.com/office/drawing/2014/main" id="{DA63CC17-2AF0-7A93-BF10-60C1679E1800}"/>
              </a:ext>
            </a:extLst>
          </p:cNvPr>
          <p:cNvSpPr/>
          <p:nvPr/>
        </p:nvSpPr>
        <p:spPr>
          <a:xfrm flipH="1">
            <a:off x="7361645" y="3008529"/>
            <a:ext cx="4458880" cy="998661"/>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36000" rIns="36000" bIns="36000" rtlCol="0" anchor="t"/>
          <a:lstStyle/>
          <a:p>
            <a:pPr marL="174625" indent="-174625">
              <a:buFont typeface="Arial" panose="020B0604020202020204" pitchFamily="34" charset="0"/>
              <a:buChar char="•"/>
            </a:pPr>
            <a:r>
              <a:rPr lang="en-US" sz="1200" dirty="0">
                <a:solidFill>
                  <a:schemeClr val="tx1"/>
                </a:solidFill>
              </a:rPr>
              <a:t>XXX</a:t>
            </a:r>
          </a:p>
          <a:p>
            <a:pPr marL="174625" indent="-174625">
              <a:buFont typeface="Arial" panose="020B0604020202020204" pitchFamily="34" charset="0"/>
              <a:buChar char="•"/>
            </a:pPr>
            <a:r>
              <a:rPr lang="en-US" sz="1200" dirty="0">
                <a:solidFill>
                  <a:schemeClr val="tx1"/>
                </a:solidFill>
              </a:rPr>
              <a:t>XXX</a:t>
            </a:r>
          </a:p>
          <a:p>
            <a:pPr marL="174625" indent="-174625">
              <a:buFont typeface="Arial" panose="020B0604020202020204" pitchFamily="34" charset="0"/>
              <a:buChar char="•"/>
            </a:pPr>
            <a:r>
              <a:rPr lang="en-US" sz="1200" dirty="0">
                <a:solidFill>
                  <a:schemeClr val="tx1"/>
                </a:solidFill>
              </a:rPr>
              <a:t>XXX</a:t>
            </a:r>
          </a:p>
        </p:txBody>
      </p:sp>
      <p:sp>
        <p:nvSpPr>
          <p:cNvPr id="6" name="Flecha: pentágono 5">
            <a:extLst>
              <a:ext uri="{FF2B5EF4-FFF2-40B4-BE49-F238E27FC236}">
                <a16:creationId xmlns:a16="http://schemas.microsoft.com/office/drawing/2014/main" id="{C80A80CF-956E-ADDF-D871-2CA5A4ECDEF6}"/>
              </a:ext>
            </a:extLst>
          </p:cNvPr>
          <p:cNvSpPr/>
          <p:nvPr/>
        </p:nvSpPr>
        <p:spPr>
          <a:xfrm flipH="1">
            <a:off x="7361645" y="4163841"/>
            <a:ext cx="4458880" cy="998661"/>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36000" rIns="36000" bIns="36000" rtlCol="0" anchor="t"/>
          <a:lstStyle/>
          <a:p>
            <a:pPr marL="174625" indent="-174625">
              <a:buFont typeface="Arial" panose="020B0604020202020204" pitchFamily="34" charset="0"/>
              <a:buChar char="•"/>
            </a:pPr>
            <a:r>
              <a:rPr lang="en-US" sz="1200" dirty="0">
                <a:solidFill>
                  <a:schemeClr val="tx1"/>
                </a:solidFill>
              </a:rPr>
              <a:t>XXX</a:t>
            </a:r>
          </a:p>
          <a:p>
            <a:pPr marL="174625" indent="-174625">
              <a:buFont typeface="Arial" panose="020B0604020202020204" pitchFamily="34" charset="0"/>
              <a:buChar char="•"/>
            </a:pPr>
            <a:r>
              <a:rPr lang="en-US" sz="1200" dirty="0">
                <a:solidFill>
                  <a:schemeClr val="tx1"/>
                </a:solidFill>
              </a:rPr>
              <a:t>XXX</a:t>
            </a:r>
          </a:p>
          <a:p>
            <a:pPr marL="174625" indent="-174625">
              <a:buFont typeface="Arial" panose="020B0604020202020204" pitchFamily="34" charset="0"/>
              <a:buChar char="•"/>
            </a:pPr>
            <a:r>
              <a:rPr lang="en-US" sz="1200" dirty="0">
                <a:solidFill>
                  <a:schemeClr val="tx1"/>
                </a:solidFill>
              </a:rPr>
              <a:t>XXX</a:t>
            </a:r>
          </a:p>
        </p:txBody>
      </p:sp>
      <p:sp>
        <p:nvSpPr>
          <p:cNvPr id="7" name="Flecha: pentágono 6">
            <a:extLst>
              <a:ext uri="{FF2B5EF4-FFF2-40B4-BE49-F238E27FC236}">
                <a16:creationId xmlns:a16="http://schemas.microsoft.com/office/drawing/2014/main" id="{8B936A75-3C12-B625-92B3-8AE3F187F9C7}"/>
              </a:ext>
            </a:extLst>
          </p:cNvPr>
          <p:cNvSpPr/>
          <p:nvPr/>
        </p:nvSpPr>
        <p:spPr>
          <a:xfrm flipH="1">
            <a:off x="7361645" y="5310064"/>
            <a:ext cx="4458880" cy="998661"/>
          </a:xfrm>
          <a:prstGeom prst="homePlate">
            <a:avLst>
              <a:gd name="adj" fmla="val 19186"/>
            </a:avLst>
          </a:prstGeom>
          <a:gradFill flip="none" rotWithShape="1">
            <a:gsLst>
              <a:gs pos="0">
                <a:schemeClr val="bg1"/>
              </a:gs>
              <a:gs pos="10000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36000" rIns="36000" bIns="36000" rtlCol="0" anchor="t"/>
          <a:lstStyle/>
          <a:p>
            <a:pPr marL="174625" indent="-174625">
              <a:buFont typeface="Arial" panose="020B0604020202020204" pitchFamily="34" charset="0"/>
              <a:buChar char="•"/>
            </a:pPr>
            <a:r>
              <a:rPr lang="en-US" sz="1200" dirty="0">
                <a:solidFill>
                  <a:schemeClr val="tx1"/>
                </a:solidFill>
              </a:rPr>
              <a:t>XXX</a:t>
            </a:r>
          </a:p>
          <a:p>
            <a:pPr marL="174625" indent="-174625">
              <a:buFont typeface="Arial" panose="020B0604020202020204" pitchFamily="34" charset="0"/>
              <a:buChar char="•"/>
            </a:pPr>
            <a:r>
              <a:rPr lang="en-US" sz="1200" dirty="0">
                <a:solidFill>
                  <a:schemeClr val="tx1"/>
                </a:solidFill>
              </a:rPr>
              <a:t>XXX</a:t>
            </a:r>
          </a:p>
          <a:p>
            <a:pPr marL="174625" indent="-174625">
              <a:buFont typeface="Arial" panose="020B0604020202020204" pitchFamily="34" charset="0"/>
              <a:buChar char="•"/>
            </a:pPr>
            <a:r>
              <a:rPr lang="en-US" sz="1200" dirty="0">
                <a:solidFill>
                  <a:schemeClr val="tx1"/>
                </a:solidFill>
              </a:rPr>
              <a:t>XXX</a:t>
            </a:r>
          </a:p>
        </p:txBody>
      </p:sp>
      <p:sp>
        <p:nvSpPr>
          <p:cNvPr id="18" name="Marcador de pie de página 17">
            <a:extLst>
              <a:ext uri="{FF2B5EF4-FFF2-40B4-BE49-F238E27FC236}">
                <a16:creationId xmlns:a16="http://schemas.microsoft.com/office/drawing/2014/main" id="{EDFF11FE-4F65-2C6D-380D-282DFB294134}"/>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1032202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Value Disciplines Model</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36348415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23535157-8D7C-1C30-3664-A9F7D20CBBC3}"/>
              </a:ext>
            </a:extLst>
          </p:cNvPr>
          <p:cNvGraphicFramePr>
            <a:graphicFrameLocks noChangeAspect="1"/>
          </p:cNvGraphicFramePr>
          <p:nvPr>
            <p:custDataLst>
              <p:tags r:id="rId1"/>
            </p:custDataLst>
            <p:extLst>
              <p:ext uri="{D42A27DB-BD31-4B8C-83A1-F6EECF244321}">
                <p14:modId xmlns:p14="http://schemas.microsoft.com/office/powerpoint/2010/main" val="9407713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CCFF6606-A852-1523-404B-A02900069E96}"/>
              </a:ext>
            </a:extLst>
          </p:cNvPr>
          <p:cNvSpPr>
            <a:spLocks noGrp="1"/>
          </p:cNvSpPr>
          <p:nvPr>
            <p:ph type="title"/>
          </p:nvPr>
        </p:nvSpPr>
        <p:spPr/>
        <p:txBody>
          <a:bodyPr vert="horz"/>
          <a:lstStyle/>
          <a:p>
            <a:r>
              <a:rPr lang="en-US" dirty="0"/>
              <a:t>Value Disciplines Model — Overview</a:t>
            </a:r>
          </a:p>
        </p:txBody>
      </p:sp>
      <p:sp>
        <p:nvSpPr>
          <p:cNvPr id="3" name="Marcador de texto 2">
            <a:extLst>
              <a:ext uri="{FF2B5EF4-FFF2-40B4-BE49-F238E27FC236}">
                <a16:creationId xmlns:a16="http://schemas.microsoft.com/office/drawing/2014/main" id="{966E0B6D-C442-F895-FD9E-FCF4C839274C}"/>
              </a:ext>
            </a:extLst>
          </p:cNvPr>
          <p:cNvSpPr>
            <a:spLocks noGrp="1"/>
          </p:cNvSpPr>
          <p:nvPr>
            <p:ph type="body" sz="quarter" idx="18"/>
          </p:nvPr>
        </p:nvSpPr>
        <p:spPr/>
        <p:txBody>
          <a:bodyPr/>
          <a:lstStyle/>
          <a:p>
            <a:r>
              <a:rPr lang="en-US" dirty="0"/>
              <a:t>The Value Disciplines model was created by Michael Treacy and Fred Wiersema in their 1995 book The Discipline of Market Leaders.</a:t>
            </a:r>
          </a:p>
        </p:txBody>
      </p:sp>
      <p:sp>
        <p:nvSpPr>
          <p:cNvPr id="4" name="Marcador de texto 3">
            <a:extLst>
              <a:ext uri="{FF2B5EF4-FFF2-40B4-BE49-F238E27FC236}">
                <a16:creationId xmlns:a16="http://schemas.microsoft.com/office/drawing/2014/main" id="{D479B6D6-48A4-2C83-4DB1-D569E4C42B91}"/>
              </a:ext>
            </a:extLst>
          </p:cNvPr>
          <p:cNvSpPr>
            <a:spLocks noGrp="1"/>
          </p:cNvSpPr>
          <p:nvPr>
            <p:ph type="body" sz="quarter" idx="19"/>
          </p:nvPr>
        </p:nvSpPr>
        <p:spPr/>
        <p:txBody>
          <a:bodyPr/>
          <a:lstStyle/>
          <a:p>
            <a:pPr marL="0" indent="0">
              <a:buFont typeface="Arial" panose="020B0604020202020204" pitchFamily="34" charset="0"/>
              <a:buNone/>
            </a:pPr>
            <a:r>
              <a:rPr lang="en-US" dirty="0"/>
              <a:t>The Value Disciplines model is a business framework that looks at the three competitive areas a company needs to focus on in order to be successful. These disciplines are:</a:t>
            </a:r>
          </a:p>
          <a:p>
            <a:r>
              <a:rPr lang="en-US" b="1" dirty="0"/>
              <a:t>Customer Intimacy: </a:t>
            </a:r>
            <a:r>
              <a:rPr lang="en-US" dirty="0"/>
              <a:t>This encompasses customer service and customer attention. To excel, a business must wherever possible personalize customer service. It must also develop a range of customizable products that meet different customer needs in great detail.</a:t>
            </a:r>
          </a:p>
          <a:p>
            <a:r>
              <a:rPr lang="en-US" b="1" dirty="0"/>
              <a:t>Product Leadership: </a:t>
            </a:r>
            <a:r>
              <a:rPr lang="en-US" dirty="0"/>
              <a:t>This means that a business offers products that are market leaders. This often requires a large investment in research and development, but the rewards are obvious. Leadership is easier said than done. It requires creative thinking and a rapid commercialization process to beat the competition, and products must also be continually updated to avoid obsolescence. </a:t>
            </a:r>
          </a:p>
          <a:p>
            <a:r>
              <a:rPr lang="en-US" b="1" dirty="0"/>
              <a:t>Operational Excellence: </a:t>
            </a:r>
            <a:r>
              <a:rPr lang="en-US" dirty="0"/>
              <a:t>A focus on price and convenience. This means that a business should focus on removing common barriers that prevent a consumer from making a buying decision.</a:t>
            </a:r>
          </a:p>
        </p:txBody>
      </p:sp>
      <p:sp>
        <p:nvSpPr>
          <p:cNvPr id="5" name="Marcador de texto 4">
            <a:extLst>
              <a:ext uri="{FF2B5EF4-FFF2-40B4-BE49-F238E27FC236}">
                <a16:creationId xmlns:a16="http://schemas.microsoft.com/office/drawing/2014/main" id="{F822378D-D42F-9889-CB26-ED8690EC810B}"/>
              </a:ext>
            </a:extLst>
          </p:cNvPr>
          <p:cNvSpPr>
            <a:spLocks noGrp="1"/>
          </p:cNvSpPr>
          <p:nvPr>
            <p:ph type="body" sz="quarter" idx="20"/>
          </p:nvPr>
        </p:nvSpPr>
        <p:spPr/>
        <p:txBody>
          <a:bodyPr/>
          <a:lstStyle/>
          <a:p>
            <a:r>
              <a:rPr lang="en-US" b="1" dirty="0"/>
              <a:t>Competitive strategy. </a:t>
            </a:r>
            <a:r>
              <a:rPr lang="en-US" dirty="0"/>
              <a:t>Identifying and focusing on one of three primary areas: operational excellence, customer intimacy, or product leadership.</a:t>
            </a:r>
          </a:p>
          <a:p>
            <a:r>
              <a:rPr lang="en-US" b="1" dirty="0"/>
              <a:t>Operational streamlining. </a:t>
            </a:r>
            <a:r>
              <a:rPr lang="en-US" dirty="0"/>
              <a:t>This could include implementing lean management techniques, optimizing the supply chain, and reducing waste in order to achieve cost savings and increase profit margins.</a:t>
            </a:r>
          </a:p>
          <a:p>
            <a:r>
              <a:rPr lang="en-US" b="1" dirty="0"/>
              <a:t>Customer relationships. </a:t>
            </a:r>
            <a:r>
              <a:rPr lang="en-US" dirty="0"/>
              <a:t>This could include developing highly customized products and services, improving customer service, and enhancing the overall customer experience in order to build rapport and loyalty with the target market.</a:t>
            </a:r>
          </a:p>
          <a:p>
            <a:r>
              <a:rPr lang="en-US" b="1" dirty="0"/>
              <a:t>Product development. </a:t>
            </a:r>
            <a:r>
              <a:rPr lang="en-US" dirty="0"/>
              <a:t>This could include investing in research and development, designing cutting-edge products, and leveraging emerging technologies and trends to set ourselves apart from competitors in the market.</a:t>
            </a:r>
          </a:p>
        </p:txBody>
      </p:sp>
      <p:sp>
        <p:nvSpPr>
          <p:cNvPr id="11" name="Marcador de pie de página 10">
            <a:extLst>
              <a:ext uri="{FF2B5EF4-FFF2-40B4-BE49-F238E27FC236}">
                <a16:creationId xmlns:a16="http://schemas.microsoft.com/office/drawing/2014/main" id="{B147CC2A-016E-6033-DE25-8E61C5A38C56}"/>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7933025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a:lstStyle/>
          <a:p>
            <a:r>
              <a:rPr lang="en-US" dirty="0"/>
              <a:t>Value Disciplines Model — Template A</a:t>
            </a:r>
          </a:p>
        </p:txBody>
      </p:sp>
      <p:grpSp>
        <p:nvGrpSpPr>
          <p:cNvPr id="26" name="Grupo 25">
            <a:extLst>
              <a:ext uri="{FF2B5EF4-FFF2-40B4-BE49-F238E27FC236}">
                <a16:creationId xmlns:a16="http://schemas.microsoft.com/office/drawing/2014/main" id="{4607AFEB-2480-4580-1C69-5D9E59378F0D}"/>
              </a:ext>
            </a:extLst>
          </p:cNvPr>
          <p:cNvGrpSpPr/>
          <p:nvPr/>
        </p:nvGrpSpPr>
        <p:grpSpPr>
          <a:xfrm>
            <a:off x="3793472" y="1531937"/>
            <a:ext cx="4605056" cy="4787900"/>
            <a:chOff x="3867150" y="1531937"/>
            <a:chExt cx="4518025" cy="4697413"/>
          </a:xfrm>
        </p:grpSpPr>
        <p:cxnSp>
          <p:nvCxnSpPr>
            <p:cNvPr id="27" name="Conector recto 26">
              <a:extLst>
                <a:ext uri="{FF2B5EF4-FFF2-40B4-BE49-F238E27FC236}">
                  <a16:creationId xmlns:a16="http://schemas.microsoft.com/office/drawing/2014/main" id="{EB420A42-CE70-27DF-B840-8C7B74170ACF}"/>
                </a:ext>
              </a:extLst>
            </p:cNvPr>
            <p:cNvCxnSpPr>
              <a:cxnSpLocks/>
              <a:stCxn id="28" idx="2"/>
              <a:endCxn id="29" idx="1"/>
            </p:cNvCxnSpPr>
            <p:nvPr/>
          </p:nvCxnSpPr>
          <p:spPr>
            <a:xfrm flipH="1">
              <a:off x="4362450" y="4457700"/>
              <a:ext cx="1765300" cy="97155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Forma libre: forma 27">
              <a:extLst>
                <a:ext uri="{FF2B5EF4-FFF2-40B4-BE49-F238E27FC236}">
                  <a16:creationId xmlns:a16="http://schemas.microsoft.com/office/drawing/2014/main" id="{10D0137B-E7F2-A92D-8B3C-6E7F6DB46DBD}"/>
                </a:ext>
              </a:extLst>
            </p:cNvPr>
            <p:cNvSpPr/>
            <p:nvPr/>
          </p:nvSpPr>
          <p:spPr>
            <a:xfrm>
              <a:off x="3867150" y="4184650"/>
              <a:ext cx="2260600" cy="2044700"/>
            </a:xfrm>
            <a:custGeom>
              <a:avLst/>
              <a:gdLst>
                <a:gd name="connsiteX0" fmla="*/ 0 w 2260600"/>
                <a:gd name="connsiteY0" fmla="*/ 984250 h 2044700"/>
                <a:gd name="connsiteX1" fmla="*/ 1758950 w 2260600"/>
                <a:gd name="connsiteY1" fmla="*/ 0 h 2044700"/>
                <a:gd name="connsiteX2" fmla="*/ 2260600 w 2260600"/>
                <a:gd name="connsiteY2" fmla="*/ 273050 h 2044700"/>
                <a:gd name="connsiteX3" fmla="*/ 2260600 w 2260600"/>
                <a:gd name="connsiteY3" fmla="*/ 1066800 h 2044700"/>
                <a:gd name="connsiteX4" fmla="*/ 495300 w 2260600"/>
                <a:gd name="connsiteY4" fmla="*/ 2044700 h 2044700"/>
                <a:gd name="connsiteX5" fmla="*/ 0 w 2260600"/>
                <a:gd name="connsiteY5" fmla="*/ 1784350 h 2044700"/>
                <a:gd name="connsiteX6" fmla="*/ 0 w 2260600"/>
                <a:gd name="connsiteY6" fmla="*/ 984250 h 204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0600" h="2044700">
                  <a:moveTo>
                    <a:pt x="0" y="984250"/>
                  </a:moveTo>
                  <a:lnTo>
                    <a:pt x="1758950" y="0"/>
                  </a:lnTo>
                  <a:lnTo>
                    <a:pt x="2260600" y="273050"/>
                  </a:lnTo>
                  <a:lnTo>
                    <a:pt x="2260600" y="1066800"/>
                  </a:lnTo>
                  <a:lnTo>
                    <a:pt x="495300" y="2044700"/>
                  </a:lnTo>
                  <a:lnTo>
                    <a:pt x="0" y="1784350"/>
                  </a:lnTo>
                  <a:lnTo>
                    <a:pt x="0" y="98425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29" name="Forma libre: forma 28">
              <a:extLst>
                <a:ext uri="{FF2B5EF4-FFF2-40B4-BE49-F238E27FC236}">
                  <a16:creationId xmlns:a16="http://schemas.microsoft.com/office/drawing/2014/main" id="{21EA5FD8-186F-4216-8966-AF48B3DF59E6}"/>
                </a:ext>
              </a:extLst>
            </p:cNvPr>
            <p:cNvSpPr/>
            <p:nvPr/>
          </p:nvSpPr>
          <p:spPr>
            <a:xfrm>
              <a:off x="3867150" y="5169694"/>
              <a:ext cx="497681" cy="1059656"/>
            </a:xfrm>
            <a:custGeom>
              <a:avLst/>
              <a:gdLst>
                <a:gd name="connsiteX0" fmla="*/ 0 w 497681"/>
                <a:gd name="connsiteY0" fmla="*/ 0 h 1059656"/>
                <a:gd name="connsiteX1" fmla="*/ 495300 w 497681"/>
                <a:gd name="connsiteY1" fmla="*/ 259556 h 1059656"/>
                <a:gd name="connsiteX2" fmla="*/ 497681 w 497681"/>
                <a:gd name="connsiteY2" fmla="*/ 1059656 h 1059656"/>
                <a:gd name="connsiteX3" fmla="*/ 481013 w 497681"/>
                <a:gd name="connsiteY3" fmla="*/ 1047750 h 1059656"/>
                <a:gd name="connsiteX4" fmla="*/ 2381 w 497681"/>
                <a:gd name="connsiteY4" fmla="*/ 802481 h 1059656"/>
                <a:gd name="connsiteX5" fmla="*/ 0 w 497681"/>
                <a:gd name="connsiteY5" fmla="*/ 0 h 1059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681" h="1059656">
                  <a:moveTo>
                    <a:pt x="0" y="0"/>
                  </a:moveTo>
                  <a:lnTo>
                    <a:pt x="495300" y="259556"/>
                  </a:lnTo>
                  <a:cubicBezTo>
                    <a:pt x="496094" y="526256"/>
                    <a:pt x="496887" y="792956"/>
                    <a:pt x="497681" y="1059656"/>
                  </a:cubicBezTo>
                  <a:lnTo>
                    <a:pt x="481013" y="1047750"/>
                  </a:lnTo>
                  <a:lnTo>
                    <a:pt x="2381" y="802481"/>
                  </a:lnTo>
                  <a:cubicBezTo>
                    <a:pt x="1587" y="534987"/>
                    <a:pt x="794" y="267494"/>
                    <a:pt x="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30" name="Forma libre: forma 29">
              <a:extLst>
                <a:ext uri="{FF2B5EF4-FFF2-40B4-BE49-F238E27FC236}">
                  <a16:creationId xmlns:a16="http://schemas.microsoft.com/office/drawing/2014/main" id="{C7A7455B-7705-9DD5-D128-80956CE50BB1}"/>
                </a:ext>
              </a:extLst>
            </p:cNvPr>
            <p:cNvSpPr/>
            <p:nvPr/>
          </p:nvSpPr>
          <p:spPr>
            <a:xfrm>
              <a:off x="4357688" y="4457700"/>
              <a:ext cx="1766887" cy="1771650"/>
            </a:xfrm>
            <a:custGeom>
              <a:avLst/>
              <a:gdLst>
                <a:gd name="connsiteX0" fmla="*/ 1766887 w 1766887"/>
                <a:gd name="connsiteY0" fmla="*/ 0 h 1771650"/>
                <a:gd name="connsiteX1" fmla="*/ 1766887 w 1766887"/>
                <a:gd name="connsiteY1" fmla="*/ 800100 h 1771650"/>
                <a:gd name="connsiteX2" fmla="*/ 0 w 1766887"/>
                <a:gd name="connsiteY2" fmla="*/ 1771650 h 1771650"/>
                <a:gd name="connsiteX3" fmla="*/ 0 w 1766887"/>
                <a:gd name="connsiteY3" fmla="*/ 971550 h 1771650"/>
                <a:gd name="connsiteX4" fmla="*/ 1766887 w 1766887"/>
                <a:gd name="connsiteY4" fmla="*/ 0 h 1771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6887" h="1771650">
                  <a:moveTo>
                    <a:pt x="1766887" y="0"/>
                  </a:moveTo>
                  <a:lnTo>
                    <a:pt x="1766887" y="800100"/>
                  </a:lnTo>
                  <a:lnTo>
                    <a:pt x="0" y="1771650"/>
                  </a:lnTo>
                  <a:lnTo>
                    <a:pt x="0" y="971550"/>
                  </a:lnTo>
                  <a:lnTo>
                    <a:pt x="1766887" y="0"/>
                  </a:ln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31" name="Forma libre: forma 30">
              <a:extLst>
                <a:ext uri="{FF2B5EF4-FFF2-40B4-BE49-F238E27FC236}">
                  <a16:creationId xmlns:a16="http://schemas.microsoft.com/office/drawing/2014/main" id="{68625BE2-A429-5CD0-A3C5-91441DC8B88A}"/>
                </a:ext>
              </a:extLst>
            </p:cNvPr>
            <p:cNvSpPr/>
            <p:nvPr/>
          </p:nvSpPr>
          <p:spPr>
            <a:xfrm flipH="1">
              <a:off x="6124575" y="4184650"/>
              <a:ext cx="2260600" cy="2044700"/>
            </a:xfrm>
            <a:custGeom>
              <a:avLst/>
              <a:gdLst>
                <a:gd name="connsiteX0" fmla="*/ 0 w 2260600"/>
                <a:gd name="connsiteY0" fmla="*/ 984250 h 2044700"/>
                <a:gd name="connsiteX1" fmla="*/ 1758950 w 2260600"/>
                <a:gd name="connsiteY1" fmla="*/ 0 h 2044700"/>
                <a:gd name="connsiteX2" fmla="*/ 2260600 w 2260600"/>
                <a:gd name="connsiteY2" fmla="*/ 273050 h 2044700"/>
                <a:gd name="connsiteX3" fmla="*/ 2260600 w 2260600"/>
                <a:gd name="connsiteY3" fmla="*/ 1066800 h 2044700"/>
                <a:gd name="connsiteX4" fmla="*/ 495300 w 2260600"/>
                <a:gd name="connsiteY4" fmla="*/ 2044700 h 2044700"/>
                <a:gd name="connsiteX5" fmla="*/ 0 w 2260600"/>
                <a:gd name="connsiteY5" fmla="*/ 1784350 h 2044700"/>
                <a:gd name="connsiteX6" fmla="*/ 0 w 2260600"/>
                <a:gd name="connsiteY6" fmla="*/ 984250 h 204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0600" h="2044700">
                  <a:moveTo>
                    <a:pt x="0" y="984250"/>
                  </a:moveTo>
                  <a:lnTo>
                    <a:pt x="1758950" y="0"/>
                  </a:lnTo>
                  <a:lnTo>
                    <a:pt x="2260600" y="273050"/>
                  </a:lnTo>
                  <a:lnTo>
                    <a:pt x="2260600" y="1066800"/>
                  </a:lnTo>
                  <a:lnTo>
                    <a:pt x="495300" y="2044700"/>
                  </a:lnTo>
                  <a:lnTo>
                    <a:pt x="0" y="1784350"/>
                  </a:lnTo>
                  <a:lnTo>
                    <a:pt x="0" y="98425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68" name="Forma libre: forma 7167">
              <a:extLst>
                <a:ext uri="{FF2B5EF4-FFF2-40B4-BE49-F238E27FC236}">
                  <a16:creationId xmlns:a16="http://schemas.microsoft.com/office/drawing/2014/main" id="{AEE26DC2-E9F5-1677-79EF-E9664E8BB0B3}"/>
                </a:ext>
              </a:extLst>
            </p:cNvPr>
            <p:cNvSpPr/>
            <p:nvPr/>
          </p:nvSpPr>
          <p:spPr>
            <a:xfrm flipH="1">
              <a:off x="7887494" y="5169694"/>
              <a:ext cx="497681" cy="1059656"/>
            </a:xfrm>
            <a:custGeom>
              <a:avLst/>
              <a:gdLst>
                <a:gd name="connsiteX0" fmla="*/ 0 w 497681"/>
                <a:gd name="connsiteY0" fmla="*/ 0 h 1059656"/>
                <a:gd name="connsiteX1" fmla="*/ 495300 w 497681"/>
                <a:gd name="connsiteY1" fmla="*/ 259556 h 1059656"/>
                <a:gd name="connsiteX2" fmla="*/ 497681 w 497681"/>
                <a:gd name="connsiteY2" fmla="*/ 1059656 h 1059656"/>
                <a:gd name="connsiteX3" fmla="*/ 481013 w 497681"/>
                <a:gd name="connsiteY3" fmla="*/ 1047750 h 1059656"/>
                <a:gd name="connsiteX4" fmla="*/ 2381 w 497681"/>
                <a:gd name="connsiteY4" fmla="*/ 802481 h 1059656"/>
                <a:gd name="connsiteX5" fmla="*/ 0 w 497681"/>
                <a:gd name="connsiteY5" fmla="*/ 0 h 1059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681" h="1059656">
                  <a:moveTo>
                    <a:pt x="0" y="0"/>
                  </a:moveTo>
                  <a:lnTo>
                    <a:pt x="495300" y="259556"/>
                  </a:lnTo>
                  <a:cubicBezTo>
                    <a:pt x="496094" y="526256"/>
                    <a:pt x="496887" y="792956"/>
                    <a:pt x="497681" y="1059656"/>
                  </a:cubicBezTo>
                  <a:lnTo>
                    <a:pt x="481013" y="1047750"/>
                  </a:lnTo>
                  <a:lnTo>
                    <a:pt x="2381" y="802481"/>
                  </a:lnTo>
                  <a:cubicBezTo>
                    <a:pt x="1587" y="534987"/>
                    <a:pt x="794" y="267494"/>
                    <a:pt x="0"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69" name="Forma libre: forma 7168">
              <a:extLst>
                <a:ext uri="{FF2B5EF4-FFF2-40B4-BE49-F238E27FC236}">
                  <a16:creationId xmlns:a16="http://schemas.microsoft.com/office/drawing/2014/main" id="{F644B66A-966D-B04A-F792-888CCCD65395}"/>
                </a:ext>
              </a:extLst>
            </p:cNvPr>
            <p:cNvSpPr/>
            <p:nvPr/>
          </p:nvSpPr>
          <p:spPr>
            <a:xfrm flipH="1">
              <a:off x="6127750" y="4457700"/>
              <a:ext cx="1766887" cy="1771650"/>
            </a:xfrm>
            <a:custGeom>
              <a:avLst/>
              <a:gdLst>
                <a:gd name="connsiteX0" fmla="*/ 1766887 w 1766887"/>
                <a:gd name="connsiteY0" fmla="*/ 0 h 1771650"/>
                <a:gd name="connsiteX1" fmla="*/ 1766887 w 1766887"/>
                <a:gd name="connsiteY1" fmla="*/ 800100 h 1771650"/>
                <a:gd name="connsiteX2" fmla="*/ 0 w 1766887"/>
                <a:gd name="connsiteY2" fmla="*/ 1771650 h 1771650"/>
                <a:gd name="connsiteX3" fmla="*/ 0 w 1766887"/>
                <a:gd name="connsiteY3" fmla="*/ 971550 h 1771650"/>
                <a:gd name="connsiteX4" fmla="*/ 1766887 w 1766887"/>
                <a:gd name="connsiteY4" fmla="*/ 0 h 1771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6887" h="1771650">
                  <a:moveTo>
                    <a:pt x="1766887" y="0"/>
                  </a:moveTo>
                  <a:lnTo>
                    <a:pt x="1766887" y="800100"/>
                  </a:lnTo>
                  <a:lnTo>
                    <a:pt x="0" y="1771650"/>
                  </a:lnTo>
                  <a:lnTo>
                    <a:pt x="0" y="971550"/>
                  </a:lnTo>
                  <a:lnTo>
                    <a:pt x="1766887" y="0"/>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71" name="Forma libre: forma 7170">
              <a:extLst>
                <a:ext uri="{FF2B5EF4-FFF2-40B4-BE49-F238E27FC236}">
                  <a16:creationId xmlns:a16="http://schemas.microsoft.com/office/drawing/2014/main" id="{4964184B-AC61-7008-01F8-73456EF3109E}"/>
                </a:ext>
              </a:extLst>
            </p:cNvPr>
            <p:cNvSpPr/>
            <p:nvPr/>
          </p:nvSpPr>
          <p:spPr>
            <a:xfrm>
              <a:off x="5632450" y="1809750"/>
              <a:ext cx="996950" cy="2381250"/>
            </a:xfrm>
            <a:custGeom>
              <a:avLst/>
              <a:gdLst>
                <a:gd name="connsiteX0" fmla="*/ 996950 w 996950"/>
                <a:gd name="connsiteY0" fmla="*/ 2381250 h 2381250"/>
                <a:gd name="connsiteX1" fmla="*/ 996950 w 996950"/>
                <a:gd name="connsiteY1" fmla="*/ 0 h 2381250"/>
                <a:gd name="connsiteX2" fmla="*/ 0 w 996950"/>
                <a:gd name="connsiteY2" fmla="*/ 0 h 2381250"/>
                <a:gd name="connsiteX3" fmla="*/ 0 w 996950"/>
                <a:gd name="connsiteY3" fmla="*/ 2368550 h 2381250"/>
                <a:gd name="connsiteX4" fmla="*/ 57150 w 996950"/>
                <a:gd name="connsiteY4" fmla="*/ 2368550 h 2381250"/>
                <a:gd name="connsiteX5" fmla="*/ 996950 w 996950"/>
                <a:gd name="connsiteY5" fmla="*/ 2381250 h 2381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6950" h="2381250">
                  <a:moveTo>
                    <a:pt x="996950" y="2381250"/>
                  </a:moveTo>
                  <a:lnTo>
                    <a:pt x="996950" y="0"/>
                  </a:lnTo>
                  <a:lnTo>
                    <a:pt x="0" y="0"/>
                  </a:lnTo>
                  <a:lnTo>
                    <a:pt x="0" y="2368550"/>
                  </a:lnTo>
                  <a:lnTo>
                    <a:pt x="57150" y="2368550"/>
                  </a:lnTo>
                  <a:lnTo>
                    <a:pt x="996950" y="2381250"/>
                  </a:lnTo>
                  <a:close/>
                </a:path>
              </a:pathLst>
            </a:cu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72" name="Rombo 7171">
              <a:extLst>
                <a:ext uri="{FF2B5EF4-FFF2-40B4-BE49-F238E27FC236}">
                  <a16:creationId xmlns:a16="http://schemas.microsoft.com/office/drawing/2014/main" id="{D6096102-AC21-16E8-4605-746447D8A3ED}"/>
                </a:ext>
              </a:extLst>
            </p:cNvPr>
            <p:cNvSpPr/>
            <p:nvPr/>
          </p:nvSpPr>
          <p:spPr>
            <a:xfrm>
              <a:off x="5625249" y="3910013"/>
              <a:ext cx="1001770" cy="547688"/>
            </a:xfrm>
            <a:prstGeom prst="diamond">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73" name="Rombo 7172">
              <a:extLst>
                <a:ext uri="{FF2B5EF4-FFF2-40B4-BE49-F238E27FC236}">
                  <a16:creationId xmlns:a16="http://schemas.microsoft.com/office/drawing/2014/main" id="{E830FD1B-4CF0-A556-917C-271ADDF90D96}"/>
                </a:ext>
              </a:extLst>
            </p:cNvPr>
            <p:cNvSpPr/>
            <p:nvPr/>
          </p:nvSpPr>
          <p:spPr>
            <a:xfrm>
              <a:off x="5625249" y="1531937"/>
              <a:ext cx="1001770" cy="547688"/>
            </a:xfrm>
            <a:prstGeom prst="diamond">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74" name="Rombo 7173">
              <a:extLst>
                <a:ext uri="{FF2B5EF4-FFF2-40B4-BE49-F238E27FC236}">
                  <a16:creationId xmlns:a16="http://schemas.microsoft.com/office/drawing/2014/main" id="{135BE3D2-AA9D-0BB0-799A-33C6383FECB7}"/>
                </a:ext>
              </a:extLst>
            </p:cNvPr>
            <p:cNvSpPr/>
            <p:nvPr/>
          </p:nvSpPr>
          <p:spPr>
            <a:xfrm>
              <a:off x="5625249" y="4710114"/>
              <a:ext cx="1001770" cy="547688"/>
            </a:xfrm>
            <a:prstGeom prst="diamond">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75" name="Forma libre: forma 7174">
              <a:extLst>
                <a:ext uri="{FF2B5EF4-FFF2-40B4-BE49-F238E27FC236}">
                  <a16:creationId xmlns:a16="http://schemas.microsoft.com/office/drawing/2014/main" id="{CBC2D936-8A27-D8A2-557A-D40276A03F23}"/>
                </a:ext>
              </a:extLst>
            </p:cNvPr>
            <p:cNvSpPr/>
            <p:nvPr/>
          </p:nvSpPr>
          <p:spPr>
            <a:xfrm>
              <a:off x="5626894" y="4183856"/>
              <a:ext cx="1000125" cy="802482"/>
            </a:xfrm>
            <a:custGeom>
              <a:avLst/>
              <a:gdLst>
                <a:gd name="connsiteX0" fmla="*/ 1000125 w 1000125"/>
                <a:gd name="connsiteY0" fmla="*/ 0 h 802482"/>
                <a:gd name="connsiteX1" fmla="*/ 500062 w 1000125"/>
                <a:gd name="connsiteY1" fmla="*/ 273844 h 802482"/>
                <a:gd name="connsiteX2" fmla="*/ 0 w 1000125"/>
                <a:gd name="connsiteY2" fmla="*/ 2382 h 802482"/>
                <a:gd name="connsiteX3" fmla="*/ 0 w 1000125"/>
                <a:gd name="connsiteY3" fmla="*/ 797719 h 802482"/>
                <a:gd name="connsiteX4" fmla="*/ 1000125 w 1000125"/>
                <a:gd name="connsiteY4" fmla="*/ 802482 h 802482"/>
                <a:gd name="connsiteX5" fmla="*/ 1000125 w 1000125"/>
                <a:gd name="connsiteY5" fmla="*/ 0 h 80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125" h="802482">
                  <a:moveTo>
                    <a:pt x="1000125" y="0"/>
                  </a:moveTo>
                  <a:lnTo>
                    <a:pt x="500062" y="273844"/>
                  </a:lnTo>
                  <a:lnTo>
                    <a:pt x="0" y="2382"/>
                  </a:lnTo>
                  <a:lnTo>
                    <a:pt x="0" y="797719"/>
                  </a:lnTo>
                  <a:lnTo>
                    <a:pt x="1000125" y="802482"/>
                  </a:lnTo>
                  <a:lnTo>
                    <a:pt x="1000125"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cxnSp>
        <p:nvCxnSpPr>
          <p:cNvPr id="7176" name="Conector recto de flecha 7175">
            <a:extLst>
              <a:ext uri="{FF2B5EF4-FFF2-40B4-BE49-F238E27FC236}">
                <a16:creationId xmlns:a16="http://schemas.microsoft.com/office/drawing/2014/main" id="{4D0D00B3-F88E-684D-2EBC-E3F246D1C042}"/>
              </a:ext>
            </a:extLst>
          </p:cNvPr>
          <p:cNvCxnSpPr>
            <a:cxnSpLocks/>
          </p:cNvCxnSpPr>
          <p:nvPr/>
        </p:nvCxnSpPr>
        <p:spPr>
          <a:xfrm flipV="1">
            <a:off x="6096000" y="2209800"/>
            <a:ext cx="0" cy="2561536"/>
          </a:xfrm>
          <a:prstGeom prst="straightConnector1">
            <a:avLst/>
          </a:prstGeom>
          <a:ln w="28575">
            <a:solidFill>
              <a:schemeClr val="accent1"/>
            </a:solidFill>
            <a:prstDash val="sysDot"/>
            <a:tailEnd type="arrow" w="med" len="sm"/>
          </a:ln>
        </p:spPr>
        <p:style>
          <a:lnRef idx="1">
            <a:schemeClr val="accent1"/>
          </a:lnRef>
          <a:fillRef idx="0">
            <a:schemeClr val="accent1"/>
          </a:fillRef>
          <a:effectRef idx="0">
            <a:schemeClr val="accent1"/>
          </a:effectRef>
          <a:fontRef idx="minor">
            <a:schemeClr val="tx1"/>
          </a:fontRef>
        </p:style>
      </p:cxnSp>
      <p:cxnSp>
        <p:nvCxnSpPr>
          <p:cNvPr id="7177" name="Conector recto de flecha 7176">
            <a:extLst>
              <a:ext uri="{FF2B5EF4-FFF2-40B4-BE49-F238E27FC236}">
                <a16:creationId xmlns:a16="http://schemas.microsoft.com/office/drawing/2014/main" id="{5AD411B9-EC0A-8713-161C-239F35444AE9}"/>
              </a:ext>
            </a:extLst>
          </p:cNvPr>
          <p:cNvCxnSpPr>
            <a:cxnSpLocks/>
          </p:cNvCxnSpPr>
          <p:nvPr/>
        </p:nvCxnSpPr>
        <p:spPr>
          <a:xfrm>
            <a:off x="6096000" y="4771336"/>
            <a:ext cx="1699260" cy="958904"/>
          </a:xfrm>
          <a:prstGeom prst="straightConnector1">
            <a:avLst/>
          </a:prstGeom>
          <a:ln w="28575">
            <a:solidFill>
              <a:schemeClr val="accent1"/>
            </a:solidFill>
            <a:prstDash val="sysDot"/>
            <a:tailEnd type="arrow" w="med" len="sm"/>
          </a:ln>
        </p:spPr>
        <p:style>
          <a:lnRef idx="1">
            <a:schemeClr val="accent1"/>
          </a:lnRef>
          <a:fillRef idx="0">
            <a:schemeClr val="accent1"/>
          </a:fillRef>
          <a:effectRef idx="0">
            <a:schemeClr val="accent1"/>
          </a:effectRef>
          <a:fontRef idx="minor">
            <a:schemeClr val="tx1"/>
          </a:fontRef>
        </p:style>
      </p:cxnSp>
      <p:cxnSp>
        <p:nvCxnSpPr>
          <p:cNvPr id="7178" name="Conector recto de flecha 7177">
            <a:extLst>
              <a:ext uri="{FF2B5EF4-FFF2-40B4-BE49-F238E27FC236}">
                <a16:creationId xmlns:a16="http://schemas.microsoft.com/office/drawing/2014/main" id="{C7235D59-7139-94CE-0ACB-0EE739AB7DD6}"/>
              </a:ext>
            </a:extLst>
          </p:cNvPr>
          <p:cNvCxnSpPr>
            <a:cxnSpLocks/>
          </p:cNvCxnSpPr>
          <p:nvPr/>
        </p:nvCxnSpPr>
        <p:spPr>
          <a:xfrm flipH="1">
            <a:off x="4401594" y="4771336"/>
            <a:ext cx="1699260" cy="958904"/>
          </a:xfrm>
          <a:prstGeom prst="straightConnector1">
            <a:avLst/>
          </a:prstGeom>
          <a:ln w="28575">
            <a:solidFill>
              <a:schemeClr val="accent1"/>
            </a:solidFill>
            <a:prstDash val="sysDot"/>
            <a:tailEnd type="arrow" w="med" len="sm"/>
          </a:ln>
        </p:spPr>
        <p:style>
          <a:lnRef idx="1">
            <a:schemeClr val="accent1"/>
          </a:lnRef>
          <a:fillRef idx="0">
            <a:schemeClr val="accent1"/>
          </a:fillRef>
          <a:effectRef idx="0">
            <a:schemeClr val="accent1"/>
          </a:effectRef>
          <a:fontRef idx="minor">
            <a:schemeClr val="tx1"/>
          </a:fontRef>
        </p:style>
      </p:cxnSp>
      <p:sp>
        <p:nvSpPr>
          <p:cNvPr id="7179" name="TextBox 25">
            <a:extLst>
              <a:ext uri="{FF2B5EF4-FFF2-40B4-BE49-F238E27FC236}">
                <a16:creationId xmlns:a16="http://schemas.microsoft.com/office/drawing/2014/main" id="{6BF932A8-6644-BCCE-D4D8-D288EEC55B51}"/>
              </a:ext>
            </a:extLst>
          </p:cNvPr>
          <p:cNvSpPr txBox="1"/>
          <p:nvPr/>
        </p:nvSpPr>
        <p:spPr>
          <a:xfrm>
            <a:off x="6927850" y="1520824"/>
            <a:ext cx="3580255" cy="954107"/>
          </a:xfrm>
          <a:prstGeom prst="rect">
            <a:avLst/>
          </a:prstGeom>
          <a:noFill/>
        </p:spPr>
        <p:txBody>
          <a:bodyPr wrap="square" lIns="0" tIns="0" rIns="0" bIns="0" rtlCol="0" anchor="t">
            <a:spAutoFit/>
          </a:bodyPr>
          <a:lstStyle/>
          <a:p>
            <a:pPr marR="0" lvl="0" algn="l" defTabSz="914400" rtl="0" eaLnBrk="1" fontAlgn="auto" latinLnBrk="0" hangingPunct="1">
              <a:lnSpc>
                <a:spcPct val="100000"/>
              </a:lnSpc>
              <a:spcAft>
                <a:spcPts val="0"/>
              </a:spcAft>
              <a:buClrTx/>
              <a:buSzTx/>
              <a:tabLst/>
              <a:defRPr/>
            </a:pPr>
            <a:r>
              <a:rPr kumimoji="0" lang="en-US" sz="14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Product leadership</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Best product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Product innovation</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Flexible production</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R&amp;D is dominant</a:t>
            </a:r>
          </a:p>
        </p:txBody>
      </p:sp>
      <p:sp>
        <p:nvSpPr>
          <p:cNvPr id="7180" name="TextBox 25">
            <a:extLst>
              <a:ext uri="{FF2B5EF4-FFF2-40B4-BE49-F238E27FC236}">
                <a16:creationId xmlns:a16="http://schemas.microsoft.com/office/drawing/2014/main" id="{E9153CD2-668D-9599-3CF7-285A8DC787B1}"/>
              </a:ext>
            </a:extLst>
          </p:cNvPr>
          <p:cNvSpPr txBox="1"/>
          <p:nvPr/>
        </p:nvSpPr>
        <p:spPr>
          <a:xfrm>
            <a:off x="8605394" y="4104519"/>
            <a:ext cx="3215131" cy="954107"/>
          </a:xfrm>
          <a:prstGeom prst="rect">
            <a:avLst/>
          </a:prstGeom>
          <a:noFill/>
        </p:spPr>
        <p:txBody>
          <a:bodyPr wrap="square" lIns="0" tIns="0" rIns="0" bIns="0" rtlCol="0" anchor="t">
            <a:spAutoFit/>
          </a:bodyPr>
          <a:lstStyle/>
          <a:p>
            <a:pPr marR="0" lvl="0" algn="l" defTabSz="914400" rtl="0" eaLnBrk="1" fontAlgn="auto" latinLnBrk="0" hangingPunct="1">
              <a:lnSpc>
                <a:spcPct val="100000"/>
              </a:lnSpc>
              <a:spcAft>
                <a:spcPts val="0"/>
              </a:spcAft>
              <a:buClrTx/>
              <a:buSzTx/>
              <a:tabLst/>
              <a:defRPr/>
            </a:pPr>
            <a:r>
              <a:rPr kumimoji="0" lang="en-US" sz="14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Customer intimacy</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Loyal customers</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Best customer</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Solution innovation at customer</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Level CRM is dominant</a:t>
            </a:r>
          </a:p>
        </p:txBody>
      </p:sp>
      <p:sp>
        <p:nvSpPr>
          <p:cNvPr id="7181" name="TextBox 25">
            <a:extLst>
              <a:ext uri="{FF2B5EF4-FFF2-40B4-BE49-F238E27FC236}">
                <a16:creationId xmlns:a16="http://schemas.microsoft.com/office/drawing/2014/main" id="{73F71DE7-B7A4-80C9-7B1D-B877552CFABD}"/>
              </a:ext>
            </a:extLst>
          </p:cNvPr>
          <p:cNvSpPr txBox="1"/>
          <p:nvPr/>
        </p:nvSpPr>
        <p:spPr>
          <a:xfrm>
            <a:off x="384174" y="4104519"/>
            <a:ext cx="3580255" cy="954107"/>
          </a:xfrm>
          <a:prstGeom prst="rect">
            <a:avLst/>
          </a:prstGeom>
          <a:noFill/>
        </p:spPr>
        <p:txBody>
          <a:bodyPr wrap="square" lIns="0" tIns="0" rIns="0" bIns="0" rtlCol="0" anchor="t">
            <a:spAutoFit/>
          </a:bodyPr>
          <a:lstStyle/>
          <a:p>
            <a:pPr marR="0" lvl="0" algn="l" defTabSz="914400" rtl="0" eaLnBrk="1" fontAlgn="auto" latinLnBrk="0" hangingPunct="1">
              <a:lnSpc>
                <a:spcPct val="100000"/>
              </a:lnSpc>
              <a:spcAft>
                <a:spcPts val="0"/>
              </a:spcAft>
              <a:buClrTx/>
              <a:buSzTx/>
              <a:tabLst/>
              <a:defRPr/>
            </a:pPr>
            <a:r>
              <a:rPr kumimoji="0" lang="en-US" sz="14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Operational excellence</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Reliable product</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Lowest cost price</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Ease of use/ convenience</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Logistic is dominant</a:t>
            </a:r>
          </a:p>
        </p:txBody>
      </p:sp>
      <p:sp>
        <p:nvSpPr>
          <p:cNvPr id="2" name="Marcador de pie de página 1">
            <a:extLst>
              <a:ext uri="{FF2B5EF4-FFF2-40B4-BE49-F238E27FC236}">
                <a16:creationId xmlns:a16="http://schemas.microsoft.com/office/drawing/2014/main" id="{B38B5529-E08B-DDC2-39A4-174B069E1347}"/>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5581713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a:lstStyle/>
          <a:p>
            <a:r>
              <a:rPr lang="en-US" dirty="0"/>
              <a:t>Value Disciplines Model — Template B</a:t>
            </a:r>
          </a:p>
        </p:txBody>
      </p:sp>
      <p:grpSp>
        <p:nvGrpSpPr>
          <p:cNvPr id="26" name="Grupo 25">
            <a:extLst>
              <a:ext uri="{FF2B5EF4-FFF2-40B4-BE49-F238E27FC236}">
                <a16:creationId xmlns:a16="http://schemas.microsoft.com/office/drawing/2014/main" id="{4607AFEB-2480-4580-1C69-5D9E59378F0D}"/>
              </a:ext>
            </a:extLst>
          </p:cNvPr>
          <p:cNvGrpSpPr/>
          <p:nvPr/>
        </p:nvGrpSpPr>
        <p:grpSpPr>
          <a:xfrm>
            <a:off x="3793472" y="1531937"/>
            <a:ext cx="4605056" cy="4787900"/>
            <a:chOff x="3867150" y="1531937"/>
            <a:chExt cx="4518025" cy="4697413"/>
          </a:xfrm>
        </p:grpSpPr>
        <p:cxnSp>
          <p:nvCxnSpPr>
            <p:cNvPr id="27" name="Conector recto 26">
              <a:extLst>
                <a:ext uri="{FF2B5EF4-FFF2-40B4-BE49-F238E27FC236}">
                  <a16:creationId xmlns:a16="http://schemas.microsoft.com/office/drawing/2014/main" id="{EB420A42-CE70-27DF-B840-8C7B74170ACF}"/>
                </a:ext>
              </a:extLst>
            </p:cNvPr>
            <p:cNvCxnSpPr>
              <a:cxnSpLocks/>
              <a:stCxn id="28" idx="2"/>
              <a:endCxn id="29" idx="1"/>
            </p:cNvCxnSpPr>
            <p:nvPr/>
          </p:nvCxnSpPr>
          <p:spPr>
            <a:xfrm flipH="1">
              <a:off x="4362450" y="4457700"/>
              <a:ext cx="1765300" cy="97155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Forma libre: forma 27">
              <a:extLst>
                <a:ext uri="{FF2B5EF4-FFF2-40B4-BE49-F238E27FC236}">
                  <a16:creationId xmlns:a16="http://schemas.microsoft.com/office/drawing/2014/main" id="{10D0137B-E7F2-A92D-8B3C-6E7F6DB46DBD}"/>
                </a:ext>
              </a:extLst>
            </p:cNvPr>
            <p:cNvSpPr/>
            <p:nvPr/>
          </p:nvSpPr>
          <p:spPr>
            <a:xfrm>
              <a:off x="3867150" y="4184650"/>
              <a:ext cx="2260600" cy="2044700"/>
            </a:xfrm>
            <a:custGeom>
              <a:avLst/>
              <a:gdLst>
                <a:gd name="connsiteX0" fmla="*/ 0 w 2260600"/>
                <a:gd name="connsiteY0" fmla="*/ 984250 h 2044700"/>
                <a:gd name="connsiteX1" fmla="*/ 1758950 w 2260600"/>
                <a:gd name="connsiteY1" fmla="*/ 0 h 2044700"/>
                <a:gd name="connsiteX2" fmla="*/ 2260600 w 2260600"/>
                <a:gd name="connsiteY2" fmla="*/ 273050 h 2044700"/>
                <a:gd name="connsiteX3" fmla="*/ 2260600 w 2260600"/>
                <a:gd name="connsiteY3" fmla="*/ 1066800 h 2044700"/>
                <a:gd name="connsiteX4" fmla="*/ 495300 w 2260600"/>
                <a:gd name="connsiteY4" fmla="*/ 2044700 h 2044700"/>
                <a:gd name="connsiteX5" fmla="*/ 0 w 2260600"/>
                <a:gd name="connsiteY5" fmla="*/ 1784350 h 2044700"/>
                <a:gd name="connsiteX6" fmla="*/ 0 w 2260600"/>
                <a:gd name="connsiteY6" fmla="*/ 984250 h 204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0600" h="2044700">
                  <a:moveTo>
                    <a:pt x="0" y="984250"/>
                  </a:moveTo>
                  <a:lnTo>
                    <a:pt x="1758950" y="0"/>
                  </a:lnTo>
                  <a:lnTo>
                    <a:pt x="2260600" y="273050"/>
                  </a:lnTo>
                  <a:lnTo>
                    <a:pt x="2260600" y="1066800"/>
                  </a:lnTo>
                  <a:lnTo>
                    <a:pt x="495300" y="2044700"/>
                  </a:lnTo>
                  <a:lnTo>
                    <a:pt x="0" y="1784350"/>
                  </a:lnTo>
                  <a:lnTo>
                    <a:pt x="0" y="98425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29" name="Forma libre: forma 28">
              <a:extLst>
                <a:ext uri="{FF2B5EF4-FFF2-40B4-BE49-F238E27FC236}">
                  <a16:creationId xmlns:a16="http://schemas.microsoft.com/office/drawing/2014/main" id="{21EA5FD8-186F-4216-8966-AF48B3DF59E6}"/>
                </a:ext>
              </a:extLst>
            </p:cNvPr>
            <p:cNvSpPr/>
            <p:nvPr/>
          </p:nvSpPr>
          <p:spPr>
            <a:xfrm>
              <a:off x="3867150" y="5169694"/>
              <a:ext cx="497681" cy="1059656"/>
            </a:xfrm>
            <a:custGeom>
              <a:avLst/>
              <a:gdLst>
                <a:gd name="connsiteX0" fmla="*/ 0 w 497681"/>
                <a:gd name="connsiteY0" fmla="*/ 0 h 1059656"/>
                <a:gd name="connsiteX1" fmla="*/ 495300 w 497681"/>
                <a:gd name="connsiteY1" fmla="*/ 259556 h 1059656"/>
                <a:gd name="connsiteX2" fmla="*/ 497681 w 497681"/>
                <a:gd name="connsiteY2" fmla="*/ 1059656 h 1059656"/>
                <a:gd name="connsiteX3" fmla="*/ 481013 w 497681"/>
                <a:gd name="connsiteY3" fmla="*/ 1047750 h 1059656"/>
                <a:gd name="connsiteX4" fmla="*/ 2381 w 497681"/>
                <a:gd name="connsiteY4" fmla="*/ 802481 h 1059656"/>
                <a:gd name="connsiteX5" fmla="*/ 0 w 497681"/>
                <a:gd name="connsiteY5" fmla="*/ 0 h 1059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681" h="1059656">
                  <a:moveTo>
                    <a:pt x="0" y="0"/>
                  </a:moveTo>
                  <a:lnTo>
                    <a:pt x="495300" y="259556"/>
                  </a:lnTo>
                  <a:cubicBezTo>
                    <a:pt x="496094" y="526256"/>
                    <a:pt x="496887" y="792956"/>
                    <a:pt x="497681" y="1059656"/>
                  </a:cubicBezTo>
                  <a:lnTo>
                    <a:pt x="481013" y="1047750"/>
                  </a:lnTo>
                  <a:lnTo>
                    <a:pt x="2381" y="802481"/>
                  </a:lnTo>
                  <a:cubicBezTo>
                    <a:pt x="1587" y="534987"/>
                    <a:pt x="794" y="267494"/>
                    <a:pt x="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30" name="Forma libre: forma 29">
              <a:extLst>
                <a:ext uri="{FF2B5EF4-FFF2-40B4-BE49-F238E27FC236}">
                  <a16:creationId xmlns:a16="http://schemas.microsoft.com/office/drawing/2014/main" id="{C7A7455B-7705-9DD5-D128-80956CE50BB1}"/>
                </a:ext>
              </a:extLst>
            </p:cNvPr>
            <p:cNvSpPr/>
            <p:nvPr/>
          </p:nvSpPr>
          <p:spPr>
            <a:xfrm>
              <a:off x="4357688" y="4457700"/>
              <a:ext cx="1766887" cy="1771650"/>
            </a:xfrm>
            <a:custGeom>
              <a:avLst/>
              <a:gdLst>
                <a:gd name="connsiteX0" fmla="*/ 1766887 w 1766887"/>
                <a:gd name="connsiteY0" fmla="*/ 0 h 1771650"/>
                <a:gd name="connsiteX1" fmla="*/ 1766887 w 1766887"/>
                <a:gd name="connsiteY1" fmla="*/ 800100 h 1771650"/>
                <a:gd name="connsiteX2" fmla="*/ 0 w 1766887"/>
                <a:gd name="connsiteY2" fmla="*/ 1771650 h 1771650"/>
                <a:gd name="connsiteX3" fmla="*/ 0 w 1766887"/>
                <a:gd name="connsiteY3" fmla="*/ 971550 h 1771650"/>
                <a:gd name="connsiteX4" fmla="*/ 1766887 w 1766887"/>
                <a:gd name="connsiteY4" fmla="*/ 0 h 1771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6887" h="1771650">
                  <a:moveTo>
                    <a:pt x="1766887" y="0"/>
                  </a:moveTo>
                  <a:lnTo>
                    <a:pt x="1766887" y="800100"/>
                  </a:lnTo>
                  <a:lnTo>
                    <a:pt x="0" y="1771650"/>
                  </a:lnTo>
                  <a:lnTo>
                    <a:pt x="0" y="971550"/>
                  </a:lnTo>
                  <a:lnTo>
                    <a:pt x="1766887" y="0"/>
                  </a:ln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31" name="Forma libre: forma 30">
              <a:extLst>
                <a:ext uri="{FF2B5EF4-FFF2-40B4-BE49-F238E27FC236}">
                  <a16:creationId xmlns:a16="http://schemas.microsoft.com/office/drawing/2014/main" id="{68625BE2-A429-5CD0-A3C5-91441DC8B88A}"/>
                </a:ext>
              </a:extLst>
            </p:cNvPr>
            <p:cNvSpPr/>
            <p:nvPr/>
          </p:nvSpPr>
          <p:spPr>
            <a:xfrm flipH="1">
              <a:off x="6124575" y="4184650"/>
              <a:ext cx="2260600" cy="2044700"/>
            </a:xfrm>
            <a:custGeom>
              <a:avLst/>
              <a:gdLst>
                <a:gd name="connsiteX0" fmla="*/ 0 w 2260600"/>
                <a:gd name="connsiteY0" fmla="*/ 984250 h 2044700"/>
                <a:gd name="connsiteX1" fmla="*/ 1758950 w 2260600"/>
                <a:gd name="connsiteY1" fmla="*/ 0 h 2044700"/>
                <a:gd name="connsiteX2" fmla="*/ 2260600 w 2260600"/>
                <a:gd name="connsiteY2" fmla="*/ 273050 h 2044700"/>
                <a:gd name="connsiteX3" fmla="*/ 2260600 w 2260600"/>
                <a:gd name="connsiteY3" fmla="*/ 1066800 h 2044700"/>
                <a:gd name="connsiteX4" fmla="*/ 495300 w 2260600"/>
                <a:gd name="connsiteY4" fmla="*/ 2044700 h 2044700"/>
                <a:gd name="connsiteX5" fmla="*/ 0 w 2260600"/>
                <a:gd name="connsiteY5" fmla="*/ 1784350 h 2044700"/>
                <a:gd name="connsiteX6" fmla="*/ 0 w 2260600"/>
                <a:gd name="connsiteY6" fmla="*/ 984250 h 204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0600" h="2044700">
                  <a:moveTo>
                    <a:pt x="0" y="984250"/>
                  </a:moveTo>
                  <a:lnTo>
                    <a:pt x="1758950" y="0"/>
                  </a:lnTo>
                  <a:lnTo>
                    <a:pt x="2260600" y="273050"/>
                  </a:lnTo>
                  <a:lnTo>
                    <a:pt x="2260600" y="1066800"/>
                  </a:lnTo>
                  <a:lnTo>
                    <a:pt x="495300" y="2044700"/>
                  </a:lnTo>
                  <a:lnTo>
                    <a:pt x="0" y="1784350"/>
                  </a:lnTo>
                  <a:lnTo>
                    <a:pt x="0" y="98425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68" name="Forma libre: forma 7167">
              <a:extLst>
                <a:ext uri="{FF2B5EF4-FFF2-40B4-BE49-F238E27FC236}">
                  <a16:creationId xmlns:a16="http://schemas.microsoft.com/office/drawing/2014/main" id="{AEE26DC2-E9F5-1677-79EF-E9664E8BB0B3}"/>
                </a:ext>
              </a:extLst>
            </p:cNvPr>
            <p:cNvSpPr/>
            <p:nvPr/>
          </p:nvSpPr>
          <p:spPr>
            <a:xfrm flipH="1">
              <a:off x="7887494" y="5169694"/>
              <a:ext cx="497681" cy="1059656"/>
            </a:xfrm>
            <a:custGeom>
              <a:avLst/>
              <a:gdLst>
                <a:gd name="connsiteX0" fmla="*/ 0 w 497681"/>
                <a:gd name="connsiteY0" fmla="*/ 0 h 1059656"/>
                <a:gd name="connsiteX1" fmla="*/ 495300 w 497681"/>
                <a:gd name="connsiteY1" fmla="*/ 259556 h 1059656"/>
                <a:gd name="connsiteX2" fmla="*/ 497681 w 497681"/>
                <a:gd name="connsiteY2" fmla="*/ 1059656 h 1059656"/>
                <a:gd name="connsiteX3" fmla="*/ 481013 w 497681"/>
                <a:gd name="connsiteY3" fmla="*/ 1047750 h 1059656"/>
                <a:gd name="connsiteX4" fmla="*/ 2381 w 497681"/>
                <a:gd name="connsiteY4" fmla="*/ 802481 h 1059656"/>
                <a:gd name="connsiteX5" fmla="*/ 0 w 497681"/>
                <a:gd name="connsiteY5" fmla="*/ 0 h 1059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681" h="1059656">
                  <a:moveTo>
                    <a:pt x="0" y="0"/>
                  </a:moveTo>
                  <a:lnTo>
                    <a:pt x="495300" y="259556"/>
                  </a:lnTo>
                  <a:cubicBezTo>
                    <a:pt x="496094" y="526256"/>
                    <a:pt x="496887" y="792956"/>
                    <a:pt x="497681" y="1059656"/>
                  </a:cubicBezTo>
                  <a:lnTo>
                    <a:pt x="481013" y="1047750"/>
                  </a:lnTo>
                  <a:lnTo>
                    <a:pt x="2381" y="802481"/>
                  </a:lnTo>
                  <a:cubicBezTo>
                    <a:pt x="1587" y="534987"/>
                    <a:pt x="794" y="267494"/>
                    <a:pt x="0"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69" name="Forma libre: forma 7168">
              <a:extLst>
                <a:ext uri="{FF2B5EF4-FFF2-40B4-BE49-F238E27FC236}">
                  <a16:creationId xmlns:a16="http://schemas.microsoft.com/office/drawing/2014/main" id="{F644B66A-966D-B04A-F792-888CCCD65395}"/>
                </a:ext>
              </a:extLst>
            </p:cNvPr>
            <p:cNvSpPr/>
            <p:nvPr/>
          </p:nvSpPr>
          <p:spPr>
            <a:xfrm flipH="1">
              <a:off x="6127750" y="4457700"/>
              <a:ext cx="1766887" cy="1771650"/>
            </a:xfrm>
            <a:custGeom>
              <a:avLst/>
              <a:gdLst>
                <a:gd name="connsiteX0" fmla="*/ 1766887 w 1766887"/>
                <a:gd name="connsiteY0" fmla="*/ 0 h 1771650"/>
                <a:gd name="connsiteX1" fmla="*/ 1766887 w 1766887"/>
                <a:gd name="connsiteY1" fmla="*/ 800100 h 1771650"/>
                <a:gd name="connsiteX2" fmla="*/ 0 w 1766887"/>
                <a:gd name="connsiteY2" fmla="*/ 1771650 h 1771650"/>
                <a:gd name="connsiteX3" fmla="*/ 0 w 1766887"/>
                <a:gd name="connsiteY3" fmla="*/ 971550 h 1771650"/>
                <a:gd name="connsiteX4" fmla="*/ 1766887 w 1766887"/>
                <a:gd name="connsiteY4" fmla="*/ 0 h 1771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6887" h="1771650">
                  <a:moveTo>
                    <a:pt x="1766887" y="0"/>
                  </a:moveTo>
                  <a:lnTo>
                    <a:pt x="1766887" y="800100"/>
                  </a:lnTo>
                  <a:lnTo>
                    <a:pt x="0" y="1771650"/>
                  </a:lnTo>
                  <a:lnTo>
                    <a:pt x="0" y="971550"/>
                  </a:lnTo>
                  <a:lnTo>
                    <a:pt x="1766887" y="0"/>
                  </a:ln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71" name="Forma libre: forma 7170">
              <a:extLst>
                <a:ext uri="{FF2B5EF4-FFF2-40B4-BE49-F238E27FC236}">
                  <a16:creationId xmlns:a16="http://schemas.microsoft.com/office/drawing/2014/main" id="{4964184B-AC61-7008-01F8-73456EF3109E}"/>
                </a:ext>
              </a:extLst>
            </p:cNvPr>
            <p:cNvSpPr/>
            <p:nvPr/>
          </p:nvSpPr>
          <p:spPr>
            <a:xfrm>
              <a:off x="5632450" y="1809750"/>
              <a:ext cx="996950" cy="2381250"/>
            </a:xfrm>
            <a:custGeom>
              <a:avLst/>
              <a:gdLst>
                <a:gd name="connsiteX0" fmla="*/ 996950 w 996950"/>
                <a:gd name="connsiteY0" fmla="*/ 2381250 h 2381250"/>
                <a:gd name="connsiteX1" fmla="*/ 996950 w 996950"/>
                <a:gd name="connsiteY1" fmla="*/ 0 h 2381250"/>
                <a:gd name="connsiteX2" fmla="*/ 0 w 996950"/>
                <a:gd name="connsiteY2" fmla="*/ 0 h 2381250"/>
                <a:gd name="connsiteX3" fmla="*/ 0 w 996950"/>
                <a:gd name="connsiteY3" fmla="*/ 2368550 h 2381250"/>
                <a:gd name="connsiteX4" fmla="*/ 57150 w 996950"/>
                <a:gd name="connsiteY4" fmla="*/ 2368550 h 2381250"/>
                <a:gd name="connsiteX5" fmla="*/ 996950 w 996950"/>
                <a:gd name="connsiteY5" fmla="*/ 2381250 h 2381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6950" h="2381250">
                  <a:moveTo>
                    <a:pt x="996950" y="2381250"/>
                  </a:moveTo>
                  <a:lnTo>
                    <a:pt x="996950" y="0"/>
                  </a:lnTo>
                  <a:lnTo>
                    <a:pt x="0" y="0"/>
                  </a:lnTo>
                  <a:lnTo>
                    <a:pt x="0" y="2368550"/>
                  </a:lnTo>
                  <a:lnTo>
                    <a:pt x="57150" y="2368550"/>
                  </a:lnTo>
                  <a:lnTo>
                    <a:pt x="996950" y="2381250"/>
                  </a:lnTo>
                  <a:close/>
                </a:path>
              </a:pathLst>
            </a:cu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72" name="Rombo 7171">
              <a:extLst>
                <a:ext uri="{FF2B5EF4-FFF2-40B4-BE49-F238E27FC236}">
                  <a16:creationId xmlns:a16="http://schemas.microsoft.com/office/drawing/2014/main" id="{D6096102-AC21-16E8-4605-746447D8A3ED}"/>
                </a:ext>
              </a:extLst>
            </p:cNvPr>
            <p:cNvSpPr/>
            <p:nvPr/>
          </p:nvSpPr>
          <p:spPr>
            <a:xfrm>
              <a:off x="5625249" y="3910013"/>
              <a:ext cx="1001770" cy="547688"/>
            </a:xfrm>
            <a:prstGeom prst="diamond">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73" name="Rombo 7172">
              <a:extLst>
                <a:ext uri="{FF2B5EF4-FFF2-40B4-BE49-F238E27FC236}">
                  <a16:creationId xmlns:a16="http://schemas.microsoft.com/office/drawing/2014/main" id="{E830FD1B-4CF0-A556-917C-271ADDF90D96}"/>
                </a:ext>
              </a:extLst>
            </p:cNvPr>
            <p:cNvSpPr/>
            <p:nvPr/>
          </p:nvSpPr>
          <p:spPr>
            <a:xfrm>
              <a:off x="5625249" y="1531937"/>
              <a:ext cx="1001770" cy="547688"/>
            </a:xfrm>
            <a:prstGeom prst="diamond">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74" name="Rombo 7173">
              <a:extLst>
                <a:ext uri="{FF2B5EF4-FFF2-40B4-BE49-F238E27FC236}">
                  <a16:creationId xmlns:a16="http://schemas.microsoft.com/office/drawing/2014/main" id="{135BE3D2-AA9D-0BB0-799A-33C6383FECB7}"/>
                </a:ext>
              </a:extLst>
            </p:cNvPr>
            <p:cNvSpPr/>
            <p:nvPr/>
          </p:nvSpPr>
          <p:spPr>
            <a:xfrm>
              <a:off x="5625249" y="4710114"/>
              <a:ext cx="1001770" cy="547688"/>
            </a:xfrm>
            <a:prstGeom prst="diamond">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75" name="Forma libre: forma 7174">
              <a:extLst>
                <a:ext uri="{FF2B5EF4-FFF2-40B4-BE49-F238E27FC236}">
                  <a16:creationId xmlns:a16="http://schemas.microsoft.com/office/drawing/2014/main" id="{CBC2D936-8A27-D8A2-557A-D40276A03F23}"/>
                </a:ext>
              </a:extLst>
            </p:cNvPr>
            <p:cNvSpPr/>
            <p:nvPr/>
          </p:nvSpPr>
          <p:spPr>
            <a:xfrm>
              <a:off x="5626894" y="4183856"/>
              <a:ext cx="1000125" cy="802482"/>
            </a:xfrm>
            <a:custGeom>
              <a:avLst/>
              <a:gdLst>
                <a:gd name="connsiteX0" fmla="*/ 1000125 w 1000125"/>
                <a:gd name="connsiteY0" fmla="*/ 0 h 802482"/>
                <a:gd name="connsiteX1" fmla="*/ 500062 w 1000125"/>
                <a:gd name="connsiteY1" fmla="*/ 273844 h 802482"/>
                <a:gd name="connsiteX2" fmla="*/ 0 w 1000125"/>
                <a:gd name="connsiteY2" fmla="*/ 2382 h 802482"/>
                <a:gd name="connsiteX3" fmla="*/ 0 w 1000125"/>
                <a:gd name="connsiteY3" fmla="*/ 797719 h 802482"/>
                <a:gd name="connsiteX4" fmla="*/ 1000125 w 1000125"/>
                <a:gd name="connsiteY4" fmla="*/ 802482 h 802482"/>
                <a:gd name="connsiteX5" fmla="*/ 1000125 w 1000125"/>
                <a:gd name="connsiteY5" fmla="*/ 0 h 80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125" h="802482">
                  <a:moveTo>
                    <a:pt x="1000125" y="0"/>
                  </a:moveTo>
                  <a:lnTo>
                    <a:pt x="500062" y="273844"/>
                  </a:lnTo>
                  <a:lnTo>
                    <a:pt x="0" y="2382"/>
                  </a:lnTo>
                  <a:lnTo>
                    <a:pt x="0" y="797719"/>
                  </a:lnTo>
                  <a:lnTo>
                    <a:pt x="1000125" y="802482"/>
                  </a:lnTo>
                  <a:lnTo>
                    <a:pt x="1000125"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cxnSp>
        <p:nvCxnSpPr>
          <p:cNvPr id="7176" name="Conector recto de flecha 7175">
            <a:extLst>
              <a:ext uri="{FF2B5EF4-FFF2-40B4-BE49-F238E27FC236}">
                <a16:creationId xmlns:a16="http://schemas.microsoft.com/office/drawing/2014/main" id="{4D0D00B3-F88E-684D-2EBC-E3F246D1C042}"/>
              </a:ext>
            </a:extLst>
          </p:cNvPr>
          <p:cNvCxnSpPr>
            <a:cxnSpLocks/>
          </p:cNvCxnSpPr>
          <p:nvPr/>
        </p:nvCxnSpPr>
        <p:spPr>
          <a:xfrm flipV="1">
            <a:off x="6096000" y="2209800"/>
            <a:ext cx="0" cy="2561536"/>
          </a:xfrm>
          <a:prstGeom prst="straightConnector1">
            <a:avLst/>
          </a:prstGeom>
          <a:ln w="28575">
            <a:solidFill>
              <a:schemeClr val="accent1"/>
            </a:solidFill>
            <a:prstDash val="sysDot"/>
            <a:tailEnd type="arrow" w="med" len="sm"/>
          </a:ln>
        </p:spPr>
        <p:style>
          <a:lnRef idx="1">
            <a:schemeClr val="accent1"/>
          </a:lnRef>
          <a:fillRef idx="0">
            <a:schemeClr val="accent1"/>
          </a:fillRef>
          <a:effectRef idx="0">
            <a:schemeClr val="accent1"/>
          </a:effectRef>
          <a:fontRef idx="minor">
            <a:schemeClr val="tx1"/>
          </a:fontRef>
        </p:style>
      </p:cxnSp>
      <p:cxnSp>
        <p:nvCxnSpPr>
          <p:cNvPr id="7177" name="Conector recto de flecha 7176">
            <a:extLst>
              <a:ext uri="{FF2B5EF4-FFF2-40B4-BE49-F238E27FC236}">
                <a16:creationId xmlns:a16="http://schemas.microsoft.com/office/drawing/2014/main" id="{5AD411B9-EC0A-8713-161C-239F35444AE9}"/>
              </a:ext>
            </a:extLst>
          </p:cNvPr>
          <p:cNvCxnSpPr>
            <a:cxnSpLocks/>
          </p:cNvCxnSpPr>
          <p:nvPr/>
        </p:nvCxnSpPr>
        <p:spPr>
          <a:xfrm>
            <a:off x="6096000" y="4771336"/>
            <a:ext cx="1699260" cy="958904"/>
          </a:xfrm>
          <a:prstGeom prst="straightConnector1">
            <a:avLst/>
          </a:prstGeom>
          <a:ln w="28575">
            <a:solidFill>
              <a:schemeClr val="accent1"/>
            </a:solidFill>
            <a:prstDash val="sysDot"/>
            <a:tailEnd type="arrow" w="med" len="sm"/>
          </a:ln>
        </p:spPr>
        <p:style>
          <a:lnRef idx="1">
            <a:schemeClr val="accent1"/>
          </a:lnRef>
          <a:fillRef idx="0">
            <a:schemeClr val="accent1"/>
          </a:fillRef>
          <a:effectRef idx="0">
            <a:schemeClr val="accent1"/>
          </a:effectRef>
          <a:fontRef idx="minor">
            <a:schemeClr val="tx1"/>
          </a:fontRef>
        </p:style>
      </p:cxnSp>
      <p:cxnSp>
        <p:nvCxnSpPr>
          <p:cNvPr id="7178" name="Conector recto de flecha 7177">
            <a:extLst>
              <a:ext uri="{FF2B5EF4-FFF2-40B4-BE49-F238E27FC236}">
                <a16:creationId xmlns:a16="http://schemas.microsoft.com/office/drawing/2014/main" id="{C7235D59-7139-94CE-0ACB-0EE739AB7DD6}"/>
              </a:ext>
            </a:extLst>
          </p:cNvPr>
          <p:cNvCxnSpPr>
            <a:cxnSpLocks/>
          </p:cNvCxnSpPr>
          <p:nvPr/>
        </p:nvCxnSpPr>
        <p:spPr>
          <a:xfrm flipH="1">
            <a:off x="4401594" y="4771336"/>
            <a:ext cx="1699260" cy="958904"/>
          </a:xfrm>
          <a:prstGeom prst="straightConnector1">
            <a:avLst/>
          </a:prstGeom>
          <a:ln w="28575">
            <a:solidFill>
              <a:schemeClr val="accent1"/>
            </a:solidFill>
            <a:prstDash val="sysDot"/>
            <a:tailEnd type="arrow" w="med" len="sm"/>
          </a:ln>
        </p:spPr>
        <p:style>
          <a:lnRef idx="1">
            <a:schemeClr val="accent1"/>
          </a:lnRef>
          <a:fillRef idx="0">
            <a:schemeClr val="accent1"/>
          </a:fillRef>
          <a:effectRef idx="0">
            <a:schemeClr val="accent1"/>
          </a:effectRef>
          <a:fontRef idx="minor">
            <a:schemeClr val="tx1"/>
          </a:fontRef>
        </p:style>
      </p:cxnSp>
      <p:sp>
        <p:nvSpPr>
          <p:cNvPr id="7179" name="TextBox 25">
            <a:extLst>
              <a:ext uri="{FF2B5EF4-FFF2-40B4-BE49-F238E27FC236}">
                <a16:creationId xmlns:a16="http://schemas.microsoft.com/office/drawing/2014/main" id="{6BF932A8-6644-BCCE-D4D8-D288EEC55B51}"/>
              </a:ext>
            </a:extLst>
          </p:cNvPr>
          <p:cNvSpPr txBox="1"/>
          <p:nvPr/>
        </p:nvSpPr>
        <p:spPr>
          <a:xfrm>
            <a:off x="6927850" y="1520824"/>
            <a:ext cx="3580255" cy="984885"/>
          </a:xfrm>
          <a:prstGeom prst="rect">
            <a:avLst/>
          </a:prstGeom>
          <a:noFill/>
        </p:spPr>
        <p:txBody>
          <a:bodyPr wrap="square" lIns="0" tIns="0" rIns="0" bIns="0" rtlCol="0" anchor="t">
            <a:spAutoFit/>
          </a:bodyPr>
          <a:lstStyle/>
          <a:p>
            <a:pPr marR="0" lvl="0" algn="l" defTabSz="914400" rtl="0" eaLnBrk="1" fontAlgn="auto" latinLnBrk="0" hangingPunct="1">
              <a:lnSpc>
                <a:spcPct val="100000"/>
              </a:lnSpc>
              <a:spcAft>
                <a:spcPts val="0"/>
              </a:spcAft>
              <a:buClrTx/>
              <a:buSzTx/>
              <a:tabLst/>
              <a:defRPr/>
            </a:pPr>
            <a:r>
              <a:rPr kumimoji="0" lang="en-US" sz="14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7180" name="TextBox 25">
            <a:extLst>
              <a:ext uri="{FF2B5EF4-FFF2-40B4-BE49-F238E27FC236}">
                <a16:creationId xmlns:a16="http://schemas.microsoft.com/office/drawing/2014/main" id="{E9153CD2-668D-9599-3CF7-285A8DC787B1}"/>
              </a:ext>
            </a:extLst>
          </p:cNvPr>
          <p:cNvSpPr txBox="1"/>
          <p:nvPr/>
        </p:nvSpPr>
        <p:spPr>
          <a:xfrm>
            <a:off x="8605394" y="4104519"/>
            <a:ext cx="3215131" cy="984885"/>
          </a:xfrm>
          <a:prstGeom prst="rect">
            <a:avLst/>
          </a:prstGeom>
          <a:noFill/>
        </p:spPr>
        <p:txBody>
          <a:bodyPr wrap="square" lIns="0" tIns="0" rIns="0" bIns="0" rtlCol="0" anchor="t">
            <a:spAutoFit/>
          </a:bodyPr>
          <a:lstStyle/>
          <a:p>
            <a:pPr marR="0" lvl="0" algn="l" defTabSz="914400" rtl="0" eaLnBrk="1" fontAlgn="auto" latinLnBrk="0" hangingPunct="1">
              <a:lnSpc>
                <a:spcPct val="100000"/>
              </a:lnSpc>
              <a:spcAft>
                <a:spcPts val="0"/>
              </a:spcAft>
              <a:buClrTx/>
              <a:buSzTx/>
              <a:tabLst/>
              <a:defRPr/>
            </a:pPr>
            <a:r>
              <a:rPr kumimoji="0" lang="en-US" sz="14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7181" name="TextBox 25">
            <a:extLst>
              <a:ext uri="{FF2B5EF4-FFF2-40B4-BE49-F238E27FC236}">
                <a16:creationId xmlns:a16="http://schemas.microsoft.com/office/drawing/2014/main" id="{73F71DE7-B7A4-80C9-7B1D-B877552CFABD}"/>
              </a:ext>
            </a:extLst>
          </p:cNvPr>
          <p:cNvSpPr txBox="1"/>
          <p:nvPr/>
        </p:nvSpPr>
        <p:spPr>
          <a:xfrm>
            <a:off x="384174" y="4104519"/>
            <a:ext cx="3580255" cy="984885"/>
          </a:xfrm>
          <a:prstGeom prst="rect">
            <a:avLst/>
          </a:prstGeom>
          <a:noFill/>
        </p:spPr>
        <p:txBody>
          <a:bodyPr wrap="square" lIns="0" tIns="0" rIns="0" bIns="0" rtlCol="0" anchor="t">
            <a:spAutoFit/>
          </a:bodyPr>
          <a:lstStyle/>
          <a:p>
            <a:pPr marR="0" lvl="0" algn="l" defTabSz="914400" rtl="0" eaLnBrk="1" fontAlgn="auto" latinLnBrk="0" hangingPunct="1">
              <a:lnSpc>
                <a:spcPct val="100000"/>
              </a:lnSpc>
              <a:spcAft>
                <a:spcPts val="0"/>
              </a:spcAft>
              <a:buClrTx/>
              <a:buSzTx/>
              <a:tabLst/>
              <a:defRPr/>
            </a:pPr>
            <a:r>
              <a:rPr kumimoji="0" lang="en-US" sz="14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2" name="Marcador de pie de página 1">
            <a:extLst>
              <a:ext uri="{FF2B5EF4-FFF2-40B4-BE49-F238E27FC236}">
                <a16:creationId xmlns:a16="http://schemas.microsoft.com/office/drawing/2014/main" id="{2904BC9E-D2C4-C79D-3535-680CB23FD8E3}"/>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713704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Porter's Value Chain</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26413959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993BF980-DE67-C924-22ED-ACCCECAB7B89}"/>
              </a:ext>
            </a:extLst>
          </p:cNvPr>
          <p:cNvGraphicFramePr>
            <a:graphicFrameLocks noChangeAspect="1"/>
          </p:cNvGraphicFramePr>
          <p:nvPr>
            <p:custDataLst>
              <p:tags r:id="rId1"/>
            </p:custDataLst>
            <p:extLst>
              <p:ext uri="{D42A27DB-BD31-4B8C-83A1-F6EECF244321}">
                <p14:modId xmlns:p14="http://schemas.microsoft.com/office/powerpoint/2010/main" val="22093815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CE2BFBE4-37D0-91AE-6181-C94B07B20CA2}"/>
              </a:ext>
            </a:extLst>
          </p:cNvPr>
          <p:cNvSpPr>
            <a:spLocks noGrp="1"/>
          </p:cNvSpPr>
          <p:nvPr>
            <p:ph type="title"/>
          </p:nvPr>
        </p:nvSpPr>
        <p:spPr/>
        <p:txBody>
          <a:bodyPr vert="horz"/>
          <a:lstStyle/>
          <a:p>
            <a:r>
              <a:rPr lang="en-US" dirty="0"/>
              <a:t>Porter's Value Chain — Overview</a:t>
            </a:r>
          </a:p>
        </p:txBody>
      </p:sp>
      <p:sp>
        <p:nvSpPr>
          <p:cNvPr id="3" name="Marcador de texto 2">
            <a:extLst>
              <a:ext uri="{FF2B5EF4-FFF2-40B4-BE49-F238E27FC236}">
                <a16:creationId xmlns:a16="http://schemas.microsoft.com/office/drawing/2014/main" id="{B472A50E-0FFA-B6C1-2EB3-285936F858E8}"/>
              </a:ext>
            </a:extLst>
          </p:cNvPr>
          <p:cNvSpPr>
            <a:spLocks noGrp="1"/>
          </p:cNvSpPr>
          <p:nvPr>
            <p:ph type="body" sz="quarter" idx="18"/>
          </p:nvPr>
        </p:nvSpPr>
        <p:spPr/>
        <p:txBody>
          <a:bodyPr/>
          <a:lstStyle/>
          <a:p>
            <a:r>
              <a:rPr lang="en-US" dirty="0"/>
              <a:t>The concept of Porter's Value Chain was first introduced by renowned economist and Harvard Business School professor Michael Porter in his 1985 book </a:t>
            </a:r>
            <a:r>
              <a:rPr lang="en-US" i="1" dirty="0"/>
              <a:t>Competitive Advantage: Creating and Sustaining Superior Performance</a:t>
            </a:r>
            <a:r>
              <a:rPr lang="en-US" dirty="0"/>
              <a:t>.</a:t>
            </a:r>
          </a:p>
        </p:txBody>
      </p:sp>
      <p:sp>
        <p:nvSpPr>
          <p:cNvPr id="4" name="Marcador de texto 3">
            <a:extLst>
              <a:ext uri="{FF2B5EF4-FFF2-40B4-BE49-F238E27FC236}">
                <a16:creationId xmlns:a16="http://schemas.microsoft.com/office/drawing/2014/main" id="{2CE35011-6216-0D2E-7896-B3D9D4D3D523}"/>
              </a:ext>
            </a:extLst>
          </p:cNvPr>
          <p:cNvSpPr>
            <a:spLocks noGrp="1"/>
          </p:cNvSpPr>
          <p:nvPr>
            <p:ph type="body" sz="quarter" idx="19"/>
          </p:nvPr>
        </p:nvSpPr>
        <p:spPr/>
        <p:txBody>
          <a:bodyPr/>
          <a:lstStyle/>
          <a:p>
            <a:pPr marL="0" indent="0">
              <a:buFont typeface="Arial" panose="020B0604020202020204" pitchFamily="34" charset="0"/>
              <a:buNone/>
            </a:pPr>
            <a:r>
              <a:rPr lang="en-US" dirty="0"/>
              <a:t>Porter's Value Chain is a framework that helps businesses to analyze their internal operations and identify areas where they can create value and improve their competitive advantage. The concept of value chain refers to the various activities that a business performs to deliver a product or service to its customers.</a:t>
            </a:r>
          </a:p>
          <a:p>
            <a:pPr marL="0" indent="0">
              <a:buFont typeface="Arial" panose="020B0604020202020204" pitchFamily="34" charset="0"/>
              <a:buNone/>
            </a:pPr>
            <a:r>
              <a:rPr lang="en-US" dirty="0"/>
              <a:t>Porter's idea was that a business can create value by optimizing its value chain and finding ways to reduce costs or differentiate its products or services from its competitors. The value chain is divided into two categories: primary activities and support activities. Primary activities are those involved in the production and delivery of a product or service, such as inbound logistics, operations, outbound logistics, marketing, and customer service. Support activities are those that support the primary activities, such as procurement, technology development, and human resource management</a:t>
            </a:r>
          </a:p>
        </p:txBody>
      </p:sp>
      <p:sp>
        <p:nvSpPr>
          <p:cNvPr id="5" name="Marcador de texto 4">
            <a:extLst>
              <a:ext uri="{FF2B5EF4-FFF2-40B4-BE49-F238E27FC236}">
                <a16:creationId xmlns:a16="http://schemas.microsoft.com/office/drawing/2014/main" id="{B6776F0D-00FB-A09F-E491-D84CF2053009}"/>
              </a:ext>
            </a:extLst>
          </p:cNvPr>
          <p:cNvSpPr>
            <a:spLocks noGrp="1"/>
          </p:cNvSpPr>
          <p:nvPr>
            <p:ph type="body" sz="quarter" idx="20"/>
          </p:nvPr>
        </p:nvSpPr>
        <p:spPr/>
        <p:txBody>
          <a:bodyPr/>
          <a:lstStyle/>
          <a:p>
            <a:r>
              <a:rPr lang="en-US" b="1" dirty="0"/>
              <a:t>Cost reduction: </a:t>
            </a:r>
            <a:r>
              <a:rPr lang="en-US" dirty="0"/>
              <a:t>Identify areas where costs can be reduced without sacrificing quality or customer satisfaction — for example, ways to streamline procurement or improve logistics to reduce costs.</a:t>
            </a:r>
          </a:p>
          <a:p>
            <a:r>
              <a:rPr lang="en-US" b="1" dirty="0"/>
              <a:t>Product differentiation: </a:t>
            </a:r>
            <a:r>
              <a:rPr lang="en-US" dirty="0"/>
              <a:t>Identify areas where we can add value to a product or service. For example, we may look at ways to improve customer service or product design to make a product more appealing to customers.</a:t>
            </a:r>
          </a:p>
          <a:p>
            <a:r>
              <a:rPr lang="en-US" b="1" dirty="0"/>
              <a:t>Mergers and acquisitions: </a:t>
            </a:r>
            <a:r>
              <a:rPr lang="en-US" dirty="0"/>
              <a:t>Analyze the value chains of both companies to identify areas where they can combine operations to reduce costs or improve efficiencies.</a:t>
            </a:r>
          </a:p>
          <a:p>
            <a:r>
              <a:rPr lang="en-US" b="1" dirty="0"/>
              <a:t>Supply chain optimization: </a:t>
            </a:r>
            <a:r>
              <a:rPr lang="en-US" dirty="0"/>
              <a:t>Analyze the various steps in the value chain, we can identify areas where the supply chain can be improved, such as through better inventory management or improved transportation logistics.</a:t>
            </a:r>
          </a:p>
        </p:txBody>
      </p:sp>
      <p:sp>
        <p:nvSpPr>
          <p:cNvPr id="11" name="Marcador de pie de página 10">
            <a:extLst>
              <a:ext uri="{FF2B5EF4-FFF2-40B4-BE49-F238E27FC236}">
                <a16:creationId xmlns:a16="http://schemas.microsoft.com/office/drawing/2014/main" id="{342C4A25-710C-8B24-7E2B-41D150589160}"/>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312315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Objeto 17" hidden="1">
            <a:extLst>
              <a:ext uri="{FF2B5EF4-FFF2-40B4-BE49-F238E27FC236}">
                <a16:creationId xmlns:a16="http://schemas.microsoft.com/office/drawing/2014/main" id="{B7E92C4B-2914-9F77-7898-8B72F97EB1D2}"/>
              </a:ext>
            </a:extLst>
          </p:cNvPr>
          <p:cNvGraphicFramePr>
            <a:graphicFrameLocks noChangeAspect="1"/>
          </p:cNvGraphicFramePr>
          <p:nvPr>
            <p:custDataLst>
              <p:tags r:id="rId1"/>
            </p:custDataLst>
            <p:extLst>
              <p:ext uri="{D42A27DB-BD31-4B8C-83A1-F6EECF244321}">
                <p14:modId xmlns:p14="http://schemas.microsoft.com/office/powerpoint/2010/main" val="2074551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18" name="Objeto 17" hidden="1">
                        <a:extLst>
                          <a:ext uri="{FF2B5EF4-FFF2-40B4-BE49-F238E27FC236}">
                            <a16:creationId xmlns:a16="http://schemas.microsoft.com/office/drawing/2014/main" id="{B7E92C4B-2914-9F77-7898-8B72F97EB1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9" name="Flecha: pentágono 38">
            <a:extLst>
              <a:ext uri="{FF2B5EF4-FFF2-40B4-BE49-F238E27FC236}">
                <a16:creationId xmlns:a16="http://schemas.microsoft.com/office/drawing/2014/main" id="{7253BD28-ED7F-6A71-164A-B4ADABFD3EA1}"/>
              </a:ext>
            </a:extLst>
          </p:cNvPr>
          <p:cNvSpPr/>
          <p:nvPr/>
        </p:nvSpPr>
        <p:spPr>
          <a:xfrm>
            <a:off x="371475" y="1152524"/>
            <a:ext cx="11449050" cy="5156195"/>
          </a:xfrm>
          <a:prstGeom prst="homePlate">
            <a:avLst>
              <a:gd name="adj" fmla="val 18189"/>
            </a:avLst>
          </a:prstGeom>
          <a:solidFill>
            <a:schemeClr val="bg1">
              <a:lumMod val="9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vert="horz"/>
          <a:lstStyle/>
          <a:p>
            <a:r>
              <a:rPr lang="en-US" dirty="0"/>
              <a:t>Porter's Value Chain — Template A</a:t>
            </a:r>
          </a:p>
        </p:txBody>
      </p:sp>
      <p:sp>
        <p:nvSpPr>
          <p:cNvPr id="16" name="Marcador de pie de página 15">
            <a:extLst>
              <a:ext uri="{FF2B5EF4-FFF2-40B4-BE49-F238E27FC236}">
                <a16:creationId xmlns:a16="http://schemas.microsoft.com/office/drawing/2014/main" id="{D60078A2-E521-C36F-7271-8511EF037295}"/>
              </a:ext>
            </a:extLst>
          </p:cNvPr>
          <p:cNvSpPr>
            <a:spLocks noGrp="1"/>
          </p:cNvSpPr>
          <p:nvPr>
            <p:ph type="ftr" sz="quarter" idx="3"/>
          </p:nvPr>
        </p:nvSpPr>
        <p:spPr/>
        <p:txBody>
          <a:bodyPr/>
          <a:lstStyle/>
          <a:p>
            <a:r>
              <a:rPr lang="en-US"/>
              <a:t>Source:_______</a:t>
            </a:r>
            <a:endParaRPr lang="en-US" dirty="0"/>
          </a:p>
        </p:txBody>
      </p:sp>
      <p:sp>
        <p:nvSpPr>
          <p:cNvPr id="22" name="Rectángulo 21">
            <a:extLst>
              <a:ext uri="{FF2B5EF4-FFF2-40B4-BE49-F238E27FC236}">
                <a16:creationId xmlns:a16="http://schemas.microsoft.com/office/drawing/2014/main" id="{BCAF17AF-E9BA-62A9-6982-93CBBEE15D29}"/>
              </a:ext>
            </a:extLst>
          </p:cNvPr>
          <p:cNvSpPr/>
          <p:nvPr/>
        </p:nvSpPr>
        <p:spPr>
          <a:xfrm>
            <a:off x="371475" y="4617583"/>
            <a:ext cx="10512425" cy="16907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9" name="TextBox 25">
            <a:extLst>
              <a:ext uri="{FF2B5EF4-FFF2-40B4-BE49-F238E27FC236}">
                <a16:creationId xmlns:a16="http://schemas.microsoft.com/office/drawing/2014/main" id="{DDC42D9E-E7AF-CBB0-11A7-69098F490679}"/>
              </a:ext>
            </a:extLst>
          </p:cNvPr>
          <p:cNvSpPr txBox="1"/>
          <p:nvPr/>
        </p:nvSpPr>
        <p:spPr>
          <a:xfrm rot="16200000">
            <a:off x="-944992" y="2634821"/>
            <a:ext cx="3293343" cy="482599"/>
          </a:xfrm>
          <a:prstGeom prst="rect">
            <a:avLst/>
          </a:prstGeom>
          <a:solidFill>
            <a:schemeClr val="tx2"/>
          </a:solidFill>
        </p:spPr>
        <p:txBody>
          <a:bodyPr wrap="square" lIns="0" tIns="0" rIns="0" bIns="0" rtlCol="0" anchor="ctr">
            <a:no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endParaRPr kumimoji="0" lang="en-US" sz="1200"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0" name="TextBox 25">
            <a:extLst>
              <a:ext uri="{FF2B5EF4-FFF2-40B4-BE49-F238E27FC236}">
                <a16:creationId xmlns:a16="http://schemas.microsoft.com/office/drawing/2014/main" id="{58841F63-C0D2-452C-0AD7-EDBDC2434EB2}"/>
              </a:ext>
            </a:extLst>
          </p:cNvPr>
          <p:cNvSpPr txBox="1"/>
          <p:nvPr/>
        </p:nvSpPr>
        <p:spPr>
          <a:xfrm rot="16200000">
            <a:off x="-66099" y="5221497"/>
            <a:ext cx="1535557" cy="482599"/>
          </a:xfrm>
          <a:prstGeom prst="rect">
            <a:avLst/>
          </a:prstGeom>
          <a:solidFill>
            <a:schemeClr val="tx2"/>
          </a:solidFill>
        </p:spPr>
        <p:txBody>
          <a:bodyPr wrap="square" lIns="0" tIns="0" rIns="0" bIns="0" rtlCol="0" anchor="ctr">
            <a:no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endParaRPr kumimoji="0" lang="en-US" sz="1200"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 name="TextBox 25">
            <a:extLst>
              <a:ext uri="{FF2B5EF4-FFF2-40B4-BE49-F238E27FC236}">
                <a16:creationId xmlns:a16="http://schemas.microsoft.com/office/drawing/2014/main" id="{9963BECD-D9EE-3964-B742-39923587DC7D}"/>
              </a:ext>
            </a:extLst>
          </p:cNvPr>
          <p:cNvSpPr txBox="1"/>
          <p:nvPr/>
        </p:nvSpPr>
        <p:spPr>
          <a:xfrm>
            <a:off x="1007827" y="1229452"/>
            <a:ext cx="9799873" cy="782949"/>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lang="en-US" sz="1100" b="1"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Text</a:t>
            </a:r>
            <a:endPar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80975" marR="0" lvl="0" indent="-180975" defTabSz="914400" rtl="0" eaLnBrk="1" fontAlgn="auto" latinLnBrk="0" hangingPunct="1">
              <a:lnSpc>
                <a:spcPct val="100000"/>
              </a:lnSpc>
              <a:spcAft>
                <a:spcPts val="0"/>
              </a:spcAft>
              <a:buClrTx/>
              <a:buSzTx/>
              <a:buFont typeface="Arial" panose="020B0604020202020204" pitchFamily="34" charset="0"/>
              <a:buChar char="•"/>
              <a:tabLst/>
              <a:defRPr/>
            </a:pPr>
            <a:r>
              <a:rPr lang="en-US" sz="11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Text</a:t>
            </a:r>
            <a:endPar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6" name="TextBox 25">
            <a:extLst>
              <a:ext uri="{FF2B5EF4-FFF2-40B4-BE49-F238E27FC236}">
                <a16:creationId xmlns:a16="http://schemas.microsoft.com/office/drawing/2014/main" id="{357DDAB8-E443-A70D-536B-79E77B18CB30}"/>
              </a:ext>
            </a:extLst>
          </p:cNvPr>
          <p:cNvSpPr txBox="1"/>
          <p:nvPr/>
        </p:nvSpPr>
        <p:spPr>
          <a:xfrm>
            <a:off x="1007827" y="2066249"/>
            <a:ext cx="9799873" cy="782949"/>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7" name="TextBox 25">
            <a:extLst>
              <a:ext uri="{FF2B5EF4-FFF2-40B4-BE49-F238E27FC236}">
                <a16:creationId xmlns:a16="http://schemas.microsoft.com/office/drawing/2014/main" id="{D4E421E3-3EC1-55AA-9866-01D5853F8FDB}"/>
              </a:ext>
            </a:extLst>
          </p:cNvPr>
          <p:cNvSpPr txBox="1"/>
          <p:nvPr/>
        </p:nvSpPr>
        <p:spPr>
          <a:xfrm>
            <a:off x="1007827" y="2903046"/>
            <a:ext cx="9799873" cy="782949"/>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 </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8" name="TextBox 25">
            <a:extLst>
              <a:ext uri="{FF2B5EF4-FFF2-40B4-BE49-F238E27FC236}">
                <a16:creationId xmlns:a16="http://schemas.microsoft.com/office/drawing/2014/main" id="{819FA60B-7ACC-5835-793E-3947E3D4F19D}"/>
              </a:ext>
            </a:extLst>
          </p:cNvPr>
          <p:cNvSpPr txBox="1"/>
          <p:nvPr/>
        </p:nvSpPr>
        <p:spPr>
          <a:xfrm>
            <a:off x="1007827" y="3739844"/>
            <a:ext cx="9191859" cy="782949"/>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r>
              <a:rPr lang="en-US" sz="1100" b="1"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 </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11" name="TextBox 25">
            <a:extLst>
              <a:ext uri="{FF2B5EF4-FFF2-40B4-BE49-F238E27FC236}">
                <a16:creationId xmlns:a16="http://schemas.microsoft.com/office/drawing/2014/main" id="{FE6F8A8C-9D72-8248-6260-822B89922635}"/>
              </a:ext>
            </a:extLst>
          </p:cNvPr>
          <p:cNvSpPr txBox="1"/>
          <p:nvPr/>
        </p:nvSpPr>
        <p:spPr>
          <a:xfrm>
            <a:off x="1007827" y="4695017"/>
            <a:ext cx="1904432" cy="1535559"/>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 </a:t>
            </a:r>
          </a:p>
          <a:p>
            <a:pPr marR="0" lvl="0" defTabSz="914400" rtl="0" eaLnBrk="1" fontAlgn="auto" latinLnBrk="0" hangingPunct="1">
              <a:lnSpc>
                <a:spcPct val="100000"/>
              </a:lnSpc>
              <a:spcAft>
                <a:spcPts val="0"/>
              </a:spcAft>
              <a:buClrTx/>
              <a:buSzTx/>
              <a:tabLst/>
              <a:defRPr/>
            </a:pP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12" name="TextBox 25">
            <a:extLst>
              <a:ext uri="{FF2B5EF4-FFF2-40B4-BE49-F238E27FC236}">
                <a16:creationId xmlns:a16="http://schemas.microsoft.com/office/drawing/2014/main" id="{7FF20CEB-A7A0-2608-A7CE-89CCDDADCB2F}"/>
              </a:ext>
            </a:extLst>
          </p:cNvPr>
          <p:cNvSpPr txBox="1"/>
          <p:nvPr/>
        </p:nvSpPr>
        <p:spPr>
          <a:xfrm>
            <a:off x="2981688" y="4695017"/>
            <a:ext cx="1904432" cy="1535559"/>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r>
              <a:rPr lang="en-US" sz="11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 </a:t>
            </a:r>
          </a:p>
          <a:p>
            <a:pPr marR="0" lvl="0" defTabSz="914400" rtl="0" eaLnBrk="1" fontAlgn="auto" latinLnBrk="0" hangingPunct="1">
              <a:lnSpc>
                <a:spcPct val="100000"/>
              </a:lnSpc>
              <a:spcAft>
                <a:spcPts val="0"/>
              </a:spcAft>
              <a:buClrTx/>
              <a:buSzTx/>
              <a:tabLst/>
              <a:defRPr/>
            </a:pP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13" name="TextBox 25">
            <a:extLst>
              <a:ext uri="{FF2B5EF4-FFF2-40B4-BE49-F238E27FC236}">
                <a16:creationId xmlns:a16="http://schemas.microsoft.com/office/drawing/2014/main" id="{07C8AE7F-CA67-BEEF-66B0-E401C7DBCDFD}"/>
              </a:ext>
            </a:extLst>
          </p:cNvPr>
          <p:cNvSpPr txBox="1"/>
          <p:nvPr/>
        </p:nvSpPr>
        <p:spPr>
          <a:xfrm>
            <a:off x="4955548" y="4695017"/>
            <a:ext cx="1904432" cy="1535559"/>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 </a:t>
            </a:r>
          </a:p>
          <a:p>
            <a:pPr marR="0" lvl="0" defTabSz="914400" rtl="0" eaLnBrk="1" fontAlgn="auto" latinLnBrk="0" hangingPunct="1">
              <a:lnSpc>
                <a:spcPct val="100000"/>
              </a:lnSpc>
              <a:spcAft>
                <a:spcPts val="0"/>
              </a:spcAft>
              <a:buClrTx/>
              <a:buSzTx/>
              <a:tabLst/>
              <a:defRPr/>
            </a:pP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14" name="TextBox 25">
            <a:extLst>
              <a:ext uri="{FF2B5EF4-FFF2-40B4-BE49-F238E27FC236}">
                <a16:creationId xmlns:a16="http://schemas.microsoft.com/office/drawing/2014/main" id="{005C3869-61AA-2A58-1AD1-F9AAC9C4420F}"/>
              </a:ext>
            </a:extLst>
          </p:cNvPr>
          <p:cNvSpPr txBox="1"/>
          <p:nvPr/>
        </p:nvSpPr>
        <p:spPr>
          <a:xfrm>
            <a:off x="6929409" y="4695017"/>
            <a:ext cx="1904432" cy="1535559"/>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 </a:t>
            </a:r>
          </a:p>
          <a:p>
            <a:pPr marR="0" lvl="0" defTabSz="914400" rtl="0" eaLnBrk="1" fontAlgn="auto" latinLnBrk="0" hangingPunct="1">
              <a:lnSpc>
                <a:spcPct val="100000"/>
              </a:lnSpc>
              <a:spcAft>
                <a:spcPts val="0"/>
              </a:spcAft>
              <a:buClrTx/>
              <a:buSzTx/>
              <a:tabLst/>
              <a:defRPr/>
            </a:pP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15" name="TextBox 25">
            <a:extLst>
              <a:ext uri="{FF2B5EF4-FFF2-40B4-BE49-F238E27FC236}">
                <a16:creationId xmlns:a16="http://schemas.microsoft.com/office/drawing/2014/main" id="{FC9B261B-2BC1-503B-6F28-E6A814F02635}"/>
              </a:ext>
            </a:extLst>
          </p:cNvPr>
          <p:cNvSpPr txBox="1"/>
          <p:nvPr/>
        </p:nvSpPr>
        <p:spPr>
          <a:xfrm>
            <a:off x="8903268" y="4695017"/>
            <a:ext cx="1904432" cy="1535559"/>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1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r>
              <a:rPr lang="en-US" sz="1100" b="1"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 </a:t>
            </a:r>
          </a:p>
          <a:p>
            <a:pPr marR="0" lvl="0" defTabSz="914400" rtl="0" eaLnBrk="1" fontAlgn="auto" latinLnBrk="0" hangingPunct="1">
              <a:lnSpc>
                <a:spcPct val="100000"/>
              </a:lnSpc>
              <a:spcAft>
                <a:spcPts val="0"/>
              </a:spcAft>
              <a:buClrTx/>
              <a:buSzTx/>
              <a:tabLst/>
              <a:defRPr/>
            </a:pPr>
            <a:r>
              <a:rPr kumimoji="0" lang="en-US" sz="11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24" name="TextBox 25">
            <a:extLst>
              <a:ext uri="{FF2B5EF4-FFF2-40B4-BE49-F238E27FC236}">
                <a16:creationId xmlns:a16="http://schemas.microsoft.com/office/drawing/2014/main" id="{E0948CF0-0CFA-9906-75F8-C00D4DC3D6EB}"/>
              </a:ext>
            </a:extLst>
          </p:cNvPr>
          <p:cNvSpPr txBox="1"/>
          <p:nvPr/>
        </p:nvSpPr>
        <p:spPr>
          <a:xfrm rot="14903997">
            <a:off x="10245784" y="2496054"/>
            <a:ext cx="1913274" cy="215444"/>
          </a:xfrm>
          <a:prstGeom prst="rect">
            <a:avLst/>
          </a:prstGeom>
          <a:no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endParaRPr kumimoji="0" lang="en-US" sz="14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5" name="Straight Connector 34">
            <a:extLst>
              <a:ext uri="{FF2B5EF4-FFF2-40B4-BE49-F238E27FC236}">
                <a16:creationId xmlns:a16="http://schemas.microsoft.com/office/drawing/2014/main" id="{2C57B4A1-0BDD-9F3D-D841-3C681F9AF710}"/>
              </a:ext>
            </a:extLst>
          </p:cNvPr>
          <p:cNvCxnSpPr>
            <a:cxnSpLocks/>
          </p:cNvCxnSpPr>
          <p:nvPr/>
        </p:nvCxnSpPr>
        <p:spPr>
          <a:xfrm>
            <a:off x="1007827" y="2039325"/>
            <a:ext cx="979987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34">
            <a:extLst>
              <a:ext uri="{FF2B5EF4-FFF2-40B4-BE49-F238E27FC236}">
                <a16:creationId xmlns:a16="http://schemas.microsoft.com/office/drawing/2014/main" id="{9C15E8C4-8978-60EA-4FAF-C60BC88AB0A3}"/>
              </a:ext>
            </a:extLst>
          </p:cNvPr>
          <p:cNvCxnSpPr>
            <a:cxnSpLocks/>
          </p:cNvCxnSpPr>
          <p:nvPr/>
        </p:nvCxnSpPr>
        <p:spPr>
          <a:xfrm>
            <a:off x="1007827" y="2876121"/>
            <a:ext cx="1001069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34">
            <a:extLst>
              <a:ext uri="{FF2B5EF4-FFF2-40B4-BE49-F238E27FC236}">
                <a16:creationId xmlns:a16="http://schemas.microsoft.com/office/drawing/2014/main" id="{3B594F32-B95C-6BF4-68EC-A4145C07087E}"/>
              </a:ext>
            </a:extLst>
          </p:cNvPr>
          <p:cNvCxnSpPr>
            <a:cxnSpLocks/>
          </p:cNvCxnSpPr>
          <p:nvPr/>
        </p:nvCxnSpPr>
        <p:spPr>
          <a:xfrm>
            <a:off x="1007827" y="3712920"/>
            <a:ext cx="1031549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34">
            <a:extLst>
              <a:ext uri="{FF2B5EF4-FFF2-40B4-BE49-F238E27FC236}">
                <a16:creationId xmlns:a16="http://schemas.microsoft.com/office/drawing/2014/main" id="{362D1602-01D1-E7E8-25C5-0ADAFE34FA53}"/>
              </a:ext>
            </a:extLst>
          </p:cNvPr>
          <p:cNvCxnSpPr>
            <a:cxnSpLocks/>
          </p:cNvCxnSpPr>
          <p:nvPr/>
        </p:nvCxnSpPr>
        <p:spPr>
          <a:xfrm>
            <a:off x="2946973" y="4695017"/>
            <a:ext cx="0" cy="1535559"/>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34">
            <a:extLst>
              <a:ext uri="{FF2B5EF4-FFF2-40B4-BE49-F238E27FC236}">
                <a16:creationId xmlns:a16="http://schemas.microsoft.com/office/drawing/2014/main" id="{021175D5-DC54-1ACA-7648-660091AD9E2A}"/>
              </a:ext>
            </a:extLst>
          </p:cNvPr>
          <p:cNvCxnSpPr>
            <a:cxnSpLocks/>
          </p:cNvCxnSpPr>
          <p:nvPr/>
        </p:nvCxnSpPr>
        <p:spPr>
          <a:xfrm>
            <a:off x="4920834" y="4695017"/>
            <a:ext cx="0" cy="1535559"/>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34">
            <a:extLst>
              <a:ext uri="{FF2B5EF4-FFF2-40B4-BE49-F238E27FC236}">
                <a16:creationId xmlns:a16="http://schemas.microsoft.com/office/drawing/2014/main" id="{ADAF285A-807D-61AC-53F6-94B9E01F0BCC}"/>
              </a:ext>
            </a:extLst>
          </p:cNvPr>
          <p:cNvCxnSpPr>
            <a:cxnSpLocks/>
          </p:cNvCxnSpPr>
          <p:nvPr/>
        </p:nvCxnSpPr>
        <p:spPr>
          <a:xfrm>
            <a:off x="6894694" y="4695017"/>
            <a:ext cx="0" cy="1535559"/>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4">
            <a:extLst>
              <a:ext uri="{FF2B5EF4-FFF2-40B4-BE49-F238E27FC236}">
                <a16:creationId xmlns:a16="http://schemas.microsoft.com/office/drawing/2014/main" id="{6DC62E1C-8903-83EC-E7E5-BF562FC2A217}"/>
              </a:ext>
            </a:extLst>
          </p:cNvPr>
          <p:cNvCxnSpPr>
            <a:cxnSpLocks/>
          </p:cNvCxnSpPr>
          <p:nvPr/>
        </p:nvCxnSpPr>
        <p:spPr>
          <a:xfrm>
            <a:off x="8868555" y="4695017"/>
            <a:ext cx="0" cy="1535559"/>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2FCD77AE-6983-BD44-D389-2D1A2D876BE2}"/>
              </a:ext>
            </a:extLst>
          </p:cNvPr>
          <p:cNvCxnSpPr>
            <a:cxnSpLocks/>
          </p:cNvCxnSpPr>
          <p:nvPr/>
        </p:nvCxnSpPr>
        <p:spPr>
          <a:xfrm>
            <a:off x="384174" y="4608905"/>
            <a:ext cx="1118393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TextBox 25">
            <a:extLst>
              <a:ext uri="{FF2B5EF4-FFF2-40B4-BE49-F238E27FC236}">
                <a16:creationId xmlns:a16="http://schemas.microsoft.com/office/drawing/2014/main" id="{710EF2EE-46C7-79A5-0EF1-72D2FD8F3EF4}"/>
              </a:ext>
            </a:extLst>
          </p:cNvPr>
          <p:cNvSpPr txBox="1"/>
          <p:nvPr/>
        </p:nvSpPr>
        <p:spPr>
          <a:xfrm rot="17510211">
            <a:off x="10162200" y="5356039"/>
            <a:ext cx="1699454" cy="215444"/>
          </a:xfrm>
          <a:prstGeom prst="rect">
            <a:avLst/>
          </a:prstGeom>
          <a:no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endParaRPr kumimoji="0" lang="en-US" sz="14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41295430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Objeto 26" hidden="1">
            <a:extLst>
              <a:ext uri="{FF2B5EF4-FFF2-40B4-BE49-F238E27FC236}">
                <a16:creationId xmlns:a16="http://schemas.microsoft.com/office/drawing/2014/main" id="{41040590-A9F1-47F8-D2C3-6F74BF270B3A}"/>
              </a:ext>
            </a:extLst>
          </p:cNvPr>
          <p:cNvGraphicFramePr>
            <a:graphicFrameLocks noChangeAspect="1"/>
          </p:cNvGraphicFramePr>
          <p:nvPr>
            <p:custDataLst>
              <p:tags r:id="rId1"/>
            </p:custDataLst>
            <p:extLst>
              <p:ext uri="{D42A27DB-BD31-4B8C-83A1-F6EECF244321}">
                <p14:modId xmlns:p14="http://schemas.microsoft.com/office/powerpoint/2010/main" val="34056095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5" name="Flecha: pentágono 24">
            <a:extLst>
              <a:ext uri="{FF2B5EF4-FFF2-40B4-BE49-F238E27FC236}">
                <a16:creationId xmlns:a16="http://schemas.microsoft.com/office/drawing/2014/main" id="{05DE9B6B-8D37-2B8A-86FB-A2E054DDFBF2}"/>
              </a:ext>
            </a:extLst>
          </p:cNvPr>
          <p:cNvSpPr/>
          <p:nvPr/>
        </p:nvSpPr>
        <p:spPr>
          <a:xfrm>
            <a:off x="371475" y="1152524"/>
            <a:ext cx="11449050" cy="5156195"/>
          </a:xfrm>
          <a:prstGeom prst="homePlate">
            <a:avLst>
              <a:gd name="adj" fmla="val 18189"/>
            </a:avLst>
          </a:prstGeom>
          <a:solidFill>
            <a:schemeClr val="bg1">
              <a:lumMod val="9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3" name="Title 2">
            <a:extLst>
              <a:ext uri="{FF2B5EF4-FFF2-40B4-BE49-F238E27FC236}">
                <a16:creationId xmlns:a16="http://schemas.microsoft.com/office/drawing/2014/main" id="{B43A55FE-8C48-FFDD-4B61-B4A73F0A964B}"/>
              </a:ext>
            </a:extLst>
          </p:cNvPr>
          <p:cNvSpPr>
            <a:spLocks noGrp="1"/>
          </p:cNvSpPr>
          <p:nvPr>
            <p:ph type="title"/>
          </p:nvPr>
        </p:nvSpPr>
        <p:spPr>
          <a:xfrm>
            <a:off x="384174" y="381000"/>
            <a:ext cx="11420475" cy="485775"/>
          </a:xfrm>
        </p:spPr>
        <p:txBody>
          <a:bodyPr vert="horz"/>
          <a:lstStyle/>
          <a:p>
            <a:r>
              <a:rPr lang="en-US" dirty="0"/>
              <a:t>Porter's Value Chain — Template B</a:t>
            </a:r>
          </a:p>
        </p:txBody>
      </p:sp>
      <p:sp>
        <p:nvSpPr>
          <p:cNvPr id="2" name="Marcador de pie de página 1">
            <a:extLst>
              <a:ext uri="{FF2B5EF4-FFF2-40B4-BE49-F238E27FC236}">
                <a16:creationId xmlns:a16="http://schemas.microsoft.com/office/drawing/2014/main" id="{178F037D-3CBF-18C4-558F-D8795433323E}"/>
              </a:ext>
            </a:extLst>
          </p:cNvPr>
          <p:cNvSpPr>
            <a:spLocks noGrp="1"/>
          </p:cNvSpPr>
          <p:nvPr>
            <p:ph type="ftr" sz="quarter" idx="3"/>
          </p:nvPr>
        </p:nvSpPr>
        <p:spPr/>
        <p:txBody>
          <a:bodyPr/>
          <a:lstStyle/>
          <a:p>
            <a:r>
              <a:rPr lang="en-US"/>
              <a:t>Source:_______</a:t>
            </a:r>
            <a:endParaRPr lang="en-US" dirty="0"/>
          </a:p>
        </p:txBody>
      </p:sp>
      <p:sp>
        <p:nvSpPr>
          <p:cNvPr id="6" name="TextBox 25">
            <a:extLst>
              <a:ext uri="{FF2B5EF4-FFF2-40B4-BE49-F238E27FC236}">
                <a16:creationId xmlns:a16="http://schemas.microsoft.com/office/drawing/2014/main" id="{D3B5FADD-74FD-4679-54FC-896CB4C0E75F}"/>
              </a:ext>
            </a:extLst>
          </p:cNvPr>
          <p:cNvSpPr txBox="1"/>
          <p:nvPr/>
        </p:nvSpPr>
        <p:spPr>
          <a:xfrm rot="16200000">
            <a:off x="-505976" y="2195803"/>
            <a:ext cx="2415311" cy="482599"/>
          </a:xfrm>
          <a:prstGeom prst="rect">
            <a:avLst/>
          </a:prstGeom>
          <a:solidFill>
            <a:schemeClr val="tx2"/>
          </a:solidFill>
        </p:spPr>
        <p:txBody>
          <a:bodyPr wrap="square" lIns="0" tIns="0" rIns="0" bIns="0" rtlCol="0" anchor="ctr">
            <a:no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Primary activities</a:t>
            </a:r>
            <a:endParaRPr kumimoji="0" lang="en-US" sz="1200"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16" name="Conector recto 15">
            <a:extLst>
              <a:ext uri="{FF2B5EF4-FFF2-40B4-BE49-F238E27FC236}">
                <a16:creationId xmlns:a16="http://schemas.microsoft.com/office/drawing/2014/main" id="{A2317C1D-5874-0D61-B6CF-182ABE870F5C}"/>
              </a:ext>
            </a:extLst>
          </p:cNvPr>
          <p:cNvCxnSpPr>
            <a:cxnSpLocks/>
          </p:cNvCxnSpPr>
          <p:nvPr/>
        </p:nvCxnSpPr>
        <p:spPr>
          <a:xfrm>
            <a:off x="384174" y="3730621"/>
            <a:ext cx="1118393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TextBox 25">
            <a:extLst>
              <a:ext uri="{FF2B5EF4-FFF2-40B4-BE49-F238E27FC236}">
                <a16:creationId xmlns:a16="http://schemas.microsoft.com/office/drawing/2014/main" id="{47602EC2-842F-E018-0465-C50F1AB3AB4B}"/>
              </a:ext>
            </a:extLst>
          </p:cNvPr>
          <p:cNvSpPr txBox="1"/>
          <p:nvPr/>
        </p:nvSpPr>
        <p:spPr>
          <a:xfrm>
            <a:off x="1007827" y="1229452"/>
            <a:ext cx="1904432" cy="2415305"/>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Inbound logistics </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Real-time inbound inventory data</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Location of distribution facilities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Trucks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Material handling</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W</a:t>
            </a:r>
            <a:r>
              <a:rPr kumimoji="0" lang="en-US" sz="120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arehouse</a:t>
            </a:r>
            <a:endPar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8" name="TextBox 25">
            <a:extLst>
              <a:ext uri="{FF2B5EF4-FFF2-40B4-BE49-F238E27FC236}">
                <a16:creationId xmlns:a16="http://schemas.microsoft.com/office/drawing/2014/main" id="{79B62238-15A9-6915-5924-015844B23737}"/>
              </a:ext>
            </a:extLst>
          </p:cNvPr>
          <p:cNvSpPr txBox="1"/>
          <p:nvPr/>
        </p:nvSpPr>
        <p:spPr>
          <a:xfrm>
            <a:off x="2981688" y="1229452"/>
            <a:ext cx="1904432" cy="2415305"/>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lang="en-US" sz="1200" b="1"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O</a:t>
            </a:r>
            <a:r>
              <a:rPr kumimoji="0" lang="en-US" sz="1200" b="1"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perations</a:t>
            </a:r>
            <a:endPar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Standarized</a:t>
            </a: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model</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Access to real-time sales &amp; inventory system</a:t>
            </a:r>
            <a:endPar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9" name="TextBox 25">
            <a:extLst>
              <a:ext uri="{FF2B5EF4-FFF2-40B4-BE49-F238E27FC236}">
                <a16:creationId xmlns:a16="http://schemas.microsoft.com/office/drawing/2014/main" id="{C79C952B-E8BE-E818-6E20-77E533DE450A}"/>
              </a:ext>
            </a:extLst>
          </p:cNvPr>
          <p:cNvSpPr txBox="1"/>
          <p:nvPr/>
        </p:nvSpPr>
        <p:spPr>
          <a:xfrm>
            <a:off x="4955548" y="1229452"/>
            <a:ext cx="1904432" cy="2415305"/>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Outbound logistics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Order processing</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Full delivery trucks</a:t>
            </a:r>
            <a:endPar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20" name="TextBox 25">
            <a:extLst>
              <a:ext uri="{FF2B5EF4-FFF2-40B4-BE49-F238E27FC236}">
                <a16:creationId xmlns:a16="http://schemas.microsoft.com/office/drawing/2014/main" id="{38BFA708-9F6F-F3CE-5401-C8A5BB5F6652}"/>
              </a:ext>
            </a:extLst>
          </p:cNvPr>
          <p:cNvSpPr txBox="1"/>
          <p:nvPr/>
        </p:nvSpPr>
        <p:spPr>
          <a:xfrm>
            <a:off x="6929409" y="1229452"/>
            <a:ext cx="1904432" cy="2415305"/>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Marketing &amp; sales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Pricing</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Communication</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Promotion</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Product based on community needs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Low prices</a:t>
            </a:r>
          </a:p>
        </p:txBody>
      </p:sp>
      <p:sp>
        <p:nvSpPr>
          <p:cNvPr id="21" name="TextBox 25">
            <a:extLst>
              <a:ext uri="{FF2B5EF4-FFF2-40B4-BE49-F238E27FC236}">
                <a16:creationId xmlns:a16="http://schemas.microsoft.com/office/drawing/2014/main" id="{702AD40C-5F17-CC8F-7CB0-C2706FA3A0EC}"/>
              </a:ext>
            </a:extLst>
          </p:cNvPr>
          <p:cNvSpPr txBox="1"/>
          <p:nvPr/>
        </p:nvSpPr>
        <p:spPr>
          <a:xfrm>
            <a:off x="8903268" y="1229452"/>
            <a:ext cx="1904432" cy="2415305"/>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After sales </a:t>
            </a:r>
            <a:b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b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service</a:t>
            </a:r>
            <a:endParaRPr lang="en-US" sz="1200" b="1"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Delivery</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Installation</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Repair</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Greeters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Customer service </a:t>
            </a:r>
            <a:b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b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focus</a:t>
            </a:r>
          </a:p>
        </p:txBody>
      </p:sp>
      <p:sp>
        <p:nvSpPr>
          <p:cNvPr id="23" name="TextBox 25">
            <a:extLst>
              <a:ext uri="{FF2B5EF4-FFF2-40B4-BE49-F238E27FC236}">
                <a16:creationId xmlns:a16="http://schemas.microsoft.com/office/drawing/2014/main" id="{2D2E90E8-682E-1E45-463A-80B11B1C7448}"/>
              </a:ext>
            </a:extLst>
          </p:cNvPr>
          <p:cNvSpPr txBox="1"/>
          <p:nvPr/>
        </p:nvSpPr>
        <p:spPr>
          <a:xfrm rot="16200000">
            <a:off x="-505368" y="4782227"/>
            <a:ext cx="2414096" cy="482599"/>
          </a:xfrm>
          <a:prstGeom prst="rect">
            <a:avLst/>
          </a:prstGeom>
          <a:solidFill>
            <a:schemeClr val="tx2"/>
          </a:solidFill>
        </p:spPr>
        <p:txBody>
          <a:bodyPr wrap="square" lIns="0" tIns="0" rIns="0" bIns="0" rtlCol="0" anchor="ctr">
            <a:no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Support activities</a:t>
            </a:r>
            <a:endParaRPr kumimoji="0" lang="en-US" sz="1200"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28" name="Flecha: cheurón 27">
            <a:extLst>
              <a:ext uri="{FF2B5EF4-FFF2-40B4-BE49-F238E27FC236}">
                <a16:creationId xmlns:a16="http://schemas.microsoft.com/office/drawing/2014/main" id="{AAA6DE0D-D46B-54A0-E896-CB1FC862B040}"/>
              </a:ext>
            </a:extLst>
          </p:cNvPr>
          <p:cNvSpPr/>
          <p:nvPr/>
        </p:nvSpPr>
        <p:spPr>
          <a:xfrm>
            <a:off x="10115551" y="1152524"/>
            <a:ext cx="1704974" cy="5156195"/>
          </a:xfrm>
          <a:prstGeom prst="chevron">
            <a:avLst>
              <a:gd name="adj" fmla="val 55616"/>
            </a:avLst>
          </a:prstGeom>
          <a:solidFill>
            <a:srgbClr val="E8E8E8"/>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29" name="TextBox 25">
            <a:extLst>
              <a:ext uri="{FF2B5EF4-FFF2-40B4-BE49-F238E27FC236}">
                <a16:creationId xmlns:a16="http://schemas.microsoft.com/office/drawing/2014/main" id="{50BF7E19-70D6-E23B-28B0-A8149A42A05A}"/>
              </a:ext>
            </a:extLst>
          </p:cNvPr>
          <p:cNvSpPr txBox="1"/>
          <p:nvPr/>
        </p:nvSpPr>
        <p:spPr>
          <a:xfrm>
            <a:off x="1007827" y="3816478"/>
            <a:ext cx="9799873" cy="558090"/>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lang="en-US" sz="1200" b="1"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Firm infrastructure</a:t>
            </a:r>
            <a:endPar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80975" marR="0" lvl="0" indent="-180975"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Management, finance, legal, planning</a:t>
            </a:r>
            <a:endPar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30" name="TextBox 25">
            <a:extLst>
              <a:ext uri="{FF2B5EF4-FFF2-40B4-BE49-F238E27FC236}">
                <a16:creationId xmlns:a16="http://schemas.microsoft.com/office/drawing/2014/main" id="{86100B0B-634E-BE83-8831-55574E37001F}"/>
              </a:ext>
            </a:extLst>
          </p:cNvPr>
          <p:cNvSpPr txBox="1"/>
          <p:nvPr/>
        </p:nvSpPr>
        <p:spPr>
          <a:xfrm>
            <a:off x="1007827" y="4432573"/>
            <a:ext cx="9583973" cy="558090"/>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lang="en-US" sz="1200" b="1"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Human resource management</a:t>
            </a:r>
            <a:endPar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80975" marR="0" lvl="0" indent="-180975"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Professional development, employee relations, performance appraisals, recruiting, competitive wages, training programs</a:t>
            </a:r>
            <a:endPar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31" name="TextBox 25">
            <a:extLst>
              <a:ext uri="{FF2B5EF4-FFF2-40B4-BE49-F238E27FC236}">
                <a16:creationId xmlns:a16="http://schemas.microsoft.com/office/drawing/2014/main" id="{5F9A26E4-1A6D-9C31-E467-56BF78EC0ECA}"/>
              </a:ext>
            </a:extLst>
          </p:cNvPr>
          <p:cNvSpPr txBox="1"/>
          <p:nvPr/>
        </p:nvSpPr>
        <p:spPr>
          <a:xfrm>
            <a:off x="1007827" y="5048668"/>
            <a:ext cx="9393473" cy="558090"/>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lang="en-US" sz="1200" b="1"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Technology development</a:t>
            </a:r>
            <a:endPar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80975" marR="0" lvl="0" indent="-180975"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Integrated supply chain system, real-time sales information</a:t>
            </a:r>
            <a:endPar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32" name="TextBox 25">
            <a:extLst>
              <a:ext uri="{FF2B5EF4-FFF2-40B4-BE49-F238E27FC236}">
                <a16:creationId xmlns:a16="http://schemas.microsoft.com/office/drawing/2014/main" id="{A67F6A61-6E09-379A-76E6-D345F4D27B8A}"/>
              </a:ext>
            </a:extLst>
          </p:cNvPr>
          <p:cNvSpPr txBox="1"/>
          <p:nvPr/>
        </p:nvSpPr>
        <p:spPr>
          <a:xfrm>
            <a:off x="1007827" y="5664762"/>
            <a:ext cx="9149633" cy="558090"/>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lang="en-US" sz="1200" b="1"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Procurement</a:t>
            </a:r>
            <a:endPar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80975" marR="0" lvl="0" indent="-180975"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Real-time inventory, communication with suppliers, purchase supplies and materials</a:t>
            </a:r>
            <a:endPar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34" name="Straight Connector 34">
            <a:extLst>
              <a:ext uri="{FF2B5EF4-FFF2-40B4-BE49-F238E27FC236}">
                <a16:creationId xmlns:a16="http://schemas.microsoft.com/office/drawing/2014/main" id="{A63DF993-B450-30E6-A74B-E625D93E1CA5}"/>
              </a:ext>
            </a:extLst>
          </p:cNvPr>
          <p:cNvCxnSpPr>
            <a:cxnSpLocks/>
          </p:cNvCxnSpPr>
          <p:nvPr/>
        </p:nvCxnSpPr>
        <p:spPr>
          <a:xfrm>
            <a:off x="1007827" y="4403571"/>
            <a:ext cx="9726848"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39E313C-06C0-39EE-3B2D-43448DF02E4D}"/>
              </a:ext>
            </a:extLst>
          </p:cNvPr>
          <p:cNvCxnSpPr>
            <a:cxnSpLocks/>
          </p:cNvCxnSpPr>
          <p:nvPr/>
        </p:nvCxnSpPr>
        <p:spPr>
          <a:xfrm>
            <a:off x="1007827" y="5019666"/>
            <a:ext cx="9517298"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4">
            <a:extLst>
              <a:ext uri="{FF2B5EF4-FFF2-40B4-BE49-F238E27FC236}">
                <a16:creationId xmlns:a16="http://schemas.microsoft.com/office/drawing/2014/main" id="{9F88181D-CB9B-736F-6E09-FD0A4D4AD251}"/>
              </a:ext>
            </a:extLst>
          </p:cNvPr>
          <p:cNvCxnSpPr>
            <a:cxnSpLocks/>
          </p:cNvCxnSpPr>
          <p:nvPr/>
        </p:nvCxnSpPr>
        <p:spPr>
          <a:xfrm>
            <a:off x="1007827" y="5635760"/>
            <a:ext cx="9283936"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4">
            <a:extLst>
              <a:ext uri="{FF2B5EF4-FFF2-40B4-BE49-F238E27FC236}">
                <a16:creationId xmlns:a16="http://schemas.microsoft.com/office/drawing/2014/main" id="{06BC47FD-D00A-C501-7DA2-7D15C3FE9818}"/>
              </a:ext>
            </a:extLst>
          </p:cNvPr>
          <p:cNvCxnSpPr>
            <a:cxnSpLocks/>
          </p:cNvCxnSpPr>
          <p:nvPr/>
        </p:nvCxnSpPr>
        <p:spPr>
          <a:xfrm>
            <a:off x="2946974" y="1229452"/>
            <a:ext cx="0" cy="241530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34">
            <a:extLst>
              <a:ext uri="{FF2B5EF4-FFF2-40B4-BE49-F238E27FC236}">
                <a16:creationId xmlns:a16="http://schemas.microsoft.com/office/drawing/2014/main" id="{99D422E3-F5B1-C84C-AB76-BA5D72237755}"/>
              </a:ext>
            </a:extLst>
          </p:cNvPr>
          <p:cNvCxnSpPr>
            <a:cxnSpLocks/>
          </p:cNvCxnSpPr>
          <p:nvPr/>
        </p:nvCxnSpPr>
        <p:spPr>
          <a:xfrm>
            <a:off x="4920834" y="1229452"/>
            <a:ext cx="0" cy="241530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34">
            <a:extLst>
              <a:ext uri="{FF2B5EF4-FFF2-40B4-BE49-F238E27FC236}">
                <a16:creationId xmlns:a16="http://schemas.microsoft.com/office/drawing/2014/main" id="{AEC8E816-E33C-178D-EEC2-C8E07E664432}"/>
              </a:ext>
            </a:extLst>
          </p:cNvPr>
          <p:cNvCxnSpPr>
            <a:cxnSpLocks/>
          </p:cNvCxnSpPr>
          <p:nvPr/>
        </p:nvCxnSpPr>
        <p:spPr>
          <a:xfrm>
            <a:off x="6894695" y="1229452"/>
            <a:ext cx="0" cy="241530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34">
            <a:extLst>
              <a:ext uri="{FF2B5EF4-FFF2-40B4-BE49-F238E27FC236}">
                <a16:creationId xmlns:a16="http://schemas.microsoft.com/office/drawing/2014/main" id="{3C04CC5D-B22C-EE28-5C72-68571A6D79AC}"/>
              </a:ext>
            </a:extLst>
          </p:cNvPr>
          <p:cNvCxnSpPr>
            <a:cxnSpLocks/>
          </p:cNvCxnSpPr>
          <p:nvPr/>
        </p:nvCxnSpPr>
        <p:spPr>
          <a:xfrm>
            <a:off x="8868555" y="1229452"/>
            <a:ext cx="0" cy="241530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Box 25">
            <a:extLst>
              <a:ext uri="{FF2B5EF4-FFF2-40B4-BE49-F238E27FC236}">
                <a16:creationId xmlns:a16="http://schemas.microsoft.com/office/drawing/2014/main" id="{6B955F48-417A-1964-AB29-7C8788E5BF6A}"/>
              </a:ext>
            </a:extLst>
          </p:cNvPr>
          <p:cNvSpPr txBox="1"/>
          <p:nvPr/>
        </p:nvSpPr>
        <p:spPr>
          <a:xfrm rot="14903997">
            <a:off x="9976605" y="2241629"/>
            <a:ext cx="1913274" cy="215444"/>
          </a:xfrm>
          <a:prstGeom prst="rect">
            <a:avLst/>
          </a:prstGeom>
          <a:no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Margin</a:t>
            </a:r>
            <a:endParaRPr kumimoji="0" lang="en-US" sz="14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6" name="TextBox 25">
            <a:extLst>
              <a:ext uri="{FF2B5EF4-FFF2-40B4-BE49-F238E27FC236}">
                <a16:creationId xmlns:a16="http://schemas.microsoft.com/office/drawing/2014/main" id="{BC30C65E-593A-236D-A9B0-75A74F0DC9FF}"/>
              </a:ext>
            </a:extLst>
          </p:cNvPr>
          <p:cNvSpPr txBox="1"/>
          <p:nvPr/>
        </p:nvSpPr>
        <p:spPr>
          <a:xfrm rot="17510211">
            <a:off x="10103955" y="4940945"/>
            <a:ext cx="1699454" cy="215444"/>
          </a:xfrm>
          <a:prstGeom prst="rect">
            <a:avLst/>
          </a:prstGeom>
          <a:no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Margin</a:t>
            </a:r>
            <a:endParaRPr kumimoji="0" lang="en-US" sz="14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25895050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Objeto 26" hidden="1">
            <a:extLst>
              <a:ext uri="{FF2B5EF4-FFF2-40B4-BE49-F238E27FC236}">
                <a16:creationId xmlns:a16="http://schemas.microsoft.com/office/drawing/2014/main" id="{41040590-A9F1-47F8-D2C3-6F74BF270B3A}"/>
              </a:ext>
            </a:extLst>
          </p:cNvPr>
          <p:cNvGraphicFramePr>
            <a:graphicFrameLocks noChangeAspect="1"/>
          </p:cNvGraphicFramePr>
          <p:nvPr>
            <p:custDataLst>
              <p:tags r:id="rId1"/>
            </p:custDataLst>
            <p:extLst>
              <p:ext uri="{D42A27DB-BD31-4B8C-83A1-F6EECF244321}">
                <p14:modId xmlns:p14="http://schemas.microsoft.com/office/powerpoint/2010/main" val="39177902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27" name="Objeto 26" hidden="1">
                        <a:extLst>
                          <a:ext uri="{FF2B5EF4-FFF2-40B4-BE49-F238E27FC236}">
                            <a16:creationId xmlns:a16="http://schemas.microsoft.com/office/drawing/2014/main" id="{41040590-A9F1-47F8-D2C3-6F74BF270B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5" name="Flecha: pentágono 24">
            <a:extLst>
              <a:ext uri="{FF2B5EF4-FFF2-40B4-BE49-F238E27FC236}">
                <a16:creationId xmlns:a16="http://schemas.microsoft.com/office/drawing/2014/main" id="{05DE9B6B-8D37-2B8A-86FB-A2E054DDFBF2}"/>
              </a:ext>
            </a:extLst>
          </p:cNvPr>
          <p:cNvSpPr/>
          <p:nvPr/>
        </p:nvSpPr>
        <p:spPr>
          <a:xfrm>
            <a:off x="371475" y="1152524"/>
            <a:ext cx="11449050" cy="5156195"/>
          </a:xfrm>
          <a:prstGeom prst="homePlate">
            <a:avLst>
              <a:gd name="adj" fmla="val 18189"/>
            </a:avLst>
          </a:prstGeom>
          <a:solidFill>
            <a:schemeClr val="bg1">
              <a:lumMod val="9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3" name="Title 2">
            <a:extLst>
              <a:ext uri="{FF2B5EF4-FFF2-40B4-BE49-F238E27FC236}">
                <a16:creationId xmlns:a16="http://schemas.microsoft.com/office/drawing/2014/main" id="{B43A55FE-8C48-FFDD-4B61-B4A73F0A964B}"/>
              </a:ext>
            </a:extLst>
          </p:cNvPr>
          <p:cNvSpPr>
            <a:spLocks noGrp="1"/>
          </p:cNvSpPr>
          <p:nvPr>
            <p:ph type="title"/>
          </p:nvPr>
        </p:nvSpPr>
        <p:spPr>
          <a:xfrm>
            <a:off x="384174" y="381000"/>
            <a:ext cx="11420475" cy="485775"/>
          </a:xfrm>
        </p:spPr>
        <p:txBody>
          <a:bodyPr vert="horz"/>
          <a:lstStyle/>
          <a:p>
            <a:r>
              <a:rPr lang="en-US" dirty="0"/>
              <a:t>Porter's Value Chain — Template C</a:t>
            </a:r>
          </a:p>
        </p:txBody>
      </p:sp>
      <p:sp>
        <p:nvSpPr>
          <p:cNvPr id="2" name="Marcador de pie de página 1">
            <a:extLst>
              <a:ext uri="{FF2B5EF4-FFF2-40B4-BE49-F238E27FC236}">
                <a16:creationId xmlns:a16="http://schemas.microsoft.com/office/drawing/2014/main" id="{178F037D-3CBF-18C4-558F-D8795433323E}"/>
              </a:ext>
            </a:extLst>
          </p:cNvPr>
          <p:cNvSpPr>
            <a:spLocks noGrp="1"/>
          </p:cNvSpPr>
          <p:nvPr>
            <p:ph type="ftr" sz="quarter" idx="3"/>
          </p:nvPr>
        </p:nvSpPr>
        <p:spPr/>
        <p:txBody>
          <a:bodyPr/>
          <a:lstStyle/>
          <a:p>
            <a:r>
              <a:rPr lang="en-US"/>
              <a:t>Source:_______</a:t>
            </a:r>
            <a:endParaRPr lang="en-US" dirty="0"/>
          </a:p>
        </p:txBody>
      </p:sp>
      <p:sp>
        <p:nvSpPr>
          <p:cNvPr id="6" name="TextBox 25">
            <a:extLst>
              <a:ext uri="{FF2B5EF4-FFF2-40B4-BE49-F238E27FC236}">
                <a16:creationId xmlns:a16="http://schemas.microsoft.com/office/drawing/2014/main" id="{D3B5FADD-74FD-4679-54FC-896CB4C0E75F}"/>
              </a:ext>
            </a:extLst>
          </p:cNvPr>
          <p:cNvSpPr txBox="1"/>
          <p:nvPr/>
        </p:nvSpPr>
        <p:spPr>
          <a:xfrm rot="16200000">
            <a:off x="-505976" y="2195803"/>
            <a:ext cx="2415311" cy="482599"/>
          </a:xfrm>
          <a:prstGeom prst="rect">
            <a:avLst/>
          </a:prstGeom>
          <a:solidFill>
            <a:schemeClr val="tx2"/>
          </a:solidFill>
        </p:spPr>
        <p:txBody>
          <a:bodyPr wrap="square" lIns="0" tIns="0" rIns="0" bIns="0" rtlCol="0" anchor="ctr">
            <a:no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16" name="Conector recto 15">
            <a:extLst>
              <a:ext uri="{FF2B5EF4-FFF2-40B4-BE49-F238E27FC236}">
                <a16:creationId xmlns:a16="http://schemas.microsoft.com/office/drawing/2014/main" id="{A2317C1D-5874-0D61-B6CF-182ABE870F5C}"/>
              </a:ext>
            </a:extLst>
          </p:cNvPr>
          <p:cNvCxnSpPr>
            <a:cxnSpLocks/>
          </p:cNvCxnSpPr>
          <p:nvPr/>
        </p:nvCxnSpPr>
        <p:spPr>
          <a:xfrm>
            <a:off x="384174" y="3730621"/>
            <a:ext cx="1118393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TextBox 25">
            <a:extLst>
              <a:ext uri="{FF2B5EF4-FFF2-40B4-BE49-F238E27FC236}">
                <a16:creationId xmlns:a16="http://schemas.microsoft.com/office/drawing/2014/main" id="{47602EC2-842F-E018-0465-C50F1AB3AB4B}"/>
              </a:ext>
            </a:extLst>
          </p:cNvPr>
          <p:cNvSpPr txBox="1"/>
          <p:nvPr/>
        </p:nvSpPr>
        <p:spPr>
          <a:xfrm>
            <a:off x="1007827" y="1229452"/>
            <a:ext cx="1904432" cy="2415305"/>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18" name="TextBox 25">
            <a:extLst>
              <a:ext uri="{FF2B5EF4-FFF2-40B4-BE49-F238E27FC236}">
                <a16:creationId xmlns:a16="http://schemas.microsoft.com/office/drawing/2014/main" id="{79B62238-15A9-6915-5924-015844B23737}"/>
              </a:ext>
            </a:extLst>
          </p:cNvPr>
          <p:cNvSpPr txBox="1"/>
          <p:nvPr/>
        </p:nvSpPr>
        <p:spPr>
          <a:xfrm>
            <a:off x="2981688" y="1229452"/>
            <a:ext cx="1904432" cy="2415305"/>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endPar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19" name="TextBox 25">
            <a:extLst>
              <a:ext uri="{FF2B5EF4-FFF2-40B4-BE49-F238E27FC236}">
                <a16:creationId xmlns:a16="http://schemas.microsoft.com/office/drawing/2014/main" id="{C79C952B-E8BE-E818-6E20-77E533DE450A}"/>
              </a:ext>
            </a:extLst>
          </p:cNvPr>
          <p:cNvSpPr txBox="1"/>
          <p:nvPr/>
        </p:nvSpPr>
        <p:spPr>
          <a:xfrm>
            <a:off x="4955548" y="1229452"/>
            <a:ext cx="1904432" cy="2415305"/>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 </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20" name="TextBox 25">
            <a:extLst>
              <a:ext uri="{FF2B5EF4-FFF2-40B4-BE49-F238E27FC236}">
                <a16:creationId xmlns:a16="http://schemas.microsoft.com/office/drawing/2014/main" id="{38BFA708-9F6F-F3CE-5401-C8A5BB5F6652}"/>
              </a:ext>
            </a:extLst>
          </p:cNvPr>
          <p:cNvSpPr txBox="1"/>
          <p:nvPr/>
        </p:nvSpPr>
        <p:spPr>
          <a:xfrm>
            <a:off x="6929409" y="1229452"/>
            <a:ext cx="1904432" cy="2415305"/>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 </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21" name="TextBox 25">
            <a:extLst>
              <a:ext uri="{FF2B5EF4-FFF2-40B4-BE49-F238E27FC236}">
                <a16:creationId xmlns:a16="http://schemas.microsoft.com/office/drawing/2014/main" id="{702AD40C-5F17-CC8F-7CB0-C2706FA3A0EC}"/>
              </a:ext>
            </a:extLst>
          </p:cNvPr>
          <p:cNvSpPr txBox="1"/>
          <p:nvPr/>
        </p:nvSpPr>
        <p:spPr>
          <a:xfrm>
            <a:off x="8903268" y="1229452"/>
            <a:ext cx="1904432" cy="2415305"/>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 </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23" name="TextBox 25">
            <a:extLst>
              <a:ext uri="{FF2B5EF4-FFF2-40B4-BE49-F238E27FC236}">
                <a16:creationId xmlns:a16="http://schemas.microsoft.com/office/drawing/2014/main" id="{2D2E90E8-682E-1E45-463A-80B11B1C7448}"/>
              </a:ext>
            </a:extLst>
          </p:cNvPr>
          <p:cNvSpPr txBox="1"/>
          <p:nvPr/>
        </p:nvSpPr>
        <p:spPr>
          <a:xfrm rot="16200000">
            <a:off x="-505368" y="4782227"/>
            <a:ext cx="2414096" cy="482599"/>
          </a:xfrm>
          <a:prstGeom prst="rect">
            <a:avLst/>
          </a:prstGeom>
          <a:solidFill>
            <a:schemeClr val="tx2"/>
          </a:solidFill>
        </p:spPr>
        <p:txBody>
          <a:bodyPr wrap="square" lIns="0" tIns="0" rIns="0" bIns="0" rtlCol="0" anchor="ctr">
            <a:no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28" name="Flecha: cheurón 27">
            <a:extLst>
              <a:ext uri="{FF2B5EF4-FFF2-40B4-BE49-F238E27FC236}">
                <a16:creationId xmlns:a16="http://schemas.microsoft.com/office/drawing/2014/main" id="{AAA6DE0D-D46B-54A0-E896-CB1FC862B040}"/>
              </a:ext>
            </a:extLst>
          </p:cNvPr>
          <p:cNvSpPr/>
          <p:nvPr/>
        </p:nvSpPr>
        <p:spPr>
          <a:xfrm>
            <a:off x="10115551" y="1152524"/>
            <a:ext cx="1704974" cy="5156195"/>
          </a:xfrm>
          <a:prstGeom prst="chevron">
            <a:avLst>
              <a:gd name="adj" fmla="val 55616"/>
            </a:avLst>
          </a:prstGeom>
          <a:solidFill>
            <a:srgbClr val="E8E8E8"/>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29" name="TextBox 25">
            <a:extLst>
              <a:ext uri="{FF2B5EF4-FFF2-40B4-BE49-F238E27FC236}">
                <a16:creationId xmlns:a16="http://schemas.microsoft.com/office/drawing/2014/main" id="{50BF7E19-70D6-E23B-28B0-A8149A42A05A}"/>
              </a:ext>
            </a:extLst>
          </p:cNvPr>
          <p:cNvSpPr txBox="1"/>
          <p:nvPr/>
        </p:nvSpPr>
        <p:spPr>
          <a:xfrm>
            <a:off x="1007827" y="3816478"/>
            <a:ext cx="9799873" cy="558090"/>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 </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30" name="TextBox 25">
            <a:extLst>
              <a:ext uri="{FF2B5EF4-FFF2-40B4-BE49-F238E27FC236}">
                <a16:creationId xmlns:a16="http://schemas.microsoft.com/office/drawing/2014/main" id="{86100B0B-634E-BE83-8831-55574E37001F}"/>
              </a:ext>
            </a:extLst>
          </p:cNvPr>
          <p:cNvSpPr txBox="1"/>
          <p:nvPr/>
        </p:nvSpPr>
        <p:spPr>
          <a:xfrm>
            <a:off x="1007827" y="4432573"/>
            <a:ext cx="9583973" cy="558090"/>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 </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31" name="TextBox 25">
            <a:extLst>
              <a:ext uri="{FF2B5EF4-FFF2-40B4-BE49-F238E27FC236}">
                <a16:creationId xmlns:a16="http://schemas.microsoft.com/office/drawing/2014/main" id="{5F9A26E4-1A6D-9C31-E467-56BF78EC0ECA}"/>
              </a:ext>
            </a:extLst>
          </p:cNvPr>
          <p:cNvSpPr txBox="1"/>
          <p:nvPr/>
        </p:nvSpPr>
        <p:spPr>
          <a:xfrm>
            <a:off x="1007827" y="5048668"/>
            <a:ext cx="9393473" cy="558090"/>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 </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32" name="TextBox 25">
            <a:extLst>
              <a:ext uri="{FF2B5EF4-FFF2-40B4-BE49-F238E27FC236}">
                <a16:creationId xmlns:a16="http://schemas.microsoft.com/office/drawing/2014/main" id="{A67F6A61-6E09-379A-76E6-D345F4D27B8A}"/>
              </a:ext>
            </a:extLst>
          </p:cNvPr>
          <p:cNvSpPr txBox="1"/>
          <p:nvPr/>
        </p:nvSpPr>
        <p:spPr>
          <a:xfrm>
            <a:off x="1007827" y="5664762"/>
            <a:ext cx="9149633" cy="558090"/>
          </a:xfrm>
          <a:prstGeom prst="rect">
            <a:avLst/>
          </a:prstGeom>
          <a:noFill/>
        </p:spPr>
        <p:txBody>
          <a:bodyPr wrap="square" lIns="36000" tIns="36000" rIns="36000" bIns="36000" rtlCol="0" anchor="t">
            <a:noAutofit/>
          </a:bodyPr>
          <a:lstStyle/>
          <a:p>
            <a:pPr marR="0" lvl="0" defTabSz="914400" rtl="0" eaLnBrk="1" fontAlgn="auto" latinLnBrk="0" hangingPunct="1">
              <a:lnSpc>
                <a:spcPct val="100000"/>
              </a:lnSpc>
              <a:spcAft>
                <a:spcPts val="0"/>
              </a:spcAft>
              <a:buClrTx/>
              <a:buSzTx/>
              <a:tabLst/>
              <a:defRPr/>
            </a:pPr>
            <a:r>
              <a:rPr lang="en-US" sz="1200" b="1"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80975" marR="0" lvl="0" indent="-180975"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34" name="Straight Connector 34">
            <a:extLst>
              <a:ext uri="{FF2B5EF4-FFF2-40B4-BE49-F238E27FC236}">
                <a16:creationId xmlns:a16="http://schemas.microsoft.com/office/drawing/2014/main" id="{A63DF993-B450-30E6-A74B-E625D93E1CA5}"/>
              </a:ext>
            </a:extLst>
          </p:cNvPr>
          <p:cNvCxnSpPr>
            <a:cxnSpLocks/>
          </p:cNvCxnSpPr>
          <p:nvPr/>
        </p:nvCxnSpPr>
        <p:spPr>
          <a:xfrm>
            <a:off x="1007827" y="4403571"/>
            <a:ext cx="9726848"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39E313C-06C0-39EE-3B2D-43448DF02E4D}"/>
              </a:ext>
            </a:extLst>
          </p:cNvPr>
          <p:cNvCxnSpPr>
            <a:cxnSpLocks/>
          </p:cNvCxnSpPr>
          <p:nvPr/>
        </p:nvCxnSpPr>
        <p:spPr>
          <a:xfrm>
            <a:off x="1007827" y="5019666"/>
            <a:ext cx="9517298"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4">
            <a:extLst>
              <a:ext uri="{FF2B5EF4-FFF2-40B4-BE49-F238E27FC236}">
                <a16:creationId xmlns:a16="http://schemas.microsoft.com/office/drawing/2014/main" id="{9F88181D-CB9B-736F-6E09-FD0A4D4AD251}"/>
              </a:ext>
            </a:extLst>
          </p:cNvPr>
          <p:cNvCxnSpPr>
            <a:cxnSpLocks/>
          </p:cNvCxnSpPr>
          <p:nvPr/>
        </p:nvCxnSpPr>
        <p:spPr>
          <a:xfrm>
            <a:off x="1007827" y="5635760"/>
            <a:ext cx="9283936"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4">
            <a:extLst>
              <a:ext uri="{FF2B5EF4-FFF2-40B4-BE49-F238E27FC236}">
                <a16:creationId xmlns:a16="http://schemas.microsoft.com/office/drawing/2014/main" id="{06BC47FD-D00A-C501-7DA2-7D15C3FE9818}"/>
              </a:ext>
            </a:extLst>
          </p:cNvPr>
          <p:cNvCxnSpPr>
            <a:cxnSpLocks/>
          </p:cNvCxnSpPr>
          <p:nvPr/>
        </p:nvCxnSpPr>
        <p:spPr>
          <a:xfrm>
            <a:off x="2946974" y="1229452"/>
            <a:ext cx="0" cy="241530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34">
            <a:extLst>
              <a:ext uri="{FF2B5EF4-FFF2-40B4-BE49-F238E27FC236}">
                <a16:creationId xmlns:a16="http://schemas.microsoft.com/office/drawing/2014/main" id="{99D422E3-F5B1-C84C-AB76-BA5D72237755}"/>
              </a:ext>
            </a:extLst>
          </p:cNvPr>
          <p:cNvCxnSpPr>
            <a:cxnSpLocks/>
          </p:cNvCxnSpPr>
          <p:nvPr/>
        </p:nvCxnSpPr>
        <p:spPr>
          <a:xfrm>
            <a:off x="4920834" y="1229452"/>
            <a:ext cx="0" cy="241530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34">
            <a:extLst>
              <a:ext uri="{FF2B5EF4-FFF2-40B4-BE49-F238E27FC236}">
                <a16:creationId xmlns:a16="http://schemas.microsoft.com/office/drawing/2014/main" id="{AEC8E816-E33C-178D-EEC2-C8E07E664432}"/>
              </a:ext>
            </a:extLst>
          </p:cNvPr>
          <p:cNvCxnSpPr>
            <a:cxnSpLocks/>
          </p:cNvCxnSpPr>
          <p:nvPr/>
        </p:nvCxnSpPr>
        <p:spPr>
          <a:xfrm>
            <a:off x="6894695" y="1229452"/>
            <a:ext cx="0" cy="241530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34">
            <a:extLst>
              <a:ext uri="{FF2B5EF4-FFF2-40B4-BE49-F238E27FC236}">
                <a16:creationId xmlns:a16="http://schemas.microsoft.com/office/drawing/2014/main" id="{3C04CC5D-B22C-EE28-5C72-68571A6D79AC}"/>
              </a:ext>
            </a:extLst>
          </p:cNvPr>
          <p:cNvCxnSpPr>
            <a:cxnSpLocks/>
          </p:cNvCxnSpPr>
          <p:nvPr/>
        </p:nvCxnSpPr>
        <p:spPr>
          <a:xfrm>
            <a:off x="8868555" y="1229452"/>
            <a:ext cx="0" cy="241530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Box 25">
            <a:extLst>
              <a:ext uri="{FF2B5EF4-FFF2-40B4-BE49-F238E27FC236}">
                <a16:creationId xmlns:a16="http://schemas.microsoft.com/office/drawing/2014/main" id="{6B955F48-417A-1964-AB29-7C8788E5BF6A}"/>
              </a:ext>
            </a:extLst>
          </p:cNvPr>
          <p:cNvSpPr txBox="1"/>
          <p:nvPr/>
        </p:nvSpPr>
        <p:spPr>
          <a:xfrm rot="14903997">
            <a:off x="9976605" y="2241629"/>
            <a:ext cx="1913274" cy="215444"/>
          </a:xfrm>
          <a:prstGeom prst="rect">
            <a:avLst/>
          </a:prstGeom>
          <a:no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4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6" name="TextBox 25">
            <a:extLst>
              <a:ext uri="{FF2B5EF4-FFF2-40B4-BE49-F238E27FC236}">
                <a16:creationId xmlns:a16="http://schemas.microsoft.com/office/drawing/2014/main" id="{BC30C65E-593A-236D-A9B0-75A74F0DC9FF}"/>
              </a:ext>
            </a:extLst>
          </p:cNvPr>
          <p:cNvSpPr txBox="1"/>
          <p:nvPr/>
        </p:nvSpPr>
        <p:spPr>
          <a:xfrm rot="17510211">
            <a:off x="10103955" y="4940945"/>
            <a:ext cx="1699454" cy="215444"/>
          </a:xfrm>
          <a:prstGeom prst="rect">
            <a:avLst/>
          </a:prstGeom>
          <a:no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4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Tree>
    <p:extLst>
      <p:ext uri="{BB962C8B-B14F-4D97-AF65-F5344CB8AC3E}">
        <p14:creationId xmlns:p14="http://schemas.microsoft.com/office/powerpoint/2010/main" val="17432406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GE McKinsey Matrix</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2448881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B5376BB7-F2A2-524E-FD81-82899FC906FC}"/>
              </a:ext>
            </a:extLst>
          </p:cNvPr>
          <p:cNvGraphicFramePr>
            <a:graphicFrameLocks noChangeAspect="1"/>
          </p:cNvGraphicFramePr>
          <p:nvPr>
            <p:custDataLst>
              <p:tags r:id="rId1"/>
            </p:custDataLst>
            <p:extLst>
              <p:ext uri="{D42A27DB-BD31-4B8C-83A1-F6EECF244321}">
                <p14:modId xmlns:p14="http://schemas.microsoft.com/office/powerpoint/2010/main" val="34363913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1958B114-AA59-734B-8AD8-ACE37654AA5B}"/>
              </a:ext>
            </a:extLst>
          </p:cNvPr>
          <p:cNvSpPr>
            <a:spLocks noGrp="1"/>
          </p:cNvSpPr>
          <p:nvPr>
            <p:ph type="title"/>
          </p:nvPr>
        </p:nvSpPr>
        <p:spPr/>
        <p:txBody>
          <a:bodyPr vert="horz"/>
          <a:lstStyle/>
          <a:p>
            <a:r>
              <a:rPr lang="en-US" dirty="0"/>
              <a:t>GE McKinsey Matrix — Overview</a:t>
            </a:r>
          </a:p>
        </p:txBody>
      </p:sp>
      <p:sp>
        <p:nvSpPr>
          <p:cNvPr id="3" name="Marcador de texto 2">
            <a:extLst>
              <a:ext uri="{FF2B5EF4-FFF2-40B4-BE49-F238E27FC236}">
                <a16:creationId xmlns:a16="http://schemas.microsoft.com/office/drawing/2014/main" id="{ECE68D07-2EB1-BFFB-EDB0-834E3660FA22}"/>
              </a:ext>
            </a:extLst>
          </p:cNvPr>
          <p:cNvSpPr>
            <a:spLocks noGrp="1"/>
          </p:cNvSpPr>
          <p:nvPr>
            <p:ph type="body" sz="quarter" idx="18"/>
          </p:nvPr>
        </p:nvSpPr>
        <p:spPr/>
        <p:txBody>
          <a:bodyPr/>
          <a:lstStyle/>
          <a:p>
            <a:r>
              <a:rPr lang="en-US" dirty="0"/>
              <a:t>Developed by McKinsey &amp; Company in collaboration with General Electric and first introduced in a 1971 report titled "The McKinsey Approach to Business Policy," written by McKinsey consultants Tom Peters and Robert Waterman.</a:t>
            </a:r>
          </a:p>
        </p:txBody>
      </p:sp>
      <p:sp>
        <p:nvSpPr>
          <p:cNvPr id="4" name="Marcador de texto 3">
            <a:extLst>
              <a:ext uri="{FF2B5EF4-FFF2-40B4-BE49-F238E27FC236}">
                <a16:creationId xmlns:a16="http://schemas.microsoft.com/office/drawing/2014/main" id="{5564650E-7C23-874D-4032-2EE38F0269E4}"/>
              </a:ext>
            </a:extLst>
          </p:cNvPr>
          <p:cNvSpPr>
            <a:spLocks noGrp="1"/>
          </p:cNvSpPr>
          <p:nvPr>
            <p:ph type="body" sz="quarter" idx="19"/>
          </p:nvPr>
        </p:nvSpPr>
        <p:spPr/>
        <p:txBody>
          <a:bodyPr/>
          <a:lstStyle/>
          <a:p>
            <a:pPr marL="0" indent="0">
              <a:buFont typeface="Arial" panose="020B0604020202020204" pitchFamily="34" charset="0"/>
              <a:buNone/>
            </a:pPr>
            <a:r>
              <a:rPr lang="en-US" dirty="0"/>
              <a:t>The GE McKinsey Matrix is a strategic management tool used to assess the performance of a business's product portfolio. "The McKinsey Approach to Business Policy" report outlined a framework for assessing the strategic position of a business and making decisions about resource allocation.</a:t>
            </a:r>
          </a:p>
          <a:p>
            <a:pPr marL="0" indent="0">
              <a:buFont typeface="Arial" panose="020B0604020202020204" pitchFamily="34" charset="0"/>
              <a:buNone/>
            </a:pPr>
            <a:r>
              <a:rPr lang="en-US" dirty="0"/>
              <a:t>The nine-box matrix that assesses a business's product portfolio based on two key dimensions: market attractiveness and business strength. Market attractiveness refers to the size and growth potential of the market for a given product, while business strength refers to the ability of the business to compete in that market.</a:t>
            </a:r>
          </a:p>
          <a:p>
            <a:pPr marL="0" indent="0">
              <a:buFont typeface="Arial" panose="020B0604020202020204" pitchFamily="34" charset="0"/>
              <a:buNone/>
            </a:pPr>
            <a:r>
              <a:rPr lang="en-US" dirty="0"/>
              <a:t>The matrix has become a widely used tool for strategic management, helping businesses to assess their product portfolios and make informed decisions about resource allocation and investment.</a:t>
            </a:r>
          </a:p>
        </p:txBody>
      </p:sp>
      <p:sp>
        <p:nvSpPr>
          <p:cNvPr id="5" name="Marcador de texto 4">
            <a:extLst>
              <a:ext uri="{FF2B5EF4-FFF2-40B4-BE49-F238E27FC236}">
                <a16:creationId xmlns:a16="http://schemas.microsoft.com/office/drawing/2014/main" id="{684B8879-33E9-5EB4-7FB6-47D47EC8E75C}"/>
              </a:ext>
            </a:extLst>
          </p:cNvPr>
          <p:cNvSpPr>
            <a:spLocks noGrp="1"/>
          </p:cNvSpPr>
          <p:nvPr>
            <p:ph type="body" sz="quarter" idx="20"/>
          </p:nvPr>
        </p:nvSpPr>
        <p:spPr/>
        <p:txBody>
          <a:bodyPr/>
          <a:lstStyle/>
          <a:p>
            <a:r>
              <a:rPr lang="en-US" b="1" dirty="0"/>
              <a:t>Portfolio analysis: </a:t>
            </a:r>
            <a:r>
              <a:rPr lang="en-US" dirty="0"/>
              <a:t>Evaluate a company's current business portfolio and identify areas of strength and weakness to determine where to invest resources and where to divest.</a:t>
            </a:r>
          </a:p>
          <a:p>
            <a:r>
              <a:rPr lang="en-US" b="1" dirty="0"/>
              <a:t>Acquisition analysis: </a:t>
            </a:r>
            <a:r>
              <a:rPr lang="en-US" dirty="0"/>
              <a:t>Evaluate the target company's business portfolio and determine how it fits with the acquiring company's portfolio to make informed decisions about whether to pursue an acquisition.</a:t>
            </a:r>
          </a:p>
          <a:p>
            <a:r>
              <a:rPr lang="en-US" b="1" dirty="0"/>
              <a:t>Resource allocation: </a:t>
            </a:r>
            <a:r>
              <a:rPr lang="en-US" dirty="0"/>
              <a:t>Determine where to allocate resources within a company's business portfolio. By assessing each business unit's market attractiveness and competitive position, management can prioritize investments to maximize growth and profitability.</a:t>
            </a:r>
          </a:p>
          <a:p>
            <a:r>
              <a:rPr lang="en-US" b="1" dirty="0"/>
              <a:t>Strategic planning: </a:t>
            </a:r>
            <a:r>
              <a:rPr lang="en-US" dirty="0"/>
              <a:t>Assess the company's current portfolio and potential growth opportunities to develop a clear and actionable plan for achieving long-term success.</a:t>
            </a:r>
          </a:p>
        </p:txBody>
      </p:sp>
      <p:sp>
        <p:nvSpPr>
          <p:cNvPr id="11" name="Marcador de pie de página 10">
            <a:extLst>
              <a:ext uri="{FF2B5EF4-FFF2-40B4-BE49-F238E27FC236}">
                <a16:creationId xmlns:a16="http://schemas.microsoft.com/office/drawing/2014/main" id="{F946FCA6-5FAA-B08F-737E-459DD46F7203}"/>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4053430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84" name="Objeto 3083" hidden="1">
            <a:extLst>
              <a:ext uri="{FF2B5EF4-FFF2-40B4-BE49-F238E27FC236}">
                <a16:creationId xmlns:a16="http://schemas.microsoft.com/office/drawing/2014/main" id="{F2BFB47D-CE56-BC40-1CFC-173F799A8995}"/>
              </a:ext>
            </a:extLst>
          </p:cNvPr>
          <p:cNvGraphicFramePr>
            <a:graphicFrameLocks noChangeAspect="1"/>
          </p:cNvGraphicFramePr>
          <p:nvPr>
            <p:custDataLst>
              <p:tags r:id="rId1"/>
            </p:custDataLst>
            <p:extLst>
              <p:ext uri="{D42A27DB-BD31-4B8C-83A1-F6EECF244321}">
                <p14:modId xmlns:p14="http://schemas.microsoft.com/office/powerpoint/2010/main" val="2296541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vert="horz"/>
          <a:lstStyle/>
          <a:p>
            <a:r>
              <a:rPr lang="en-US" dirty="0"/>
              <a:t>GE McKinsey Matrix — Template</a:t>
            </a:r>
          </a:p>
        </p:txBody>
      </p:sp>
      <p:cxnSp>
        <p:nvCxnSpPr>
          <p:cNvPr id="7" name="Conector recto 6">
            <a:extLst>
              <a:ext uri="{FF2B5EF4-FFF2-40B4-BE49-F238E27FC236}">
                <a16:creationId xmlns:a16="http://schemas.microsoft.com/office/drawing/2014/main" id="{5ADE3FCD-BF53-1B31-7CFD-FE5B8C35724D}"/>
              </a:ext>
            </a:extLst>
          </p:cNvPr>
          <p:cNvCxnSpPr>
            <a:cxnSpLocks/>
          </p:cNvCxnSpPr>
          <p:nvPr/>
        </p:nvCxnSpPr>
        <p:spPr>
          <a:xfrm flipV="1">
            <a:off x="476507" y="1754549"/>
            <a:ext cx="0" cy="3851277"/>
          </a:xfrm>
          <a:prstGeom prst="line">
            <a:avLst/>
          </a:prstGeom>
          <a:noFill/>
          <a:ln w="28575">
            <a:solidFill>
              <a:schemeClr val="tx2"/>
            </a:solidFill>
            <a:tailEnd type="arrow" w="med" len="sm"/>
          </a:ln>
        </p:spPr>
        <p:style>
          <a:lnRef idx="1">
            <a:schemeClr val="accent1"/>
          </a:lnRef>
          <a:fillRef idx="0">
            <a:schemeClr val="accent1"/>
          </a:fillRef>
          <a:effectRef idx="0">
            <a:schemeClr val="accent1"/>
          </a:effectRef>
          <a:fontRef idx="minor">
            <a:schemeClr val="tx1"/>
          </a:fontRef>
        </p:style>
      </p:cxnSp>
      <p:sp>
        <p:nvSpPr>
          <p:cNvPr id="16" name="TextBox 25">
            <a:extLst>
              <a:ext uri="{FF2B5EF4-FFF2-40B4-BE49-F238E27FC236}">
                <a16:creationId xmlns:a16="http://schemas.microsoft.com/office/drawing/2014/main" id="{40CA22F4-F8A4-DBE3-D94E-45B61863520C}"/>
              </a:ext>
            </a:extLst>
          </p:cNvPr>
          <p:cNvSpPr txBox="1"/>
          <p:nvPr/>
        </p:nvSpPr>
        <p:spPr>
          <a:xfrm rot="16200000">
            <a:off x="287415" y="1473122"/>
            <a:ext cx="378185" cy="184666"/>
          </a:xfrm>
          <a:prstGeom prst="rect">
            <a:avLst/>
          </a:prstGeom>
          <a:noFill/>
        </p:spPr>
        <p:txBody>
          <a:bodyPr wrap="square" lIns="0" tIns="0" rIns="0" bIns="0" rtlCol="0" anchor="ctr">
            <a:spAutoFit/>
          </a:bodyPr>
          <a:lstStyle/>
          <a:p>
            <a:pPr marR="0" lvl="0" algn="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High</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7" name="TextBox 25">
            <a:extLst>
              <a:ext uri="{FF2B5EF4-FFF2-40B4-BE49-F238E27FC236}">
                <a16:creationId xmlns:a16="http://schemas.microsoft.com/office/drawing/2014/main" id="{CE99EA9D-4783-03AA-1890-E00B21600BA0}"/>
              </a:ext>
            </a:extLst>
          </p:cNvPr>
          <p:cNvSpPr txBox="1"/>
          <p:nvPr/>
        </p:nvSpPr>
        <p:spPr>
          <a:xfrm rot="16200000">
            <a:off x="287415" y="5702584"/>
            <a:ext cx="378185" cy="184666"/>
          </a:xfrm>
          <a:prstGeom prst="rect">
            <a:avLst/>
          </a:prstGeom>
          <a:no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Low</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8" name="TextBox 25">
            <a:extLst>
              <a:ext uri="{FF2B5EF4-FFF2-40B4-BE49-F238E27FC236}">
                <a16:creationId xmlns:a16="http://schemas.microsoft.com/office/drawing/2014/main" id="{0AF9B2BD-F1C2-5D01-E40D-89F8A1091090}"/>
              </a:ext>
            </a:extLst>
          </p:cNvPr>
          <p:cNvSpPr txBox="1"/>
          <p:nvPr/>
        </p:nvSpPr>
        <p:spPr>
          <a:xfrm rot="16200000">
            <a:off x="85620" y="3587854"/>
            <a:ext cx="781774" cy="184666"/>
          </a:xfrm>
          <a:prstGeom prst="rect">
            <a:avLst/>
          </a:prstGeom>
          <a:solidFill>
            <a:schemeClr val="bg1"/>
          </a:solid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Medium</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3073" name="Rectángulo 3072">
            <a:extLst>
              <a:ext uri="{FF2B5EF4-FFF2-40B4-BE49-F238E27FC236}">
                <a16:creationId xmlns:a16="http://schemas.microsoft.com/office/drawing/2014/main" id="{D39DF928-BAC7-A7B4-86F1-6737B1BD4D79}"/>
              </a:ext>
            </a:extLst>
          </p:cNvPr>
          <p:cNvSpPr/>
          <p:nvPr/>
        </p:nvSpPr>
        <p:spPr>
          <a:xfrm>
            <a:off x="4409016" y="1376363"/>
            <a:ext cx="3697816" cy="153588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endParaRPr lang="en-US" dirty="0" err="1"/>
          </a:p>
        </p:txBody>
      </p:sp>
      <p:sp>
        <p:nvSpPr>
          <p:cNvPr id="3075" name="Rectángulo 3074">
            <a:extLst>
              <a:ext uri="{FF2B5EF4-FFF2-40B4-BE49-F238E27FC236}">
                <a16:creationId xmlns:a16="http://schemas.microsoft.com/office/drawing/2014/main" id="{8E5FE205-47D8-98F7-866C-540F10B3C203}"/>
              </a:ext>
            </a:extLst>
          </p:cNvPr>
          <p:cNvSpPr/>
          <p:nvPr/>
        </p:nvSpPr>
        <p:spPr>
          <a:xfrm>
            <a:off x="8106833" y="1376363"/>
            <a:ext cx="3697816" cy="15358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endParaRPr lang="en-US" dirty="0" err="1"/>
          </a:p>
        </p:txBody>
      </p:sp>
      <p:sp>
        <p:nvSpPr>
          <p:cNvPr id="3076" name="Rectángulo 3075">
            <a:extLst>
              <a:ext uri="{FF2B5EF4-FFF2-40B4-BE49-F238E27FC236}">
                <a16:creationId xmlns:a16="http://schemas.microsoft.com/office/drawing/2014/main" id="{32765153-647C-8D72-AAD6-B57A945F356B}"/>
              </a:ext>
            </a:extLst>
          </p:cNvPr>
          <p:cNvSpPr/>
          <p:nvPr/>
        </p:nvSpPr>
        <p:spPr>
          <a:xfrm>
            <a:off x="711200" y="1376363"/>
            <a:ext cx="3697816" cy="15358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endParaRPr lang="en-US" dirty="0" err="1"/>
          </a:p>
        </p:txBody>
      </p:sp>
      <p:sp>
        <p:nvSpPr>
          <p:cNvPr id="3077" name="Rectángulo 3076">
            <a:extLst>
              <a:ext uri="{FF2B5EF4-FFF2-40B4-BE49-F238E27FC236}">
                <a16:creationId xmlns:a16="http://schemas.microsoft.com/office/drawing/2014/main" id="{7293CDF0-5BDD-974F-1D70-251CDDD2C1CE}"/>
              </a:ext>
            </a:extLst>
          </p:cNvPr>
          <p:cNvSpPr/>
          <p:nvPr/>
        </p:nvSpPr>
        <p:spPr>
          <a:xfrm>
            <a:off x="4409016" y="2912245"/>
            <a:ext cx="3697816" cy="15358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endParaRPr lang="en-US" dirty="0" err="1"/>
          </a:p>
        </p:txBody>
      </p:sp>
      <p:sp>
        <p:nvSpPr>
          <p:cNvPr id="3078" name="Rectángulo 3077">
            <a:extLst>
              <a:ext uri="{FF2B5EF4-FFF2-40B4-BE49-F238E27FC236}">
                <a16:creationId xmlns:a16="http://schemas.microsoft.com/office/drawing/2014/main" id="{51271E1A-23E5-FC2C-B483-C6393DEE8DEE}"/>
              </a:ext>
            </a:extLst>
          </p:cNvPr>
          <p:cNvSpPr/>
          <p:nvPr/>
        </p:nvSpPr>
        <p:spPr>
          <a:xfrm>
            <a:off x="8106833" y="2912245"/>
            <a:ext cx="3697816" cy="153588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endParaRPr lang="en-US" dirty="0" err="1"/>
          </a:p>
        </p:txBody>
      </p:sp>
      <p:sp>
        <p:nvSpPr>
          <p:cNvPr id="3079" name="Rectángulo 3078">
            <a:extLst>
              <a:ext uri="{FF2B5EF4-FFF2-40B4-BE49-F238E27FC236}">
                <a16:creationId xmlns:a16="http://schemas.microsoft.com/office/drawing/2014/main" id="{134A8E3B-15D9-023A-BAEC-F58B9A3F0F98}"/>
              </a:ext>
            </a:extLst>
          </p:cNvPr>
          <p:cNvSpPr/>
          <p:nvPr/>
        </p:nvSpPr>
        <p:spPr>
          <a:xfrm>
            <a:off x="711200" y="2912245"/>
            <a:ext cx="3697816" cy="153588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endParaRPr lang="en-US" dirty="0" err="1"/>
          </a:p>
        </p:txBody>
      </p:sp>
      <p:sp>
        <p:nvSpPr>
          <p:cNvPr id="3080" name="Rectángulo 3079">
            <a:extLst>
              <a:ext uri="{FF2B5EF4-FFF2-40B4-BE49-F238E27FC236}">
                <a16:creationId xmlns:a16="http://schemas.microsoft.com/office/drawing/2014/main" id="{ADBE206F-9383-5309-3205-7E92CFC112AB}"/>
              </a:ext>
            </a:extLst>
          </p:cNvPr>
          <p:cNvSpPr/>
          <p:nvPr/>
        </p:nvSpPr>
        <p:spPr>
          <a:xfrm>
            <a:off x="4409016" y="4448127"/>
            <a:ext cx="3697816" cy="153588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endParaRPr lang="en-US" dirty="0" err="1"/>
          </a:p>
        </p:txBody>
      </p:sp>
      <p:sp>
        <p:nvSpPr>
          <p:cNvPr id="3081" name="Rectángulo 3080">
            <a:extLst>
              <a:ext uri="{FF2B5EF4-FFF2-40B4-BE49-F238E27FC236}">
                <a16:creationId xmlns:a16="http://schemas.microsoft.com/office/drawing/2014/main" id="{F09549C0-1C3E-3006-F006-5B09F7446739}"/>
              </a:ext>
            </a:extLst>
          </p:cNvPr>
          <p:cNvSpPr/>
          <p:nvPr/>
        </p:nvSpPr>
        <p:spPr>
          <a:xfrm>
            <a:off x="8106833" y="4448127"/>
            <a:ext cx="3697816" cy="15358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endParaRPr lang="en-US" dirty="0" err="1"/>
          </a:p>
        </p:txBody>
      </p:sp>
      <p:sp>
        <p:nvSpPr>
          <p:cNvPr id="3082" name="Rectángulo 3081">
            <a:extLst>
              <a:ext uri="{FF2B5EF4-FFF2-40B4-BE49-F238E27FC236}">
                <a16:creationId xmlns:a16="http://schemas.microsoft.com/office/drawing/2014/main" id="{AE722678-D902-1ACD-76C4-AA7E6E3042AC}"/>
              </a:ext>
            </a:extLst>
          </p:cNvPr>
          <p:cNvSpPr/>
          <p:nvPr/>
        </p:nvSpPr>
        <p:spPr>
          <a:xfrm>
            <a:off x="711200" y="4448127"/>
            <a:ext cx="3697816" cy="15358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endParaRPr lang="en-US" dirty="0" err="1"/>
          </a:p>
        </p:txBody>
      </p:sp>
      <p:cxnSp>
        <p:nvCxnSpPr>
          <p:cNvPr id="8" name="Conector recto 7">
            <a:extLst>
              <a:ext uri="{FF2B5EF4-FFF2-40B4-BE49-F238E27FC236}">
                <a16:creationId xmlns:a16="http://schemas.microsoft.com/office/drawing/2014/main" id="{4D8FD5FD-6614-CA37-3B43-2B6239BC457D}"/>
              </a:ext>
            </a:extLst>
          </p:cNvPr>
          <p:cNvCxnSpPr>
            <a:cxnSpLocks/>
          </p:cNvCxnSpPr>
          <p:nvPr/>
        </p:nvCxnSpPr>
        <p:spPr>
          <a:xfrm>
            <a:off x="1155461" y="6145935"/>
            <a:ext cx="10179289" cy="0"/>
          </a:xfrm>
          <a:prstGeom prst="line">
            <a:avLst/>
          </a:prstGeom>
          <a:noFill/>
          <a:ln w="28575">
            <a:solidFill>
              <a:schemeClr val="tx2"/>
            </a:solidFill>
            <a:tailEnd type="arrow" w="med" len="sm"/>
          </a:ln>
        </p:spPr>
        <p:style>
          <a:lnRef idx="1">
            <a:schemeClr val="accent1"/>
          </a:lnRef>
          <a:fillRef idx="0">
            <a:schemeClr val="accent1"/>
          </a:fillRef>
          <a:effectRef idx="0">
            <a:schemeClr val="accent1"/>
          </a:effectRef>
          <a:fontRef idx="minor">
            <a:schemeClr val="tx1"/>
          </a:fontRef>
        </p:style>
      </p:cxnSp>
      <p:sp>
        <p:nvSpPr>
          <p:cNvPr id="9" name="TextBox 24">
            <a:extLst>
              <a:ext uri="{FF2B5EF4-FFF2-40B4-BE49-F238E27FC236}">
                <a16:creationId xmlns:a16="http://schemas.microsoft.com/office/drawing/2014/main" id="{99D0DC6E-8B21-78DE-4A11-4F2B6B1A99BD}"/>
              </a:ext>
            </a:extLst>
          </p:cNvPr>
          <p:cNvSpPr txBox="1"/>
          <p:nvPr/>
        </p:nvSpPr>
        <p:spPr>
          <a:xfrm>
            <a:off x="711202" y="1376363"/>
            <a:ext cx="3697807" cy="251795"/>
          </a:xfrm>
          <a:prstGeom prst="rect">
            <a:avLst/>
          </a:prstGeom>
          <a:noFill/>
        </p:spPr>
        <p:txBody>
          <a:bodyPr wrap="square" lIns="0" tIns="36000" rIns="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11" name="TextBox 24">
            <a:extLst>
              <a:ext uri="{FF2B5EF4-FFF2-40B4-BE49-F238E27FC236}">
                <a16:creationId xmlns:a16="http://schemas.microsoft.com/office/drawing/2014/main" id="{2FA6F243-4E41-AB0B-69A5-B9C97144DAF3}"/>
              </a:ext>
            </a:extLst>
          </p:cNvPr>
          <p:cNvSpPr txBox="1"/>
          <p:nvPr/>
        </p:nvSpPr>
        <p:spPr>
          <a:xfrm>
            <a:off x="711209" y="2912245"/>
            <a:ext cx="3697797" cy="251795"/>
          </a:xfrm>
          <a:prstGeom prst="rect">
            <a:avLst/>
          </a:prstGeom>
          <a:noFill/>
        </p:spPr>
        <p:txBody>
          <a:bodyPr wrap="square" lIns="0" tIns="36000" rIns="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13" name="TextBox 25">
            <a:extLst>
              <a:ext uri="{FF2B5EF4-FFF2-40B4-BE49-F238E27FC236}">
                <a16:creationId xmlns:a16="http://schemas.microsoft.com/office/drawing/2014/main" id="{AF4D1886-607C-88FD-60CA-9226E70360B1}"/>
              </a:ext>
            </a:extLst>
          </p:cNvPr>
          <p:cNvSpPr txBox="1"/>
          <p:nvPr/>
        </p:nvSpPr>
        <p:spPr>
          <a:xfrm>
            <a:off x="711200" y="6053602"/>
            <a:ext cx="444261" cy="184666"/>
          </a:xfrm>
          <a:prstGeom prst="rect">
            <a:avLst/>
          </a:prstGeom>
          <a:noFill/>
        </p:spPr>
        <p:txBody>
          <a:bodyPr wrap="square" lIns="0" tIns="0" rIns="0" bIns="0" rtlCol="0" anchor="ctr">
            <a:spAutoFit/>
          </a:bodyPr>
          <a:lstStyle/>
          <a:p>
            <a:pPr marR="0" lvl="0" algn="l"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Low</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4" name="TextBox 25">
            <a:extLst>
              <a:ext uri="{FF2B5EF4-FFF2-40B4-BE49-F238E27FC236}">
                <a16:creationId xmlns:a16="http://schemas.microsoft.com/office/drawing/2014/main" id="{6A239BD0-B988-45DB-FA51-354EAC54FBAF}"/>
              </a:ext>
            </a:extLst>
          </p:cNvPr>
          <p:cNvSpPr txBox="1"/>
          <p:nvPr/>
        </p:nvSpPr>
        <p:spPr>
          <a:xfrm>
            <a:off x="11334750" y="6053602"/>
            <a:ext cx="469899" cy="184666"/>
          </a:xfrm>
          <a:prstGeom prst="rect">
            <a:avLst/>
          </a:prstGeom>
          <a:noFill/>
        </p:spPr>
        <p:txBody>
          <a:bodyPr wrap="square" lIns="0" tIns="0" rIns="0" bIns="0" rtlCol="0" anchor="ctr">
            <a:spAutoFit/>
          </a:bodyPr>
          <a:lstStyle/>
          <a:p>
            <a:pPr marR="0" lvl="0" algn="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High</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5" name="TextBox 25">
            <a:extLst>
              <a:ext uri="{FF2B5EF4-FFF2-40B4-BE49-F238E27FC236}">
                <a16:creationId xmlns:a16="http://schemas.microsoft.com/office/drawing/2014/main" id="{41166E5B-4C6E-363B-D046-243ABD188B78}"/>
              </a:ext>
            </a:extLst>
          </p:cNvPr>
          <p:cNvSpPr txBox="1"/>
          <p:nvPr/>
        </p:nvSpPr>
        <p:spPr>
          <a:xfrm>
            <a:off x="5798671" y="6053602"/>
            <a:ext cx="868830" cy="184666"/>
          </a:xfrm>
          <a:prstGeom prst="rect">
            <a:avLst/>
          </a:prstGeom>
          <a:solidFill>
            <a:schemeClr val="bg1"/>
          </a:solid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Medium</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3085" name="TextBox 24">
            <a:extLst>
              <a:ext uri="{FF2B5EF4-FFF2-40B4-BE49-F238E27FC236}">
                <a16:creationId xmlns:a16="http://schemas.microsoft.com/office/drawing/2014/main" id="{619C0A59-79A9-74A0-22DC-1CD2E9C704E2}"/>
              </a:ext>
            </a:extLst>
          </p:cNvPr>
          <p:cNvSpPr txBox="1"/>
          <p:nvPr/>
        </p:nvSpPr>
        <p:spPr>
          <a:xfrm>
            <a:off x="4409016" y="1376363"/>
            <a:ext cx="3697807" cy="251795"/>
          </a:xfrm>
          <a:prstGeom prst="rect">
            <a:avLst/>
          </a:prstGeom>
          <a:noFill/>
        </p:spPr>
        <p:txBody>
          <a:bodyPr wrap="square" lIns="0" tIns="36000" rIns="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3086" name="TextBox 24">
            <a:extLst>
              <a:ext uri="{FF2B5EF4-FFF2-40B4-BE49-F238E27FC236}">
                <a16:creationId xmlns:a16="http://schemas.microsoft.com/office/drawing/2014/main" id="{9FA68155-0F58-9E98-60C1-89A848290E1E}"/>
              </a:ext>
            </a:extLst>
          </p:cNvPr>
          <p:cNvSpPr txBox="1"/>
          <p:nvPr/>
        </p:nvSpPr>
        <p:spPr>
          <a:xfrm>
            <a:off x="8106833" y="1376363"/>
            <a:ext cx="3697807" cy="251795"/>
          </a:xfrm>
          <a:prstGeom prst="rect">
            <a:avLst/>
          </a:prstGeom>
          <a:noFill/>
        </p:spPr>
        <p:txBody>
          <a:bodyPr wrap="square" lIns="0" tIns="36000" rIns="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3087" name="TextBox 24">
            <a:extLst>
              <a:ext uri="{FF2B5EF4-FFF2-40B4-BE49-F238E27FC236}">
                <a16:creationId xmlns:a16="http://schemas.microsoft.com/office/drawing/2014/main" id="{1CBAEA6F-EBF5-F682-B7E7-3BFDF3F7B365}"/>
              </a:ext>
            </a:extLst>
          </p:cNvPr>
          <p:cNvSpPr txBox="1"/>
          <p:nvPr/>
        </p:nvSpPr>
        <p:spPr>
          <a:xfrm>
            <a:off x="4409016" y="2912245"/>
            <a:ext cx="3697807" cy="251795"/>
          </a:xfrm>
          <a:prstGeom prst="rect">
            <a:avLst/>
          </a:prstGeom>
          <a:noFill/>
        </p:spPr>
        <p:txBody>
          <a:bodyPr wrap="square" lIns="0" tIns="36000" rIns="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3088" name="TextBox 24">
            <a:extLst>
              <a:ext uri="{FF2B5EF4-FFF2-40B4-BE49-F238E27FC236}">
                <a16:creationId xmlns:a16="http://schemas.microsoft.com/office/drawing/2014/main" id="{4326895A-80AF-7DBD-D37A-2B14BD1B2DAF}"/>
              </a:ext>
            </a:extLst>
          </p:cNvPr>
          <p:cNvSpPr txBox="1"/>
          <p:nvPr/>
        </p:nvSpPr>
        <p:spPr>
          <a:xfrm>
            <a:off x="8106833" y="2912245"/>
            <a:ext cx="3697807" cy="251795"/>
          </a:xfrm>
          <a:prstGeom prst="rect">
            <a:avLst/>
          </a:prstGeom>
          <a:noFill/>
        </p:spPr>
        <p:txBody>
          <a:bodyPr wrap="square" lIns="0" tIns="36000" rIns="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3089" name="TextBox 24">
            <a:extLst>
              <a:ext uri="{FF2B5EF4-FFF2-40B4-BE49-F238E27FC236}">
                <a16:creationId xmlns:a16="http://schemas.microsoft.com/office/drawing/2014/main" id="{972B2166-E3FD-0D34-22D8-CDE5212BAFFF}"/>
              </a:ext>
            </a:extLst>
          </p:cNvPr>
          <p:cNvSpPr txBox="1"/>
          <p:nvPr/>
        </p:nvSpPr>
        <p:spPr>
          <a:xfrm>
            <a:off x="711209" y="4448127"/>
            <a:ext cx="3697797" cy="251795"/>
          </a:xfrm>
          <a:prstGeom prst="rect">
            <a:avLst/>
          </a:prstGeom>
          <a:noFill/>
        </p:spPr>
        <p:txBody>
          <a:bodyPr wrap="square" lIns="0" tIns="36000" rIns="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3090" name="TextBox 24">
            <a:extLst>
              <a:ext uri="{FF2B5EF4-FFF2-40B4-BE49-F238E27FC236}">
                <a16:creationId xmlns:a16="http://schemas.microsoft.com/office/drawing/2014/main" id="{4B47E314-0EA7-5F22-09DB-0AD256D3D498}"/>
              </a:ext>
            </a:extLst>
          </p:cNvPr>
          <p:cNvSpPr txBox="1"/>
          <p:nvPr/>
        </p:nvSpPr>
        <p:spPr>
          <a:xfrm>
            <a:off x="4409016" y="4448127"/>
            <a:ext cx="3697807" cy="251795"/>
          </a:xfrm>
          <a:prstGeom prst="rect">
            <a:avLst/>
          </a:prstGeom>
          <a:noFill/>
        </p:spPr>
        <p:txBody>
          <a:bodyPr wrap="square" lIns="0" tIns="36000" rIns="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3091" name="TextBox 24">
            <a:extLst>
              <a:ext uri="{FF2B5EF4-FFF2-40B4-BE49-F238E27FC236}">
                <a16:creationId xmlns:a16="http://schemas.microsoft.com/office/drawing/2014/main" id="{BC86FA86-45F1-865F-3D6B-2F5617BC1B5D}"/>
              </a:ext>
            </a:extLst>
          </p:cNvPr>
          <p:cNvSpPr txBox="1"/>
          <p:nvPr/>
        </p:nvSpPr>
        <p:spPr>
          <a:xfrm>
            <a:off x="8106833" y="4448127"/>
            <a:ext cx="3697807" cy="251795"/>
          </a:xfrm>
          <a:prstGeom prst="rect">
            <a:avLst/>
          </a:prstGeom>
          <a:noFill/>
        </p:spPr>
        <p:txBody>
          <a:bodyPr wrap="square" lIns="0" tIns="36000" rIns="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p>
        </p:txBody>
      </p:sp>
      <p:sp>
        <p:nvSpPr>
          <p:cNvPr id="22" name="TextBox 25">
            <a:extLst>
              <a:ext uri="{FF2B5EF4-FFF2-40B4-BE49-F238E27FC236}">
                <a16:creationId xmlns:a16="http://schemas.microsoft.com/office/drawing/2014/main" id="{145309F1-45F5-0924-DA4F-9F7A7602417C}"/>
              </a:ext>
            </a:extLst>
          </p:cNvPr>
          <p:cNvSpPr txBox="1"/>
          <p:nvPr/>
        </p:nvSpPr>
        <p:spPr>
          <a:xfrm>
            <a:off x="711200" y="1662215"/>
            <a:ext cx="3697803" cy="184666"/>
          </a:xfrm>
          <a:prstGeom prst="rect">
            <a:avLst/>
          </a:prstGeom>
          <a:noFill/>
        </p:spPr>
        <p:txBody>
          <a:bodyPr wrap="square" lIns="72000" tIns="0" rIns="36000" bIns="0" rtlCol="0" anchor="t">
            <a:spAutoFit/>
          </a:bodyPr>
          <a:lstStyle/>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23" name="TextBox 25">
            <a:extLst>
              <a:ext uri="{FF2B5EF4-FFF2-40B4-BE49-F238E27FC236}">
                <a16:creationId xmlns:a16="http://schemas.microsoft.com/office/drawing/2014/main" id="{3FB54A21-8F88-239D-B15A-C5903835C78C}"/>
              </a:ext>
            </a:extLst>
          </p:cNvPr>
          <p:cNvSpPr txBox="1"/>
          <p:nvPr/>
        </p:nvSpPr>
        <p:spPr>
          <a:xfrm>
            <a:off x="4409016" y="1662215"/>
            <a:ext cx="3697803" cy="184666"/>
          </a:xfrm>
          <a:prstGeom prst="rect">
            <a:avLst/>
          </a:prstGeom>
          <a:noFill/>
        </p:spPr>
        <p:txBody>
          <a:bodyPr wrap="square" lIns="72000" tIns="0" rIns="36000" bIns="0" rtlCol="0" anchor="t">
            <a:spAutoFit/>
          </a:bodyPr>
          <a:lstStyle/>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24" name="TextBox 25">
            <a:extLst>
              <a:ext uri="{FF2B5EF4-FFF2-40B4-BE49-F238E27FC236}">
                <a16:creationId xmlns:a16="http://schemas.microsoft.com/office/drawing/2014/main" id="{D581B4AC-7F72-92D7-3B22-2AF65CE9C76E}"/>
              </a:ext>
            </a:extLst>
          </p:cNvPr>
          <p:cNvSpPr txBox="1"/>
          <p:nvPr/>
        </p:nvSpPr>
        <p:spPr>
          <a:xfrm>
            <a:off x="8106833" y="1662215"/>
            <a:ext cx="3697803" cy="184666"/>
          </a:xfrm>
          <a:prstGeom prst="rect">
            <a:avLst/>
          </a:prstGeom>
          <a:noFill/>
        </p:spPr>
        <p:txBody>
          <a:bodyPr wrap="square" lIns="72000" tIns="0" rIns="36000" bIns="0" rtlCol="0" anchor="t">
            <a:spAutoFit/>
          </a:bodyPr>
          <a:lstStyle/>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25" name="TextBox 25">
            <a:extLst>
              <a:ext uri="{FF2B5EF4-FFF2-40B4-BE49-F238E27FC236}">
                <a16:creationId xmlns:a16="http://schemas.microsoft.com/office/drawing/2014/main" id="{3A4370BE-75CE-67AB-0C08-5C0F9C6C5AE2}"/>
              </a:ext>
            </a:extLst>
          </p:cNvPr>
          <p:cNvSpPr txBox="1"/>
          <p:nvPr/>
        </p:nvSpPr>
        <p:spPr>
          <a:xfrm>
            <a:off x="711200" y="3215759"/>
            <a:ext cx="3697803" cy="184666"/>
          </a:xfrm>
          <a:prstGeom prst="rect">
            <a:avLst/>
          </a:prstGeom>
          <a:noFill/>
        </p:spPr>
        <p:txBody>
          <a:bodyPr wrap="square" lIns="72000" tIns="0" rIns="36000" bIns="0" rtlCol="0" anchor="t">
            <a:spAutoFit/>
          </a:bodyPr>
          <a:lstStyle/>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26" name="TextBox 25">
            <a:extLst>
              <a:ext uri="{FF2B5EF4-FFF2-40B4-BE49-F238E27FC236}">
                <a16:creationId xmlns:a16="http://schemas.microsoft.com/office/drawing/2014/main" id="{B58AE344-682E-3F36-D5EE-9CB6539D67AA}"/>
              </a:ext>
            </a:extLst>
          </p:cNvPr>
          <p:cNvSpPr txBox="1"/>
          <p:nvPr/>
        </p:nvSpPr>
        <p:spPr>
          <a:xfrm>
            <a:off x="4409016" y="3215759"/>
            <a:ext cx="3697803" cy="184666"/>
          </a:xfrm>
          <a:prstGeom prst="rect">
            <a:avLst/>
          </a:prstGeom>
          <a:noFill/>
        </p:spPr>
        <p:txBody>
          <a:bodyPr wrap="square" lIns="72000" tIns="0" rIns="36000" bIns="0" rtlCol="0" anchor="t">
            <a:spAutoFit/>
          </a:bodyPr>
          <a:lstStyle/>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27" name="TextBox 25">
            <a:extLst>
              <a:ext uri="{FF2B5EF4-FFF2-40B4-BE49-F238E27FC236}">
                <a16:creationId xmlns:a16="http://schemas.microsoft.com/office/drawing/2014/main" id="{1C660F47-CAEA-AE63-A914-DBD72A6F792F}"/>
              </a:ext>
            </a:extLst>
          </p:cNvPr>
          <p:cNvSpPr txBox="1"/>
          <p:nvPr/>
        </p:nvSpPr>
        <p:spPr>
          <a:xfrm>
            <a:off x="8106833" y="3215759"/>
            <a:ext cx="3697803" cy="184666"/>
          </a:xfrm>
          <a:prstGeom prst="rect">
            <a:avLst/>
          </a:prstGeom>
          <a:noFill/>
        </p:spPr>
        <p:txBody>
          <a:bodyPr wrap="square" lIns="72000" tIns="0" rIns="36000" bIns="0" rtlCol="0" anchor="t">
            <a:spAutoFit/>
          </a:bodyPr>
          <a:lstStyle/>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28" name="TextBox 25">
            <a:extLst>
              <a:ext uri="{FF2B5EF4-FFF2-40B4-BE49-F238E27FC236}">
                <a16:creationId xmlns:a16="http://schemas.microsoft.com/office/drawing/2014/main" id="{A23F79F3-91AC-6598-02FC-8766D652871E}"/>
              </a:ext>
            </a:extLst>
          </p:cNvPr>
          <p:cNvSpPr txBox="1"/>
          <p:nvPr/>
        </p:nvSpPr>
        <p:spPr>
          <a:xfrm>
            <a:off x="711200" y="4783244"/>
            <a:ext cx="3697803" cy="184666"/>
          </a:xfrm>
          <a:prstGeom prst="rect">
            <a:avLst/>
          </a:prstGeom>
          <a:noFill/>
        </p:spPr>
        <p:txBody>
          <a:bodyPr wrap="square" lIns="72000" tIns="0" rIns="36000" bIns="0" rtlCol="0" anchor="t">
            <a:spAutoFit/>
          </a:bodyPr>
          <a:lstStyle/>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29" name="TextBox 25">
            <a:extLst>
              <a:ext uri="{FF2B5EF4-FFF2-40B4-BE49-F238E27FC236}">
                <a16:creationId xmlns:a16="http://schemas.microsoft.com/office/drawing/2014/main" id="{3F9811D9-9B0B-E118-4C77-0A5FA364746F}"/>
              </a:ext>
            </a:extLst>
          </p:cNvPr>
          <p:cNvSpPr txBox="1"/>
          <p:nvPr/>
        </p:nvSpPr>
        <p:spPr>
          <a:xfrm>
            <a:off x="4409016" y="4783244"/>
            <a:ext cx="3697803" cy="184666"/>
          </a:xfrm>
          <a:prstGeom prst="rect">
            <a:avLst/>
          </a:prstGeom>
          <a:noFill/>
        </p:spPr>
        <p:txBody>
          <a:bodyPr wrap="square" lIns="72000" tIns="0" rIns="36000" bIns="0" rtlCol="0" anchor="t">
            <a:spAutoFit/>
          </a:bodyPr>
          <a:lstStyle/>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30" name="TextBox 25">
            <a:extLst>
              <a:ext uri="{FF2B5EF4-FFF2-40B4-BE49-F238E27FC236}">
                <a16:creationId xmlns:a16="http://schemas.microsoft.com/office/drawing/2014/main" id="{3B050670-6B81-8695-DA00-C25CF5F0795B}"/>
              </a:ext>
            </a:extLst>
          </p:cNvPr>
          <p:cNvSpPr txBox="1"/>
          <p:nvPr/>
        </p:nvSpPr>
        <p:spPr>
          <a:xfrm>
            <a:off x="8106833" y="4783244"/>
            <a:ext cx="3697803" cy="184666"/>
          </a:xfrm>
          <a:prstGeom prst="rect">
            <a:avLst/>
          </a:prstGeom>
          <a:noFill/>
        </p:spPr>
        <p:txBody>
          <a:bodyPr wrap="square" lIns="72000" tIns="0" rIns="36000" bIns="0" rtlCol="0" anchor="t">
            <a:spAutoFit/>
          </a:bodyPr>
          <a:lstStyle/>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Text</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31" name="Marcador de pie de página 30">
            <a:extLst>
              <a:ext uri="{FF2B5EF4-FFF2-40B4-BE49-F238E27FC236}">
                <a16:creationId xmlns:a16="http://schemas.microsoft.com/office/drawing/2014/main" id="{26074205-2232-E460-8113-FB7AD2772DBF}"/>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2608900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Product Life Cycle</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14700731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7A19F06A-03C0-F4AC-9998-49321C6A837F}"/>
              </a:ext>
            </a:extLst>
          </p:cNvPr>
          <p:cNvGraphicFramePr>
            <a:graphicFrameLocks noChangeAspect="1"/>
          </p:cNvGraphicFramePr>
          <p:nvPr>
            <p:custDataLst>
              <p:tags r:id="rId1"/>
            </p:custDataLst>
            <p:extLst>
              <p:ext uri="{D42A27DB-BD31-4B8C-83A1-F6EECF244321}">
                <p14:modId xmlns:p14="http://schemas.microsoft.com/office/powerpoint/2010/main" val="38042236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05DB03F0-1B1B-B811-679F-DC643D7DEC8F}"/>
              </a:ext>
            </a:extLst>
          </p:cNvPr>
          <p:cNvSpPr>
            <a:spLocks noGrp="1"/>
          </p:cNvSpPr>
          <p:nvPr>
            <p:ph type="title"/>
          </p:nvPr>
        </p:nvSpPr>
        <p:spPr/>
        <p:txBody>
          <a:bodyPr vert="horz"/>
          <a:lstStyle/>
          <a:p>
            <a:r>
              <a:rPr lang="en-US" dirty="0"/>
              <a:t>Product Life Cycle — Overview</a:t>
            </a:r>
          </a:p>
        </p:txBody>
      </p:sp>
      <p:sp>
        <p:nvSpPr>
          <p:cNvPr id="3" name="Marcador de texto 2">
            <a:extLst>
              <a:ext uri="{FF2B5EF4-FFF2-40B4-BE49-F238E27FC236}">
                <a16:creationId xmlns:a16="http://schemas.microsoft.com/office/drawing/2014/main" id="{26F4A6E3-F0BD-F26A-AB2E-0AE6460AE257}"/>
              </a:ext>
            </a:extLst>
          </p:cNvPr>
          <p:cNvSpPr>
            <a:spLocks noGrp="1"/>
          </p:cNvSpPr>
          <p:nvPr>
            <p:ph type="body" sz="quarter" idx="18"/>
          </p:nvPr>
        </p:nvSpPr>
        <p:spPr/>
        <p:txBody>
          <a:bodyPr/>
          <a:lstStyle/>
          <a:p>
            <a:r>
              <a:rPr lang="en-US" dirty="0"/>
              <a:t>The Product Life Cycle framework was first introduced by economist Raymond Vernon in his 1966 article "International Investment and International Trade in the Product Cycle," published in The Quarterly Journal of Economics.</a:t>
            </a:r>
          </a:p>
        </p:txBody>
      </p:sp>
      <p:sp>
        <p:nvSpPr>
          <p:cNvPr id="4" name="Marcador de texto 3">
            <a:extLst>
              <a:ext uri="{FF2B5EF4-FFF2-40B4-BE49-F238E27FC236}">
                <a16:creationId xmlns:a16="http://schemas.microsoft.com/office/drawing/2014/main" id="{7439F567-8E35-FD2E-B862-EA2EBBEF9D30}"/>
              </a:ext>
            </a:extLst>
          </p:cNvPr>
          <p:cNvSpPr>
            <a:spLocks noGrp="1"/>
          </p:cNvSpPr>
          <p:nvPr>
            <p:ph type="body" sz="quarter" idx="19"/>
          </p:nvPr>
        </p:nvSpPr>
        <p:spPr/>
        <p:txBody>
          <a:bodyPr/>
          <a:lstStyle/>
          <a:p>
            <a:pPr marL="0" indent="0">
              <a:buFont typeface="Arial" panose="020B0604020202020204" pitchFamily="34" charset="0"/>
              <a:buNone/>
            </a:pPr>
            <a:r>
              <a:rPr lang="en-US" dirty="0"/>
              <a:t>The Product Life Cycle is a business framework that describes the typical stages a product goes through from its introduction to its decline in the market. The framework is based on the idea that products have a limited lifespan and go through predictable stages of growth and decline. It consists of four stages:</a:t>
            </a:r>
          </a:p>
          <a:p>
            <a:r>
              <a:rPr lang="en-US" b="1" dirty="0"/>
              <a:t>Introduction</a:t>
            </a:r>
            <a:r>
              <a:rPr lang="en-US" dirty="0"/>
              <a:t>: The product is introduced to the market. Sales are typically low at this stage, as consumers are not yet aware of the product and its benefits.</a:t>
            </a:r>
          </a:p>
          <a:p>
            <a:r>
              <a:rPr lang="en-US" b="1" dirty="0"/>
              <a:t>Growth</a:t>
            </a:r>
            <a:r>
              <a:rPr lang="en-US" dirty="0"/>
              <a:t>: The product gains acceptance in the market and sales begin to grow rapidly. Competitors may enter the market at this stage, and prices may start to come down as production volumes increase.</a:t>
            </a:r>
          </a:p>
          <a:p>
            <a:r>
              <a:rPr lang="en-US" b="1" dirty="0"/>
              <a:t>Maturity</a:t>
            </a:r>
            <a:r>
              <a:rPr lang="en-US" dirty="0"/>
              <a:t>: Sales growth begins to slow as the product reaches its maximum market penetration. Competitors are well-established, and price competition may become intense.</a:t>
            </a:r>
          </a:p>
          <a:p>
            <a:r>
              <a:rPr lang="en-US" b="1" dirty="0"/>
              <a:t>Decline</a:t>
            </a:r>
            <a:r>
              <a:rPr lang="en-US" dirty="0"/>
              <a:t>: Sales begin to decline as the product becomes outdated, obsolete, or replaced by newer products. Production may be scaled back, and the product may eventually be discontinued.</a:t>
            </a:r>
          </a:p>
        </p:txBody>
      </p:sp>
      <p:sp>
        <p:nvSpPr>
          <p:cNvPr id="5" name="Marcador de texto 4">
            <a:extLst>
              <a:ext uri="{FF2B5EF4-FFF2-40B4-BE49-F238E27FC236}">
                <a16:creationId xmlns:a16="http://schemas.microsoft.com/office/drawing/2014/main" id="{782582D4-AEC8-E237-6EF7-7D0FA8EBF13E}"/>
              </a:ext>
            </a:extLst>
          </p:cNvPr>
          <p:cNvSpPr>
            <a:spLocks noGrp="1"/>
          </p:cNvSpPr>
          <p:nvPr>
            <p:ph type="body" sz="quarter" idx="20"/>
          </p:nvPr>
        </p:nvSpPr>
        <p:spPr/>
        <p:txBody>
          <a:bodyPr/>
          <a:lstStyle/>
          <a:p>
            <a:r>
              <a:rPr lang="en-US" b="1" dirty="0"/>
              <a:t>Product development: </a:t>
            </a:r>
            <a:r>
              <a:rPr lang="en-US" dirty="0"/>
              <a:t>By analyzing the life cycle of existing products in the market, a company can identify gaps in the market and develop products that meet the needs of customers in different stages of the life cycle.</a:t>
            </a:r>
          </a:p>
          <a:p>
            <a:r>
              <a:rPr lang="en-US" b="1" dirty="0"/>
              <a:t>Market research: </a:t>
            </a:r>
            <a:r>
              <a:rPr lang="en-US" dirty="0"/>
              <a:t>By understanding where products stand in the life cycle, a company can identify market opportunities, assess competitive threats, and determine the most effective marketing and advertising strategies.</a:t>
            </a:r>
          </a:p>
          <a:p>
            <a:r>
              <a:rPr lang="en-US" b="1" dirty="0"/>
              <a:t>Competitive analysis: </a:t>
            </a:r>
            <a:r>
              <a:rPr lang="en-US" dirty="0"/>
              <a:t>By understanding where competitors' products stand in the life cycle, a company can assess the level of competition in different market segments, identify areas of opportunity, and determine the best strategies to gain market share.</a:t>
            </a:r>
          </a:p>
          <a:p>
            <a:r>
              <a:rPr lang="en-US" b="1" dirty="0"/>
              <a:t>Product portfolio management: </a:t>
            </a:r>
            <a:r>
              <a:rPr lang="en-US" dirty="0"/>
              <a:t>By analyzing the life cycle of each product, a company can determine which products to invest in, which to divest, and when to make changes to pricing, marketing, and distribution strategies.</a:t>
            </a:r>
          </a:p>
          <a:p>
            <a:r>
              <a:rPr lang="en-US" b="1" dirty="0"/>
              <a:t>Strategic planning: </a:t>
            </a:r>
            <a:r>
              <a:rPr lang="en-US" dirty="0"/>
              <a:t>By understanding the life cycle of a company's products and its competitors' products, a company can develop a clear and actionable plan for product development, marketing, and sales that takes into account the changing needs of customers over time.</a:t>
            </a:r>
          </a:p>
        </p:txBody>
      </p:sp>
      <p:sp>
        <p:nvSpPr>
          <p:cNvPr id="11" name="Marcador de pie de página 10">
            <a:extLst>
              <a:ext uri="{FF2B5EF4-FFF2-40B4-BE49-F238E27FC236}">
                <a16:creationId xmlns:a16="http://schemas.microsoft.com/office/drawing/2014/main" id="{406C3F44-4AD0-7989-A7ED-5C544F7A2E09}"/>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6131014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3" name="Objeto 5122" hidden="1">
            <a:extLst>
              <a:ext uri="{FF2B5EF4-FFF2-40B4-BE49-F238E27FC236}">
                <a16:creationId xmlns:a16="http://schemas.microsoft.com/office/drawing/2014/main" id="{ECF77EF7-4A88-C9C0-6BCD-F4B4DD9A227E}"/>
              </a:ext>
            </a:extLst>
          </p:cNvPr>
          <p:cNvGraphicFramePr>
            <a:graphicFrameLocks noChangeAspect="1"/>
          </p:cNvGraphicFramePr>
          <p:nvPr>
            <p:custDataLst>
              <p:tags r:id="rId1"/>
            </p:custDataLst>
            <p:extLst>
              <p:ext uri="{D42A27DB-BD31-4B8C-83A1-F6EECF244321}">
                <p14:modId xmlns:p14="http://schemas.microsoft.com/office/powerpoint/2010/main" val="2874450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132" name="Forma libre: forma 5131">
            <a:extLst>
              <a:ext uri="{FF2B5EF4-FFF2-40B4-BE49-F238E27FC236}">
                <a16:creationId xmlns:a16="http://schemas.microsoft.com/office/drawing/2014/main" id="{FD67ADCA-9500-A60A-A6CD-850F64081F3B}"/>
              </a:ext>
            </a:extLst>
          </p:cNvPr>
          <p:cNvSpPr/>
          <p:nvPr/>
        </p:nvSpPr>
        <p:spPr>
          <a:xfrm>
            <a:off x="2057400" y="2638425"/>
            <a:ext cx="4881563" cy="2114550"/>
          </a:xfrm>
          <a:custGeom>
            <a:avLst/>
            <a:gdLst>
              <a:gd name="connsiteX0" fmla="*/ 4876800 w 4881563"/>
              <a:gd name="connsiteY0" fmla="*/ 0 h 2114550"/>
              <a:gd name="connsiteX1" fmla="*/ 4595813 w 4881563"/>
              <a:gd name="connsiteY1" fmla="*/ 38100 h 2114550"/>
              <a:gd name="connsiteX2" fmla="*/ 4219575 w 4881563"/>
              <a:gd name="connsiteY2" fmla="*/ 157163 h 2114550"/>
              <a:gd name="connsiteX3" fmla="*/ 4067175 w 4881563"/>
              <a:gd name="connsiteY3" fmla="*/ 233363 h 2114550"/>
              <a:gd name="connsiteX4" fmla="*/ 3924300 w 4881563"/>
              <a:gd name="connsiteY4" fmla="*/ 338138 h 2114550"/>
              <a:gd name="connsiteX5" fmla="*/ 3752850 w 4881563"/>
              <a:gd name="connsiteY5" fmla="*/ 504825 h 2114550"/>
              <a:gd name="connsiteX6" fmla="*/ 3529013 w 4881563"/>
              <a:gd name="connsiteY6" fmla="*/ 723900 h 2114550"/>
              <a:gd name="connsiteX7" fmla="*/ 3267075 w 4881563"/>
              <a:gd name="connsiteY7" fmla="*/ 919163 h 2114550"/>
              <a:gd name="connsiteX8" fmla="*/ 2833688 w 4881563"/>
              <a:gd name="connsiteY8" fmla="*/ 1162050 h 2114550"/>
              <a:gd name="connsiteX9" fmla="*/ 2486025 w 4881563"/>
              <a:gd name="connsiteY9" fmla="*/ 1352550 h 2114550"/>
              <a:gd name="connsiteX10" fmla="*/ 1933575 w 4881563"/>
              <a:gd name="connsiteY10" fmla="*/ 1600200 h 2114550"/>
              <a:gd name="connsiteX11" fmla="*/ 1524000 w 4881563"/>
              <a:gd name="connsiteY11" fmla="*/ 1752600 h 2114550"/>
              <a:gd name="connsiteX12" fmla="*/ 933450 w 4881563"/>
              <a:gd name="connsiteY12" fmla="*/ 1919288 h 2114550"/>
              <a:gd name="connsiteX13" fmla="*/ 461963 w 4881563"/>
              <a:gd name="connsiteY13" fmla="*/ 2024063 h 2114550"/>
              <a:gd name="connsiteX14" fmla="*/ 0 w 4881563"/>
              <a:gd name="connsiteY14" fmla="*/ 2114550 h 2114550"/>
              <a:gd name="connsiteX15" fmla="*/ 4881563 w 4881563"/>
              <a:gd name="connsiteY15" fmla="*/ 2114550 h 2114550"/>
              <a:gd name="connsiteX16" fmla="*/ 4876800 w 4881563"/>
              <a:gd name="connsiteY16" fmla="*/ 0 h 211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81563" h="2114550">
                <a:moveTo>
                  <a:pt x="4876800" y="0"/>
                </a:moveTo>
                <a:lnTo>
                  <a:pt x="4595813" y="38100"/>
                </a:lnTo>
                <a:lnTo>
                  <a:pt x="4219575" y="157163"/>
                </a:lnTo>
                <a:lnTo>
                  <a:pt x="4067175" y="233363"/>
                </a:lnTo>
                <a:lnTo>
                  <a:pt x="3924300" y="338138"/>
                </a:lnTo>
                <a:lnTo>
                  <a:pt x="3752850" y="504825"/>
                </a:lnTo>
                <a:lnTo>
                  <a:pt x="3529013" y="723900"/>
                </a:lnTo>
                <a:lnTo>
                  <a:pt x="3267075" y="919163"/>
                </a:lnTo>
                <a:lnTo>
                  <a:pt x="2833688" y="1162050"/>
                </a:lnTo>
                <a:lnTo>
                  <a:pt x="2486025" y="1352550"/>
                </a:lnTo>
                <a:lnTo>
                  <a:pt x="1933575" y="1600200"/>
                </a:lnTo>
                <a:lnTo>
                  <a:pt x="1524000" y="1752600"/>
                </a:lnTo>
                <a:lnTo>
                  <a:pt x="933450" y="1919288"/>
                </a:lnTo>
                <a:lnTo>
                  <a:pt x="461963" y="2024063"/>
                </a:lnTo>
                <a:lnTo>
                  <a:pt x="0" y="2114550"/>
                </a:lnTo>
                <a:lnTo>
                  <a:pt x="4881563" y="2114550"/>
                </a:lnTo>
                <a:cubicBezTo>
                  <a:pt x="4879975" y="1409700"/>
                  <a:pt x="4878388" y="704850"/>
                  <a:pt x="487680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134" name="Forma libre: forma 5133">
            <a:extLst>
              <a:ext uri="{FF2B5EF4-FFF2-40B4-BE49-F238E27FC236}">
                <a16:creationId xmlns:a16="http://schemas.microsoft.com/office/drawing/2014/main" id="{BFD480A4-90BA-A9ED-D1A8-8E89D737603D}"/>
              </a:ext>
            </a:extLst>
          </p:cNvPr>
          <p:cNvSpPr/>
          <p:nvPr/>
        </p:nvSpPr>
        <p:spPr>
          <a:xfrm>
            <a:off x="3939540" y="3567113"/>
            <a:ext cx="1370648" cy="1190625"/>
          </a:xfrm>
          <a:custGeom>
            <a:avLst/>
            <a:gdLst>
              <a:gd name="connsiteX0" fmla="*/ 1624013 w 1624013"/>
              <a:gd name="connsiteY0" fmla="*/ 0 h 1190625"/>
              <a:gd name="connsiteX1" fmla="*/ 1400175 w 1624013"/>
              <a:gd name="connsiteY1" fmla="*/ 133350 h 1190625"/>
              <a:gd name="connsiteX2" fmla="*/ 1066800 w 1624013"/>
              <a:gd name="connsiteY2" fmla="*/ 314325 h 1190625"/>
              <a:gd name="connsiteX3" fmla="*/ 752475 w 1624013"/>
              <a:gd name="connsiteY3" fmla="*/ 457200 h 1190625"/>
              <a:gd name="connsiteX4" fmla="*/ 481013 w 1624013"/>
              <a:gd name="connsiteY4" fmla="*/ 585787 h 1190625"/>
              <a:gd name="connsiteX5" fmla="*/ 223838 w 1624013"/>
              <a:gd name="connsiteY5" fmla="*/ 704850 h 1190625"/>
              <a:gd name="connsiteX6" fmla="*/ 0 w 1624013"/>
              <a:gd name="connsiteY6" fmla="*/ 785812 h 1190625"/>
              <a:gd name="connsiteX7" fmla="*/ 0 w 1624013"/>
              <a:gd name="connsiteY7" fmla="*/ 1190625 h 1190625"/>
              <a:gd name="connsiteX8" fmla="*/ 1624013 w 1624013"/>
              <a:gd name="connsiteY8" fmla="*/ 1190625 h 1190625"/>
              <a:gd name="connsiteX9" fmla="*/ 1624013 w 1624013"/>
              <a:gd name="connsiteY9" fmla="*/ 0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24013" h="1190625">
                <a:moveTo>
                  <a:pt x="1624013" y="0"/>
                </a:moveTo>
                <a:lnTo>
                  <a:pt x="1400175" y="133350"/>
                </a:lnTo>
                <a:lnTo>
                  <a:pt x="1066800" y="314325"/>
                </a:lnTo>
                <a:lnTo>
                  <a:pt x="752475" y="457200"/>
                </a:lnTo>
                <a:lnTo>
                  <a:pt x="481013" y="585787"/>
                </a:lnTo>
                <a:lnTo>
                  <a:pt x="223838" y="704850"/>
                </a:lnTo>
                <a:lnTo>
                  <a:pt x="0" y="785812"/>
                </a:lnTo>
                <a:lnTo>
                  <a:pt x="0" y="1190625"/>
                </a:lnTo>
                <a:lnTo>
                  <a:pt x="1624013" y="1190625"/>
                </a:lnTo>
                <a:lnTo>
                  <a:pt x="1624013"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135" name="Forma libre: forma 5134">
            <a:extLst>
              <a:ext uri="{FF2B5EF4-FFF2-40B4-BE49-F238E27FC236}">
                <a16:creationId xmlns:a16="http://schemas.microsoft.com/office/drawing/2014/main" id="{FC75B189-BF5A-5D7E-B421-8D4127C6E637}"/>
              </a:ext>
            </a:extLst>
          </p:cNvPr>
          <p:cNvSpPr/>
          <p:nvPr/>
        </p:nvSpPr>
        <p:spPr>
          <a:xfrm flipH="1">
            <a:off x="6936581" y="2638425"/>
            <a:ext cx="4881563" cy="2114550"/>
          </a:xfrm>
          <a:custGeom>
            <a:avLst/>
            <a:gdLst>
              <a:gd name="connsiteX0" fmla="*/ 4876800 w 4881563"/>
              <a:gd name="connsiteY0" fmla="*/ 0 h 2114550"/>
              <a:gd name="connsiteX1" fmla="*/ 4595813 w 4881563"/>
              <a:gd name="connsiteY1" fmla="*/ 38100 h 2114550"/>
              <a:gd name="connsiteX2" fmla="*/ 4219575 w 4881563"/>
              <a:gd name="connsiteY2" fmla="*/ 157163 h 2114550"/>
              <a:gd name="connsiteX3" fmla="*/ 4067175 w 4881563"/>
              <a:gd name="connsiteY3" fmla="*/ 233363 h 2114550"/>
              <a:gd name="connsiteX4" fmla="*/ 3924300 w 4881563"/>
              <a:gd name="connsiteY4" fmla="*/ 338138 h 2114550"/>
              <a:gd name="connsiteX5" fmla="*/ 3752850 w 4881563"/>
              <a:gd name="connsiteY5" fmla="*/ 504825 h 2114550"/>
              <a:gd name="connsiteX6" fmla="*/ 3529013 w 4881563"/>
              <a:gd name="connsiteY6" fmla="*/ 723900 h 2114550"/>
              <a:gd name="connsiteX7" fmla="*/ 3267075 w 4881563"/>
              <a:gd name="connsiteY7" fmla="*/ 919163 h 2114550"/>
              <a:gd name="connsiteX8" fmla="*/ 2833688 w 4881563"/>
              <a:gd name="connsiteY8" fmla="*/ 1162050 h 2114550"/>
              <a:gd name="connsiteX9" fmla="*/ 2486025 w 4881563"/>
              <a:gd name="connsiteY9" fmla="*/ 1352550 h 2114550"/>
              <a:gd name="connsiteX10" fmla="*/ 1933575 w 4881563"/>
              <a:gd name="connsiteY10" fmla="*/ 1600200 h 2114550"/>
              <a:gd name="connsiteX11" fmla="*/ 1524000 w 4881563"/>
              <a:gd name="connsiteY11" fmla="*/ 1752600 h 2114550"/>
              <a:gd name="connsiteX12" fmla="*/ 933450 w 4881563"/>
              <a:gd name="connsiteY12" fmla="*/ 1919288 h 2114550"/>
              <a:gd name="connsiteX13" fmla="*/ 461963 w 4881563"/>
              <a:gd name="connsiteY13" fmla="*/ 2024063 h 2114550"/>
              <a:gd name="connsiteX14" fmla="*/ 0 w 4881563"/>
              <a:gd name="connsiteY14" fmla="*/ 2114550 h 2114550"/>
              <a:gd name="connsiteX15" fmla="*/ 4881563 w 4881563"/>
              <a:gd name="connsiteY15" fmla="*/ 2114550 h 2114550"/>
              <a:gd name="connsiteX16" fmla="*/ 4876800 w 4881563"/>
              <a:gd name="connsiteY16" fmla="*/ 0 h 211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81563" h="2114550">
                <a:moveTo>
                  <a:pt x="4876800" y="0"/>
                </a:moveTo>
                <a:lnTo>
                  <a:pt x="4595813" y="38100"/>
                </a:lnTo>
                <a:lnTo>
                  <a:pt x="4219575" y="157163"/>
                </a:lnTo>
                <a:lnTo>
                  <a:pt x="4067175" y="233363"/>
                </a:lnTo>
                <a:lnTo>
                  <a:pt x="3924300" y="338138"/>
                </a:lnTo>
                <a:lnTo>
                  <a:pt x="3752850" y="504825"/>
                </a:lnTo>
                <a:lnTo>
                  <a:pt x="3529013" y="723900"/>
                </a:lnTo>
                <a:lnTo>
                  <a:pt x="3267075" y="919163"/>
                </a:lnTo>
                <a:lnTo>
                  <a:pt x="2833688" y="1162050"/>
                </a:lnTo>
                <a:lnTo>
                  <a:pt x="2486025" y="1352550"/>
                </a:lnTo>
                <a:lnTo>
                  <a:pt x="1933575" y="1600200"/>
                </a:lnTo>
                <a:lnTo>
                  <a:pt x="1524000" y="1752600"/>
                </a:lnTo>
                <a:lnTo>
                  <a:pt x="933450" y="1919288"/>
                </a:lnTo>
                <a:lnTo>
                  <a:pt x="461963" y="2024063"/>
                </a:lnTo>
                <a:lnTo>
                  <a:pt x="0" y="2114550"/>
                </a:lnTo>
                <a:lnTo>
                  <a:pt x="4881563" y="2114550"/>
                </a:lnTo>
                <a:cubicBezTo>
                  <a:pt x="4879975" y="1409700"/>
                  <a:pt x="4878388" y="704850"/>
                  <a:pt x="487680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136" name="Forma libre: forma 5135">
            <a:extLst>
              <a:ext uri="{FF2B5EF4-FFF2-40B4-BE49-F238E27FC236}">
                <a16:creationId xmlns:a16="http://schemas.microsoft.com/office/drawing/2014/main" id="{5C17B4DC-CE4E-E2B2-EA95-CA324D7A29BB}"/>
              </a:ext>
            </a:extLst>
          </p:cNvPr>
          <p:cNvSpPr/>
          <p:nvPr/>
        </p:nvSpPr>
        <p:spPr>
          <a:xfrm flipH="1">
            <a:off x="8565356" y="3567113"/>
            <a:ext cx="1624013" cy="1190625"/>
          </a:xfrm>
          <a:custGeom>
            <a:avLst/>
            <a:gdLst>
              <a:gd name="connsiteX0" fmla="*/ 1624013 w 1624013"/>
              <a:gd name="connsiteY0" fmla="*/ 0 h 1190625"/>
              <a:gd name="connsiteX1" fmla="*/ 1400175 w 1624013"/>
              <a:gd name="connsiteY1" fmla="*/ 133350 h 1190625"/>
              <a:gd name="connsiteX2" fmla="*/ 1066800 w 1624013"/>
              <a:gd name="connsiteY2" fmla="*/ 314325 h 1190625"/>
              <a:gd name="connsiteX3" fmla="*/ 752475 w 1624013"/>
              <a:gd name="connsiteY3" fmla="*/ 457200 h 1190625"/>
              <a:gd name="connsiteX4" fmla="*/ 481013 w 1624013"/>
              <a:gd name="connsiteY4" fmla="*/ 585787 h 1190625"/>
              <a:gd name="connsiteX5" fmla="*/ 223838 w 1624013"/>
              <a:gd name="connsiteY5" fmla="*/ 704850 h 1190625"/>
              <a:gd name="connsiteX6" fmla="*/ 0 w 1624013"/>
              <a:gd name="connsiteY6" fmla="*/ 785812 h 1190625"/>
              <a:gd name="connsiteX7" fmla="*/ 0 w 1624013"/>
              <a:gd name="connsiteY7" fmla="*/ 1190625 h 1190625"/>
              <a:gd name="connsiteX8" fmla="*/ 1624013 w 1624013"/>
              <a:gd name="connsiteY8" fmla="*/ 1190625 h 1190625"/>
              <a:gd name="connsiteX9" fmla="*/ 1624013 w 1624013"/>
              <a:gd name="connsiteY9" fmla="*/ 0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24013" h="1190625">
                <a:moveTo>
                  <a:pt x="1624013" y="0"/>
                </a:moveTo>
                <a:lnTo>
                  <a:pt x="1400175" y="133350"/>
                </a:lnTo>
                <a:lnTo>
                  <a:pt x="1066800" y="314325"/>
                </a:lnTo>
                <a:lnTo>
                  <a:pt x="752475" y="457200"/>
                </a:lnTo>
                <a:lnTo>
                  <a:pt x="481013" y="585787"/>
                </a:lnTo>
                <a:lnTo>
                  <a:pt x="223838" y="704850"/>
                </a:lnTo>
                <a:lnTo>
                  <a:pt x="0" y="785812"/>
                </a:lnTo>
                <a:lnTo>
                  <a:pt x="0" y="1190625"/>
                </a:lnTo>
                <a:lnTo>
                  <a:pt x="1624013" y="1190625"/>
                </a:lnTo>
                <a:lnTo>
                  <a:pt x="1624013"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145" name="Forma libre: forma 5144">
            <a:extLst>
              <a:ext uri="{FF2B5EF4-FFF2-40B4-BE49-F238E27FC236}">
                <a16:creationId xmlns:a16="http://schemas.microsoft.com/office/drawing/2014/main" id="{A036D91F-6840-06AA-BF16-01391EE80781}"/>
              </a:ext>
            </a:extLst>
          </p:cNvPr>
          <p:cNvSpPr/>
          <p:nvPr/>
        </p:nvSpPr>
        <p:spPr>
          <a:xfrm>
            <a:off x="2057400" y="4564857"/>
            <a:ext cx="945356" cy="192881"/>
          </a:xfrm>
          <a:custGeom>
            <a:avLst/>
            <a:gdLst>
              <a:gd name="connsiteX0" fmla="*/ 945356 w 945356"/>
              <a:gd name="connsiteY0" fmla="*/ 0 h 192881"/>
              <a:gd name="connsiteX1" fmla="*/ 945356 w 945356"/>
              <a:gd name="connsiteY1" fmla="*/ 192881 h 192881"/>
              <a:gd name="connsiteX2" fmla="*/ 0 w 945356"/>
              <a:gd name="connsiteY2" fmla="*/ 192881 h 192881"/>
              <a:gd name="connsiteX3" fmla="*/ 257175 w 945356"/>
              <a:gd name="connsiteY3" fmla="*/ 145256 h 192881"/>
              <a:gd name="connsiteX4" fmla="*/ 704850 w 945356"/>
              <a:gd name="connsiteY4" fmla="*/ 54768 h 192881"/>
              <a:gd name="connsiteX5" fmla="*/ 945356 w 945356"/>
              <a:gd name="connsiteY5" fmla="*/ 0 h 19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5356" h="192881">
                <a:moveTo>
                  <a:pt x="945356" y="0"/>
                </a:moveTo>
                <a:lnTo>
                  <a:pt x="945356" y="192881"/>
                </a:lnTo>
                <a:lnTo>
                  <a:pt x="0" y="192881"/>
                </a:lnTo>
                <a:lnTo>
                  <a:pt x="257175" y="145256"/>
                </a:lnTo>
                <a:lnTo>
                  <a:pt x="704850" y="54768"/>
                </a:lnTo>
                <a:lnTo>
                  <a:pt x="945356"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148" name="Forma libre: forma 5147">
            <a:extLst>
              <a:ext uri="{FF2B5EF4-FFF2-40B4-BE49-F238E27FC236}">
                <a16:creationId xmlns:a16="http://schemas.microsoft.com/office/drawing/2014/main" id="{2439A891-27EA-8F98-848A-726D903BF391}"/>
              </a:ext>
            </a:extLst>
          </p:cNvPr>
          <p:cNvSpPr/>
          <p:nvPr/>
        </p:nvSpPr>
        <p:spPr>
          <a:xfrm>
            <a:off x="3934779" y="3569494"/>
            <a:ext cx="1375409" cy="888206"/>
          </a:xfrm>
          <a:custGeom>
            <a:avLst/>
            <a:gdLst>
              <a:gd name="connsiteX0" fmla="*/ 0 w 1369218"/>
              <a:gd name="connsiteY0" fmla="*/ 823912 h 888206"/>
              <a:gd name="connsiteX1" fmla="*/ 0 w 1369218"/>
              <a:gd name="connsiteY1" fmla="*/ 683419 h 888206"/>
              <a:gd name="connsiteX2" fmla="*/ 381000 w 1369218"/>
              <a:gd name="connsiteY2" fmla="*/ 514350 h 888206"/>
              <a:gd name="connsiteX3" fmla="*/ 807243 w 1369218"/>
              <a:gd name="connsiteY3" fmla="*/ 314325 h 888206"/>
              <a:gd name="connsiteX4" fmla="*/ 831056 w 1369218"/>
              <a:gd name="connsiteY4" fmla="*/ 292894 h 888206"/>
              <a:gd name="connsiteX5" fmla="*/ 1123950 w 1369218"/>
              <a:gd name="connsiteY5" fmla="*/ 142875 h 888206"/>
              <a:gd name="connsiteX6" fmla="*/ 1369218 w 1369218"/>
              <a:gd name="connsiteY6" fmla="*/ 0 h 888206"/>
              <a:gd name="connsiteX7" fmla="*/ 1369218 w 1369218"/>
              <a:gd name="connsiteY7" fmla="*/ 859631 h 888206"/>
              <a:gd name="connsiteX8" fmla="*/ 2381 w 1369218"/>
              <a:gd name="connsiteY8" fmla="*/ 888206 h 888206"/>
              <a:gd name="connsiteX9" fmla="*/ 0 w 1369218"/>
              <a:gd name="connsiteY9" fmla="*/ 823912 h 8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9218" h="888206">
                <a:moveTo>
                  <a:pt x="0" y="823912"/>
                </a:moveTo>
                <a:lnTo>
                  <a:pt x="0" y="683419"/>
                </a:lnTo>
                <a:lnTo>
                  <a:pt x="381000" y="514350"/>
                </a:lnTo>
                <a:lnTo>
                  <a:pt x="807243" y="314325"/>
                </a:lnTo>
                <a:cubicBezTo>
                  <a:pt x="825936" y="295632"/>
                  <a:pt x="817374" y="302014"/>
                  <a:pt x="831056" y="292894"/>
                </a:cubicBezTo>
                <a:lnTo>
                  <a:pt x="1123950" y="142875"/>
                </a:lnTo>
                <a:lnTo>
                  <a:pt x="1369218" y="0"/>
                </a:lnTo>
                <a:lnTo>
                  <a:pt x="1369218" y="859631"/>
                </a:lnTo>
                <a:lnTo>
                  <a:pt x="2381" y="888206"/>
                </a:lnTo>
                <a:cubicBezTo>
                  <a:pt x="1587" y="866775"/>
                  <a:pt x="794" y="845343"/>
                  <a:pt x="0" y="823912"/>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150" name="Forma libre: forma 5149">
            <a:extLst>
              <a:ext uri="{FF2B5EF4-FFF2-40B4-BE49-F238E27FC236}">
                <a16:creationId xmlns:a16="http://schemas.microsoft.com/office/drawing/2014/main" id="{4EDC4091-00DE-6C3A-0482-6D40526F806E}"/>
              </a:ext>
            </a:extLst>
          </p:cNvPr>
          <p:cNvSpPr/>
          <p:nvPr/>
        </p:nvSpPr>
        <p:spPr>
          <a:xfrm>
            <a:off x="10172700" y="4346575"/>
            <a:ext cx="1644650" cy="404017"/>
          </a:xfrm>
          <a:custGeom>
            <a:avLst/>
            <a:gdLst>
              <a:gd name="connsiteX0" fmla="*/ 0 w 1644650"/>
              <a:gd name="connsiteY0" fmla="*/ 400050 h 403225"/>
              <a:gd name="connsiteX1" fmla="*/ 0 w 1644650"/>
              <a:gd name="connsiteY1" fmla="*/ 0 h 403225"/>
              <a:gd name="connsiteX2" fmla="*/ 431800 w 1644650"/>
              <a:gd name="connsiteY2" fmla="*/ 136525 h 403225"/>
              <a:gd name="connsiteX3" fmla="*/ 454025 w 1644650"/>
              <a:gd name="connsiteY3" fmla="*/ 152400 h 403225"/>
              <a:gd name="connsiteX4" fmla="*/ 965200 w 1644650"/>
              <a:gd name="connsiteY4" fmla="*/ 269875 h 403225"/>
              <a:gd name="connsiteX5" fmla="*/ 1019175 w 1644650"/>
              <a:gd name="connsiteY5" fmla="*/ 298450 h 403225"/>
              <a:gd name="connsiteX6" fmla="*/ 1403350 w 1644650"/>
              <a:gd name="connsiteY6" fmla="*/ 361950 h 403225"/>
              <a:gd name="connsiteX7" fmla="*/ 1644650 w 1644650"/>
              <a:gd name="connsiteY7" fmla="*/ 403225 h 403225"/>
              <a:gd name="connsiteX8" fmla="*/ 0 w 1644650"/>
              <a:gd name="connsiteY8" fmla="*/ 400050 h 403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4650" h="403225">
                <a:moveTo>
                  <a:pt x="0" y="400050"/>
                </a:moveTo>
                <a:lnTo>
                  <a:pt x="0" y="0"/>
                </a:lnTo>
                <a:lnTo>
                  <a:pt x="431800" y="136525"/>
                </a:lnTo>
                <a:lnTo>
                  <a:pt x="454025" y="152400"/>
                </a:lnTo>
                <a:lnTo>
                  <a:pt x="965200" y="269875"/>
                </a:lnTo>
                <a:lnTo>
                  <a:pt x="1019175" y="298450"/>
                </a:lnTo>
                <a:lnTo>
                  <a:pt x="1403350" y="361950"/>
                </a:lnTo>
                <a:lnTo>
                  <a:pt x="1644650" y="403225"/>
                </a:lnTo>
                <a:lnTo>
                  <a:pt x="0" y="40005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cxnSp>
        <p:nvCxnSpPr>
          <p:cNvPr id="5139" name="Conector recto 5138">
            <a:extLst>
              <a:ext uri="{FF2B5EF4-FFF2-40B4-BE49-F238E27FC236}">
                <a16:creationId xmlns:a16="http://schemas.microsoft.com/office/drawing/2014/main" id="{A5DC95F4-5A0E-0DD4-54F4-B756F333C9C4}"/>
              </a:ext>
            </a:extLst>
          </p:cNvPr>
          <p:cNvCxnSpPr>
            <a:cxnSpLocks/>
          </p:cNvCxnSpPr>
          <p:nvPr/>
        </p:nvCxnSpPr>
        <p:spPr>
          <a:xfrm>
            <a:off x="2052638" y="4750594"/>
            <a:ext cx="9767888"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vert="horz"/>
          <a:lstStyle/>
          <a:p>
            <a:r>
              <a:rPr lang="en-US" dirty="0"/>
              <a:t>Product Life Cycle — Template A</a:t>
            </a:r>
          </a:p>
        </p:txBody>
      </p:sp>
      <p:sp>
        <p:nvSpPr>
          <p:cNvPr id="2" name="TextBox 24">
            <a:extLst>
              <a:ext uri="{FF2B5EF4-FFF2-40B4-BE49-F238E27FC236}">
                <a16:creationId xmlns:a16="http://schemas.microsoft.com/office/drawing/2014/main" id="{5808B7AA-3763-C635-E2A5-4359AEF47AAB}"/>
              </a:ext>
            </a:extLst>
          </p:cNvPr>
          <p:cNvSpPr txBox="1"/>
          <p:nvPr/>
        </p:nvSpPr>
        <p:spPr>
          <a:xfrm>
            <a:off x="2052638" y="5014600"/>
            <a:ext cx="2449410" cy="1175125"/>
          </a:xfrm>
          <a:prstGeom prst="rect">
            <a:avLst/>
          </a:prstGeom>
          <a:noFill/>
        </p:spPr>
        <p:txBody>
          <a:bodyPr wrap="square" lIns="72000" tIns="36000" rIns="3600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Early adopters</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Small</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Low</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Low</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Awareness</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Tuning</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5140" name="TextBox 24">
            <a:extLst>
              <a:ext uri="{FF2B5EF4-FFF2-40B4-BE49-F238E27FC236}">
                <a16:creationId xmlns:a16="http://schemas.microsoft.com/office/drawing/2014/main" id="{AB179088-6D72-6807-9CD5-13F5A03D78FB}"/>
              </a:ext>
            </a:extLst>
          </p:cNvPr>
          <p:cNvSpPr txBox="1"/>
          <p:nvPr/>
        </p:nvSpPr>
        <p:spPr>
          <a:xfrm>
            <a:off x="4502048" y="5014600"/>
            <a:ext cx="2449410" cy="1175125"/>
          </a:xfrm>
          <a:prstGeom prst="rect">
            <a:avLst/>
          </a:prstGeom>
          <a:noFill/>
        </p:spPr>
        <p:txBody>
          <a:bodyPr wrap="square" lIns="72000" tIns="36000" rIns="3600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M</a:t>
            </a:r>
            <a:r>
              <a:rPr kumimoji="0" lang="en-US" sz="1400" b="1" i="0" u="none" strike="noStrike" kern="1200" cap="none" spc="0" normalizeH="0" baseline="0" noProof="0" dirty="0" err="1">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ainstream</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Growing</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High</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Moderate</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Market share</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Scaling</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5141" name="TextBox 24">
            <a:extLst>
              <a:ext uri="{FF2B5EF4-FFF2-40B4-BE49-F238E27FC236}">
                <a16:creationId xmlns:a16="http://schemas.microsoft.com/office/drawing/2014/main" id="{ED01D659-BA53-96B5-8426-85730F0BD92B}"/>
              </a:ext>
            </a:extLst>
          </p:cNvPr>
          <p:cNvSpPr txBox="1"/>
          <p:nvPr/>
        </p:nvSpPr>
        <p:spPr>
          <a:xfrm>
            <a:off x="6951458" y="5014600"/>
            <a:ext cx="2449410" cy="1359791"/>
          </a:xfrm>
          <a:prstGeom prst="rect">
            <a:avLst/>
          </a:prstGeom>
          <a:noFill/>
        </p:spPr>
        <p:txBody>
          <a:bodyPr wrap="square" lIns="72000" tIns="36000" rIns="3600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Late adopters</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Large</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Flattening</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High</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Customer retention</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Support</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5142" name="TextBox 24">
            <a:extLst>
              <a:ext uri="{FF2B5EF4-FFF2-40B4-BE49-F238E27FC236}">
                <a16:creationId xmlns:a16="http://schemas.microsoft.com/office/drawing/2014/main" id="{BCF62698-40FE-7E25-0C26-C037F76E35DA}"/>
              </a:ext>
            </a:extLst>
          </p:cNvPr>
          <p:cNvSpPr txBox="1"/>
          <p:nvPr/>
        </p:nvSpPr>
        <p:spPr>
          <a:xfrm>
            <a:off x="9400867" y="5014600"/>
            <a:ext cx="2417277" cy="805793"/>
          </a:xfrm>
          <a:prstGeom prst="rect">
            <a:avLst/>
          </a:prstGeom>
          <a:noFill/>
        </p:spPr>
        <p:txBody>
          <a:bodyPr wrap="square" lIns="72000" tIns="36000" rIns="3600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Laggards</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Contracting</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Moderate</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Transition</a:t>
            </a:r>
          </a:p>
        </p:txBody>
      </p:sp>
      <p:cxnSp>
        <p:nvCxnSpPr>
          <p:cNvPr id="5154" name="Conector recto 5153">
            <a:extLst>
              <a:ext uri="{FF2B5EF4-FFF2-40B4-BE49-F238E27FC236}">
                <a16:creationId xmlns:a16="http://schemas.microsoft.com/office/drawing/2014/main" id="{F7DB7E63-8480-67FC-E441-6E87D8B1E5BE}"/>
              </a:ext>
            </a:extLst>
          </p:cNvPr>
          <p:cNvCxnSpPr>
            <a:cxnSpLocks/>
          </p:cNvCxnSpPr>
          <p:nvPr/>
        </p:nvCxnSpPr>
        <p:spPr>
          <a:xfrm flipV="1">
            <a:off x="4502048" y="5014600"/>
            <a:ext cx="0" cy="129412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56" name="Conector recto 5155">
            <a:extLst>
              <a:ext uri="{FF2B5EF4-FFF2-40B4-BE49-F238E27FC236}">
                <a16:creationId xmlns:a16="http://schemas.microsoft.com/office/drawing/2014/main" id="{9225F45A-88A8-67A6-6867-0FA301E7D5CE}"/>
              </a:ext>
            </a:extLst>
          </p:cNvPr>
          <p:cNvCxnSpPr>
            <a:cxnSpLocks/>
          </p:cNvCxnSpPr>
          <p:nvPr/>
        </p:nvCxnSpPr>
        <p:spPr>
          <a:xfrm flipV="1">
            <a:off x="6951458" y="5014600"/>
            <a:ext cx="0" cy="129412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57" name="Conector recto 5156">
            <a:extLst>
              <a:ext uri="{FF2B5EF4-FFF2-40B4-BE49-F238E27FC236}">
                <a16:creationId xmlns:a16="http://schemas.microsoft.com/office/drawing/2014/main" id="{5773999F-73FC-03A8-E2F2-FDE61DD527FD}"/>
              </a:ext>
            </a:extLst>
          </p:cNvPr>
          <p:cNvCxnSpPr>
            <a:cxnSpLocks/>
          </p:cNvCxnSpPr>
          <p:nvPr/>
        </p:nvCxnSpPr>
        <p:spPr>
          <a:xfrm flipV="1">
            <a:off x="6953249" y="5014600"/>
            <a:ext cx="0" cy="129412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60" name="Rectángulo 5159">
            <a:extLst>
              <a:ext uri="{FF2B5EF4-FFF2-40B4-BE49-F238E27FC236}">
                <a16:creationId xmlns:a16="http://schemas.microsoft.com/office/drawing/2014/main" id="{D91ECEB1-137C-5A7F-435C-C00157FFB063}"/>
              </a:ext>
            </a:extLst>
          </p:cNvPr>
          <p:cNvSpPr/>
          <p:nvPr/>
        </p:nvSpPr>
        <p:spPr>
          <a:xfrm>
            <a:off x="6915151" y="2643189"/>
            <a:ext cx="45720" cy="210978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161" name="TextBox 24">
            <a:extLst>
              <a:ext uri="{FF2B5EF4-FFF2-40B4-BE49-F238E27FC236}">
                <a16:creationId xmlns:a16="http://schemas.microsoft.com/office/drawing/2014/main" id="{DAE427D8-30BB-B947-4A89-7B04EA7C2955}"/>
              </a:ext>
            </a:extLst>
          </p:cNvPr>
          <p:cNvSpPr txBox="1"/>
          <p:nvPr/>
        </p:nvSpPr>
        <p:spPr>
          <a:xfrm>
            <a:off x="371474" y="5014600"/>
            <a:ext cx="1633537" cy="1175125"/>
          </a:xfrm>
          <a:prstGeom prst="rect">
            <a:avLst/>
          </a:prstGeom>
          <a:noFill/>
        </p:spPr>
        <p:txBody>
          <a:bodyPr wrap="square" lIns="72000" tIns="36000" rIns="3600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Audience</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Market</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Sales</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Competition</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Business focus</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Design focus</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7" name="Conector recto 6">
            <a:extLst>
              <a:ext uri="{FF2B5EF4-FFF2-40B4-BE49-F238E27FC236}">
                <a16:creationId xmlns:a16="http://schemas.microsoft.com/office/drawing/2014/main" id="{A67AD884-58B6-E68B-4B60-AC4B15A8FBDC}"/>
              </a:ext>
            </a:extLst>
          </p:cNvPr>
          <p:cNvCxnSpPr>
            <a:cxnSpLocks/>
          </p:cNvCxnSpPr>
          <p:nvPr/>
        </p:nvCxnSpPr>
        <p:spPr>
          <a:xfrm flipV="1">
            <a:off x="9400868" y="5014600"/>
            <a:ext cx="0" cy="129412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D9FE7A1F-CEDD-7F9F-FDF9-054D1468FAE8}"/>
              </a:ext>
            </a:extLst>
          </p:cNvPr>
          <p:cNvCxnSpPr>
            <a:cxnSpLocks/>
          </p:cNvCxnSpPr>
          <p:nvPr/>
        </p:nvCxnSpPr>
        <p:spPr>
          <a:xfrm flipV="1">
            <a:off x="2052638" y="5014600"/>
            <a:ext cx="0" cy="129412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24">
            <a:extLst>
              <a:ext uri="{FF2B5EF4-FFF2-40B4-BE49-F238E27FC236}">
                <a16:creationId xmlns:a16="http://schemas.microsoft.com/office/drawing/2014/main" id="{4ADFA4F9-2870-8219-72E7-12A7488A2878}"/>
              </a:ext>
            </a:extLst>
          </p:cNvPr>
          <p:cNvSpPr txBox="1"/>
          <p:nvPr/>
        </p:nvSpPr>
        <p:spPr>
          <a:xfrm>
            <a:off x="3026966" y="1520825"/>
            <a:ext cx="875104" cy="369332"/>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Intro-duction</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0" name="TextBox 24">
            <a:extLst>
              <a:ext uri="{FF2B5EF4-FFF2-40B4-BE49-F238E27FC236}">
                <a16:creationId xmlns:a16="http://schemas.microsoft.com/office/drawing/2014/main" id="{EC34CC8A-B0F8-DB1A-E301-900EA2DF3EF5}"/>
              </a:ext>
            </a:extLst>
          </p:cNvPr>
          <p:cNvSpPr txBox="1"/>
          <p:nvPr/>
        </p:nvSpPr>
        <p:spPr>
          <a:xfrm>
            <a:off x="3902074" y="1705491"/>
            <a:ext cx="1408112" cy="184666"/>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Growth</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1" name="TextBox 24">
            <a:extLst>
              <a:ext uri="{FF2B5EF4-FFF2-40B4-BE49-F238E27FC236}">
                <a16:creationId xmlns:a16="http://schemas.microsoft.com/office/drawing/2014/main" id="{FFBAF77B-1C3A-1C78-2DA5-15C68E1DACD3}"/>
              </a:ext>
            </a:extLst>
          </p:cNvPr>
          <p:cNvSpPr txBox="1"/>
          <p:nvPr/>
        </p:nvSpPr>
        <p:spPr>
          <a:xfrm>
            <a:off x="5310186" y="1705491"/>
            <a:ext cx="3255170" cy="184666"/>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Maturity</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2" name="TextBox 24">
            <a:extLst>
              <a:ext uri="{FF2B5EF4-FFF2-40B4-BE49-F238E27FC236}">
                <a16:creationId xmlns:a16="http://schemas.microsoft.com/office/drawing/2014/main" id="{5DEC2510-D217-FEA8-7F72-89E98E6F4F63}"/>
              </a:ext>
            </a:extLst>
          </p:cNvPr>
          <p:cNvSpPr txBox="1"/>
          <p:nvPr/>
        </p:nvSpPr>
        <p:spPr>
          <a:xfrm>
            <a:off x="8565356" y="1705491"/>
            <a:ext cx="3239292" cy="184666"/>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Decline</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grpSp>
        <p:nvGrpSpPr>
          <p:cNvPr id="13" name="Group 156">
            <a:extLst>
              <a:ext uri="{FF2B5EF4-FFF2-40B4-BE49-F238E27FC236}">
                <a16:creationId xmlns:a16="http://schemas.microsoft.com/office/drawing/2014/main" id="{D14B11F3-D426-C7DF-20B4-ECA6A943B18B}"/>
              </a:ext>
            </a:extLst>
          </p:cNvPr>
          <p:cNvGrpSpPr>
            <a:grpSpLocks noChangeAspect="1"/>
          </p:cNvGrpSpPr>
          <p:nvPr/>
        </p:nvGrpSpPr>
        <p:grpSpPr bwMode="auto">
          <a:xfrm>
            <a:off x="3304578" y="1967960"/>
            <a:ext cx="319880" cy="314064"/>
            <a:chOff x="3616" y="3200"/>
            <a:chExt cx="440" cy="432"/>
          </a:xfrm>
          <a:solidFill>
            <a:schemeClr val="tx2"/>
          </a:solidFill>
        </p:grpSpPr>
        <p:sp>
          <p:nvSpPr>
            <p:cNvPr id="14" name="Freeform 157">
              <a:extLst>
                <a:ext uri="{FF2B5EF4-FFF2-40B4-BE49-F238E27FC236}">
                  <a16:creationId xmlns:a16="http://schemas.microsoft.com/office/drawing/2014/main" id="{2DD1703D-14AA-22BF-CF5A-CA6A7C4A3032}"/>
                </a:ext>
              </a:extLst>
            </p:cNvPr>
            <p:cNvSpPr>
              <a:spLocks noEditPoints="1"/>
            </p:cNvSpPr>
            <p:nvPr/>
          </p:nvSpPr>
          <p:spPr bwMode="auto">
            <a:xfrm>
              <a:off x="3616" y="3200"/>
              <a:ext cx="440" cy="305"/>
            </a:xfrm>
            <a:custGeom>
              <a:avLst/>
              <a:gdLst>
                <a:gd name="T0" fmla="*/ 282 w 288"/>
                <a:gd name="T1" fmla="*/ 204 h 204"/>
                <a:gd name="T2" fmla="*/ 6 w 288"/>
                <a:gd name="T3" fmla="*/ 204 h 204"/>
                <a:gd name="T4" fmla="*/ 0 w 288"/>
                <a:gd name="T5" fmla="*/ 198 h 204"/>
                <a:gd name="T6" fmla="*/ 0 w 288"/>
                <a:gd name="T7" fmla="*/ 6 h 204"/>
                <a:gd name="T8" fmla="*/ 6 w 288"/>
                <a:gd name="T9" fmla="*/ 0 h 204"/>
                <a:gd name="T10" fmla="*/ 282 w 288"/>
                <a:gd name="T11" fmla="*/ 0 h 204"/>
                <a:gd name="T12" fmla="*/ 288 w 288"/>
                <a:gd name="T13" fmla="*/ 6 h 204"/>
                <a:gd name="T14" fmla="*/ 288 w 288"/>
                <a:gd name="T15" fmla="*/ 198 h 204"/>
                <a:gd name="T16" fmla="*/ 282 w 288"/>
                <a:gd name="T17" fmla="*/ 204 h 204"/>
                <a:gd name="T18" fmla="*/ 12 w 288"/>
                <a:gd name="T19" fmla="*/ 192 h 204"/>
                <a:gd name="T20" fmla="*/ 276 w 288"/>
                <a:gd name="T21" fmla="*/ 192 h 204"/>
                <a:gd name="T22" fmla="*/ 276 w 288"/>
                <a:gd name="T23" fmla="*/ 12 h 204"/>
                <a:gd name="T24" fmla="*/ 12 w 288"/>
                <a:gd name="T25" fmla="*/ 12 h 204"/>
                <a:gd name="T26" fmla="*/ 12 w 288"/>
                <a:gd name="T27"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04">
                  <a:moveTo>
                    <a:pt x="282" y="204"/>
                  </a:moveTo>
                  <a:cubicBezTo>
                    <a:pt x="6" y="204"/>
                    <a:pt x="6" y="204"/>
                    <a:pt x="6" y="204"/>
                  </a:cubicBezTo>
                  <a:cubicBezTo>
                    <a:pt x="3" y="204"/>
                    <a:pt x="0" y="201"/>
                    <a:pt x="0" y="198"/>
                  </a:cubicBezTo>
                  <a:cubicBezTo>
                    <a:pt x="0" y="6"/>
                    <a:pt x="0" y="6"/>
                    <a:pt x="0" y="6"/>
                  </a:cubicBezTo>
                  <a:cubicBezTo>
                    <a:pt x="0" y="3"/>
                    <a:pt x="3" y="0"/>
                    <a:pt x="6" y="0"/>
                  </a:cubicBezTo>
                  <a:cubicBezTo>
                    <a:pt x="282" y="0"/>
                    <a:pt x="282" y="0"/>
                    <a:pt x="282" y="0"/>
                  </a:cubicBezTo>
                  <a:cubicBezTo>
                    <a:pt x="285" y="0"/>
                    <a:pt x="288" y="3"/>
                    <a:pt x="288" y="6"/>
                  </a:cubicBezTo>
                  <a:cubicBezTo>
                    <a:pt x="288" y="198"/>
                    <a:pt x="288" y="198"/>
                    <a:pt x="288" y="198"/>
                  </a:cubicBezTo>
                  <a:cubicBezTo>
                    <a:pt x="288" y="201"/>
                    <a:pt x="285" y="204"/>
                    <a:pt x="282" y="204"/>
                  </a:cubicBezTo>
                  <a:close/>
                  <a:moveTo>
                    <a:pt x="12" y="192"/>
                  </a:moveTo>
                  <a:cubicBezTo>
                    <a:pt x="276" y="192"/>
                    <a:pt x="276" y="192"/>
                    <a:pt x="276" y="192"/>
                  </a:cubicBezTo>
                  <a:cubicBezTo>
                    <a:pt x="276" y="12"/>
                    <a:pt x="276" y="12"/>
                    <a:pt x="276" y="12"/>
                  </a:cubicBezTo>
                  <a:cubicBezTo>
                    <a:pt x="12" y="12"/>
                    <a:pt x="12" y="12"/>
                    <a:pt x="12" y="12"/>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5" name="Freeform 158">
              <a:extLst>
                <a:ext uri="{FF2B5EF4-FFF2-40B4-BE49-F238E27FC236}">
                  <a16:creationId xmlns:a16="http://schemas.microsoft.com/office/drawing/2014/main" id="{77647ECD-8A78-F4AA-E36D-A9674F61D96B}"/>
                </a:ext>
              </a:extLst>
            </p:cNvPr>
            <p:cNvSpPr>
              <a:spLocks/>
            </p:cNvSpPr>
            <p:nvPr/>
          </p:nvSpPr>
          <p:spPr bwMode="auto">
            <a:xfrm>
              <a:off x="3818" y="3487"/>
              <a:ext cx="18" cy="144"/>
            </a:xfrm>
            <a:custGeom>
              <a:avLst/>
              <a:gdLst>
                <a:gd name="T0" fmla="*/ 6 w 12"/>
                <a:gd name="T1" fmla="*/ 96 h 96"/>
                <a:gd name="T2" fmla="*/ 0 w 12"/>
                <a:gd name="T3" fmla="*/ 90 h 96"/>
                <a:gd name="T4" fmla="*/ 0 w 12"/>
                <a:gd name="T5" fmla="*/ 6 h 96"/>
                <a:gd name="T6" fmla="*/ 6 w 12"/>
                <a:gd name="T7" fmla="*/ 0 h 96"/>
                <a:gd name="T8" fmla="*/ 12 w 12"/>
                <a:gd name="T9" fmla="*/ 6 h 96"/>
                <a:gd name="T10" fmla="*/ 12 w 12"/>
                <a:gd name="T11" fmla="*/ 90 h 96"/>
                <a:gd name="T12" fmla="*/ 6 w 12"/>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12" h="96">
                  <a:moveTo>
                    <a:pt x="6" y="96"/>
                  </a:moveTo>
                  <a:cubicBezTo>
                    <a:pt x="3" y="96"/>
                    <a:pt x="0" y="93"/>
                    <a:pt x="0" y="90"/>
                  </a:cubicBezTo>
                  <a:cubicBezTo>
                    <a:pt x="0" y="6"/>
                    <a:pt x="0" y="6"/>
                    <a:pt x="0" y="6"/>
                  </a:cubicBezTo>
                  <a:cubicBezTo>
                    <a:pt x="0" y="3"/>
                    <a:pt x="3" y="0"/>
                    <a:pt x="6" y="0"/>
                  </a:cubicBezTo>
                  <a:cubicBezTo>
                    <a:pt x="9" y="0"/>
                    <a:pt x="12" y="3"/>
                    <a:pt x="12" y="6"/>
                  </a:cubicBezTo>
                  <a:cubicBezTo>
                    <a:pt x="12" y="90"/>
                    <a:pt x="12" y="90"/>
                    <a:pt x="12" y="90"/>
                  </a:cubicBezTo>
                  <a:cubicBezTo>
                    <a:pt x="12" y="93"/>
                    <a:pt x="9" y="96"/>
                    <a:pt x="6"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6" name="Freeform 159">
              <a:extLst>
                <a:ext uri="{FF2B5EF4-FFF2-40B4-BE49-F238E27FC236}">
                  <a16:creationId xmlns:a16="http://schemas.microsoft.com/office/drawing/2014/main" id="{878255E4-E25B-17B9-D026-D1E4DF4CBFC3}"/>
                </a:ext>
              </a:extLst>
            </p:cNvPr>
            <p:cNvSpPr>
              <a:spLocks/>
            </p:cNvSpPr>
            <p:nvPr/>
          </p:nvSpPr>
          <p:spPr bwMode="auto">
            <a:xfrm>
              <a:off x="3687" y="3486"/>
              <a:ext cx="279" cy="146"/>
            </a:xfrm>
            <a:custGeom>
              <a:avLst/>
              <a:gdLst>
                <a:gd name="T0" fmla="*/ 175 w 182"/>
                <a:gd name="T1" fmla="*/ 97 h 98"/>
                <a:gd name="T2" fmla="*/ 171 w 182"/>
                <a:gd name="T3" fmla="*/ 95 h 98"/>
                <a:gd name="T4" fmla="*/ 91 w 182"/>
                <a:gd name="T5" fmla="*/ 16 h 98"/>
                <a:gd name="T6" fmla="*/ 11 w 182"/>
                <a:gd name="T7" fmla="*/ 95 h 98"/>
                <a:gd name="T8" fmla="*/ 3 w 182"/>
                <a:gd name="T9" fmla="*/ 95 h 98"/>
                <a:gd name="T10" fmla="*/ 3 w 182"/>
                <a:gd name="T11" fmla="*/ 87 h 98"/>
                <a:gd name="T12" fmla="*/ 87 w 182"/>
                <a:gd name="T13" fmla="*/ 3 h 98"/>
                <a:gd name="T14" fmla="*/ 95 w 182"/>
                <a:gd name="T15" fmla="*/ 3 h 98"/>
                <a:gd name="T16" fmla="*/ 179 w 182"/>
                <a:gd name="T17" fmla="*/ 87 h 98"/>
                <a:gd name="T18" fmla="*/ 179 w 182"/>
                <a:gd name="T19" fmla="*/ 95 h 98"/>
                <a:gd name="T20" fmla="*/ 175 w 182"/>
                <a:gd name="T21" fmla="*/ 9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2" h="98">
                  <a:moveTo>
                    <a:pt x="175" y="97"/>
                  </a:moveTo>
                  <a:cubicBezTo>
                    <a:pt x="174" y="97"/>
                    <a:pt x="172" y="96"/>
                    <a:pt x="171" y="95"/>
                  </a:cubicBezTo>
                  <a:cubicBezTo>
                    <a:pt x="91" y="16"/>
                    <a:pt x="91" y="16"/>
                    <a:pt x="91" y="16"/>
                  </a:cubicBezTo>
                  <a:cubicBezTo>
                    <a:pt x="11" y="95"/>
                    <a:pt x="11" y="95"/>
                    <a:pt x="11" y="95"/>
                  </a:cubicBezTo>
                  <a:cubicBezTo>
                    <a:pt x="9" y="98"/>
                    <a:pt x="5" y="98"/>
                    <a:pt x="3" y="95"/>
                  </a:cubicBezTo>
                  <a:cubicBezTo>
                    <a:pt x="0" y="93"/>
                    <a:pt x="0" y="89"/>
                    <a:pt x="3" y="87"/>
                  </a:cubicBezTo>
                  <a:cubicBezTo>
                    <a:pt x="87" y="3"/>
                    <a:pt x="87" y="3"/>
                    <a:pt x="87" y="3"/>
                  </a:cubicBezTo>
                  <a:cubicBezTo>
                    <a:pt x="89" y="0"/>
                    <a:pt x="93" y="0"/>
                    <a:pt x="95" y="3"/>
                  </a:cubicBezTo>
                  <a:cubicBezTo>
                    <a:pt x="179" y="87"/>
                    <a:pt x="179" y="87"/>
                    <a:pt x="179" y="87"/>
                  </a:cubicBezTo>
                  <a:cubicBezTo>
                    <a:pt x="182" y="89"/>
                    <a:pt x="182" y="93"/>
                    <a:pt x="179" y="95"/>
                  </a:cubicBezTo>
                  <a:cubicBezTo>
                    <a:pt x="178" y="96"/>
                    <a:pt x="177" y="97"/>
                    <a:pt x="175" y="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7" name="Freeform 160">
              <a:extLst>
                <a:ext uri="{FF2B5EF4-FFF2-40B4-BE49-F238E27FC236}">
                  <a16:creationId xmlns:a16="http://schemas.microsoft.com/office/drawing/2014/main" id="{4D891BFE-E0A2-B433-132A-8D4430AE2C1D}"/>
                </a:ext>
              </a:extLst>
            </p:cNvPr>
            <p:cNvSpPr>
              <a:spLocks/>
            </p:cNvSpPr>
            <p:nvPr/>
          </p:nvSpPr>
          <p:spPr bwMode="auto">
            <a:xfrm>
              <a:off x="3616" y="3272"/>
              <a:ext cx="440" cy="18"/>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9"/>
                    <a:pt x="0" y="6"/>
                  </a:cubicBezTo>
                  <a:cubicBezTo>
                    <a:pt x="0" y="3"/>
                    <a:pt x="3" y="0"/>
                    <a:pt x="6" y="0"/>
                  </a:cubicBezTo>
                  <a:cubicBezTo>
                    <a:pt x="282" y="0"/>
                    <a:pt x="282" y="0"/>
                    <a:pt x="282" y="0"/>
                  </a:cubicBezTo>
                  <a:cubicBezTo>
                    <a:pt x="285" y="0"/>
                    <a:pt x="288" y="3"/>
                    <a:pt x="288" y="6"/>
                  </a:cubicBezTo>
                  <a:cubicBezTo>
                    <a:pt x="288" y="9"/>
                    <a:pt x="285"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18" name="Group 50">
            <a:extLst>
              <a:ext uri="{FF2B5EF4-FFF2-40B4-BE49-F238E27FC236}">
                <a16:creationId xmlns:a16="http://schemas.microsoft.com/office/drawing/2014/main" id="{7AC562D6-2D9B-20AD-C65C-0079FF3C50B7}"/>
              </a:ext>
            </a:extLst>
          </p:cNvPr>
          <p:cNvGrpSpPr>
            <a:grpSpLocks noChangeAspect="1"/>
          </p:cNvGrpSpPr>
          <p:nvPr/>
        </p:nvGrpSpPr>
        <p:grpSpPr bwMode="auto">
          <a:xfrm>
            <a:off x="4442078" y="1968240"/>
            <a:ext cx="328104" cy="313504"/>
            <a:chOff x="5693" y="604"/>
            <a:chExt cx="427" cy="408"/>
          </a:xfrm>
          <a:solidFill>
            <a:schemeClr val="tx2"/>
          </a:solidFill>
        </p:grpSpPr>
        <p:sp>
          <p:nvSpPr>
            <p:cNvPr id="19" name="Freeform 51">
              <a:extLst>
                <a:ext uri="{FF2B5EF4-FFF2-40B4-BE49-F238E27FC236}">
                  <a16:creationId xmlns:a16="http://schemas.microsoft.com/office/drawing/2014/main" id="{BA10A5CC-881E-ADA4-825B-805DDB5AC909}"/>
                </a:ext>
              </a:extLst>
            </p:cNvPr>
            <p:cNvSpPr>
              <a:spLocks/>
            </p:cNvSpPr>
            <p:nvPr/>
          </p:nvSpPr>
          <p:spPr bwMode="auto">
            <a:xfrm>
              <a:off x="5693" y="995"/>
              <a:ext cx="427" cy="17"/>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10"/>
                    <a:pt x="0" y="6"/>
                  </a:cubicBezTo>
                  <a:cubicBezTo>
                    <a:pt x="0" y="3"/>
                    <a:pt x="3" y="0"/>
                    <a:pt x="6" y="0"/>
                  </a:cubicBezTo>
                  <a:cubicBezTo>
                    <a:pt x="282" y="0"/>
                    <a:pt x="282" y="0"/>
                    <a:pt x="282" y="0"/>
                  </a:cubicBezTo>
                  <a:cubicBezTo>
                    <a:pt x="286" y="0"/>
                    <a:pt x="288" y="3"/>
                    <a:pt x="288" y="6"/>
                  </a:cubicBezTo>
                  <a:cubicBezTo>
                    <a:pt x="288" y="10"/>
                    <a:pt x="28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0" name="Freeform 52">
              <a:extLst>
                <a:ext uri="{FF2B5EF4-FFF2-40B4-BE49-F238E27FC236}">
                  <a16:creationId xmlns:a16="http://schemas.microsoft.com/office/drawing/2014/main" id="{8F8B9861-E21C-854C-BCF7-6A1D825F53B9}"/>
                </a:ext>
              </a:extLst>
            </p:cNvPr>
            <p:cNvSpPr>
              <a:spLocks noEditPoints="1"/>
            </p:cNvSpPr>
            <p:nvPr/>
          </p:nvSpPr>
          <p:spPr bwMode="auto">
            <a:xfrm>
              <a:off x="5711" y="943"/>
              <a:ext cx="71" cy="69"/>
            </a:xfrm>
            <a:custGeom>
              <a:avLst/>
              <a:gdLst>
                <a:gd name="T0" fmla="*/ 42 w 48"/>
                <a:gd name="T1" fmla="*/ 48 h 48"/>
                <a:gd name="T2" fmla="*/ 6 w 48"/>
                <a:gd name="T3" fmla="*/ 48 h 48"/>
                <a:gd name="T4" fmla="*/ 0 w 48"/>
                <a:gd name="T5" fmla="*/ 42 h 48"/>
                <a:gd name="T6" fmla="*/ 0 w 48"/>
                <a:gd name="T7" fmla="*/ 6 h 48"/>
                <a:gd name="T8" fmla="*/ 6 w 48"/>
                <a:gd name="T9" fmla="*/ 0 h 48"/>
                <a:gd name="T10" fmla="*/ 42 w 48"/>
                <a:gd name="T11" fmla="*/ 0 h 48"/>
                <a:gd name="T12" fmla="*/ 48 w 48"/>
                <a:gd name="T13" fmla="*/ 6 h 48"/>
                <a:gd name="T14" fmla="*/ 48 w 48"/>
                <a:gd name="T15" fmla="*/ 42 h 48"/>
                <a:gd name="T16" fmla="*/ 42 w 48"/>
                <a:gd name="T17" fmla="*/ 48 h 48"/>
                <a:gd name="T18" fmla="*/ 12 w 48"/>
                <a:gd name="T19" fmla="*/ 36 h 48"/>
                <a:gd name="T20" fmla="*/ 36 w 48"/>
                <a:gd name="T21" fmla="*/ 36 h 48"/>
                <a:gd name="T22" fmla="*/ 36 w 48"/>
                <a:gd name="T23" fmla="*/ 12 h 48"/>
                <a:gd name="T24" fmla="*/ 12 w 48"/>
                <a:gd name="T25" fmla="*/ 12 h 48"/>
                <a:gd name="T26" fmla="*/ 12 w 48"/>
                <a:gd name="T27"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2" y="48"/>
                  </a:moveTo>
                  <a:cubicBezTo>
                    <a:pt x="6" y="48"/>
                    <a:pt x="6" y="48"/>
                    <a:pt x="6" y="48"/>
                  </a:cubicBezTo>
                  <a:cubicBezTo>
                    <a:pt x="3" y="48"/>
                    <a:pt x="0" y="46"/>
                    <a:pt x="0" y="42"/>
                  </a:cubicBezTo>
                  <a:cubicBezTo>
                    <a:pt x="0" y="6"/>
                    <a:pt x="0" y="6"/>
                    <a:pt x="0" y="6"/>
                  </a:cubicBezTo>
                  <a:cubicBezTo>
                    <a:pt x="0" y="3"/>
                    <a:pt x="3" y="0"/>
                    <a:pt x="6" y="0"/>
                  </a:cubicBezTo>
                  <a:cubicBezTo>
                    <a:pt x="42" y="0"/>
                    <a:pt x="42" y="0"/>
                    <a:pt x="42" y="0"/>
                  </a:cubicBezTo>
                  <a:cubicBezTo>
                    <a:pt x="46" y="0"/>
                    <a:pt x="48" y="3"/>
                    <a:pt x="48" y="6"/>
                  </a:cubicBezTo>
                  <a:cubicBezTo>
                    <a:pt x="48" y="42"/>
                    <a:pt x="48" y="42"/>
                    <a:pt x="48" y="42"/>
                  </a:cubicBezTo>
                  <a:cubicBezTo>
                    <a:pt x="48" y="46"/>
                    <a:pt x="46" y="48"/>
                    <a:pt x="42" y="48"/>
                  </a:cubicBezTo>
                  <a:close/>
                  <a:moveTo>
                    <a:pt x="12" y="36"/>
                  </a:moveTo>
                  <a:cubicBezTo>
                    <a:pt x="36" y="36"/>
                    <a:pt x="36" y="36"/>
                    <a:pt x="36" y="36"/>
                  </a:cubicBezTo>
                  <a:cubicBezTo>
                    <a:pt x="36" y="12"/>
                    <a:pt x="36" y="12"/>
                    <a:pt x="36"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1" name="Freeform 53">
              <a:extLst>
                <a:ext uri="{FF2B5EF4-FFF2-40B4-BE49-F238E27FC236}">
                  <a16:creationId xmlns:a16="http://schemas.microsoft.com/office/drawing/2014/main" id="{ABFAC9F0-F5A5-985C-59D1-0159BA073ECA}"/>
                </a:ext>
              </a:extLst>
            </p:cNvPr>
            <p:cNvSpPr>
              <a:spLocks noEditPoints="1"/>
            </p:cNvSpPr>
            <p:nvPr/>
          </p:nvSpPr>
          <p:spPr bwMode="auto">
            <a:xfrm>
              <a:off x="5818" y="873"/>
              <a:ext cx="71" cy="139"/>
            </a:xfrm>
            <a:custGeom>
              <a:avLst/>
              <a:gdLst>
                <a:gd name="T0" fmla="*/ 42 w 48"/>
                <a:gd name="T1" fmla="*/ 96 h 96"/>
                <a:gd name="T2" fmla="*/ 6 w 48"/>
                <a:gd name="T3" fmla="*/ 96 h 96"/>
                <a:gd name="T4" fmla="*/ 0 w 48"/>
                <a:gd name="T5" fmla="*/ 90 h 96"/>
                <a:gd name="T6" fmla="*/ 0 w 48"/>
                <a:gd name="T7" fmla="*/ 6 h 96"/>
                <a:gd name="T8" fmla="*/ 6 w 48"/>
                <a:gd name="T9" fmla="*/ 0 h 96"/>
                <a:gd name="T10" fmla="*/ 42 w 48"/>
                <a:gd name="T11" fmla="*/ 0 h 96"/>
                <a:gd name="T12" fmla="*/ 48 w 48"/>
                <a:gd name="T13" fmla="*/ 6 h 96"/>
                <a:gd name="T14" fmla="*/ 48 w 48"/>
                <a:gd name="T15" fmla="*/ 90 h 96"/>
                <a:gd name="T16" fmla="*/ 42 w 48"/>
                <a:gd name="T17" fmla="*/ 96 h 96"/>
                <a:gd name="T18" fmla="*/ 12 w 48"/>
                <a:gd name="T19" fmla="*/ 84 h 96"/>
                <a:gd name="T20" fmla="*/ 36 w 48"/>
                <a:gd name="T21" fmla="*/ 84 h 96"/>
                <a:gd name="T22" fmla="*/ 36 w 48"/>
                <a:gd name="T23" fmla="*/ 12 h 96"/>
                <a:gd name="T24" fmla="*/ 12 w 48"/>
                <a:gd name="T25" fmla="*/ 12 h 96"/>
                <a:gd name="T26" fmla="*/ 12 w 48"/>
                <a:gd name="T27"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96">
                  <a:moveTo>
                    <a:pt x="42" y="96"/>
                  </a:moveTo>
                  <a:cubicBezTo>
                    <a:pt x="6" y="96"/>
                    <a:pt x="6" y="96"/>
                    <a:pt x="6" y="96"/>
                  </a:cubicBezTo>
                  <a:cubicBezTo>
                    <a:pt x="3" y="96"/>
                    <a:pt x="0" y="94"/>
                    <a:pt x="0" y="90"/>
                  </a:cubicBezTo>
                  <a:cubicBezTo>
                    <a:pt x="0" y="6"/>
                    <a:pt x="0" y="6"/>
                    <a:pt x="0" y="6"/>
                  </a:cubicBezTo>
                  <a:cubicBezTo>
                    <a:pt x="0" y="3"/>
                    <a:pt x="3" y="0"/>
                    <a:pt x="6" y="0"/>
                  </a:cubicBezTo>
                  <a:cubicBezTo>
                    <a:pt x="42" y="0"/>
                    <a:pt x="42" y="0"/>
                    <a:pt x="42" y="0"/>
                  </a:cubicBezTo>
                  <a:cubicBezTo>
                    <a:pt x="46" y="0"/>
                    <a:pt x="48" y="3"/>
                    <a:pt x="48" y="6"/>
                  </a:cubicBezTo>
                  <a:cubicBezTo>
                    <a:pt x="48" y="90"/>
                    <a:pt x="48" y="90"/>
                    <a:pt x="48" y="90"/>
                  </a:cubicBezTo>
                  <a:cubicBezTo>
                    <a:pt x="48" y="94"/>
                    <a:pt x="46" y="96"/>
                    <a:pt x="42" y="96"/>
                  </a:cubicBezTo>
                  <a:close/>
                  <a:moveTo>
                    <a:pt x="12" y="84"/>
                  </a:moveTo>
                  <a:cubicBezTo>
                    <a:pt x="36" y="84"/>
                    <a:pt x="36" y="84"/>
                    <a:pt x="36" y="84"/>
                  </a:cubicBezTo>
                  <a:cubicBezTo>
                    <a:pt x="36" y="12"/>
                    <a:pt x="36" y="12"/>
                    <a:pt x="36"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2" name="Freeform 54">
              <a:extLst>
                <a:ext uri="{FF2B5EF4-FFF2-40B4-BE49-F238E27FC236}">
                  <a16:creationId xmlns:a16="http://schemas.microsoft.com/office/drawing/2014/main" id="{CB0A96E5-AFA7-A880-DAD5-789D94FB0D11}"/>
                </a:ext>
              </a:extLst>
            </p:cNvPr>
            <p:cNvSpPr>
              <a:spLocks noEditPoints="1"/>
            </p:cNvSpPr>
            <p:nvPr/>
          </p:nvSpPr>
          <p:spPr bwMode="auto">
            <a:xfrm>
              <a:off x="5925" y="804"/>
              <a:ext cx="71" cy="208"/>
            </a:xfrm>
            <a:custGeom>
              <a:avLst/>
              <a:gdLst>
                <a:gd name="T0" fmla="*/ 42 w 48"/>
                <a:gd name="T1" fmla="*/ 144 h 144"/>
                <a:gd name="T2" fmla="*/ 6 w 48"/>
                <a:gd name="T3" fmla="*/ 144 h 144"/>
                <a:gd name="T4" fmla="*/ 0 w 48"/>
                <a:gd name="T5" fmla="*/ 138 h 144"/>
                <a:gd name="T6" fmla="*/ 0 w 48"/>
                <a:gd name="T7" fmla="*/ 6 h 144"/>
                <a:gd name="T8" fmla="*/ 6 w 48"/>
                <a:gd name="T9" fmla="*/ 0 h 144"/>
                <a:gd name="T10" fmla="*/ 42 w 48"/>
                <a:gd name="T11" fmla="*/ 0 h 144"/>
                <a:gd name="T12" fmla="*/ 48 w 48"/>
                <a:gd name="T13" fmla="*/ 6 h 144"/>
                <a:gd name="T14" fmla="*/ 48 w 48"/>
                <a:gd name="T15" fmla="*/ 138 h 144"/>
                <a:gd name="T16" fmla="*/ 42 w 48"/>
                <a:gd name="T17" fmla="*/ 144 h 144"/>
                <a:gd name="T18" fmla="*/ 12 w 48"/>
                <a:gd name="T19" fmla="*/ 132 h 144"/>
                <a:gd name="T20" fmla="*/ 36 w 48"/>
                <a:gd name="T21" fmla="*/ 132 h 144"/>
                <a:gd name="T22" fmla="*/ 36 w 48"/>
                <a:gd name="T23" fmla="*/ 12 h 144"/>
                <a:gd name="T24" fmla="*/ 12 w 48"/>
                <a:gd name="T25" fmla="*/ 12 h 144"/>
                <a:gd name="T26" fmla="*/ 12 w 48"/>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44">
                  <a:moveTo>
                    <a:pt x="42" y="144"/>
                  </a:moveTo>
                  <a:cubicBezTo>
                    <a:pt x="6" y="144"/>
                    <a:pt x="6" y="144"/>
                    <a:pt x="6" y="144"/>
                  </a:cubicBezTo>
                  <a:cubicBezTo>
                    <a:pt x="3" y="144"/>
                    <a:pt x="0" y="142"/>
                    <a:pt x="0" y="138"/>
                  </a:cubicBezTo>
                  <a:cubicBezTo>
                    <a:pt x="0" y="6"/>
                    <a:pt x="0" y="6"/>
                    <a:pt x="0" y="6"/>
                  </a:cubicBezTo>
                  <a:cubicBezTo>
                    <a:pt x="0" y="3"/>
                    <a:pt x="3" y="0"/>
                    <a:pt x="6" y="0"/>
                  </a:cubicBezTo>
                  <a:cubicBezTo>
                    <a:pt x="42" y="0"/>
                    <a:pt x="42" y="0"/>
                    <a:pt x="42" y="0"/>
                  </a:cubicBezTo>
                  <a:cubicBezTo>
                    <a:pt x="46" y="0"/>
                    <a:pt x="48" y="3"/>
                    <a:pt x="48" y="6"/>
                  </a:cubicBezTo>
                  <a:cubicBezTo>
                    <a:pt x="48" y="138"/>
                    <a:pt x="48" y="138"/>
                    <a:pt x="48" y="138"/>
                  </a:cubicBezTo>
                  <a:cubicBezTo>
                    <a:pt x="48" y="142"/>
                    <a:pt x="46" y="144"/>
                    <a:pt x="42" y="144"/>
                  </a:cubicBezTo>
                  <a:close/>
                  <a:moveTo>
                    <a:pt x="12" y="132"/>
                  </a:moveTo>
                  <a:cubicBezTo>
                    <a:pt x="36" y="132"/>
                    <a:pt x="36" y="132"/>
                    <a:pt x="36" y="132"/>
                  </a:cubicBezTo>
                  <a:cubicBezTo>
                    <a:pt x="36" y="12"/>
                    <a:pt x="36" y="12"/>
                    <a:pt x="36" y="12"/>
                  </a:cubicBezTo>
                  <a:cubicBezTo>
                    <a:pt x="12" y="12"/>
                    <a:pt x="12" y="12"/>
                    <a:pt x="12" y="12"/>
                  </a:cubicBezTo>
                  <a:lnTo>
                    <a:pt x="12"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3" name="Freeform 55">
              <a:extLst>
                <a:ext uri="{FF2B5EF4-FFF2-40B4-BE49-F238E27FC236}">
                  <a16:creationId xmlns:a16="http://schemas.microsoft.com/office/drawing/2014/main" id="{6B5F04D1-CA36-6993-D1AD-76C6DBCA4F40}"/>
                </a:ext>
              </a:extLst>
            </p:cNvPr>
            <p:cNvSpPr>
              <a:spLocks noEditPoints="1"/>
            </p:cNvSpPr>
            <p:nvPr/>
          </p:nvSpPr>
          <p:spPr bwMode="auto">
            <a:xfrm>
              <a:off x="6031" y="735"/>
              <a:ext cx="71" cy="277"/>
            </a:xfrm>
            <a:custGeom>
              <a:avLst/>
              <a:gdLst>
                <a:gd name="T0" fmla="*/ 42 w 48"/>
                <a:gd name="T1" fmla="*/ 192 h 192"/>
                <a:gd name="T2" fmla="*/ 6 w 48"/>
                <a:gd name="T3" fmla="*/ 192 h 192"/>
                <a:gd name="T4" fmla="*/ 0 w 48"/>
                <a:gd name="T5" fmla="*/ 186 h 192"/>
                <a:gd name="T6" fmla="*/ 0 w 48"/>
                <a:gd name="T7" fmla="*/ 6 h 192"/>
                <a:gd name="T8" fmla="*/ 6 w 48"/>
                <a:gd name="T9" fmla="*/ 0 h 192"/>
                <a:gd name="T10" fmla="*/ 42 w 48"/>
                <a:gd name="T11" fmla="*/ 0 h 192"/>
                <a:gd name="T12" fmla="*/ 48 w 48"/>
                <a:gd name="T13" fmla="*/ 6 h 192"/>
                <a:gd name="T14" fmla="*/ 48 w 48"/>
                <a:gd name="T15" fmla="*/ 186 h 192"/>
                <a:gd name="T16" fmla="*/ 42 w 48"/>
                <a:gd name="T17" fmla="*/ 192 h 192"/>
                <a:gd name="T18" fmla="*/ 12 w 48"/>
                <a:gd name="T19" fmla="*/ 180 h 192"/>
                <a:gd name="T20" fmla="*/ 36 w 48"/>
                <a:gd name="T21" fmla="*/ 180 h 192"/>
                <a:gd name="T22" fmla="*/ 36 w 48"/>
                <a:gd name="T23" fmla="*/ 12 h 192"/>
                <a:gd name="T24" fmla="*/ 12 w 48"/>
                <a:gd name="T25" fmla="*/ 12 h 192"/>
                <a:gd name="T26" fmla="*/ 12 w 48"/>
                <a:gd name="T27" fmla="*/ 18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92">
                  <a:moveTo>
                    <a:pt x="42" y="192"/>
                  </a:moveTo>
                  <a:cubicBezTo>
                    <a:pt x="6" y="192"/>
                    <a:pt x="6" y="192"/>
                    <a:pt x="6" y="192"/>
                  </a:cubicBezTo>
                  <a:cubicBezTo>
                    <a:pt x="3" y="192"/>
                    <a:pt x="0" y="190"/>
                    <a:pt x="0" y="186"/>
                  </a:cubicBezTo>
                  <a:cubicBezTo>
                    <a:pt x="0" y="6"/>
                    <a:pt x="0" y="6"/>
                    <a:pt x="0" y="6"/>
                  </a:cubicBezTo>
                  <a:cubicBezTo>
                    <a:pt x="0" y="3"/>
                    <a:pt x="3" y="0"/>
                    <a:pt x="6" y="0"/>
                  </a:cubicBezTo>
                  <a:cubicBezTo>
                    <a:pt x="42" y="0"/>
                    <a:pt x="42" y="0"/>
                    <a:pt x="42" y="0"/>
                  </a:cubicBezTo>
                  <a:cubicBezTo>
                    <a:pt x="46" y="0"/>
                    <a:pt x="48" y="3"/>
                    <a:pt x="48" y="6"/>
                  </a:cubicBezTo>
                  <a:cubicBezTo>
                    <a:pt x="48" y="186"/>
                    <a:pt x="48" y="186"/>
                    <a:pt x="48" y="186"/>
                  </a:cubicBezTo>
                  <a:cubicBezTo>
                    <a:pt x="48" y="190"/>
                    <a:pt x="46" y="192"/>
                    <a:pt x="42" y="192"/>
                  </a:cubicBezTo>
                  <a:close/>
                  <a:moveTo>
                    <a:pt x="12" y="180"/>
                  </a:moveTo>
                  <a:cubicBezTo>
                    <a:pt x="36" y="180"/>
                    <a:pt x="36" y="180"/>
                    <a:pt x="36" y="180"/>
                  </a:cubicBezTo>
                  <a:cubicBezTo>
                    <a:pt x="36" y="12"/>
                    <a:pt x="36" y="12"/>
                    <a:pt x="36" y="12"/>
                  </a:cubicBezTo>
                  <a:cubicBezTo>
                    <a:pt x="12" y="12"/>
                    <a:pt x="12" y="12"/>
                    <a:pt x="12" y="12"/>
                  </a:cubicBezTo>
                  <a:lnTo>
                    <a:pt x="12"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4" name="Freeform 56">
              <a:extLst>
                <a:ext uri="{FF2B5EF4-FFF2-40B4-BE49-F238E27FC236}">
                  <a16:creationId xmlns:a16="http://schemas.microsoft.com/office/drawing/2014/main" id="{60E6BD57-4194-67CE-8939-819B399EC2FD}"/>
                </a:ext>
              </a:extLst>
            </p:cNvPr>
            <p:cNvSpPr>
              <a:spLocks/>
            </p:cNvSpPr>
            <p:nvPr/>
          </p:nvSpPr>
          <p:spPr bwMode="auto">
            <a:xfrm>
              <a:off x="5738" y="612"/>
              <a:ext cx="339" cy="227"/>
            </a:xfrm>
            <a:custGeom>
              <a:avLst/>
              <a:gdLst>
                <a:gd name="T0" fmla="*/ 6 w 229"/>
                <a:gd name="T1" fmla="*/ 157 h 157"/>
                <a:gd name="T2" fmla="*/ 1 w 229"/>
                <a:gd name="T3" fmla="*/ 154 h 157"/>
                <a:gd name="T4" fmla="*/ 3 w 229"/>
                <a:gd name="T5" fmla="*/ 146 h 157"/>
                <a:gd name="T6" fmla="*/ 219 w 229"/>
                <a:gd name="T7" fmla="*/ 2 h 157"/>
                <a:gd name="T8" fmla="*/ 227 w 229"/>
                <a:gd name="T9" fmla="*/ 4 h 157"/>
                <a:gd name="T10" fmla="*/ 226 w 229"/>
                <a:gd name="T11" fmla="*/ 12 h 157"/>
                <a:gd name="T12" fmla="*/ 10 w 229"/>
                <a:gd name="T13" fmla="*/ 156 h 157"/>
                <a:gd name="T14" fmla="*/ 6 w 229"/>
                <a:gd name="T15" fmla="*/ 157 h 1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9" h="157">
                  <a:moveTo>
                    <a:pt x="6" y="157"/>
                  </a:moveTo>
                  <a:cubicBezTo>
                    <a:pt x="5" y="157"/>
                    <a:pt x="3" y="156"/>
                    <a:pt x="1" y="154"/>
                  </a:cubicBezTo>
                  <a:cubicBezTo>
                    <a:pt x="0" y="152"/>
                    <a:pt x="0" y="148"/>
                    <a:pt x="3" y="146"/>
                  </a:cubicBezTo>
                  <a:cubicBezTo>
                    <a:pt x="219" y="2"/>
                    <a:pt x="219" y="2"/>
                    <a:pt x="219" y="2"/>
                  </a:cubicBezTo>
                  <a:cubicBezTo>
                    <a:pt x="222" y="0"/>
                    <a:pt x="226" y="1"/>
                    <a:pt x="227" y="4"/>
                  </a:cubicBezTo>
                  <a:cubicBezTo>
                    <a:pt x="229" y="7"/>
                    <a:pt x="229" y="10"/>
                    <a:pt x="226" y="12"/>
                  </a:cubicBezTo>
                  <a:cubicBezTo>
                    <a:pt x="10" y="156"/>
                    <a:pt x="10" y="156"/>
                    <a:pt x="10" y="156"/>
                  </a:cubicBezTo>
                  <a:cubicBezTo>
                    <a:pt x="9" y="157"/>
                    <a:pt x="8" y="157"/>
                    <a:pt x="6" y="1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5" name="Freeform 57">
              <a:extLst>
                <a:ext uri="{FF2B5EF4-FFF2-40B4-BE49-F238E27FC236}">
                  <a16:creationId xmlns:a16="http://schemas.microsoft.com/office/drawing/2014/main" id="{F73AB833-7053-A34D-8090-04F9327BB1F3}"/>
                </a:ext>
              </a:extLst>
            </p:cNvPr>
            <p:cNvSpPr>
              <a:spLocks/>
            </p:cNvSpPr>
            <p:nvPr/>
          </p:nvSpPr>
          <p:spPr bwMode="auto">
            <a:xfrm>
              <a:off x="5987" y="604"/>
              <a:ext cx="90" cy="96"/>
            </a:xfrm>
            <a:custGeom>
              <a:avLst/>
              <a:gdLst>
                <a:gd name="T0" fmla="*/ 48 w 61"/>
                <a:gd name="T1" fmla="*/ 66 h 66"/>
                <a:gd name="T2" fmla="*/ 48 w 61"/>
                <a:gd name="T3" fmla="*/ 66 h 66"/>
                <a:gd name="T4" fmla="*/ 42 w 61"/>
                <a:gd name="T5" fmla="*/ 60 h 66"/>
                <a:gd name="T6" fmla="*/ 48 w 61"/>
                <a:gd name="T7" fmla="*/ 17 h 66"/>
                <a:gd name="T8" fmla="*/ 6 w 61"/>
                <a:gd name="T9" fmla="*/ 12 h 66"/>
                <a:gd name="T10" fmla="*/ 0 w 61"/>
                <a:gd name="T11" fmla="*/ 6 h 66"/>
                <a:gd name="T12" fmla="*/ 7 w 61"/>
                <a:gd name="T13" fmla="*/ 0 h 66"/>
                <a:gd name="T14" fmla="*/ 55 w 61"/>
                <a:gd name="T15" fmla="*/ 6 h 66"/>
                <a:gd name="T16" fmla="*/ 59 w 61"/>
                <a:gd name="T17" fmla="*/ 8 h 66"/>
                <a:gd name="T18" fmla="*/ 60 w 61"/>
                <a:gd name="T19" fmla="*/ 13 h 66"/>
                <a:gd name="T20" fmla="*/ 54 w 61"/>
                <a:gd name="T21" fmla="*/ 61 h 66"/>
                <a:gd name="T22" fmla="*/ 48 w 61"/>
                <a:gd name="T23"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1" h="66">
                  <a:moveTo>
                    <a:pt x="48" y="66"/>
                  </a:moveTo>
                  <a:cubicBezTo>
                    <a:pt x="48" y="66"/>
                    <a:pt x="48" y="66"/>
                    <a:pt x="48" y="66"/>
                  </a:cubicBezTo>
                  <a:cubicBezTo>
                    <a:pt x="44" y="66"/>
                    <a:pt x="42" y="63"/>
                    <a:pt x="42" y="60"/>
                  </a:cubicBezTo>
                  <a:cubicBezTo>
                    <a:pt x="48" y="17"/>
                    <a:pt x="48" y="17"/>
                    <a:pt x="48" y="17"/>
                  </a:cubicBezTo>
                  <a:cubicBezTo>
                    <a:pt x="6" y="12"/>
                    <a:pt x="6" y="12"/>
                    <a:pt x="6" y="12"/>
                  </a:cubicBezTo>
                  <a:cubicBezTo>
                    <a:pt x="2" y="12"/>
                    <a:pt x="0" y="9"/>
                    <a:pt x="0" y="6"/>
                  </a:cubicBezTo>
                  <a:cubicBezTo>
                    <a:pt x="1" y="2"/>
                    <a:pt x="4" y="0"/>
                    <a:pt x="7" y="0"/>
                  </a:cubicBezTo>
                  <a:cubicBezTo>
                    <a:pt x="55" y="6"/>
                    <a:pt x="55" y="6"/>
                    <a:pt x="55" y="6"/>
                  </a:cubicBezTo>
                  <a:cubicBezTo>
                    <a:pt x="57" y="6"/>
                    <a:pt x="58" y="7"/>
                    <a:pt x="59" y="8"/>
                  </a:cubicBezTo>
                  <a:cubicBezTo>
                    <a:pt x="60" y="10"/>
                    <a:pt x="61" y="11"/>
                    <a:pt x="60" y="13"/>
                  </a:cubicBezTo>
                  <a:cubicBezTo>
                    <a:pt x="54" y="61"/>
                    <a:pt x="54" y="61"/>
                    <a:pt x="54" y="61"/>
                  </a:cubicBezTo>
                  <a:cubicBezTo>
                    <a:pt x="54" y="64"/>
                    <a:pt x="51" y="66"/>
                    <a:pt x="48"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26" name="Group 73">
            <a:extLst>
              <a:ext uri="{FF2B5EF4-FFF2-40B4-BE49-F238E27FC236}">
                <a16:creationId xmlns:a16="http://schemas.microsoft.com/office/drawing/2014/main" id="{22B1C674-1C0C-4272-0D76-880541C203AC}"/>
              </a:ext>
            </a:extLst>
          </p:cNvPr>
          <p:cNvGrpSpPr>
            <a:grpSpLocks noChangeAspect="1"/>
          </p:cNvGrpSpPr>
          <p:nvPr/>
        </p:nvGrpSpPr>
        <p:grpSpPr bwMode="auto">
          <a:xfrm>
            <a:off x="6777111" y="1965086"/>
            <a:ext cx="321320" cy="319814"/>
            <a:chOff x="2400" y="1721"/>
            <a:chExt cx="427" cy="425"/>
          </a:xfrm>
          <a:solidFill>
            <a:schemeClr val="tx2"/>
          </a:solidFill>
        </p:grpSpPr>
        <p:sp>
          <p:nvSpPr>
            <p:cNvPr id="27" name="Freeform 74">
              <a:extLst>
                <a:ext uri="{FF2B5EF4-FFF2-40B4-BE49-F238E27FC236}">
                  <a16:creationId xmlns:a16="http://schemas.microsoft.com/office/drawing/2014/main" id="{3844B1B8-D1AD-AAE4-DCC3-BC1B31554301}"/>
                </a:ext>
              </a:extLst>
            </p:cNvPr>
            <p:cNvSpPr>
              <a:spLocks noEditPoints="1"/>
            </p:cNvSpPr>
            <p:nvPr/>
          </p:nvSpPr>
          <p:spPr bwMode="auto">
            <a:xfrm>
              <a:off x="2400" y="1721"/>
              <a:ext cx="427" cy="425"/>
            </a:xfrm>
            <a:custGeom>
              <a:avLst/>
              <a:gdLst>
                <a:gd name="T0" fmla="*/ 234 w 288"/>
                <a:gd name="T1" fmla="*/ 288 h 288"/>
                <a:gd name="T2" fmla="*/ 54 w 288"/>
                <a:gd name="T3" fmla="*/ 288 h 288"/>
                <a:gd name="T4" fmla="*/ 0 w 288"/>
                <a:gd name="T5" fmla="*/ 234 h 288"/>
                <a:gd name="T6" fmla="*/ 0 w 288"/>
                <a:gd name="T7" fmla="*/ 54 h 288"/>
                <a:gd name="T8" fmla="*/ 54 w 288"/>
                <a:gd name="T9" fmla="*/ 0 h 288"/>
                <a:gd name="T10" fmla="*/ 234 w 288"/>
                <a:gd name="T11" fmla="*/ 0 h 288"/>
                <a:gd name="T12" fmla="*/ 288 w 288"/>
                <a:gd name="T13" fmla="*/ 54 h 288"/>
                <a:gd name="T14" fmla="*/ 288 w 288"/>
                <a:gd name="T15" fmla="*/ 234 h 288"/>
                <a:gd name="T16" fmla="*/ 234 w 288"/>
                <a:gd name="T17" fmla="*/ 288 h 288"/>
                <a:gd name="T18" fmla="*/ 54 w 288"/>
                <a:gd name="T19" fmla="*/ 12 h 288"/>
                <a:gd name="T20" fmla="*/ 12 w 288"/>
                <a:gd name="T21" fmla="*/ 54 h 288"/>
                <a:gd name="T22" fmla="*/ 12 w 288"/>
                <a:gd name="T23" fmla="*/ 234 h 288"/>
                <a:gd name="T24" fmla="*/ 54 w 288"/>
                <a:gd name="T25" fmla="*/ 276 h 288"/>
                <a:gd name="T26" fmla="*/ 234 w 288"/>
                <a:gd name="T27" fmla="*/ 276 h 288"/>
                <a:gd name="T28" fmla="*/ 276 w 288"/>
                <a:gd name="T29" fmla="*/ 234 h 288"/>
                <a:gd name="T30" fmla="*/ 276 w 288"/>
                <a:gd name="T31" fmla="*/ 54 h 288"/>
                <a:gd name="T32" fmla="*/ 234 w 288"/>
                <a:gd name="T33" fmla="*/ 12 h 288"/>
                <a:gd name="T34" fmla="*/ 54 w 288"/>
                <a:gd name="T35"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8" h="288">
                  <a:moveTo>
                    <a:pt x="234" y="288"/>
                  </a:moveTo>
                  <a:cubicBezTo>
                    <a:pt x="54" y="288"/>
                    <a:pt x="54" y="288"/>
                    <a:pt x="54" y="288"/>
                  </a:cubicBezTo>
                  <a:cubicBezTo>
                    <a:pt x="24" y="288"/>
                    <a:pt x="0" y="263"/>
                    <a:pt x="0" y="234"/>
                  </a:cubicBezTo>
                  <a:cubicBezTo>
                    <a:pt x="0" y="54"/>
                    <a:pt x="0" y="54"/>
                    <a:pt x="0" y="54"/>
                  </a:cubicBezTo>
                  <a:cubicBezTo>
                    <a:pt x="0" y="24"/>
                    <a:pt x="24" y="0"/>
                    <a:pt x="54" y="0"/>
                  </a:cubicBezTo>
                  <a:cubicBezTo>
                    <a:pt x="234" y="0"/>
                    <a:pt x="234" y="0"/>
                    <a:pt x="234" y="0"/>
                  </a:cubicBezTo>
                  <a:cubicBezTo>
                    <a:pt x="264" y="0"/>
                    <a:pt x="288" y="24"/>
                    <a:pt x="288" y="54"/>
                  </a:cubicBezTo>
                  <a:cubicBezTo>
                    <a:pt x="288" y="234"/>
                    <a:pt x="288" y="234"/>
                    <a:pt x="288" y="234"/>
                  </a:cubicBezTo>
                  <a:cubicBezTo>
                    <a:pt x="288" y="263"/>
                    <a:pt x="264" y="288"/>
                    <a:pt x="234" y="288"/>
                  </a:cubicBezTo>
                  <a:close/>
                  <a:moveTo>
                    <a:pt x="54" y="12"/>
                  </a:moveTo>
                  <a:cubicBezTo>
                    <a:pt x="31" y="12"/>
                    <a:pt x="12" y="30"/>
                    <a:pt x="12" y="54"/>
                  </a:cubicBezTo>
                  <a:cubicBezTo>
                    <a:pt x="12" y="234"/>
                    <a:pt x="12" y="234"/>
                    <a:pt x="12" y="234"/>
                  </a:cubicBezTo>
                  <a:cubicBezTo>
                    <a:pt x="12" y="257"/>
                    <a:pt x="31" y="276"/>
                    <a:pt x="54" y="276"/>
                  </a:cubicBezTo>
                  <a:cubicBezTo>
                    <a:pt x="234" y="276"/>
                    <a:pt x="234" y="276"/>
                    <a:pt x="234" y="276"/>
                  </a:cubicBezTo>
                  <a:cubicBezTo>
                    <a:pt x="257" y="276"/>
                    <a:pt x="276" y="257"/>
                    <a:pt x="276" y="234"/>
                  </a:cubicBezTo>
                  <a:cubicBezTo>
                    <a:pt x="276" y="54"/>
                    <a:pt x="276" y="54"/>
                    <a:pt x="276" y="54"/>
                  </a:cubicBezTo>
                  <a:cubicBezTo>
                    <a:pt x="276" y="30"/>
                    <a:pt x="257" y="12"/>
                    <a:pt x="234" y="12"/>
                  </a:cubicBezTo>
                  <a:lnTo>
                    <a:pt x="5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8" name="Freeform 75">
              <a:extLst>
                <a:ext uri="{FF2B5EF4-FFF2-40B4-BE49-F238E27FC236}">
                  <a16:creationId xmlns:a16="http://schemas.microsoft.com/office/drawing/2014/main" id="{627839D5-741D-9F8F-988F-98F7B947A6D0}"/>
                </a:ext>
              </a:extLst>
            </p:cNvPr>
            <p:cNvSpPr>
              <a:spLocks noEditPoints="1"/>
            </p:cNvSpPr>
            <p:nvPr/>
          </p:nvSpPr>
          <p:spPr bwMode="auto">
            <a:xfrm>
              <a:off x="2557" y="1886"/>
              <a:ext cx="111" cy="111"/>
            </a:xfrm>
            <a:custGeom>
              <a:avLst/>
              <a:gdLst>
                <a:gd name="T0" fmla="*/ 38 w 75"/>
                <a:gd name="T1" fmla="*/ 75 h 75"/>
                <a:gd name="T2" fmla="*/ 0 w 75"/>
                <a:gd name="T3" fmla="*/ 38 h 75"/>
                <a:gd name="T4" fmla="*/ 38 w 75"/>
                <a:gd name="T5" fmla="*/ 0 h 75"/>
                <a:gd name="T6" fmla="*/ 75 w 75"/>
                <a:gd name="T7" fmla="*/ 38 h 75"/>
                <a:gd name="T8" fmla="*/ 38 w 75"/>
                <a:gd name="T9" fmla="*/ 75 h 75"/>
                <a:gd name="T10" fmla="*/ 38 w 75"/>
                <a:gd name="T11" fmla="*/ 12 h 75"/>
                <a:gd name="T12" fmla="*/ 12 w 75"/>
                <a:gd name="T13" fmla="*/ 38 h 75"/>
                <a:gd name="T14" fmla="*/ 38 w 75"/>
                <a:gd name="T15" fmla="*/ 63 h 75"/>
                <a:gd name="T16" fmla="*/ 63 w 75"/>
                <a:gd name="T17" fmla="*/ 38 h 75"/>
                <a:gd name="T18" fmla="*/ 38 w 75"/>
                <a:gd name="T19"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5" h="75">
                  <a:moveTo>
                    <a:pt x="38" y="75"/>
                  </a:moveTo>
                  <a:cubicBezTo>
                    <a:pt x="17" y="75"/>
                    <a:pt x="0" y="58"/>
                    <a:pt x="0" y="38"/>
                  </a:cubicBezTo>
                  <a:cubicBezTo>
                    <a:pt x="0" y="17"/>
                    <a:pt x="17" y="0"/>
                    <a:pt x="38" y="0"/>
                  </a:cubicBezTo>
                  <a:cubicBezTo>
                    <a:pt x="59" y="0"/>
                    <a:pt x="75" y="17"/>
                    <a:pt x="75" y="38"/>
                  </a:cubicBezTo>
                  <a:cubicBezTo>
                    <a:pt x="75" y="58"/>
                    <a:pt x="59" y="75"/>
                    <a:pt x="38" y="75"/>
                  </a:cubicBezTo>
                  <a:close/>
                  <a:moveTo>
                    <a:pt x="38" y="12"/>
                  </a:moveTo>
                  <a:cubicBezTo>
                    <a:pt x="24" y="12"/>
                    <a:pt x="12" y="24"/>
                    <a:pt x="12" y="38"/>
                  </a:cubicBezTo>
                  <a:cubicBezTo>
                    <a:pt x="12" y="52"/>
                    <a:pt x="24" y="63"/>
                    <a:pt x="38" y="63"/>
                  </a:cubicBezTo>
                  <a:cubicBezTo>
                    <a:pt x="52" y="63"/>
                    <a:pt x="63" y="52"/>
                    <a:pt x="63" y="38"/>
                  </a:cubicBezTo>
                  <a:cubicBezTo>
                    <a:pt x="63" y="24"/>
                    <a:pt x="52" y="12"/>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9" name="Freeform 76">
              <a:extLst>
                <a:ext uri="{FF2B5EF4-FFF2-40B4-BE49-F238E27FC236}">
                  <a16:creationId xmlns:a16="http://schemas.microsoft.com/office/drawing/2014/main" id="{D776649D-7905-66EC-85DA-EE5B660B9E81}"/>
                </a:ext>
              </a:extLst>
            </p:cNvPr>
            <p:cNvSpPr>
              <a:spLocks noEditPoints="1"/>
            </p:cNvSpPr>
            <p:nvPr/>
          </p:nvSpPr>
          <p:spPr bwMode="auto">
            <a:xfrm>
              <a:off x="2482" y="1809"/>
              <a:ext cx="265" cy="266"/>
            </a:xfrm>
            <a:custGeom>
              <a:avLst/>
              <a:gdLst>
                <a:gd name="T0" fmla="*/ 69 w 179"/>
                <a:gd name="T1" fmla="*/ 180 h 180"/>
                <a:gd name="T2" fmla="*/ 63 w 179"/>
                <a:gd name="T3" fmla="*/ 159 h 180"/>
                <a:gd name="T4" fmla="*/ 30 w 179"/>
                <a:gd name="T5" fmla="*/ 155 h 180"/>
                <a:gd name="T6" fmla="*/ 1 w 179"/>
                <a:gd name="T7" fmla="*/ 116 h 180"/>
                <a:gd name="T8" fmla="*/ 3 w 179"/>
                <a:gd name="T9" fmla="*/ 108 h 180"/>
                <a:gd name="T10" fmla="*/ 15 w 179"/>
                <a:gd name="T11" fmla="*/ 90 h 180"/>
                <a:gd name="T12" fmla="*/ 3 w 179"/>
                <a:gd name="T13" fmla="*/ 71 h 180"/>
                <a:gd name="T14" fmla="*/ 1 w 179"/>
                <a:gd name="T15" fmla="*/ 63 h 180"/>
                <a:gd name="T16" fmla="*/ 30 w 179"/>
                <a:gd name="T17" fmla="*/ 24 h 180"/>
                <a:gd name="T18" fmla="*/ 63 w 179"/>
                <a:gd name="T19" fmla="*/ 20 h 180"/>
                <a:gd name="T20" fmla="*/ 69 w 179"/>
                <a:gd name="T21" fmla="*/ 0 h 180"/>
                <a:gd name="T22" fmla="*/ 117 w 179"/>
                <a:gd name="T23" fmla="*/ 6 h 180"/>
                <a:gd name="T24" fmla="*/ 136 w 179"/>
                <a:gd name="T25" fmla="*/ 32 h 180"/>
                <a:gd name="T26" fmla="*/ 153 w 179"/>
                <a:gd name="T27" fmla="*/ 24 h 180"/>
                <a:gd name="T28" fmla="*/ 177 w 179"/>
                <a:gd name="T29" fmla="*/ 63 h 180"/>
                <a:gd name="T30" fmla="*/ 175 w 179"/>
                <a:gd name="T31" fmla="*/ 71 h 180"/>
                <a:gd name="T32" fmla="*/ 163 w 179"/>
                <a:gd name="T33" fmla="*/ 90 h 180"/>
                <a:gd name="T34" fmla="*/ 175 w 179"/>
                <a:gd name="T35" fmla="*/ 108 h 180"/>
                <a:gd name="T36" fmla="*/ 157 w 179"/>
                <a:gd name="T37" fmla="*/ 153 h 180"/>
                <a:gd name="T38" fmla="*/ 148 w 179"/>
                <a:gd name="T39" fmla="*/ 155 h 180"/>
                <a:gd name="T40" fmla="*/ 117 w 179"/>
                <a:gd name="T41" fmla="*/ 159 h 180"/>
                <a:gd name="T42" fmla="*/ 111 w 179"/>
                <a:gd name="T43" fmla="*/ 180 h 180"/>
                <a:gd name="T44" fmla="*/ 105 w 179"/>
                <a:gd name="T45" fmla="*/ 168 h 180"/>
                <a:gd name="T46" fmla="*/ 109 w 179"/>
                <a:gd name="T47" fmla="*/ 149 h 180"/>
                <a:gd name="T48" fmla="*/ 138 w 179"/>
                <a:gd name="T49" fmla="*/ 135 h 180"/>
                <a:gd name="T50" fmla="*/ 164 w 179"/>
                <a:gd name="T51" fmla="*/ 116 h 180"/>
                <a:gd name="T52" fmla="*/ 150 w 179"/>
                <a:gd name="T53" fmla="*/ 103 h 180"/>
                <a:gd name="T54" fmla="*/ 150 w 179"/>
                <a:gd name="T55" fmla="*/ 77 h 180"/>
                <a:gd name="T56" fmla="*/ 164 w 179"/>
                <a:gd name="T57" fmla="*/ 64 h 180"/>
                <a:gd name="T58" fmla="*/ 138 w 179"/>
                <a:gd name="T59" fmla="*/ 44 h 180"/>
                <a:gd name="T60" fmla="*/ 109 w 179"/>
                <a:gd name="T61" fmla="*/ 30 h 180"/>
                <a:gd name="T62" fmla="*/ 105 w 179"/>
                <a:gd name="T63" fmla="*/ 12 h 180"/>
                <a:gd name="T64" fmla="*/ 75 w 179"/>
                <a:gd name="T65" fmla="*/ 25 h 180"/>
                <a:gd name="T66" fmla="*/ 48 w 179"/>
                <a:gd name="T67" fmla="*/ 43 h 180"/>
                <a:gd name="T68" fmla="*/ 29 w 179"/>
                <a:gd name="T69" fmla="*/ 38 h 180"/>
                <a:gd name="T70" fmla="*/ 25 w 179"/>
                <a:gd name="T71" fmla="*/ 70 h 180"/>
                <a:gd name="T72" fmla="*/ 27 w 179"/>
                <a:gd name="T73" fmla="*/ 90 h 180"/>
                <a:gd name="T74" fmla="*/ 25 w 179"/>
                <a:gd name="T75" fmla="*/ 109 h 180"/>
                <a:gd name="T76" fmla="*/ 29 w 179"/>
                <a:gd name="T77" fmla="*/ 142 h 180"/>
                <a:gd name="T78" fmla="*/ 48 w 179"/>
                <a:gd name="T79" fmla="*/ 136 h 180"/>
                <a:gd name="T80" fmla="*/ 75 w 179"/>
                <a:gd name="T81" fmla="*/ 155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9" h="180">
                  <a:moveTo>
                    <a:pt x="111" y="180"/>
                  </a:moveTo>
                  <a:cubicBezTo>
                    <a:pt x="69" y="180"/>
                    <a:pt x="69" y="180"/>
                    <a:pt x="69" y="180"/>
                  </a:cubicBezTo>
                  <a:cubicBezTo>
                    <a:pt x="65" y="180"/>
                    <a:pt x="63" y="177"/>
                    <a:pt x="63" y="174"/>
                  </a:cubicBezTo>
                  <a:cubicBezTo>
                    <a:pt x="63" y="159"/>
                    <a:pt x="63" y="159"/>
                    <a:pt x="63" y="159"/>
                  </a:cubicBezTo>
                  <a:cubicBezTo>
                    <a:pt x="56" y="156"/>
                    <a:pt x="49" y="153"/>
                    <a:pt x="43" y="148"/>
                  </a:cubicBezTo>
                  <a:cubicBezTo>
                    <a:pt x="30" y="155"/>
                    <a:pt x="30" y="155"/>
                    <a:pt x="30" y="155"/>
                  </a:cubicBezTo>
                  <a:cubicBezTo>
                    <a:pt x="27" y="157"/>
                    <a:pt x="23" y="156"/>
                    <a:pt x="22" y="153"/>
                  </a:cubicBezTo>
                  <a:cubicBezTo>
                    <a:pt x="1" y="116"/>
                    <a:pt x="1" y="116"/>
                    <a:pt x="1" y="116"/>
                  </a:cubicBezTo>
                  <a:cubicBezTo>
                    <a:pt x="0" y="115"/>
                    <a:pt x="0" y="113"/>
                    <a:pt x="0" y="112"/>
                  </a:cubicBezTo>
                  <a:cubicBezTo>
                    <a:pt x="0" y="110"/>
                    <a:pt x="1" y="109"/>
                    <a:pt x="3" y="108"/>
                  </a:cubicBezTo>
                  <a:cubicBezTo>
                    <a:pt x="16" y="101"/>
                    <a:pt x="16" y="101"/>
                    <a:pt x="16" y="101"/>
                  </a:cubicBezTo>
                  <a:cubicBezTo>
                    <a:pt x="15" y="97"/>
                    <a:pt x="15" y="93"/>
                    <a:pt x="15" y="90"/>
                  </a:cubicBezTo>
                  <a:cubicBezTo>
                    <a:pt x="15" y="86"/>
                    <a:pt x="15" y="82"/>
                    <a:pt x="16" y="78"/>
                  </a:cubicBezTo>
                  <a:cubicBezTo>
                    <a:pt x="3" y="71"/>
                    <a:pt x="3" y="71"/>
                    <a:pt x="3" y="71"/>
                  </a:cubicBezTo>
                  <a:cubicBezTo>
                    <a:pt x="1" y="70"/>
                    <a:pt x="0" y="69"/>
                    <a:pt x="0" y="67"/>
                  </a:cubicBezTo>
                  <a:cubicBezTo>
                    <a:pt x="0" y="66"/>
                    <a:pt x="0" y="64"/>
                    <a:pt x="1" y="63"/>
                  </a:cubicBezTo>
                  <a:cubicBezTo>
                    <a:pt x="22" y="26"/>
                    <a:pt x="22" y="26"/>
                    <a:pt x="22" y="26"/>
                  </a:cubicBezTo>
                  <a:cubicBezTo>
                    <a:pt x="23" y="24"/>
                    <a:pt x="27" y="23"/>
                    <a:pt x="30" y="24"/>
                  </a:cubicBezTo>
                  <a:cubicBezTo>
                    <a:pt x="43" y="32"/>
                    <a:pt x="43" y="32"/>
                    <a:pt x="43" y="32"/>
                  </a:cubicBezTo>
                  <a:cubicBezTo>
                    <a:pt x="49" y="27"/>
                    <a:pt x="56" y="23"/>
                    <a:pt x="63" y="20"/>
                  </a:cubicBezTo>
                  <a:cubicBezTo>
                    <a:pt x="63" y="6"/>
                    <a:pt x="63" y="6"/>
                    <a:pt x="63" y="6"/>
                  </a:cubicBezTo>
                  <a:cubicBezTo>
                    <a:pt x="63" y="2"/>
                    <a:pt x="65" y="0"/>
                    <a:pt x="69" y="0"/>
                  </a:cubicBezTo>
                  <a:cubicBezTo>
                    <a:pt x="111" y="0"/>
                    <a:pt x="111" y="0"/>
                    <a:pt x="111" y="0"/>
                  </a:cubicBezTo>
                  <a:cubicBezTo>
                    <a:pt x="114" y="0"/>
                    <a:pt x="117" y="2"/>
                    <a:pt x="117" y="6"/>
                  </a:cubicBezTo>
                  <a:cubicBezTo>
                    <a:pt x="117" y="20"/>
                    <a:pt x="117" y="20"/>
                    <a:pt x="117" y="20"/>
                  </a:cubicBezTo>
                  <a:cubicBezTo>
                    <a:pt x="124" y="23"/>
                    <a:pt x="130" y="27"/>
                    <a:pt x="136" y="32"/>
                  </a:cubicBezTo>
                  <a:cubicBezTo>
                    <a:pt x="148" y="24"/>
                    <a:pt x="148" y="24"/>
                    <a:pt x="148" y="24"/>
                  </a:cubicBezTo>
                  <a:cubicBezTo>
                    <a:pt x="150" y="23"/>
                    <a:pt x="151" y="23"/>
                    <a:pt x="153" y="24"/>
                  </a:cubicBezTo>
                  <a:cubicBezTo>
                    <a:pt x="154" y="24"/>
                    <a:pt x="156" y="25"/>
                    <a:pt x="156" y="26"/>
                  </a:cubicBezTo>
                  <a:cubicBezTo>
                    <a:pt x="177" y="63"/>
                    <a:pt x="177" y="63"/>
                    <a:pt x="177" y="63"/>
                  </a:cubicBezTo>
                  <a:cubicBezTo>
                    <a:pt x="178" y="64"/>
                    <a:pt x="178" y="66"/>
                    <a:pt x="178" y="67"/>
                  </a:cubicBezTo>
                  <a:cubicBezTo>
                    <a:pt x="178" y="69"/>
                    <a:pt x="177" y="70"/>
                    <a:pt x="175" y="71"/>
                  </a:cubicBezTo>
                  <a:cubicBezTo>
                    <a:pt x="162" y="78"/>
                    <a:pt x="162" y="78"/>
                    <a:pt x="162" y="78"/>
                  </a:cubicBezTo>
                  <a:cubicBezTo>
                    <a:pt x="163" y="82"/>
                    <a:pt x="163" y="86"/>
                    <a:pt x="163" y="90"/>
                  </a:cubicBezTo>
                  <a:cubicBezTo>
                    <a:pt x="163" y="93"/>
                    <a:pt x="163" y="97"/>
                    <a:pt x="162" y="101"/>
                  </a:cubicBezTo>
                  <a:cubicBezTo>
                    <a:pt x="175" y="108"/>
                    <a:pt x="175" y="108"/>
                    <a:pt x="175" y="108"/>
                  </a:cubicBezTo>
                  <a:cubicBezTo>
                    <a:pt x="178" y="110"/>
                    <a:pt x="179" y="114"/>
                    <a:pt x="178" y="116"/>
                  </a:cubicBezTo>
                  <a:cubicBezTo>
                    <a:pt x="157" y="153"/>
                    <a:pt x="157" y="153"/>
                    <a:pt x="157" y="153"/>
                  </a:cubicBezTo>
                  <a:cubicBezTo>
                    <a:pt x="156" y="154"/>
                    <a:pt x="154" y="155"/>
                    <a:pt x="153" y="156"/>
                  </a:cubicBezTo>
                  <a:cubicBezTo>
                    <a:pt x="151" y="156"/>
                    <a:pt x="150" y="156"/>
                    <a:pt x="148" y="155"/>
                  </a:cubicBezTo>
                  <a:cubicBezTo>
                    <a:pt x="136" y="148"/>
                    <a:pt x="136" y="148"/>
                    <a:pt x="136" y="148"/>
                  </a:cubicBezTo>
                  <a:cubicBezTo>
                    <a:pt x="130" y="152"/>
                    <a:pt x="124" y="156"/>
                    <a:pt x="117" y="159"/>
                  </a:cubicBezTo>
                  <a:cubicBezTo>
                    <a:pt x="117" y="174"/>
                    <a:pt x="117" y="174"/>
                    <a:pt x="117" y="174"/>
                  </a:cubicBezTo>
                  <a:cubicBezTo>
                    <a:pt x="117" y="177"/>
                    <a:pt x="114" y="180"/>
                    <a:pt x="111" y="180"/>
                  </a:cubicBezTo>
                  <a:close/>
                  <a:moveTo>
                    <a:pt x="75" y="168"/>
                  </a:moveTo>
                  <a:cubicBezTo>
                    <a:pt x="105" y="168"/>
                    <a:pt x="105" y="168"/>
                    <a:pt x="105" y="168"/>
                  </a:cubicBezTo>
                  <a:cubicBezTo>
                    <a:pt x="105" y="155"/>
                    <a:pt x="105" y="155"/>
                    <a:pt x="105" y="155"/>
                  </a:cubicBezTo>
                  <a:cubicBezTo>
                    <a:pt x="105" y="152"/>
                    <a:pt x="107" y="150"/>
                    <a:pt x="109" y="149"/>
                  </a:cubicBezTo>
                  <a:cubicBezTo>
                    <a:pt x="118" y="146"/>
                    <a:pt x="124" y="142"/>
                    <a:pt x="131" y="136"/>
                  </a:cubicBezTo>
                  <a:cubicBezTo>
                    <a:pt x="133" y="134"/>
                    <a:pt x="136" y="134"/>
                    <a:pt x="138" y="135"/>
                  </a:cubicBezTo>
                  <a:cubicBezTo>
                    <a:pt x="149" y="142"/>
                    <a:pt x="149" y="142"/>
                    <a:pt x="149" y="142"/>
                  </a:cubicBezTo>
                  <a:cubicBezTo>
                    <a:pt x="164" y="116"/>
                    <a:pt x="164" y="116"/>
                    <a:pt x="164" y="116"/>
                  </a:cubicBezTo>
                  <a:cubicBezTo>
                    <a:pt x="153" y="109"/>
                    <a:pt x="153" y="109"/>
                    <a:pt x="153" y="109"/>
                  </a:cubicBezTo>
                  <a:cubicBezTo>
                    <a:pt x="151" y="108"/>
                    <a:pt x="149" y="105"/>
                    <a:pt x="150" y="103"/>
                  </a:cubicBezTo>
                  <a:cubicBezTo>
                    <a:pt x="151" y="99"/>
                    <a:pt x="151" y="94"/>
                    <a:pt x="151" y="90"/>
                  </a:cubicBezTo>
                  <a:cubicBezTo>
                    <a:pt x="151" y="85"/>
                    <a:pt x="151" y="81"/>
                    <a:pt x="150" y="77"/>
                  </a:cubicBezTo>
                  <a:cubicBezTo>
                    <a:pt x="149" y="74"/>
                    <a:pt x="150" y="71"/>
                    <a:pt x="153" y="70"/>
                  </a:cubicBezTo>
                  <a:cubicBezTo>
                    <a:pt x="164" y="64"/>
                    <a:pt x="164" y="64"/>
                    <a:pt x="164" y="64"/>
                  </a:cubicBezTo>
                  <a:cubicBezTo>
                    <a:pt x="149" y="38"/>
                    <a:pt x="149" y="38"/>
                    <a:pt x="149" y="38"/>
                  </a:cubicBezTo>
                  <a:cubicBezTo>
                    <a:pt x="138" y="44"/>
                    <a:pt x="138" y="44"/>
                    <a:pt x="138" y="44"/>
                  </a:cubicBezTo>
                  <a:cubicBezTo>
                    <a:pt x="136" y="46"/>
                    <a:pt x="133" y="45"/>
                    <a:pt x="131" y="43"/>
                  </a:cubicBezTo>
                  <a:cubicBezTo>
                    <a:pt x="124" y="37"/>
                    <a:pt x="118" y="33"/>
                    <a:pt x="109" y="30"/>
                  </a:cubicBezTo>
                  <a:cubicBezTo>
                    <a:pt x="107" y="30"/>
                    <a:pt x="105" y="27"/>
                    <a:pt x="105" y="25"/>
                  </a:cubicBezTo>
                  <a:cubicBezTo>
                    <a:pt x="105" y="12"/>
                    <a:pt x="105" y="12"/>
                    <a:pt x="105" y="12"/>
                  </a:cubicBezTo>
                  <a:cubicBezTo>
                    <a:pt x="75" y="12"/>
                    <a:pt x="75" y="12"/>
                    <a:pt x="75" y="12"/>
                  </a:cubicBezTo>
                  <a:cubicBezTo>
                    <a:pt x="75" y="25"/>
                    <a:pt x="75" y="25"/>
                    <a:pt x="75" y="25"/>
                  </a:cubicBezTo>
                  <a:cubicBezTo>
                    <a:pt x="75" y="27"/>
                    <a:pt x="73" y="30"/>
                    <a:pt x="70" y="30"/>
                  </a:cubicBezTo>
                  <a:cubicBezTo>
                    <a:pt x="62" y="33"/>
                    <a:pt x="55" y="37"/>
                    <a:pt x="48" y="43"/>
                  </a:cubicBezTo>
                  <a:cubicBezTo>
                    <a:pt x="46" y="45"/>
                    <a:pt x="43" y="46"/>
                    <a:pt x="41" y="44"/>
                  </a:cubicBezTo>
                  <a:cubicBezTo>
                    <a:pt x="29" y="38"/>
                    <a:pt x="29" y="38"/>
                    <a:pt x="29" y="38"/>
                  </a:cubicBezTo>
                  <a:cubicBezTo>
                    <a:pt x="14" y="64"/>
                    <a:pt x="14" y="64"/>
                    <a:pt x="14" y="64"/>
                  </a:cubicBezTo>
                  <a:cubicBezTo>
                    <a:pt x="25" y="70"/>
                    <a:pt x="25" y="70"/>
                    <a:pt x="25" y="70"/>
                  </a:cubicBezTo>
                  <a:cubicBezTo>
                    <a:pt x="28" y="71"/>
                    <a:pt x="29" y="74"/>
                    <a:pt x="28" y="77"/>
                  </a:cubicBezTo>
                  <a:cubicBezTo>
                    <a:pt x="27" y="81"/>
                    <a:pt x="27" y="85"/>
                    <a:pt x="27" y="90"/>
                  </a:cubicBezTo>
                  <a:cubicBezTo>
                    <a:pt x="27" y="94"/>
                    <a:pt x="27" y="98"/>
                    <a:pt x="28" y="103"/>
                  </a:cubicBezTo>
                  <a:cubicBezTo>
                    <a:pt x="29" y="105"/>
                    <a:pt x="28" y="108"/>
                    <a:pt x="25" y="109"/>
                  </a:cubicBezTo>
                  <a:cubicBezTo>
                    <a:pt x="14" y="116"/>
                    <a:pt x="14" y="116"/>
                    <a:pt x="14" y="116"/>
                  </a:cubicBezTo>
                  <a:cubicBezTo>
                    <a:pt x="29" y="142"/>
                    <a:pt x="29" y="142"/>
                    <a:pt x="29" y="142"/>
                  </a:cubicBezTo>
                  <a:cubicBezTo>
                    <a:pt x="41" y="135"/>
                    <a:pt x="41" y="135"/>
                    <a:pt x="41" y="135"/>
                  </a:cubicBezTo>
                  <a:cubicBezTo>
                    <a:pt x="43" y="134"/>
                    <a:pt x="46" y="134"/>
                    <a:pt x="48" y="136"/>
                  </a:cubicBezTo>
                  <a:cubicBezTo>
                    <a:pt x="55" y="142"/>
                    <a:pt x="62" y="146"/>
                    <a:pt x="70" y="149"/>
                  </a:cubicBezTo>
                  <a:cubicBezTo>
                    <a:pt x="73" y="150"/>
                    <a:pt x="75" y="152"/>
                    <a:pt x="75" y="155"/>
                  </a:cubicBezTo>
                  <a:lnTo>
                    <a:pt x="7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nvGrpSpPr>
          <p:cNvPr id="30" name="Group 40">
            <a:extLst>
              <a:ext uri="{FF2B5EF4-FFF2-40B4-BE49-F238E27FC236}">
                <a16:creationId xmlns:a16="http://schemas.microsoft.com/office/drawing/2014/main" id="{FF61830C-9893-1AB8-65E7-E5A0320A6477}"/>
              </a:ext>
            </a:extLst>
          </p:cNvPr>
          <p:cNvGrpSpPr>
            <a:grpSpLocks noChangeAspect="1"/>
          </p:cNvGrpSpPr>
          <p:nvPr/>
        </p:nvGrpSpPr>
        <p:grpSpPr bwMode="auto">
          <a:xfrm>
            <a:off x="10014370" y="1963973"/>
            <a:ext cx="341264" cy="322038"/>
            <a:chOff x="4662" y="607"/>
            <a:chExt cx="426" cy="402"/>
          </a:xfrm>
          <a:solidFill>
            <a:schemeClr val="tx2"/>
          </a:solidFill>
        </p:grpSpPr>
        <p:sp>
          <p:nvSpPr>
            <p:cNvPr id="31" name="Freeform 41">
              <a:extLst>
                <a:ext uri="{FF2B5EF4-FFF2-40B4-BE49-F238E27FC236}">
                  <a16:creationId xmlns:a16="http://schemas.microsoft.com/office/drawing/2014/main" id="{1F78ED3C-617A-8104-2C44-E618ABCA7056}"/>
                </a:ext>
              </a:extLst>
            </p:cNvPr>
            <p:cNvSpPr>
              <a:spLocks/>
            </p:cNvSpPr>
            <p:nvPr/>
          </p:nvSpPr>
          <p:spPr bwMode="auto">
            <a:xfrm>
              <a:off x="4662" y="992"/>
              <a:ext cx="426" cy="17"/>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9"/>
                    <a:pt x="0" y="6"/>
                  </a:cubicBezTo>
                  <a:cubicBezTo>
                    <a:pt x="0" y="2"/>
                    <a:pt x="3" y="0"/>
                    <a:pt x="6" y="0"/>
                  </a:cubicBezTo>
                  <a:cubicBezTo>
                    <a:pt x="282" y="0"/>
                    <a:pt x="282" y="0"/>
                    <a:pt x="282" y="0"/>
                  </a:cubicBezTo>
                  <a:cubicBezTo>
                    <a:pt x="286" y="0"/>
                    <a:pt x="288" y="2"/>
                    <a:pt x="288" y="6"/>
                  </a:cubicBezTo>
                  <a:cubicBezTo>
                    <a:pt x="288" y="9"/>
                    <a:pt x="28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52" name="Freeform 42">
              <a:extLst>
                <a:ext uri="{FF2B5EF4-FFF2-40B4-BE49-F238E27FC236}">
                  <a16:creationId xmlns:a16="http://schemas.microsoft.com/office/drawing/2014/main" id="{2A91B00D-0B77-AC17-8A58-589532AD805C}"/>
                </a:ext>
              </a:extLst>
            </p:cNvPr>
            <p:cNvSpPr>
              <a:spLocks noEditPoints="1"/>
            </p:cNvSpPr>
            <p:nvPr/>
          </p:nvSpPr>
          <p:spPr bwMode="auto">
            <a:xfrm>
              <a:off x="4999" y="940"/>
              <a:ext cx="71" cy="69"/>
            </a:xfrm>
            <a:custGeom>
              <a:avLst/>
              <a:gdLst>
                <a:gd name="T0" fmla="*/ 42 w 48"/>
                <a:gd name="T1" fmla="*/ 48 h 48"/>
                <a:gd name="T2" fmla="*/ 6 w 48"/>
                <a:gd name="T3" fmla="*/ 48 h 48"/>
                <a:gd name="T4" fmla="*/ 0 w 48"/>
                <a:gd name="T5" fmla="*/ 42 h 48"/>
                <a:gd name="T6" fmla="*/ 0 w 48"/>
                <a:gd name="T7" fmla="*/ 6 h 48"/>
                <a:gd name="T8" fmla="*/ 6 w 48"/>
                <a:gd name="T9" fmla="*/ 0 h 48"/>
                <a:gd name="T10" fmla="*/ 42 w 48"/>
                <a:gd name="T11" fmla="*/ 0 h 48"/>
                <a:gd name="T12" fmla="*/ 48 w 48"/>
                <a:gd name="T13" fmla="*/ 6 h 48"/>
                <a:gd name="T14" fmla="*/ 48 w 48"/>
                <a:gd name="T15" fmla="*/ 42 h 48"/>
                <a:gd name="T16" fmla="*/ 42 w 48"/>
                <a:gd name="T17" fmla="*/ 48 h 48"/>
                <a:gd name="T18" fmla="*/ 12 w 48"/>
                <a:gd name="T19" fmla="*/ 36 h 48"/>
                <a:gd name="T20" fmla="*/ 36 w 48"/>
                <a:gd name="T21" fmla="*/ 36 h 48"/>
                <a:gd name="T22" fmla="*/ 36 w 48"/>
                <a:gd name="T23" fmla="*/ 12 h 48"/>
                <a:gd name="T24" fmla="*/ 12 w 48"/>
                <a:gd name="T25" fmla="*/ 12 h 48"/>
                <a:gd name="T26" fmla="*/ 12 w 48"/>
                <a:gd name="T27"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2" y="48"/>
                  </a:moveTo>
                  <a:cubicBezTo>
                    <a:pt x="6" y="48"/>
                    <a:pt x="6" y="48"/>
                    <a:pt x="6" y="48"/>
                  </a:cubicBezTo>
                  <a:cubicBezTo>
                    <a:pt x="3" y="48"/>
                    <a:pt x="0" y="45"/>
                    <a:pt x="0" y="42"/>
                  </a:cubicBezTo>
                  <a:cubicBezTo>
                    <a:pt x="0" y="6"/>
                    <a:pt x="0" y="6"/>
                    <a:pt x="0" y="6"/>
                  </a:cubicBezTo>
                  <a:cubicBezTo>
                    <a:pt x="0" y="2"/>
                    <a:pt x="3" y="0"/>
                    <a:pt x="6" y="0"/>
                  </a:cubicBezTo>
                  <a:cubicBezTo>
                    <a:pt x="42" y="0"/>
                    <a:pt x="42" y="0"/>
                    <a:pt x="42" y="0"/>
                  </a:cubicBezTo>
                  <a:cubicBezTo>
                    <a:pt x="46" y="0"/>
                    <a:pt x="48" y="2"/>
                    <a:pt x="48" y="6"/>
                  </a:cubicBezTo>
                  <a:cubicBezTo>
                    <a:pt x="48" y="42"/>
                    <a:pt x="48" y="42"/>
                    <a:pt x="48" y="42"/>
                  </a:cubicBezTo>
                  <a:cubicBezTo>
                    <a:pt x="48" y="45"/>
                    <a:pt x="46" y="48"/>
                    <a:pt x="42" y="48"/>
                  </a:cubicBezTo>
                  <a:close/>
                  <a:moveTo>
                    <a:pt x="12" y="36"/>
                  </a:moveTo>
                  <a:cubicBezTo>
                    <a:pt x="36" y="36"/>
                    <a:pt x="36" y="36"/>
                    <a:pt x="36" y="36"/>
                  </a:cubicBezTo>
                  <a:cubicBezTo>
                    <a:pt x="36" y="12"/>
                    <a:pt x="36" y="12"/>
                    <a:pt x="36"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53" name="Freeform 43">
              <a:extLst>
                <a:ext uri="{FF2B5EF4-FFF2-40B4-BE49-F238E27FC236}">
                  <a16:creationId xmlns:a16="http://schemas.microsoft.com/office/drawing/2014/main" id="{2CE52F56-D85E-357A-34D2-95C389E8FFFE}"/>
                </a:ext>
              </a:extLst>
            </p:cNvPr>
            <p:cNvSpPr>
              <a:spLocks noEditPoints="1"/>
            </p:cNvSpPr>
            <p:nvPr/>
          </p:nvSpPr>
          <p:spPr bwMode="auto">
            <a:xfrm>
              <a:off x="4893" y="870"/>
              <a:ext cx="71" cy="139"/>
            </a:xfrm>
            <a:custGeom>
              <a:avLst/>
              <a:gdLst>
                <a:gd name="T0" fmla="*/ 42 w 48"/>
                <a:gd name="T1" fmla="*/ 96 h 96"/>
                <a:gd name="T2" fmla="*/ 6 w 48"/>
                <a:gd name="T3" fmla="*/ 96 h 96"/>
                <a:gd name="T4" fmla="*/ 0 w 48"/>
                <a:gd name="T5" fmla="*/ 90 h 96"/>
                <a:gd name="T6" fmla="*/ 0 w 48"/>
                <a:gd name="T7" fmla="*/ 6 h 96"/>
                <a:gd name="T8" fmla="*/ 6 w 48"/>
                <a:gd name="T9" fmla="*/ 0 h 96"/>
                <a:gd name="T10" fmla="*/ 42 w 48"/>
                <a:gd name="T11" fmla="*/ 0 h 96"/>
                <a:gd name="T12" fmla="*/ 48 w 48"/>
                <a:gd name="T13" fmla="*/ 6 h 96"/>
                <a:gd name="T14" fmla="*/ 48 w 48"/>
                <a:gd name="T15" fmla="*/ 90 h 96"/>
                <a:gd name="T16" fmla="*/ 42 w 48"/>
                <a:gd name="T17" fmla="*/ 96 h 96"/>
                <a:gd name="T18" fmla="*/ 12 w 48"/>
                <a:gd name="T19" fmla="*/ 84 h 96"/>
                <a:gd name="T20" fmla="*/ 36 w 48"/>
                <a:gd name="T21" fmla="*/ 84 h 96"/>
                <a:gd name="T22" fmla="*/ 36 w 48"/>
                <a:gd name="T23" fmla="*/ 12 h 96"/>
                <a:gd name="T24" fmla="*/ 12 w 48"/>
                <a:gd name="T25" fmla="*/ 12 h 96"/>
                <a:gd name="T26" fmla="*/ 12 w 48"/>
                <a:gd name="T27"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96">
                  <a:moveTo>
                    <a:pt x="42" y="96"/>
                  </a:moveTo>
                  <a:cubicBezTo>
                    <a:pt x="6" y="96"/>
                    <a:pt x="6" y="96"/>
                    <a:pt x="6" y="96"/>
                  </a:cubicBezTo>
                  <a:cubicBezTo>
                    <a:pt x="3" y="96"/>
                    <a:pt x="0" y="93"/>
                    <a:pt x="0" y="90"/>
                  </a:cubicBezTo>
                  <a:cubicBezTo>
                    <a:pt x="0" y="6"/>
                    <a:pt x="0" y="6"/>
                    <a:pt x="0" y="6"/>
                  </a:cubicBezTo>
                  <a:cubicBezTo>
                    <a:pt x="0" y="2"/>
                    <a:pt x="3" y="0"/>
                    <a:pt x="6" y="0"/>
                  </a:cubicBezTo>
                  <a:cubicBezTo>
                    <a:pt x="42" y="0"/>
                    <a:pt x="42" y="0"/>
                    <a:pt x="42" y="0"/>
                  </a:cubicBezTo>
                  <a:cubicBezTo>
                    <a:pt x="46" y="0"/>
                    <a:pt x="48" y="2"/>
                    <a:pt x="48" y="6"/>
                  </a:cubicBezTo>
                  <a:cubicBezTo>
                    <a:pt x="48" y="90"/>
                    <a:pt x="48" y="90"/>
                    <a:pt x="48" y="90"/>
                  </a:cubicBezTo>
                  <a:cubicBezTo>
                    <a:pt x="48" y="93"/>
                    <a:pt x="46" y="96"/>
                    <a:pt x="42" y="96"/>
                  </a:cubicBezTo>
                  <a:close/>
                  <a:moveTo>
                    <a:pt x="12" y="84"/>
                  </a:moveTo>
                  <a:cubicBezTo>
                    <a:pt x="36" y="84"/>
                    <a:pt x="36" y="84"/>
                    <a:pt x="36" y="84"/>
                  </a:cubicBezTo>
                  <a:cubicBezTo>
                    <a:pt x="36" y="12"/>
                    <a:pt x="36" y="12"/>
                    <a:pt x="36"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55" name="Freeform 44">
              <a:extLst>
                <a:ext uri="{FF2B5EF4-FFF2-40B4-BE49-F238E27FC236}">
                  <a16:creationId xmlns:a16="http://schemas.microsoft.com/office/drawing/2014/main" id="{295E6E3B-A068-5D70-A30F-E9FB45007B10}"/>
                </a:ext>
              </a:extLst>
            </p:cNvPr>
            <p:cNvSpPr>
              <a:spLocks noEditPoints="1"/>
            </p:cNvSpPr>
            <p:nvPr/>
          </p:nvSpPr>
          <p:spPr bwMode="auto">
            <a:xfrm>
              <a:off x="4786" y="801"/>
              <a:ext cx="71" cy="208"/>
            </a:xfrm>
            <a:custGeom>
              <a:avLst/>
              <a:gdLst>
                <a:gd name="T0" fmla="*/ 42 w 48"/>
                <a:gd name="T1" fmla="*/ 144 h 144"/>
                <a:gd name="T2" fmla="*/ 6 w 48"/>
                <a:gd name="T3" fmla="*/ 144 h 144"/>
                <a:gd name="T4" fmla="*/ 0 w 48"/>
                <a:gd name="T5" fmla="*/ 138 h 144"/>
                <a:gd name="T6" fmla="*/ 0 w 48"/>
                <a:gd name="T7" fmla="*/ 6 h 144"/>
                <a:gd name="T8" fmla="*/ 6 w 48"/>
                <a:gd name="T9" fmla="*/ 0 h 144"/>
                <a:gd name="T10" fmla="*/ 42 w 48"/>
                <a:gd name="T11" fmla="*/ 0 h 144"/>
                <a:gd name="T12" fmla="*/ 48 w 48"/>
                <a:gd name="T13" fmla="*/ 6 h 144"/>
                <a:gd name="T14" fmla="*/ 48 w 48"/>
                <a:gd name="T15" fmla="*/ 138 h 144"/>
                <a:gd name="T16" fmla="*/ 42 w 48"/>
                <a:gd name="T17" fmla="*/ 144 h 144"/>
                <a:gd name="T18" fmla="*/ 12 w 48"/>
                <a:gd name="T19" fmla="*/ 132 h 144"/>
                <a:gd name="T20" fmla="*/ 36 w 48"/>
                <a:gd name="T21" fmla="*/ 132 h 144"/>
                <a:gd name="T22" fmla="*/ 36 w 48"/>
                <a:gd name="T23" fmla="*/ 12 h 144"/>
                <a:gd name="T24" fmla="*/ 12 w 48"/>
                <a:gd name="T25" fmla="*/ 12 h 144"/>
                <a:gd name="T26" fmla="*/ 12 w 48"/>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44">
                  <a:moveTo>
                    <a:pt x="42" y="144"/>
                  </a:moveTo>
                  <a:cubicBezTo>
                    <a:pt x="6" y="144"/>
                    <a:pt x="6" y="144"/>
                    <a:pt x="6" y="144"/>
                  </a:cubicBezTo>
                  <a:cubicBezTo>
                    <a:pt x="3" y="144"/>
                    <a:pt x="0" y="141"/>
                    <a:pt x="0" y="138"/>
                  </a:cubicBezTo>
                  <a:cubicBezTo>
                    <a:pt x="0" y="6"/>
                    <a:pt x="0" y="6"/>
                    <a:pt x="0" y="6"/>
                  </a:cubicBezTo>
                  <a:cubicBezTo>
                    <a:pt x="0" y="2"/>
                    <a:pt x="3" y="0"/>
                    <a:pt x="6" y="0"/>
                  </a:cubicBezTo>
                  <a:cubicBezTo>
                    <a:pt x="42" y="0"/>
                    <a:pt x="42" y="0"/>
                    <a:pt x="42" y="0"/>
                  </a:cubicBezTo>
                  <a:cubicBezTo>
                    <a:pt x="46" y="0"/>
                    <a:pt x="48" y="2"/>
                    <a:pt x="48" y="6"/>
                  </a:cubicBezTo>
                  <a:cubicBezTo>
                    <a:pt x="48" y="138"/>
                    <a:pt x="48" y="138"/>
                    <a:pt x="48" y="138"/>
                  </a:cubicBezTo>
                  <a:cubicBezTo>
                    <a:pt x="48" y="141"/>
                    <a:pt x="46" y="144"/>
                    <a:pt x="42" y="144"/>
                  </a:cubicBezTo>
                  <a:close/>
                  <a:moveTo>
                    <a:pt x="12" y="132"/>
                  </a:moveTo>
                  <a:cubicBezTo>
                    <a:pt x="36" y="132"/>
                    <a:pt x="36" y="132"/>
                    <a:pt x="36" y="132"/>
                  </a:cubicBezTo>
                  <a:cubicBezTo>
                    <a:pt x="36" y="12"/>
                    <a:pt x="36" y="12"/>
                    <a:pt x="36" y="12"/>
                  </a:cubicBezTo>
                  <a:cubicBezTo>
                    <a:pt x="12" y="12"/>
                    <a:pt x="12" y="12"/>
                    <a:pt x="12" y="12"/>
                  </a:cubicBezTo>
                  <a:lnTo>
                    <a:pt x="12"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62" name="Freeform 45">
              <a:extLst>
                <a:ext uri="{FF2B5EF4-FFF2-40B4-BE49-F238E27FC236}">
                  <a16:creationId xmlns:a16="http://schemas.microsoft.com/office/drawing/2014/main" id="{D8080583-6AC7-8C3C-6A71-701E5EE5E210}"/>
                </a:ext>
              </a:extLst>
            </p:cNvPr>
            <p:cNvSpPr>
              <a:spLocks noEditPoints="1"/>
            </p:cNvSpPr>
            <p:nvPr/>
          </p:nvSpPr>
          <p:spPr bwMode="auto">
            <a:xfrm>
              <a:off x="4680" y="732"/>
              <a:ext cx="71" cy="277"/>
            </a:xfrm>
            <a:custGeom>
              <a:avLst/>
              <a:gdLst>
                <a:gd name="T0" fmla="*/ 42 w 48"/>
                <a:gd name="T1" fmla="*/ 192 h 192"/>
                <a:gd name="T2" fmla="*/ 6 w 48"/>
                <a:gd name="T3" fmla="*/ 192 h 192"/>
                <a:gd name="T4" fmla="*/ 0 w 48"/>
                <a:gd name="T5" fmla="*/ 186 h 192"/>
                <a:gd name="T6" fmla="*/ 0 w 48"/>
                <a:gd name="T7" fmla="*/ 6 h 192"/>
                <a:gd name="T8" fmla="*/ 6 w 48"/>
                <a:gd name="T9" fmla="*/ 0 h 192"/>
                <a:gd name="T10" fmla="*/ 42 w 48"/>
                <a:gd name="T11" fmla="*/ 0 h 192"/>
                <a:gd name="T12" fmla="*/ 48 w 48"/>
                <a:gd name="T13" fmla="*/ 6 h 192"/>
                <a:gd name="T14" fmla="*/ 48 w 48"/>
                <a:gd name="T15" fmla="*/ 186 h 192"/>
                <a:gd name="T16" fmla="*/ 42 w 48"/>
                <a:gd name="T17" fmla="*/ 192 h 192"/>
                <a:gd name="T18" fmla="*/ 12 w 48"/>
                <a:gd name="T19" fmla="*/ 180 h 192"/>
                <a:gd name="T20" fmla="*/ 36 w 48"/>
                <a:gd name="T21" fmla="*/ 180 h 192"/>
                <a:gd name="T22" fmla="*/ 36 w 48"/>
                <a:gd name="T23" fmla="*/ 12 h 192"/>
                <a:gd name="T24" fmla="*/ 12 w 48"/>
                <a:gd name="T25" fmla="*/ 12 h 192"/>
                <a:gd name="T26" fmla="*/ 12 w 48"/>
                <a:gd name="T27" fmla="*/ 18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92">
                  <a:moveTo>
                    <a:pt x="42" y="192"/>
                  </a:moveTo>
                  <a:cubicBezTo>
                    <a:pt x="6" y="192"/>
                    <a:pt x="6" y="192"/>
                    <a:pt x="6" y="192"/>
                  </a:cubicBezTo>
                  <a:cubicBezTo>
                    <a:pt x="3" y="192"/>
                    <a:pt x="0" y="189"/>
                    <a:pt x="0" y="186"/>
                  </a:cubicBezTo>
                  <a:cubicBezTo>
                    <a:pt x="0" y="6"/>
                    <a:pt x="0" y="6"/>
                    <a:pt x="0" y="6"/>
                  </a:cubicBezTo>
                  <a:cubicBezTo>
                    <a:pt x="0" y="2"/>
                    <a:pt x="3" y="0"/>
                    <a:pt x="6" y="0"/>
                  </a:cubicBezTo>
                  <a:cubicBezTo>
                    <a:pt x="42" y="0"/>
                    <a:pt x="42" y="0"/>
                    <a:pt x="42" y="0"/>
                  </a:cubicBezTo>
                  <a:cubicBezTo>
                    <a:pt x="46" y="0"/>
                    <a:pt x="48" y="2"/>
                    <a:pt x="48" y="6"/>
                  </a:cubicBezTo>
                  <a:cubicBezTo>
                    <a:pt x="48" y="186"/>
                    <a:pt x="48" y="186"/>
                    <a:pt x="48" y="186"/>
                  </a:cubicBezTo>
                  <a:cubicBezTo>
                    <a:pt x="48" y="189"/>
                    <a:pt x="46" y="192"/>
                    <a:pt x="42" y="192"/>
                  </a:cubicBezTo>
                  <a:close/>
                  <a:moveTo>
                    <a:pt x="12" y="180"/>
                  </a:moveTo>
                  <a:cubicBezTo>
                    <a:pt x="36" y="180"/>
                    <a:pt x="36" y="180"/>
                    <a:pt x="36" y="180"/>
                  </a:cubicBezTo>
                  <a:cubicBezTo>
                    <a:pt x="36" y="12"/>
                    <a:pt x="36" y="12"/>
                    <a:pt x="36" y="12"/>
                  </a:cubicBezTo>
                  <a:cubicBezTo>
                    <a:pt x="12" y="12"/>
                    <a:pt x="12" y="12"/>
                    <a:pt x="12" y="12"/>
                  </a:cubicBezTo>
                  <a:lnTo>
                    <a:pt x="12"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63" name="Freeform 46">
              <a:extLst>
                <a:ext uri="{FF2B5EF4-FFF2-40B4-BE49-F238E27FC236}">
                  <a16:creationId xmlns:a16="http://schemas.microsoft.com/office/drawing/2014/main" id="{E40E939A-2363-0AC7-0CBF-D5CB2F2F2DAF}"/>
                </a:ext>
              </a:extLst>
            </p:cNvPr>
            <p:cNvSpPr>
              <a:spLocks/>
            </p:cNvSpPr>
            <p:nvPr/>
          </p:nvSpPr>
          <p:spPr bwMode="auto">
            <a:xfrm>
              <a:off x="4705" y="607"/>
              <a:ext cx="340" cy="227"/>
            </a:xfrm>
            <a:custGeom>
              <a:avLst/>
              <a:gdLst>
                <a:gd name="T0" fmla="*/ 223 w 230"/>
                <a:gd name="T1" fmla="*/ 157 h 157"/>
                <a:gd name="T2" fmla="*/ 220 w 230"/>
                <a:gd name="T3" fmla="*/ 156 h 157"/>
                <a:gd name="T4" fmla="*/ 4 w 230"/>
                <a:gd name="T5" fmla="*/ 12 h 157"/>
                <a:gd name="T6" fmla="*/ 2 w 230"/>
                <a:gd name="T7" fmla="*/ 4 h 157"/>
                <a:gd name="T8" fmla="*/ 11 w 230"/>
                <a:gd name="T9" fmla="*/ 2 h 157"/>
                <a:gd name="T10" fmla="*/ 227 w 230"/>
                <a:gd name="T11" fmla="*/ 146 h 157"/>
                <a:gd name="T12" fmla="*/ 228 w 230"/>
                <a:gd name="T13" fmla="*/ 155 h 157"/>
                <a:gd name="T14" fmla="*/ 223 w 230"/>
                <a:gd name="T15" fmla="*/ 157 h 1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0" h="157">
                  <a:moveTo>
                    <a:pt x="223" y="157"/>
                  </a:moveTo>
                  <a:cubicBezTo>
                    <a:pt x="222" y="157"/>
                    <a:pt x="221" y="157"/>
                    <a:pt x="220" y="156"/>
                  </a:cubicBezTo>
                  <a:cubicBezTo>
                    <a:pt x="4" y="12"/>
                    <a:pt x="4" y="12"/>
                    <a:pt x="4" y="12"/>
                  </a:cubicBezTo>
                  <a:cubicBezTo>
                    <a:pt x="1" y="10"/>
                    <a:pt x="0" y="7"/>
                    <a:pt x="2" y="4"/>
                  </a:cubicBezTo>
                  <a:cubicBezTo>
                    <a:pt x="4" y="1"/>
                    <a:pt x="8" y="0"/>
                    <a:pt x="11" y="2"/>
                  </a:cubicBezTo>
                  <a:cubicBezTo>
                    <a:pt x="227" y="146"/>
                    <a:pt x="227" y="146"/>
                    <a:pt x="227" y="146"/>
                  </a:cubicBezTo>
                  <a:cubicBezTo>
                    <a:pt x="229" y="148"/>
                    <a:pt x="230" y="152"/>
                    <a:pt x="228" y="155"/>
                  </a:cubicBezTo>
                  <a:cubicBezTo>
                    <a:pt x="227" y="156"/>
                    <a:pt x="225" y="157"/>
                    <a:pt x="223" y="1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64" name="Freeform 47">
              <a:extLst>
                <a:ext uri="{FF2B5EF4-FFF2-40B4-BE49-F238E27FC236}">
                  <a16:creationId xmlns:a16="http://schemas.microsoft.com/office/drawing/2014/main" id="{AE030442-608E-6E40-0B47-73DC5D39CBF0}"/>
                </a:ext>
              </a:extLst>
            </p:cNvPr>
            <p:cNvSpPr>
              <a:spLocks/>
            </p:cNvSpPr>
            <p:nvPr/>
          </p:nvSpPr>
          <p:spPr bwMode="auto">
            <a:xfrm>
              <a:off x="4955" y="748"/>
              <a:ext cx="90" cy="96"/>
            </a:xfrm>
            <a:custGeom>
              <a:avLst/>
              <a:gdLst>
                <a:gd name="T0" fmla="*/ 6 w 61"/>
                <a:gd name="T1" fmla="*/ 67 h 67"/>
                <a:gd name="T2" fmla="*/ 0 w 61"/>
                <a:gd name="T3" fmla="*/ 61 h 67"/>
                <a:gd name="T4" fmla="*/ 5 w 61"/>
                <a:gd name="T5" fmla="*/ 55 h 67"/>
                <a:gd name="T6" fmla="*/ 48 w 61"/>
                <a:gd name="T7" fmla="*/ 49 h 67"/>
                <a:gd name="T8" fmla="*/ 42 w 61"/>
                <a:gd name="T9" fmla="*/ 7 h 67"/>
                <a:gd name="T10" fmla="*/ 47 w 61"/>
                <a:gd name="T11" fmla="*/ 1 h 67"/>
                <a:gd name="T12" fmla="*/ 54 w 61"/>
                <a:gd name="T13" fmla="*/ 6 h 67"/>
                <a:gd name="T14" fmla="*/ 60 w 61"/>
                <a:gd name="T15" fmla="*/ 54 h 67"/>
                <a:gd name="T16" fmla="*/ 55 w 61"/>
                <a:gd name="T17" fmla="*/ 60 h 67"/>
                <a:gd name="T18" fmla="*/ 7 w 61"/>
                <a:gd name="T19" fmla="*/ 67 h 67"/>
                <a:gd name="T20" fmla="*/ 6 w 61"/>
                <a:gd name="T21"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7">
                  <a:moveTo>
                    <a:pt x="6" y="67"/>
                  </a:moveTo>
                  <a:cubicBezTo>
                    <a:pt x="3" y="67"/>
                    <a:pt x="1" y="64"/>
                    <a:pt x="0" y="61"/>
                  </a:cubicBezTo>
                  <a:cubicBezTo>
                    <a:pt x="0" y="58"/>
                    <a:pt x="2" y="55"/>
                    <a:pt x="5" y="55"/>
                  </a:cubicBezTo>
                  <a:cubicBezTo>
                    <a:pt x="48" y="49"/>
                    <a:pt x="48" y="49"/>
                    <a:pt x="48" y="49"/>
                  </a:cubicBezTo>
                  <a:cubicBezTo>
                    <a:pt x="42" y="7"/>
                    <a:pt x="42" y="7"/>
                    <a:pt x="42" y="7"/>
                  </a:cubicBezTo>
                  <a:cubicBezTo>
                    <a:pt x="42" y="4"/>
                    <a:pt x="44" y="1"/>
                    <a:pt x="47" y="1"/>
                  </a:cubicBezTo>
                  <a:cubicBezTo>
                    <a:pt x="51" y="0"/>
                    <a:pt x="54" y="3"/>
                    <a:pt x="54" y="6"/>
                  </a:cubicBezTo>
                  <a:cubicBezTo>
                    <a:pt x="60" y="54"/>
                    <a:pt x="60" y="54"/>
                    <a:pt x="60" y="54"/>
                  </a:cubicBezTo>
                  <a:cubicBezTo>
                    <a:pt x="61" y="57"/>
                    <a:pt x="58" y="60"/>
                    <a:pt x="55" y="60"/>
                  </a:cubicBezTo>
                  <a:cubicBezTo>
                    <a:pt x="7" y="67"/>
                    <a:pt x="7" y="67"/>
                    <a:pt x="7" y="67"/>
                  </a:cubicBezTo>
                  <a:cubicBezTo>
                    <a:pt x="7" y="67"/>
                    <a:pt x="6" y="67"/>
                    <a:pt x="6"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cxnSp>
        <p:nvCxnSpPr>
          <p:cNvPr id="5159" name="Conector recto de flecha 5158">
            <a:extLst>
              <a:ext uri="{FF2B5EF4-FFF2-40B4-BE49-F238E27FC236}">
                <a16:creationId xmlns:a16="http://schemas.microsoft.com/office/drawing/2014/main" id="{ABA19565-672A-FC9F-6160-5494A7FD98CF}"/>
              </a:ext>
            </a:extLst>
          </p:cNvPr>
          <p:cNvCxnSpPr>
            <a:cxnSpLocks/>
          </p:cNvCxnSpPr>
          <p:nvPr/>
        </p:nvCxnSpPr>
        <p:spPr>
          <a:xfrm>
            <a:off x="3464518" y="2346960"/>
            <a:ext cx="0" cy="1996439"/>
          </a:xfrm>
          <a:prstGeom prst="straightConnector1">
            <a:avLst/>
          </a:prstGeom>
          <a:ln w="19050">
            <a:solidFill>
              <a:schemeClr val="bg1">
                <a:lumMod val="75000"/>
              </a:schemeClr>
            </a:solidFill>
            <a:tailEnd type="arrow" w="med" len="sm"/>
          </a:ln>
        </p:spPr>
        <p:style>
          <a:lnRef idx="1">
            <a:schemeClr val="accent1"/>
          </a:lnRef>
          <a:fillRef idx="0">
            <a:schemeClr val="accent1"/>
          </a:fillRef>
          <a:effectRef idx="0">
            <a:schemeClr val="accent1"/>
          </a:effectRef>
          <a:fontRef idx="minor">
            <a:schemeClr val="tx1"/>
          </a:fontRef>
        </p:style>
      </p:cxnSp>
      <p:sp>
        <p:nvSpPr>
          <p:cNvPr id="4" name="TextBox 24">
            <a:extLst>
              <a:ext uri="{FF2B5EF4-FFF2-40B4-BE49-F238E27FC236}">
                <a16:creationId xmlns:a16="http://schemas.microsoft.com/office/drawing/2014/main" id="{E5494714-4730-AA01-0EF7-3ECED86E75CB}"/>
              </a:ext>
            </a:extLst>
          </p:cNvPr>
          <p:cNvSpPr txBox="1"/>
          <p:nvPr/>
        </p:nvSpPr>
        <p:spPr>
          <a:xfrm rot="16200000">
            <a:off x="265533" y="3030820"/>
            <a:ext cx="2038351" cy="215444"/>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Product sales</a:t>
            </a:r>
          </a:p>
        </p:txBody>
      </p:sp>
      <p:grpSp>
        <p:nvGrpSpPr>
          <p:cNvPr id="5165" name="Group 30">
            <a:extLst>
              <a:ext uri="{FF2B5EF4-FFF2-40B4-BE49-F238E27FC236}">
                <a16:creationId xmlns:a16="http://schemas.microsoft.com/office/drawing/2014/main" id="{E7A0F116-EFEE-776B-ED86-5872AE7AF98E}"/>
              </a:ext>
            </a:extLst>
          </p:cNvPr>
          <p:cNvGrpSpPr>
            <a:grpSpLocks noChangeAspect="1"/>
          </p:cNvGrpSpPr>
          <p:nvPr/>
        </p:nvGrpSpPr>
        <p:grpSpPr bwMode="auto">
          <a:xfrm>
            <a:off x="1148285" y="1974061"/>
            <a:ext cx="272846" cy="266092"/>
            <a:chOff x="4894" y="3443"/>
            <a:chExt cx="202" cy="197"/>
          </a:xfrm>
          <a:solidFill>
            <a:srgbClr val="00B050"/>
          </a:solidFill>
        </p:grpSpPr>
        <p:sp>
          <p:nvSpPr>
            <p:cNvPr id="5171" name="Freeform 38">
              <a:extLst>
                <a:ext uri="{FF2B5EF4-FFF2-40B4-BE49-F238E27FC236}">
                  <a16:creationId xmlns:a16="http://schemas.microsoft.com/office/drawing/2014/main" id="{05CC7DF0-1F25-2E86-4ACE-818BBF59F66A}"/>
                </a:ext>
              </a:extLst>
            </p:cNvPr>
            <p:cNvSpPr>
              <a:spLocks noEditPoints="1"/>
            </p:cNvSpPr>
            <p:nvPr/>
          </p:nvSpPr>
          <p:spPr bwMode="auto">
            <a:xfrm>
              <a:off x="4894" y="3443"/>
              <a:ext cx="202" cy="197"/>
            </a:xfrm>
            <a:custGeom>
              <a:avLst/>
              <a:gdLst>
                <a:gd name="T0" fmla="*/ 66 w 132"/>
                <a:gd name="T1" fmla="*/ 132 h 132"/>
                <a:gd name="T2" fmla="*/ 0 w 132"/>
                <a:gd name="T3" fmla="*/ 66 h 132"/>
                <a:gd name="T4" fmla="*/ 66 w 132"/>
                <a:gd name="T5" fmla="*/ 0 h 132"/>
                <a:gd name="T6" fmla="*/ 132 w 132"/>
                <a:gd name="T7" fmla="*/ 66 h 132"/>
                <a:gd name="T8" fmla="*/ 66 w 132"/>
                <a:gd name="T9" fmla="*/ 132 h 132"/>
                <a:gd name="T10" fmla="*/ 66 w 132"/>
                <a:gd name="T11" fmla="*/ 12 h 132"/>
                <a:gd name="T12" fmla="*/ 12 w 132"/>
                <a:gd name="T13" fmla="*/ 66 h 132"/>
                <a:gd name="T14" fmla="*/ 66 w 132"/>
                <a:gd name="T15" fmla="*/ 120 h 132"/>
                <a:gd name="T16" fmla="*/ 120 w 132"/>
                <a:gd name="T17" fmla="*/ 66 h 132"/>
                <a:gd name="T18" fmla="*/ 66 w 132"/>
                <a:gd name="T19" fmla="*/ 1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32">
                  <a:moveTo>
                    <a:pt x="66" y="132"/>
                  </a:moveTo>
                  <a:cubicBezTo>
                    <a:pt x="29" y="132"/>
                    <a:pt x="0" y="102"/>
                    <a:pt x="0" y="66"/>
                  </a:cubicBezTo>
                  <a:cubicBezTo>
                    <a:pt x="0" y="29"/>
                    <a:pt x="29" y="0"/>
                    <a:pt x="66" y="0"/>
                  </a:cubicBezTo>
                  <a:cubicBezTo>
                    <a:pt x="102" y="0"/>
                    <a:pt x="132" y="29"/>
                    <a:pt x="132" y="66"/>
                  </a:cubicBezTo>
                  <a:cubicBezTo>
                    <a:pt x="132" y="102"/>
                    <a:pt x="102" y="132"/>
                    <a:pt x="66" y="132"/>
                  </a:cubicBezTo>
                  <a:close/>
                  <a:moveTo>
                    <a:pt x="66" y="12"/>
                  </a:moveTo>
                  <a:cubicBezTo>
                    <a:pt x="36" y="12"/>
                    <a:pt x="12" y="36"/>
                    <a:pt x="12" y="66"/>
                  </a:cubicBezTo>
                  <a:cubicBezTo>
                    <a:pt x="12" y="96"/>
                    <a:pt x="36" y="120"/>
                    <a:pt x="66" y="120"/>
                  </a:cubicBezTo>
                  <a:cubicBezTo>
                    <a:pt x="95" y="120"/>
                    <a:pt x="120" y="96"/>
                    <a:pt x="120" y="66"/>
                  </a:cubicBezTo>
                  <a:cubicBezTo>
                    <a:pt x="120" y="36"/>
                    <a:pt x="95"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72" name="Freeform 39">
              <a:extLst>
                <a:ext uri="{FF2B5EF4-FFF2-40B4-BE49-F238E27FC236}">
                  <a16:creationId xmlns:a16="http://schemas.microsoft.com/office/drawing/2014/main" id="{C20B57C5-ED24-75B3-7828-A8AE0BB81249}"/>
                </a:ext>
              </a:extLst>
            </p:cNvPr>
            <p:cNvSpPr>
              <a:spLocks/>
            </p:cNvSpPr>
            <p:nvPr/>
          </p:nvSpPr>
          <p:spPr bwMode="auto">
            <a:xfrm>
              <a:off x="4986" y="3487"/>
              <a:ext cx="18" cy="108"/>
            </a:xfrm>
            <a:custGeom>
              <a:avLst/>
              <a:gdLst>
                <a:gd name="T0" fmla="*/ 6 w 12"/>
                <a:gd name="T1" fmla="*/ 72 h 72"/>
                <a:gd name="T2" fmla="*/ 0 w 12"/>
                <a:gd name="T3" fmla="*/ 66 h 72"/>
                <a:gd name="T4" fmla="*/ 0 w 12"/>
                <a:gd name="T5" fmla="*/ 6 h 72"/>
                <a:gd name="T6" fmla="*/ 6 w 12"/>
                <a:gd name="T7" fmla="*/ 0 h 72"/>
                <a:gd name="T8" fmla="*/ 12 w 12"/>
                <a:gd name="T9" fmla="*/ 6 h 72"/>
                <a:gd name="T10" fmla="*/ 12 w 12"/>
                <a:gd name="T11" fmla="*/ 66 h 72"/>
                <a:gd name="T12" fmla="*/ 6 w 12"/>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2" h="72">
                  <a:moveTo>
                    <a:pt x="6" y="72"/>
                  </a:moveTo>
                  <a:cubicBezTo>
                    <a:pt x="2" y="72"/>
                    <a:pt x="0" y="69"/>
                    <a:pt x="0" y="66"/>
                  </a:cubicBezTo>
                  <a:cubicBezTo>
                    <a:pt x="0" y="6"/>
                    <a:pt x="0" y="6"/>
                    <a:pt x="0" y="6"/>
                  </a:cubicBezTo>
                  <a:cubicBezTo>
                    <a:pt x="0" y="2"/>
                    <a:pt x="2" y="0"/>
                    <a:pt x="6" y="0"/>
                  </a:cubicBezTo>
                  <a:cubicBezTo>
                    <a:pt x="9" y="0"/>
                    <a:pt x="12" y="2"/>
                    <a:pt x="12" y="6"/>
                  </a:cubicBezTo>
                  <a:cubicBezTo>
                    <a:pt x="12" y="66"/>
                    <a:pt x="12" y="66"/>
                    <a:pt x="12" y="66"/>
                  </a:cubicBezTo>
                  <a:cubicBezTo>
                    <a:pt x="12" y="69"/>
                    <a:pt x="9"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73" name="Freeform 40">
              <a:extLst>
                <a:ext uri="{FF2B5EF4-FFF2-40B4-BE49-F238E27FC236}">
                  <a16:creationId xmlns:a16="http://schemas.microsoft.com/office/drawing/2014/main" id="{F040D9C1-015A-A94D-C5A4-008C68CB89FE}"/>
                </a:ext>
              </a:extLst>
            </p:cNvPr>
            <p:cNvSpPr>
              <a:spLocks/>
            </p:cNvSpPr>
            <p:nvPr/>
          </p:nvSpPr>
          <p:spPr bwMode="auto">
            <a:xfrm>
              <a:off x="4940" y="3532"/>
              <a:ext cx="110"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2" y="12"/>
                    <a:pt x="0" y="9"/>
                    <a:pt x="0" y="6"/>
                  </a:cubicBezTo>
                  <a:cubicBezTo>
                    <a:pt x="0" y="2"/>
                    <a:pt x="2" y="0"/>
                    <a:pt x="6" y="0"/>
                  </a:cubicBezTo>
                  <a:cubicBezTo>
                    <a:pt x="66" y="0"/>
                    <a:pt x="66" y="0"/>
                    <a:pt x="66" y="0"/>
                  </a:cubicBezTo>
                  <a:cubicBezTo>
                    <a:pt x="69" y="0"/>
                    <a:pt x="72" y="2"/>
                    <a:pt x="72" y="6"/>
                  </a:cubicBezTo>
                  <a:cubicBezTo>
                    <a:pt x="72" y="9"/>
                    <a:pt x="69"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5174" name="Group 116">
            <a:extLst>
              <a:ext uri="{FF2B5EF4-FFF2-40B4-BE49-F238E27FC236}">
                <a16:creationId xmlns:a16="http://schemas.microsoft.com/office/drawing/2014/main" id="{4A7B3659-FFC9-ED42-2F50-C9FC5346F1B9}"/>
              </a:ext>
            </a:extLst>
          </p:cNvPr>
          <p:cNvGrpSpPr>
            <a:grpSpLocks noChangeAspect="1"/>
          </p:cNvGrpSpPr>
          <p:nvPr/>
        </p:nvGrpSpPr>
        <p:grpSpPr bwMode="auto">
          <a:xfrm>
            <a:off x="1147527" y="4036931"/>
            <a:ext cx="274362" cy="267571"/>
            <a:chOff x="4885" y="2169"/>
            <a:chExt cx="202" cy="197"/>
          </a:xfrm>
          <a:solidFill>
            <a:srgbClr val="C00000"/>
          </a:solidFill>
        </p:grpSpPr>
        <p:sp>
          <p:nvSpPr>
            <p:cNvPr id="5180" name="Freeform 124">
              <a:extLst>
                <a:ext uri="{FF2B5EF4-FFF2-40B4-BE49-F238E27FC236}">
                  <a16:creationId xmlns:a16="http://schemas.microsoft.com/office/drawing/2014/main" id="{8865F289-42D2-4531-9057-9F9A5B3BB36A}"/>
                </a:ext>
              </a:extLst>
            </p:cNvPr>
            <p:cNvSpPr>
              <a:spLocks noEditPoints="1"/>
            </p:cNvSpPr>
            <p:nvPr/>
          </p:nvSpPr>
          <p:spPr bwMode="auto">
            <a:xfrm>
              <a:off x="4885" y="2169"/>
              <a:ext cx="202" cy="197"/>
            </a:xfrm>
            <a:custGeom>
              <a:avLst/>
              <a:gdLst>
                <a:gd name="T0" fmla="*/ 66 w 132"/>
                <a:gd name="T1" fmla="*/ 132 h 132"/>
                <a:gd name="T2" fmla="*/ 0 w 132"/>
                <a:gd name="T3" fmla="*/ 66 h 132"/>
                <a:gd name="T4" fmla="*/ 66 w 132"/>
                <a:gd name="T5" fmla="*/ 0 h 132"/>
                <a:gd name="T6" fmla="*/ 132 w 132"/>
                <a:gd name="T7" fmla="*/ 66 h 132"/>
                <a:gd name="T8" fmla="*/ 66 w 132"/>
                <a:gd name="T9" fmla="*/ 132 h 132"/>
                <a:gd name="T10" fmla="*/ 66 w 132"/>
                <a:gd name="T11" fmla="*/ 12 h 132"/>
                <a:gd name="T12" fmla="*/ 12 w 132"/>
                <a:gd name="T13" fmla="*/ 66 h 132"/>
                <a:gd name="T14" fmla="*/ 66 w 132"/>
                <a:gd name="T15" fmla="*/ 120 h 132"/>
                <a:gd name="T16" fmla="*/ 120 w 132"/>
                <a:gd name="T17" fmla="*/ 66 h 132"/>
                <a:gd name="T18" fmla="*/ 66 w 132"/>
                <a:gd name="T19" fmla="*/ 1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32">
                  <a:moveTo>
                    <a:pt x="66" y="132"/>
                  </a:moveTo>
                  <a:cubicBezTo>
                    <a:pt x="30" y="132"/>
                    <a:pt x="0" y="102"/>
                    <a:pt x="0" y="66"/>
                  </a:cubicBezTo>
                  <a:cubicBezTo>
                    <a:pt x="0" y="30"/>
                    <a:pt x="30" y="0"/>
                    <a:pt x="66" y="0"/>
                  </a:cubicBezTo>
                  <a:cubicBezTo>
                    <a:pt x="103" y="0"/>
                    <a:pt x="132" y="30"/>
                    <a:pt x="132" y="66"/>
                  </a:cubicBezTo>
                  <a:cubicBezTo>
                    <a:pt x="132" y="102"/>
                    <a:pt x="103" y="132"/>
                    <a:pt x="66" y="132"/>
                  </a:cubicBezTo>
                  <a:close/>
                  <a:moveTo>
                    <a:pt x="66" y="12"/>
                  </a:moveTo>
                  <a:cubicBezTo>
                    <a:pt x="36" y="12"/>
                    <a:pt x="12" y="36"/>
                    <a:pt x="12" y="66"/>
                  </a:cubicBezTo>
                  <a:cubicBezTo>
                    <a:pt x="12" y="96"/>
                    <a:pt x="36" y="120"/>
                    <a:pt x="66" y="120"/>
                  </a:cubicBezTo>
                  <a:cubicBezTo>
                    <a:pt x="96" y="120"/>
                    <a:pt x="120" y="96"/>
                    <a:pt x="120" y="66"/>
                  </a:cubicBezTo>
                  <a:cubicBezTo>
                    <a:pt x="120" y="36"/>
                    <a:pt x="96"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81" name="Freeform 125">
              <a:extLst>
                <a:ext uri="{FF2B5EF4-FFF2-40B4-BE49-F238E27FC236}">
                  <a16:creationId xmlns:a16="http://schemas.microsoft.com/office/drawing/2014/main" id="{B41DF20F-3426-A714-CCB0-C933EAD16368}"/>
                </a:ext>
              </a:extLst>
            </p:cNvPr>
            <p:cNvSpPr>
              <a:spLocks/>
            </p:cNvSpPr>
            <p:nvPr/>
          </p:nvSpPr>
          <p:spPr bwMode="auto">
            <a:xfrm>
              <a:off x="4931" y="2258"/>
              <a:ext cx="110"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9"/>
                    <a:pt x="0" y="6"/>
                  </a:cubicBezTo>
                  <a:cubicBezTo>
                    <a:pt x="0" y="3"/>
                    <a:pt x="3" y="0"/>
                    <a:pt x="6" y="0"/>
                  </a:cubicBezTo>
                  <a:cubicBezTo>
                    <a:pt x="66" y="0"/>
                    <a:pt x="66" y="0"/>
                    <a:pt x="66" y="0"/>
                  </a:cubicBezTo>
                  <a:cubicBezTo>
                    <a:pt x="70" y="0"/>
                    <a:pt x="72" y="3"/>
                    <a:pt x="72" y="6"/>
                  </a:cubicBezTo>
                  <a:cubicBezTo>
                    <a:pt x="72" y="9"/>
                    <a:pt x="70"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cxnSp>
        <p:nvCxnSpPr>
          <p:cNvPr id="5183" name="Conector recto 5182">
            <a:extLst>
              <a:ext uri="{FF2B5EF4-FFF2-40B4-BE49-F238E27FC236}">
                <a16:creationId xmlns:a16="http://schemas.microsoft.com/office/drawing/2014/main" id="{AEC06142-204E-1F53-6995-8FCE1C4A288B}"/>
              </a:ext>
            </a:extLst>
          </p:cNvPr>
          <p:cNvCxnSpPr>
            <a:cxnSpLocks/>
          </p:cNvCxnSpPr>
          <p:nvPr/>
        </p:nvCxnSpPr>
        <p:spPr>
          <a:xfrm flipV="1">
            <a:off x="1831975" y="1520825"/>
            <a:ext cx="0" cy="323691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37" name="Forma libre: forma 5136">
            <a:extLst>
              <a:ext uri="{FF2B5EF4-FFF2-40B4-BE49-F238E27FC236}">
                <a16:creationId xmlns:a16="http://schemas.microsoft.com/office/drawing/2014/main" id="{490D17DE-6E58-0E22-BF88-307A1A74E009}"/>
              </a:ext>
            </a:extLst>
          </p:cNvPr>
          <p:cNvSpPr/>
          <p:nvPr/>
        </p:nvSpPr>
        <p:spPr>
          <a:xfrm>
            <a:off x="2047875" y="2638425"/>
            <a:ext cx="4886325" cy="2114550"/>
          </a:xfrm>
          <a:custGeom>
            <a:avLst/>
            <a:gdLst>
              <a:gd name="connsiteX0" fmla="*/ 0 w 4886325"/>
              <a:gd name="connsiteY0" fmla="*/ 2114550 h 2114550"/>
              <a:gd name="connsiteX1" fmla="*/ 1628775 w 4886325"/>
              <a:gd name="connsiteY1" fmla="*/ 1714500 h 2114550"/>
              <a:gd name="connsiteX2" fmla="*/ 3257550 w 4886325"/>
              <a:gd name="connsiteY2" fmla="*/ 933450 h 2114550"/>
              <a:gd name="connsiteX3" fmla="*/ 4076700 w 4886325"/>
              <a:gd name="connsiteY3" fmla="*/ 228600 h 2114550"/>
              <a:gd name="connsiteX4" fmla="*/ 4886325 w 4886325"/>
              <a:gd name="connsiteY4" fmla="*/ 0 h 211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325" h="2114550">
                <a:moveTo>
                  <a:pt x="0" y="2114550"/>
                </a:moveTo>
                <a:cubicBezTo>
                  <a:pt x="542925" y="2012950"/>
                  <a:pt x="1085850" y="1911350"/>
                  <a:pt x="1628775" y="1714500"/>
                </a:cubicBezTo>
                <a:cubicBezTo>
                  <a:pt x="2171700" y="1517650"/>
                  <a:pt x="2849563" y="1181100"/>
                  <a:pt x="3257550" y="933450"/>
                </a:cubicBezTo>
                <a:cubicBezTo>
                  <a:pt x="3665537" y="685800"/>
                  <a:pt x="3805237" y="384175"/>
                  <a:pt x="4076700" y="228600"/>
                </a:cubicBezTo>
                <a:cubicBezTo>
                  <a:pt x="4348163" y="73025"/>
                  <a:pt x="4617244" y="36512"/>
                  <a:pt x="4886325" y="0"/>
                </a:cubicBez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8" name="Forma libre: forma 5137">
            <a:extLst>
              <a:ext uri="{FF2B5EF4-FFF2-40B4-BE49-F238E27FC236}">
                <a16:creationId xmlns:a16="http://schemas.microsoft.com/office/drawing/2014/main" id="{2BB5F3BC-D625-1665-CEEF-F8FE7E61F6B1}"/>
              </a:ext>
            </a:extLst>
          </p:cNvPr>
          <p:cNvSpPr/>
          <p:nvPr/>
        </p:nvSpPr>
        <p:spPr>
          <a:xfrm flipH="1">
            <a:off x="6936581" y="2638425"/>
            <a:ext cx="4886325" cy="2114550"/>
          </a:xfrm>
          <a:custGeom>
            <a:avLst/>
            <a:gdLst>
              <a:gd name="connsiteX0" fmla="*/ 0 w 4886325"/>
              <a:gd name="connsiteY0" fmla="*/ 2114550 h 2114550"/>
              <a:gd name="connsiteX1" fmla="*/ 1628775 w 4886325"/>
              <a:gd name="connsiteY1" fmla="*/ 1714500 h 2114550"/>
              <a:gd name="connsiteX2" fmla="*/ 3257550 w 4886325"/>
              <a:gd name="connsiteY2" fmla="*/ 933450 h 2114550"/>
              <a:gd name="connsiteX3" fmla="*/ 4076700 w 4886325"/>
              <a:gd name="connsiteY3" fmla="*/ 228600 h 2114550"/>
              <a:gd name="connsiteX4" fmla="*/ 4886325 w 4886325"/>
              <a:gd name="connsiteY4" fmla="*/ 0 h 211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325" h="2114550">
                <a:moveTo>
                  <a:pt x="0" y="2114550"/>
                </a:moveTo>
                <a:cubicBezTo>
                  <a:pt x="542925" y="2012950"/>
                  <a:pt x="1085850" y="1911350"/>
                  <a:pt x="1628775" y="1714500"/>
                </a:cubicBezTo>
                <a:cubicBezTo>
                  <a:pt x="2171700" y="1517650"/>
                  <a:pt x="2849563" y="1181100"/>
                  <a:pt x="3257550" y="933450"/>
                </a:cubicBezTo>
                <a:cubicBezTo>
                  <a:pt x="3665537" y="685800"/>
                  <a:pt x="3805237" y="384175"/>
                  <a:pt x="4076700" y="228600"/>
                </a:cubicBezTo>
                <a:cubicBezTo>
                  <a:pt x="4348163" y="73025"/>
                  <a:pt x="4617244" y="36512"/>
                  <a:pt x="4886325" y="0"/>
                </a:cubicBez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1" name="TextBox 24">
            <a:extLst>
              <a:ext uri="{FF2B5EF4-FFF2-40B4-BE49-F238E27FC236}">
                <a16:creationId xmlns:a16="http://schemas.microsoft.com/office/drawing/2014/main" id="{37B257E1-DC5F-5423-F740-C713FF0AAE3B}"/>
              </a:ext>
            </a:extLst>
          </p:cNvPr>
          <p:cNvSpPr txBox="1"/>
          <p:nvPr/>
        </p:nvSpPr>
        <p:spPr>
          <a:xfrm>
            <a:off x="2057400" y="1705491"/>
            <a:ext cx="969566" cy="184666"/>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Innovators</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5186" name="Conector recto de flecha 5185">
            <a:extLst>
              <a:ext uri="{FF2B5EF4-FFF2-40B4-BE49-F238E27FC236}">
                <a16:creationId xmlns:a16="http://schemas.microsoft.com/office/drawing/2014/main" id="{ADA5E972-B893-2C65-CDC6-7D01F2FCFD43}"/>
              </a:ext>
            </a:extLst>
          </p:cNvPr>
          <p:cNvCxnSpPr>
            <a:cxnSpLocks/>
          </p:cNvCxnSpPr>
          <p:nvPr/>
        </p:nvCxnSpPr>
        <p:spPr>
          <a:xfrm>
            <a:off x="2542183" y="2346960"/>
            <a:ext cx="0" cy="2217897"/>
          </a:xfrm>
          <a:prstGeom prst="straightConnector1">
            <a:avLst/>
          </a:prstGeom>
          <a:ln w="19050">
            <a:solidFill>
              <a:schemeClr val="bg1">
                <a:lumMod val="75000"/>
              </a:schemeClr>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5187" name="Conector recto de flecha 5186">
            <a:extLst>
              <a:ext uri="{FF2B5EF4-FFF2-40B4-BE49-F238E27FC236}">
                <a16:creationId xmlns:a16="http://schemas.microsoft.com/office/drawing/2014/main" id="{DE54ABB2-070F-868B-5CFD-88A995B69A42}"/>
              </a:ext>
            </a:extLst>
          </p:cNvPr>
          <p:cNvCxnSpPr>
            <a:cxnSpLocks/>
          </p:cNvCxnSpPr>
          <p:nvPr/>
        </p:nvCxnSpPr>
        <p:spPr>
          <a:xfrm>
            <a:off x="4606130" y="2346960"/>
            <a:ext cx="0" cy="1569720"/>
          </a:xfrm>
          <a:prstGeom prst="straightConnector1">
            <a:avLst/>
          </a:prstGeom>
          <a:ln w="19050">
            <a:solidFill>
              <a:schemeClr val="bg1">
                <a:lumMod val="75000"/>
              </a:schemeClr>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5189" name="Conector recto de flecha 5188">
            <a:extLst>
              <a:ext uri="{FF2B5EF4-FFF2-40B4-BE49-F238E27FC236}">
                <a16:creationId xmlns:a16="http://schemas.microsoft.com/office/drawing/2014/main" id="{3711A2B4-C766-1F4F-4336-2ECA3181328E}"/>
              </a:ext>
            </a:extLst>
          </p:cNvPr>
          <p:cNvCxnSpPr>
            <a:cxnSpLocks/>
          </p:cNvCxnSpPr>
          <p:nvPr/>
        </p:nvCxnSpPr>
        <p:spPr>
          <a:xfrm>
            <a:off x="6937771" y="2346960"/>
            <a:ext cx="0" cy="220980"/>
          </a:xfrm>
          <a:prstGeom prst="straightConnector1">
            <a:avLst/>
          </a:prstGeom>
          <a:ln w="19050">
            <a:solidFill>
              <a:schemeClr val="bg1">
                <a:lumMod val="75000"/>
              </a:schemeClr>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5191" name="Conector recto de flecha 5190">
            <a:extLst>
              <a:ext uri="{FF2B5EF4-FFF2-40B4-BE49-F238E27FC236}">
                <a16:creationId xmlns:a16="http://schemas.microsoft.com/office/drawing/2014/main" id="{EA10545A-9C35-1C69-CF40-8BDC92ABE622}"/>
              </a:ext>
            </a:extLst>
          </p:cNvPr>
          <p:cNvCxnSpPr>
            <a:cxnSpLocks/>
          </p:cNvCxnSpPr>
          <p:nvPr/>
        </p:nvCxnSpPr>
        <p:spPr>
          <a:xfrm>
            <a:off x="10185002" y="2346960"/>
            <a:ext cx="0" cy="1891665"/>
          </a:xfrm>
          <a:prstGeom prst="straightConnector1">
            <a:avLst/>
          </a:prstGeom>
          <a:ln w="19050">
            <a:solidFill>
              <a:schemeClr val="bg1">
                <a:lumMod val="75000"/>
              </a:schemeClr>
            </a:solidFill>
            <a:tailEnd type="arrow" w="med" len="sm"/>
          </a:ln>
        </p:spPr>
        <p:style>
          <a:lnRef idx="1">
            <a:schemeClr val="accent1"/>
          </a:lnRef>
          <a:fillRef idx="0">
            <a:schemeClr val="accent1"/>
          </a:fillRef>
          <a:effectRef idx="0">
            <a:schemeClr val="accent1"/>
          </a:effectRef>
          <a:fontRef idx="minor">
            <a:schemeClr val="tx1"/>
          </a:fontRef>
        </p:style>
      </p:cxnSp>
      <p:grpSp>
        <p:nvGrpSpPr>
          <p:cNvPr id="5192" name="Group 128">
            <a:extLst>
              <a:ext uri="{FF2B5EF4-FFF2-40B4-BE49-F238E27FC236}">
                <a16:creationId xmlns:a16="http://schemas.microsoft.com/office/drawing/2014/main" id="{64470231-E29B-23CF-0C6B-62E85FEA2233}"/>
              </a:ext>
            </a:extLst>
          </p:cNvPr>
          <p:cNvGrpSpPr>
            <a:grpSpLocks noChangeAspect="1"/>
          </p:cNvGrpSpPr>
          <p:nvPr/>
        </p:nvGrpSpPr>
        <p:grpSpPr bwMode="auto">
          <a:xfrm>
            <a:off x="2402498" y="1967960"/>
            <a:ext cx="279370" cy="319814"/>
            <a:chOff x="1398" y="2998"/>
            <a:chExt cx="373" cy="427"/>
          </a:xfrm>
          <a:solidFill>
            <a:schemeClr val="tx2"/>
          </a:solidFill>
        </p:grpSpPr>
        <p:sp>
          <p:nvSpPr>
            <p:cNvPr id="5193" name="Freeform 129">
              <a:extLst>
                <a:ext uri="{FF2B5EF4-FFF2-40B4-BE49-F238E27FC236}">
                  <a16:creationId xmlns:a16="http://schemas.microsoft.com/office/drawing/2014/main" id="{A001EA1F-0C00-586C-8538-3718A064CF0C}"/>
                </a:ext>
              </a:extLst>
            </p:cNvPr>
            <p:cNvSpPr>
              <a:spLocks noEditPoints="1"/>
            </p:cNvSpPr>
            <p:nvPr/>
          </p:nvSpPr>
          <p:spPr bwMode="auto">
            <a:xfrm>
              <a:off x="1451" y="3052"/>
              <a:ext cx="266" cy="266"/>
            </a:xfrm>
            <a:custGeom>
              <a:avLst/>
              <a:gdLst>
                <a:gd name="T0" fmla="*/ 90 w 180"/>
                <a:gd name="T1" fmla="*/ 180 h 180"/>
                <a:gd name="T2" fmla="*/ 0 w 180"/>
                <a:gd name="T3" fmla="*/ 90 h 180"/>
                <a:gd name="T4" fmla="*/ 90 w 180"/>
                <a:gd name="T5" fmla="*/ 0 h 180"/>
                <a:gd name="T6" fmla="*/ 180 w 180"/>
                <a:gd name="T7" fmla="*/ 90 h 180"/>
                <a:gd name="T8" fmla="*/ 90 w 180"/>
                <a:gd name="T9" fmla="*/ 180 h 180"/>
                <a:gd name="T10" fmla="*/ 90 w 180"/>
                <a:gd name="T11" fmla="*/ 12 h 180"/>
                <a:gd name="T12" fmla="*/ 12 w 180"/>
                <a:gd name="T13" fmla="*/ 90 h 180"/>
                <a:gd name="T14" fmla="*/ 90 w 180"/>
                <a:gd name="T15" fmla="*/ 168 h 180"/>
                <a:gd name="T16" fmla="*/ 168 w 180"/>
                <a:gd name="T17" fmla="*/ 90 h 180"/>
                <a:gd name="T18" fmla="*/ 90 w 180"/>
                <a:gd name="T19" fmla="*/ 1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0" h="180">
                  <a:moveTo>
                    <a:pt x="90" y="180"/>
                  </a:moveTo>
                  <a:cubicBezTo>
                    <a:pt x="40" y="180"/>
                    <a:pt x="0" y="139"/>
                    <a:pt x="0" y="90"/>
                  </a:cubicBezTo>
                  <a:cubicBezTo>
                    <a:pt x="0" y="40"/>
                    <a:pt x="40" y="0"/>
                    <a:pt x="90" y="0"/>
                  </a:cubicBezTo>
                  <a:cubicBezTo>
                    <a:pt x="139" y="0"/>
                    <a:pt x="180" y="40"/>
                    <a:pt x="180" y="90"/>
                  </a:cubicBezTo>
                  <a:cubicBezTo>
                    <a:pt x="180" y="139"/>
                    <a:pt x="139" y="180"/>
                    <a:pt x="90" y="180"/>
                  </a:cubicBezTo>
                  <a:close/>
                  <a:moveTo>
                    <a:pt x="90" y="12"/>
                  </a:moveTo>
                  <a:cubicBezTo>
                    <a:pt x="47" y="12"/>
                    <a:pt x="12" y="47"/>
                    <a:pt x="12" y="90"/>
                  </a:cubicBezTo>
                  <a:cubicBezTo>
                    <a:pt x="12" y="133"/>
                    <a:pt x="47" y="168"/>
                    <a:pt x="90" y="168"/>
                  </a:cubicBezTo>
                  <a:cubicBezTo>
                    <a:pt x="133" y="168"/>
                    <a:pt x="168" y="133"/>
                    <a:pt x="168" y="90"/>
                  </a:cubicBezTo>
                  <a:cubicBezTo>
                    <a:pt x="168" y="47"/>
                    <a:pt x="13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94" name="Freeform 130">
              <a:extLst>
                <a:ext uri="{FF2B5EF4-FFF2-40B4-BE49-F238E27FC236}">
                  <a16:creationId xmlns:a16="http://schemas.microsoft.com/office/drawing/2014/main" id="{A8A3BD27-D44A-D1EB-C4BF-40D802DA5B5F}"/>
                </a:ext>
              </a:extLst>
            </p:cNvPr>
            <p:cNvSpPr>
              <a:spLocks/>
            </p:cNvSpPr>
            <p:nvPr/>
          </p:nvSpPr>
          <p:spPr bwMode="auto">
            <a:xfrm>
              <a:off x="1522" y="3300"/>
              <a:ext cx="124" cy="54"/>
            </a:xfrm>
            <a:custGeom>
              <a:avLst/>
              <a:gdLst>
                <a:gd name="T0" fmla="*/ 78 w 84"/>
                <a:gd name="T1" fmla="*/ 36 h 36"/>
                <a:gd name="T2" fmla="*/ 6 w 84"/>
                <a:gd name="T3" fmla="*/ 36 h 36"/>
                <a:gd name="T4" fmla="*/ 0 w 84"/>
                <a:gd name="T5" fmla="*/ 30 h 36"/>
                <a:gd name="T6" fmla="*/ 0 w 84"/>
                <a:gd name="T7" fmla="*/ 0 h 36"/>
                <a:gd name="T8" fmla="*/ 12 w 84"/>
                <a:gd name="T9" fmla="*/ 0 h 36"/>
                <a:gd name="T10" fmla="*/ 12 w 84"/>
                <a:gd name="T11" fmla="*/ 24 h 36"/>
                <a:gd name="T12" fmla="*/ 72 w 84"/>
                <a:gd name="T13" fmla="*/ 24 h 36"/>
                <a:gd name="T14" fmla="*/ 72 w 84"/>
                <a:gd name="T15" fmla="*/ 0 h 36"/>
                <a:gd name="T16" fmla="*/ 84 w 84"/>
                <a:gd name="T17" fmla="*/ 0 h 36"/>
                <a:gd name="T18" fmla="*/ 84 w 84"/>
                <a:gd name="T19" fmla="*/ 30 h 36"/>
                <a:gd name="T20" fmla="*/ 78 w 84"/>
                <a:gd name="T21"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 h="36">
                  <a:moveTo>
                    <a:pt x="78" y="36"/>
                  </a:moveTo>
                  <a:cubicBezTo>
                    <a:pt x="6" y="36"/>
                    <a:pt x="6" y="36"/>
                    <a:pt x="6" y="36"/>
                  </a:cubicBezTo>
                  <a:cubicBezTo>
                    <a:pt x="2" y="36"/>
                    <a:pt x="0" y="33"/>
                    <a:pt x="0" y="30"/>
                  </a:cubicBezTo>
                  <a:cubicBezTo>
                    <a:pt x="0" y="0"/>
                    <a:pt x="0" y="0"/>
                    <a:pt x="0" y="0"/>
                  </a:cubicBezTo>
                  <a:cubicBezTo>
                    <a:pt x="12" y="0"/>
                    <a:pt x="12" y="0"/>
                    <a:pt x="12" y="0"/>
                  </a:cubicBezTo>
                  <a:cubicBezTo>
                    <a:pt x="12" y="24"/>
                    <a:pt x="12" y="24"/>
                    <a:pt x="12" y="24"/>
                  </a:cubicBezTo>
                  <a:cubicBezTo>
                    <a:pt x="72" y="24"/>
                    <a:pt x="72" y="24"/>
                    <a:pt x="72" y="24"/>
                  </a:cubicBezTo>
                  <a:cubicBezTo>
                    <a:pt x="72" y="0"/>
                    <a:pt x="72" y="0"/>
                    <a:pt x="72" y="0"/>
                  </a:cubicBezTo>
                  <a:cubicBezTo>
                    <a:pt x="84" y="0"/>
                    <a:pt x="84" y="0"/>
                    <a:pt x="84" y="0"/>
                  </a:cubicBezTo>
                  <a:cubicBezTo>
                    <a:pt x="84" y="30"/>
                    <a:pt x="84" y="30"/>
                    <a:pt x="84" y="30"/>
                  </a:cubicBezTo>
                  <a:cubicBezTo>
                    <a:pt x="84" y="33"/>
                    <a:pt x="81" y="36"/>
                    <a:pt x="78"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95" name="Freeform 131">
              <a:extLst>
                <a:ext uri="{FF2B5EF4-FFF2-40B4-BE49-F238E27FC236}">
                  <a16:creationId xmlns:a16="http://schemas.microsoft.com/office/drawing/2014/main" id="{2D5DD02D-12EB-AF90-7817-EDC08BA2B3CC}"/>
                </a:ext>
              </a:extLst>
            </p:cNvPr>
            <p:cNvSpPr>
              <a:spLocks noEditPoints="1"/>
            </p:cNvSpPr>
            <p:nvPr/>
          </p:nvSpPr>
          <p:spPr bwMode="auto">
            <a:xfrm>
              <a:off x="1540" y="3336"/>
              <a:ext cx="88" cy="53"/>
            </a:xfrm>
            <a:custGeom>
              <a:avLst/>
              <a:gdLst>
                <a:gd name="T0" fmla="*/ 54 w 60"/>
                <a:gd name="T1" fmla="*/ 36 h 36"/>
                <a:gd name="T2" fmla="*/ 6 w 60"/>
                <a:gd name="T3" fmla="*/ 36 h 36"/>
                <a:gd name="T4" fmla="*/ 0 w 60"/>
                <a:gd name="T5" fmla="*/ 30 h 36"/>
                <a:gd name="T6" fmla="*/ 0 w 60"/>
                <a:gd name="T7" fmla="*/ 6 h 36"/>
                <a:gd name="T8" fmla="*/ 6 w 60"/>
                <a:gd name="T9" fmla="*/ 0 h 36"/>
                <a:gd name="T10" fmla="*/ 54 w 60"/>
                <a:gd name="T11" fmla="*/ 0 h 36"/>
                <a:gd name="T12" fmla="*/ 60 w 60"/>
                <a:gd name="T13" fmla="*/ 6 h 36"/>
                <a:gd name="T14" fmla="*/ 60 w 60"/>
                <a:gd name="T15" fmla="*/ 30 h 36"/>
                <a:gd name="T16" fmla="*/ 54 w 60"/>
                <a:gd name="T17" fmla="*/ 36 h 36"/>
                <a:gd name="T18" fmla="*/ 12 w 60"/>
                <a:gd name="T19" fmla="*/ 24 h 36"/>
                <a:gd name="T20" fmla="*/ 48 w 60"/>
                <a:gd name="T21" fmla="*/ 24 h 36"/>
                <a:gd name="T22" fmla="*/ 48 w 60"/>
                <a:gd name="T23" fmla="*/ 12 h 36"/>
                <a:gd name="T24" fmla="*/ 12 w 60"/>
                <a:gd name="T25" fmla="*/ 12 h 36"/>
                <a:gd name="T26" fmla="*/ 12 w 60"/>
                <a:gd name="T27"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36">
                  <a:moveTo>
                    <a:pt x="54" y="36"/>
                  </a:moveTo>
                  <a:cubicBezTo>
                    <a:pt x="6" y="36"/>
                    <a:pt x="6" y="36"/>
                    <a:pt x="6" y="36"/>
                  </a:cubicBezTo>
                  <a:cubicBezTo>
                    <a:pt x="2" y="36"/>
                    <a:pt x="0" y="33"/>
                    <a:pt x="0" y="30"/>
                  </a:cubicBezTo>
                  <a:cubicBezTo>
                    <a:pt x="0" y="6"/>
                    <a:pt x="0" y="6"/>
                    <a:pt x="0" y="6"/>
                  </a:cubicBezTo>
                  <a:cubicBezTo>
                    <a:pt x="0" y="3"/>
                    <a:pt x="2" y="0"/>
                    <a:pt x="6" y="0"/>
                  </a:cubicBezTo>
                  <a:cubicBezTo>
                    <a:pt x="54" y="0"/>
                    <a:pt x="54" y="0"/>
                    <a:pt x="54" y="0"/>
                  </a:cubicBezTo>
                  <a:cubicBezTo>
                    <a:pt x="57" y="0"/>
                    <a:pt x="60" y="3"/>
                    <a:pt x="60" y="6"/>
                  </a:cubicBezTo>
                  <a:cubicBezTo>
                    <a:pt x="60" y="30"/>
                    <a:pt x="60" y="30"/>
                    <a:pt x="60" y="30"/>
                  </a:cubicBezTo>
                  <a:cubicBezTo>
                    <a:pt x="60" y="33"/>
                    <a:pt x="57" y="36"/>
                    <a:pt x="54" y="36"/>
                  </a:cubicBezTo>
                  <a:close/>
                  <a:moveTo>
                    <a:pt x="12" y="24"/>
                  </a:moveTo>
                  <a:cubicBezTo>
                    <a:pt x="48" y="24"/>
                    <a:pt x="48" y="24"/>
                    <a:pt x="48" y="24"/>
                  </a:cubicBezTo>
                  <a:cubicBezTo>
                    <a:pt x="48" y="12"/>
                    <a:pt x="48" y="12"/>
                    <a:pt x="48" y="12"/>
                  </a:cubicBezTo>
                  <a:cubicBezTo>
                    <a:pt x="12" y="12"/>
                    <a:pt x="12" y="12"/>
                    <a:pt x="12" y="12"/>
                  </a:cubicBez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96" name="Freeform 132">
              <a:extLst>
                <a:ext uri="{FF2B5EF4-FFF2-40B4-BE49-F238E27FC236}">
                  <a16:creationId xmlns:a16="http://schemas.microsoft.com/office/drawing/2014/main" id="{07BD796E-63E4-0CE5-3200-EE919CF253DD}"/>
                </a:ext>
              </a:extLst>
            </p:cNvPr>
            <p:cNvSpPr>
              <a:spLocks/>
            </p:cNvSpPr>
            <p:nvPr/>
          </p:nvSpPr>
          <p:spPr bwMode="auto">
            <a:xfrm>
              <a:off x="1575" y="3371"/>
              <a:ext cx="18" cy="54"/>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2" y="36"/>
                    <a:pt x="0" y="33"/>
                    <a:pt x="0" y="30"/>
                  </a:cubicBezTo>
                  <a:cubicBezTo>
                    <a:pt x="0" y="6"/>
                    <a:pt x="0" y="6"/>
                    <a:pt x="0" y="6"/>
                  </a:cubicBezTo>
                  <a:cubicBezTo>
                    <a:pt x="0" y="3"/>
                    <a:pt x="2" y="0"/>
                    <a:pt x="6" y="0"/>
                  </a:cubicBezTo>
                  <a:cubicBezTo>
                    <a:pt x="9" y="0"/>
                    <a:pt x="12" y="3"/>
                    <a:pt x="12" y="6"/>
                  </a:cubicBezTo>
                  <a:cubicBezTo>
                    <a:pt x="12" y="30"/>
                    <a:pt x="12" y="30"/>
                    <a:pt x="12" y="30"/>
                  </a:cubicBezTo>
                  <a:cubicBezTo>
                    <a:pt x="12" y="33"/>
                    <a:pt x="9"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97" name="Freeform 133">
              <a:extLst>
                <a:ext uri="{FF2B5EF4-FFF2-40B4-BE49-F238E27FC236}">
                  <a16:creationId xmlns:a16="http://schemas.microsoft.com/office/drawing/2014/main" id="{DC69E4D9-5569-192C-0A28-C04997BC0B32}"/>
                </a:ext>
              </a:extLst>
            </p:cNvPr>
            <p:cNvSpPr>
              <a:spLocks/>
            </p:cNvSpPr>
            <p:nvPr/>
          </p:nvSpPr>
          <p:spPr bwMode="auto">
            <a:xfrm>
              <a:off x="1575" y="2998"/>
              <a:ext cx="18" cy="36"/>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2" y="24"/>
                    <a:pt x="0" y="21"/>
                    <a:pt x="0" y="18"/>
                  </a:cubicBezTo>
                  <a:cubicBezTo>
                    <a:pt x="0" y="6"/>
                    <a:pt x="0" y="6"/>
                    <a:pt x="0" y="6"/>
                  </a:cubicBezTo>
                  <a:cubicBezTo>
                    <a:pt x="0" y="3"/>
                    <a:pt x="2" y="0"/>
                    <a:pt x="6" y="0"/>
                  </a:cubicBezTo>
                  <a:cubicBezTo>
                    <a:pt x="9" y="0"/>
                    <a:pt x="12" y="3"/>
                    <a:pt x="12" y="6"/>
                  </a:cubicBezTo>
                  <a:cubicBezTo>
                    <a:pt x="12" y="18"/>
                    <a:pt x="12" y="18"/>
                    <a:pt x="12" y="18"/>
                  </a:cubicBezTo>
                  <a:cubicBezTo>
                    <a:pt x="12" y="21"/>
                    <a:pt x="9"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98" name="Freeform 134">
              <a:extLst>
                <a:ext uri="{FF2B5EF4-FFF2-40B4-BE49-F238E27FC236}">
                  <a16:creationId xmlns:a16="http://schemas.microsoft.com/office/drawing/2014/main" id="{D00A2286-6887-433E-22A0-ADBAF254BF98}"/>
                </a:ext>
              </a:extLst>
            </p:cNvPr>
            <p:cNvSpPr>
              <a:spLocks/>
            </p:cNvSpPr>
            <p:nvPr/>
          </p:nvSpPr>
          <p:spPr bwMode="auto">
            <a:xfrm>
              <a:off x="1686" y="3049"/>
              <a:ext cx="33" cy="31"/>
            </a:xfrm>
            <a:custGeom>
              <a:avLst/>
              <a:gdLst>
                <a:gd name="T0" fmla="*/ 7 w 22"/>
                <a:gd name="T1" fmla="*/ 21 h 21"/>
                <a:gd name="T2" fmla="*/ 3 w 22"/>
                <a:gd name="T3" fmla="*/ 20 h 21"/>
                <a:gd name="T4" fmla="*/ 3 w 22"/>
                <a:gd name="T5" fmla="*/ 11 h 21"/>
                <a:gd name="T6" fmla="*/ 11 w 22"/>
                <a:gd name="T7" fmla="*/ 3 h 21"/>
                <a:gd name="T8" fmla="*/ 20 w 22"/>
                <a:gd name="T9" fmla="*/ 3 h 21"/>
                <a:gd name="T10" fmla="*/ 20 w 22"/>
                <a:gd name="T11" fmla="*/ 11 h 21"/>
                <a:gd name="T12" fmla="*/ 11 w 22"/>
                <a:gd name="T13" fmla="*/ 20 h 21"/>
                <a:gd name="T14" fmla="*/ 7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7" y="21"/>
                  </a:moveTo>
                  <a:cubicBezTo>
                    <a:pt x="5" y="21"/>
                    <a:pt x="4" y="21"/>
                    <a:pt x="3" y="20"/>
                  </a:cubicBezTo>
                  <a:cubicBezTo>
                    <a:pt x="0" y="17"/>
                    <a:pt x="0" y="14"/>
                    <a:pt x="3" y="11"/>
                  </a:cubicBezTo>
                  <a:cubicBezTo>
                    <a:pt x="11" y="3"/>
                    <a:pt x="11" y="3"/>
                    <a:pt x="11" y="3"/>
                  </a:cubicBezTo>
                  <a:cubicBezTo>
                    <a:pt x="14" y="0"/>
                    <a:pt x="17" y="0"/>
                    <a:pt x="20" y="3"/>
                  </a:cubicBezTo>
                  <a:cubicBezTo>
                    <a:pt x="22" y="5"/>
                    <a:pt x="22" y="9"/>
                    <a:pt x="20" y="11"/>
                  </a:cubicBezTo>
                  <a:cubicBezTo>
                    <a:pt x="11" y="20"/>
                    <a:pt x="11" y="20"/>
                    <a:pt x="11" y="20"/>
                  </a:cubicBezTo>
                  <a:cubicBezTo>
                    <a:pt x="10" y="21"/>
                    <a:pt x="9" y="21"/>
                    <a:pt x="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99" name="Freeform 135">
              <a:extLst>
                <a:ext uri="{FF2B5EF4-FFF2-40B4-BE49-F238E27FC236}">
                  <a16:creationId xmlns:a16="http://schemas.microsoft.com/office/drawing/2014/main" id="{C474C1D6-8CE6-697B-68CA-CB094EF5EF80}"/>
                </a:ext>
              </a:extLst>
            </p:cNvPr>
            <p:cNvSpPr>
              <a:spLocks/>
            </p:cNvSpPr>
            <p:nvPr/>
          </p:nvSpPr>
          <p:spPr bwMode="auto">
            <a:xfrm>
              <a:off x="1735" y="3176"/>
              <a:ext cx="36" cy="18"/>
            </a:xfrm>
            <a:custGeom>
              <a:avLst/>
              <a:gdLst>
                <a:gd name="T0" fmla="*/ 18 w 24"/>
                <a:gd name="T1" fmla="*/ 12 h 12"/>
                <a:gd name="T2" fmla="*/ 6 w 24"/>
                <a:gd name="T3" fmla="*/ 12 h 12"/>
                <a:gd name="T4" fmla="*/ 0 w 24"/>
                <a:gd name="T5" fmla="*/ 6 h 12"/>
                <a:gd name="T6" fmla="*/ 6 w 24"/>
                <a:gd name="T7" fmla="*/ 0 h 12"/>
                <a:gd name="T8" fmla="*/ 18 w 24"/>
                <a:gd name="T9" fmla="*/ 0 h 12"/>
                <a:gd name="T10" fmla="*/ 24 w 24"/>
                <a:gd name="T11" fmla="*/ 6 h 12"/>
                <a:gd name="T12" fmla="*/ 18 w 2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12"/>
                  </a:moveTo>
                  <a:cubicBezTo>
                    <a:pt x="6" y="12"/>
                    <a:pt x="6" y="12"/>
                    <a:pt x="6" y="12"/>
                  </a:cubicBezTo>
                  <a:cubicBezTo>
                    <a:pt x="2" y="12"/>
                    <a:pt x="0" y="9"/>
                    <a:pt x="0" y="6"/>
                  </a:cubicBezTo>
                  <a:cubicBezTo>
                    <a:pt x="0" y="3"/>
                    <a:pt x="2" y="0"/>
                    <a:pt x="6" y="0"/>
                  </a:cubicBezTo>
                  <a:cubicBezTo>
                    <a:pt x="18" y="0"/>
                    <a:pt x="18" y="0"/>
                    <a:pt x="18" y="0"/>
                  </a:cubicBezTo>
                  <a:cubicBezTo>
                    <a:pt x="21" y="0"/>
                    <a:pt x="24" y="3"/>
                    <a:pt x="24" y="6"/>
                  </a:cubicBezTo>
                  <a:cubicBezTo>
                    <a:pt x="24" y="9"/>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200" name="Freeform 136">
              <a:extLst>
                <a:ext uri="{FF2B5EF4-FFF2-40B4-BE49-F238E27FC236}">
                  <a16:creationId xmlns:a16="http://schemas.microsoft.com/office/drawing/2014/main" id="{C25B0DAB-5CAE-9BB6-DFF8-C9AEB4D4A373}"/>
                </a:ext>
              </a:extLst>
            </p:cNvPr>
            <p:cNvSpPr>
              <a:spLocks/>
            </p:cNvSpPr>
            <p:nvPr/>
          </p:nvSpPr>
          <p:spPr bwMode="auto">
            <a:xfrm>
              <a:off x="1686" y="3288"/>
              <a:ext cx="33" cy="31"/>
            </a:xfrm>
            <a:custGeom>
              <a:avLst/>
              <a:gdLst>
                <a:gd name="T0" fmla="*/ 15 w 22"/>
                <a:gd name="T1" fmla="*/ 21 h 21"/>
                <a:gd name="T2" fmla="*/ 11 w 22"/>
                <a:gd name="T3" fmla="*/ 19 h 21"/>
                <a:gd name="T4" fmla="*/ 3 w 22"/>
                <a:gd name="T5" fmla="*/ 10 h 21"/>
                <a:gd name="T6" fmla="*/ 3 w 22"/>
                <a:gd name="T7" fmla="*/ 2 h 21"/>
                <a:gd name="T8" fmla="*/ 11 w 22"/>
                <a:gd name="T9" fmla="*/ 2 h 21"/>
                <a:gd name="T10" fmla="*/ 20 w 22"/>
                <a:gd name="T11" fmla="*/ 10 h 21"/>
                <a:gd name="T12" fmla="*/ 20 w 22"/>
                <a:gd name="T13" fmla="*/ 19 h 21"/>
                <a:gd name="T14" fmla="*/ 15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15" y="21"/>
                  </a:moveTo>
                  <a:cubicBezTo>
                    <a:pt x="14" y="21"/>
                    <a:pt x="12" y="20"/>
                    <a:pt x="11" y="19"/>
                  </a:cubicBezTo>
                  <a:cubicBezTo>
                    <a:pt x="3" y="10"/>
                    <a:pt x="3" y="10"/>
                    <a:pt x="3" y="10"/>
                  </a:cubicBezTo>
                  <a:cubicBezTo>
                    <a:pt x="0" y="8"/>
                    <a:pt x="0" y="4"/>
                    <a:pt x="3" y="2"/>
                  </a:cubicBezTo>
                  <a:cubicBezTo>
                    <a:pt x="5" y="0"/>
                    <a:pt x="9" y="0"/>
                    <a:pt x="11" y="2"/>
                  </a:cubicBezTo>
                  <a:cubicBezTo>
                    <a:pt x="20" y="10"/>
                    <a:pt x="20" y="10"/>
                    <a:pt x="20" y="10"/>
                  </a:cubicBezTo>
                  <a:cubicBezTo>
                    <a:pt x="22" y="13"/>
                    <a:pt x="22" y="17"/>
                    <a:pt x="20" y="19"/>
                  </a:cubicBezTo>
                  <a:cubicBezTo>
                    <a:pt x="19" y="20"/>
                    <a:pt x="17"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201" name="Freeform 137">
              <a:extLst>
                <a:ext uri="{FF2B5EF4-FFF2-40B4-BE49-F238E27FC236}">
                  <a16:creationId xmlns:a16="http://schemas.microsoft.com/office/drawing/2014/main" id="{4ABF1E0E-3C6F-6D94-BC56-F7A821046D58}"/>
                </a:ext>
              </a:extLst>
            </p:cNvPr>
            <p:cNvSpPr>
              <a:spLocks/>
            </p:cNvSpPr>
            <p:nvPr/>
          </p:nvSpPr>
          <p:spPr bwMode="auto">
            <a:xfrm>
              <a:off x="1448" y="3049"/>
              <a:ext cx="32" cy="31"/>
            </a:xfrm>
            <a:custGeom>
              <a:avLst/>
              <a:gdLst>
                <a:gd name="T0" fmla="*/ 15 w 22"/>
                <a:gd name="T1" fmla="*/ 21 h 21"/>
                <a:gd name="T2" fmla="*/ 11 w 22"/>
                <a:gd name="T3" fmla="*/ 20 h 21"/>
                <a:gd name="T4" fmla="*/ 3 w 22"/>
                <a:gd name="T5" fmla="*/ 11 h 21"/>
                <a:gd name="T6" fmla="*/ 3 w 22"/>
                <a:gd name="T7" fmla="*/ 3 h 21"/>
                <a:gd name="T8" fmla="*/ 11 w 22"/>
                <a:gd name="T9" fmla="*/ 3 h 21"/>
                <a:gd name="T10" fmla="*/ 20 w 22"/>
                <a:gd name="T11" fmla="*/ 11 h 21"/>
                <a:gd name="T12" fmla="*/ 20 w 22"/>
                <a:gd name="T13" fmla="*/ 20 h 21"/>
                <a:gd name="T14" fmla="*/ 15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15" y="21"/>
                  </a:moveTo>
                  <a:cubicBezTo>
                    <a:pt x="14" y="21"/>
                    <a:pt x="12" y="21"/>
                    <a:pt x="11" y="20"/>
                  </a:cubicBezTo>
                  <a:cubicBezTo>
                    <a:pt x="3" y="11"/>
                    <a:pt x="3" y="11"/>
                    <a:pt x="3" y="11"/>
                  </a:cubicBezTo>
                  <a:cubicBezTo>
                    <a:pt x="0" y="9"/>
                    <a:pt x="0" y="5"/>
                    <a:pt x="3" y="3"/>
                  </a:cubicBezTo>
                  <a:cubicBezTo>
                    <a:pt x="5" y="0"/>
                    <a:pt x="9" y="0"/>
                    <a:pt x="11" y="3"/>
                  </a:cubicBezTo>
                  <a:cubicBezTo>
                    <a:pt x="20" y="11"/>
                    <a:pt x="20" y="11"/>
                    <a:pt x="20" y="11"/>
                  </a:cubicBezTo>
                  <a:cubicBezTo>
                    <a:pt x="22" y="14"/>
                    <a:pt x="22" y="17"/>
                    <a:pt x="20" y="20"/>
                  </a:cubicBezTo>
                  <a:cubicBezTo>
                    <a:pt x="18" y="21"/>
                    <a:pt x="17"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202" name="Freeform 138">
              <a:extLst>
                <a:ext uri="{FF2B5EF4-FFF2-40B4-BE49-F238E27FC236}">
                  <a16:creationId xmlns:a16="http://schemas.microsoft.com/office/drawing/2014/main" id="{F6FEF0A0-3CB3-3DE6-CE8D-95183065CF58}"/>
                </a:ext>
              </a:extLst>
            </p:cNvPr>
            <p:cNvSpPr>
              <a:spLocks/>
            </p:cNvSpPr>
            <p:nvPr/>
          </p:nvSpPr>
          <p:spPr bwMode="auto">
            <a:xfrm>
              <a:off x="1398" y="3176"/>
              <a:ext cx="35" cy="18"/>
            </a:xfrm>
            <a:custGeom>
              <a:avLst/>
              <a:gdLst>
                <a:gd name="T0" fmla="*/ 18 w 24"/>
                <a:gd name="T1" fmla="*/ 12 h 12"/>
                <a:gd name="T2" fmla="*/ 6 w 24"/>
                <a:gd name="T3" fmla="*/ 12 h 12"/>
                <a:gd name="T4" fmla="*/ 0 w 24"/>
                <a:gd name="T5" fmla="*/ 6 h 12"/>
                <a:gd name="T6" fmla="*/ 6 w 24"/>
                <a:gd name="T7" fmla="*/ 0 h 12"/>
                <a:gd name="T8" fmla="*/ 18 w 24"/>
                <a:gd name="T9" fmla="*/ 0 h 12"/>
                <a:gd name="T10" fmla="*/ 24 w 24"/>
                <a:gd name="T11" fmla="*/ 6 h 12"/>
                <a:gd name="T12" fmla="*/ 18 w 2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12"/>
                  </a:moveTo>
                  <a:cubicBezTo>
                    <a:pt x="6" y="12"/>
                    <a:pt x="6" y="12"/>
                    <a:pt x="6" y="12"/>
                  </a:cubicBezTo>
                  <a:cubicBezTo>
                    <a:pt x="2" y="12"/>
                    <a:pt x="0" y="9"/>
                    <a:pt x="0" y="6"/>
                  </a:cubicBezTo>
                  <a:cubicBezTo>
                    <a:pt x="0" y="3"/>
                    <a:pt x="2" y="0"/>
                    <a:pt x="6" y="0"/>
                  </a:cubicBezTo>
                  <a:cubicBezTo>
                    <a:pt x="18" y="0"/>
                    <a:pt x="18" y="0"/>
                    <a:pt x="18" y="0"/>
                  </a:cubicBezTo>
                  <a:cubicBezTo>
                    <a:pt x="21" y="0"/>
                    <a:pt x="24" y="3"/>
                    <a:pt x="24" y="6"/>
                  </a:cubicBezTo>
                  <a:cubicBezTo>
                    <a:pt x="24" y="9"/>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203" name="Freeform 139">
              <a:extLst>
                <a:ext uri="{FF2B5EF4-FFF2-40B4-BE49-F238E27FC236}">
                  <a16:creationId xmlns:a16="http://schemas.microsoft.com/office/drawing/2014/main" id="{9C088476-A33C-29F0-0232-4BA0DE03F929}"/>
                </a:ext>
              </a:extLst>
            </p:cNvPr>
            <p:cNvSpPr>
              <a:spLocks/>
            </p:cNvSpPr>
            <p:nvPr/>
          </p:nvSpPr>
          <p:spPr bwMode="auto">
            <a:xfrm>
              <a:off x="1448" y="3288"/>
              <a:ext cx="32" cy="31"/>
            </a:xfrm>
            <a:custGeom>
              <a:avLst/>
              <a:gdLst>
                <a:gd name="T0" fmla="*/ 7 w 22"/>
                <a:gd name="T1" fmla="*/ 21 h 21"/>
                <a:gd name="T2" fmla="*/ 3 w 22"/>
                <a:gd name="T3" fmla="*/ 19 h 21"/>
                <a:gd name="T4" fmla="*/ 3 w 22"/>
                <a:gd name="T5" fmla="*/ 10 h 21"/>
                <a:gd name="T6" fmla="*/ 11 w 22"/>
                <a:gd name="T7" fmla="*/ 2 h 21"/>
                <a:gd name="T8" fmla="*/ 20 w 22"/>
                <a:gd name="T9" fmla="*/ 2 h 21"/>
                <a:gd name="T10" fmla="*/ 20 w 22"/>
                <a:gd name="T11" fmla="*/ 10 h 21"/>
                <a:gd name="T12" fmla="*/ 11 w 22"/>
                <a:gd name="T13" fmla="*/ 19 h 21"/>
                <a:gd name="T14" fmla="*/ 7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7" y="21"/>
                  </a:moveTo>
                  <a:cubicBezTo>
                    <a:pt x="5" y="21"/>
                    <a:pt x="4" y="20"/>
                    <a:pt x="3" y="19"/>
                  </a:cubicBezTo>
                  <a:cubicBezTo>
                    <a:pt x="0" y="17"/>
                    <a:pt x="0" y="13"/>
                    <a:pt x="3" y="10"/>
                  </a:cubicBezTo>
                  <a:cubicBezTo>
                    <a:pt x="11" y="2"/>
                    <a:pt x="11" y="2"/>
                    <a:pt x="11" y="2"/>
                  </a:cubicBezTo>
                  <a:cubicBezTo>
                    <a:pt x="13" y="0"/>
                    <a:pt x="17" y="0"/>
                    <a:pt x="20" y="2"/>
                  </a:cubicBezTo>
                  <a:cubicBezTo>
                    <a:pt x="22" y="4"/>
                    <a:pt x="22" y="8"/>
                    <a:pt x="20" y="10"/>
                  </a:cubicBezTo>
                  <a:cubicBezTo>
                    <a:pt x="11" y="19"/>
                    <a:pt x="11" y="19"/>
                    <a:pt x="11" y="19"/>
                  </a:cubicBezTo>
                  <a:cubicBezTo>
                    <a:pt x="10" y="20"/>
                    <a:pt x="8" y="21"/>
                    <a:pt x="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204" name="Freeform 140">
              <a:extLst>
                <a:ext uri="{FF2B5EF4-FFF2-40B4-BE49-F238E27FC236}">
                  <a16:creationId xmlns:a16="http://schemas.microsoft.com/office/drawing/2014/main" id="{BE8D7658-A68B-3AED-E692-FC8ABDB1B8E6}"/>
                </a:ext>
              </a:extLst>
            </p:cNvPr>
            <p:cNvSpPr>
              <a:spLocks noEditPoints="1"/>
            </p:cNvSpPr>
            <p:nvPr/>
          </p:nvSpPr>
          <p:spPr bwMode="auto">
            <a:xfrm>
              <a:off x="1504" y="3176"/>
              <a:ext cx="160" cy="133"/>
            </a:xfrm>
            <a:custGeom>
              <a:avLst/>
              <a:gdLst>
                <a:gd name="T0" fmla="*/ 60 w 108"/>
                <a:gd name="T1" fmla="*/ 90 h 90"/>
                <a:gd name="T2" fmla="*/ 58 w 108"/>
                <a:gd name="T3" fmla="*/ 90 h 90"/>
                <a:gd name="T4" fmla="*/ 54 w 108"/>
                <a:gd name="T5" fmla="*/ 84 h 90"/>
                <a:gd name="T6" fmla="*/ 49 w 108"/>
                <a:gd name="T7" fmla="*/ 90 h 90"/>
                <a:gd name="T8" fmla="*/ 42 w 108"/>
                <a:gd name="T9" fmla="*/ 85 h 90"/>
                <a:gd name="T10" fmla="*/ 30 w 108"/>
                <a:gd name="T11" fmla="*/ 36 h 90"/>
                <a:gd name="T12" fmla="*/ 18 w 108"/>
                <a:gd name="T13" fmla="*/ 36 h 90"/>
                <a:gd name="T14" fmla="*/ 0 w 108"/>
                <a:gd name="T15" fmla="*/ 18 h 90"/>
                <a:gd name="T16" fmla="*/ 18 w 108"/>
                <a:gd name="T17" fmla="*/ 0 h 90"/>
                <a:gd name="T18" fmla="*/ 38 w 108"/>
                <a:gd name="T19" fmla="*/ 16 h 90"/>
                <a:gd name="T20" fmla="*/ 40 w 108"/>
                <a:gd name="T21" fmla="*/ 24 h 90"/>
                <a:gd name="T22" fmla="*/ 67 w 108"/>
                <a:gd name="T23" fmla="*/ 24 h 90"/>
                <a:gd name="T24" fmla="*/ 69 w 108"/>
                <a:gd name="T25" fmla="*/ 16 h 90"/>
                <a:gd name="T26" fmla="*/ 90 w 108"/>
                <a:gd name="T27" fmla="*/ 0 h 90"/>
                <a:gd name="T28" fmla="*/ 108 w 108"/>
                <a:gd name="T29" fmla="*/ 18 h 90"/>
                <a:gd name="T30" fmla="*/ 90 w 108"/>
                <a:gd name="T31" fmla="*/ 36 h 90"/>
                <a:gd name="T32" fmla="*/ 77 w 108"/>
                <a:gd name="T33" fmla="*/ 36 h 90"/>
                <a:gd name="T34" fmla="*/ 65 w 108"/>
                <a:gd name="T35" fmla="*/ 85 h 90"/>
                <a:gd name="T36" fmla="*/ 60 w 108"/>
                <a:gd name="T37" fmla="*/ 90 h 90"/>
                <a:gd name="T38" fmla="*/ 43 w 108"/>
                <a:gd name="T39" fmla="*/ 36 h 90"/>
                <a:gd name="T40" fmla="*/ 53 w 108"/>
                <a:gd name="T41" fmla="*/ 82 h 90"/>
                <a:gd name="T42" fmla="*/ 54 w 108"/>
                <a:gd name="T43" fmla="*/ 84 h 90"/>
                <a:gd name="T44" fmla="*/ 54 w 108"/>
                <a:gd name="T45" fmla="*/ 82 h 90"/>
                <a:gd name="T46" fmla="*/ 65 w 108"/>
                <a:gd name="T47" fmla="*/ 36 h 90"/>
                <a:gd name="T48" fmla="*/ 43 w 108"/>
                <a:gd name="T49" fmla="*/ 36 h 90"/>
                <a:gd name="T50" fmla="*/ 80 w 108"/>
                <a:gd name="T51" fmla="*/ 24 h 90"/>
                <a:gd name="T52" fmla="*/ 90 w 108"/>
                <a:gd name="T53" fmla="*/ 24 h 90"/>
                <a:gd name="T54" fmla="*/ 96 w 108"/>
                <a:gd name="T55" fmla="*/ 18 h 90"/>
                <a:gd name="T56" fmla="*/ 90 w 108"/>
                <a:gd name="T57" fmla="*/ 12 h 90"/>
                <a:gd name="T58" fmla="*/ 81 w 108"/>
                <a:gd name="T59" fmla="*/ 19 h 90"/>
                <a:gd name="T60" fmla="*/ 80 w 108"/>
                <a:gd name="T61" fmla="*/ 24 h 90"/>
                <a:gd name="T62" fmla="*/ 18 w 108"/>
                <a:gd name="T63" fmla="*/ 12 h 90"/>
                <a:gd name="T64" fmla="*/ 12 w 108"/>
                <a:gd name="T65" fmla="*/ 18 h 90"/>
                <a:gd name="T66" fmla="*/ 18 w 108"/>
                <a:gd name="T67" fmla="*/ 24 h 90"/>
                <a:gd name="T68" fmla="*/ 28 w 108"/>
                <a:gd name="T69" fmla="*/ 24 h 90"/>
                <a:gd name="T70" fmla="*/ 26 w 108"/>
                <a:gd name="T71" fmla="*/ 19 h 90"/>
                <a:gd name="T72" fmla="*/ 18 w 108"/>
                <a:gd name="T73"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8" h="90">
                  <a:moveTo>
                    <a:pt x="60" y="90"/>
                  </a:moveTo>
                  <a:cubicBezTo>
                    <a:pt x="59" y="90"/>
                    <a:pt x="59" y="90"/>
                    <a:pt x="58" y="90"/>
                  </a:cubicBezTo>
                  <a:cubicBezTo>
                    <a:pt x="56" y="89"/>
                    <a:pt x="54" y="87"/>
                    <a:pt x="54" y="84"/>
                  </a:cubicBezTo>
                  <a:cubicBezTo>
                    <a:pt x="54" y="87"/>
                    <a:pt x="52" y="89"/>
                    <a:pt x="49" y="90"/>
                  </a:cubicBezTo>
                  <a:cubicBezTo>
                    <a:pt x="46" y="90"/>
                    <a:pt x="43" y="88"/>
                    <a:pt x="42" y="85"/>
                  </a:cubicBezTo>
                  <a:cubicBezTo>
                    <a:pt x="30" y="36"/>
                    <a:pt x="30" y="36"/>
                    <a:pt x="30" y="36"/>
                  </a:cubicBezTo>
                  <a:cubicBezTo>
                    <a:pt x="18" y="36"/>
                    <a:pt x="18" y="36"/>
                    <a:pt x="18" y="36"/>
                  </a:cubicBezTo>
                  <a:cubicBezTo>
                    <a:pt x="8" y="36"/>
                    <a:pt x="0" y="28"/>
                    <a:pt x="0" y="18"/>
                  </a:cubicBezTo>
                  <a:cubicBezTo>
                    <a:pt x="0" y="8"/>
                    <a:pt x="8" y="0"/>
                    <a:pt x="18" y="0"/>
                  </a:cubicBezTo>
                  <a:cubicBezTo>
                    <a:pt x="28" y="0"/>
                    <a:pt x="36" y="7"/>
                    <a:pt x="38" y="16"/>
                  </a:cubicBezTo>
                  <a:cubicBezTo>
                    <a:pt x="40" y="24"/>
                    <a:pt x="40" y="24"/>
                    <a:pt x="40" y="24"/>
                  </a:cubicBezTo>
                  <a:cubicBezTo>
                    <a:pt x="67" y="24"/>
                    <a:pt x="67" y="24"/>
                    <a:pt x="67" y="24"/>
                  </a:cubicBezTo>
                  <a:cubicBezTo>
                    <a:pt x="69" y="16"/>
                    <a:pt x="69" y="16"/>
                    <a:pt x="69" y="16"/>
                  </a:cubicBezTo>
                  <a:cubicBezTo>
                    <a:pt x="71" y="7"/>
                    <a:pt x="80" y="0"/>
                    <a:pt x="90" y="0"/>
                  </a:cubicBezTo>
                  <a:cubicBezTo>
                    <a:pt x="100" y="0"/>
                    <a:pt x="108" y="8"/>
                    <a:pt x="108" y="18"/>
                  </a:cubicBezTo>
                  <a:cubicBezTo>
                    <a:pt x="108" y="28"/>
                    <a:pt x="100" y="36"/>
                    <a:pt x="90" y="36"/>
                  </a:cubicBezTo>
                  <a:cubicBezTo>
                    <a:pt x="77" y="36"/>
                    <a:pt x="77" y="36"/>
                    <a:pt x="77" y="36"/>
                  </a:cubicBezTo>
                  <a:cubicBezTo>
                    <a:pt x="65" y="85"/>
                    <a:pt x="65" y="85"/>
                    <a:pt x="65" y="85"/>
                  </a:cubicBezTo>
                  <a:cubicBezTo>
                    <a:pt x="65" y="88"/>
                    <a:pt x="62" y="90"/>
                    <a:pt x="60" y="90"/>
                  </a:cubicBezTo>
                  <a:close/>
                  <a:moveTo>
                    <a:pt x="43" y="36"/>
                  </a:moveTo>
                  <a:cubicBezTo>
                    <a:pt x="53" y="82"/>
                    <a:pt x="53" y="82"/>
                    <a:pt x="53" y="82"/>
                  </a:cubicBezTo>
                  <a:cubicBezTo>
                    <a:pt x="54" y="83"/>
                    <a:pt x="54" y="83"/>
                    <a:pt x="54" y="84"/>
                  </a:cubicBezTo>
                  <a:cubicBezTo>
                    <a:pt x="54" y="83"/>
                    <a:pt x="54" y="83"/>
                    <a:pt x="54" y="82"/>
                  </a:cubicBezTo>
                  <a:cubicBezTo>
                    <a:pt x="65" y="36"/>
                    <a:pt x="65" y="36"/>
                    <a:pt x="65" y="36"/>
                  </a:cubicBezTo>
                  <a:lnTo>
                    <a:pt x="43" y="36"/>
                  </a:lnTo>
                  <a:close/>
                  <a:moveTo>
                    <a:pt x="80" y="24"/>
                  </a:moveTo>
                  <a:cubicBezTo>
                    <a:pt x="90" y="24"/>
                    <a:pt x="90" y="24"/>
                    <a:pt x="90" y="24"/>
                  </a:cubicBezTo>
                  <a:cubicBezTo>
                    <a:pt x="93" y="24"/>
                    <a:pt x="96" y="21"/>
                    <a:pt x="96" y="18"/>
                  </a:cubicBezTo>
                  <a:cubicBezTo>
                    <a:pt x="96" y="15"/>
                    <a:pt x="93" y="12"/>
                    <a:pt x="90" y="12"/>
                  </a:cubicBezTo>
                  <a:cubicBezTo>
                    <a:pt x="85" y="12"/>
                    <a:pt x="82" y="15"/>
                    <a:pt x="81" y="19"/>
                  </a:cubicBezTo>
                  <a:lnTo>
                    <a:pt x="80" y="24"/>
                  </a:lnTo>
                  <a:close/>
                  <a:moveTo>
                    <a:pt x="18" y="12"/>
                  </a:moveTo>
                  <a:cubicBezTo>
                    <a:pt x="14" y="12"/>
                    <a:pt x="12" y="15"/>
                    <a:pt x="12" y="18"/>
                  </a:cubicBezTo>
                  <a:cubicBezTo>
                    <a:pt x="12" y="21"/>
                    <a:pt x="14" y="24"/>
                    <a:pt x="18" y="24"/>
                  </a:cubicBezTo>
                  <a:cubicBezTo>
                    <a:pt x="28" y="24"/>
                    <a:pt x="28" y="24"/>
                    <a:pt x="28" y="24"/>
                  </a:cubicBezTo>
                  <a:cubicBezTo>
                    <a:pt x="26" y="19"/>
                    <a:pt x="26" y="19"/>
                    <a:pt x="26" y="19"/>
                  </a:cubicBezTo>
                  <a:cubicBezTo>
                    <a:pt x="26" y="15"/>
                    <a:pt x="22"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grpSp>
      <p:sp>
        <p:nvSpPr>
          <p:cNvPr id="5209" name="Marcador de pie de página 5208">
            <a:extLst>
              <a:ext uri="{FF2B5EF4-FFF2-40B4-BE49-F238E27FC236}">
                <a16:creationId xmlns:a16="http://schemas.microsoft.com/office/drawing/2014/main" id="{2E625B5C-3040-7CBF-51DB-04B454696C3F}"/>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5315128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3" name="Objeto 5122" hidden="1">
            <a:extLst>
              <a:ext uri="{FF2B5EF4-FFF2-40B4-BE49-F238E27FC236}">
                <a16:creationId xmlns:a16="http://schemas.microsoft.com/office/drawing/2014/main" id="{ECF77EF7-4A88-C9C0-6BCD-F4B4DD9A227E}"/>
              </a:ext>
            </a:extLst>
          </p:cNvPr>
          <p:cNvGraphicFramePr>
            <a:graphicFrameLocks noChangeAspect="1"/>
          </p:cNvGraphicFramePr>
          <p:nvPr>
            <p:custDataLst>
              <p:tags r:id="rId1"/>
            </p:custDataLst>
            <p:extLst>
              <p:ext uri="{D42A27DB-BD31-4B8C-83A1-F6EECF244321}">
                <p14:modId xmlns:p14="http://schemas.microsoft.com/office/powerpoint/2010/main" val="40021450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5123" name="Objeto 5122" hidden="1">
                        <a:extLst>
                          <a:ext uri="{FF2B5EF4-FFF2-40B4-BE49-F238E27FC236}">
                            <a16:creationId xmlns:a16="http://schemas.microsoft.com/office/drawing/2014/main" id="{ECF77EF7-4A88-C9C0-6BCD-F4B4DD9A227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132" name="Forma libre: forma 5131">
            <a:extLst>
              <a:ext uri="{FF2B5EF4-FFF2-40B4-BE49-F238E27FC236}">
                <a16:creationId xmlns:a16="http://schemas.microsoft.com/office/drawing/2014/main" id="{FD67ADCA-9500-A60A-A6CD-850F64081F3B}"/>
              </a:ext>
            </a:extLst>
          </p:cNvPr>
          <p:cNvSpPr/>
          <p:nvPr/>
        </p:nvSpPr>
        <p:spPr>
          <a:xfrm>
            <a:off x="2057400" y="2638425"/>
            <a:ext cx="4881563" cy="2114550"/>
          </a:xfrm>
          <a:custGeom>
            <a:avLst/>
            <a:gdLst>
              <a:gd name="connsiteX0" fmla="*/ 4876800 w 4881563"/>
              <a:gd name="connsiteY0" fmla="*/ 0 h 2114550"/>
              <a:gd name="connsiteX1" fmla="*/ 4595813 w 4881563"/>
              <a:gd name="connsiteY1" fmla="*/ 38100 h 2114550"/>
              <a:gd name="connsiteX2" fmla="*/ 4219575 w 4881563"/>
              <a:gd name="connsiteY2" fmla="*/ 157163 h 2114550"/>
              <a:gd name="connsiteX3" fmla="*/ 4067175 w 4881563"/>
              <a:gd name="connsiteY3" fmla="*/ 233363 h 2114550"/>
              <a:gd name="connsiteX4" fmla="*/ 3924300 w 4881563"/>
              <a:gd name="connsiteY4" fmla="*/ 338138 h 2114550"/>
              <a:gd name="connsiteX5" fmla="*/ 3752850 w 4881563"/>
              <a:gd name="connsiteY5" fmla="*/ 504825 h 2114550"/>
              <a:gd name="connsiteX6" fmla="*/ 3529013 w 4881563"/>
              <a:gd name="connsiteY6" fmla="*/ 723900 h 2114550"/>
              <a:gd name="connsiteX7" fmla="*/ 3267075 w 4881563"/>
              <a:gd name="connsiteY7" fmla="*/ 919163 h 2114550"/>
              <a:gd name="connsiteX8" fmla="*/ 2833688 w 4881563"/>
              <a:gd name="connsiteY8" fmla="*/ 1162050 h 2114550"/>
              <a:gd name="connsiteX9" fmla="*/ 2486025 w 4881563"/>
              <a:gd name="connsiteY9" fmla="*/ 1352550 h 2114550"/>
              <a:gd name="connsiteX10" fmla="*/ 1933575 w 4881563"/>
              <a:gd name="connsiteY10" fmla="*/ 1600200 h 2114550"/>
              <a:gd name="connsiteX11" fmla="*/ 1524000 w 4881563"/>
              <a:gd name="connsiteY11" fmla="*/ 1752600 h 2114550"/>
              <a:gd name="connsiteX12" fmla="*/ 933450 w 4881563"/>
              <a:gd name="connsiteY12" fmla="*/ 1919288 h 2114550"/>
              <a:gd name="connsiteX13" fmla="*/ 461963 w 4881563"/>
              <a:gd name="connsiteY13" fmla="*/ 2024063 h 2114550"/>
              <a:gd name="connsiteX14" fmla="*/ 0 w 4881563"/>
              <a:gd name="connsiteY14" fmla="*/ 2114550 h 2114550"/>
              <a:gd name="connsiteX15" fmla="*/ 4881563 w 4881563"/>
              <a:gd name="connsiteY15" fmla="*/ 2114550 h 2114550"/>
              <a:gd name="connsiteX16" fmla="*/ 4876800 w 4881563"/>
              <a:gd name="connsiteY16" fmla="*/ 0 h 211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81563" h="2114550">
                <a:moveTo>
                  <a:pt x="4876800" y="0"/>
                </a:moveTo>
                <a:lnTo>
                  <a:pt x="4595813" y="38100"/>
                </a:lnTo>
                <a:lnTo>
                  <a:pt x="4219575" y="157163"/>
                </a:lnTo>
                <a:lnTo>
                  <a:pt x="4067175" y="233363"/>
                </a:lnTo>
                <a:lnTo>
                  <a:pt x="3924300" y="338138"/>
                </a:lnTo>
                <a:lnTo>
                  <a:pt x="3752850" y="504825"/>
                </a:lnTo>
                <a:lnTo>
                  <a:pt x="3529013" y="723900"/>
                </a:lnTo>
                <a:lnTo>
                  <a:pt x="3267075" y="919163"/>
                </a:lnTo>
                <a:lnTo>
                  <a:pt x="2833688" y="1162050"/>
                </a:lnTo>
                <a:lnTo>
                  <a:pt x="2486025" y="1352550"/>
                </a:lnTo>
                <a:lnTo>
                  <a:pt x="1933575" y="1600200"/>
                </a:lnTo>
                <a:lnTo>
                  <a:pt x="1524000" y="1752600"/>
                </a:lnTo>
                <a:lnTo>
                  <a:pt x="933450" y="1919288"/>
                </a:lnTo>
                <a:lnTo>
                  <a:pt x="461963" y="2024063"/>
                </a:lnTo>
                <a:lnTo>
                  <a:pt x="0" y="2114550"/>
                </a:lnTo>
                <a:lnTo>
                  <a:pt x="4881563" y="2114550"/>
                </a:lnTo>
                <a:cubicBezTo>
                  <a:pt x="4879975" y="1409700"/>
                  <a:pt x="4878388" y="704850"/>
                  <a:pt x="487680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134" name="Forma libre: forma 5133">
            <a:extLst>
              <a:ext uri="{FF2B5EF4-FFF2-40B4-BE49-F238E27FC236}">
                <a16:creationId xmlns:a16="http://schemas.microsoft.com/office/drawing/2014/main" id="{BFD480A4-90BA-A9ED-D1A8-8E89D737603D}"/>
              </a:ext>
            </a:extLst>
          </p:cNvPr>
          <p:cNvSpPr/>
          <p:nvPr/>
        </p:nvSpPr>
        <p:spPr>
          <a:xfrm>
            <a:off x="3939540" y="3567113"/>
            <a:ext cx="1370648" cy="1190625"/>
          </a:xfrm>
          <a:custGeom>
            <a:avLst/>
            <a:gdLst>
              <a:gd name="connsiteX0" fmla="*/ 1624013 w 1624013"/>
              <a:gd name="connsiteY0" fmla="*/ 0 h 1190625"/>
              <a:gd name="connsiteX1" fmla="*/ 1400175 w 1624013"/>
              <a:gd name="connsiteY1" fmla="*/ 133350 h 1190625"/>
              <a:gd name="connsiteX2" fmla="*/ 1066800 w 1624013"/>
              <a:gd name="connsiteY2" fmla="*/ 314325 h 1190625"/>
              <a:gd name="connsiteX3" fmla="*/ 752475 w 1624013"/>
              <a:gd name="connsiteY3" fmla="*/ 457200 h 1190625"/>
              <a:gd name="connsiteX4" fmla="*/ 481013 w 1624013"/>
              <a:gd name="connsiteY4" fmla="*/ 585787 h 1190625"/>
              <a:gd name="connsiteX5" fmla="*/ 223838 w 1624013"/>
              <a:gd name="connsiteY5" fmla="*/ 704850 h 1190625"/>
              <a:gd name="connsiteX6" fmla="*/ 0 w 1624013"/>
              <a:gd name="connsiteY6" fmla="*/ 785812 h 1190625"/>
              <a:gd name="connsiteX7" fmla="*/ 0 w 1624013"/>
              <a:gd name="connsiteY7" fmla="*/ 1190625 h 1190625"/>
              <a:gd name="connsiteX8" fmla="*/ 1624013 w 1624013"/>
              <a:gd name="connsiteY8" fmla="*/ 1190625 h 1190625"/>
              <a:gd name="connsiteX9" fmla="*/ 1624013 w 1624013"/>
              <a:gd name="connsiteY9" fmla="*/ 0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24013" h="1190625">
                <a:moveTo>
                  <a:pt x="1624013" y="0"/>
                </a:moveTo>
                <a:lnTo>
                  <a:pt x="1400175" y="133350"/>
                </a:lnTo>
                <a:lnTo>
                  <a:pt x="1066800" y="314325"/>
                </a:lnTo>
                <a:lnTo>
                  <a:pt x="752475" y="457200"/>
                </a:lnTo>
                <a:lnTo>
                  <a:pt x="481013" y="585787"/>
                </a:lnTo>
                <a:lnTo>
                  <a:pt x="223838" y="704850"/>
                </a:lnTo>
                <a:lnTo>
                  <a:pt x="0" y="785812"/>
                </a:lnTo>
                <a:lnTo>
                  <a:pt x="0" y="1190625"/>
                </a:lnTo>
                <a:lnTo>
                  <a:pt x="1624013" y="1190625"/>
                </a:lnTo>
                <a:lnTo>
                  <a:pt x="1624013"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135" name="Forma libre: forma 5134">
            <a:extLst>
              <a:ext uri="{FF2B5EF4-FFF2-40B4-BE49-F238E27FC236}">
                <a16:creationId xmlns:a16="http://schemas.microsoft.com/office/drawing/2014/main" id="{FC75B189-BF5A-5D7E-B421-8D4127C6E637}"/>
              </a:ext>
            </a:extLst>
          </p:cNvPr>
          <p:cNvSpPr/>
          <p:nvPr/>
        </p:nvSpPr>
        <p:spPr>
          <a:xfrm flipH="1">
            <a:off x="6936581" y="2638425"/>
            <a:ext cx="4881563" cy="2114550"/>
          </a:xfrm>
          <a:custGeom>
            <a:avLst/>
            <a:gdLst>
              <a:gd name="connsiteX0" fmla="*/ 4876800 w 4881563"/>
              <a:gd name="connsiteY0" fmla="*/ 0 h 2114550"/>
              <a:gd name="connsiteX1" fmla="*/ 4595813 w 4881563"/>
              <a:gd name="connsiteY1" fmla="*/ 38100 h 2114550"/>
              <a:gd name="connsiteX2" fmla="*/ 4219575 w 4881563"/>
              <a:gd name="connsiteY2" fmla="*/ 157163 h 2114550"/>
              <a:gd name="connsiteX3" fmla="*/ 4067175 w 4881563"/>
              <a:gd name="connsiteY3" fmla="*/ 233363 h 2114550"/>
              <a:gd name="connsiteX4" fmla="*/ 3924300 w 4881563"/>
              <a:gd name="connsiteY4" fmla="*/ 338138 h 2114550"/>
              <a:gd name="connsiteX5" fmla="*/ 3752850 w 4881563"/>
              <a:gd name="connsiteY5" fmla="*/ 504825 h 2114550"/>
              <a:gd name="connsiteX6" fmla="*/ 3529013 w 4881563"/>
              <a:gd name="connsiteY6" fmla="*/ 723900 h 2114550"/>
              <a:gd name="connsiteX7" fmla="*/ 3267075 w 4881563"/>
              <a:gd name="connsiteY7" fmla="*/ 919163 h 2114550"/>
              <a:gd name="connsiteX8" fmla="*/ 2833688 w 4881563"/>
              <a:gd name="connsiteY8" fmla="*/ 1162050 h 2114550"/>
              <a:gd name="connsiteX9" fmla="*/ 2486025 w 4881563"/>
              <a:gd name="connsiteY9" fmla="*/ 1352550 h 2114550"/>
              <a:gd name="connsiteX10" fmla="*/ 1933575 w 4881563"/>
              <a:gd name="connsiteY10" fmla="*/ 1600200 h 2114550"/>
              <a:gd name="connsiteX11" fmla="*/ 1524000 w 4881563"/>
              <a:gd name="connsiteY11" fmla="*/ 1752600 h 2114550"/>
              <a:gd name="connsiteX12" fmla="*/ 933450 w 4881563"/>
              <a:gd name="connsiteY12" fmla="*/ 1919288 h 2114550"/>
              <a:gd name="connsiteX13" fmla="*/ 461963 w 4881563"/>
              <a:gd name="connsiteY13" fmla="*/ 2024063 h 2114550"/>
              <a:gd name="connsiteX14" fmla="*/ 0 w 4881563"/>
              <a:gd name="connsiteY14" fmla="*/ 2114550 h 2114550"/>
              <a:gd name="connsiteX15" fmla="*/ 4881563 w 4881563"/>
              <a:gd name="connsiteY15" fmla="*/ 2114550 h 2114550"/>
              <a:gd name="connsiteX16" fmla="*/ 4876800 w 4881563"/>
              <a:gd name="connsiteY16" fmla="*/ 0 h 211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81563" h="2114550">
                <a:moveTo>
                  <a:pt x="4876800" y="0"/>
                </a:moveTo>
                <a:lnTo>
                  <a:pt x="4595813" y="38100"/>
                </a:lnTo>
                <a:lnTo>
                  <a:pt x="4219575" y="157163"/>
                </a:lnTo>
                <a:lnTo>
                  <a:pt x="4067175" y="233363"/>
                </a:lnTo>
                <a:lnTo>
                  <a:pt x="3924300" y="338138"/>
                </a:lnTo>
                <a:lnTo>
                  <a:pt x="3752850" y="504825"/>
                </a:lnTo>
                <a:lnTo>
                  <a:pt x="3529013" y="723900"/>
                </a:lnTo>
                <a:lnTo>
                  <a:pt x="3267075" y="919163"/>
                </a:lnTo>
                <a:lnTo>
                  <a:pt x="2833688" y="1162050"/>
                </a:lnTo>
                <a:lnTo>
                  <a:pt x="2486025" y="1352550"/>
                </a:lnTo>
                <a:lnTo>
                  <a:pt x="1933575" y="1600200"/>
                </a:lnTo>
                <a:lnTo>
                  <a:pt x="1524000" y="1752600"/>
                </a:lnTo>
                <a:lnTo>
                  <a:pt x="933450" y="1919288"/>
                </a:lnTo>
                <a:lnTo>
                  <a:pt x="461963" y="2024063"/>
                </a:lnTo>
                <a:lnTo>
                  <a:pt x="0" y="2114550"/>
                </a:lnTo>
                <a:lnTo>
                  <a:pt x="4881563" y="2114550"/>
                </a:lnTo>
                <a:cubicBezTo>
                  <a:pt x="4879975" y="1409700"/>
                  <a:pt x="4878388" y="704850"/>
                  <a:pt x="4876800"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136" name="Forma libre: forma 5135">
            <a:extLst>
              <a:ext uri="{FF2B5EF4-FFF2-40B4-BE49-F238E27FC236}">
                <a16:creationId xmlns:a16="http://schemas.microsoft.com/office/drawing/2014/main" id="{5C17B4DC-CE4E-E2B2-EA95-CA324D7A29BB}"/>
              </a:ext>
            </a:extLst>
          </p:cNvPr>
          <p:cNvSpPr/>
          <p:nvPr/>
        </p:nvSpPr>
        <p:spPr>
          <a:xfrm flipH="1">
            <a:off x="8565356" y="3567113"/>
            <a:ext cx="1624013" cy="1190625"/>
          </a:xfrm>
          <a:custGeom>
            <a:avLst/>
            <a:gdLst>
              <a:gd name="connsiteX0" fmla="*/ 1624013 w 1624013"/>
              <a:gd name="connsiteY0" fmla="*/ 0 h 1190625"/>
              <a:gd name="connsiteX1" fmla="*/ 1400175 w 1624013"/>
              <a:gd name="connsiteY1" fmla="*/ 133350 h 1190625"/>
              <a:gd name="connsiteX2" fmla="*/ 1066800 w 1624013"/>
              <a:gd name="connsiteY2" fmla="*/ 314325 h 1190625"/>
              <a:gd name="connsiteX3" fmla="*/ 752475 w 1624013"/>
              <a:gd name="connsiteY3" fmla="*/ 457200 h 1190625"/>
              <a:gd name="connsiteX4" fmla="*/ 481013 w 1624013"/>
              <a:gd name="connsiteY4" fmla="*/ 585787 h 1190625"/>
              <a:gd name="connsiteX5" fmla="*/ 223838 w 1624013"/>
              <a:gd name="connsiteY5" fmla="*/ 704850 h 1190625"/>
              <a:gd name="connsiteX6" fmla="*/ 0 w 1624013"/>
              <a:gd name="connsiteY6" fmla="*/ 785812 h 1190625"/>
              <a:gd name="connsiteX7" fmla="*/ 0 w 1624013"/>
              <a:gd name="connsiteY7" fmla="*/ 1190625 h 1190625"/>
              <a:gd name="connsiteX8" fmla="*/ 1624013 w 1624013"/>
              <a:gd name="connsiteY8" fmla="*/ 1190625 h 1190625"/>
              <a:gd name="connsiteX9" fmla="*/ 1624013 w 1624013"/>
              <a:gd name="connsiteY9" fmla="*/ 0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24013" h="1190625">
                <a:moveTo>
                  <a:pt x="1624013" y="0"/>
                </a:moveTo>
                <a:lnTo>
                  <a:pt x="1400175" y="133350"/>
                </a:lnTo>
                <a:lnTo>
                  <a:pt x="1066800" y="314325"/>
                </a:lnTo>
                <a:lnTo>
                  <a:pt x="752475" y="457200"/>
                </a:lnTo>
                <a:lnTo>
                  <a:pt x="481013" y="585787"/>
                </a:lnTo>
                <a:lnTo>
                  <a:pt x="223838" y="704850"/>
                </a:lnTo>
                <a:lnTo>
                  <a:pt x="0" y="785812"/>
                </a:lnTo>
                <a:lnTo>
                  <a:pt x="0" y="1190625"/>
                </a:lnTo>
                <a:lnTo>
                  <a:pt x="1624013" y="1190625"/>
                </a:lnTo>
                <a:lnTo>
                  <a:pt x="1624013"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145" name="Forma libre: forma 5144">
            <a:extLst>
              <a:ext uri="{FF2B5EF4-FFF2-40B4-BE49-F238E27FC236}">
                <a16:creationId xmlns:a16="http://schemas.microsoft.com/office/drawing/2014/main" id="{A036D91F-6840-06AA-BF16-01391EE80781}"/>
              </a:ext>
            </a:extLst>
          </p:cNvPr>
          <p:cNvSpPr/>
          <p:nvPr/>
        </p:nvSpPr>
        <p:spPr>
          <a:xfrm>
            <a:off x="2057400" y="4564857"/>
            <a:ext cx="945356" cy="192881"/>
          </a:xfrm>
          <a:custGeom>
            <a:avLst/>
            <a:gdLst>
              <a:gd name="connsiteX0" fmla="*/ 945356 w 945356"/>
              <a:gd name="connsiteY0" fmla="*/ 0 h 192881"/>
              <a:gd name="connsiteX1" fmla="*/ 945356 w 945356"/>
              <a:gd name="connsiteY1" fmla="*/ 192881 h 192881"/>
              <a:gd name="connsiteX2" fmla="*/ 0 w 945356"/>
              <a:gd name="connsiteY2" fmla="*/ 192881 h 192881"/>
              <a:gd name="connsiteX3" fmla="*/ 257175 w 945356"/>
              <a:gd name="connsiteY3" fmla="*/ 145256 h 192881"/>
              <a:gd name="connsiteX4" fmla="*/ 704850 w 945356"/>
              <a:gd name="connsiteY4" fmla="*/ 54768 h 192881"/>
              <a:gd name="connsiteX5" fmla="*/ 945356 w 945356"/>
              <a:gd name="connsiteY5" fmla="*/ 0 h 19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5356" h="192881">
                <a:moveTo>
                  <a:pt x="945356" y="0"/>
                </a:moveTo>
                <a:lnTo>
                  <a:pt x="945356" y="192881"/>
                </a:lnTo>
                <a:lnTo>
                  <a:pt x="0" y="192881"/>
                </a:lnTo>
                <a:lnTo>
                  <a:pt x="257175" y="145256"/>
                </a:lnTo>
                <a:lnTo>
                  <a:pt x="704850" y="54768"/>
                </a:lnTo>
                <a:lnTo>
                  <a:pt x="945356"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148" name="Forma libre: forma 5147">
            <a:extLst>
              <a:ext uri="{FF2B5EF4-FFF2-40B4-BE49-F238E27FC236}">
                <a16:creationId xmlns:a16="http://schemas.microsoft.com/office/drawing/2014/main" id="{2439A891-27EA-8F98-848A-726D903BF391}"/>
              </a:ext>
            </a:extLst>
          </p:cNvPr>
          <p:cNvSpPr/>
          <p:nvPr/>
        </p:nvSpPr>
        <p:spPr>
          <a:xfrm>
            <a:off x="3934779" y="3569494"/>
            <a:ext cx="1375409" cy="888206"/>
          </a:xfrm>
          <a:custGeom>
            <a:avLst/>
            <a:gdLst>
              <a:gd name="connsiteX0" fmla="*/ 0 w 1369218"/>
              <a:gd name="connsiteY0" fmla="*/ 823912 h 888206"/>
              <a:gd name="connsiteX1" fmla="*/ 0 w 1369218"/>
              <a:gd name="connsiteY1" fmla="*/ 683419 h 888206"/>
              <a:gd name="connsiteX2" fmla="*/ 381000 w 1369218"/>
              <a:gd name="connsiteY2" fmla="*/ 514350 h 888206"/>
              <a:gd name="connsiteX3" fmla="*/ 807243 w 1369218"/>
              <a:gd name="connsiteY3" fmla="*/ 314325 h 888206"/>
              <a:gd name="connsiteX4" fmla="*/ 831056 w 1369218"/>
              <a:gd name="connsiteY4" fmla="*/ 292894 h 888206"/>
              <a:gd name="connsiteX5" fmla="*/ 1123950 w 1369218"/>
              <a:gd name="connsiteY5" fmla="*/ 142875 h 888206"/>
              <a:gd name="connsiteX6" fmla="*/ 1369218 w 1369218"/>
              <a:gd name="connsiteY6" fmla="*/ 0 h 888206"/>
              <a:gd name="connsiteX7" fmla="*/ 1369218 w 1369218"/>
              <a:gd name="connsiteY7" fmla="*/ 859631 h 888206"/>
              <a:gd name="connsiteX8" fmla="*/ 2381 w 1369218"/>
              <a:gd name="connsiteY8" fmla="*/ 888206 h 888206"/>
              <a:gd name="connsiteX9" fmla="*/ 0 w 1369218"/>
              <a:gd name="connsiteY9" fmla="*/ 823912 h 88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9218" h="888206">
                <a:moveTo>
                  <a:pt x="0" y="823912"/>
                </a:moveTo>
                <a:lnTo>
                  <a:pt x="0" y="683419"/>
                </a:lnTo>
                <a:lnTo>
                  <a:pt x="381000" y="514350"/>
                </a:lnTo>
                <a:lnTo>
                  <a:pt x="807243" y="314325"/>
                </a:lnTo>
                <a:cubicBezTo>
                  <a:pt x="825936" y="295632"/>
                  <a:pt x="817374" y="302014"/>
                  <a:pt x="831056" y="292894"/>
                </a:cubicBezTo>
                <a:lnTo>
                  <a:pt x="1123950" y="142875"/>
                </a:lnTo>
                <a:lnTo>
                  <a:pt x="1369218" y="0"/>
                </a:lnTo>
                <a:lnTo>
                  <a:pt x="1369218" y="859631"/>
                </a:lnTo>
                <a:lnTo>
                  <a:pt x="2381" y="888206"/>
                </a:lnTo>
                <a:cubicBezTo>
                  <a:pt x="1587" y="866775"/>
                  <a:pt x="794" y="845343"/>
                  <a:pt x="0" y="823912"/>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150" name="Forma libre: forma 5149">
            <a:extLst>
              <a:ext uri="{FF2B5EF4-FFF2-40B4-BE49-F238E27FC236}">
                <a16:creationId xmlns:a16="http://schemas.microsoft.com/office/drawing/2014/main" id="{4EDC4091-00DE-6C3A-0482-6D40526F806E}"/>
              </a:ext>
            </a:extLst>
          </p:cNvPr>
          <p:cNvSpPr/>
          <p:nvPr/>
        </p:nvSpPr>
        <p:spPr>
          <a:xfrm>
            <a:off x="10172700" y="4346575"/>
            <a:ext cx="1644650" cy="404017"/>
          </a:xfrm>
          <a:custGeom>
            <a:avLst/>
            <a:gdLst>
              <a:gd name="connsiteX0" fmla="*/ 0 w 1644650"/>
              <a:gd name="connsiteY0" fmla="*/ 400050 h 403225"/>
              <a:gd name="connsiteX1" fmla="*/ 0 w 1644650"/>
              <a:gd name="connsiteY1" fmla="*/ 0 h 403225"/>
              <a:gd name="connsiteX2" fmla="*/ 431800 w 1644650"/>
              <a:gd name="connsiteY2" fmla="*/ 136525 h 403225"/>
              <a:gd name="connsiteX3" fmla="*/ 454025 w 1644650"/>
              <a:gd name="connsiteY3" fmla="*/ 152400 h 403225"/>
              <a:gd name="connsiteX4" fmla="*/ 965200 w 1644650"/>
              <a:gd name="connsiteY4" fmla="*/ 269875 h 403225"/>
              <a:gd name="connsiteX5" fmla="*/ 1019175 w 1644650"/>
              <a:gd name="connsiteY5" fmla="*/ 298450 h 403225"/>
              <a:gd name="connsiteX6" fmla="*/ 1403350 w 1644650"/>
              <a:gd name="connsiteY6" fmla="*/ 361950 h 403225"/>
              <a:gd name="connsiteX7" fmla="*/ 1644650 w 1644650"/>
              <a:gd name="connsiteY7" fmla="*/ 403225 h 403225"/>
              <a:gd name="connsiteX8" fmla="*/ 0 w 1644650"/>
              <a:gd name="connsiteY8" fmla="*/ 400050 h 403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4650" h="403225">
                <a:moveTo>
                  <a:pt x="0" y="400050"/>
                </a:moveTo>
                <a:lnTo>
                  <a:pt x="0" y="0"/>
                </a:lnTo>
                <a:lnTo>
                  <a:pt x="431800" y="136525"/>
                </a:lnTo>
                <a:lnTo>
                  <a:pt x="454025" y="152400"/>
                </a:lnTo>
                <a:lnTo>
                  <a:pt x="965200" y="269875"/>
                </a:lnTo>
                <a:lnTo>
                  <a:pt x="1019175" y="298450"/>
                </a:lnTo>
                <a:lnTo>
                  <a:pt x="1403350" y="361950"/>
                </a:lnTo>
                <a:lnTo>
                  <a:pt x="1644650" y="403225"/>
                </a:lnTo>
                <a:lnTo>
                  <a:pt x="0" y="40005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cxnSp>
        <p:nvCxnSpPr>
          <p:cNvPr id="5139" name="Conector recto 5138">
            <a:extLst>
              <a:ext uri="{FF2B5EF4-FFF2-40B4-BE49-F238E27FC236}">
                <a16:creationId xmlns:a16="http://schemas.microsoft.com/office/drawing/2014/main" id="{A5DC95F4-5A0E-0DD4-54F4-B756F333C9C4}"/>
              </a:ext>
            </a:extLst>
          </p:cNvPr>
          <p:cNvCxnSpPr>
            <a:cxnSpLocks/>
          </p:cNvCxnSpPr>
          <p:nvPr/>
        </p:nvCxnSpPr>
        <p:spPr>
          <a:xfrm>
            <a:off x="2052638" y="4750594"/>
            <a:ext cx="9767888"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vert="horz"/>
          <a:lstStyle/>
          <a:p>
            <a:r>
              <a:rPr lang="en-US" dirty="0"/>
              <a:t>Product Life Cycle — Template B</a:t>
            </a:r>
          </a:p>
        </p:txBody>
      </p:sp>
      <p:sp>
        <p:nvSpPr>
          <p:cNvPr id="2" name="TextBox 24">
            <a:extLst>
              <a:ext uri="{FF2B5EF4-FFF2-40B4-BE49-F238E27FC236}">
                <a16:creationId xmlns:a16="http://schemas.microsoft.com/office/drawing/2014/main" id="{5808B7AA-3763-C635-E2A5-4359AEF47AAB}"/>
              </a:ext>
            </a:extLst>
          </p:cNvPr>
          <p:cNvSpPr txBox="1"/>
          <p:nvPr/>
        </p:nvSpPr>
        <p:spPr>
          <a:xfrm>
            <a:off x="2052638" y="5014600"/>
            <a:ext cx="2449410" cy="436461"/>
          </a:xfrm>
          <a:prstGeom prst="rect">
            <a:avLst/>
          </a:prstGeom>
          <a:noFill/>
        </p:spPr>
        <p:txBody>
          <a:bodyPr wrap="square" lIns="72000" tIns="36000" rIns="3600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5140" name="TextBox 24">
            <a:extLst>
              <a:ext uri="{FF2B5EF4-FFF2-40B4-BE49-F238E27FC236}">
                <a16:creationId xmlns:a16="http://schemas.microsoft.com/office/drawing/2014/main" id="{AB179088-6D72-6807-9CD5-13F5A03D78FB}"/>
              </a:ext>
            </a:extLst>
          </p:cNvPr>
          <p:cNvSpPr txBox="1"/>
          <p:nvPr/>
        </p:nvSpPr>
        <p:spPr>
          <a:xfrm>
            <a:off x="4502048" y="5014600"/>
            <a:ext cx="2449410" cy="436461"/>
          </a:xfrm>
          <a:prstGeom prst="rect">
            <a:avLst/>
          </a:prstGeom>
          <a:noFill/>
        </p:spPr>
        <p:txBody>
          <a:bodyPr wrap="square" lIns="72000" tIns="36000" rIns="3600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5141" name="TextBox 24">
            <a:extLst>
              <a:ext uri="{FF2B5EF4-FFF2-40B4-BE49-F238E27FC236}">
                <a16:creationId xmlns:a16="http://schemas.microsoft.com/office/drawing/2014/main" id="{ED01D659-BA53-96B5-8426-85730F0BD92B}"/>
              </a:ext>
            </a:extLst>
          </p:cNvPr>
          <p:cNvSpPr txBox="1"/>
          <p:nvPr/>
        </p:nvSpPr>
        <p:spPr>
          <a:xfrm>
            <a:off x="6951458" y="5014600"/>
            <a:ext cx="2449410" cy="436461"/>
          </a:xfrm>
          <a:prstGeom prst="rect">
            <a:avLst/>
          </a:prstGeom>
          <a:noFill/>
        </p:spPr>
        <p:txBody>
          <a:bodyPr wrap="square" lIns="72000" tIns="36000" rIns="3600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5142" name="TextBox 24">
            <a:extLst>
              <a:ext uri="{FF2B5EF4-FFF2-40B4-BE49-F238E27FC236}">
                <a16:creationId xmlns:a16="http://schemas.microsoft.com/office/drawing/2014/main" id="{BCF62698-40FE-7E25-0C26-C037F76E35DA}"/>
              </a:ext>
            </a:extLst>
          </p:cNvPr>
          <p:cNvSpPr txBox="1"/>
          <p:nvPr/>
        </p:nvSpPr>
        <p:spPr>
          <a:xfrm>
            <a:off x="9400867" y="5014600"/>
            <a:ext cx="2417277" cy="436461"/>
          </a:xfrm>
          <a:prstGeom prst="rect">
            <a:avLst/>
          </a:prstGeom>
          <a:noFill/>
        </p:spPr>
        <p:txBody>
          <a:bodyPr wrap="square" lIns="72000" tIns="36000" rIns="3600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5154" name="Conector recto 5153">
            <a:extLst>
              <a:ext uri="{FF2B5EF4-FFF2-40B4-BE49-F238E27FC236}">
                <a16:creationId xmlns:a16="http://schemas.microsoft.com/office/drawing/2014/main" id="{F7DB7E63-8480-67FC-E441-6E87D8B1E5BE}"/>
              </a:ext>
            </a:extLst>
          </p:cNvPr>
          <p:cNvCxnSpPr>
            <a:cxnSpLocks/>
          </p:cNvCxnSpPr>
          <p:nvPr/>
        </p:nvCxnSpPr>
        <p:spPr>
          <a:xfrm flipV="1">
            <a:off x="4502048" y="5014600"/>
            <a:ext cx="0" cy="129412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56" name="Conector recto 5155">
            <a:extLst>
              <a:ext uri="{FF2B5EF4-FFF2-40B4-BE49-F238E27FC236}">
                <a16:creationId xmlns:a16="http://schemas.microsoft.com/office/drawing/2014/main" id="{9225F45A-88A8-67A6-6867-0FA301E7D5CE}"/>
              </a:ext>
            </a:extLst>
          </p:cNvPr>
          <p:cNvCxnSpPr>
            <a:cxnSpLocks/>
          </p:cNvCxnSpPr>
          <p:nvPr/>
        </p:nvCxnSpPr>
        <p:spPr>
          <a:xfrm flipV="1">
            <a:off x="6951458" y="5014600"/>
            <a:ext cx="0" cy="129412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57" name="Conector recto 5156">
            <a:extLst>
              <a:ext uri="{FF2B5EF4-FFF2-40B4-BE49-F238E27FC236}">
                <a16:creationId xmlns:a16="http://schemas.microsoft.com/office/drawing/2014/main" id="{5773999F-73FC-03A8-E2F2-FDE61DD527FD}"/>
              </a:ext>
            </a:extLst>
          </p:cNvPr>
          <p:cNvCxnSpPr>
            <a:cxnSpLocks/>
          </p:cNvCxnSpPr>
          <p:nvPr/>
        </p:nvCxnSpPr>
        <p:spPr>
          <a:xfrm flipV="1">
            <a:off x="6953249" y="5014600"/>
            <a:ext cx="0" cy="129412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60" name="Rectángulo 5159">
            <a:extLst>
              <a:ext uri="{FF2B5EF4-FFF2-40B4-BE49-F238E27FC236}">
                <a16:creationId xmlns:a16="http://schemas.microsoft.com/office/drawing/2014/main" id="{D91ECEB1-137C-5A7F-435C-C00157FFB063}"/>
              </a:ext>
            </a:extLst>
          </p:cNvPr>
          <p:cNvSpPr/>
          <p:nvPr/>
        </p:nvSpPr>
        <p:spPr>
          <a:xfrm>
            <a:off x="6915151" y="2643189"/>
            <a:ext cx="45720" cy="210978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5161" name="TextBox 24">
            <a:extLst>
              <a:ext uri="{FF2B5EF4-FFF2-40B4-BE49-F238E27FC236}">
                <a16:creationId xmlns:a16="http://schemas.microsoft.com/office/drawing/2014/main" id="{DAE427D8-30BB-B947-4A89-7B04EA7C2955}"/>
              </a:ext>
            </a:extLst>
          </p:cNvPr>
          <p:cNvSpPr txBox="1"/>
          <p:nvPr/>
        </p:nvSpPr>
        <p:spPr>
          <a:xfrm>
            <a:off x="371474" y="5014600"/>
            <a:ext cx="1633537" cy="436461"/>
          </a:xfrm>
          <a:prstGeom prst="rect">
            <a:avLst/>
          </a:prstGeom>
          <a:noFill/>
        </p:spPr>
        <p:txBody>
          <a:bodyPr wrap="square" lIns="72000" tIns="36000" rIns="3600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7" name="Conector recto 6">
            <a:extLst>
              <a:ext uri="{FF2B5EF4-FFF2-40B4-BE49-F238E27FC236}">
                <a16:creationId xmlns:a16="http://schemas.microsoft.com/office/drawing/2014/main" id="{A67AD884-58B6-E68B-4B60-AC4B15A8FBDC}"/>
              </a:ext>
            </a:extLst>
          </p:cNvPr>
          <p:cNvCxnSpPr>
            <a:cxnSpLocks/>
          </p:cNvCxnSpPr>
          <p:nvPr/>
        </p:nvCxnSpPr>
        <p:spPr>
          <a:xfrm flipV="1">
            <a:off x="9400868" y="5014600"/>
            <a:ext cx="0" cy="129412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D9FE7A1F-CEDD-7F9F-FDF9-054D1468FAE8}"/>
              </a:ext>
            </a:extLst>
          </p:cNvPr>
          <p:cNvCxnSpPr>
            <a:cxnSpLocks/>
          </p:cNvCxnSpPr>
          <p:nvPr/>
        </p:nvCxnSpPr>
        <p:spPr>
          <a:xfrm flipV="1">
            <a:off x="2052638" y="5014600"/>
            <a:ext cx="0" cy="1294125"/>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24">
            <a:extLst>
              <a:ext uri="{FF2B5EF4-FFF2-40B4-BE49-F238E27FC236}">
                <a16:creationId xmlns:a16="http://schemas.microsoft.com/office/drawing/2014/main" id="{4ADFA4F9-2870-8219-72E7-12A7488A2878}"/>
              </a:ext>
            </a:extLst>
          </p:cNvPr>
          <p:cNvSpPr txBox="1"/>
          <p:nvPr/>
        </p:nvSpPr>
        <p:spPr>
          <a:xfrm>
            <a:off x="3026966" y="1520825"/>
            <a:ext cx="875104" cy="369332"/>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Intro-duction</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0" name="TextBox 24">
            <a:extLst>
              <a:ext uri="{FF2B5EF4-FFF2-40B4-BE49-F238E27FC236}">
                <a16:creationId xmlns:a16="http://schemas.microsoft.com/office/drawing/2014/main" id="{EC34CC8A-B0F8-DB1A-E301-900EA2DF3EF5}"/>
              </a:ext>
            </a:extLst>
          </p:cNvPr>
          <p:cNvSpPr txBox="1"/>
          <p:nvPr/>
        </p:nvSpPr>
        <p:spPr>
          <a:xfrm>
            <a:off x="3902074" y="1705491"/>
            <a:ext cx="1408112" cy="184666"/>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Growth</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1" name="TextBox 24">
            <a:extLst>
              <a:ext uri="{FF2B5EF4-FFF2-40B4-BE49-F238E27FC236}">
                <a16:creationId xmlns:a16="http://schemas.microsoft.com/office/drawing/2014/main" id="{FFBAF77B-1C3A-1C78-2DA5-15C68E1DACD3}"/>
              </a:ext>
            </a:extLst>
          </p:cNvPr>
          <p:cNvSpPr txBox="1"/>
          <p:nvPr/>
        </p:nvSpPr>
        <p:spPr>
          <a:xfrm>
            <a:off x="5310186" y="1705491"/>
            <a:ext cx="3255170" cy="184666"/>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Maturity</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2" name="TextBox 24">
            <a:extLst>
              <a:ext uri="{FF2B5EF4-FFF2-40B4-BE49-F238E27FC236}">
                <a16:creationId xmlns:a16="http://schemas.microsoft.com/office/drawing/2014/main" id="{5DEC2510-D217-FEA8-7F72-89E98E6F4F63}"/>
              </a:ext>
            </a:extLst>
          </p:cNvPr>
          <p:cNvSpPr txBox="1"/>
          <p:nvPr/>
        </p:nvSpPr>
        <p:spPr>
          <a:xfrm>
            <a:off x="8565356" y="1705491"/>
            <a:ext cx="3239292" cy="184666"/>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Decline</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grpSp>
        <p:nvGrpSpPr>
          <p:cNvPr id="13" name="Group 156">
            <a:extLst>
              <a:ext uri="{FF2B5EF4-FFF2-40B4-BE49-F238E27FC236}">
                <a16:creationId xmlns:a16="http://schemas.microsoft.com/office/drawing/2014/main" id="{D14B11F3-D426-C7DF-20B4-ECA6A943B18B}"/>
              </a:ext>
            </a:extLst>
          </p:cNvPr>
          <p:cNvGrpSpPr>
            <a:grpSpLocks noChangeAspect="1"/>
          </p:cNvGrpSpPr>
          <p:nvPr/>
        </p:nvGrpSpPr>
        <p:grpSpPr bwMode="auto">
          <a:xfrm>
            <a:off x="3304578" y="1967960"/>
            <a:ext cx="319880" cy="314064"/>
            <a:chOff x="3616" y="3200"/>
            <a:chExt cx="440" cy="432"/>
          </a:xfrm>
          <a:solidFill>
            <a:schemeClr val="tx2"/>
          </a:solidFill>
        </p:grpSpPr>
        <p:sp>
          <p:nvSpPr>
            <p:cNvPr id="14" name="Freeform 157">
              <a:extLst>
                <a:ext uri="{FF2B5EF4-FFF2-40B4-BE49-F238E27FC236}">
                  <a16:creationId xmlns:a16="http://schemas.microsoft.com/office/drawing/2014/main" id="{2DD1703D-14AA-22BF-CF5A-CA6A7C4A3032}"/>
                </a:ext>
              </a:extLst>
            </p:cNvPr>
            <p:cNvSpPr>
              <a:spLocks noEditPoints="1"/>
            </p:cNvSpPr>
            <p:nvPr/>
          </p:nvSpPr>
          <p:spPr bwMode="auto">
            <a:xfrm>
              <a:off x="3616" y="3200"/>
              <a:ext cx="440" cy="305"/>
            </a:xfrm>
            <a:custGeom>
              <a:avLst/>
              <a:gdLst>
                <a:gd name="T0" fmla="*/ 282 w 288"/>
                <a:gd name="T1" fmla="*/ 204 h 204"/>
                <a:gd name="T2" fmla="*/ 6 w 288"/>
                <a:gd name="T3" fmla="*/ 204 h 204"/>
                <a:gd name="T4" fmla="*/ 0 w 288"/>
                <a:gd name="T5" fmla="*/ 198 h 204"/>
                <a:gd name="T6" fmla="*/ 0 w 288"/>
                <a:gd name="T7" fmla="*/ 6 h 204"/>
                <a:gd name="T8" fmla="*/ 6 w 288"/>
                <a:gd name="T9" fmla="*/ 0 h 204"/>
                <a:gd name="T10" fmla="*/ 282 w 288"/>
                <a:gd name="T11" fmla="*/ 0 h 204"/>
                <a:gd name="T12" fmla="*/ 288 w 288"/>
                <a:gd name="T13" fmla="*/ 6 h 204"/>
                <a:gd name="T14" fmla="*/ 288 w 288"/>
                <a:gd name="T15" fmla="*/ 198 h 204"/>
                <a:gd name="T16" fmla="*/ 282 w 288"/>
                <a:gd name="T17" fmla="*/ 204 h 204"/>
                <a:gd name="T18" fmla="*/ 12 w 288"/>
                <a:gd name="T19" fmla="*/ 192 h 204"/>
                <a:gd name="T20" fmla="*/ 276 w 288"/>
                <a:gd name="T21" fmla="*/ 192 h 204"/>
                <a:gd name="T22" fmla="*/ 276 w 288"/>
                <a:gd name="T23" fmla="*/ 12 h 204"/>
                <a:gd name="T24" fmla="*/ 12 w 288"/>
                <a:gd name="T25" fmla="*/ 12 h 204"/>
                <a:gd name="T26" fmla="*/ 12 w 288"/>
                <a:gd name="T27"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04">
                  <a:moveTo>
                    <a:pt x="282" y="204"/>
                  </a:moveTo>
                  <a:cubicBezTo>
                    <a:pt x="6" y="204"/>
                    <a:pt x="6" y="204"/>
                    <a:pt x="6" y="204"/>
                  </a:cubicBezTo>
                  <a:cubicBezTo>
                    <a:pt x="3" y="204"/>
                    <a:pt x="0" y="201"/>
                    <a:pt x="0" y="198"/>
                  </a:cubicBezTo>
                  <a:cubicBezTo>
                    <a:pt x="0" y="6"/>
                    <a:pt x="0" y="6"/>
                    <a:pt x="0" y="6"/>
                  </a:cubicBezTo>
                  <a:cubicBezTo>
                    <a:pt x="0" y="3"/>
                    <a:pt x="3" y="0"/>
                    <a:pt x="6" y="0"/>
                  </a:cubicBezTo>
                  <a:cubicBezTo>
                    <a:pt x="282" y="0"/>
                    <a:pt x="282" y="0"/>
                    <a:pt x="282" y="0"/>
                  </a:cubicBezTo>
                  <a:cubicBezTo>
                    <a:pt x="285" y="0"/>
                    <a:pt x="288" y="3"/>
                    <a:pt x="288" y="6"/>
                  </a:cubicBezTo>
                  <a:cubicBezTo>
                    <a:pt x="288" y="198"/>
                    <a:pt x="288" y="198"/>
                    <a:pt x="288" y="198"/>
                  </a:cubicBezTo>
                  <a:cubicBezTo>
                    <a:pt x="288" y="201"/>
                    <a:pt x="285" y="204"/>
                    <a:pt x="282" y="204"/>
                  </a:cubicBezTo>
                  <a:close/>
                  <a:moveTo>
                    <a:pt x="12" y="192"/>
                  </a:moveTo>
                  <a:cubicBezTo>
                    <a:pt x="276" y="192"/>
                    <a:pt x="276" y="192"/>
                    <a:pt x="276" y="192"/>
                  </a:cubicBezTo>
                  <a:cubicBezTo>
                    <a:pt x="276" y="12"/>
                    <a:pt x="276" y="12"/>
                    <a:pt x="276" y="12"/>
                  </a:cubicBezTo>
                  <a:cubicBezTo>
                    <a:pt x="12" y="12"/>
                    <a:pt x="12" y="12"/>
                    <a:pt x="12" y="12"/>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5" name="Freeform 158">
              <a:extLst>
                <a:ext uri="{FF2B5EF4-FFF2-40B4-BE49-F238E27FC236}">
                  <a16:creationId xmlns:a16="http://schemas.microsoft.com/office/drawing/2014/main" id="{77647ECD-8A78-F4AA-E36D-A9674F61D96B}"/>
                </a:ext>
              </a:extLst>
            </p:cNvPr>
            <p:cNvSpPr>
              <a:spLocks/>
            </p:cNvSpPr>
            <p:nvPr/>
          </p:nvSpPr>
          <p:spPr bwMode="auto">
            <a:xfrm>
              <a:off x="3818" y="3487"/>
              <a:ext cx="18" cy="144"/>
            </a:xfrm>
            <a:custGeom>
              <a:avLst/>
              <a:gdLst>
                <a:gd name="T0" fmla="*/ 6 w 12"/>
                <a:gd name="T1" fmla="*/ 96 h 96"/>
                <a:gd name="T2" fmla="*/ 0 w 12"/>
                <a:gd name="T3" fmla="*/ 90 h 96"/>
                <a:gd name="T4" fmla="*/ 0 w 12"/>
                <a:gd name="T5" fmla="*/ 6 h 96"/>
                <a:gd name="T6" fmla="*/ 6 w 12"/>
                <a:gd name="T7" fmla="*/ 0 h 96"/>
                <a:gd name="T8" fmla="*/ 12 w 12"/>
                <a:gd name="T9" fmla="*/ 6 h 96"/>
                <a:gd name="T10" fmla="*/ 12 w 12"/>
                <a:gd name="T11" fmla="*/ 90 h 96"/>
                <a:gd name="T12" fmla="*/ 6 w 12"/>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12" h="96">
                  <a:moveTo>
                    <a:pt x="6" y="96"/>
                  </a:moveTo>
                  <a:cubicBezTo>
                    <a:pt x="3" y="96"/>
                    <a:pt x="0" y="93"/>
                    <a:pt x="0" y="90"/>
                  </a:cubicBezTo>
                  <a:cubicBezTo>
                    <a:pt x="0" y="6"/>
                    <a:pt x="0" y="6"/>
                    <a:pt x="0" y="6"/>
                  </a:cubicBezTo>
                  <a:cubicBezTo>
                    <a:pt x="0" y="3"/>
                    <a:pt x="3" y="0"/>
                    <a:pt x="6" y="0"/>
                  </a:cubicBezTo>
                  <a:cubicBezTo>
                    <a:pt x="9" y="0"/>
                    <a:pt x="12" y="3"/>
                    <a:pt x="12" y="6"/>
                  </a:cubicBezTo>
                  <a:cubicBezTo>
                    <a:pt x="12" y="90"/>
                    <a:pt x="12" y="90"/>
                    <a:pt x="12" y="90"/>
                  </a:cubicBezTo>
                  <a:cubicBezTo>
                    <a:pt x="12" y="93"/>
                    <a:pt x="9" y="96"/>
                    <a:pt x="6"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6" name="Freeform 159">
              <a:extLst>
                <a:ext uri="{FF2B5EF4-FFF2-40B4-BE49-F238E27FC236}">
                  <a16:creationId xmlns:a16="http://schemas.microsoft.com/office/drawing/2014/main" id="{878255E4-E25B-17B9-D026-D1E4DF4CBFC3}"/>
                </a:ext>
              </a:extLst>
            </p:cNvPr>
            <p:cNvSpPr>
              <a:spLocks/>
            </p:cNvSpPr>
            <p:nvPr/>
          </p:nvSpPr>
          <p:spPr bwMode="auto">
            <a:xfrm>
              <a:off x="3687" y="3486"/>
              <a:ext cx="279" cy="146"/>
            </a:xfrm>
            <a:custGeom>
              <a:avLst/>
              <a:gdLst>
                <a:gd name="T0" fmla="*/ 175 w 182"/>
                <a:gd name="T1" fmla="*/ 97 h 98"/>
                <a:gd name="T2" fmla="*/ 171 w 182"/>
                <a:gd name="T3" fmla="*/ 95 h 98"/>
                <a:gd name="T4" fmla="*/ 91 w 182"/>
                <a:gd name="T5" fmla="*/ 16 h 98"/>
                <a:gd name="T6" fmla="*/ 11 w 182"/>
                <a:gd name="T7" fmla="*/ 95 h 98"/>
                <a:gd name="T8" fmla="*/ 3 w 182"/>
                <a:gd name="T9" fmla="*/ 95 h 98"/>
                <a:gd name="T10" fmla="*/ 3 w 182"/>
                <a:gd name="T11" fmla="*/ 87 h 98"/>
                <a:gd name="T12" fmla="*/ 87 w 182"/>
                <a:gd name="T13" fmla="*/ 3 h 98"/>
                <a:gd name="T14" fmla="*/ 95 w 182"/>
                <a:gd name="T15" fmla="*/ 3 h 98"/>
                <a:gd name="T16" fmla="*/ 179 w 182"/>
                <a:gd name="T17" fmla="*/ 87 h 98"/>
                <a:gd name="T18" fmla="*/ 179 w 182"/>
                <a:gd name="T19" fmla="*/ 95 h 98"/>
                <a:gd name="T20" fmla="*/ 175 w 182"/>
                <a:gd name="T21" fmla="*/ 9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2" h="98">
                  <a:moveTo>
                    <a:pt x="175" y="97"/>
                  </a:moveTo>
                  <a:cubicBezTo>
                    <a:pt x="174" y="97"/>
                    <a:pt x="172" y="96"/>
                    <a:pt x="171" y="95"/>
                  </a:cubicBezTo>
                  <a:cubicBezTo>
                    <a:pt x="91" y="16"/>
                    <a:pt x="91" y="16"/>
                    <a:pt x="91" y="16"/>
                  </a:cubicBezTo>
                  <a:cubicBezTo>
                    <a:pt x="11" y="95"/>
                    <a:pt x="11" y="95"/>
                    <a:pt x="11" y="95"/>
                  </a:cubicBezTo>
                  <a:cubicBezTo>
                    <a:pt x="9" y="98"/>
                    <a:pt x="5" y="98"/>
                    <a:pt x="3" y="95"/>
                  </a:cubicBezTo>
                  <a:cubicBezTo>
                    <a:pt x="0" y="93"/>
                    <a:pt x="0" y="89"/>
                    <a:pt x="3" y="87"/>
                  </a:cubicBezTo>
                  <a:cubicBezTo>
                    <a:pt x="87" y="3"/>
                    <a:pt x="87" y="3"/>
                    <a:pt x="87" y="3"/>
                  </a:cubicBezTo>
                  <a:cubicBezTo>
                    <a:pt x="89" y="0"/>
                    <a:pt x="93" y="0"/>
                    <a:pt x="95" y="3"/>
                  </a:cubicBezTo>
                  <a:cubicBezTo>
                    <a:pt x="179" y="87"/>
                    <a:pt x="179" y="87"/>
                    <a:pt x="179" y="87"/>
                  </a:cubicBezTo>
                  <a:cubicBezTo>
                    <a:pt x="182" y="89"/>
                    <a:pt x="182" y="93"/>
                    <a:pt x="179" y="95"/>
                  </a:cubicBezTo>
                  <a:cubicBezTo>
                    <a:pt x="178" y="96"/>
                    <a:pt x="177" y="97"/>
                    <a:pt x="175" y="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7" name="Freeform 160">
              <a:extLst>
                <a:ext uri="{FF2B5EF4-FFF2-40B4-BE49-F238E27FC236}">
                  <a16:creationId xmlns:a16="http://schemas.microsoft.com/office/drawing/2014/main" id="{4D891BFE-E0A2-B433-132A-8D4430AE2C1D}"/>
                </a:ext>
              </a:extLst>
            </p:cNvPr>
            <p:cNvSpPr>
              <a:spLocks/>
            </p:cNvSpPr>
            <p:nvPr/>
          </p:nvSpPr>
          <p:spPr bwMode="auto">
            <a:xfrm>
              <a:off x="3616" y="3272"/>
              <a:ext cx="440" cy="18"/>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9"/>
                    <a:pt x="0" y="6"/>
                  </a:cubicBezTo>
                  <a:cubicBezTo>
                    <a:pt x="0" y="3"/>
                    <a:pt x="3" y="0"/>
                    <a:pt x="6" y="0"/>
                  </a:cubicBezTo>
                  <a:cubicBezTo>
                    <a:pt x="282" y="0"/>
                    <a:pt x="282" y="0"/>
                    <a:pt x="282" y="0"/>
                  </a:cubicBezTo>
                  <a:cubicBezTo>
                    <a:pt x="285" y="0"/>
                    <a:pt x="288" y="3"/>
                    <a:pt x="288" y="6"/>
                  </a:cubicBezTo>
                  <a:cubicBezTo>
                    <a:pt x="288" y="9"/>
                    <a:pt x="285"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18" name="Group 50">
            <a:extLst>
              <a:ext uri="{FF2B5EF4-FFF2-40B4-BE49-F238E27FC236}">
                <a16:creationId xmlns:a16="http://schemas.microsoft.com/office/drawing/2014/main" id="{7AC562D6-2D9B-20AD-C65C-0079FF3C50B7}"/>
              </a:ext>
            </a:extLst>
          </p:cNvPr>
          <p:cNvGrpSpPr>
            <a:grpSpLocks noChangeAspect="1"/>
          </p:cNvGrpSpPr>
          <p:nvPr/>
        </p:nvGrpSpPr>
        <p:grpSpPr bwMode="auto">
          <a:xfrm>
            <a:off x="4442078" y="1968240"/>
            <a:ext cx="328104" cy="313504"/>
            <a:chOff x="5693" y="604"/>
            <a:chExt cx="427" cy="408"/>
          </a:xfrm>
          <a:solidFill>
            <a:schemeClr val="tx2"/>
          </a:solidFill>
        </p:grpSpPr>
        <p:sp>
          <p:nvSpPr>
            <p:cNvPr id="19" name="Freeform 51">
              <a:extLst>
                <a:ext uri="{FF2B5EF4-FFF2-40B4-BE49-F238E27FC236}">
                  <a16:creationId xmlns:a16="http://schemas.microsoft.com/office/drawing/2014/main" id="{BA10A5CC-881E-ADA4-825B-805DDB5AC909}"/>
                </a:ext>
              </a:extLst>
            </p:cNvPr>
            <p:cNvSpPr>
              <a:spLocks/>
            </p:cNvSpPr>
            <p:nvPr/>
          </p:nvSpPr>
          <p:spPr bwMode="auto">
            <a:xfrm>
              <a:off x="5693" y="995"/>
              <a:ext cx="427" cy="17"/>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10"/>
                    <a:pt x="0" y="6"/>
                  </a:cubicBezTo>
                  <a:cubicBezTo>
                    <a:pt x="0" y="3"/>
                    <a:pt x="3" y="0"/>
                    <a:pt x="6" y="0"/>
                  </a:cubicBezTo>
                  <a:cubicBezTo>
                    <a:pt x="282" y="0"/>
                    <a:pt x="282" y="0"/>
                    <a:pt x="282" y="0"/>
                  </a:cubicBezTo>
                  <a:cubicBezTo>
                    <a:pt x="286" y="0"/>
                    <a:pt x="288" y="3"/>
                    <a:pt x="288" y="6"/>
                  </a:cubicBezTo>
                  <a:cubicBezTo>
                    <a:pt x="288" y="10"/>
                    <a:pt x="28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0" name="Freeform 52">
              <a:extLst>
                <a:ext uri="{FF2B5EF4-FFF2-40B4-BE49-F238E27FC236}">
                  <a16:creationId xmlns:a16="http://schemas.microsoft.com/office/drawing/2014/main" id="{8F8B9861-E21C-854C-BCF7-6A1D825F53B9}"/>
                </a:ext>
              </a:extLst>
            </p:cNvPr>
            <p:cNvSpPr>
              <a:spLocks noEditPoints="1"/>
            </p:cNvSpPr>
            <p:nvPr/>
          </p:nvSpPr>
          <p:spPr bwMode="auto">
            <a:xfrm>
              <a:off x="5711" y="943"/>
              <a:ext cx="71" cy="69"/>
            </a:xfrm>
            <a:custGeom>
              <a:avLst/>
              <a:gdLst>
                <a:gd name="T0" fmla="*/ 42 w 48"/>
                <a:gd name="T1" fmla="*/ 48 h 48"/>
                <a:gd name="T2" fmla="*/ 6 w 48"/>
                <a:gd name="T3" fmla="*/ 48 h 48"/>
                <a:gd name="T4" fmla="*/ 0 w 48"/>
                <a:gd name="T5" fmla="*/ 42 h 48"/>
                <a:gd name="T6" fmla="*/ 0 w 48"/>
                <a:gd name="T7" fmla="*/ 6 h 48"/>
                <a:gd name="T8" fmla="*/ 6 w 48"/>
                <a:gd name="T9" fmla="*/ 0 h 48"/>
                <a:gd name="T10" fmla="*/ 42 w 48"/>
                <a:gd name="T11" fmla="*/ 0 h 48"/>
                <a:gd name="T12" fmla="*/ 48 w 48"/>
                <a:gd name="T13" fmla="*/ 6 h 48"/>
                <a:gd name="T14" fmla="*/ 48 w 48"/>
                <a:gd name="T15" fmla="*/ 42 h 48"/>
                <a:gd name="T16" fmla="*/ 42 w 48"/>
                <a:gd name="T17" fmla="*/ 48 h 48"/>
                <a:gd name="T18" fmla="*/ 12 w 48"/>
                <a:gd name="T19" fmla="*/ 36 h 48"/>
                <a:gd name="T20" fmla="*/ 36 w 48"/>
                <a:gd name="T21" fmla="*/ 36 h 48"/>
                <a:gd name="T22" fmla="*/ 36 w 48"/>
                <a:gd name="T23" fmla="*/ 12 h 48"/>
                <a:gd name="T24" fmla="*/ 12 w 48"/>
                <a:gd name="T25" fmla="*/ 12 h 48"/>
                <a:gd name="T26" fmla="*/ 12 w 48"/>
                <a:gd name="T27"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2" y="48"/>
                  </a:moveTo>
                  <a:cubicBezTo>
                    <a:pt x="6" y="48"/>
                    <a:pt x="6" y="48"/>
                    <a:pt x="6" y="48"/>
                  </a:cubicBezTo>
                  <a:cubicBezTo>
                    <a:pt x="3" y="48"/>
                    <a:pt x="0" y="46"/>
                    <a:pt x="0" y="42"/>
                  </a:cubicBezTo>
                  <a:cubicBezTo>
                    <a:pt x="0" y="6"/>
                    <a:pt x="0" y="6"/>
                    <a:pt x="0" y="6"/>
                  </a:cubicBezTo>
                  <a:cubicBezTo>
                    <a:pt x="0" y="3"/>
                    <a:pt x="3" y="0"/>
                    <a:pt x="6" y="0"/>
                  </a:cubicBezTo>
                  <a:cubicBezTo>
                    <a:pt x="42" y="0"/>
                    <a:pt x="42" y="0"/>
                    <a:pt x="42" y="0"/>
                  </a:cubicBezTo>
                  <a:cubicBezTo>
                    <a:pt x="46" y="0"/>
                    <a:pt x="48" y="3"/>
                    <a:pt x="48" y="6"/>
                  </a:cubicBezTo>
                  <a:cubicBezTo>
                    <a:pt x="48" y="42"/>
                    <a:pt x="48" y="42"/>
                    <a:pt x="48" y="42"/>
                  </a:cubicBezTo>
                  <a:cubicBezTo>
                    <a:pt x="48" y="46"/>
                    <a:pt x="46" y="48"/>
                    <a:pt x="42" y="48"/>
                  </a:cubicBezTo>
                  <a:close/>
                  <a:moveTo>
                    <a:pt x="12" y="36"/>
                  </a:moveTo>
                  <a:cubicBezTo>
                    <a:pt x="36" y="36"/>
                    <a:pt x="36" y="36"/>
                    <a:pt x="36" y="36"/>
                  </a:cubicBezTo>
                  <a:cubicBezTo>
                    <a:pt x="36" y="12"/>
                    <a:pt x="36" y="12"/>
                    <a:pt x="36"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1" name="Freeform 53">
              <a:extLst>
                <a:ext uri="{FF2B5EF4-FFF2-40B4-BE49-F238E27FC236}">
                  <a16:creationId xmlns:a16="http://schemas.microsoft.com/office/drawing/2014/main" id="{ABFAC9F0-F5A5-985C-59D1-0159BA073ECA}"/>
                </a:ext>
              </a:extLst>
            </p:cNvPr>
            <p:cNvSpPr>
              <a:spLocks noEditPoints="1"/>
            </p:cNvSpPr>
            <p:nvPr/>
          </p:nvSpPr>
          <p:spPr bwMode="auto">
            <a:xfrm>
              <a:off x="5818" y="873"/>
              <a:ext cx="71" cy="139"/>
            </a:xfrm>
            <a:custGeom>
              <a:avLst/>
              <a:gdLst>
                <a:gd name="T0" fmla="*/ 42 w 48"/>
                <a:gd name="T1" fmla="*/ 96 h 96"/>
                <a:gd name="T2" fmla="*/ 6 w 48"/>
                <a:gd name="T3" fmla="*/ 96 h 96"/>
                <a:gd name="T4" fmla="*/ 0 w 48"/>
                <a:gd name="T5" fmla="*/ 90 h 96"/>
                <a:gd name="T6" fmla="*/ 0 w 48"/>
                <a:gd name="T7" fmla="*/ 6 h 96"/>
                <a:gd name="T8" fmla="*/ 6 w 48"/>
                <a:gd name="T9" fmla="*/ 0 h 96"/>
                <a:gd name="T10" fmla="*/ 42 w 48"/>
                <a:gd name="T11" fmla="*/ 0 h 96"/>
                <a:gd name="T12" fmla="*/ 48 w 48"/>
                <a:gd name="T13" fmla="*/ 6 h 96"/>
                <a:gd name="T14" fmla="*/ 48 w 48"/>
                <a:gd name="T15" fmla="*/ 90 h 96"/>
                <a:gd name="T16" fmla="*/ 42 w 48"/>
                <a:gd name="T17" fmla="*/ 96 h 96"/>
                <a:gd name="T18" fmla="*/ 12 w 48"/>
                <a:gd name="T19" fmla="*/ 84 h 96"/>
                <a:gd name="T20" fmla="*/ 36 w 48"/>
                <a:gd name="T21" fmla="*/ 84 h 96"/>
                <a:gd name="T22" fmla="*/ 36 w 48"/>
                <a:gd name="T23" fmla="*/ 12 h 96"/>
                <a:gd name="T24" fmla="*/ 12 w 48"/>
                <a:gd name="T25" fmla="*/ 12 h 96"/>
                <a:gd name="T26" fmla="*/ 12 w 48"/>
                <a:gd name="T27"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96">
                  <a:moveTo>
                    <a:pt x="42" y="96"/>
                  </a:moveTo>
                  <a:cubicBezTo>
                    <a:pt x="6" y="96"/>
                    <a:pt x="6" y="96"/>
                    <a:pt x="6" y="96"/>
                  </a:cubicBezTo>
                  <a:cubicBezTo>
                    <a:pt x="3" y="96"/>
                    <a:pt x="0" y="94"/>
                    <a:pt x="0" y="90"/>
                  </a:cubicBezTo>
                  <a:cubicBezTo>
                    <a:pt x="0" y="6"/>
                    <a:pt x="0" y="6"/>
                    <a:pt x="0" y="6"/>
                  </a:cubicBezTo>
                  <a:cubicBezTo>
                    <a:pt x="0" y="3"/>
                    <a:pt x="3" y="0"/>
                    <a:pt x="6" y="0"/>
                  </a:cubicBezTo>
                  <a:cubicBezTo>
                    <a:pt x="42" y="0"/>
                    <a:pt x="42" y="0"/>
                    <a:pt x="42" y="0"/>
                  </a:cubicBezTo>
                  <a:cubicBezTo>
                    <a:pt x="46" y="0"/>
                    <a:pt x="48" y="3"/>
                    <a:pt x="48" y="6"/>
                  </a:cubicBezTo>
                  <a:cubicBezTo>
                    <a:pt x="48" y="90"/>
                    <a:pt x="48" y="90"/>
                    <a:pt x="48" y="90"/>
                  </a:cubicBezTo>
                  <a:cubicBezTo>
                    <a:pt x="48" y="94"/>
                    <a:pt x="46" y="96"/>
                    <a:pt x="42" y="96"/>
                  </a:cubicBezTo>
                  <a:close/>
                  <a:moveTo>
                    <a:pt x="12" y="84"/>
                  </a:moveTo>
                  <a:cubicBezTo>
                    <a:pt x="36" y="84"/>
                    <a:pt x="36" y="84"/>
                    <a:pt x="36" y="84"/>
                  </a:cubicBezTo>
                  <a:cubicBezTo>
                    <a:pt x="36" y="12"/>
                    <a:pt x="36" y="12"/>
                    <a:pt x="36"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2" name="Freeform 54">
              <a:extLst>
                <a:ext uri="{FF2B5EF4-FFF2-40B4-BE49-F238E27FC236}">
                  <a16:creationId xmlns:a16="http://schemas.microsoft.com/office/drawing/2014/main" id="{CB0A96E5-AFA7-A880-DAD5-789D94FB0D11}"/>
                </a:ext>
              </a:extLst>
            </p:cNvPr>
            <p:cNvSpPr>
              <a:spLocks noEditPoints="1"/>
            </p:cNvSpPr>
            <p:nvPr/>
          </p:nvSpPr>
          <p:spPr bwMode="auto">
            <a:xfrm>
              <a:off x="5925" y="804"/>
              <a:ext cx="71" cy="208"/>
            </a:xfrm>
            <a:custGeom>
              <a:avLst/>
              <a:gdLst>
                <a:gd name="T0" fmla="*/ 42 w 48"/>
                <a:gd name="T1" fmla="*/ 144 h 144"/>
                <a:gd name="T2" fmla="*/ 6 w 48"/>
                <a:gd name="T3" fmla="*/ 144 h 144"/>
                <a:gd name="T4" fmla="*/ 0 w 48"/>
                <a:gd name="T5" fmla="*/ 138 h 144"/>
                <a:gd name="T6" fmla="*/ 0 w 48"/>
                <a:gd name="T7" fmla="*/ 6 h 144"/>
                <a:gd name="T8" fmla="*/ 6 w 48"/>
                <a:gd name="T9" fmla="*/ 0 h 144"/>
                <a:gd name="T10" fmla="*/ 42 w 48"/>
                <a:gd name="T11" fmla="*/ 0 h 144"/>
                <a:gd name="T12" fmla="*/ 48 w 48"/>
                <a:gd name="T13" fmla="*/ 6 h 144"/>
                <a:gd name="T14" fmla="*/ 48 w 48"/>
                <a:gd name="T15" fmla="*/ 138 h 144"/>
                <a:gd name="T16" fmla="*/ 42 w 48"/>
                <a:gd name="T17" fmla="*/ 144 h 144"/>
                <a:gd name="T18" fmla="*/ 12 w 48"/>
                <a:gd name="T19" fmla="*/ 132 h 144"/>
                <a:gd name="T20" fmla="*/ 36 w 48"/>
                <a:gd name="T21" fmla="*/ 132 h 144"/>
                <a:gd name="T22" fmla="*/ 36 w 48"/>
                <a:gd name="T23" fmla="*/ 12 h 144"/>
                <a:gd name="T24" fmla="*/ 12 w 48"/>
                <a:gd name="T25" fmla="*/ 12 h 144"/>
                <a:gd name="T26" fmla="*/ 12 w 48"/>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44">
                  <a:moveTo>
                    <a:pt x="42" y="144"/>
                  </a:moveTo>
                  <a:cubicBezTo>
                    <a:pt x="6" y="144"/>
                    <a:pt x="6" y="144"/>
                    <a:pt x="6" y="144"/>
                  </a:cubicBezTo>
                  <a:cubicBezTo>
                    <a:pt x="3" y="144"/>
                    <a:pt x="0" y="142"/>
                    <a:pt x="0" y="138"/>
                  </a:cubicBezTo>
                  <a:cubicBezTo>
                    <a:pt x="0" y="6"/>
                    <a:pt x="0" y="6"/>
                    <a:pt x="0" y="6"/>
                  </a:cubicBezTo>
                  <a:cubicBezTo>
                    <a:pt x="0" y="3"/>
                    <a:pt x="3" y="0"/>
                    <a:pt x="6" y="0"/>
                  </a:cubicBezTo>
                  <a:cubicBezTo>
                    <a:pt x="42" y="0"/>
                    <a:pt x="42" y="0"/>
                    <a:pt x="42" y="0"/>
                  </a:cubicBezTo>
                  <a:cubicBezTo>
                    <a:pt x="46" y="0"/>
                    <a:pt x="48" y="3"/>
                    <a:pt x="48" y="6"/>
                  </a:cubicBezTo>
                  <a:cubicBezTo>
                    <a:pt x="48" y="138"/>
                    <a:pt x="48" y="138"/>
                    <a:pt x="48" y="138"/>
                  </a:cubicBezTo>
                  <a:cubicBezTo>
                    <a:pt x="48" y="142"/>
                    <a:pt x="46" y="144"/>
                    <a:pt x="42" y="144"/>
                  </a:cubicBezTo>
                  <a:close/>
                  <a:moveTo>
                    <a:pt x="12" y="132"/>
                  </a:moveTo>
                  <a:cubicBezTo>
                    <a:pt x="36" y="132"/>
                    <a:pt x="36" y="132"/>
                    <a:pt x="36" y="132"/>
                  </a:cubicBezTo>
                  <a:cubicBezTo>
                    <a:pt x="36" y="12"/>
                    <a:pt x="36" y="12"/>
                    <a:pt x="36" y="12"/>
                  </a:cubicBezTo>
                  <a:cubicBezTo>
                    <a:pt x="12" y="12"/>
                    <a:pt x="12" y="12"/>
                    <a:pt x="12" y="12"/>
                  </a:cubicBezTo>
                  <a:lnTo>
                    <a:pt x="12"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3" name="Freeform 55">
              <a:extLst>
                <a:ext uri="{FF2B5EF4-FFF2-40B4-BE49-F238E27FC236}">
                  <a16:creationId xmlns:a16="http://schemas.microsoft.com/office/drawing/2014/main" id="{6B5F04D1-CA36-6993-D1AD-76C6DBCA4F40}"/>
                </a:ext>
              </a:extLst>
            </p:cNvPr>
            <p:cNvSpPr>
              <a:spLocks noEditPoints="1"/>
            </p:cNvSpPr>
            <p:nvPr/>
          </p:nvSpPr>
          <p:spPr bwMode="auto">
            <a:xfrm>
              <a:off x="6031" y="735"/>
              <a:ext cx="71" cy="277"/>
            </a:xfrm>
            <a:custGeom>
              <a:avLst/>
              <a:gdLst>
                <a:gd name="T0" fmla="*/ 42 w 48"/>
                <a:gd name="T1" fmla="*/ 192 h 192"/>
                <a:gd name="T2" fmla="*/ 6 w 48"/>
                <a:gd name="T3" fmla="*/ 192 h 192"/>
                <a:gd name="T4" fmla="*/ 0 w 48"/>
                <a:gd name="T5" fmla="*/ 186 h 192"/>
                <a:gd name="T6" fmla="*/ 0 w 48"/>
                <a:gd name="T7" fmla="*/ 6 h 192"/>
                <a:gd name="T8" fmla="*/ 6 w 48"/>
                <a:gd name="T9" fmla="*/ 0 h 192"/>
                <a:gd name="T10" fmla="*/ 42 w 48"/>
                <a:gd name="T11" fmla="*/ 0 h 192"/>
                <a:gd name="T12" fmla="*/ 48 w 48"/>
                <a:gd name="T13" fmla="*/ 6 h 192"/>
                <a:gd name="T14" fmla="*/ 48 w 48"/>
                <a:gd name="T15" fmla="*/ 186 h 192"/>
                <a:gd name="T16" fmla="*/ 42 w 48"/>
                <a:gd name="T17" fmla="*/ 192 h 192"/>
                <a:gd name="T18" fmla="*/ 12 w 48"/>
                <a:gd name="T19" fmla="*/ 180 h 192"/>
                <a:gd name="T20" fmla="*/ 36 w 48"/>
                <a:gd name="T21" fmla="*/ 180 h 192"/>
                <a:gd name="T22" fmla="*/ 36 w 48"/>
                <a:gd name="T23" fmla="*/ 12 h 192"/>
                <a:gd name="T24" fmla="*/ 12 w 48"/>
                <a:gd name="T25" fmla="*/ 12 h 192"/>
                <a:gd name="T26" fmla="*/ 12 w 48"/>
                <a:gd name="T27" fmla="*/ 18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92">
                  <a:moveTo>
                    <a:pt x="42" y="192"/>
                  </a:moveTo>
                  <a:cubicBezTo>
                    <a:pt x="6" y="192"/>
                    <a:pt x="6" y="192"/>
                    <a:pt x="6" y="192"/>
                  </a:cubicBezTo>
                  <a:cubicBezTo>
                    <a:pt x="3" y="192"/>
                    <a:pt x="0" y="190"/>
                    <a:pt x="0" y="186"/>
                  </a:cubicBezTo>
                  <a:cubicBezTo>
                    <a:pt x="0" y="6"/>
                    <a:pt x="0" y="6"/>
                    <a:pt x="0" y="6"/>
                  </a:cubicBezTo>
                  <a:cubicBezTo>
                    <a:pt x="0" y="3"/>
                    <a:pt x="3" y="0"/>
                    <a:pt x="6" y="0"/>
                  </a:cubicBezTo>
                  <a:cubicBezTo>
                    <a:pt x="42" y="0"/>
                    <a:pt x="42" y="0"/>
                    <a:pt x="42" y="0"/>
                  </a:cubicBezTo>
                  <a:cubicBezTo>
                    <a:pt x="46" y="0"/>
                    <a:pt x="48" y="3"/>
                    <a:pt x="48" y="6"/>
                  </a:cubicBezTo>
                  <a:cubicBezTo>
                    <a:pt x="48" y="186"/>
                    <a:pt x="48" y="186"/>
                    <a:pt x="48" y="186"/>
                  </a:cubicBezTo>
                  <a:cubicBezTo>
                    <a:pt x="48" y="190"/>
                    <a:pt x="46" y="192"/>
                    <a:pt x="42" y="192"/>
                  </a:cubicBezTo>
                  <a:close/>
                  <a:moveTo>
                    <a:pt x="12" y="180"/>
                  </a:moveTo>
                  <a:cubicBezTo>
                    <a:pt x="36" y="180"/>
                    <a:pt x="36" y="180"/>
                    <a:pt x="36" y="180"/>
                  </a:cubicBezTo>
                  <a:cubicBezTo>
                    <a:pt x="36" y="12"/>
                    <a:pt x="36" y="12"/>
                    <a:pt x="36" y="12"/>
                  </a:cubicBezTo>
                  <a:cubicBezTo>
                    <a:pt x="12" y="12"/>
                    <a:pt x="12" y="12"/>
                    <a:pt x="12" y="12"/>
                  </a:cubicBezTo>
                  <a:lnTo>
                    <a:pt x="12"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4" name="Freeform 56">
              <a:extLst>
                <a:ext uri="{FF2B5EF4-FFF2-40B4-BE49-F238E27FC236}">
                  <a16:creationId xmlns:a16="http://schemas.microsoft.com/office/drawing/2014/main" id="{60E6BD57-4194-67CE-8939-819B399EC2FD}"/>
                </a:ext>
              </a:extLst>
            </p:cNvPr>
            <p:cNvSpPr>
              <a:spLocks/>
            </p:cNvSpPr>
            <p:nvPr/>
          </p:nvSpPr>
          <p:spPr bwMode="auto">
            <a:xfrm>
              <a:off x="5738" y="612"/>
              <a:ext cx="339" cy="227"/>
            </a:xfrm>
            <a:custGeom>
              <a:avLst/>
              <a:gdLst>
                <a:gd name="T0" fmla="*/ 6 w 229"/>
                <a:gd name="T1" fmla="*/ 157 h 157"/>
                <a:gd name="T2" fmla="*/ 1 w 229"/>
                <a:gd name="T3" fmla="*/ 154 h 157"/>
                <a:gd name="T4" fmla="*/ 3 w 229"/>
                <a:gd name="T5" fmla="*/ 146 h 157"/>
                <a:gd name="T6" fmla="*/ 219 w 229"/>
                <a:gd name="T7" fmla="*/ 2 h 157"/>
                <a:gd name="T8" fmla="*/ 227 w 229"/>
                <a:gd name="T9" fmla="*/ 4 h 157"/>
                <a:gd name="T10" fmla="*/ 226 w 229"/>
                <a:gd name="T11" fmla="*/ 12 h 157"/>
                <a:gd name="T12" fmla="*/ 10 w 229"/>
                <a:gd name="T13" fmla="*/ 156 h 157"/>
                <a:gd name="T14" fmla="*/ 6 w 229"/>
                <a:gd name="T15" fmla="*/ 157 h 1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9" h="157">
                  <a:moveTo>
                    <a:pt x="6" y="157"/>
                  </a:moveTo>
                  <a:cubicBezTo>
                    <a:pt x="5" y="157"/>
                    <a:pt x="3" y="156"/>
                    <a:pt x="1" y="154"/>
                  </a:cubicBezTo>
                  <a:cubicBezTo>
                    <a:pt x="0" y="152"/>
                    <a:pt x="0" y="148"/>
                    <a:pt x="3" y="146"/>
                  </a:cubicBezTo>
                  <a:cubicBezTo>
                    <a:pt x="219" y="2"/>
                    <a:pt x="219" y="2"/>
                    <a:pt x="219" y="2"/>
                  </a:cubicBezTo>
                  <a:cubicBezTo>
                    <a:pt x="222" y="0"/>
                    <a:pt x="226" y="1"/>
                    <a:pt x="227" y="4"/>
                  </a:cubicBezTo>
                  <a:cubicBezTo>
                    <a:pt x="229" y="7"/>
                    <a:pt x="229" y="10"/>
                    <a:pt x="226" y="12"/>
                  </a:cubicBezTo>
                  <a:cubicBezTo>
                    <a:pt x="10" y="156"/>
                    <a:pt x="10" y="156"/>
                    <a:pt x="10" y="156"/>
                  </a:cubicBezTo>
                  <a:cubicBezTo>
                    <a:pt x="9" y="157"/>
                    <a:pt x="8" y="157"/>
                    <a:pt x="6" y="1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5" name="Freeform 57">
              <a:extLst>
                <a:ext uri="{FF2B5EF4-FFF2-40B4-BE49-F238E27FC236}">
                  <a16:creationId xmlns:a16="http://schemas.microsoft.com/office/drawing/2014/main" id="{F73AB833-7053-A34D-8090-04F9327BB1F3}"/>
                </a:ext>
              </a:extLst>
            </p:cNvPr>
            <p:cNvSpPr>
              <a:spLocks/>
            </p:cNvSpPr>
            <p:nvPr/>
          </p:nvSpPr>
          <p:spPr bwMode="auto">
            <a:xfrm>
              <a:off x="5987" y="604"/>
              <a:ext cx="90" cy="96"/>
            </a:xfrm>
            <a:custGeom>
              <a:avLst/>
              <a:gdLst>
                <a:gd name="T0" fmla="*/ 48 w 61"/>
                <a:gd name="T1" fmla="*/ 66 h 66"/>
                <a:gd name="T2" fmla="*/ 48 w 61"/>
                <a:gd name="T3" fmla="*/ 66 h 66"/>
                <a:gd name="T4" fmla="*/ 42 w 61"/>
                <a:gd name="T5" fmla="*/ 60 h 66"/>
                <a:gd name="T6" fmla="*/ 48 w 61"/>
                <a:gd name="T7" fmla="*/ 17 h 66"/>
                <a:gd name="T8" fmla="*/ 6 w 61"/>
                <a:gd name="T9" fmla="*/ 12 h 66"/>
                <a:gd name="T10" fmla="*/ 0 w 61"/>
                <a:gd name="T11" fmla="*/ 6 h 66"/>
                <a:gd name="T12" fmla="*/ 7 w 61"/>
                <a:gd name="T13" fmla="*/ 0 h 66"/>
                <a:gd name="T14" fmla="*/ 55 w 61"/>
                <a:gd name="T15" fmla="*/ 6 h 66"/>
                <a:gd name="T16" fmla="*/ 59 w 61"/>
                <a:gd name="T17" fmla="*/ 8 h 66"/>
                <a:gd name="T18" fmla="*/ 60 w 61"/>
                <a:gd name="T19" fmla="*/ 13 h 66"/>
                <a:gd name="T20" fmla="*/ 54 w 61"/>
                <a:gd name="T21" fmla="*/ 61 h 66"/>
                <a:gd name="T22" fmla="*/ 48 w 61"/>
                <a:gd name="T23"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1" h="66">
                  <a:moveTo>
                    <a:pt x="48" y="66"/>
                  </a:moveTo>
                  <a:cubicBezTo>
                    <a:pt x="48" y="66"/>
                    <a:pt x="48" y="66"/>
                    <a:pt x="48" y="66"/>
                  </a:cubicBezTo>
                  <a:cubicBezTo>
                    <a:pt x="44" y="66"/>
                    <a:pt x="42" y="63"/>
                    <a:pt x="42" y="60"/>
                  </a:cubicBezTo>
                  <a:cubicBezTo>
                    <a:pt x="48" y="17"/>
                    <a:pt x="48" y="17"/>
                    <a:pt x="48" y="17"/>
                  </a:cubicBezTo>
                  <a:cubicBezTo>
                    <a:pt x="6" y="12"/>
                    <a:pt x="6" y="12"/>
                    <a:pt x="6" y="12"/>
                  </a:cubicBezTo>
                  <a:cubicBezTo>
                    <a:pt x="2" y="12"/>
                    <a:pt x="0" y="9"/>
                    <a:pt x="0" y="6"/>
                  </a:cubicBezTo>
                  <a:cubicBezTo>
                    <a:pt x="1" y="2"/>
                    <a:pt x="4" y="0"/>
                    <a:pt x="7" y="0"/>
                  </a:cubicBezTo>
                  <a:cubicBezTo>
                    <a:pt x="55" y="6"/>
                    <a:pt x="55" y="6"/>
                    <a:pt x="55" y="6"/>
                  </a:cubicBezTo>
                  <a:cubicBezTo>
                    <a:pt x="57" y="6"/>
                    <a:pt x="58" y="7"/>
                    <a:pt x="59" y="8"/>
                  </a:cubicBezTo>
                  <a:cubicBezTo>
                    <a:pt x="60" y="10"/>
                    <a:pt x="61" y="11"/>
                    <a:pt x="60" y="13"/>
                  </a:cubicBezTo>
                  <a:cubicBezTo>
                    <a:pt x="54" y="61"/>
                    <a:pt x="54" y="61"/>
                    <a:pt x="54" y="61"/>
                  </a:cubicBezTo>
                  <a:cubicBezTo>
                    <a:pt x="54" y="64"/>
                    <a:pt x="51" y="66"/>
                    <a:pt x="48"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26" name="Group 73">
            <a:extLst>
              <a:ext uri="{FF2B5EF4-FFF2-40B4-BE49-F238E27FC236}">
                <a16:creationId xmlns:a16="http://schemas.microsoft.com/office/drawing/2014/main" id="{22B1C674-1C0C-4272-0D76-880541C203AC}"/>
              </a:ext>
            </a:extLst>
          </p:cNvPr>
          <p:cNvGrpSpPr>
            <a:grpSpLocks noChangeAspect="1"/>
          </p:cNvGrpSpPr>
          <p:nvPr/>
        </p:nvGrpSpPr>
        <p:grpSpPr bwMode="auto">
          <a:xfrm>
            <a:off x="6777111" y="1965086"/>
            <a:ext cx="321320" cy="319814"/>
            <a:chOff x="2400" y="1721"/>
            <a:chExt cx="427" cy="425"/>
          </a:xfrm>
          <a:solidFill>
            <a:schemeClr val="tx2"/>
          </a:solidFill>
        </p:grpSpPr>
        <p:sp>
          <p:nvSpPr>
            <p:cNvPr id="27" name="Freeform 74">
              <a:extLst>
                <a:ext uri="{FF2B5EF4-FFF2-40B4-BE49-F238E27FC236}">
                  <a16:creationId xmlns:a16="http://schemas.microsoft.com/office/drawing/2014/main" id="{3844B1B8-D1AD-AAE4-DCC3-BC1B31554301}"/>
                </a:ext>
              </a:extLst>
            </p:cNvPr>
            <p:cNvSpPr>
              <a:spLocks noEditPoints="1"/>
            </p:cNvSpPr>
            <p:nvPr/>
          </p:nvSpPr>
          <p:spPr bwMode="auto">
            <a:xfrm>
              <a:off x="2400" y="1721"/>
              <a:ext cx="427" cy="425"/>
            </a:xfrm>
            <a:custGeom>
              <a:avLst/>
              <a:gdLst>
                <a:gd name="T0" fmla="*/ 234 w 288"/>
                <a:gd name="T1" fmla="*/ 288 h 288"/>
                <a:gd name="T2" fmla="*/ 54 w 288"/>
                <a:gd name="T3" fmla="*/ 288 h 288"/>
                <a:gd name="T4" fmla="*/ 0 w 288"/>
                <a:gd name="T5" fmla="*/ 234 h 288"/>
                <a:gd name="T6" fmla="*/ 0 w 288"/>
                <a:gd name="T7" fmla="*/ 54 h 288"/>
                <a:gd name="T8" fmla="*/ 54 w 288"/>
                <a:gd name="T9" fmla="*/ 0 h 288"/>
                <a:gd name="T10" fmla="*/ 234 w 288"/>
                <a:gd name="T11" fmla="*/ 0 h 288"/>
                <a:gd name="T12" fmla="*/ 288 w 288"/>
                <a:gd name="T13" fmla="*/ 54 h 288"/>
                <a:gd name="T14" fmla="*/ 288 w 288"/>
                <a:gd name="T15" fmla="*/ 234 h 288"/>
                <a:gd name="T16" fmla="*/ 234 w 288"/>
                <a:gd name="T17" fmla="*/ 288 h 288"/>
                <a:gd name="T18" fmla="*/ 54 w 288"/>
                <a:gd name="T19" fmla="*/ 12 h 288"/>
                <a:gd name="T20" fmla="*/ 12 w 288"/>
                <a:gd name="T21" fmla="*/ 54 h 288"/>
                <a:gd name="T22" fmla="*/ 12 w 288"/>
                <a:gd name="T23" fmla="*/ 234 h 288"/>
                <a:gd name="T24" fmla="*/ 54 w 288"/>
                <a:gd name="T25" fmla="*/ 276 h 288"/>
                <a:gd name="T26" fmla="*/ 234 w 288"/>
                <a:gd name="T27" fmla="*/ 276 h 288"/>
                <a:gd name="T28" fmla="*/ 276 w 288"/>
                <a:gd name="T29" fmla="*/ 234 h 288"/>
                <a:gd name="T30" fmla="*/ 276 w 288"/>
                <a:gd name="T31" fmla="*/ 54 h 288"/>
                <a:gd name="T32" fmla="*/ 234 w 288"/>
                <a:gd name="T33" fmla="*/ 12 h 288"/>
                <a:gd name="T34" fmla="*/ 54 w 288"/>
                <a:gd name="T35"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8" h="288">
                  <a:moveTo>
                    <a:pt x="234" y="288"/>
                  </a:moveTo>
                  <a:cubicBezTo>
                    <a:pt x="54" y="288"/>
                    <a:pt x="54" y="288"/>
                    <a:pt x="54" y="288"/>
                  </a:cubicBezTo>
                  <a:cubicBezTo>
                    <a:pt x="24" y="288"/>
                    <a:pt x="0" y="263"/>
                    <a:pt x="0" y="234"/>
                  </a:cubicBezTo>
                  <a:cubicBezTo>
                    <a:pt x="0" y="54"/>
                    <a:pt x="0" y="54"/>
                    <a:pt x="0" y="54"/>
                  </a:cubicBezTo>
                  <a:cubicBezTo>
                    <a:pt x="0" y="24"/>
                    <a:pt x="24" y="0"/>
                    <a:pt x="54" y="0"/>
                  </a:cubicBezTo>
                  <a:cubicBezTo>
                    <a:pt x="234" y="0"/>
                    <a:pt x="234" y="0"/>
                    <a:pt x="234" y="0"/>
                  </a:cubicBezTo>
                  <a:cubicBezTo>
                    <a:pt x="264" y="0"/>
                    <a:pt x="288" y="24"/>
                    <a:pt x="288" y="54"/>
                  </a:cubicBezTo>
                  <a:cubicBezTo>
                    <a:pt x="288" y="234"/>
                    <a:pt x="288" y="234"/>
                    <a:pt x="288" y="234"/>
                  </a:cubicBezTo>
                  <a:cubicBezTo>
                    <a:pt x="288" y="263"/>
                    <a:pt x="264" y="288"/>
                    <a:pt x="234" y="288"/>
                  </a:cubicBezTo>
                  <a:close/>
                  <a:moveTo>
                    <a:pt x="54" y="12"/>
                  </a:moveTo>
                  <a:cubicBezTo>
                    <a:pt x="31" y="12"/>
                    <a:pt x="12" y="30"/>
                    <a:pt x="12" y="54"/>
                  </a:cubicBezTo>
                  <a:cubicBezTo>
                    <a:pt x="12" y="234"/>
                    <a:pt x="12" y="234"/>
                    <a:pt x="12" y="234"/>
                  </a:cubicBezTo>
                  <a:cubicBezTo>
                    <a:pt x="12" y="257"/>
                    <a:pt x="31" y="276"/>
                    <a:pt x="54" y="276"/>
                  </a:cubicBezTo>
                  <a:cubicBezTo>
                    <a:pt x="234" y="276"/>
                    <a:pt x="234" y="276"/>
                    <a:pt x="234" y="276"/>
                  </a:cubicBezTo>
                  <a:cubicBezTo>
                    <a:pt x="257" y="276"/>
                    <a:pt x="276" y="257"/>
                    <a:pt x="276" y="234"/>
                  </a:cubicBezTo>
                  <a:cubicBezTo>
                    <a:pt x="276" y="54"/>
                    <a:pt x="276" y="54"/>
                    <a:pt x="276" y="54"/>
                  </a:cubicBezTo>
                  <a:cubicBezTo>
                    <a:pt x="276" y="30"/>
                    <a:pt x="257" y="12"/>
                    <a:pt x="234" y="12"/>
                  </a:cubicBezTo>
                  <a:lnTo>
                    <a:pt x="5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8" name="Freeform 75">
              <a:extLst>
                <a:ext uri="{FF2B5EF4-FFF2-40B4-BE49-F238E27FC236}">
                  <a16:creationId xmlns:a16="http://schemas.microsoft.com/office/drawing/2014/main" id="{627839D5-741D-9F8F-988F-98F7B947A6D0}"/>
                </a:ext>
              </a:extLst>
            </p:cNvPr>
            <p:cNvSpPr>
              <a:spLocks noEditPoints="1"/>
            </p:cNvSpPr>
            <p:nvPr/>
          </p:nvSpPr>
          <p:spPr bwMode="auto">
            <a:xfrm>
              <a:off x="2557" y="1886"/>
              <a:ext cx="111" cy="111"/>
            </a:xfrm>
            <a:custGeom>
              <a:avLst/>
              <a:gdLst>
                <a:gd name="T0" fmla="*/ 38 w 75"/>
                <a:gd name="T1" fmla="*/ 75 h 75"/>
                <a:gd name="T2" fmla="*/ 0 w 75"/>
                <a:gd name="T3" fmla="*/ 38 h 75"/>
                <a:gd name="T4" fmla="*/ 38 w 75"/>
                <a:gd name="T5" fmla="*/ 0 h 75"/>
                <a:gd name="T6" fmla="*/ 75 w 75"/>
                <a:gd name="T7" fmla="*/ 38 h 75"/>
                <a:gd name="T8" fmla="*/ 38 w 75"/>
                <a:gd name="T9" fmla="*/ 75 h 75"/>
                <a:gd name="T10" fmla="*/ 38 w 75"/>
                <a:gd name="T11" fmla="*/ 12 h 75"/>
                <a:gd name="T12" fmla="*/ 12 w 75"/>
                <a:gd name="T13" fmla="*/ 38 h 75"/>
                <a:gd name="T14" fmla="*/ 38 w 75"/>
                <a:gd name="T15" fmla="*/ 63 h 75"/>
                <a:gd name="T16" fmla="*/ 63 w 75"/>
                <a:gd name="T17" fmla="*/ 38 h 75"/>
                <a:gd name="T18" fmla="*/ 38 w 75"/>
                <a:gd name="T19"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5" h="75">
                  <a:moveTo>
                    <a:pt x="38" y="75"/>
                  </a:moveTo>
                  <a:cubicBezTo>
                    <a:pt x="17" y="75"/>
                    <a:pt x="0" y="58"/>
                    <a:pt x="0" y="38"/>
                  </a:cubicBezTo>
                  <a:cubicBezTo>
                    <a:pt x="0" y="17"/>
                    <a:pt x="17" y="0"/>
                    <a:pt x="38" y="0"/>
                  </a:cubicBezTo>
                  <a:cubicBezTo>
                    <a:pt x="59" y="0"/>
                    <a:pt x="75" y="17"/>
                    <a:pt x="75" y="38"/>
                  </a:cubicBezTo>
                  <a:cubicBezTo>
                    <a:pt x="75" y="58"/>
                    <a:pt x="59" y="75"/>
                    <a:pt x="38" y="75"/>
                  </a:cubicBezTo>
                  <a:close/>
                  <a:moveTo>
                    <a:pt x="38" y="12"/>
                  </a:moveTo>
                  <a:cubicBezTo>
                    <a:pt x="24" y="12"/>
                    <a:pt x="12" y="24"/>
                    <a:pt x="12" y="38"/>
                  </a:cubicBezTo>
                  <a:cubicBezTo>
                    <a:pt x="12" y="52"/>
                    <a:pt x="24" y="63"/>
                    <a:pt x="38" y="63"/>
                  </a:cubicBezTo>
                  <a:cubicBezTo>
                    <a:pt x="52" y="63"/>
                    <a:pt x="63" y="52"/>
                    <a:pt x="63" y="38"/>
                  </a:cubicBezTo>
                  <a:cubicBezTo>
                    <a:pt x="63" y="24"/>
                    <a:pt x="52" y="12"/>
                    <a:pt x="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9" name="Freeform 76">
              <a:extLst>
                <a:ext uri="{FF2B5EF4-FFF2-40B4-BE49-F238E27FC236}">
                  <a16:creationId xmlns:a16="http://schemas.microsoft.com/office/drawing/2014/main" id="{D776649D-7905-66EC-85DA-EE5B660B9E81}"/>
                </a:ext>
              </a:extLst>
            </p:cNvPr>
            <p:cNvSpPr>
              <a:spLocks noEditPoints="1"/>
            </p:cNvSpPr>
            <p:nvPr/>
          </p:nvSpPr>
          <p:spPr bwMode="auto">
            <a:xfrm>
              <a:off x="2482" y="1809"/>
              <a:ext cx="265" cy="266"/>
            </a:xfrm>
            <a:custGeom>
              <a:avLst/>
              <a:gdLst>
                <a:gd name="T0" fmla="*/ 69 w 179"/>
                <a:gd name="T1" fmla="*/ 180 h 180"/>
                <a:gd name="T2" fmla="*/ 63 w 179"/>
                <a:gd name="T3" fmla="*/ 159 h 180"/>
                <a:gd name="T4" fmla="*/ 30 w 179"/>
                <a:gd name="T5" fmla="*/ 155 h 180"/>
                <a:gd name="T6" fmla="*/ 1 w 179"/>
                <a:gd name="T7" fmla="*/ 116 h 180"/>
                <a:gd name="T8" fmla="*/ 3 w 179"/>
                <a:gd name="T9" fmla="*/ 108 h 180"/>
                <a:gd name="T10" fmla="*/ 15 w 179"/>
                <a:gd name="T11" fmla="*/ 90 h 180"/>
                <a:gd name="T12" fmla="*/ 3 w 179"/>
                <a:gd name="T13" fmla="*/ 71 h 180"/>
                <a:gd name="T14" fmla="*/ 1 w 179"/>
                <a:gd name="T15" fmla="*/ 63 h 180"/>
                <a:gd name="T16" fmla="*/ 30 w 179"/>
                <a:gd name="T17" fmla="*/ 24 h 180"/>
                <a:gd name="T18" fmla="*/ 63 w 179"/>
                <a:gd name="T19" fmla="*/ 20 h 180"/>
                <a:gd name="T20" fmla="*/ 69 w 179"/>
                <a:gd name="T21" fmla="*/ 0 h 180"/>
                <a:gd name="T22" fmla="*/ 117 w 179"/>
                <a:gd name="T23" fmla="*/ 6 h 180"/>
                <a:gd name="T24" fmla="*/ 136 w 179"/>
                <a:gd name="T25" fmla="*/ 32 h 180"/>
                <a:gd name="T26" fmla="*/ 153 w 179"/>
                <a:gd name="T27" fmla="*/ 24 h 180"/>
                <a:gd name="T28" fmla="*/ 177 w 179"/>
                <a:gd name="T29" fmla="*/ 63 h 180"/>
                <a:gd name="T30" fmla="*/ 175 w 179"/>
                <a:gd name="T31" fmla="*/ 71 h 180"/>
                <a:gd name="T32" fmla="*/ 163 w 179"/>
                <a:gd name="T33" fmla="*/ 90 h 180"/>
                <a:gd name="T34" fmla="*/ 175 w 179"/>
                <a:gd name="T35" fmla="*/ 108 h 180"/>
                <a:gd name="T36" fmla="*/ 157 w 179"/>
                <a:gd name="T37" fmla="*/ 153 h 180"/>
                <a:gd name="T38" fmla="*/ 148 w 179"/>
                <a:gd name="T39" fmla="*/ 155 h 180"/>
                <a:gd name="T40" fmla="*/ 117 w 179"/>
                <a:gd name="T41" fmla="*/ 159 h 180"/>
                <a:gd name="T42" fmla="*/ 111 w 179"/>
                <a:gd name="T43" fmla="*/ 180 h 180"/>
                <a:gd name="T44" fmla="*/ 105 w 179"/>
                <a:gd name="T45" fmla="*/ 168 h 180"/>
                <a:gd name="T46" fmla="*/ 109 w 179"/>
                <a:gd name="T47" fmla="*/ 149 h 180"/>
                <a:gd name="T48" fmla="*/ 138 w 179"/>
                <a:gd name="T49" fmla="*/ 135 h 180"/>
                <a:gd name="T50" fmla="*/ 164 w 179"/>
                <a:gd name="T51" fmla="*/ 116 h 180"/>
                <a:gd name="T52" fmla="*/ 150 w 179"/>
                <a:gd name="T53" fmla="*/ 103 h 180"/>
                <a:gd name="T54" fmla="*/ 150 w 179"/>
                <a:gd name="T55" fmla="*/ 77 h 180"/>
                <a:gd name="T56" fmla="*/ 164 w 179"/>
                <a:gd name="T57" fmla="*/ 64 h 180"/>
                <a:gd name="T58" fmla="*/ 138 w 179"/>
                <a:gd name="T59" fmla="*/ 44 h 180"/>
                <a:gd name="T60" fmla="*/ 109 w 179"/>
                <a:gd name="T61" fmla="*/ 30 h 180"/>
                <a:gd name="T62" fmla="*/ 105 w 179"/>
                <a:gd name="T63" fmla="*/ 12 h 180"/>
                <a:gd name="T64" fmla="*/ 75 w 179"/>
                <a:gd name="T65" fmla="*/ 25 h 180"/>
                <a:gd name="T66" fmla="*/ 48 w 179"/>
                <a:gd name="T67" fmla="*/ 43 h 180"/>
                <a:gd name="T68" fmla="*/ 29 w 179"/>
                <a:gd name="T69" fmla="*/ 38 h 180"/>
                <a:gd name="T70" fmla="*/ 25 w 179"/>
                <a:gd name="T71" fmla="*/ 70 h 180"/>
                <a:gd name="T72" fmla="*/ 27 w 179"/>
                <a:gd name="T73" fmla="*/ 90 h 180"/>
                <a:gd name="T74" fmla="*/ 25 w 179"/>
                <a:gd name="T75" fmla="*/ 109 h 180"/>
                <a:gd name="T76" fmla="*/ 29 w 179"/>
                <a:gd name="T77" fmla="*/ 142 h 180"/>
                <a:gd name="T78" fmla="*/ 48 w 179"/>
                <a:gd name="T79" fmla="*/ 136 h 180"/>
                <a:gd name="T80" fmla="*/ 75 w 179"/>
                <a:gd name="T81" fmla="*/ 155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9" h="180">
                  <a:moveTo>
                    <a:pt x="111" y="180"/>
                  </a:moveTo>
                  <a:cubicBezTo>
                    <a:pt x="69" y="180"/>
                    <a:pt x="69" y="180"/>
                    <a:pt x="69" y="180"/>
                  </a:cubicBezTo>
                  <a:cubicBezTo>
                    <a:pt x="65" y="180"/>
                    <a:pt x="63" y="177"/>
                    <a:pt x="63" y="174"/>
                  </a:cubicBezTo>
                  <a:cubicBezTo>
                    <a:pt x="63" y="159"/>
                    <a:pt x="63" y="159"/>
                    <a:pt x="63" y="159"/>
                  </a:cubicBezTo>
                  <a:cubicBezTo>
                    <a:pt x="56" y="156"/>
                    <a:pt x="49" y="153"/>
                    <a:pt x="43" y="148"/>
                  </a:cubicBezTo>
                  <a:cubicBezTo>
                    <a:pt x="30" y="155"/>
                    <a:pt x="30" y="155"/>
                    <a:pt x="30" y="155"/>
                  </a:cubicBezTo>
                  <a:cubicBezTo>
                    <a:pt x="27" y="157"/>
                    <a:pt x="23" y="156"/>
                    <a:pt x="22" y="153"/>
                  </a:cubicBezTo>
                  <a:cubicBezTo>
                    <a:pt x="1" y="116"/>
                    <a:pt x="1" y="116"/>
                    <a:pt x="1" y="116"/>
                  </a:cubicBezTo>
                  <a:cubicBezTo>
                    <a:pt x="0" y="115"/>
                    <a:pt x="0" y="113"/>
                    <a:pt x="0" y="112"/>
                  </a:cubicBezTo>
                  <a:cubicBezTo>
                    <a:pt x="0" y="110"/>
                    <a:pt x="1" y="109"/>
                    <a:pt x="3" y="108"/>
                  </a:cubicBezTo>
                  <a:cubicBezTo>
                    <a:pt x="16" y="101"/>
                    <a:pt x="16" y="101"/>
                    <a:pt x="16" y="101"/>
                  </a:cubicBezTo>
                  <a:cubicBezTo>
                    <a:pt x="15" y="97"/>
                    <a:pt x="15" y="93"/>
                    <a:pt x="15" y="90"/>
                  </a:cubicBezTo>
                  <a:cubicBezTo>
                    <a:pt x="15" y="86"/>
                    <a:pt x="15" y="82"/>
                    <a:pt x="16" y="78"/>
                  </a:cubicBezTo>
                  <a:cubicBezTo>
                    <a:pt x="3" y="71"/>
                    <a:pt x="3" y="71"/>
                    <a:pt x="3" y="71"/>
                  </a:cubicBezTo>
                  <a:cubicBezTo>
                    <a:pt x="1" y="70"/>
                    <a:pt x="0" y="69"/>
                    <a:pt x="0" y="67"/>
                  </a:cubicBezTo>
                  <a:cubicBezTo>
                    <a:pt x="0" y="66"/>
                    <a:pt x="0" y="64"/>
                    <a:pt x="1" y="63"/>
                  </a:cubicBezTo>
                  <a:cubicBezTo>
                    <a:pt x="22" y="26"/>
                    <a:pt x="22" y="26"/>
                    <a:pt x="22" y="26"/>
                  </a:cubicBezTo>
                  <a:cubicBezTo>
                    <a:pt x="23" y="24"/>
                    <a:pt x="27" y="23"/>
                    <a:pt x="30" y="24"/>
                  </a:cubicBezTo>
                  <a:cubicBezTo>
                    <a:pt x="43" y="32"/>
                    <a:pt x="43" y="32"/>
                    <a:pt x="43" y="32"/>
                  </a:cubicBezTo>
                  <a:cubicBezTo>
                    <a:pt x="49" y="27"/>
                    <a:pt x="56" y="23"/>
                    <a:pt x="63" y="20"/>
                  </a:cubicBezTo>
                  <a:cubicBezTo>
                    <a:pt x="63" y="6"/>
                    <a:pt x="63" y="6"/>
                    <a:pt x="63" y="6"/>
                  </a:cubicBezTo>
                  <a:cubicBezTo>
                    <a:pt x="63" y="2"/>
                    <a:pt x="65" y="0"/>
                    <a:pt x="69" y="0"/>
                  </a:cubicBezTo>
                  <a:cubicBezTo>
                    <a:pt x="111" y="0"/>
                    <a:pt x="111" y="0"/>
                    <a:pt x="111" y="0"/>
                  </a:cubicBezTo>
                  <a:cubicBezTo>
                    <a:pt x="114" y="0"/>
                    <a:pt x="117" y="2"/>
                    <a:pt x="117" y="6"/>
                  </a:cubicBezTo>
                  <a:cubicBezTo>
                    <a:pt x="117" y="20"/>
                    <a:pt x="117" y="20"/>
                    <a:pt x="117" y="20"/>
                  </a:cubicBezTo>
                  <a:cubicBezTo>
                    <a:pt x="124" y="23"/>
                    <a:pt x="130" y="27"/>
                    <a:pt x="136" y="32"/>
                  </a:cubicBezTo>
                  <a:cubicBezTo>
                    <a:pt x="148" y="24"/>
                    <a:pt x="148" y="24"/>
                    <a:pt x="148" y="24"/>
                  </a:cubicBezTo>
                  <a:cubicBezTo>
                    <a:pt x="150" y="23"/>
                    <a:pt x="151" y="23"/>
                    <a:pt x="153" y="24"/>
                  </a:cubicBezTo>
                  <a:cubicBezTo>
                    <a:pt x="154" y="24"/>
                    <a:pt x="156" y="25"/>
                    <a:pt x="156" y="26"/>
                  </a:cubicBezTo>
                  <a:cubicBezTo>
                    <a:pt x="177" y="63"/>
                    <a:pt x="177" y="63"/>
                    <a:pt x="177" y="63"/>
                  </a:cubicBezTo>
                  <a:cubicBezTo>
                    <a:pt x="178" y="64"/>
                    <a:pt x="178" y="66"/>
                    <a:pt x="178" y="67"/>
                  </a:cubicBezTo>
                  <a:cubicBezTo>
                    <a:pt x="178" y="69"/>
                    <a:pt x="177" y="70"/>
                    <a:pt x="175" y="71"/>
                  </a:cubicBezTo>
                  <a:cubicBezTo>
                    <a:pt x="162" y="78"/>
                    <a:pt x="162" y="78"/>
                    <a:pt x="162" y="78"/>
                  </a:cubicBezTo>
                  <a:cubicBezTo>
                    <a:pt x="163" y="82"/>
                    <a:pt x="163" y="86"/>
                    <a:pt x="163" y="90"/>
                  </a:cubicBezTo>
                  <a:cubicBezTo>
                    <a:pt x="163" y="93"/>
                    <a:pt x="163" y="97"/>
                    <a:pt x="162" y="101"/>
                  </a:cubicBezTo>
                  <a:cubicBezTo>
                    <a:pt x="175" y="108"/>
                    <a:pt x="175" y="108"/>
                    <a:pt x="175" y="108"/>
                  </a:cubicBezTo>
                  <a:cubicBezTo>
                    <a:pt x="178" y="110"/>
                    <a:pt x="179" y="114"/>
                    <a:pt x="178" y="116"/>
                  </a:cubicBezTo>
                  <a:cubicBezTo>
                    <a:pt x="157" y="153"/>
                    <a:pt x="157" y="153"/>
                    <a:pt x="157" y="153"/>
                  </a:cubicBezTo>
                  <a:cubicBezTo>
                    <a:pt x="156" y="154"/>
                    <a:pt x="154" y="155"/>
                    <a:pt x="153" y="156"/>
                  </a:cubicBezTo>
                  <a:cubicBezTo>
                    <a:pt x="151" y="156"/>
                    <a:pt x="150" y="156"/>
                    <a:pt x="148" y="155"/>
                  </a:cubicBezTo>
                  <a:cubicBezTo>
                    <a:pt x="136" y="148"/>
                    <a:pt x="136" y="148"/>
                    <a:pt x="136" y="148"/>
                  </a:cubicBezTo>
                  <a:cubicBezTo>
                    <a:pt x="130" y="152"/>
                    <a:pt x="124" y="156"/>
                    <a:pt x="117" y="159"/>
                  </a:cubicBezTo>
                  <a:cubicBezTo>
                    <a:pt x="117" y="174"/>
                    <a:pt x="117" y="174"/>
                    <a:pt x="117" y="174"/>
                  </a:cubicBezTo>
                  <a:cubicBezTo>
                    <a:pt x="117" y="177"/>
                    <a:pt x="114" y="180"/>
                    <a:pt x="111" y="180"/>
                  </a:cubicBezTo>
                  <a:close/>
                  <a:moveTo>
                    <a:pt x="75" y="168"/>
                  </a:moveTo>
                  <a:cubicBezTo>
                    <a:pt x="105" y="168"/>
                    <a:pt x="105" y="168"/>
                    <a:pt x="105" y="168"/>
                  </a:cubicBezTo>
                  <a:cubicBezTo>
                    <a:pt x="105" y="155"/>
                    <a:pt x="105" y="155"/>
                    <a:pt x="105" y="155"/>
                  </a:cubicBezTo>
                  <a:cubicBezTo>
                    <a:pt x="105" y="152"/>
                    <a:pt x="107" y="150"/>
                    <a:pt x="109" y="149"/>
                  </a:cubicBezTo>
                  <a:cubicBezTo>
                    <a:pt x="118" y="146"/>
                    <a:pt x="124" y="142"/>
                    <a:pt x="131" y="136"/>
                  </a:cubicBezTo>
                  <a:cubicBezTo>
                    <a:pt x="133" y="134"/>
                    <a:pt x="136" y="134"/>
                    <a:pt x="138" y="135"/>
                  </a:cubicBezTo>
                  <a:cubicBezTo>
                    <a:pt x="149" y="142"/>
                    <a:pt x="149" y="142"/>
                    <a:pt x="149" y="142"/>
                  </a:cubicBezTo>
                  <a:cubicBezTo>
                    <a:pt x="164" y="116"/>
                    <a:pt x="164" y="116"/>
                    <a:pt x="164" y="116"/>
                  </a:cubicBezTo>
                  <a:cubicBezTo>
                    <a:pt x="153" y="109"/>
                    <a:pt x="153" y="109"/>
                    <a:pt x="153" y="109"/>
                  </a:cubicBezTo>
                  <a:cubicBezTo>
                    <a:pt x="151" y="108"/>
                    <a:pt x="149" y="105"/>
                    <a:pt x="150" y="103"/>
                  </a:cubicBezTo>
                  <a:cubicBezTo>
                    <a:pt x="151" y="99"/>
                    <a:pt x="151" y="94"/>
                    <a:pt x="151" y="90"/>
                  </a:cubicBezTo>
                  <a:cubicBezTo>
                    <a:pt x="151" y="85"/>
                    <a:pt x="151" y="81"/>
                    <a:pt x="150" y="77"/>
                  </a:cubicBezTo>
                  <a:cubicBezTo>
                    <a:pt x="149" y="74"/>
                    <a:pt x="150" y="71"/>
                    <a:pt x="153" y="70"/>
                  </a:cubicBezTo>
                  <a:cubicBezTo>
                    <a:pt x="164" y="64"/>
                    <a:pt x="164" y="64"/>
                    <a:pt x="164" y="64"/>
                  </a:cubicBezTo>
                  <a:cubicBezTo>
                    <a:pt x="149" y="38"/>
                    <a:pt x="149" y="38"/>
                    <a:pt x="149" y="38"/>
                  </a:cubicBezTo>
                  <a:cubicBezTo>
                    <a:pt x="138" y="44"/>
                    <a:pt x="138" y="44"/>
                    <a:pt x="138" y="44"/>
                  </a:cubicBezTo>
                  <a:cubicBezTo>
                    <a:pt x="136" y="46"/>
                    <a:pt x="133" y="45"/>
                    <a:pt x="131" y="43"/>
                  </a:cubicBezTo>
                  <a:cubicBezTo>
                    <a:pt x="124" y="37"/>
                    <a:pt x="118" y="33"/>
                    <a:pt x="109" y="30"/>
                  </a:cubicBezTo>
                  <a:cubicBezTo>
                    <a:pt x="107" y="30"/>
                    <a:pt x="105" y="27"/>
                    <a:pt x="105" y="25"/>
                  </a:cubicBezTo>
                  <a:cubicBezTo>
                    <a:pt x="105" y="12"/>
                    <a:pt x="105" y="12"/>
                    <a:pt x="105" y="12"/>
                  </a:cubicBezTo>
                  <a:cubicBezTo>
                    <a:pt x="75" y="12"/>
                    <a:pt x="75" y="12"/>
                    <a:pt x="75" y="12"/>
                  </a:cubicBezTo>
                  <a:cubicBezTo>
                    <a:pt x="75" y="25"/>
                    <a:pt x="75" y="25"/>
                    <a:pt x="75" y="25"/>
                  </a:cubicBezTo>
                  <a:cubicBezTo>
                    <a:pt x="75" y="27"/>
                    <a:pt x="73" y="30"/>
                    <a:pt x="70" y="30"/>
                  </a:cubicBezTo>
                  <a:cubicBezTo>
                    <a:pt x="62" y="33"/>
                    <a:pt x="55" y="37"/>
                    <a:pt x="48" y="43"/>
                  </a:cubicBezTo>
                  <a:cubicBezTo>
                    <a:pt x="46" y="45"/>
                    <a:pt x="43" y="46"/>
                    <a:pt x="41" y="44"/>
                  </a:cubicBezTo>
                  <a:cubicBezTo>
                    <a:pt x="29" y="38"/>
                    <a:pt x="29" y="38"/>
                    <a:pt x="29" y="38"/>
                  </a:cubicBezTo>
                  <a:cubicBezTo>
                    <a:pt x="14" y="64"/>
                    <a:pt x="14" y="64"/>
                    <a:pt x="14" y="64"/>
                  </a:cubicBezTo>
                  <a:cubicBezTo>
                    <a:pt x="25" y="70"/>
                    <a:pt x="25" y="70"/>
                    <a:pt x="25" y="70"/>
                  </a:cubicBezTo>
                  <a:cubicBezTo>
                    <a:pt x="28" y="71"/>
                    <a:pt x="29" y="74"/>
                    <a:pt x="28" y="77"/>
                  </a:cubicBezTo>
                  <a:cubicBezTo>
                    <a:pt x="27" y="81"/>
                    <a:pt x="27" y="85"/>
                    <a:pt x="27" y="90"/>
                  </a:cubicBezTo>
                  <a:cubicBezTo>
                    <a:pt x="27" y="94"/>
                    <a:pt x="27" y="98"/>
                    <a:pt x="28" y="103"/>
                  </a:cubicBezTo>
                  <a:cubicBezTo>
                    <a:pt x="29" y="105"/>
                    <a:pt x="28" y="108"/>
                    <a:pt x="25" y="109"/>
                  </a:cubicBezTo>
                  <a:cubicBezTo>
                    <a:pt x="14" y="116"/>
                    <a:pt x="14" y="116"/>
                    <a:pt x="14" y="116"/>
                  </a:cubicBezTo>
                  <a:cubicBezTo>
                    <a:pt x="29" y="142"/>
                    <a:pt x="29" y="142"/>
                    <a:pt x="29" y="142"/>
                  </a:cubicBezTo>
                  <a:cubicBezTo>
                    <a:pt x="41" y="135"/>
                    <a:pt x="41" y="135"/>
                    <a:pt x="41" y="135"/>
                  </a:cubicBezTo>
                  <a:cubicBezTo>
                    <a:pt x="43" y="134"/>
                    <a:pt x="46" y="134"/>
                    <a:pt x="48" y="136"/>
                  </a:cubicBezTo>
                  <a:cubicBezTo>
                    <a:pt x="55" y="142"/>
                    <a:pt x="62" y="146"/>
                    <a:pt x="70" y="149"/>
                  </a:cubicBezTo>
                  <a:cubicBezTo>
                    <a:pt x="73" y="150"/>
                    <a:pt x="75" y="152"/>
                    <a:pt x="75" y="155"/>
                  </a:cubicBezTo>
                  <a:lnTo>
                    <a:pt x="75"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nvGrpSpPr>
          <p:cNvPr id="30" name="Group 40">
            <a:extLst>
              <a:ext uri="{FF2B5EF4-FFF2-40B4-BE49-F238E27FC236}">
                <a16:creationId xmlns:a16="http://schemas.microsoft.com/office/drawing/2014/main" id="{FF61830C-9893-1AB8-65E7-E5A0320A6477}"/>
              </a:ext>
            </a:extLst>
          </p:cNvPr>
          <p:cNvGrpSpPr>
            <a:grpSpLocks noChangeAspect="1"/>
          </p:cNvGrpSpPr>
          <p:nvPr/>
        </p:nvGrpSpPr>
        <p:grpSpPr bwMode="auto">
          <a:xfrm>
            <a:off x="10014370" y="1963973"/>
            <a:ext cx="341264" cy="322038"/>
            <a:chOff x="4662" y="607"/>
            <a:chExt cx="426" cy="402"/>
          </a:xfrm>
          <a:solidFill>
            <a:schemeClr val="tx2"/>
          </a:solidFill>
        </p:grpSpPr>
        <p:sp>
          <p:nvSpPr>
            <p:cNvPr id="31" name="Freeform 41">
              <a:extLst>
                <a:ext uri="{FF2B5EF4-FFF2-40B4-BE49-F238E27FC236}">
                  <a16:creationId xmlns:a16="http://schemas.microsoft.com/office/drawing/2014/main" id="{1F78ED3C-617A-8104-2C44-E618ABCA7056}"/>
                </a:ext>
              </a:extLst>
            </p:cNvPr>
            <p:cNvSpPr>
              <a:spLocks/>
            </p:cNvSpPr>
            <p:nvPr/>
          </p:nvSpPr>
          <p:spPr bwMode="auto">
            <a:xfrm>
              <a:off x="4662" y="992"/>
              <a:ext cx="426" cy="17"/>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9"/>
                    <a:pt x="0" y="6"/>
                  </a:cubicBezTo>
                  <a:cubicBezTo>
                    <a:pt x="0" y="2"/>
                    <a:pt x="3" y="0"/>
                    <a:pt x="6" y="0"/>
                  </a:cubicBezTo>
                  <a:cubicBezTo>
                    <a:pt x="282" y="0"/>
                    <a:pt x="282" y="0"/>
                    <a:pt x="282" y="0"/>
                  </a:cubicBezTo>
                  <a:cubicBezTo>
                    <a:pt x="286" y="0"/>
                    <a:pt x="288" y="2"/>
                    <a:pt x="288" y="6"/>
                  </a:cubicBezTo>
                  <a:cubicBezTo>
                    <a:pt x="288" y="9"/>
                    <a:pt x="28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52" name="Freeform 42">
              <a:extLst>
                <a:ext uri="{FF2B5EF4-FFF2-40B4-BE49-F238E27FC236}">
                  <a16:creationId xmlns:a16="http://schemas.microsoft.com/office/drawing/2014/main" id="{2A91B00D-0B77-AC17-8A58-589532AD805C}"/>
                </a:ext>
              </a:extLst>
            </p:cNvPr>
            <p:cNvSpPr>
              <a:spLocks noEditPoints="1"/>
            </p:cNvSpPr>
            <p:nvPr/>
          </p:nvSpPr>
          <p:spPr bwMode="auto">
            <a:xfrm>
              <a:off x="4999" y="940"/>
              <a:ext cx="71" cy="69"/>
            </a:xfrm>
            <a:custGeom>
              <a:avLst/>
              <a:gdLst>
                <a:gd name="T0" fmla="*/ 42 w 48"/>
                <a:gd name="T1" fmla="*/ 48 h 48"/>
                <a:gd name="T2" fmla="*/ 6 w 48"/>
                <a:gd name="T3" fmla="*/ 48 h 48"/>
                <a:gd name="T4" fmla="*/ 0 w 48"/>
                <a:gd name="T5" fmla="*/ 42 h 48"/>
                <a:gd name="T6" fmla="*/ 0 w 48"/>
                <a:gd name="T7" fmla="*/ 6 h 48"/>
                <a:gd name="T8" fmla="*/ 6 w 48"/>
                <a:gd name="T9" fmla="*/ 0 h 48"/>
                <a:gd name="T10" fmla="*/ 42 w 48"/>
                <a:gd name="T11" fmla="*/ 0 h 48"/>
                <a:gd name="T12" fmla="*/ 48 w 48"/>
                <a:gd name="T13" fmla="*/ 6 h 48"/>
                <a:gd name="T14" fmla="*/ 48 w 48"/>
                <a:gd name="T15" fmla="*/ 42 h 48"/>
                <a:gd name="T16" fmla="*/ 42 w 48"/>
                <a:gd name="T17" fmla="*/ 48 h 48"/>
                <a:gd name="T18" fmla="*/ 12 w 48"/>
                <a:gd name="T19" fmla="*/ 36 h 48"/>
                <a:gd name="T20" fmla="*/ 36 w 48"/>
                <a:gd name="T21" fmla="*/ 36 h 48"/>
                <a:gd name="T22" fmla="*/ 36 w 48"/>
                <a:gd name="T23" fmla="*/ 12 h 48"/>
                <a:gd name="T24" fmla="*/ 12 w 48"/>
                <a:gd name="T25" fmla="*/ 12 h 48"/>
                <a:gd name="T26" fmla="*/ 12 w 48"/>
                <a:gd name="T27"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2" y="48"/>
                  </a:moveTo>
                  <a:cubicBezTo>
                    <a:pt x="6" y="48"/>
                    <a:pt x="6" y="48"/>
                    <a:pt x="6" y="48"/>
                  </a:cubicBezTo>
                  <a:cubicBezTo>
                    <a:pt x="3" y="48"/>
                    <a:pt x="0" y="45"/>
                    <a:pt x="0" y="42"/>
                  </a:cubicBezTo>
                  <a:cubicBezTo>
                    <a:pt x="0" y="6"/>
                    <a:pt x="0" y="6"/>
                    <a:pt x="0" y="6"/>
                  </a:cubicBezTo>
                  <a:cubicBezTo>
                    <a:pt x="0" y="2"/>
                    <a:pt x="3" y="0"/>
                    <a:pt x="6" y="0"/>
                  </a:cubicBezTo>
                  <a:cubicBezTo>
                    <a:pt x="42" y="0"/>
                    <a:pt x="42" y="0"/>
                    <a:pt x="42" y="0"/>
                  </a:cubicBezTo>
                  <a:cubicBezTo>
                    <a:pt x="46" y="0"/>
                    <a:pt x="48" y="2"/>
                    <a:pt x="48" y="6"/>
                  </a:cubicBezTo>
                  <a:cubicBezTo>
                    <a:pt x="48" y="42"/>
                    <a:pt x="48" y="42"/>
                    <a:pt x="48" y="42"/>
                  </a:cubicBezTo>
                  <a:cubicBezTo>
                    <a:pt x="48" y="45"/>
                    <a:pt x="46" y="48"/>
                    <a:pt x="42" y="48"/>
                  </a:cubicBezTo>
                  <a:close/>
                  <a:moveTo>
                    <a:pt x="12" y="36"/>
                  </a:moveTo>
                  <a:cubicBezTo>
                    <a:pt x="36" y="36"/>
                    <a:pt x="36" y="36"/>
                    <a:pt x="36" y="36"/>
                  </a:cubicBezTo>
                  <a:cubicBezTo>
                    <a:pt x="36" y="12"/>
                    <a:pt x="36" y="12"/>
                    <a:pt x="36" y="12"/>
                  </a:cubicBezTo>
                  <a:cubicBezTo>
                    <a:pt x="12" y="12"/>
                    <a:pt x="12" y="12"/>
                    <a:pt x="12" y="12"/>
                  </a:cubicBezTo>
                  <a:lnTo>
                    <a:pt x="12"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53" name="Freeform 43">
              <a:extLst>
                <a:ext uri="{FF2B5EF4-FFF2-40B4-BE49-F238E27FC236}">
                  <a16:creationId xmlns:a16="http://schemas.microsoft.com/office/drawing/2014/main" id="{2CE52F56-D85E-357A-34D2-95C389E8FFFE}"/>
                </a:ext>
              </a:extLst>
            </p:cNvPr>
            <p:cNvSpPr>
              <a:spLocks noEditPoints="1"/>
            </p:cNvSpPr>
            <p:nvPr/>
          </p:nvSpPr>
          <p:spPr bwMode="auto">
            <a:xfrm>
              <a:off x="4893" y="870"/>
              <a:ext cx="71" cy="139"/>
            </a:xfrm>
            <a:custGeom>
              <a:avLst/>
              <a:gdLst>
                <a:gd name="T0" fmla="*/ 42 w 48"/>
                <a:gd name="T1" fmla="*/ 96 h 96"/>
                <a:gd name="T2" fmla="*/ 6 w 48"/>
                <a:gd name="T3" fmla="*/ 96 h 96"/>
                <a:gd name="T4" fmla="*/ 0 w 48"/>
                <a:gd name="T5" fmla="*/ 90 h 96"/>
                <a:gd name="T6" fmla="*/ 0 w 48"/>
                <a:gd name="T7" fmla="*/ 6 h 96"/>
                <a:gd name="T8" fmla="*/ 6 w 48"/>
                <a:gd name="T9" fmla="*/ 0 h 96"/>
                <a:gd name="T10" fmla="*/ 42 w 48"/>
                <a:gd name="T11" fmla="*/ 0 h 96"/>
                <a:gd name="T12" fmla="*/ 48 w 48"/>
                <a:gd name="T13" fmla="*/ 6 h 96"/>
                <a:gd name="T14" fmla="*/ 48 w 48"/>
                <a:gd name="T15" fmla="*/ 90 h 96"/>
                <a:gd name="T16" fmla="*/ 42 w 48"/>
                <a:gd name="T17" fmla="*/ 96 h 96"/>
                <a:gd name="T18" fmla="*/ 12 w 48"/>
                <a:gd name="T19" fmla="*/ 84 h 96"/>
                <a:gd name="T20" fmla="*/ 36 w 48"/>
                <a:gd name="T21" fmla="*/ 84 h 96"/>
                <a:gd name="T22" fmla="*/ 36 w 48"/>
                <a:gd name="T23" fmla="*/ 12 h 96"/>
                <a:gd name="T24" fmla="*/ 12 w 48"/>
                <a:gd name="T25" fmla="*/ 12 h 96"/>
                <a:gd name="T26" fmla="*/ 12 w 48"/>
                <a:gd name="T27"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96">
                  <a:moveTo>
                    <a:pt x="42" y="96"/>
                  </a:moveTo>
                  <a:cubicBezTo>
                    <a:pt x="6" y="96"/>
                    <a:pt x="6" y="96"/>
                    <a:pt x="6" y="96"/>
                  </a:cubicBezTo>
                  <a:cubicBezTo>
                    <a:pt x="3" y="96"/>
                    <a:pt x="0" y="93"/>
                    <a:pt x="0" y="90"/>
                  </a:cubicBezTo>
                  <a:cubicBezTo>
                    <a:pt x="0" y="6"/>
                    <a:pt x="0" y="6"/>
                    <a:pt x="0" y="6"/>
                  </a:cubicBezTo>
                  <a:cubicBezTo>
                    <a:pt x="0" y="2"/>
                    <a:pt x="3" y="0"/>
                    <a:pt x="6" y="0"/>
                  </a:cubicBezTo>
                  <a:cubicBezTo>
                    <a:pt x="42" y="0"/>
                    <a:pt x="42" y="0"/>
                    <a:pt x="42" y="0"/>
                  </a:cubicBezTo>
                  <a:cubicBezTo>
                    <a:pt x="46" y="0"/>
                    <a:pt x="48" y="2"/>
                    <a:pt x="48" y="6"/>
                  </a:cubicBezTo>
                  <a:cubicBezTo>
                    <a:pt x="48" y="90"/>
                    <a:pt x="48" y="90"/>
                    <a:pt x="48" y="90"/>
                  </a:cubicBezTo>
                  <a:cubicBezTo>
                    <a:pt x="48" y="93"/>
                    <a:pt x="46" y="96"/>
                    <a:pt x="42" y="96"/>
                  </a:cubicBezTo>
                  <a:close/>
                  <a:moveTo>
                    <a:pt x="12" y="84"/>
                  </a:moveTo>
                  <a:cubicBezTo>
                    <a:pt x="36" y="84"/>
                    <a:pt x="36" y="84"/>
                    <a:pt x="36" y="84"/>
                  </a:cubicBezTo>
                  <a:cubicBezTo>
                    <a:pt x="36" y="12"/>
                    <a:pt x="36" y="12"/>
                    <a:pt x="36"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55" name="Freeform 44">
              <a:extLst>
                <a:ext uri="{FF2B5EF4-FFF2-40B4-BE49-F238E27FC236}">
                  <a16:creationId xmlns:a16="http://schemas.microsoft.com/office/drawing/2014/main" id="{295E6E3B-A068-5D70-A30F-E9FB45007B10}"/>
                </a:ext>
              </a:extLst>
            </p:cNvPr>
            <p:cNvSpPr>
              <a:spLocks noEditPoints="1"/>
            </p:cNvSpPr>
            <p:nvPr/>
          </p:nvSpPr>
          <p:spPr bwMode="auto">
            <a:xfrm>
              <a:off x="4786" y="801"/>
              <a:ext cx="71" cy="208"/>
            </a:xfrm>
            <a:custGeom>
              <a:avLst/>
              <a:gdLst>
                <a:gd name="T0" fmla="*/ 42 w 48"/>
                <a:gd name="T1" fmla="*/ 144 h 144"/>
                <a:gd name="T2" fmla="*/ 6 w 48"/>
                <a:gd name="T3" fmla="*/ 144 h 144"/>
                <a:gd name="T4" fmla="*/ 0 w 48"/>
                <a:gd name="T5" fmla="*/ 138 h 144"/>
                <a:gd name="T6" fmla="*/ 0 w 48"/>
                <a:gd name="T7" fmla="*/ 6 h 144"/>
                <a:gd name="T8" fmla="*/ 6 w 48"/>
                <a:gd name="T9" fmla="*/ 0 h 144"/>
                <a:gd name="T10" fmla="*/ 42 w 48"/>
                <a:gd name="T11" fmla="*/ 0 h 144"/>
                <a:gd name="T12" fmla="*/ 48 w 48"/>
                <a:gd name="T13" fmla="*/ 6 h 144"/>
                <a:gd name="T14" fmla="*/ 48 w 48"/>
                <a:gd name="T15" fmla="*/ 138 h 144"/>
                <a:gd name="T16" fmla="*/ 42 w 48"/>
                <a:gd name="T17" fmla="*/ 144 h 144"/>
                <a:gd name="T18" fmla="*/ 12 w 48"/>
                <a:gd name="T19" fmla="*/ 132 h 144"/>
                <a:gd name="T20" fmla="*/ 36 w 48"/>
                <a:gd name="T21" fmla="*/ 132 h 144"/>
                <a:gd name="T22" fmla="*/ 36 w 48"/>
                <a:gd name="T23" fmla="*/ 12 h 144"/>
                <a:gd name="T24" fmla="*/ 12 w 48"/>
                <a:gd name="T25" fmla="*/ 12 h 144"/>
                <a:gd name="T26" fmla="*/ 12 w 48"/>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44">
                  <a:moveTo>
                    <a:pt x="42" y="144"/>
                  </a:moveTo>
                  <a:cubicBezTo>
                    <a:pt x="6" y="144"/>
                    <a:pt x="6" y="144"/>
                    <a:pt x="6" y="144"/>
                  </a:cubicBezTo>
                  <a:cubicBezTo>
                    <a:pt x="3" y="144"/>
                    <a:pt x="0" y="141"/>
                    <a:pt x="0" y="138"/>
                  </a:cubicBezTo>
                  <a:cubicBezTo>
                    <a:pt x="0" y="6"/>
                    <a:pt x="0" y="6"/>
                    <a:pt x="0" y="6"/>
                  </a:cubicBezTo>
                  <a:cubicBezTo>
                    <a:pt x="0" y="2"/>
                    <a:pt x="3" y="0"/>
                    <a:pt x="6" y="0"/>
                  </a:cubicBezTo>
                  <a:cubicBezTo>
                    <a:pt x="42" y="0"/>
                    <a:pt x="42" y="0"/>
                    <a:pt x="42" y="0"/>
                  </a:cubicBezTo>
                  <a:cubicBezTo>
                    <a:pt x="46" y="0"/>
                    <a:pt x="48" y="2"/>
                    <a:pt x="48" y="6"/>
                  </a:cubicBezTo>
                  <a:cubicBezTo>
                    <a:pt x="48" y="138"/>
                    <a:pt x="48" y="138"/>
                    <a:pt x="48" y="138"/>
                  </a:cubicBezTo>
                  <a:cubicBezTo>
                    <a:pt x="48" y="141"/>
                    <a:pt x="46" y="144"/>
                    <a:pt x="42" y="144"/>
                  </a:cubicBezTo>
                  <a:close/>
                  <a:moveTo>
                    <a:pt x="12" y="132"/>
                  </a:moveTo>
                  <a:cubicBezTo>
                    <a:pt x="36" y="132"/>
                    <a:pt x="36" y="132"/>
                    <a:pt x="36" y="132"/>
                  </a:cubicBezTo>
                  <a:cubicBezTo>
                    <a:pt x="36" y="12"/>
                    <a:pt x="36" y="12"/>
                    <a:pt x="36" y="12"/>
                  </a:cubicBezTo>
                  <a:cubicBezTo>
                    <a:pt x="12" y="12"/>
                    <a:pt x="12" y="12"/>
                    <a:pt x="12" y="12"/>
                  </a:cubicBezTo>
                  <a:lnTo>
                    <a:pt x="12"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62" name="Freeform 45">
              <a:extLst>
                <a:ext uri="{FF2B5EF4-FFF2-40B4-BE49-F238E27FC236}">
                  <a16:creationId xmlns:a16="http://schemas.microsoft.com/office/drawing/2014/main" id="{D8080583-6AC7-8C3C-6A71-701E5EE5E210}"/>
                </a:ext>
              </a:extLst>
            </p:cNvPr>
            <p:cNvSpPr>
              <a:spLocks noEditPoints="1"/>
            </p:cNvSpPr>
            <p:nvPr/>
          </p:nvSpPr>
          <p:spPr bwMode="auto">
            <a:xfrm>
              <a:off x="4680" y="732"/>
              <a:ext cx="71" cy="277"/>
            </a:xfrm>
            <a:custGeom>
              <a:avLst/>
              <a:gdLst>
                <a:gd name="T0" fmla="*/ 42 w 48"/>
                <a:gd name="T1" fmla="*/ 192 h 192"/>
                <a:gd name="T2" fmla="*/ 6 w 48"/>
                <a:gd name="T3" fmla="*/ 192 h 192"/>
                <a:gd name="T4" fmla="*/ 0 w 48"/>
                <a:gd name="T5" fmla="*/ 186 h 192"/>
                <a:gd name="T6" fmla="*/ 0 w 48"/>
                <a:gd name="T7" fmla="*/ 6 h 192"/>
                <a:gd name="T8" fmla="*/ 6 w 48"/>
                <a:gd name="T9" fmla="*/ 0 h 192"/>
                <a:gd name="T10" fmla="*/ 42 w 48"/>
                <a:gd name="T11" fmla="*/ 0 h 192"/>
                <a:gd name="T12" fmla="*/ 48 w 48"/>
                <a:gd name="T13" fmla="*/ 6 h 192"/>
                <a:gd name="T14" fmla="*/ 48 w 48"/>
                <a:gd name="T15" fmla="*/ 186 h 192"/>
                <a:gd name="T16" fmla="*/ 42 w 48"/>
                <a:gd name="T17" fmla="*/ 192 h 192"/>
                <a:gd name="T18" fmla="*/ 12 w 48"/>
                <a:gd name="T19" fmla="*/ 180 h 192"/>
                <a:gd name="T20" fmla="*/ 36 w 48"/>
                <a:gd name="T21" fmla="*/ 180 h 192"/>
                <a:gd name="T22" fmla="*/ 36 w 48"/>
                <a:gd name="T23" fmla="*/ 12 h 192"/>
                <a:gd name="T24" fmla="*/ 12 w 48"/>
                <a:gd name="T25" fmla="*/ 12 h 192"/>
                <a:gd name="T26" fmla="*/ 12 w 48"/>
                <a:gd name="T27" fmla="*/ 18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92">
                  <a:moveTo>
                    <a:pt x="42" y="192"/>
                  </a:moveTo>
                  <a:cubicBezTo>
                    <a:pt x="6" y="192"/>
                    <a:pt x="6" y="192"/>
                    <a:pt x="6" y="192"/>
                  </a:cubicBezTo>
                  <a:cubicBezTo>
                    <a:pt x="3" y="192"/>
                    <a:pt x="0" y="189"/>
                    <a:pt x="0" y="186"/>
                  </a:cubicBezTo>
                  <a:cubicBezTo>
                    <a:pt x="0" y="6"/>
                    <a:pt x="0" y="6"/>
                    <a:pt x="0" y="6"/>
                  </a:cubicBezTo>
                  <a:cubicBezTo>
                    <a:pt x="0" y="2"/>
                    <a:pt x="3" y="0"/>
                    <a:pt x="6" y="0"/>
                  </a:cubicBezTo>
                  <a:cubicBezTo>
                    <a:pt x="42" y="0"/>
                    <a:pt x="42" y="0"/>
                    <a:pt x="42" y="0"/>
                  </a:cubicBezTo>
                  <a:cubicBezTo>
                    <a:pt x="46" y="0"/>
                    <a:pt x="48" y="2"/>
                    <a:pt x="48" y="6"/>
                  </a:cubicBezTo>
                  <a:cubicBezTo>
                    <a:pt x="48" y="186"/>
                    <a:pt x="48" y="186"/>
                    <a:pt x="48" y="186"/>
                  </a:cubicBezTo>
                  <a:cubicBezTo>
                    <a:pt x="48" y="189"/>
                    <a:pt x="46" y="192"/>
                    <a:pt x="42" y="192"/>
                  </a:cubicBezTo>
                  <a:close/>
                  <a:moveTo>
                    <a:pt x="12" y="180"/>
                  </a:moveTo>
                  <a:cubicBezTo>
                    <a:pt x="36" y="180"/>
                    <a:pt x="36" y="180"/>
                    <a:pt x="36" y="180"/>
                  </a:cubicBezTo>
                  <a:cubicBezTo>
                    <a:pt x="36" y="12"/>
                    <a:pt x="36" y="12"/>
                    <a:pt x="36" y="12"/>
                  </a:cubicBezTo>
                  <a:cubicBezTo>
                    <a:pt x="12" y="12"/>
                    <a:pt x="12" y="12"/>
                    <a:pt x="12" y="12"/>
                  </a:cubicBezTo>
                  <a:lnTo>
                    <a:pt x="12"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63" name="Freeform 46">
              <a:extLst>
                <a:ext uri="{FF2B5EF4-FFF2-40B4-BE49-F238E27FC236}">
                  <a16:creationId xmlns:a16="http://schemas.microsoft.com/office/drawing/2014/main" id="{E40E939A-2363-0AC7-0CBF-D5CB2F2F2DAF}"/>
                </a:ext>
              </a:extLst>
            </p:cNvPr>
            <p:cNvSpPr>
              <a:spLocks/>
            </p:cNvSpPr>
            <p:nvPr/>
          </p:nvSpPr>
          <p:spPr bwMode="auto">
            <a:xfrm>
              <a:off x="4705" y="607"/>
              <a:ext cx="340" cy="227"/>
            </a:xfrm>
            <a:custGeom>
              <a:avLst/>
              <a:gdLst>
                <a:gd name="T0" fmla="*/ 223 w 230"/>
                <a:gd name="T1" fmla="*/ 157 h 157"/>
                <a:gd name="T2" fmla="*/ 220 w 230"/>
                <a:gd name="T3" fmla="*/ 156 h 157"/>
                <a:gd name="T4" fmla="*/ 4 w 230"/>
                <a:gd name="T5" fmla="*/ 12 h 157"/>
                <a:gd name="T6" fmla="*/ 2 w 230"/>
                <a:gd name="T7" fmla="*/ 4 h 157"/>
                <a:gd name="T8" fmla="*/ 11 w 230"/>
                <a:gd name="T9" fmla="*/ 2 h 157"/>
                <a:gd name="T10" fmla="*/ 227 w 230"/>
                <a:gd name="T11" fmla="*/ 146 h 157"/>
                <a:gd name="T12" fmla="*/ 228 w 230"/>
                <a:gd name="T13" fmla="*/ 155 h 157"/>
                <a:gd name="T14" fmla="*/ 223 w 230"/>
                <a:gd name="T15" fmla="*/ 157 h 1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0" h="157">
                  <a:moveTo>
                    <a:pt x="223" y="157"/>
                  </a:moveTo>
                  <a:cubicBezTo>
                    <a:pt x="222" y="157"/>
                    <a:pt x="221" y="157"/>
                    <a:pt x="220" y="156"/>
                  </a:cubicBezTo>
                  <a:cubicBezTo>
                    <a:pt x="4" y="12"/>
                    <a:pt x="4" y="12"/>
                    <a:pt x="4" y="12"/>
                  </a:cubicBezTo>
                  <a:cubicBezTo>
                    <a:pt x="1" y="10"/>
                    <a:pt x="0" y="7"/>
                    <a:pt x="2" y="4"/>
                  </a:cubicBezTo>
                  <a:cubicBezTo>
                    <a:pt x="4" y="1"/>
                    <a:pt x="8" y="0"/>
                    <a:pt x="11" y="2"/>
                  </a:cubicBezTo>
                  <a:cubicBezTo>
                    <a:pt x="227" y="146"/>
                    <a:pt x="227" y="146"/>
                    <a:pt x="227" y="146"/>
                  </a:cubicBezTo>
                  <a:cubicBezTo>
                    <a:pt x="229" y="148"/>
                    <a:pt x="230" y="152"/>
                    <a:pt x="228" y="155"/>
                  </a:cubicBezTo>
                  <a:cubicBezTo>
                    <a:pt x="227" y="156"/>
                    <a:pt x="225" y="157"/>
                    <a:pt x="223" y="1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64" name="Freeform 47">
              <a:extLst>
                <a:ext uri="{FF2B5EF4-FFF2-40B4-BE49-F238E27FC236}">
                  <a16:creationId xmlns:a16="http://schemas.microsoft.com/office/drawing/2014/main" id="{AE030442-608E-6E40-0B47-73DC5D39CBF0}"/>
                </a:ext>
              </a:extLst>
            </p:cNvPr>
            <p:cNvSpPr>
              <a:spLocks/>
            </p:cNvSpPr>
            <p:nvPr/>
          </p:nvSpPr>
          <p:spPr bwMode="auto">
            <a:xfrm>
              <a:off x="4955" y="748"/>
              <a:ext cx="90" cy="96"/>
            </a:xfrm>
            <a:custGeom>
              <a:avLst/>
              <a:gdLst>
                <a:gd name="T0" fmla="*/ 6 w 61"/>
                <a:gd name="T1" fmla="*/ 67 h 67"/>
                <a:gd name="T2" fmla="*/ 0 w 61"/>
                <a:gd name="T3" fmla="*/ 61 h 67"/>
                <a:gd name="T4" fmla="*/ 5 w 61"/>
                <a:gd name="T5" fmla="*/ 55 h 67"/>
                <a:gd name="T6" fmla="*/ 48 w 61"/>
                <a:gd name="T7" fmla="*/ 49 h 67"/>
                <a:gd name="T8" fmla="*/ 42 w 61"/>
                <a:gd name="T9" fmla="*/ 7 h 67"/>
                <a:gd name="T10" fmla="*/ 47 w 61"/>
                <a:gd name="T11" fmla="*/ 1 h 67"/>
                <a:gd name="T12" fmla="*/ 54 w 61"/>
                <a:gd name="T13" fmla="*/ 6 h 67"/>
                <a:gd name="T14" fmla="*/ 60 w 61"/>
                <a:gd name="T15" fmla="*/ 54 h 67"/>
                <a:gd name="T16" fmla="*/ 55 w 61"/>
                <a:gd name="T17" fmla="*/ 60 h 67"/>
                <a:gd name="T18" fmla="*/ 7 w 61"/>
                <a:gd name="T19" fmla="*/ 67 h 67"/>
                <a:gd name="T20" fmla="*/ 6 w 61"/>
                <a:gd name="T21"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7">
                  <a:moveTo>
                    <a:pt x="6" y="67"/>
                  </a:moveTo>
                  <a:cubicBezTo>
                    <a:pt x="3" y="67"/>
                    <a:pt x="1" y="64"/>
                    <a:pt x="0" y="61"/>
                  </a:cubicBezTo>
                  <a:cubicBezTo>
                    <a:pt x="0" y="58"/>
                    <a:pt x="2" y="55"/>
                    <a:pt x="5" y="55"/>
                  </a:cubicBezTo>
                  <a:cubicBezTo>
                    <a:pt x="48" y="49"/>
                    <a:pt x="48" y="49"/>
                    <a:pt x="48" y="49"/>
                  </a:cubicBezTo>
                  <a:cubicBezTo>
                    <a:pt x="42" y="7"/>
                    <a:pt x="42" y="7"/>
                    <a:pt x="42" y="7"/>
                  </a:cubicBezTo>
                  <a:cubicBezTo>
                    <a:pt x="42" y="4"/>
                    <a:pt x="44" y="1"/>
                    <a:pt x="47" y="1"/>
                  </a:cubicBezTo>
                  <a:cubicBezTo>
                    <a:pt x="51" y="0"/>
                    <a:pt x="54" y="3"/>
                    <a:pt x="54" y="6"/>
                  </a:cubicBezTo>
                  <a:cubicBezTo>
                    <a:pt x="60" y="54"/>
                    <a:pt x="60" y="54"/>
                    <a:pt x="60" y="54"/>
                  </a:cubicBezTo>
                  <a:cubicBezTo>
                    <a:pt x="61" y="57"/>
                    <a:pt x="58" y="60"/>
                    <a:pt x="55" y="60"/>
                  </a:cubicBezTo>
                  <a:cubicBezTo>
                    <a:pt x="7" y="67"/>
                    <a:pt x="7" y="67"/>
                    <a:pt x="7" y="67"/>
                  </a:cubicBezTo>
                  <a:cubicBezTo>
                    <a:pt x="7" y="67"/>
                    <a:pt x="6" y="67"/>
                    <a:pt x="6"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cxnSp>
        <p:nvCxnSpPr>
          <p:cNvPr id="5159" name="Conector recto de flecha 5158">
            <a:extLst>
              <a:ext uri="{FF2B5EF4-FFF2-40B4-BE49-F238E27FC236}">
                <a16:creationId xmlns:a16="http://schemas.microsoft.com/office/drawing/2014/main" id="{ABA19565-672A-FC9F-6160-5494A7FD98CF}"/>
              </a:ext>
            </a:extLst>
          </p:cNvPr>
          <p:cNvCxnSpPr>
            <a:cxnSpLocks/>
          </p:cNvCxnSpPr>
          <p:nvPr/>
        </p:nvCxnSpPr>
        <p:spPr>
          <a:xfrm>
            <a:off x="3464518" y="2346960"/>
            <a:ext cx="0" cy="1996439"/>
          </a:xfrm>
          <a:prstGeom prst="straightConnector1">
            <a:avLst/>
          </a:prstGeom>
          <a:ln w="19050">
            <a:solidFill>
              <a:schemeClr val="bg1">
                <a:lumMod val="75000"/>
              </a:schemeClr>
            </a:solidFill>
            <a:tailEnd type="arrow" w="med" len="sm"/>
          </a:ln>
        </p:spPr>
        <p:style>
          <a:lnRef idx="1">
            <a:schemeClr val="accent1"/>
          </a:lnRef>
          <a:fillRef idx="0">
            <a:schemeClr val="accent1"/>
          </a:fillRef>
          <a:effectRef idx="0">
            <a:schemeClr val="accent1"/>
          </a:effectRef>
          <a:fontRef idx="minor">
            <a:schemeClr val="tx1"/>
          </a:fontRef>
        </p:style>
      </p:cxnSp>
      <p:sp>
        <p:nvSpPr>
          <p:cNvPr id="4" name="TextBox 24">
            <a:extLst>
              <a:ext uri="{FF2B5EF4-FFF2-40B4-BE49-F238E27FC236}">
                <a16:creationId xmlns:a16="http://schemas.microsoft.com/office/drawing/2014/main" id="{E5494714-4730-AA01-0EF7-3ECED86E75CB}"/>
              </a:ext>
            </a:extLst>
          </p:cNvPr>
          <p:cNvSpPr txBox="1"/>
          <p:nvPr/>
        </p:nvSpPr>
        <p:spPr>
          <a:xfrm rot="16200000">
            <a:off x="265533" y="3030820"/>
            <a:ext cx="2038351" cy="215444"/>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grpSp>
        <p:nvGrpSpPr>
          <p:cNvPr id="5165" name="Group 30">
            <a:extLst>
              <a:ext uri="{FF2B5EF4-FFF2-40B4-BE49-F238E27FC236}">
                <a16:creationId xmlns:a16="http://schemas.microsoft.com/office/drawing/2014/main" id="{E7A0F116-EFEE-776B-ED86-5872AE7AF98E}"/>
              </a:ext>
            </a:extLst>
          </p:cNvPr>
          <p:cNvGrpSpPr>
            <a:grpSpLocks noChangeAspect="1"/>
          </p:cNvGrpSpPr>
          <p:nvPr/>
        </p:nvGrpSpPr>
        <p:grpSpPr bwMode="auto">
          <a:xfrm>
            <a:off x="1148285" y="1974061"/>
            <a:ext cx="272846" cy="266092"/>
            <a:chOff x="4894" y="3443"/>
            <a:chExt cx="202" cy="197"/>
          </a:xfrm>
          <a:solidFill>
            <a:srgbClr val="00B050"/>
          </a:solidFill>
        </p:grpSpPr>
        <p:sp>
          <p:nvSpPr>
            <p:cNvPr id="5171" name="Freeform 38">
              <a:extLst>
                <a:ext uri="{FF2B5EF4-FFF2-40B4-BE49-F238E27FC236}">
                  <a16:creationId xmlns:a16="http://schemas.microsoft.com/office/drawing/2014/main" id="{05CC7DF0-1F25-2E86-4ACE-818BBF59F66A}"/>
                </a:ext>
              </a:extLst>
            </p:cNvPr>
            <p:cNvSpPr>
              <a:spLocks noEditPoints="1"/>
            </p:cNvSpPr>
            <p:nvPr/>
          </p:nvSpPr>
          <p:spPr bwMode="auto">
            <a:xfrm>
              <a:off x="4894" y="3443"/>
              <a:ext cx="202" cy="197"/>
            </a:xfrm>
            <a:custGeom>
              <a:avLst/>
              <a:gdLst>
                <a:gd name="T0" fmla="*/ 66 w 132"/>
                <a:gd name="T1" fmla="*/ 132 h 132"/>
                <a:gd name="T2" fmla="*/ 0 w 132"/>
                <a:gd name="T3" fmla="*/ 66 h 132"/>
                <a:gd name="T4" fmla="*/ 66 w 132"/>
                <a:gd name="T5" fmla="*/ 0 h 132"/>
                <a:gd name="T6" fmla="*/ 132 w 132"/>
                <a:gd name="T7" fmla="*/ 66 h 132"/>
                <a:gd name="T8" fmla="*/ 66 w 132"/>
                <a:gd name="T9" fmla="*/ 132 h 132"/>
                <a:gd name="T10" fmla="*/ 66 w 132"/>
                <a:gd name="T11" fmla="*/ 12 h 132"/>
                <a:gd name="T12" fmla="*/ 12 w 132"/>
                <a:gd name="T13" fmla="*/ 66 h 132"/>
                <a:gd name="T14" fmla="*/ 66 w 132"/>
                <a:gd name="T15" fmla="*/ 120 h 132"/>
                <a:gd name="T16" fmla="*/ 120 w 132"/>
                <a:gd name="T17" fmla="*/ 66 h 132"/>
                <a:gd name="T18" fmla="*/ 66 w 132"/>
                <a:gd name="T19" fmla="*/ 1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32">
                  <a:moveTo>
                    <a:pt x="66" y="132"/>
                  </a:moveTo>
                  <a:cubicBezTo>
                    <a:pt x="29" y="132"/>
                    <a:pt x="0" y="102"/>
                    <a:pt x="0" y="66"/>
                  </a:cubicBezTo>
                  <a:cubicBezTo>
                    <a:pt x="0" y="29"/>
                    <a:pt x="29" y="0"/>
                    <a:pt x="66" y="0"/>
                  </a:cubicBezTo>
                  <a:cubicBezTo>
                    <a:pt x="102" y="0"/>
                    <a:pt x="132" y="29"/>
                    <a:pt x="132" y="66"/>
                  </a:cubicBezTo>
                  <a:cubicBezTo>
                    <a:pt x="132" y="102"/>
                    <a:pt x="102" y="132"/>
                    <a:pt x="66" y="132"/>
                  </a:cubicBezTo>
                  <a:close/>
                  <a:moveTo>
                    <a:pt x="66" y="12"/>
                  </a:moveTo>
                  <a:cubicBezTo>
                    <a:pt x="36" y="12"/>
                    <a:pt x="12" y="36"/>
                    <a:pt x="12" y="66"/>
                  </a:cubicBezTo>
                  <a:cubicBezTo>
                    <a:pt x="12" y="96"/>
                    <a:pt x="36" y="120"/>
                    <a:pt x="66" y="120"/>
                  </a:cubicBezTo>
                  <a:cubicBezTo>
                    <a:pt x="95" y="120"/>
                    <a:pt x="120" y="96"/>
                    <a:pt x="120" y="66"/>
                  </a:cubicBezTo>
                  <a:cubicBezTo>
                    <a:pt x="120" y="36"/>
                    <a:pt x="95"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72" name="Freeform 39">
              <a:extLst>
                <a:ext uri="{FF2B5EF4-FFF2-40B4-BE49-F238E27FC236}">
                  <a16:creationId xmlns:a16="http://schemas.microsoft.com/office/drawing/2014/main" id="{C20B57C5-ED24-75B3-7828-A8AE0BB81249}"/>
                </a:ext>
              </a:extLst>
            </p:cNvPr>
            <p:cNvSpPr>
              <a:spLocks/>
            </p:cNvSpPr>
            <p:nvPr/>
          </p:nvSpPr>
          <p:spPr bwMode="auto">
            <a:xfrm>
              <a:off x="4986" y="3487"/>
              <a:ext cx="18" cy="108"/>
            </a:xfrm>
            <a:custGeom>
              <a:avLst/>
              <a:gdLst>
                <a:gd name="T0" fmla="*/ 6 w 12"/>
                <a:gd name="T1" fmla="*/ 72 h 72"/>
                <a:gd name="T2" fmla="*/ 0 w 12"/>
                <a:gd name="T3" fmla="*/ 66 h 72"/>
                <a:gd name="T4" fmla="*/ 0 w 12"/>
                <a:gd name="T5" fmla="*/ 6 h 72"/>
                <a:gd name="T6" fmla="*/ 6 w 12"/>
                <a:gd name="T7" fmla="*/ 0 h 72"/>
                <a:gd name="T8" fmla="*/ 12 w 12"/>
                <a:gd name="T9" fmla="*/ 6 h 72"/>
                <a:gd name="T10" fmla="*/ 12 w 12"/>
                <a:gd name="T11" fmla="*/ 66 h 72"/>
                <a:gd name="T12" fmla="*/ 6 w 12"/>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2" h="72">
                  <a:moveTo>
                    <a:pt x="6" y="72"/>
                  </a:moveTo>
                  <a:cubicBezTo>
                    <a:pt x="2" y="72"/>
                    <a:pt x="0" y="69"/>
                    <a:pt x="0" y="66"/>
                  </a:cubicBezTo>
                  <a:cubicBezTo>
                    <a:pt x="0" y="6"/>
                    <a:pt x="0" y="6"/>
                    <a:pt x="0" y="6"/>
                  </a:cubicBezTo>
                  <a:cubicBezTo>
                    <a:pt x="0" y="2"/>
                    <a:pt x="2" y="0"/>
                    <a:pt x="6" y="0"/>
                  </a:cubicBezTo>
                  <a:cubicBezTo>
                    <a:pt x="9" y="0"/>
                    <a:pt x="12" y="2"/>
                    <a:pt x="12" y="6"/>
                  </a:cubicBezTo>
                  <a:cubicBezTo>
                    <a:pt x="12" y="66"/>
                    <a:pt x="12" y="66"/>
                    <a:pt x="12" y="66"/>
                  </a:cubicBezTo>
                  <a:cubicBezTo>
                    <a:pt x="12" y="69"/>
                    <a:pt x="9"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73" name="Freeform 40">
              <a:extLst>
                <a:ext uri="{FF2B5EF4-FFF2-40B4-BE49-F238E27FC236}">
                  <a16:creationId xmlns:a16="http://schemas.microsoft.com/office/drawing/2014/main" id="{F040D9C1-015A-A94D-C5A4-008C68CB89FE}"/>
                </a:ext>
              </a:extLst>
            </p:cNvPr>
            <p:cNvSpPr>
              <a:spLocks/>
            </p:cNvSpPr>
            <p:nvPr/>
          </p:nvSpPr>
          <p:spPr bwMode="auto">
            <a:xfrm>
              <a:off x="4940" y="3532"/>
              <a:ext cx="110"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2" y="12"/>
                    <a:pt x="0" y="9"/>
                    <a:pt x="0" y="6"/>
                  </a:cubicBezTo>
                  <a:cubicBezTo>
                    <a:pt x="0" y="2"/>
                    <a:pt x="2" y="0"/>
                    <a:pt x="6" y="0"/>
                  </a:cubicBezTo>
                  <a:cubicBezTo>
                    <a:pt x="66" y="0"/>
                    <a:pt x="66" y="0"/>
                    <a:pt x="66" y="0"/>
                  </a:cubicBezTo>
                  <a:cubicBezTo>
                    <a:pt x="69" y="0"/>
                    <a:pt x="72" y="2"/>
                    <a:pt x="72" y="6"/>
                  </a:cubicBezTo>
                  <a:cubicBezTo>
                    <a:pt x="72" y="9"/>
                    <a:pt x="69"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5174" name="Group 116">
            <a:extLst>
              <a:ext uri="{FF2B5EF4-FFF2-40B4-BE49-F238E27FC236}">
                <a16:creationId xmlns:a16="http://schemas.microsoft.com/office/drawing/2014/main" id="{4A7B3659-FFC9-ED42-2F50-C9FC5346F1B9}"/>
              </a:ext>
            </a:extLst>
          </p:cNvPr>
          <p:cNvGrpSpPr>
            <a:grpSpLocks noChangeAspect="1"/>
          </p:cNvGrpSpPr>
          <p:nvPr/>
        </p:nvGrpSpPr>
        <p:grpSpPr bwMode="auto">
          <a:xfrm>
            <a:off x="1147527" y="4036931"/>
            <a:ext cx="274362" cy="267571"/>
            <a:chOff x="4885" y="2169"/>
            <a:chExt cx="202" cy="197"/>
          </a:xfrm>
          <a:solidFill>
            <a:srgbClr val="C00000"/>
          </a:solidFill>
        </p:grpSpPr>
        <p:sp>
          <p:nvSpPr>
            <p:cNvPr id="5180" name="Freeform 124">
              <a:extLst>
                <a:ext uri="{FF2B5EF4-FFF2-40B4-BE49-F238E27FC236}">
                  <a16:creationId xmlns:a16="http://schemas.microsoft.com/office/drawing/2014/main" id="{8865F289-42D2-4531-9057-9F9A5B3BB36A}"/>
                </a:ext>
              </a:extLst>
            </p:cNvPr>
            <p:cNvSpPr>
              <a:spLocks noEditPoints="1"/>
            </p:cNvSpPr>
            <p:nvPr/>
          </p:nvSpPr>
          <p:spPr bwMode="auto">
            <a:xfrm>
              <a:off x="4885" y="2169"/>
              <a:ext cx="202" cy="197"/>
            </a:xfrm>
            <a:custGeom>
              <a:avLst/>
              <a:gdLst>
                <a:gd name="T0" fmla="*/ 66 w 132"/>
                <a:gd name="T1" fmla="*/ 132 h 132"/>
                <a:gd name="T2" fmla="*/ 0 w 132"/>
                <a:gd name="T3" fmla="*/ 66 h 132"/>
                <a:gd name="T4" fmla="*/ 66 w 132"/>
                <a:gd name="T5" fmla="*/ 0 h 132"/>
                <a:gd name="T6" fmla="*/ 132 w 132"/>
                <a:gd name="T7" fmla="*/ 66 h 132"/>
                <a:gd name="T8" fmla="*/ 66 w 132"/>
                <a:gd name="T9" fmla="*/ 132 h 132"/>
                <a:gd name="T10" fmla="*/ 66 w 132"/>
                <a:gd name="T11" fmla="*/ 12 h 132"/>
                <a:gd name="T12" fmla="*/ 12 w 132"/>
                <a:gd name="T13" fmla="*/ 66 h 132"/>
                <a:gd name="T14" fmla="*/ 66 w 132"/>
                <a:gd name="T15" fmla="*/ 120 h 132"/>
                <a:gd name="T16" fmla="*/ 120 w 132"/>
                <a:gd name="T17" fmla="*/ 66 h 132"/>
                <a:gd name="T18" fmla="*/ 66 w 132"/>
                <a:gd name="T19" fmla="*/ 1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32">
                  <a:moveTo>
                    <a:pt x="66" y="132"/>
                  </a:moveTo>
                  <a:cubicBezTo>
                    <a:pt x="30" y="132"/>
                    <a:pt x="0" y="102"/>
                    <a:pt x="0" y="66"/>
                  </a:cubicBezTo>
                  <a:cubicBezTo>
                    <a:pt x="0" y="30"/>
                    <a:pt x="30" y="0"/>
                    <a:pt x="66" y="0"/>
                  </a:cubicBezTo>
                  <a:cubicBezTo>
                    <a:pt x="103" y="0"/>
                    <a:pt x="132" y="30"/>
                    <a:pt x="132" y="66"/>
                  </a:cubicBezTo>
                  <a:cubicBezTo>
                    <a:pt x="132" y="102"/>
                    <a:pt x="103" y="132"/>
                    <a:pt x="66" y="132"/>
                  </a:cubicBezTo>
                  <a:close/>
                  <a:moveTo>
                    <a:pt x="66" y="12"/>
                  </a:moveTo>
                  <a:cubicBezTo>
                    <a:pt x="36" y="12"/>
                    <a:pt x="12" y="36"/>
                    <a:pt x="12" y="66"/>
                  </a:cubicBezTo>
                  <a:cubicBezTo>
                    <a:pt x="12" y="96"/>
                    <a:pt x="36" y="120"/>
                    <a:pt x="66" y="120"/>
                  </a:cubicBezTo>
                  <a:cubicBezTo>
                    <a:pt x="96" y="120"/>
                    <a:pt x="120" y="96"/>
                    <a:pt x="120" y="66"/>
                  </a:cubicBezTo>
                  <a:cubicBezTo>
                    <a:pt x="120" y="36"/>
                    <a:pt x="96"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81" name="Freeform 125">
              <a:extLst>
                <a:ext uri="{FF2B5EF4-FFF2-40B4-BE49-F238E27FC236}">
                  <a16:creationId xmlns:a16="http://schemas.microsoft.com/office/drawing/2014/main" id="{B41DF20F-3426-A714-CCB0-C933EAD16368}"/>
                </a:ext>
              </a:extLst>
            </p:cNvPr>
            <p:cNvSpPr>
              <a:spLocks/>
            </p:cNvSpPr>
            <p:nvPr/>
          </p:nvSpPr>
          <p:spPr bwMode="auto">
            <a:xfrm>
              <a:off x="4931" y="2258"/>
              <a:ext cx="110"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9"/>
                    <a:pt x="0" y="6"/>
                  </a:cubicBezTo>
                  <a:cubicBezTo>
                    <a:pt x="0" y="3"/>
                    <a:pt x="3" y="0"/>
                    <a:pt x="6" y="0"/>
                  </a:cubicBezTo>
                  <a:cubicBezTo>
                    <a:pt x="66" y="0"/>
                    <a:pt x="66" y="0"/>
                    <a:pt x="66" y="0"/>
                  </a:cubicBezTo>
                  <a:cubicBezTo>
                    <a:pt x="70" y="0"/>
                    <a:pt x="72" y="3"/>
                    <a:pt x="72" y="6"/>
                  </a:cubicBezTo>
                  <a:cubicBezTo>
                    <a:pt x="72" y="9"/>
                    <a:pt x="70"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cxnSp>
        <p:nvCxnSpPr>
          <p:cNvPr id="5183" name="Conector recto 5182">
            <a:extLst>
              <a:ext uri="{FF2B5EF4-FFF2-40B4-BE49-F238E27FC236}">
                <a16:creationId xmlns:a16="http://schemas.microsoft.com/office/drawing/2014/main" id="{AEC06142-204E-1F53-6995-8FCE1C4A288B}"/>
              </a:ext>
            </a:extLst>
          </p:cNvPr>
          <p:cNvCxnSpPr>
            <a:cxnSpLocks/>
          </p:cNvCxnSpPr>
          <p:nvPr/>
        </p:nvCxnSpPr>
        <p:spPr>
          <a:xfrm flipV="1">
            <a:off x="1831975" y="1520825"/>
            <a:ext cx="0" cy="323691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137" name="Forma libre: forma 5136">
            <a:extLst>
              <a:ext uri="{FF2B5EF4-FFF2-40B4-BE49-F238E27FC236}">
                <a16:creationId xmlns:a16="http://schemas.microsoft.com/office/drawing/2014/main" id="{490D17DE-6E58-0E22-BF88-307A1A74E009}"/>
              </a:ext>
            </a:extLst>
          </p:cNvPr>
          <p:cNvSpPr/>
          <p:nvPr/>
        </p:nvSpPr>
        <p:spPr>
          <a:xfrm>
            <a:off x="2047875" y="2638425"/>
            <a:ext cx="4886325" cy="2114550"/>
          </a:xfrm>
          <a:custGeom>
            <a:avLst/>
            <a:gdLst>
              <a:gd name="connsiteX0" fmla="*/ 0 w 4886325"/>
              <a:gd name="connsiteY0" fmla="*/ 2114550 h 2114550"/>
              <a:gd name="connsiteX1" fmla="*/ 1628775 w 4886325"/>
              <a:gd name="connsiteY1" fmla="*/ 1714500 h 2114550"/>
              <a:gd name="connsiteX2" fmla="*/ 3257550 w 4886325"/>
              <a:gd name="connsiteY2" fmla="*/ 933450 h 2114550"/>
              <a:gd name="connsiteX3" fmla="*/ 4076700 w 4886325"/>
              <a:gd name="connsiteY3" fmla="*/ 228600 h 2114550"/>
              <a:gd name="connsiteX4" fmla="*/ 4886325 w 4886325"/>
              <a:gd name="connsiteY4" fmla="*/ 0 h 211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325" h="2114550">
                <a:moveTo>
                  <a:pt x="0" y="2114550"/>
                </a:moveTo>
                <a:cubicBezTo>
                  <a:pt x="542925" y="2012950"/>
                  <a:pt x="1085850" y="1911350"/>
                  <a:pt x="1628775" y="1714500"/>
                </a:cubicBezTo>
                <a:cubicBezTo>
                  <a:pt x="2171700" y="1517650"/>
                  <a:pt x="2849563" y="1181100"/>
                  <a:pt x="3257550" y="933450"/>
                </a:cubicBezTo>
                <a:cubicBezTo>
                  <a:pt x="3665537" y="685800"/>
                  <a:pt x="3805237" y="384175"/>
                  <a:pt x="4076700" y="228600"/>
                </a:cubicBezTo>
                <a:cubicBezTo>
                  <a:pt x="4348163" y="73025"/>
                  <a:pt x="4617244" y="36512"/>
                  <a:pt x="4886325" y="0"/>
                </a:cubicBez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8" name="Forma libre: forma 5137">
            <a:extLst>
              <a:ext uri="{FF2B5EF4-FFF2-40B4-BE49-F238E27FC236}">
                <a16:creationId xmlns:a16="http://schemas.microsoft.com/office/drawing/2014/main" id="{2BB5F3BC-D625-1665-CEEF-F8FE7E61F6B1}"/>
              </a:ext>
            </a:extLst>
          </p:cNvPr>
          <p:cNvSpPr/>
          <p:nvPr/>
        </p:nvSpPr>
        <p:spPr>
          <a:xfrm flipH="1">
            <a:off x="6936581" y="2638425"/>
            <a:ext cx="4886325" cy="2114550"/>
          </a:xfrm>
          <a:custGeom>
            <a:avLst/>
            <a:gdLst>
              <a:gd name="connsiteX0" fmla="*/ 0 w 4886325"/>
              <a:gd name="connsiteY0" fmla="*/ 2114550 h 2114550"/>
              <a:gd name="connsiteX1" fmla="*/ 1628775 w 4886325"/>
              <a:gd name="connsiteY1" fmla="*/ 1714500 h 2114550"/>
              <a:gd name="connsiteX2" fmla="*/ 3257550 w 4886325"/>
              <a:gd name="connsiteY2" fmla="*/ 933450 h 2114550"/>
              <a:gd name="connsiteX3" fmla="*/ 4076700 w 4886325"/>
              <a:gd name="connsiteY3" fmla="*/ 228600 h 2114550"/>
              <a:gd name="connsiteX4" fmla="*/ 4886325 w 4886325"/>
              <a:gd name="connsiteY4" fmla="*/ 0 h 211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325" h="2114550">
                <a:moveTo>
                  <a:pt x="0" y="2114550"/>
                </a:moveTo>
                <a:cubicBezTo>
                  <a:pt x="542925" y="2012950"/>
                  <a:pt x="1085850" y="1911350"/>
                  <a:pt x="1628775" y="1714500"/>
                </a:cubicBezTo>
                <a:cubicBezTo>
                  <a:pt x="2171700" y="1517650"/>
                  <a:pt x="2849563" y="1181100"/>
                  <a:pt x="3257550" y="933450"/>
                </a:cubicBezTo>
                <a:cubicBezTo>
                  <a:pt x="3665537" y="685800"/>
                  <a:pt x="3805237" y="384175"/>
                  <a:pt x="4076700" y="228600"/>
                </a:cubicBezTo>
                <a:cubicBezTo>
                  <a:pt x="4348163" y="73025"/>
                  <a:pt x="4617244" y="36512"/>
                  <a:pt x="4886325" y="0"/>
                </a:cubicBez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1" name="TextBox 24">
            <a:extLst>
              <a:ext uri="{FF2B5EF4-FFF2-40B4-BE49-F238E27FC236}">
                <a16:creationId xmlns:a16="http://schemas.microsoft.com/office/drawing/2014/main" id="{37B257E1-DC5F-5423-F740-C713FF0AAE3B}"/>
              </a:ext>
            </a:extLst>
          </p:cNvPr>
          <p:cNvSpPr txBox="1"/>
          <p:nvPr/>
        </p:nvSpPr>
        <p:spPr>
          <a:xfrm>
            <a:off x="2057400" y="1705491"/>
            <a:ext cx="969566" cy="184666"/>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Innovators</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5186" name="Conector recto de flecha 5185">
            <a:extLst>
              <a:ext uri="{FF2B5EF4-FFF2-40B4-BE49-F238E27FC236}">
                <a16:creationId xmlns:a16="http://schemas.microsoft.com/office/drawing/2014/main" id="{ADA5E972-B893-2C65-CDC6-7D01F2FCFD43}"/>
              </a:ext>
            </a:extLst>
          </p:cNvPr>
          <p:cNvCxnSpPr>
            <a:cxnSpLocks/>
          </p:cNvCxnSpPr>
          <p:nvPr/>
        </p:nvCxnSpPr>
        <p:spPr>
          <a:xfrm>
            <a:off x="2542183" y="2346960"/>
            <a:ext cx="0" cy="2217897"/>
          </a:xfrm>
          <a:prstGeom prst="straightConnector1">
            <a:avLst/>
          </a:prstGeom>
          <a:ln w="19050">
            <a:solidFill>
              <a:schemeClr val="bg1">
                <a:lumMod val="75000"/>
              </a:schemeClr>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5187" name="Conector recto de flecha 5186">
            <a:extLst>
              <a:ext uri="{FF2B5EF4-FFF2-40B4-BE49-F238E27FC236}">
                <a16:creationId xmlns:a16="http://schemas.microsoft.com/office/drawing/2014/main" id="{DE54ABB2-070F-868B-5CFD-88A995B69A42}"/>
              </a:ext>
            </a:extLst>
          </p:cNvPr>
          <p:cNvCxnSpPr>
            <a:cxnSpLocks/>
          </p:cNvCxnSpPr>
          <p:nvPr/>
        </p:nvCxnSpPr>
        <p:spPr>
          <a:xfrm>
            <a:off x="4606130" y="2346960"/>
            <a:ext cx="0" cy="1569720"/>
          </a:xfrm>
          <a:prstGeom prst="straightConnector1">
            <a:avLst/>
          </a:prstGeom>
          <a:ln w="19050">
            <a:solidFill>
              <a:schemeClr val="bg1">
                <a:lumMod val="75000"/>
              </a:schemeClr>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5189" name="Conector recto de flecha 5188">
            <a:extLst>
              <a:ext uri="{FF2B5EF4-FFF2-40B4-BE49-F238E27FC236}">
                <a16:creationId xmlns:a16="http://schemas.microsoft.com/office/drawing/2014/main" id="{3711A2B4-C766-1F4F-4336-2ECA3181328E}"/>
              </a:ext>
            </a:extLst>
          </p:cNvPr>
          <p:cNvCxnSpPr>
            <a:cxnSpLocks/>
          </p:cNvCxnSpPr>
          <p:nvPr/>
        </p:nvCxnSpPr>
        <p:spPr>
          <a:xfrm>
            <a:off x="6937771" y="2346960"/>
            <a:ext cx="0" cy="220980"/>
          </a:xfrm>
          <a:prstGeom prst="straightConnector1">
            <a:avLst/>
          </a:prstGeom>
          <a:ln w="19050">
            <a:solidFill>
              <a:schemeClr val="bg1">
                <a:lumMod val="75000"/>
              </a:schemeClr>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5191" name="Conector recto de flecha 5190">
            <a:extLst>
              <a:ext uri="{FF2B5EF4-FFF2-40B4-BE49-F238E27FC236}">
                <a16:creationId xmlns:a16="http://schemas.microsoft.com/office/drawing/2014/main" id="{EA10545A-9C35-1C69-CF40-8BDC92ABE622}"/>
              </a:ext>
            </a:extLst>
          </p:cNvPr>
          <p:cNvCxnSpPr>
            <a:cxnSpLocks/>
          </p:cNvCxnSpPr>
          <p:nvPr/>
        </p:nvCxnSpPr>
        <p:spPr>
          <a:xfrm>
            <a:off x="10185002" y="2346960"/>
            <a:ext cx="0" cy="1891665"/>
          </a:xfrm>
          <a:prstGeom prst="straightConnector1">
            <a:avLst/>
          </a:prstGeom>
          <a:ln w="19050">
            <a:solidFill>
              <a:schemeClr val="bg1">
                <a:lumMod val="75000"/>
              </a:schemeClr>
            </a:solidFill>
            <a:tailEnd type="arrow" w="med" len="sm"/>
          </a:ln>
        </p:spPr>
        <p:style>
          <a:lnRef idx="1">
            <a:schemeClr val="accent1"/>
          </a:lnRef>
          <a:fillRef idx="0">
            <a:schemeClr val="accent1"/>
          </a:fillRef>
          <a:effectRef idx="0">
            <a:schemeClr val="accent1"/>
          </a:effectRef>
          <a:fontRef idx="minor">
            <a:schemeClr val="tx1"/>
          </a:fontRef>
        </p:style>
      </p:cxnSp>
      <p:grpSp>
        <p:nvGrpSpPr>
          <p:cNvPr id="5192" name="Group 128">
            <a:extLst>
              <a:ext uri="{FF2B5EF4-FFF2-40B4-BE49-F238E27FC236}">
                <a16:creationId xmlns:a16="http://schemas.microsoft.com/office/drawing/2014/main" id="{64470231-E29B-23CF-0C6B-62E85FEA2233}"/>
              </a:ext>
            </a:extLst>
          </p:cNvPr>
          <p:cNvGrpSpPr>
            <a:grpSpLocks noChangeAspect="1"/>
          </p:cNvGrpSpPr>
          <p:nvPr/>
        </p:nvGrpSpPr>
        <p:grpSpPr bwMode="auto">
          <a:xfrm>
            <a:off x="2402498" y="1967960"/>
            <a:ext cx="279370" cy="319814"/>
            <a:chOff x="1398" y="2998"/>
            <a:chExt cx="373" cy="427"/>
          </a:xfrm>
          <a:solidFill>
            <a:schemeClr val="tx2"/>
          </a:solidFill>
        </p:grpSpPr>
        <p:sp>
          <p:nvSpPr>
            <p:cNvPr id="5193" name="Freeform 129">
              <a:extLst>
                <a:ext uri="{FF2B5EF4-FFF2-40B4-BE49-F238E27FC236}">
                  <a16:creationId xmlns:a16="http://schemas.microsoft.com/office/drawing/2014/main" id="{A001EA1F-0C00-586C-8538-3718A064CF0C}"/>
                </a:ext>
              </a:extLst>
            </p:cNvPr>
            <p:cNvSpPr>
              <a:spLocks noEditPoints="1"/>
            </p:cNvSpPr>
            <p:nvPr/>
          </p:nvSpPr>
          <p:spPr bwMode="auto">
            <a:xfrm>
              <a:off x="1451" y="3052"/>
              <a:ext cx="266" cy="266"/>
            </a:xfrm>
            <a:custGeom>
              <a:avLst/>
              <a:gdLst>
                <a:gd name="T0" fmla="*/ 90 w 180"/>
                <a:gd name="T1" fmla="*/ 180 h 180"/>
                <a:gd name="T2" fmla="*/ 0 w 180"/>
                <a:gd name="T3" fmla="*/ 90 h 180"/>
                <a:gd name="T4" fmla="*/ 90 w 180"/>
                <a:gd name="T5" fmla="*/ 0 h 180"/>
                <a:gd name="T6" fmla="*/ 180 w 180"/>
                <a:gd name="T7" fmla="*/ 90 h 180"/>
                <a:gd name="T8" fmla="*/ 90 w 180"/>
                <a:gd name="T9" fmla="*/ 180 h 180"/>
                <a:gd name="T10" fmla="*/ 90 w 180"/>
                <a:gd name="T11" fmla="*/ 12 h 180"/>
                <a:gd name="T12" fmla="*/ 12 w 180"/>
                <a:gd name="T13" fmla="*/ 90 h 180"/>
                <a:gd name="T14" fmla="*/ 90 w 180"/>
                <a:gd name="T15" fmla="*/ 168 h 180"/>
                <a:gd name="T16" fmla="*/ 168 w 180"/>
                <a:gd name="T17" fmla="*/ 90 h 180"/>
                <a:gd name="T18" fmla="*/ 90 w 180"/>
                <a:gd name="T19" fmla="*/ 1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0" h="180">
                  <a:moveTo>
                    <a:pt x="90" y="180"/>
                  </a:moveTo>
                  <a:cubicBezTo>
                    <a:pt x="40" y="180"/>
                    <a:pt x="0" y="139"/>
                    <a:pt x="0" y="90"/>
                  </a:cubicBezTo>
                  <a:cubicBezTo>
                    <a:pt x="0" y="40"/>
                    <a:pt x="40" y="0"/>
                    <a:pt x="90" y="0"/>
                  </a:cubicBezTo>
                  <a:cubicBezTo>
                    <a:pt x="139" y="0"/>
                    <a:pt x="180" y="40"/>
                    <a:pt x="180" y="90"/>
                  </a:cubicBezTo>
                  <a:cubicBezTo>
                    <a:pt x="180" y="139"/>
                    <a:pt x="139" y="180"/>
                    <a:pt x="90" y="180"/>
                  </a:cubicBezTo>
                  <a:close/>
                  <a:moveTo>
                    <a:pt x="90" y="12"/>
                  </a:moveTo>
                  <a:cubicBezTo>
                    <a:pt x="47" y="12"/>
                    <a:pt x="12" y="47"/>
                    <a:pt x="12" y="90"/>
                  </a:cubicBezTo>
                  <a:cubicBezTo>
                    <a:pt x="12" y="133"/>
                    <a:pt x="47" y="168"/>
                    <a:pt x="90" y="168"/>
                  </a:cubicBezTo>
                  <a:cubicBezTo>
                    <a:pt x="133" y="168"/>
                    <a:pt x="168" y="133"/>
                    <a:pt x="168" y="90"/>
                  </a:cubicBezTo>
                  <a:cubicBezTo>
                    <a:pt x="168" y="47"/>
                    <a:pt x="13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94" name="Freeform 130">
              <a:extLst>
                <a:ext uri="{FF2B5EF4-FFF2-40B4-BE49-F238E27FC236}">
                  <a16:creationId xmlns:a16="http://schemas.microsoft.com/office/drawing/2014/main" id="{A8A3BD27-D44A-D1EB-C4BF-40D802DA5B5F}"/>
                </a:ext>
              </a:extLst>
            </p:cNvPr>
            <p:cNvSpPr>
              <a:spLocks/>
            </p:cNvSpPr>
            <p:nvPr/>
          </p:nvSpPr>
          <p:spPr bwMode="auto">
            <a:xfrm>
              <a:off x="1522" y="3300"/>
              <a:ext cx="124" cy="54"/>
            </a:xfrm>
            <a:custGeom>
              <a:avLst/>
              <a:gdLst>
                <a:gd name="T0" fmla="*/ 78 w 84"/>
                <a:gd name="T1" fmla="*/ 36 h 36"/>
                <a:gd name="T2" fmla="*/ 6 w 84"/>
                <a:gd name="T3" fmla="*/ 36 h 36"/>
                <a:gd name="T4" fmla="*/ 0 w 84"/>
                <a:gd name="T5" fmla="*/ 30 h 36"/>
                <a:gd name="T6" fmla="*/ 0 w 84"/>
                <a:gd name="T7" fmla="*/ 0 h 36"/>
                <a:gd name="T8" fmla="*/ 12 w 84"/>
                <a:gd name="T9" fmla="*/ 0 h 36"/>
                <a:gd name="T10" fmla="*/ 12 w 84"/>
                <a:gd name="T11" fmla="*/ 24 h 36"/>
                <a:gd name="T12" fmla="*/ 72 w 84"/>
                <a:gd name="T13" fmla="*/ 24 h 36"/>
                <a:gd name="T14" fmla="*/ 72 w 84"/>
                <a:gd name="T15" fmla="*/ 0 h 36"/>
                <a:gd name="T16" fmla="*/ 84 w 84"/>
                <a:gd name="T17" fmla="*/ 0 h 36"/>
                <a:gd name="T18" fmla="*/ 84 w 84"/>
                <a:gd name="T19" fmla="*/ 30 h 36"/>
                <a:gd name="T20" fmla="*/ 78 w 84"/>
                <a:gd name="T21"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 h="36">
                  <a:moveTo>
                    <a:pt x="78" y="36"/>
                  </a:moveTo>
                  <a:cubicBezTo>
                    <a:pt x="6" y="36"/>
                    <a:pt x="6" y="36"/>
                    <a:pt x="6" y="36"/>
                  </a:cubicBezTo>
                  <a:cubicBezTo>
                    <a:pt x="2" y="36"/>
                    <a:pt x="0" y="33"/>
                    <a:pt x="0" y="30"/>
                  </a:cubicBezTo>
                  <a:cubicBezTo>
                    <a:pt x="0" y="0"/>
                    <a:pt x="0" y="0"/>
                    <a:pt x="0" y="0"/>
                  </a:cubicBezTo>
                  <a:cubicBezTo>
                    <a:pt x="12" y="0"/>
                    <a:pt x="12" y="0"/>
                    <a:pt x="12" y="0"/>
                  </a:cubicBezTo>
                  <a:cubicBezTo>
                    <a:pt x="12" y="24"/>
                    <a:pt x="12" y="24"/>
                    <a:pt x="12" y="24"/>
                  </a:cubicBezTo>
                  <a:cubicBezTo>
                    <a:pt x="72" y="24"/>
                    <a:pt x="72" y="24"/>
                    <a:pt x="72" y="24"/>
                  </a:cubicBezTo>
                  <a:cubicBezTo>
                    <a:pt x="72" y="0"/>
                    <a:pt x="72" y="0"/>
                    <a:pt x="72" y="0"/>
                  </a:cubicBezTo>
                  <a:cubicBezTo>
                    <a:pt x="84" y="0"/>
                    <a:pt x="84" y="0"/>
                    <a:pt x="84" y="0"/>
                  </a:cubicBezTo>
                  <a:cubicBezTo>
                    <a:pt x="84" y="30"/>
                    <a:pt x="84" y="30"/>
                    <a:pt x="84" y="30"/>
                  </a:cubicBezTo>
                  <a:cubicBezTo>
                    <a:pt x="84" y="33"/>
                    <a:pt x="81" y="36"/>
                    <a:pt x="78"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95" name="Freeform 131">
              <a:extLst>
                <a:ext uri="{FF2B5EF4-FFF2-40B4-BE49-F238E27FC236}">
                  <a16:creationId xmlns:a16="http://schemas.microsoft.com/office/drawing/2014/main" id="{2D5DD02D-12EB-AF90-7817-EDC08BA2B3CC}"/>
                </a:ext>
              </a:extLst>
            </p:cNvPr>
            <p:cNvSpPr>
              <a:spLocks noEditPoints="1"/>
            </p:cNvSpPr>
            <p:nvPr/>
          </p:nvSpPr>
          <p:spPr bwMode="auto">
            <a:xfrm>
              <a:off x="1540" y="3336"/>
              <a:ext cx="88" cy="53"/>
            </a:xfrm>
            <a:custGeom>
              <a:avLst/>
              <a:gdLst>
                <a:gd name="T0" fmla="*/ 54 w 60"/>
                <a:gd name="T1" fmla="*/ 36 h 36"/>
                <a:gd name="T2" fmla="*/ 6 w 60"/>
                <a:gd name="T3" fmla="*/ 36 h 36"/>
                <a:gd name="T4" fmla="*/ 0 w 60"/>
                <a:gd name="T5" fmla="*/ 30 h 36"/>
                <a:gd name="T6" fmla="*/ 0 w 60"/>
                <a:gd name="T7" fmla="*/ 6 h 36"/>
                <a:gd name="T8" fmla="*/ 6 w 60"/>
                <a:gd name="T9" fmla="*/ 0 h 36"/>
                <a:gd name="T10" fmla="*/ 54 w 60"/>
                <a:gd name="T11" fmla="*/ 0 h 36"/>
                <a:gd name="T12" fmla="*/ 60 w 60"/>
                <a:gd name="T13" fmla="*/ 6 h 36"/>
                <a:gd name="T14" fmla="*/ 60 w 60"/>
                <a:gd name="T15" fmla="*/ 30 h 36"/>
                <a:gd name="T16" fmla="*/ 54 w 60"/>
                <a:gd name="T17" fmla="*/ 36 h 36"/>
                <a:gd name="T18" fmla="*/ 12 w 60"/>
                <a:gd name="T19" fmla="*/ 24 h 36"/>
                <a:gd name="T20" fmla="*/ 48 w 60"/>
                <a:gd name="T21" fmla="*/ 24 h 36"/>
                <a:gd name="T22" fmla="*/ 48 w 60"/>
                <a:gd name="T23" fmla="*/ 12 h 36"/>
                <a:gd name="T24" fmla="*/ 12 w 60"/>
                <a:gd name="T25" fmla="*/ 12 h 36"/>
                <a:gd name="T26" fmla="*/ 12 w 60"/>
                <a:gd name="T27"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 h="36">
                  <a:moveTo>
                    <a:pt x="54" y="36"/>
                  </a:moveTo>
                  <a:cubicBezTo>
                    <a:pt x="6" y="36"/>
                    <a:pt x="6" y="36"/>
                    <a:pt x="6" y="36"/>
                  </a:cubicBezTo>
                  <a:cubicBezTo>
                    <a:pt x="2" y="36"/>
                    <a:pt x="0" y="33"/>
                    <a:pt x="0" y="30"/>
                  </a:cubicBezTo>
                  <a:cubicBezTo>
                    <a:pt x="0" y="6"/>
                    <a:pt x="0" y="6"/>
                    <a:pt x="0" y="6"/>
                  </a:cubicBezTo>
                  <a:cubicBezTo>
                    <a:pt x="0" y="3"/>
                    <a:pt x="2" y="0"/>
                    <a:pt x="6" y="0"/>
                  </a:cubicBezTo>
                  <a:cubicBezTo>
                    <a:pt x="54" y="0"/>
                    <a:pt x="54" y="0"/>
                    <a:pt x="54" y="0"/>
                  </a:cubicBezTo>
                  <a:cubicBezTo>
                    <a:pt x="57" y="0"/>
                    <a:pt x="60" y="3"/>
                    <a:pt x="60" y="6"/>
                  </a:cubicBezTo>
                  <a:cubicBezTo>
                    <a:pt x="60" y="30"/>
                    <a:pt x="60" y="30"/>
                    <a:pt x="60" y="30"/>
                  </a:cubicBezTo>
                  <a:cubicBezTo>
                    <a:pt x="60" y="33"/>
                    <a:pt x="57" y="36"/>
                    <a:pt x="54" y="36"/>
                  </a:cubicBezTo>
                  <a:close/>
                  <a:moveTo>
                    <a:pt x="12" y="24"/>
                  </a:moveTo>
                  <a:cubicBezTo>
                    <a:pt x="48" y="24"/>
                    <a:pt x="48" y="24"/>
                    <a:pt x="48" y="24"/>
                  </a:cubicBezTo>
                  <a:cubicBezTo>
                    <a:pt x="48" y="12"/>
                    <a:pt x="48" y="12"/>
                    <a:pt x="48" y="12"/>
                  </a:cubicBezTo>
                  <a:cubicBezTo>
                    <a:pt x="12" y="12"/>
                    <a:pt x="12" y="12"/>
                    <a:pt x="12" y="12"/>
                  </a:cubicBez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96" name="Freeform 132">
              <a:extLst>
                <a:ext uri="{FF2B5EF4-FFF2-40B4-BE49-F238E27FC236}">
                  <a16:creationId xmlns:a16="http://schemas.microsoft.com/office/drawing/2014/main" id="{07BD796E-63E4-0CE5-3200-EE919CF253DD}"/>
                </a:ext>
              </a:extLst>
            </p:cNvPr>
            <p:cNvSpPr>
              <a:spLocks/>
            </p:cNvSpPr>
            <p:nvPr/>
          </p:nvSpPr>
          <p:spPr bwMode="auto">
            <a:xfrm>
              <a:off x="1575" y="3371"/>
              <a:ext cx="18" cy="54"/>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2" y="36"/>
                    <a:pt x="0" y="33"/>
                    <a:pt x="0" y="30"/>
                  </a:cubicBezTo>
                  <a:cubicBezTo>
                    <a:pt x="0" y="6"/>
                    <a:pt x="0" y="6"/>
                    <a:pt x="0" y="6"/>
                  </a:cubicBezTo>
                  <a:cubicBezTo>
                    <a:pt x="0" y="3"/>
                    <a:pt x="2" y="0"/>
                    <a:pt x="6" y="0"/>
                  </a:cubicBezTo>
                  <a:cubicBezTo>
                    <a:pt x="9" y="0"/>
                    <a:pt x="12" y="3"/>
                    <a:pt x="12" y="6"/>
                  </a:cubicBezTo>
                  <a:cubicBezTo>
                    <a:pt x="12" y="30"/>
                    <a:pt x="12" y="30"/>
                    <a:pt x="12" y="30"/>
                  </a:cubicBezTo>
                  <a:cubicBezTo>
                    <a:pt x="12" y="33"/>
                    <a:pt x="9"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97" name="Freeform 133">
              <a:extLst>
                <a:ext uri="{FF2B5EF4-FFF2-40B4-BE49-F238E27FC236}">
                  <a16:creationId xmlns:a16="http://schemas.microsoft.com/office/drawing/2014/main" id="{DC69E4D9-5569-192C-0A28-C04997BC0B32}"/>
                </a:ext>
              </a:extLst>
            </p:cNvPr>
            <p:cNvSpPr>
              <a:spLocks/>
            </p:cNvSpPr>
            <p:nvPr/>
          </p:nvSpPr>
          <p:spPr bwMode="auto">
            <a:xfrm>
              <a:off x="1575" y="2998"/>
              <a:ext cx="18" cy="36"/>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2" y="24"/>
                    <a:pt x="0" y="21"/>
                    <a:pt x="0" y="18"/>
                  </a:cubicBezTo>
                  <a:cubicBezTo>
                    <a:pt x="0" y="6"/>
                    <a:pt x="0" y="6"/>
                    <a:pt x="0" y="6"/>
                  </a:cubicBezTo>
                  <a:cubicBezTo>
                    <a:pt x="0" y="3"/>
                    <a:pt x="2" y="0"/>
                    <a:pt x="6" y="0"/>
                  </a:cubicBezTo>
                  <a:cubicBezTo>
                    <a:pt x="9" y="0"/>
                    <a:pt x="12" y="3"/>
                    <a:pt x="12" y="6"/>
                  </a:cubicBezTo>
                  <a:cubicBezTo>
                    <a:pt x="12" y="18"/>
                    <a:pt x="12" y="18"/>
                    <a:pt x="12" y="18"/>
                  </a:cubicBezTo>
                  <a:cubicBezTo>
                    <a:pt x="12" y="21"/>
                    <a:pt x="9"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98" name="Freeform 134">
              <a:extLst>
                <a:ext uri="{FF2B5EF4-FFF2-40B4-BE49-F238E27FC236}">
                  <a16:creationId xmlns:a16="http://schemas.microsoft.com/office/drawing/2014/main" id="{D00A2286-6887-433E-22A0-ADBAF254BF98}"/>
                </a:ext>
              </a:extLst>
            </p:cNvPr>
            <p:cNvSpPr>
              <a:spLocks/>
            </p:cNvSpPr>
            <p:nvPr/>
          </p:nvSpPr>
          <p:spPr bwMode="auto">
            <a:xfrm>
              <a:off x="1686" y="3049"/>
              <a:ext cx="33" cy="31"/>
            </a:xfrm>
            <a:custGeom>
              <a:avLst/>
              <a:gdLst>
                <a:gd name="T0" fmla="*/ 7 w 22"/>
                <a:gd name="T1" fmla="*/ 21 h 21"/>
                <a:gd name="T2" fmla="*/ 3 w 22"/>
                <a:gd name="T3" fmla="*/ 20 h 21"/>
                <a:gd name="T4" fmla="*/ 3 w 22"/>
                <a:gd name="T5" fmla="*/ 11 h 21"/>
                <a:gd name="T6" fmla="*/ 11 w 22"/>
                <a:gd name="T7" fmla="*/ 3 h 21"/>
                <a:gd name="T8" fmla="*/ 20 w 22"/>
                <a:gd name="T9" fmla="*/ 3 h 21"/>
                <a:gd name="T10" fmla="*/ 20 w 22"/>
                <a:gd name="T11" fmla="*/ 11 h 21"/>
                <a:gd name="T12" fmla="*/ 11 w 22"/>
                <a:gd name="T13" fmla="*/ 20 h 21"/>
                <a:gd name="T14" fmla="*/ 7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7" y="21"/>
                  </a:moveTo>
                  <a:cubicBezTo>
                    <a:pt x="5" y="21"/>
                    <a:pt x="4" y="21"/>
                    <a:pt x="3" y="20"/>
                  </a:cubicBezTo>
                  <a:cubicBezTo>
                    <a:pt x="0" y="17"/>
                    <a:pt x="0" y="14"/>
                    <a:pt x="3" y="11"/>
                  </a:cubicBezTo>
                  <a:cubicBezTo>
                    <a:pt x="11" y="3"/>
                    <a:pt x="11" y="3"/>
                    <a:pt x="11" y="3"/>
                  </a:cubicBezTo>
                  <a:cubicBezTo>
                    <a:pt x="14" y="0"/>
                    <a:pt x="17" y="0"/>
                    <a:pt x="20" y="3"/>
                  </a:cubicBezTo>
                  <a:cubicBezTo>
                    <a:pt x="22" y="5"/>
                    <a:pt x="22" y="9"/>
                    <a:pt x="20" y="11"/>
                  </a:cubicBezTo>
                  <a:cubicBezTo>
                    <a:pt x="11" y="20"/>
                    <a:pt x="11" y="20"/>
                    <a:pt x="11" y="20"/>
                  </a:cubicBezTo>
                  <a:cubicBezTo>
                    <a:pt x="10" y="21"/>
                    <a:pt x="9" y="21"/>
                    <a:pt x="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199" name="Freeform 135">
              <a:extLst>
                <a:ext uri="{FF2B5EF4-FFF2-40B4-BE49-F238E27FC236}">
                  <a16:creationId xmlns:a16="http://schemas.microsoft.com/office/drawing/2014/main" id="{C474C1D6-8CE6-697B-68CA-CB094EF5EF80}"/>
                </a:ext>
              </a:extLst>
            </p:cNvPr>
            <p:cNvSpPr>
              <a:spLocks/>
            </p:cNvSpPr>
            <p:nvPr/>
          </p:nvSpPr>
          <p:spPr bwMode="auto">
            <a:xfrm>
              <a:off x="1735" y="3176"/>
              <a:ext cx="36" cy="18"/>
            </a:xfrm>
            <a:custGeom>
              <a:avLst/>
              <a:gdLst>
                <a:gd name="T0" fmla="*/ 18 w 24"/>
                <a:gd name="T1" fmla="*/ 12 h 12"/>
                <a:gd name="T2" fmla="*/ 6 w 24"/>
                <a:gd name="T3" fmla="*/ 12 h 12"/>
                <a:gd name="T4" fmla="*/ 0 w 24"/>
                <a:gd name="T5" fmla="*/ 6 h 12"/>
                <a:gd name="T6" fmla="*/ 6 w 24"/>
                <a:gd name="T7" fmla="*/ 0 h 12"/>
                <a:gd name="T8" fmla="*/ 18 w 24"/>
                <a:gd name="T9" fmla="*/ 0 h 12"/>
                <a:gd name="T10" fmla="*/ 24 w 24"/>
                <a:gd name="T11" fmla="*/ 6 h 12"/>
                <a:gd name="T12" fmla="*/ 18 w 2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12"/>
                  </a:moveTo>
                  <a:cubicBezTo>
                    <a:pt x="6" y="12"/>
                    <a:pt x="6" y="12"/>
                    <a:pt x="6" y="12"/>
                  </a:cubicBezTo>
                  <a:cubicBezTo>
                    <a:pt x="2" y="12"/>
                    <a:pt x="0" y="9"/>
                    <a:pt x="0" y="6"/>
                  </a:cubicBezTo>
                  <a:cubicBezTo>
                    <a:pt x="0" y="3"/>
                    <a:pt x="2" y="0"/>
                    <a:pt x="6" y="0"/>
                  </a:cubicBezTo>
                  <a:cubicBezTo>
                    <a:pt x="18" y="0"/>
                    <a:pt x="18" y="0"/>
                    <a:pt x="18" y="0"/>
                  </a:cubicBezTo>
                  <a:cubicBezTo>
                    <a:pt x="21" y="0"/>
                    <a:pt x="24" y="3"/>
                    <a:pt x="24" y="6"/>
                  </a:cubicBezTo>
                  <a:cubicBezTo>
                    <a:pt x="24" y="9"/>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200" name="Freeform 136">
              <a:extLst>
                <a:ext uri="{FF2B5EF4-FFF2-40B4-BE49-F238E27FC236}">
                  <a16:creationId xmlns:a16="http://schemas.microsoft.com/office/drawing/2014/main" id="{C25B0DAB-5CAE-9BB6-DFF8-C9AEB4D4A373}"/>
                </a:ext>
              </a:extLst>
            </p:cNvPr>
            <p:cNvSpPr>
              <a:spLocks/>
            </p:cNvSpPr>
            <p:nvPr/>
          </p:nvSpPr>
          <p:spPr bwMode="auto">
            <a:xfrm>
              <a:off x="1686" y="3288"/>
              <a:ext cx="33" cy="31"/>
            </a:xfrm>
            <a:custGeom>
              <a:avLst/>
              <a:gdLst>
                <a:gd name="T0" fmla="*/ 15 w 22"/>
                <a:gd name="T1" fmla="*/ 21 h 21"/>
                <a:gd name="T2" fmla="*/ 11 w 22"/>
                <a:gd name="T3" fmla="*/ 19 h 21"/>
                <a:gd name="T4" fmla="*/ 3 w 22"/>
                <a:gd name="T5" fmla="*/ 10 h 21"/>
                <a:gd name="T6" fmla="*/ 3 w 22"/>
                <a:gd name="T7" fmla="*/ 2 h 21"/>
                <a:gd name="T8" fmla="*/ 11 w 22"/>
                <a:gd name="T9" fmla="*/ 2 h 21"/>
                <a:gd name="T10" fmla="*/ 20 w 22"/>
                <a:gd name="T11" fmla="*/ 10 h 21"/>
                <a:gd name="T12" fmla="*/ 20 w 22"/>
                <a:gd name="T13" fmla="*/ 19 h 21"/>
                <a:gd name="T14" fmla="*/ 15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15" y="21"/>
                  </a:moveTo>
                  <a:cubicBezTo>
                    <a:pt x="14" y="21"/>
                    <a:pt x="12" y="20"/>
                    <a:pt x="11" y="19"/>
                  </a:cubicBezTo>
                  <a:cubicBezTo>
                    <a:pt x="3" y="10"/>
                    <a:pt x="3" y="10"/>
                    <a:pt x="3" y="10"/>
                  </a:cubicBezTo>
                  <a:cubicBezTo>
                    <a:pt x="0" y="8"/>
                    <a:pt x="0" y="4"/>
                    <a:pt x="3" y="2"/>
                  </a:cubicBezTo>
                  <a:cubicBezTo>
                    <a:pt x="5" y="0"/>
                    <a:pt x="9" y="0"/>
                    <a:pt x="11" y="2"/>
                  </a:cubicBezTo>
                  <a:cubicBezTo>
                    <a:pt x="20" y="10"/>
                    <a:pt x="20" y="10"/>
                    <a:pt x="20" y="10"/>
                  </a:cubicBezTo>
                  <a:cubicBezTo>
                    <a:pt x="22" y="13"/>
                    <a:pt x="22" y="17"/>
                    <a:pt x="20" y="19"/>
                  </a:cubicBezTo>
                  <a:cubicBezTo>
                    <a:pt x="19" y="20"/>
                    <a:pt x="17"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201" name="Freeform 137">
              <a:extLst>
                <a:ext uri="{FF2B5EF4-FFF2-40B4-BE49-F238E27FC236}">
                  <a16:creationId xmlns:a16="http://schemas.microsoft.com/office/drawing/2014/main" id="{4ABF1E0E-3C6F-6D94-BC56-F7A821046D58}"/>
                </a:ext>
              </a:extLst>
            </p:cNvPr>
            <p:cNvSpPr>
              <a:spLocks/>
            </p:cNvSpPr>
            <p:nvPr/>
          </p:nvSpPr>
          <p:spPr bwMode="auto">
            <a:xfrm>
              <a:off x="1448" y="3049"/>
              <a:ext cx="32" cy="31"/>
            </a:xfrm>
            <a:custGeom>
              <a:avLst/>
              <a:gdLst>
                <a:gd name="T0" fmla="*/ 15 w 22"/>
                <a:gd name="T1" fmla="*/ 21 h 21"/>
                <a:gd name="T2" fmla="*/ 11 w 22"/>
                <a:gd name="T3" fmla="*/ 20 h 21"/>
                <a:gd name="T4" fmla="*/ 3 w 22"/>
                <a:gd name="T5" fmla="*/ 11 h 21"/>
                <a:gd name="T6" fmla="*/ 3 w 22"/>
                <a:gd name="T7" fmla="*/ 3 h 21"/>
                <a:gd name="T8" fmla="*/ 11 w 22"/>
                <a:gd name="T9" fmla="*/ 3 h 21"/>
                <a:gd name="T10" fmla="*/ 20 w 22"/>
                <a:gd name="T11" fmla="*/ 11 h 21"/>
                <a:gd name="T12" fmla="*/ 20 w 22"/>
                <a:gd name="T13" fmla="*/ 20 h 21"/>
                <a:gd name="T14" fmla="*/ 15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15" y="21"/>
                  </a:moveTo>
                  <a:cubicBezTo>
                    <a:pt x="14" y="21"/>
                    <a:pt x="12" y="21"/>
                    <a:pt x="11" y="20"/>
                  </a:cubicBezTo>
                  <a:cubicBezTo>
                    <a:pt x="3" y="11"/>
                    <a:pt x="3" y="11"/>
                    <a:pt x="3" y="11"/>
                  </a:cubicBezTo>
                  <a:cubicBezTo>
                    <a:pt x="0" y="9"/>
                    <a:pt x="0" y="5"/>
                    <a:pt x="3" y="3"/>
                  </a:cubicBezTo>
                  <a:cubicBezTo>
                    <a:pt x="5" y="0"/>
                    <a:pt x="9" y="0"/>
                    <a:pt x="11" y="3"/>
                  </a:cubicBezTo>
                  <a:cubicBezTo>
                    <a:pt x="20" y="11"/>
                    <a:pt x="20" y="11"/>
                    <a:pt x="20" y="11"/>
                  </a:cubicBezTo>
                  <a:cubicBezTo>
                    <a:pt x="22" y="14"/>
                    <a:pt x="22" y="17"/>
                    <a:pt x="20" y="20"/>
                  </a:cubicBezTo>
                  <a:cubicBezTo>
                    <a:pt x="18" y="21"/>
                    <a:pt x="17"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202" name="Freeform 138">
              <a:extLst>
                <a:ext uri="{FF2B5EF4-FFF2-40B4-BE49-F238E27FC236}">
                  <a16:creationId xmlns:a16="http://schemas.microsoft.com/office/drawing/2014/main" id="{F6FEF0A0-3CB3-3DE6-CE8D-95183065CF58}"/>
                </a:ext>
              </a:extLst>
            </p:cNvPr>
            <p:cNvSpPr>
              <a:spLocks/>
            </p:cNvSpPr>
            <p:nvPr/>
          </p:nvSpPr>
          <p:spPr bwMode="auto">
            <a:xfrm>
              <a:off x="1398" y="3176"/>
              <a:ext cx="35" cy="18"/>
            </a:xfrm>
            <a:custGeom>
              <a:avLst/>
              <a:gdLst>
                <a:gd name="T0" fmla="*/ 18 w 24"/>
                <a:gd name="T1" fmla="*/ 12 h 12"/>
                <a:gd name="T2" fmla="*/ 6 w 24"/>
                <a:gd name="T3" fmla="*/ 12 h 12"/>
                <a:gd name="T4" fmla="*/ 0 w 24"/>
                <a:gd name="T5" fmla="*/ 6 h 12"/>
                <a:gd name="T6" fmla="*/ 6 w 24"/>
                <a:gd name="T7" fmla="*/ 0 h 12"/>
                <a:gd name="T8" fmla="*/ 18 w 24"/>
                <a:gd name="T9" fmla="*/ 0 h 12"/>
                <a:gd name="T10" fmla="*/ 24 w 24"/>
                <a:gd name="T11" fmla="*/ 6 h 12"/>
                <a:gd name="T12" fmla="*/ 18 w 2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12"/>
                  </a:moveTo>
                  <a:cubicBezTo>
                    <a:pt x="6" y="12"/>
                    <a:pt x="6" y="12"/>
                    <a:pt x="6" y="12"/>
                  </a:cubicBezTo>
                  <a:cubicBezTo>
                    <a:pt x="2" y="12"/>
                    <a:pt x="0" y="9"/>
                    <a:pt x="0" y="6"/>
                  </a:cubicBezTo>
                  <a:cubicBezTo>
                    <a:pt x="0" y="3"/>
                    <a:pt x="2" y="0"/>
                    <a:pt x="6" y="0"/>
                  </a:cubicBezTo>
                  <a:cubicBezTo>
                    <a:pt x="18" y="0"/>
                    <a:pt x="18" y="0"/>
                    <a:pt x="18" y="0"/>
                  </a:cubicBezTo>
                  <a:cubicBezTo>
                    <a:pt x="21" y="0"/>
                    <a:pt x="24" y="3"/>
                    <a:pt x="24" y="6"/>
                  </a:cubicBezTo>
                  <a:cubicBezTo>
                    <a:pt x="24" y="9"/>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203" name="Freeform 139">
              <a:extLst>
                <a:ext uri="{FF2B5EF4-FFF2-40B4-BE49-F238E27FC236}">
                  <a16:creationId xmlns:a16="http://schemas.microsoft.com/office/drawing/2014/main" id="{9C088476-A33C-29F0-0232-4BA0DE03F929}"/>
                </a:ext>
              </a:extLst>
            </p:cNvPr>
            <p:cNvSpPr>
              <a:spLocks/>
            </p:cNvSpPr>
            <p:nvPr/>
          </p:nvSpPr>
          <p:spPr bwMode="auto">
            <a:xfrm>
              <a:off x="1448" y="3288"/>
              <a:ext cx="32" cy="31"/>
            </a:xfrm>
            <a:custGeom>
              <a:avLst/>
              <a:gdLst>
                <a:gd name="T0" fmla="*/ 7 w 22"/>
                <a:gd name="T1" fmla="*/ 21 h 21"/>
                <a:gd name="T2" fmla="*/ 3 w 22"/>
                <a:gd name="T3" fmla="*/ 19 h 21"/>
                <a:gd name="T4" fmla="*/ 3 w 22"/>
                <a:gd name="T5" fmla="*/ 10 h 21"/>
                <a:gd name="T6" fmla="*/ 11 w 22"/>
                <a:gd name="T7" fmla="*/ 2 h 21"/>
                <a:gd name="T8" fmla="*/ 20 w 22"/>
                <a:gd name="T9" fmla="*/ 2 h 21"/>
                <a:gd name="T10" fmla="*/ 20 w 22"/>
                <a:gd name="T11" fmla="*/ 10 h 21"/>
                <a:gd name="T12" fmla="*/ 11 w 22"/>
                <a:gd name="T13" fmla="*/ 19 h 21"/>
                <a:gd name="T14" fmla="*/ 7 w 22"/>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21">
                  <a:moveTo>
                    <a:pt x="7" y="21"/>
                  </a:moveTo>
                  <a:cubicBezTo>
                    <a:pt x="5" y="21"/>
                    <a:pt x="4" y="20"/>
                    <a:pt x="3" y="19"/>
                  </a:cubicBezTo>
                  <a:cubicBezTo>
                    <a:pt x="0" y="17"/>
                    <a:pt x="0" y="13"/>
                    <a:pt x="3" y="10"/>
                  </a:cubicBezTo>
                  <a:cubicBezTo>
                    <a:pt x="11" y="2"/>
                    <a:pt x="11" y="2"/>
                    <a:pt x="11" y="2"/>
                  </a:cubicBezTo>
                  <a:cubicBezTo>
                    <a:pt x="13" y="0"/>
                    <a:pt x="17" y="0"/>
                    <a:pt x="20" y="2"/>
                  </a:cubicBezTo>
                  <a:cubicBezTo>
                    <a:pt x="22" y="4"/>
                    <a:pt x="22" y="8"/>
                    <a:pt x="20" y="10"/>
                  </a:cubicBezTo>
                  <a:cubicBezTo>
                    <a:pt x="11" y="19"/>
                    <a:pt x="11" y="19"/>
                    <a:pt x="11" y="19"/>
                  </a:cubicBezTo>
                  <a:cubicBezTo>
                    <a:pt x="10" y="20"/>
                    <a:pt x="8" y="21"/>
                    <a:pt x="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sp>
          <p:nvSpPr>
            <p:cNvPr id="5204" name="Freeform 140">
              <a:extLst>
                <a:ext uri="{FF2B5EF4-FFF2-40B4-BE49-F238E27FC236}">
                  <a16:creationId xmlns:a16="http://schemas.microsoft.com/office/drawing/2014/main" id="{BE8D7658-A68B-3AED-E692-FC8ABDB1B8E6}"/>
                </a:ext>
              </a:extLst>
            </p:cNvPr>
            <p:cNvSpPr>
              <a:spLocks noEditPoints="1"/>
            </p:cNvSpPr>
            <p:nvPr/>
          </p:nvSpPr>
          <p:spPr bwMode="auto">
            <a:xfrm>
              <a:off x="1504" y="3176"/>
              <a:ext cx="160" cy="133"/>
            </a:xfrm>
            <a:custGeom>
              <a:avLst/>
              <a:gdLst>
                <a:gd name="T0" fmla="*/ 60 w 108"/>
                <a:gd name="T1" fmla="*/ 90 h 90"/>
                <a:gd name="T2" fmla="*/ 58 w 108"/>
                <a:gd name="T3" fmla="*/ 90 h 90"/>
                <a:gd name="T4" fmla="*/ 54 w 108"/>
                <a:gd name="T5" fmla="*/ 84 h 90"/>
                <a:gd name="T6" fmla="*/ 49 w 108"/>
                <a:gd name="T7" fmla="*/ 90 h 90"/>
                <a:gd name="T8" fmla="*/ 42 w 108"/>
                <a:gd name="T9" fmla="*/ 85 h 90"/>
                <a:gd name="T10" fmla="*/ 30 w 108"/>
                <a:gd name="T11" fmla="*/ 36 h 90"/>
                <a:gd name="T12" fmla="*/ 18 w 108"/>
                <a:gd name="T13" fmla="*/ 36 h 90"/>
                <a:gd name="T14" fmla="*/ 0 w 108"/>
                <a:gd name="T15" fmla="*/ 18 h 90"/>
                <a:gd name="T16" fmla="*/ 18 w 108"/>
                <a:gd name="T17" fmla="*/ 0 h 90"/>
                <a:gd name="T18" fmla="*/ 38 w 108"/>
                <a:gd name="T19" fmla="*/ 16 h 90"/>
                <a:gd name="T20" fmla="*/ 40 w 108"/>
                <a:gd name="T21" fmla="*/ 24 h 90"/>
                <a:gd name="T22" fmla="*/ 67 w 108"/>
                <a:gd name="T23" fmla="*/ 24 h 90"/>
                <a:gd name="T24" fmla="*/ 69 w 108"/>
                <a:gd name="T25" fmla="*/ 16 h 90"/>
                <a:gd name="T26" fmla="*/ 90 w 108"/>
                <a:gd name="T27" fmla="*/ 0 h 90"/>
                <a:gd name="T28" fmla="*/ 108 w 108"/>
                <a:gd name="T29" fmla="*/ 18 h 90"/>
                <a:gd name="T30" fmla="*/ 90 w 108"/>
                <a:gd name="T31" fmla="*/ 36 h 90"/>
                <a:gd name="T32" fmla="*/ 77 w 108"/>
                <a:gd name="T33" fmla="*/ 36 h 90"/>
                <a:gd name="T34" fmla="*/ 65 w 108"/>
                <a:gd name="T35" fmla="*/ 85 h 90"/>
                <a:gd name="T36" fmla="*/ 60 w 108"/>
                <a:gd name="T37" fmla="*/ 90 h 90"/>
                <a:gd name="T38" fmla="*/ 43 w 108"/>
                <a:gd name="T39" fmla="*/ 36 h 90"/>
                <a:gd name="T40" fmla="*/ 53 w 108"/>
                <a:gd name="T41" fmla="*/ 82 h 90"/>
                <a:gd name="T42" fmla="*/ 54 w 108"/>
                <a:gd name="T43" fmla="*/ 84 h 90"/>
                <a:gd name="T44" fmla="*/ 54 w 108"/>
                <a:gd name="T45" fmla="*/ 82 h 90"/>
                <a:gd name="T46" fmla="*/ 65 w 108"/>
                <a:gd name="T47" fmla="*/ 36 h 90"/>
                <a:gd name="T48" fmla="*/ 43 w 108"/>
                <a:gd name="T49" fmla="*/ 36 h 90"/>
                <a:gd name="T50" fmla="*/ 80 w 108"/>
                <a:gd name="T51" fmla="*/ 24 h 90"/>
                <a:gd name="T52" fmla="*/ 90 w 108"/>
                <a:gd name="T53" fmla="*/ 24 h 90"/>
                <a:gd name="T54" fmla="*/ 96 w 108"/>
                <a:gd name="T55" fmla="*/ 18 h 90"/>
                <a:gd name="T56" fmla="*/ 90 w 108"/>
                <a:gd name="T57" fmla="*/ 12 h 90"/>
                <a:gd name="T58" fmla="*/ 81 w 108"/>
                <a:gd name="T59" fmla="*/ 19 h 90"/>
                <a:gd name="T60" fmla="*/ 80 w 108"/>
                <a:gd name="T61" fmla="*/ 24 h 90"/>
                <a:gd name="T62" fmla="*/ 18 w 108"/>
                <a:gd name="T63" fmla="*/ 12 h 90"/>
                <a:gd name="T64" fmla="*/ 12 w 108"/>
                <a:gd name="T65" fmla="*/ 18 h 90"/>
                <a:gd name="T66" fmla="*/ 18 w 108"/>
                <a:gd name="T67" fmla="*/ 24 h 90"/>
                <a:gd name="T68" fmla="*/ 28 w 108"/>
                <a:gd name="T69" fmla="*/ 24 h 90"/>
                <a:gd name="T70" fmla="*/ 26 w 108"/>
                <a:gd name="T71" fmla="*/ 19 h 90"/>
                <a:gd name="T72" fmla="*/ 18 w 108"/>
                <a:gd name="T73"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8" h="90">
                  <a:moveTo>
                    <a:pt x="60" y="90"/>
                  </a:moveTo>
                  <a:cubicBezTo>
                    <a:pt x="59" y="90"/>
                    <a:pt x="59" y="90"/>
                    <a:pt x="58" y="90"/>
                  </a:cubicBezTo>
                  <a:cubicBezTo>
                    <a:pt x="56" y="89"/>
                    <a:pt x="54" y="87"/>
                    <a:pt x="54" y="84"/>
                  </a:cubicBezTo>
                  <a:cubicBezTo>
                    <a:pt x="54" y="87"/>
                    <a:pt x="52" y="89"/>
                    <a:pt x="49" y="90"/>
                  </a:cubicBezTo>
                  <a:cubicBezTo>
                    <a:pt x="46" y="90"/>
                    <a:pt x="43" y="88"/>
                    <a:pt x="42" y="85"/>
                  </a:cubicBezTo>
                  <a:cubicBezTo>
                    <a:pt x="30" y="36"/>
                    <a:pt x="30" y="36"/>
                    <a:pt x="30" y="36"/>
                  </a:cubicBezTo>
                  <a:cubicBezTo>
                    <a:pt x="18" y="36"/>
                    <a:pt x="18" y="36"/>
                    <a:pt x="18" y="36"/>
                  </a:cubicBezTo>
                  <a:cubicBezTo>
                    <a:pt x="8" y="36"/>
                    <a:pt x="0" y="28"/>
                    <a:pt x="0" y="18"/>
                  </a:cubicBezTo>
                  <a:cubicBezTo>
                    <a:pt x="0" y="8"/>
                    <a:pt x="8" y="0"/>
                    <a:pt x="18" y="0"/>
                  </a:cubicBezTo>
                  <a:cubicBezTo>
                    <a:pt x="28" y="0"/>
                    <a:pt x="36" y="7"/>
                    <a:pt x="38" y="16"/>
                  </a:cubicBezTo>
                  <a:cubicBezTo>
                    <a:pt x="40" y="24"/>
                    <a:pt x="40" y="24"/>
                    <a:pt x="40" y="24"/>
                  </a:cubicBezTo>
                  <a:cubicBezTo>
                    <a:pt x="67" y="24"/>
                    <a:pt x="67" y="24"/>
                    <a:pt x="67" y="24"/>
                  </a:cubicBezTo>
                  <a:cubicBezTo>
                    <a:pt x="69" y="16"/>
                    <a:pt x="69" y="16"/>
                    <a:pt x="69" y="16"/>
                  </a:cubicBezTo>
                  <a:cubicBezTo>
                    <a:pt x="71" y="7"/>
                    <a:pt x="80" y="0"/>
                    <a:pt x="90" y="0"/>
                  </a:cubicBezTo>
                  <a:cubicBezTo>
                    <a:pt x="100" y="0"/>
                    <a:pt x="108" y="8"/>
                    <a:pt x="108" y="18"/>
                  </a:cubicBezTo>
                  <a:cubicBezTo>
                    <a:pt x="108" y="28"/>
                    <a:pt x="100" y="36"/>
                    <a:pt x="90" y="36"/>
                  </a:cubicBezTo>
                  <a:cubicBezTo>
                    <a:pt x="77" y="36"/>
                    <a:pt x="77" y="36"/>
                    <a:pt x="77" y="36"/>
                  </a:cubicBezTo>
                  <a:cubicBezTo>
                    <a:pt x="65" y="85"/>
                    <a:pt x="65" y="85"/>
                    <a:pt x="65" y="85"/>
                  </a:cubicBezTo>
                  <a:cubicBezTo>
                    <a:pt x="65" y="88"/>
                    <a:pt x="62" y="90"/>
                    <a:pt x="60" y="90"/>
                  </a:cubicBezTo>
                  <a:close/>
                  <a:moveTo>
                    <a:pt x="43" y="36"/>
                  </a:moveTo>
                  <a:cubicBezTo>
                    <a:pt x="53" y="82"/>
                    <a:pt x="53" y="82"/>
                    <a:pt x="53" y="82"/>
                  </a:cubicBezTo>
                  <a:cubicBezTo>
                    <a:pt x="54" y="83"/>
                    <a:pt x="54" y="83"/>
                    <a:pt x="54" y="84"/>
                  </a:cubicBezTo>
                  <a:cubicBezTo>
                    <a:pt x="54" y="83"/>
                    <a:pt x="54" y="83"/>
                    <a:pt x="54" y="82"/>
                  </a:cubicBezTo>
                  <a:cubicBezTo>
                    <a:pt x="65" y="36"/>
                    <a:pt x="65" y="36"/>
                    <a:pt x="65" y="36"/>
                  </a:cubicBezTo>
                  <a:lnTo>
                    <a:pt x="43" y="36"/>
                  </a:lnTo>
                  <a:close/>
                  <a:moveTo>
                    <a:pt x="80" y="24"/>
                  </a:moveTo>
                  <a:cubicBezTo>
                    <a:pt x="90" y="24"/>
                    <a:pt x="90" y="24"/>
                    <a:pt x="90" y="24"/>
                  </a:cubicBezTo>
                  <a:cubicBezTo>
                    <a:pt x="93" y="24"/>
                    <a:pt x="96" y="21"/>
                    <a:pt x="96" y="18"/>
                  </a:cubicBezTo>
                  <a:cubicBezTo>
                    <a:pt x="96" y="15"/>
                    <a:pt x="93" y="12"/>
                    <a:pt x="90" y="12"/>
                  </a:cubicBezTo>
                  <a:cubicBezTo>
                    <a:pt x="85" y="12"/>
                    <a:pt x="82" y="15"/>
                    <a:pt x="81" y="19"/>
                  </a:cubicBezTo>
                  <a:lnTo>
                    <a:pt x="80" y="24"/>
                  </a:lnTo>
                  <a:close/>
                  <a:moveTo>
                    <a:pt x="18" y="12"/>
                  </a:moveTo>
                  <a:cubicBezTo>
                    <a:pt x="14" y="12"/>
                    <a:pt x="12" y="15"/>
                    <a:pt x="12" y="18"/>
                  </a:cubicBezTo>
                  <a:cubicBezTo>
                    <a:pt x="12" y="21"/>
                    <a:pt x="14" y="24"/>
                    <a:pt x="18" y="24"/>
                  </a:cubicBezTo>
                  <a:cubicBezTo>
                    <a:pt x="28" y="24"/>
                    <a:pt x="28" y="24"/>
                    <a:pt x="28" y="24"/>
                  </a:cubicBezTo>
                  <a:cubicBezTo>
                    <a:pt x="26" y="19"/>
                    <a:pt x="26" y="19"/>
                    <a:pt x="26" y="19"/>
                  </a:cubicBezTo>
                  <a:cubicBezTo>
                    <a:pt x="26" y="15"/>
                    <a:pt x="22"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b="1" dirty="0"/>
            </a:p>
          </p:txBody>
        </p:sp>
      </p:grpSp>
      <p:sp>
        <p:nvSpPr>
          <p:cNvPr id="5166" name="Marcador de pie de página 5165">
            <a:extLst>
              <a:ext uri="{FF2B5EF4-FFF2-40B4-BE49-F238E27FC236}">
                <a16:creationId xmlns:a16="http://schemas.microsoft.com/office/drawing/2014/main" id="{1183DE83-0765-4871-25AD-000128106871}"/>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2493401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Roger’s Five Factors</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28271573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D54E5912-2E9A-80AB-E33C-3B748DAB70CF}"/>
              </a:ext>
            </a:extLst>
          </p:cNvPr>
          <p:cNvGraphicFramePr>
            <a:graphicFrameLocks noChangeAspect="1"/>
          </p:cNvGraphicFramePr>
          <p:nvPr>
            <p:custDataLst>
              <p:tags r:id="rId1"/>
            </p:custDataLst>
            <p:extLst>
              <p:ext uri="{D42A27DB-BD31-4B8C-83A1-F6EECF244321}">
                <p14:modId xmlns:p14="http://schemas.microsoft.com/office/powerpoint/2010/main" val="31416696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445F864E-9C04-7342-14FC-6B7063FFF0D0}"/>
              </a:ext>
            </a:extLst>
          </p:cNvPr>
          <p:cNvSpPr>
            <a:spLocks noGrp="1"/>
          </p:cNvSpPr>
          <p:nvPr>
            <p:ph type="title"/>
          </p:nvPr>
        </p:nvSpPr>
        <p:spPr/>
        <p:txBody>
          <a:bodyPr vert="horz"/>
          <a:lstStyle/>
          <a:p>
            <a:r>
              <a:rPr lang="en-US" dirty="0"/>
              <a:t>Roger’s Five Factors — Overview</a:t>
            </a:r>
          </a:p>
        </p:txBody>
      </p:sp>
      <p:sp>
        <p:nvSpPr>
          <p:cNvPr id="3" name="Marcador de texto 2">
            <a:extLst>
              <a:ext uri="{FF2B5EF4-FFF2-40B4-BE49-F238E27FC236}">
                <a16:creationId xmlns:a16="http://schemas.microsoft.com/office/drawing/2014/main" id="{84AAF01C-61A5-EAB0-B73D-10D7BFF87F8A}"/>
              </a:ext>
            </a:extLst>
          </p:cNvPr>
          <p:cNvSpPr>
            <a:spLocks noGrp="1"/>
          </p:cNvSpPr>
          <p:nvPr>
            <p:ph type="body" sz="quarter" idx="18"/>
          </p:nvPr>
        </p:nvSpPr>
        <p:spPr/>
        <p:txBody>
          <a:bodyPr/>
          <a:lstStyle/>
          <a:p>
            <a:r>
              <a:rPr lang="en-US" dirty="0"/>
              <a:t>The Rogers' Five Factors framework, also known as the Diffusion of Innovation theory, was developed by sociologist and communication theorist Everett Rogers in his 1962 book </a:t>
            </a:r>
            <a:r>
              <a:rPr lang="en-US" i="1" dirty="0"/>
              <a:t>Diffusion of Innovations</a:t>
            </a:r>
            <a:r>
              <a:rPr lang="en-US" dirty="0"/>
              <a:t>.</a:t>
            </a:r>
          </a:p>
        </p:txBody>
      </p:sp>
      <p:sp>
        <p:nvSpPr>
          <p:cNvPr id="4" name="Marcador de texto 3">
            <a:extLst>
              <a:ext uri="{FF2B5EF4-FFF2-40B4-BE49-F238E27FC236}">
                <a16:creationId xmlns:a16="http://schemas.microsoft.com/office/drawing/2014/main" id="{32018C97-5C82-E0BE-0660-CEDABE5B1132}"/>
              </a:ext>
            </a:extLst>
          </p:cNvPr>
          <p:cNvSpPr>
            <a:spLocks noGrp="1"/>
          </p:cNvSpPr>
          <p:nvPr>
            <p:ph type="body" sz="quarter" idx="19"/>
          </p:nvPr>
        </p:nvSpPr>
        <p:spPr/>
        <p:txBody>
          <a:bodyPr/>
          <a:lstStyle/>
          <a:p>
            <a:pPr marL="0" indent="0">
              <a:buFont typeface="Arial" panose="020B0604020202020204" pitchFamily="34" charset="0"/>
              <a:buNone/>
            </a:pPr>
            <a:r>
              <a:rPr lang="en-US" dirty="0"/>
              <a:t>Rogers' framework seeks to explain how and why new ideas, technologies, and products are adopted by people over time. Rogers conducted extensive research on the adoption of innovations across various fields and industries, and his framework identified five key factors that influence the rate of adoption of an innovation:</a:t>
            </a:r>
          </a:p>
          <a:p>
            <a:r>
              <a:rPr lang="en-US" b="1" dirty="0"/>
              <a:t>Relative advantage: </a:t>
            </a:r>
            <a:r>
              <a:rPr lang="en-US" dirty="0"/>
              <a:t>The degree to which an innovation is perceived as better than the existing solution it is replacing.</a:t>
            </a:r>
          </a:p>
          <a:p>
            <a:r>
              <a:rPr lang="en-US" b="1" dirty="0"/>
              <a:t>Compatibility: </a:t>
            </a:r>
            <a:r>
              <a:rPr lang="en-US" dirty="0"/>
              <a:t>The degree to which an innovation is perceived as consistent with existing values, experiences, and needs of potential adopters.</a:t>
            </a:r>
          </a:p>
          <a:p>
            <a:r>
              <a:rPr lang="en-US" b="1" dirty="0"/>
              <a:t>Complexity: </a:t>
            </a:r>
            <a:r>
              <a:rPr lang="en-US" dirty="0"/>
              <a:t>The degree to which an innovation is perceived as difficult to understand or use.</a:t>
            </a:r>
          </a:p>
          <a:p>
            <a:r>
              <a:rPr lang="en-US" b="1" dirty="0"/>
              <a:t>Trialability: </a:t>
            </a:r>
            <a:r>
              <a:rPr lang="en-US" dirty="0"/>
              <a:t>The degree to which an innovation can be experimented with or tested before full adoption.</a:t>
            </a:r>
          </a:p>
          <a:p>
            <a:r>
              <a:rPr lang="en-US" b="1" dirty="0"/>
              <a:t>Observability: </a:t>
            </a:r>
            <a:r>
              <a:rPr lang="en-US" dirty="0"/>
              <a:t>The degree to which the results of an innovation are visible to others, which can influence adoption through social proof and word of mouth.</a:t>
            </a:r>
          </a:p>
        </p:txBody>
      </p:sp>
      <p:sp>
        <p:nvSpPr>
          <p:cNvPr id="5" name="Marcador de texto 4">
            <a:extLst>
              <a:ext uri="{FF2B5EF4-FFF2-40B4-BE49-F238E27FC236}">
                <a16:creationId xmlns:a16="http://schemas.microsoft.com/office/drawing/2014/main" id="{E69C5184-7B42-7A81-528E-CCD4E0E94C52}"/>
              </a:ext>
            </a:extLst>
          </p:cNvPr>
          <p:cNvSpPr>
            <a:spLocks noGrp="1"/>
          </p:cNvSpPr>
          <p:nvPr>
            <p:ph type="body" sz="quarter" idx="20"/>
          </p:nvPr>
        </p:nvSpPr>
        <p:spPr/>
        <p:txBody>
          <a:bodyPr/>
          <a:lstStyle/>
          <a:p>
            <a:r>
              <a:rPr lang="en-US" b="1" dirty="0"/>
              <a:t>New product development: </a:t>
            </a:r>
            <a:r>
              <a:rPr lang="en-US" dirty="0"/>
              <a:t>Identify potential barriers to adoption and design features that address each factor. For example, a product that is perceived to have a high relative advantage compared to existing solutions is more likely to be adopted, so the client could design a product that offers clear benefits to the customer.</a:t>
            </a:r>
          </a:p>
          <a:p>
            <a:r>
              <a:rPr lang="en-US" b="1" dirty="0"/>
              <a:t>Marketing strategy: </a:t>
            </a:r>
            <a:r>
              <a:rPr lang="en-US" dirty="0"/>
              <a:t>Identify the target audience and design messages that will resonate with them. By understanding the factors that influence adoption, the client can develop messaging that emphasizes the benefits of the product, addresses any perceived complexity, and highlights the social proof of others using the product.</a:t>
            </a:r>
          </a:p>
          <a:p>
            <a:r>
              <a:rPr lang="en-US" b="1" dirty="0"/>
              <a:t>Organizational change: </a:t>
            </a:r>
            <a:r>
              <a:rPr lang="en-US" dirty="0"/>
              <a:t>Understand potential resistance to change and design strategies to address it. For example, if employees perceive the change as too complex or incompatible with their current practices, the client could design training programs or pilot programs that allow employees to experiment with the change and see its benefits firsthand.</a:t>
            </a:r>
          </a:p>
          <a:p>
            <a:r>
              <a:rPr lang="en-US" b="1" dirty="0"/>
              <a:t>Technology adoption: </a:t>
            </a:r>
            <a:r>
              <a:rPr lang="en-US" dirty="0"/>
              <a:t>Identify factors that influence adoption by different segments of users. By understanding the different adoption rates and barriers among different segments, the client can design different strategies for each group to encourage adoption and maximize the technology's benefits.</a:t>
            </a:r>
          </a:p>
        </p:txBody>
      </p:sp>
      <p:sp>
        <p:nvSpPr>
          <p:cNvPr id="11" name="Marcador de pie de página 10">
            <a:extLst>
              <a:ext uri="{FF2B5EF4-FFF2-40B4-BE49-F238E27FC236}">
                <a16:creationId xmlns:a16="http://schemas.microsoft.com/office/drawing/2014/main" id="{D78BAAAF-7A04-886E-13DA-7E517326D813}"/>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8073054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to 11" hidden="1">
            <a:extLst>
              <a:ext uri="{FF2B5EF4-FFF2-40B4-BE49-F238E27FC236}">
                <a16:creationId xmlns:a16="http://schemas.microsoft.com/office/drawing/2014/main" id="{AF1F4B99-0E8C-C141-75F1-89564169DEEA}"/>
              </a:ext>
            </a:extLst>
          </p:cNvPr>
          <p:cNvGraphicFramePr>
            <a:graphicFrameLocks noChangeAspect="1"/>
          </p:cNvGraphicFramePr>
          <p:nvPr>
            <p:custDataLst>
              <p:tags r:id="rId1"/>
            </p:custDataLst>
            <p:extLst>
              <p:ext uri="{D42A27DB-BD31-4B8C-83A1-F6EECF244321}">
                <p14:modId xmlns:p14="http://schemas.microsoft.com/office/powerpoint/2010/main" val="3377272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Box 24">
            <a:extLst>
              <a:ext uri="{FF2B5EF4-FFF2-40B4-BE49-F238E27FC236}">
                <a16:creationId xmlns:a16="http://schemas.microsoft.com/office/drawing/2014/main" id="{4C28C76F-6DC7-7751-CDBC-F13FD5E2C9F0}"/>
              </a:ext>
            </a:extLst>
          </p:cNvPr>
          <p:cNvSpPr txBox="1"/>
          <p:nvPr/>
        </p:nvSpPr>
        <p:spPr>
          <a:xfrm>
            <a:off x="1790699" y="1152525"/>
            <a:ext cx="10013943" cy="960066"/>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Relative advantage</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 name="TextBox 24">
            <a:extLst>
              <a:ext uri="{FF2B5EF4-FFF2-40B4-BE49-F238E27FC236}">
                <a16:creationId xmlns:a16="http://schemas.microsoft.com/office/drawing/2014/main" id="{EA48FC72-6648-9B58-3D6B-0DE24F143E91}"/>
              </a:ext>
            </a:extLst>
          </p:cNvPr>
          <p:cNvSpPr txBox="1"/>
          <p:nvPr/>
        </p:nvSpPr>
        <p:spPr>
          <a:xfrm>
            <a:off x="1790699" y="2201559"/>
            <a:ext cx="10013943" cy="960066"/>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Compatibility</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5" name="TextBox 24">
            <a:extLst>
              <a:ext uri="{FF2B5EF4-FFF2-40B4-BE49-F238E27FC236}">
                <a16:creationId xmlns:a16="http://schemas.microsoft.com/office/drawing/2014/main" id="{23BEC6B0-CB37-42F6-E6F6-79A77714BC3F}"/>
              </a:ext>
            </a:extLst>
          </p:cNvPr>
          <p:cNvSpPr txBox="1"/>
          <p:nvPr/>
        </p:nvSpPr>
        <p:spPr>
          <a:xfrm>
            <a:off x="1790699" y="3250592"/>
            <a:ext cx="10013943" cy="960066"/>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Complexity</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6" name="TextBox 24">
            <a:extLst>
              <a:ext uri="{FF2B5EF4-FFF2-40B4-BE49-F238E27FC236}">
                <a16:creationId xmlns:a16="http://schemas.microsoft.com/office/drawing/2014/main" id="{305508F8-1FBE-BAC1-FB1A-5D8A1AD439B2}"/>
              </a:ext>
            </a:extLst>
          </p:cNvPr>
          <p:cNvSpPr txBox="1"/>
          <p:nvPr/>
        </p:nvSpPr>
        <p:spPr>
          <a:xfrm>
            <a:off x="1790699" y="4299626"/>
            <a:ext cx="10013943" cy="960066"/>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Trialability</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7182" name="TextBox 24">
            <a:extLst>
              <a:ext uri="{FF2B5EF4-FFF2-40B4-BE49-F238E27FC236}">
                <a16:creationId xmlns:a16="http://schemas.microsoft.com/office/drawing/2014/main" id="{30842C5E-35CB-3574-62C1-EBD55A806911}"/>
              </a:ext>
            </a:extLst>
          </p:cNvPr>
          <p:cNvSpPr txBox="1"/>
          <p:nvPr/>
        </p:nvSpPr>
        <p:spPr>
          <a:xfrm>
            <a:off x="1790699" y="5348659"/>
            <a:ext cx="10013943" cy="960066"/>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Observability</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vert="horz"/>
          <a:lstStyle/>
          <a:p>
            <a:r>
              <a:rPr lang="en-US" dirty="0"/>
              <a:t>Roger’s Five Factors — Template A</a:t>
            </a:r>
          </a:p>
        </p:txBody>
      </p:sp>
      <p:cxnSp>
        <p:nvCxnSpPr>
          <p:cNvPr id="7172" name="Conector recto 7171">
            <a:extLst>
              <a:ext uri="{FF2B5EF4-FFF2-40B4-BE49-F238E27FC236}">
                <a16:creationId xmlns:a16="http://schemas.microsoft.com/office/drawing/2014/main" id="{7DC547AA-A037-2692-1C5C-4D1911CDD0D6}"/>
              </a:ext>
            </a:extLst>
          </p:cNvPr>
          <p:cNvCxnSpPr>
            <a:cxnSpLocks/>
            <a:stCxn id="7179" idx="0"/>
            <a:endCxn id="7176" idx="4"/>
          </p:cNvCxnSpPr>
          <p:nvPr/>
        </p:nvCxnSpPr>
        <p:spPr>
          <a:xfrm flipV="1">
            <a:off x="1530351" y="1676071"/>
            <a:ext cx="0" cy="4109109"/>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176" name="Elipse 7175">
            <a:extLst>
              <a:ext uri="{FF2B5EF4-FFF2-40B4-BE49-F238E27FC236}">
                <a16:creationId xmlns:a16="http://schemas.microsoft.com/office/drawing/2014/main" id="{DF33301E-5042-8446-93DE-1C62BACAE8CB}"/>
              </a:ext>
            </a:extLst>
          </p:cNvPr>
          <p:cNvSpPr/>
          <p:nvPr/>
        </p:nvSpPr>
        <p:spPr>
          <a:xfrm>
            <a:off x="1486838" y="1589046"/>
            <a:ext cx="87025" cy="8702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77" name="Elipse 7176">
            <a:extLst>
              <a:ext uri="{FF2B5EF4-FFF2-40B4-BE49-F238E27FC236}">
                <a16:creationId xmlns:a16="http://schemas.microsoft.com/office/drawing/2014/main" id="{69C9C331-A0BD-0203-3501-3A9ECA628C50}"/>
              </a:ext>
            </a:extLst>
          </p:cNvPr>
          <p:cNvSpPr/>
          <p:nvPr/>
        </p:nvSpPr>
        <p:spPr>
          <a:xfrm>
            <a:off x="1486838" y="2638080"/>
            <a:ext cx="87025" cy="8702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78" name="Elipse 7177">
            <a:extLst>
              <a:ext uri="{FF2B5EF4-FFF2-40B4-BE49-F238E27FC236}">
                <a16:creationId xmlns:a16="http://schemas.microsoft.com/office/drawing/2014/main" id="{F34E3A25-600E-88F1-4DFE-F486145B77A8}"/>
              </a:ext>
            </a:extLst>
          </p:cNvPr>
          <p:cNvSpPr/>
          <p:nvPr/>
        </p:nvSpPr>
        <p:spPr>
          <a:xfrm>
            <a:off x="1486838" y="3687113"/>
            <a:ext cx="87025" cy="8702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79" name="Elipse 7178">
            <a:extLst>
              <a:ext uri="{FF2B5EF4-FFF2-40B4-BE49-F238E27FC236}">
                <a16:creationId xmlns:a16="http://schemas.microsoft.com/office/drawing/2014/main" id="{8D95C66B-8356-5B00-6ED9-822E73D0F35F}"/>
              </a:ext>
            </a:extLst>
          </p:cNvPr>
          <p:cNvSpPr/>
          <p:nvPr/>
        </p:nvSpPr>
        <p:spPr>
          <a:xfrm>
            <a:off x="1486838" y="5785180"/>
            <a:ext cx="87025" cy="8702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cxnSp>
        <p:nvCxnSpPr>
          <p:cNvPr id="7181" name="Conector recto 7180">
            <a:extLst>
              <a:ext uri="{FF2B5EF4-FFF2-40B4-BE49-F238E27FC236}">
                <a16:creationId xmlns:a16="http://schemas.microsoft.com/office/drawing/2014/main" id="{2BF6630B-87C7-D4DE-1D23-34ED632A57B3}"/>
              </a:ext>
            </a:extLst>
          </p:cNvPr>
          <p:cNvCxnSpPr>
            <a:cxnSpLocks/>
          </p:cNvCxnSpPr>
          <p:nvPr/>
        </p:nvCxnSpPr>
        <p:spPr>
          <a:xfrm flipH="1">
            <a:off x="1790699" y="2157075"/>
            <a:ext cx="1001394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84" name="Conector recto 7183">
            <a:extLst>
              <a:ext uri="{FF2B5EF4-FFF2-40B4-BE49-F238E27FC236}">
                <a16:creationId xmlns:a16="http://schemas.microsoft.com/office/drawing/2014/main" id="{D54CFEBB-B5C6-9E3F-96CE-7E12DFFF2601}"/>
              </a:ext>
            </a:extLst>
          </p:cNvPr>
          <p:cNvCxnSpPr>
            <a:cxnSpLocks/>
          </p:cNvCxnSpPr>
          <p:nvPr/>
        </p:nvCxnSpPr>
        <p:spPr>
          <a:xfrm flipH="1">
            <a:off x="1790699" y="3206108"/>
            <a:ext cx="1001394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85" name="Conector recto 7184">
            <a:extLst>
              <a:ext uri="{FF2B5EF4-FFF2-40B4-BE49-F238E27FC236}">
                <a16:creationId xmlns:a16="http://schemas.microsoft.com/office/drawing/2014/main" id="{C372AC22-8103-0012-F1BC-1A37DC220147}"/>
              </a:ext>
            </a:extLst>
          </p:cNvPr>
          <p:cNvCxnSpPr>
            <a:cxnSpLocks/>
          </p:cNvCxnSpPr>
          <p:nvPr/>
        </p:nvCxnSpPr>
        <p:spPr>
          <a:xfrm flipH="1">
            <a:off x="1790699" y="4255142"/>
            <a:ext cx="1001394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7170" name="Grupo 7169">
            <a:extLst>
              <a:ext uri="{FF2B5EF4-FFF2-40B4-BE49-F238E27FC236}">
                <a16:creationId xmlns:a16="http://schemas.microsoft.com/office/drawing/2014/main" id="{A3EC447C-5D41-E9A1-DB8C-0D0F41547C04}"/>
              </a:ext>
            </a:extLst>
          </p:cNvPr>
          <p:cNvGrpSpPr/>
          <p:nvPr/>
        </p:nvGrpSpPr>
        <p:grpSpPr>
          <a:xfrm>
            <a:off x="384174" y="1207758"/>
            <a:ext cx="999332" cy="849600"/>
            <a:chOff x="384174" y="1303631"/>
            <a:chExt cx="999332" cy="849600"/>
          </a:xfrm>
        </p:grpSpPr>
        <p:sp>
          <p:nvSpPr>
            <p:cNvPr id="13" name="Flecha: a la derecha 12">
              <a:extLst>
                <a:ext uri="{FF2B5EF4-FFF2-40B4-BE49-F238E27FC236}">
                  <a16:creationId xmlns:a16="http://schemas.microsoft.com/office/drawing/2014/main" id="{69355280-8A44-C597-33A9-F798B3D98382}"/>
                </a:ext>
              </a:extLst>
            </p:cNvPr>
            <p:cNvSpPr/>
            <p:nvPr/>
          </p:nvSpPr>
          <p:spPr>
            <a:xfrm>
              <a:off x="384174" y="1423487"/>
              <a:ext cx="999332" cy="609888"/>
            </a:xfrm>
            <a:prstGeom prst="rightArrow">
              <a:avLst/>
            </a:prstGeom>
            <a:gradFill>
              <a:gsLst>
                <a:gs pos="0">
                  <a:schemeClr val="bg1"/>
                </a:gs>
                <a:gs pos="100000">
                  <a:schemeClr val="bg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360000" tIns="0" rIns="0" bIns="0" rtlCol="0" anchor="ctr"/>
            <a:lstStyle/>
            <a:p>
              <a:endParaRPr lang="en-US" sz="1400" b="1" dirty="0">
                <a:solidFill>
                  <a:schemeClr val="tx2"/>
                </a:solidFill>
              </a:endParaRPr>
            </a:p>
          </p:txBody>
        </p:sp>
        <p:sp>
          <p:nvSpPr>
            <p:cNvPr id="14" name="Rectángulo 13">
              <a:extLst>
                <a:ext uri="{FF2B5EF4-FFF2-40B4-BE49-F238E27FC236}">
                  <a16:creationId xmlns:a16="http://schemas.microsoft.com/office/drawing/2014/main" id="{2C31D167-04DF-D387-A4E2-12CFEDC3ADA5}"/>
                </a:ext>
              </a:extLst>
            </p:cNvPr>
            <p:cNvSpPr/>
            <p:nvPr/>
          </p:nvSpPr>
          <p:spPr>
            <a:xfrm>
              <a:off x="384174" y="1620709"/>
              <a:ext cx="85328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r>
                <a:rPr lang="en-US" sz="1200" b="1" dirty="0">
                  <a:solidFill>
                    <a:schemeClr val="tx2"/>
                  </a:solidFill>
                </a:rPr>
                <a:t>Factor</a:t>
              </a:r>
              <a:r>
                <a:rPr lang="en-US" sz="1000" b="1" dirty="0">
                  <a:solidFill>
                    <a:schemeClr val="tx2"/>
                  </a:solidFill>
                </a:rPr>
                <a:t> </a:t>
              </a:r>
              <a:r>
                <a:rPr lang="en-US" sz="1400" b="1" dirty="0">
                  <a:solidFill>
                    <a:schemeClr val="tx2"/>
                  </a:solidFill>
                </a:rPr>
                <a:t>1</a:t>
              </a:r>
            </a:p>
          </p:txBody>
        </p:sp>
        <p:sp>
          <p:nvSpPr>
            <p:cNvPr id="10" name="Arco 9">
              <a:extLst>
                <a:ext uri="{FF2B5EF4-FFF2-40B4-BE49-F238E27FC236}">
                  <a16:creationId xmlns:a16="http://schemas.microsoft.com/office/drawing/2014/main" id="{50FBB7CF-1332-80A5-DAEA-ADBF9B2C6D18}"/>
                </a:ext>
              </a:extLst>
            </p:cNvPr>
            <p:cNvSpPr/>
            <p:nvPr/>
          </p:nvSpPr>
          <p:spPr>
            <a:xfrm>
              <a:off x="384174" y="1303631"/>
              <a:ext cx="849600" cy="849600"/>
            </a:xfrm>
            <a:prstGeom prst="arc">
              <a:avLst>
                <a:gd name="adj1" fmla="val 3386025"/>
                <a:gd name="adj2" fmla="val 18171512"/>
              </a:avLst>
            </a:prstGeom>
            <a:ln w="1905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0" name="Grupo 29">
            <a:extLst>
              <a:ext uri="{FF2B5EF4-FFF2-40B4-BE49-F238E27FC236}">
                <a16:creationId xmlns:a16="http://schemas.microsoft.com/office/drawing/2014/main" id="{A3201F32-573A-A744-657B-44929BF6DB37}"/>
              </a:ext>
            </a:extLst>
          </p:cNvPr>
          <p:cNvGrpSpPr/>
          <p:nvPr/>
        </p:nvGrpSpPr>
        <p:grpSpPr>
          <a:xfrm>
            <a:off x="384174" y="2256792"/>
            <a:ext cx="999332" cy="849600"/>
            <a:chOff x="384174" y="2638426"/>
            <a:chExt cx="999332" cy="849600"/>
          </a:xfrm>
        </p:grpSpPr>
        <p:sp>
          <p:nvSpPr>
            <p:cNvPr id="20" name="Flecha: a la derecha 19">
              <a:extLst>
                <a:ext uri="{FF2B5EF4-FFF2-40B4-BE49-F238E27FC236}">
                  <a16:creationId xmlns:a16="http://schemas.microsoft.com/office/drawing/2014/main" id="{4F6F5279-1E85-ACDE-CE58-B1C500DA8CB8}"/>
                </a:ext>
              </a:extLst>
            </p:cNvPr>
            <p:cNvSpPr/>
            <p:nvPr/>
          </p:nvSpPr>
          <p:spPr>
            <a:xfrm>
              <a:off x="384174" y="2758282"/>
              <a:ext cx="999332" cy="609888"/>
            </a:xfrm>
            <a:prstGeom prst="rightArrow">
              <a:avLst/>
            </a:prstGeom>
            <a:gradFill>
              <a:gsLst>
                <a:gs pos="0">
                  <a:schemeClr val="bg1"/>
                </a:gs>
                <a:gs pos="100000">
                  <a:schemeClr val="bg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360000" tIns="0" rIns="0" bIns="0" rtlCol="0" anchor="ctr"/>
            <a:lstStyle/>
            <a:p>
              <a:endParaRPr lang="en-US" sz="1400" b="1" dirty="0">
                <a:solidFill>
                  <a:schemeClr val="tx2"/>
                </a:solidFill>
              </a:endParaRPr>
            </a:p>
          </p:txBody>
        </p:sp>
        <p:sp>
          <p:nvSpPr>
            <p:cNvPr id="21" name="Rectángulo 20">
              <a:extLst>
                <a:ext uri="{FF2B5EF4-FFF2-40B4-BE49-F238E27FC236}">
                  <a16:creationId xmlns:a16="http://schemas.microsoft.com/office/drawing/2014/main" id="{86B1428C-6C05-BEB0-0F19-7BBAC4E769E7}"/>
                </a:ext>
              </a:extLst>
            </p:cNvPr>
            <p:cNvSpPr/>
            <p:nvPr/>
          </p:nvSpPr>
          <p:spPr>
            <a:xfrm>
              <a:off x="384174" y="2955504"/>
              <a:ext cx="853282"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r>
                <a:rPr lang="en-US" sz="1200" b="1" dirty="0">
                  <a:solidFill>
                    <a:schemeClr val="tx2"/>
                  </a:solidFill>
                </a:rPr>
                <a:t>Factor</a:t>
              </a:r>
              <a:r>
                <a:rPr lang="en-US" sz="1000" b="1" dirty="0">
                  <a:solidFill>
                    <a:schemeClr val="tx2"/>
                  </a:solidFill>
                </a:rPr>
                <a:t> </a:t>
              </a:r>
              <a:r>
                <a:rPr lang="en-US" sz="1400" b="1" dirty="0">
                  <a:solidFill>
                    <a:schemeClr val="tx2"/>
                  </a:solidFill>
                </a:rPr>
                <a:t>2</a:t>
              </a:r>
            </a:p>
          </p:txBody>
        </p:sp>
        <p:sp>
          <p:nvSpPr>
            <p:cNvPr id="19" name="Arco 18">
              <a:extLst>
                <a:ext uri="{FF2B5EF4-FFF2-40B4-BE49-F238E27FC236}">
                  <a16:creationId xmlns:a16="http://schemas.microsoft.com/office/drawing/2014/main" id="{121585D9-A08A-1C9A-CD1B-849B59A7D0C8}"/>
                </a:ext>
              </a:extLst>
            </p:cNvPr>
            <p:cNvSpPr/>
            <p:nvPr/>
          </p:nvSpPr>
          <p:spPr>
            <a:xfrm>
              <a:off x="384174" y="2638426"/>
              <a:ext cx="849600" cy="849600"/>
            </a:xfrm>
            <a:prstGeom prst="arc">
              <a:avLst>
                <a:gd name="adj1" fmla="val 3386025"/>
                <a:gd name="adj2" fmla="val 18171512"/>
              </a:avLst>
            </a:prstGeom>
            <a:ln w="1905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6" name="Grupo 25">
            <a:extLst>
              <a:ext uri="{FF2B5EF4-FFF2-40B4-BE49-F238E27FC236}">
                <a16:creationId xmlns:a16="http://schemas.microsoft.com/office/drawing/2014/main" id="{75D3E56B-C0B3-0BC1-632C-498D0A375B39}"/>
              </a:ext>
            </a:extLst>
          </p:cNvPr>
          <p:cNvGrpSpPr/>
          <p:nvPr/>
        </p:nvGrpSpPr>
        <p:grpSpPr>
          <a:xfrm>
            <a:off x="371475" y="3305825"/>
            <a:ext cx="1012031" cy="849600"/>
            <a:chOff x="371475" y="3973222"/>
            <a:chExt cx="1012031" cy="849600"/>
          </a:xfrm>
        </p:grpSpPr>
        <p:sp>
          <p:nvSpPr>
            <p:cNvPr id="24" name="Flecha: a la derecha 23">
              <a:extLst>
                <a:ext uri="{FF2B5EF4-FFF2-40B4-BE49-F238E27FC236}">
                  <a16:creationId xmlns:a16="http://schemas.microsoft.com/office/drawing/2014/main" id="{65199EEA-30DD-33A9-A185-862BED69A53F}"/>
                </a:ext>
              </a:extLst>
            </p:cNvPr>
            <p:cNvSpPr/>
            <p:nvPr/>
          </p:nvSpPr>
          <p:spPr>
            <a:xfrm>
              <a:off x="384174" y="4093078"/>
              <a:ext cx="999332" cy="609888"/>
            </a:xfrm>
            <a:prstGeom prst="rightArrow">
              <a:avLst/>
            </a:prstGeom>
            <a:gradFill>
              <a:gsLst>
                <a:gs pos="0">
                  <a:schemeClr val="bg1"/>
                </a:gs>
                <a:gs pos="100000">
                  <a:schemeClr val="bg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360000" tIns="0" rIns="0" bIns="0" rtlCol="0" anchor="ctr"/>
            <a:lstStyle/>
            <a:p>
              <a:endParaRPr lang="en-US" sz="1400" b="1" dirty="0">
                <a:solidFill>
                  <a:schemeClr val="tx2"/>
                </a:solidFill>
              </a:endParaRPr>
            </a:p>
          </p:txBody>
        </p:sp>
        <p:sp>
          <p:nvSpPr>
            <p:cNvPr id="25" name="Rectángulo 24">
              <a:extLst>
                <a:ext uri="{FF2B5EF4-FFF2-40B4-BE49-F238E27FC236}">
                  <a16:creationId xmlns:a16="http://schemas.microsoft.com/office/drawing/2014/main" id="{809421B6-C45A-9064-818D-2DF780B0ED36}"/>
                </a:ext>
              </a:extLst>
            </p:cNvPr>
            <p:cNvSpPr/>
            <p:nvPr/>
          </p:nvSpPr>
          <p:spPr>
            <a:xfrm>
              <a:off x="371475" y="4290300"/>
              <a:ext cx="865981"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r>
                <a:rPr lang="en-US" sz="1200" b="1" dirty="0">
                  <a:solidFill>
                    <a:schemeClr val="tx2"/>
                  </a:solidFill>
                </a:rPr>
                <a:t>Factor</a:t>
              </a:r>
              <a:r>
                <a:rPr lang="en-US" sz="1000" b="1" dirty="0">
                  <a:solidFill>
                    <a:schemeClr val="tx2"/>
                  </a:solidFill>
                </a:rPr>
                <a:t> </a:t>
              </a:r>
              <a:r>
                <a:rPr lang="en-US" sz="1400" b="1" dirty="0">
                  <a:solidFill>
                    <a:schemeClr val="tx2"/>
                  </a:solidFill>
                </a:rPr>
                <a:t>3</a:t>
              </a:r>
            </a:p>
          </p:txBody>
        </p:sp>
        <p:sp>
          <p:nvSpPr>
            <p:cNvPr id="23" name="Arco 22">
              <a:extLst>
                <a:ext uri="{FF2B5EF4-FFF2-40B4-BE49-F238E27FC236}">
                  <a16:creationId xmlns:a16="http://schemas.microsoft.com/office/drawing/2014/main" id="{0CBC6A70-B68C-FF17-EA27-EA2AFA854CC4}"/>
                </a:ext>
              </a:extLst>
            </p:cNvPr>
            <p:cNvSpPr/>
            <p:nvPr/>
          </p:nvSpPr>
          <p:spPr>
            <a:xfrm>
              <a:off x="384174" y="3973222"/>
              <a:ext cx="849600" cy="849600"/>
            </a:xfrm>
            <a:prstGeom prst="arc">
              <a:avLst>
                <a:gd name="adj1" fmla="val 3386025"/>
                <a:gd name="adj2" fmla="val 18171512"/>
              </a:avLst>
            </a:prstGeom>
            <a:ln w="1905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2" name="Grupo 21">
            <a:extLst>
              <a:ext uri="{FF2B5EF4-FFF2-40B4-BE49-F238E27FC236}">
                <a16:creationId xmlns:a16="http://schemas.microsoft.com/office/drawing/2014/main" id="{083184AB-31C2-0413-8119-5679E130C007}"/>
              </a:ext>
            </a:extLst>
          </p:cNvPr>
          <p:cNvGrpSpPr/>
          <p:nvPr/>
        </p:nvGrpSpPr>
        <p:grpSpPr>
          <a:xfrm>
            <a:off x="371475" y="4354859"/>
            <a:ext cx="1012031" cy="849600"/>
            <a:chOff x="371475" y="5308017"/>
            <a:chExt cx="1012031" cy="849600"/>
          </a:xfrm>
        </p:grpSpPr>
        <p:sp>
          <p:nvSpPr>
            <p:cNvPr id="28" name="Flecha: a la derecha 27">
              <a:extLst>
                <a:ext uri="{FF2B5EF4-FFF2-40B4-BE49-F238E27FC236}">
                  <a16:creationId xmlns:a16="http://schemas.microsoft.com/office/drawing/2014/main" id="{D1AFB5C4-7465-9DE4-2E04-259C25340C03}"/>
                </a:ext>
              </a:extLst>
            </p:cNvPr>
            <p:cNvSpPr/>
            <p:nvPr/>
          </p:nvSpPr>
          <p:spPr>
            <a:xfrm>
              <a:off x="384174" y="5427873"/>
              <a:ext cx="999332" cy="609888"/>
            </a:xfrm>
            <a:prstGeom prst="rightArrow">
              <a:avLst/>
            </a:prstGeom>
            <a:gradFill>
              <a:gsLst>
                <a:gs pos="0">
                  <a:schemeClr val="bg1"/>
                </a:gs>
                <a:gs pos="100000">
                  <a:schemeClr val="bg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360000" tIns="0" rIns="0" bIns="0" rtlCol="0" anchor="ctr"/>
            <a:lstStyle/>
            <a:p>
              <a:endParaRPr lang="en-US" sz="1400" b="1" dirty="0">
                <a:solidFill>
                  <a:schemeClr val="tx2"/>
                </a:solidFill>
              </a:endParaRPr>
            </a:p>
          </p:txBody>
        </p:sp>
        <p:sp>
          <p:nvSpPr>
            <p:cNvPr id="29" name="Rectángulo 28">
              <a:extLst>
                <a:ext uri="{FF2B5EF4-FFF2-40B4-BE49-F238E27FC236}">
                  <a16:creationId xmlns:a16="http://schemas.microsoft.com/office/drawing/2014/main" id="{AC2D85E5-5817-A9EF-6BB9-D182715E34A8}"/>
                </a:ext>
              </a:extLst>
            </p:cNvPr>
            <p:cNvSpPr/>
            <p:nvPr/>
          </p:nvSpPr>
          <p:spPr>
            <a:xfrm>
              <a:off x="371475" y="5625095"/>
              <a:ext cx="865981"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r>
                <a:rPr lang="en-US" sz="1200" b="1" dirty="0">
                  <a:solidFill>
                    <a:schemeClr val="tx2"/>
                  </a:solidFill>
                </a:rPr>
                <a:t>Factor</a:t>
              </a:r>
              <a:r>
                <a:rPr lang="en-US" sz="1000" b="1" dirty="0">
                  <a:solidFill>
                    <a:schemeClr val="tx2"/>
                  </a:solidFill>
                </a:rPr>
                <a:t> </a:t>
              </a:r>
              <a:r>
                <a:rPr lang="en-US" sz="1400" b="1" dirty="0">
                  <a:solidFill>
                    <a:schemeClr val="tx2"/>
                  </a:solidFill>
                </a:rPr>
                <a:t>4</a:t>
              </a:r>
            </a:p>
          </p:txBody>
        </p:sp>
        <p:sp>
          <p:nvSpPr>
            <p:cNvPr id="27" name="Arco 26">
              <a:extLst>
                <a:ext uri="{FF2B5EF4-FFF2-40B4-BE49-F238E27FC236}">
                  <a16:creationId xmlns:a16="http://schemas.microsoft.com/office/drawing/2014/main" id="{C23CAC30-A0C6-034A-62CA-FF65A5CA194C}"/>
                </a:ext>
              </a:extLst>
            </p:cNvPr>
            <p:cNvSpPr/>
            <p:nvPr/>
          </p:nvSpPr>
          <p:spPr>
            <a:xfrm>
              <a:off x="384174" y="5308017"/>
              <a:ext cx="849600" cy="849600"/>
            </a:xfrm>
            <a:prstGeom prst="arc">
              <a:avLst>
                <a:gd name="adj1" fmla="val 3386025"/>
                <a:gd name="adj2" fmla="val 18171512"/>
              </a:avLst>
            </a:prstGeom>
            <a:ln w="1905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7171" name="Grupo 7170">
            <a:extLst>
              <a:ext uri="{FF2B5EF4-FFF2-40B4-BE49-F238E27FC236}">
                <a16:creationId xmlns:a16="http://schemas.microsoft.com/office/drawing/2014/main" id="{1D6C83C4-ECA9-E602-FEA5-E2EEF22C2AAB}"/>
              </a:ext>
            </a:extLst>
          </p:cNvPr>
          <p:cNvGrpSpPr/>
          <p:nvPr/>
        </p:nvGrpSpPr>
        <p:grpSpPr>
          <a:xfrm>
            <a:off x="371475" y="5403892"/>
            <a:ext cx="1012031" cy="849600"/>
            <a:chOff x="371475" y="5308017"/>
            <a:chExt cx="1012031" cy="849600"/>
          </a:xfrm>
        </p:grpSpPr>
        <p:sp>
          <p:nvSpPr>
            <p:cNvPr id="7173" name="Flecha: a la derecha 7172">
              <a:extLst>
                <a:ext uri="{FF2B5EF4-FFF2-40B4-BE49-F238E27FC236}">
                  <a16:creationId xmlns:a16="http://schemas.microsoft.com/office/drawing/2014/main" id="{F617A40E-EA42-21EB-F431-9B6C843C5812}"/>
                </a:ext>
              </a:extLst>
            </p:cNvPr>
            <p:cNvSpPr/>
            <p:nvPr/>
          </p:nvSpPr>
          <p:spPr>
            <a:xfrm>
              <a:off x="384174" y="5427873"/>
              <a:ext cx="999332" cy="609888"/>
            </a:xfrm>
            <a:prstGeom prst="rightArrow">
              <a:avLst/>
            </a:prstGeom>
            <a:gradFill>
              <a:gsLst>
                <a:gs pos="0">
                  <a:schemeClr val="bg1"/>
                </a:gs>
                <a:gs pos="100000">
                  <a:schemeClr val="bg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360000" tIns="0" rIns="0" bIns="0" rtlCol="0" anchor="ctr"/>
            <a:lstStyle/>
            <a:p>
              <a:endParaRPr lang="en-US" sz="1400" b="1" dirty="0">
                <a:solidFill>
                  <a:schemeClr val="tx2"/>
                </a:solidFill>
              </a:endParaRPr>
            </a:p>
          </p:txBody>
        </p:sp>
        <p:sp>
          <p:nvSpPr>
            <p:cNvPr id="7174" name="Rectángulo 7173">
              <a:extLst>
                <a:ext uri="{FF2B5EF4-FFF2-40B4-BE49-F238E27FC236}">
                  <a16:creationId xmlns:a16="http://schemas.microsoft.com/office/drawing/2014/main" id="{B82F3586-9CA7-5821-2736-9DC53C44E5CE}"/>
                </a:ext>
              </a:extLst>
            </p:cNvPr>
            <p:cNvSpPr/>
            <p:nvPr/>
          </p:nvSpPr>
          <p:spPr>
            <a:xfrm>
              <a:off x="371475" y="5625095"/>
              <a:ext cx="865981"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r>
                <a:rPr lang="en-US" sz="1200" b="1" dirty="0">
                  <a:solidFill>
                    <a:schemeClr val="tx2"/>
                  </a:solidFill>
                </a:rPr>
                <a:t>Factor</a:t>
              </a:r>
              <a:r>
                <a:rPr lang="en-US" sz="1000" b="1" dirty="0">
                  <a:solidFill>
                    <a:schemeClr val="tx2"/>
                  </a:solidFill>
                </a:rPr>
                <a:t> </a:t>
              </a:r>
              <a:r>
                <a:rPr lang="en-US" sz="1400" b="1" dirty="0">
                  <a:solidFill>
                    <a:schemeClr val="tx2"/>
                  </a:solidFill>
                </a:rPr>
                <a:t>5</a:t>
              </a:r>
            </a:p>
          </p:txBody>
        </p:sp>
        <p:sp>
          <p:nvSpPr>
            <p:cNvPr id="7175" name="Arco 7174">
              <a:extLst>
                <a:ext uri="{FF2B5EF4-FFF2-40B4-BE49-F238E27FC236}">
                  <a16:creationId xmlns:a16="http://schemas.microsoft.com/office/drawing/2014/main" id="{09DC4C34-1E20-6E29-8125-B8F60495A5EE}"/>
                </a:ext>
              </a:extLst>
            </p:cNvPr>
            <p:cNvSpPr/>
            <p:nvPr/>
          </p:nvSpPr>
          <p:spPr>
            <a:xfrm>
              <a:off x="384174" y="5308017"/>
              <a:ext cx="849600" cy="849600"/>
            </a:xfrm>
            <a:prstGeom prst="arc">
              <a:avLst>
                <a:gd name="adj1" fmla="val 3386025"/>
                <a:gd name="adj2" fmla="val 18171512"/>
              </a:avLst>
            </a:prstGeom>
            <a:ln w="1905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cxnSp>
        <p:nvCxnSpPr>
          <p:cNvPr id="7193" name="Conector recto 7192">
            <a:extLst>
              <a:ext uri="{FF2B5EF4-FFF2-40B4-BE49-F238E27FC236}">
                <a16:creationId xmlns:a16="http://schemas.microsoft.com/office/drawing/2014/main" id="{AF6A0337-65E7-CC24-D62A-E00A3F97C373}"/>
              </a:ext>
            </a:extLst>
          </p:cNvPr>
          <p:cNvCxnSpPr>
            <a:cxnSpLocks/>
          </p:cNvCxnSpPr>
          <p:nvPr/>
        </p:nvCxnSpPr>
        <p:spPr>
          <a:xfrm flipH="1">
            <a:off x="1790699" y="5304176"/>
            <a:ext cx="1001394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197" name="Elipse 7196">
            <a:extLst>
              <a:ext uri="{FF2B5EF4-FFF2-40B4-BE49-F238E27FC236}">
                <a16:creationId xmlns:a16="http://schemas.microsoft.com/office/drawing/2014/main" id="{6398BDF0-3597-308E-D591-95B82200B085}"/>
              </a:ext>
            </a:extLst>
          </p:cNvPr>
          <p:cNvSpPr/>
          <p:nvPr/>
        </p:nvSpPr>
        <p:spPr>
          <a:xfrm>
            <a:off x="1486838" y="4736147"/>
            <a:ext cx="87025" cy="8702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7198" name="Marcador de pie de página 7197">
            <a:extLst>
              <a:ext uri="{FF2B5EF4-FFF2-40B4-BE49-F238E27FC236}">
                <a16:creationId xmlns:a16="http://schemas.microsoft.com/office/drawing/2014/main" id="{E5644D25-D5FF-3DAF-DF5A-B029A07656E5}"/>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1224728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a:lstStyle/>
          <a:p>
            <a:r>
              <a:rPr lang="en-US" dirty="0"/>
              <a:t>Roger’s Five Factors — Template B</a:t>
            </a:r>
          </a:p>
        </p:txBody>
      </p:sp>
      <p:sp>
        <p:nvSpPr>
          <p:cNvPr id="2" name="Elipse 1">
            <a:extLst>
              <a:ext uri="{FF2B5EF4-FFF2-40B4-BE49-F238E27FC236}">
                <a16:creationId xmlns:a16="http://schemas.microsoft.com/office/drawing/2014/main" id="{59747310-805C-1343-8CB5-9B9D9AA3EE6C}"/>
              </a:ext>
            </a:extLst>
          </p:cNvPr>
          <p:cNvSpPr/>
          <p:nvPr/>
        </p:nvSpPr>
        <p:spPr>
          <a:xfrm>
            <a:off x="4364636" y="2183411"/>
            <a:ext cx="3462728" cy="3462728"/>
          </a:xfrm>
          <a:prstGeom prst="ellipse">
            <a:avLst/>
          </a:prstGeom>
          <a:solidFill>
            <a:schemeClr val="bg1">
              <a:lumMod val="95000"/>
            </a:schemeClr>
          </a:solid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cxnSp>
        <p:nvCxnSpPr>
          <p:cNvPr id="4" name="Conector recto 3">
            <a:extLst>
              <a:ext uri="{FF2B5EF4-FFF2-40B4-BE49-F238E27FC236}">
                <a16:creationId xmlns:a16="http://schemas.microsoft.com/office/drawing/2014/main" id="{092C4BE3-D2DB-1B85-0732-FFF449D8C9B7}"/>
              </a:ext>
            </a:extLst>
          </p:cNvPr>
          <p:cNvCxnSpPr>
            <a:cxnSpLocks/>
          </p:cNvCxnSpPr>
          <p:nvPr/>
        </p:nvCxnSpPr>
        <p:spPr>
          <a:xfrm flipV="1">
            <a:off x="6096000" y="2183411"/>
            <a:ext cx="0" cy="1726602"/>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Conector recto 4">
            <a:extLst>
              <a:ext uri="{FF2B5EF4-FFF2-40B4-BE49-F238E27FC236}">
                <a16:creationId xmlns:a16="http://schemas.microsoft.com/office/drawing/2014/main" id="{07713E2B-AF02-B355-ADCF-BA4C4FBF5A8F}"/>
              </a:ext>
            </a:extLst>
          </p:cNvPr>
          <p:cNvCxnSpPr>
            <a:cxnSpLocks/>
          </p:cNvCxnSpPr>
          <p:nvPr/>
        </p:nvCxnSpPr>
        <p:spPr>
          <a:xfrm flipH="1" flipV="1">
            <a:off x="4454525" y="3381375"/>
            <a:ext cx="1641475" cy="52863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FC89D183-4CB5-2FEF-C0F3-CC16FF340CB8}"/>
              </a:ext>
            </a:extLst>
          </p:cNvPr>
          <p:cNvCxnSpPr>
            <a:cxnSpLocks/>
          </p:cNvCxnSpPr>
          <p:nvPr/>
        </p:nvCxnSpPr>
        <p:spPr>
          <a:xfrm flipH="1">
            <a:off x="6096000" y="3381375"/>
            <a:ext cx="1641475" cy="52863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FE81B493-E3E5-2BBB-F29E-57B9EDEE79CE}"/>
              </a:ext>
            </a:extLst>
          </p:cNvPr>
          <p:cNvCxnSpPr>
            <a:cxnSpLocks/>
          </p:cNvCxnSpPr>
          <p:nvPr/>
        </p:nvCxnSpPr>
        <p:spPr>
          <a:xfrm flipH="1" flipV="1">
            <a:off x="6096000" y="3910013"/>
            <a:ext cx="1012031" cy="140017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9F13E3C7-29EF-03BB-8390-033E1A425924}"/>
              </a:ext>
            </a:extLst>
          </p:cNvPr>
          <p:cNvCxnSpPr>
            <a:cxnSpLocks/>
          </p:cNvCxnSpPr>
          <p:nvPr/>
        </p:nvCxnSpPr>
        <p:spPr>
          <a:xfrm flipH="1">
            <a:off x="5083969" y="3910013"/>
            <a:ext cx="1012031" cy="140017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Elipse 8">
            <a:extLst>
              <a:ext uri="{FF2B5EF4-FFF2-40B4-BE49-F238E27FC236}">
                <a16:creationId xmlns:a16="http://schemas.microsoft.com/office/drawing/2014/main" id="{214050A1-C98A-C9CF-120F-327F0A6AC3A8}"/>
              </a:ext>
            </a:extLst>
          </p:cNvPr>
          <p:cNvSpPr/>
          <p:nvPr/>
        </p:nvSpPr>
        <p:spPr>
          <a:xfrm>
            <a:off x="4905375" y="2324100"/>
            <a:ext cx="409575" cy="40957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t>1</a:t>
            </a:r>
          </a:p>
        </p:txBody>
      </p:sp>
      <p:sp>
        <p:nvSpPr>
          <p:cNvPr id="10" name="Elipse 9">
            <a:extLst>
              <a:ext uri="{FF2B5EF4-FFF2-40B4-BE49-F238E27FC236}">
                <a16:creationId xmlns:a16="http://schemas.microsoft.com/office/drawing/2014/main" id="{1E811B90-C583-13F4-B969-1371A60C2A3B}"/>
              </a:ext>
            </a:extLst>
          </p:cNvPr>
          <p:cNvSpPr/>
          <p:nvPr/>
        </p:nvSpPr>
        <p:spPr>
          <a:xfrm>
            <a:off x="6877051" y="2309169"/>
            <a:ext cx="409575" cy="40957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t>2</a:t>
            </a:r>
          </a:p>
        </p:txBody>
      </p:sp>
      <p:sp>
        <p:nvSpPr>
          <p:cNvPr id="11" name="Elipse 10">
            <a:extLst>
              <a:ext uri="{FF2B5EF4-FFF2-40B4-BE49-F238E27FC236}">
                <a16:creationId xmlns:a16="http://schemas.microsoft.com/office/drawing/2014/main" id="{3CE9B542-002B-4E69-8CBE-447C7A633CA1}"/>
              </a:ext>
            </a:extLst>
          </p:cNvPr>
          <p:cNvSpPr/>
          <p:nvPr/>
        </p:nvSpPr>
        <p:spPr>
          <a:xfrm>
            <a:off x="4232376" y="4148782"/>
            <a:ext cx="409575" cy="40957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t>5</a:t>
            </a:r>
          </a:p>
        </p:txBody>
      </p:sp>
      <p:sp>
        <p:nvSpPr>
          <p:cNvPr id="12" name="Elipse 11">
            <a:extLst>
              <a:ext uri="{FF2B5EF4-FFF2-40B4-BE49-F238E27FC236}">
                <a16:creationId xmlns:a16="http://schemas.microsoft.com/office/drawing/2014/main" id="{589F3870-36C7-9C83-34FE-5F37F265FA6B}"/>
              </a:ext>
            </a:extLst>
          </p:cNvPr>
          <p:cNvSpPr/>
          <p:nvPr/>
        </p:nvSpPr>
        <p:spPr>
          <a:xfrm>
            <a:off x="7558481" y="4148782"/>
            <a:ext cx="409575" cy="40957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t>3</a:t>
            </a:r>
          </a:p>
        </p:txBody>
      </p:sp>
      <p:sp>
        <p:nvSpPr>
          <p:cNvPr id="13" name="Elipse 12">
            <a:extLst>
              <a:ext uri="{FF2B5EF4-FFF2-40B4-BE49-F238E27FC236}">
                <a16:creationId xmlns:a16="http://schemas.microsoft.com/office/drawing/2014/main" id="{3E1C50E7-661D-16E6-6DC9-E496A7FA675A}"/>
              </a:ext>
            </a:extLst>
          </p:cNvPr>
          <p:cNvSpPr/>
          <p:nvPr/>
        </p:nvSpPr>
        <p:spPr>
          <a:xfrm>
            <a:off x="5891213" y="5441351"/>
            <a:ext cx="409575" cy="40957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t>4</a:t>
            </a:r>
          </a:p>
        </p:txBody>
      </p:sp>
      <p:sp>
        <p:nvSpPr>
          <p:cNvPr id="14" name="TextBox 24">
            <a:extLst>
              <a:ext uri="{FF2B5EF4-FFF2-40B4-BE49-F238E27FC236}">
                <a16:creationId xmlns:a16="http://schemas.microsoft.com/office/drawing/2014/main" id="{3FCB55E9-D11E-5D06-368E-8B05E68F5E6C}"/>
              </a:ext>
            </a:extLst>
          </p:cNvPr>
          <p:cNvSpPr txBox="1"/>
          <p:nvPr/>
        </p:nvSpPr>
        <p:spPr>
          <a:xfrm>
            <a:off x="371475" y="2055820"/>
            <a:ext cx="4260848" cy="849602"/>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Relative advantage</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5" name="TextBox 24">
            <a:extLst>
              <a:ext uri="{FF2B5EF4-FFF2-40B4-BE49-F238E27FC236}">
                <a16:creationId xmlns:a16="http://schemas.microsoft.com/office/drawing/2014/main" id="{A0F615CA-C0EE-4839-E78E-97F61217ED49}"/>
              </a:ext>
            </a:extLst>
          </p:cNvPr>
          <p:cNvSpPr txBox="1"/>
          <p:nvPr/>
        </p:nvSpPr>
        <p:spPr>
          <a:xfrm>
            <a:off x="7559676" y="2055820"/>
            <a:ext cx="4260848" cy="849602"/>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Compatibility</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6" name="TextBox 24">
            <a:extLst>
              <a:ext uri="{FF2B5EF4-FFF2-40B4-BE49-F238E27FC236}">
                <a16:creationId xmlns:a16="http://schemas.microsoft.com/office/drawing/2014/main" id="{3423D9DA-B78A-9B68-B147-FD72509C058E}"/>
              </a:ext>
            </a:extLst>
          </p:cNvPr>
          <p:cNvSpPr txBox="1"/>
          <p:nvPr/>
        </p:nvSpPr>
        <p:spPr>
          <a:xfrm>
            <a:off x="8024220" y="3944379"/>
            <a:ext cx="3796305" cy="849602"/>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Complexity</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7" name="TextBox 24">
            <a:extLst>
              <a:ext uri="{FF2B5EF4-FFF2-40B4-BE49-F238E27FC236}">
                <a16:creationId xmlns:a16="http://schemas.microsoft.com/office/drawing/2014/main" id="{65F887AC-8B81-D9C7-7696-F14B6F785601}"/>
              </a:ext>
            </a:extLst>
          </p:cNvPr>
          <p:cNvSpPr txBox="1"/>
          <p:nvPr/>
        </p:nvSpPr>
        <p:spPr>
          <a:xfrm>
            <a:off x="6780208" y="5451222"/>
            <a:ext cx="5040316" cy="849602"/>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Trialability</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8" name="TextBox 24">
            <a:extLst>
              <a:ext uri="{FF2B5EF4-FFF2-40B4-BE49-F238E27FC236}">
                <a16:creationId xmlns:a16="http://schemas.microsoft.com/office/drawing/2014/main" id="{4084EEE2-E6B7-93DC-A877-4A01214E6740}"/>
              </a:ext>
            </a:extLst>
          </p:cNvPr>
          <p:cNvSpPr txBox="1"/>
          <p:nvPr/>
        </p:nvSpPr>
        <p:spPr>
          <a:xfrm>
            <a:off x="371475" y="3922713"/>
            <a:ext cx="3819325" cy="849602"/>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Observability</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Lorem ipsum dolor sit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amet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consectetur</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adipiscing</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r>
              <a:rPr lang="en-US" sz="1200" dirty="0" err="1">
                <a:latin typeface="Verdana"/>
                <a:ea typeface="Verdana" panose="020B0604030504040204" pitchFamily="34" charset="0"/>
                <a:cs typeface="Verdana" panose="020B0604030504040204" pitchFamily="34" charset="0"/>
                <a:sym typeface="Verdana" panose="020B0604030504040204" pitchFamily="34" charset="0"/>
              </a:rPr>
              <a:t>elit</a:t>
            </a:r>
            <a:r>
              <a:rPr lang="en-US" sz="1200" dirty="0">
                <a:latin typeface="Verdana"/>
                <a:ea typeface="Verdana" panose="020B0604030504040204" pitchFamily="34" charset="0"/>
                <a:cs typeface="Verdana" panose="020B0604030504040204" pitchFamily="34" charset="0"/>
                <a:sym typeface="Verdana" panose="020B0604030504040204" pitchFamily="34" charset="0"/>
              </a:rPr>
              <a:t>. </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grpSp>
        <p:nvGrpSpPr>
          <p:cNvPr id="19" name="Group 60">
            <a:extLst>
              <a:ext uri="{FF2B5EF4-FFF2-40B4-BE49-F238E27FC236}">
                <a16:creationId xmlns:a16="http://schemas.microsoft.com/office/drawing/2014/main" id="{26739A94-E780-64B6-E7EB-EA8379F8964F}"/>
              </a:ext>
            </a:extLst>
          </p:cNvPr>
          <p:cNvGrpSpPr>
            <a:grpSpLocks noChangeAspect="1"/>
          </p:cNvGrpSpPr>
          <p:nvPr/>
        </p:nvGrpSpPr>
        <p:grpSpPr bwMode="auto">
          <a:xfrm>
            <a:off x="5187956" y="2811333"/>
            <a:ext cx="568366" cy="505804"/>
            <a:chOff x="4479" y="1744"/>
            <a:chExt cx="427" cy="380"/>
          </a:xfrm>
          <a:solidFill>
            <a:schemeClr val="tx2"/>
          </a:solidFill>
        </p:grpSpPr>
        <p:sp>
          <p:nvSpPr>
            <p:cNvPr id="20" name="Freeform 61">
              <a:extLst>
                <a:ext uri="{FF2B5EF4-FFF2-40B4-BE49-F238E27FC236}">
                  <a16:creationId xmlns:a16="http://schemas.microsoft.com/office/drawing/2014/main" id="{0C014CF2-62B1-9CF8-EE0C-620D9AFD0220}"/>
                </a:ext>
              </a:extLst>
            </p:cNvPr>
            <p:cNvSpPr>
              <a:spLocks noEditPoints="1"/>
            </p:cNvSpPr>
            <p:nvPr/>
          </p:nvSpPr>
          <p:spPr bwMode="auto">
            <a:xfrm>
              <a:off x="4568" y="1744"/>
              <a:ext cx="338" cy="362"/>
            </a:xfrm>
            <a:custGeom>
              <a:avLst/>
              <a:gdLst>
                <a:gd name="T0" fmla="*/ 168 w 228"/>
                <a:gd name="T1" fmla="*/ 245 h 245"/>
                <a:gd name="T2" fmla="*/ 90 w 228"/>
                <a:gd name="T3" fmla="*/ 245 h 245"/>
                <a:gd name="T4" fmla="*/ 41 w 228"/>
                <a:gd name="T5" fmla="*/ 239 h 245"/>
                <a:gd name="T6" fmla="*/ 5 w 228"/>
                <a:gd name="T7" fmla="*/ 233 h 245"/>
                <a:gd name="T8" fmla="*/ 0 w 228"/>
                <a:gd name="T9" fmla="*/ 227 h 245"/>
                <a:gd name="T10" fmla="*/ 0 w 228"/>
                <a:gd name="T11" fmla="*/ 125 h 245"/>
                <a:gd name="T12" fmla="*/ 6 w 228"/>
                <a:gd name="T13" fmla="*/ 119 h 245"/>
                <a:gd name="T14" fmla="*/ 78 w 228"/>
                <a:gd name="T15" fmla="*/ 23 h 245"/>
                <a:gd name="T16" fmla="*/ 95 w 228"/>
                <a:gd name="T17" fmla="*/ 1 h 245"/>
                <a:gd name="T18" fmla="*/ 126 w 228"/>
                <a:gd name="T19" fmla="*/ 30 h 245"/>
                <a:gd name="T20" fmla="*/ 117 w 228"/>
                <a:gd name="T21" fmla="*/ 89 h 245"/>
                <a:gd name="T22" fmla="*/ 204 w 228"/>
                <a:gd name="T23" fmla="*/ 89 h 245"/>
                <a:gd name="T24" fmla="*/ 228 w 228"/>
                <a:gd name="T25" fmla="*/ 113 h 245"/>
                <a:gd name="T26" fmla="*/ 211 w 228"/>
                <a:gd name="T27" fmla="*/ 141 h 245"/>
                <a:gd name="T28" fmla="*/ 216 w 228"/>
                <a:gd name="T29" fmla="*/ 155 h 245"/>
                <a:gd name="T30" fmla="*/ 200 w 228"/>
                <a:gd name="T31" fmla="*/ 177 h 245"/>
                <a:gd name="T32" fmla="*/ 204 w 228"/>
                <a:gd name="T33" fmla="*/ 191 h 245"/>
                <a:gd name="T34" fmla="*/ 188 w 228"/>
                <a:gd name="T35" fmla="*/ 213 h 245"/>
                <a:gd name="T36" fmla="*/ 192 w 228"/>
                <a:gd name="T37" fmla="*/ 227 h 245"/>
                <a:gd name="T38" fmla="*/ 168 w 228"/>
                <a:gd name="T39" fmla="*/ 245 h 245"/>
                <a:gd name="T40" fmla="*/ 12 w 228"/>
                <a:gd name="T41" fmla="*/ 222 h 245"/>
                <a:gd name="T42" fmla="*/ 44 w 228"/>
                <a:gd name="T43" fmla="*/ 227 h 245"/>
                <a:gd name="T44" fmla="*/ 90 w 228"/>
                <a:gd name="T45" fmla="*/ 233 h 245"/>
                <a:gd name="T46" fmla="*/ 168 w 228"/>
                <a:gd name="T47" fmla="*/ 233 h 245"/>
                <a:gd name="T48" fmla="*/ 180 w 228"/>
                <a:gd name="T49" fmla="*/ 227 h 245"/>
                <a:gd name="T50" fmla="*/ 168 w 228"/>
                <a:gd name="T51" fmla="*/ 215 h 245"/>
                <a:gd name="T52" fmla="*/ 162 w 228"/>
                <a:gd name="T53" fmla="*/ 209 h 245"/>
                <a:gd name="T54" fmla="*/ 168 w 228"/>
                <a:gd name="T55" fmla="*/ 203 h 245"/>
                <a:gd name="T56" fmla="*/ 180 w 228"/>
                <a:gd name="T57" fmla="*/ 203 h 245"/>
                <a:gd name="T58" fmla="*/ 192 w 228"/>
                <a:gd name="T59" fmla="*/ 191 h 245"/>
                <a:gd name="T60" fmla="*/ 180 w 228"/>
                <a:gd name="T61" fmla="*/ 179 h 245"/>
                <a:gd name="T62" fmla="*/ 174 w 228"/>
                <a:gd name="T63" fmla="*/ 173 h 245"/>
                <a:gd name="T64" fmla="*/ 180 w 228"/>
                <a:gd name="T65" fmla="*/ 167 h 245"/>
                <a:gd name="T66" fmla="*/ 192 w 228"/>
                <a:gd name="T67" fmla="*/ 167 h 245"/>
                <a:gd name="T68" fmla="*/ 204 w 228"/>
                <a:gd name="T69" fmla="*/ 155 h 245"/>
                <a:gd name="T70" fmla="*/ 192 w 228"/>
                <a:gd name="T71" fmla="*/ 143 h 245"/>
                <a:gd name="T72" fmla="*/ 186 w 228"/>
                <a:gd name="T73" fmla="*/ 137 h 245"/>
                <a:gd name="T74" fmla="*/ 192 w 228"/>
                <a:gd name="T75" fmla="*/ 131 h 245"/>
                <a:gd name="T76" fmla="*/ 204 w 228"/>
                <a:gd name="T77" fmla="*/ 131 h 245"/>
                <a:gd name="T78" fmla="*/ 216 w 228"/>
                <a:gd name="T79" fmla="*/ 113 h 245"/>
                <a:gd name="T80" fmla="*/ 204 w 228"/>
                <a:gd name="T81" fmla="*/ 101 h 245"/>
                <a:gd name="T82" fmla="*/ 108 w 228"/>
                <a:gd name="T83" fmla="*/ 101 h 245"/>
                <a:gd name="T84" fmla="*/ 103 w 228"/>
                <a:gd name="T85" fmla="*/ 98 h 245"/>
                <a:gd name="T86" fmla="*/ 102 w 228"/>
                <a:gd name="T87" fmla="*/ 92 h 245"/>
                <a:gd name="T88" fmla="*/ 114 w 228"/>
                <a:gd name="T89" fmla="*/ 33 h 245"/>
                <a:gd name="T90" fmla="*/ 97 w 228"/>
                <a:gd name="T91" fmla="*/ 13 h 245"/>
                <a:gd name="T92" fmla="*/ 90 w 228"/>
                <a:gd name="T93" fmla="*/ 23 h 245"/>
                <a:gd name="T94" fmla="*/ 12 w 228"/>
                <a:gd name="T95" fmla="*/ 130 h 245"/>
                <a:gd name="T96" fmla="*/ 12 w 228"/>
                <a:gd name="T97" fmla="*/ 222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8" h="245">
                  <a:moveTo>
                    <a:pt x="168" y="245"/>
                  </a:moveTo>
                  <a:cubicBezTo>
                    <a:pt x="90" y="245"/>
                    <a:pt x="90" y="245"/>
                    <a:pt x="90" y="245"/>
                  </a:cubicBezTo>
                  <a:cubicBezTo>
                    <a:pt x="68" y="245"/>
                    <a:pt x="57" y="242"/>
                    <a:pt x="41" y="239"/>
                  </a:cubicBezTo>
                  <a:cubicBezTo>
                    <a:pt x="32" y="237"/>
                    <a:pt x="21" y="235"/>
                    <a:pt x="5" y="233"/>
                  </a:cubicBezTo>
                  <a:cubicBezTo>
                    <a:pt x="2" y="232"/>
                    <a:pt x="0" y="230"/>
                    <a:pt x="0" y="227"/>
                  </a:cubicBezTo>
                  <a:cubicBezTo>
                    <a:pt x="0" y="125"/>
                    <a:pt x="0" y="125"/>
                    <a:pt x="0" y="125"/>
                  </a:cubicBezTo>
                  <a:cubicBezTo>
                    <a:pt x="0" y="121"/>
                    <a:pt x="3" y="119"/>
                    <a:pt x="6" y="119"/>
                  </a:cubicBezTo>
                  <a:cubicBezTo>
                    <a:pt x="31" y="119"/>
                    <a:pt x="78" y="68"/>
                    <a:pt x="78" y="23"/>
                  </a:cubicBezTo>
                  <a:cubicBezTo>
                    <a:pt x="78" y="12"/>
                    <a:pt x="85" y="3"/>
                    <a:pt x="95" y="1"/>
                  </a:cubicBezTo>
                  <a:cubicBezTo>
                    <a:pt x="106" y="0"/>
                    <a:pt x="119" y="6"/>
                    <a:pt x="126" y="30"/>
                  </a:cubicBezTo>
                  <a:cubicBezTo>
                    <a:pt x="130" y="47"/>
                    <a:pt x="122" y="75"/>
                    <a:pt x="117" y="89"/>
                  </a:cubicBezTo>
                  <a:cubicBezTo>
                    <a:pt x="204" y="89"/>
                    <a:pt x="204" y="89"/>
                    <a:pt x="204" y="89"/>
                  </a:cubicBezTo>
                  <a:cubicBezTo>
                    <a:pt x="217" y="89"/>
                    <a:pt x="228" y="100"/>
                    <a:pt x="228" y="113"/>
                  </a:cubicBezTo>
                  <a:cubicBezTo>
                    <a:pt x="228" y="122"/>
                    <a:pt x="222" y="136"/>
                    <a:pt x="211" y="141"/>
                  </a:cubicBezTo>
                  <a:cubicBezTo>
                    <a:pt x="214" y="145"/>
                    <a:pt x="216" y="150"/>
                    <a:pt x="216" y="155"/>
                  </a:cubicBezTo>
                  <a:cubicBezTo>
                    <a:pt x="216" y="165"/>
                    <a:pt x="209" y="174"/>
                    <a:pt x="200" y="177"/>
                  </a:cubicBezTo>
                  <a:cubicBezTo>
                    <a:pt x="202" y="181"/>
                    <a:pt x="204" y="186"/>
                    <a:pt x="204" y="191"/>
                  </a:cubicBezTo>
                  <a:cubicBezTo>
                    <a:pt x="204" y="201"/>
                    <a:pt x="197" y="210"/>
                    <a:pt x="188" y="213"/>
                  </a:cubicBezTo>
                  <a:cubicBezTo>
                    <a:pt x="190" y="217"/>
                    <a:pt x="192" y="222"/>
                    <a:pt x="192" y="227"/>
                  </a:cubicBezTo>
                  <a:cubicBezTo>
                    <a:pt x="192" y="239"/>
                    <a:pt x="184" y="245"/>
                    <a:pt x="168" y="245"/>
                  </a:cubicBezTo>
                  <a:close/>
                  <a:moveTo>
                    <a:pt x="12" y="222"/>
                  </a:moveTo>
                  <a:cubicBezTo>
                    <a:pt x="25" y="224"/>
                    <a:pt x="35" y="226"/>
                    <a:pt x="44" y="227"/>
                  </a:cubicBezTo>
                  <a:cubicBezTo>
                    <a:pt x="59" y="231"/>
                    <a:pt x="69" y="233"/>
                    <a:pt x="90" y="233"/>
                  </a:cubicBezTo>
                  <a:cubicBezTo>
                    <a:pt x="168" y="233"/>
                    <a:pt x="168" y="233"/>
                    <a:pt x="168" y="233"/>
                  </a:cubicBezTo>
                  <a:cubicBezTo>
                    <a:pt x="180" y="233"/>
                    <a:pt x="180" y="230"/>
                    <a:pt x="180" y="227"/>
                  </a:cubicBezTo>
                  <a:cubicBezTo>
                    <a:pt x="180" y="220"/>
                    <a:pt x="174" y="215"/>
                    <a:pt x="168" y="215"/>
                  </a:cubicBezTo>
                  <a:cubicBezTo>
                    <a:pt x="165" y="215"/>
                    <a:pt x="162" y="212"/>
                    <a:pt x="162" y="209"/>
                  </a:cubicBezTo>
                  <a:cubicBezTo>
                    <a:pt x="162" y="205"/>
                    <a:pt x="165" y="203"/>
                    <a:pt x="168" y="203"/>
                  </a:cubicBezTo>
                  <a:cubicBezTo>
                    <a:pt x="180" y="203"/>
                    <a:pt x="180" y="203"/>
                    <a:pt x="180" y="203"/>
                  </a:cubicBezTo>
                  <a:cubicBezTo>
                    <a:pt x="186" y="203"/>
                    <a:pt x="192" y="197"/>
                    <a:pt x="192" y="191"/>
                  </a:cubicBezTo>
                  <a:cubicBezTo>
                    <a:pt x="192" y="184"/>
                    <a:pt x="186" y="179"/>
                    <a:pt x="180" y="179"/>
                  </a:cubicBezTo>
                  <a:cubicBezTo>
                    <a:pt x="177" y="179"/>
                    <a:pt x="174" y="176"/>
                    <a:pt x="174" y="173"/>
                  </a:cubicBezTo>
                  <a:cubicBezTo>
                    <a:pt x="174" y="169"/>
                    <a:pt x="177" y="167"/>
                    <a:pt x="180" y="167"/>
                  </a:cubicBezTo>
                  <a:cubicBezTo>
                    <a:pt x="192" y="167"/>
                    <a:pt x="192" y="167"/>
                    <a:pt x="192" y="167"/>
                  </a:cubicBezTo>
                  <a:cubicBezTo>
                    <a:pt x="198" y="167"/>
                    <a:pt x="204" y="161"/>
                    <a:pt x="204" y="155"/>
                  </a:cubicBezTo>
                  <a:cubicBezTo>
                    <a:pt x="204" y="148"/>
                    <a:pt x="198" y="143"/>
                    <a:pt x="192" y="143"/>
                  </a:cubicBezTo>
                  <a:cubicBezTo>
                    <a:pt x="189" y="143"/>
                    <a:pt x="186" y="140"/>
                    <a:pt x="186" y="137"/>
                  </a:cubicBezTo>
                  <a:cubicBezTo>
                    <a:pt x="186" y="133"/>
                    <a:pt x="189" y="131"/>
                    <a:pt x="192" y="131"/>
                  </a:cubicBezTo>
                  <a:cubicBezTo>
                    <a:pt x="204" y="131"/>
                    <a:pt x="204" y="131"/>
                    <a:pt x="204" y="131"/>
                  </a:cubicBezTo>
                  <a:cubicBezTo>
                    <a:pt x="210" y="131"/>
                    <a:pt x="216" y="120"/>
                    <a:pt x="216" y="113"/>
                  </a:cubicBezTo>
                  <a:cubicBezTo>
                    <a:pt x="216" y="106"/>
                    <a:pt x="210" y="101"/>
                    <a:pt x="204" y="101"/>
                  </a:cubicBezTo>
                  <a:cubicBezTo>
                    <a:pt x="108" y="101"/>
                    <a:pt x="108" y="101"/>
                    <a:pt x="108" y="101"/>
                  </a:cubicBezTo>
                  <a:cubicBezTo>
                    <a:pt x="106" y="101"/>
                    <a:pt x="104" y="100"/>
                    <a:pt x="103" y="98"/>
                  </a:cubicBezTo>
                  <a:cubicBezTo>
                    <a:pt x="102" y="96"/>
                    <a:pt x="102" y="94"/>
                    <a:pt x="102" y="92"/>
                  </a:cubicBezTo>
                  <a:cubicBezTo>
                    <a:pt x="107" y="81"/>
                    <a:pt x="119" y="49"/>
                    <a:pt x="114" y="33"/>
                  </a:cubicBezTo>
                  <a:cubicBezTo>
                    <a:pt x="110" y="18"/>
                    <a:pt x="102" y="12"/>
                    <a:pt x="97" y="13"/>
                  </a:cubicBezTo>
                  <a:cubicBezTo>
                    <a:pt x="93" y="14"/>
                    <a:pt x="90" y="18"/>
                    <a:pt x="90" y="23"/>
                  </a:cubicBezTo>
                  <a:cubicBezTo>
                    <a:pt x="90" y="70"/>
                    <a:pt x="45" y="124"/>
                    <a:pt x="12" y="130"/>
                  </a:cubicBezTo>
                  <a:lnTo>
                    <a:pt x="12" y="2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1" name="Freeform 62">
              <a:extLst>
                <a:ext uri="{FF2B5EF4-FFF2-40B4-BE49-F238E27FC236}">
                  <a16:creationId xmlns:a16="http://schemas.microsoft.com/office/drawing/2014/main" id="{9EEB041E-18B1-9B01-8E89-58608D92178B}"/>
                </a:ext>
              </a:extLst>
            </p:cNvPr>
            <p:cNvSpPr>
              <a:spLocks noEditPoints="1"/>
            </p:cNvSpPr>
            <p:nvPr/>
          </p:nvSpPr>
          <p:spPr bwMode="auto">
            <a:xfrm>
              <a:off x="4479" y="1894"/>
              <a:ext cx="107" cy="230"/>
            </a:xfrm>
            <a:custGeom>
              <a:avLst/>
              <a:gdLst>
                <a:gd name="T0" fmla="*/ 66 w 72"/>
                <a:gd name="T1" fmla="*/ 156 h 156"/>
                <a:gd name="T2" fmla="*/ 6 w 72"/>
                <a:gd name="T3" fmla="*/ 156 h 156"/>
                <a:gd name="T4" fmla="*/ 0 w 72"/>
                <a:gd name="T5" fmla="*/ 150 h 156"/>
                <a:gd name="T6" fmla="*/ 0 w 72"/>
                <a:gd name="T7" fmla="*/ 6 h 156"/>
                <a:gd name="T8" fmla="*/ 6 w 72"/>
                <a:gd name="T9" fmla="*/ 0 h 156"/>
                <a:gd name="T10" fmla="*/ 66 w 72"/>
                <a:gd name="T11" fmla="*/ 0 h 156"/>
                <a:gd name="T12" fmla="*/ 72 w 72"/>
                <a:gd name="T13" fmla="*/ 6 h 156"/>
                <a:gd name="T14" fmla="*/ 72 w 72"/>
                <a:gd name="T15" fmla="*/ 150 h 156"/>
                <a:gd name="T16" fmla="*/ 66 w 72"/>
                <a:gd name="T17" fmla="*/ 156 h 156"/>
                <a:gd name="T18" fmla="*/ 12 w 72"/>
                <a:gd name="T19" fmla="*/ 144 h 156"/>
                <a:gd name="T20" fmla="*/ 60 w 72"/>
                <a:gd name="T21" fmla="*/ 144 h 156"/>
                <a:gd name="T22" fmla="*/ 60 w 72"/>
                <a:gd name="T23" fmla="*/ 12 h 156"/>
                <a:gd name="T24" fmla="*/ 12 w 72"/>
                <a:gd name="T25" fmla="*/ 12 h 156"/>
                <a:gd name="T26" fmla="*/ 12 w 72"/>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156">
                  <a:moveTo>
                    <a:pt x="66" y="156"/>
                  </a:moveTo>
                  <a:cubicBezTo>
                    <a:pt x="6" y="156"/>
                    <a:pt x="6" y="156"/>
                    <a:pt x="6" y="156"/>
                  </a:cubicBezTo>
                  <a:cubicBezTo>
                    <a:pt x="3" y="156"/>
                    <a:pt x="0" y="153"/>
                    <a:pt x="0" y="150"/>
                  </a:cubicBezTo>
                  <a:cubicBezTo>
                    <a:pt x="0" y="6"/>
                    <a:pt x="0" y="6"/>
                    <a:pt x="0" y="6"/>
                  </a:cubicBezTo>
                  <a:cubicBezTo>
                    <a:pt x="0" y="2"/>
                    <a:pt x="3" y="0"/>
                    <a:pt x="6" y="0"/>
                  </a:cubicBezTo>
                  <a:cubicBezTo>
                    <a:pt x="66" y="0"/>
                    <a:pt x="66" y="0"/>
                    <a:pt x="66" y="0"/>
                  </a:cubicBezTo>
                  <a:cubicBezTo>
                    <a:pt x="69" y="0"/>
                    <a:pt x="72" y="2"/>
                    <a:pt x="72" y="6"/>
                  </a:cubicBezTo>
                  <a:cubicBezTo>
                    <a:pt x="72" y="150"/>
                    <a:pt x="72" y="150"/>
                    <a:pt x="72" y="150"/>
                  </a:cubicBezTo>
                  <a:cubicBezTo>
                    <a:pt x="72" y="153"/>
                    <a:pt x="69" y="156"/>
                    <a:pt x="66" y="156"/>
                  </a:cubicBezTo>
                  <a:close/>
                  <a:moveTo>
                    <a:pt x="12" y="144"/>
                  </a:moveTo>
                  <a:cubicBezTo>
                    <a:pt x="60" y="144"/>
                    <a:pt x="60" y="144"/>
                    <a:pt x="60" y="144"/>
                  </a:cubicBezTo>
                  <a:cubicBezTo>
                    <a:pt x="60" y="12"/>
                    <a:pt x="60" y="12"/>
                    <a:pt x="60" y="12"/>
                  </a:cubicBezTo>
                  <a:cubicBezTo>
                    <a:pt x="12" y="12"/>
                    <a:pt x="12" y="12"/>
                    <a:pt x="12" y="12"/>
                  </a:cubicBezTo>
                  <a:lnTo>
                    <a:pt x="12" y="1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2" name="Oval 63">
              <a:extLst>
                <a:ext uri="{FF2B5EF4-FFF2-40B4-BE49-F238E27FC236}">
                  <a16:creationId xmlns:a16="http://schemas.microsoft.com/office/drawing/2014/main" id="{92BEB893-8E2F-399E-95FF-A7876614E6AE}"/>
                </a:ext>
              </a:extLst>
            </p:cNvPr>
            <p:cNvSpPr>
              <a:spLocks noChangeArrowheads="1"/>
            </p:cNvSpPr>
            <p:nvPr/>
          </p:nvSpPr>
          <p:spPr bwMode="auto">
            <a:xfrm>
              <a:off x="4533" y="2071"/>
              <a:ext cx="17"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sp>
        <p:nvSpPr>
          <p:cNvPr id="23" name="Freeform 10">
            <a:extLst>
              <a:ext uri="{FF2B5EF4-FFF2-40B4-BE49-F238E27FC236}">
                <a16:creationId xmlns:a16="http://schemas.microsoft.com/office/drawing/2014/main" id="{1496ACDF-B6B0-2388-CB9B-DA8098E12A0E}"/>
              </a:ext>
            </a:extLst>
          </p:cNvPr>
          <p:cNvSpPr>
            <a:spLocks noEditPoints="1"/>
          </p:cNvSpPr>
          <p:nvPr/>
        </p:nvSpPr>
        <p:spPr bwMode="auto">
          <a:xfrm>
            <a:off x="6387443" y="2830724"/>
            <a:ext cx="468138" cy="467022"/>
          </a:xfrm>
          <a:custGeom>
            <a:avLst/>
            <a:gdLst>
              <a:gd name="T0" fmla="*/ 147 w 284"/>
              <a:gd name="T1" fmla="*/ 282 h 284"/>
              <a:gd name="T2" fmla="*/ 109 w 284"/>
              <a:gd name="T3" fmla="*/ 236 h 284"/>
              <a:gd name="T4" fmla="*/ 109 w 284"/>
              <a:gd name="T5" fmla="*/ 176 h 284"/>
              <a:gd name="T6" fmla="*/ 41 w 284"/>
              <a:gd name="T7" fmla="*/ 176 h 284"/>
              <a:gd name="T8" fmla="*/ 2 w 284"/>
              <a:gd name="T9" fmla="*/ 130 h 284"/>
              <a:gd name="T10" fmla="*/ 24 w 284"/>
              <a:gd name="T11" fmla="*/ 100 h 284"/>
              <a:gd name="T12" fmla="*/ 62 w 284"/>
              <a:gd name="T13" fmla="*/ 8 h 284"/>
              <a:gd name="T14" fmla="*/ 104 w 284"/>
              <a:gd name="T15" fmla="*/ 28 h 284"/>
              <a:gd name="T16" fmla="*/ 138 w 284"/>
              <a:gd name="T17" fmla="*/ 2 h 284"/>
              <a:gd name="T18" fmla="*/ 176 w 284"/>
              <a:gd name="T19" fmla="*/ 49 h 284"/>
              <a:gd name="T20" fmla="*/ 236 w 284"/>
              <a:gd name="T21" fmla="*/ 108 h 284"/>
              <a:gd name="T22" fmla="*/ 282 w 284"/>
              <a:gd name="T23" fmla="*/ 146 h 284"/>
              <a:gd name="T24" fmla="*/ 282 w 284"/>
              <a:gd name="T25" fmla="*/ 155 h 284"/>
              <a:gd name="T26" fmla="*/ 261 w 284"/>
              <a:gd name="T27" fmla="*/ 185 h 284"/>
              <a:gd name="T28" fmla="*/ 261 w 284"/>
              <a:gd name="T29" fmla="*/ 261 h 284"/>
              <a:gd name="T30" fmla="*/ 185 w 284"/>
              <a:gd name="T31" fmla="*/ 261 h 284"/>
              <a:gd name="T32" fmla="*/ 155 w 284"/>
              <a:gd name="T33" fmla="*/ 282 h 284"/>
              <a:gd name="T34" fmla="*/ 121 w 284"/>
              <a:gd name="T35" fmla="*/ 240 h 284"/>
              <a:gd name="T36" fmla="*/ 177 w 284"/>
              <a:gd name="T37" fmla="*/ 243 h 284"/>
              <a:gd name="T38" fmla="*/ 187 w 284"/>
              <a:gd name="T39" fmla="*/ 244 h 284"/>
              <a:gd name="T40" fmla="*/ 223 w 284"/>
              <a:gd name="T41" fmla="*/ 265 h 284"/>
              <a:gd name="T42" fmla="*/ 265 w 284"/>
              <a:gd name="T43" fmla="*/ 223 h 284"/>
              <a:gd name="T44" fmla="*/ 244 w 284"/>
              <a:gd name="T45" fmla="*/ 187 h 284"/>
              <a:gd name="T46" fmla="*/ 243 w 284"/>
              <a:gd name="T47" fmla="*/ 177 h 284"/>
              <a:gd name="T48" fmla="*/ 240 w 284"/>
              <a:gd name="T49" fmla="*/ 121 h 284"/>
              <a:gd name="T50" fmla="*/ 168 w 284"/>
              <a:gd name="T51" fmla="*/ 117 h 284"/>
              <a:gd name="T52" fmla="*/ 134 w 284"/>
              <a:gd name="T53" fmla="*/ 15 h 284"/>
              <a:gd name="T54" fmla="*/ 102 w 284"/>
              <a:gd name="T55" fmla="*/ 43 h 284"/>
              <a:gd name="T56" fmla="*/ 92 w 284"/>
              <a:gd name="T57" fmla="*/ 32 h 284"/>
              <a:gd name="T58" fmla="*/ 32 w 284"/>
              <a:gd name="T59" fmla="*/ 32 h 284"/>
              <a:gd name="T60" fmla="*/ 41 w 284"/>
              <a:gd name="T61" fmla="*/ 98 h 284"/>
              <a:gd name="T62" fmla="*/ 42 w 284"/>
              <a:gd name="T63" fmla="*/ 107 h 284"/>
              <a:gd name="T64" fmla="*/ 45 w 284"/>
              <a:gd name="T65" fmla="*/ 164 h 284"/>
              <a:gd name="T66" fmla="*/ 133 w 284"/>
              <a:gd name="T67" fmla="*/ 20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284">
                <a:moveTo>
                  <a:pt x="151" y="284"/>
                </a:moveTo>
                <a:cubicBezTo>
                  <a:pt x="149" y="284"/>
                  <a:pt x="148" y="283"/>
                  <a:pt x="147" y="282"/>
                </a:cubicBezTo>
                <a:cubicBezTo>
                  <a:pt x="109" y="244"/>
                  <a:pt x="109" y="244"/>
                  <a:pt x="109" y="244"/>
                </a:cubicBezTo>
                <a:cubicBezTo>
                  <a:pt x="106" y="242"/>
                  <a:pt x="106" y="238"/>
                  <a:pt x="109" y="236"/>
                </a:cubicBezTo>
                <a:cubicBezTo>
                  <a:pt x="116" y="228"/>
                  <a:pt x="121" y="217"/>
                  <a:pt x="121" y="206"/>
                </a:cubicBezTo>
                <a:cubicBezTo>
                  <a:pt x="121" y="195"/>
                  <a:pt x="116" y="184"/>
                  <a:pt x="109" y="176"/>
                </a:cubicBezTo>
                <a:cubicBezTo>
                  <a:pt x="92" y="160"/>
                  <a:pt x="65" y="160"/>
                  <a:pt x="49" y="176"/>
                </a:cubicBezTo>
                <a:cubicBezTo>
                  <a:pt x="47" y="179"/>
                  <a:pt x="43" y="179"/>
                  <a:pt x="41" y="176"/>
                </a:cubicBezTo>
                <a:cubicBezTo>
                  <a:pt x="2" y="138"/>
                  <a:pt x="2" y="138"/>
                  <a:pt x="2" y="138"/>
                </a:cubicBezTo>
                <a:cubicBezTo>
                  <a:pt x="0" y="136"/>
                  <a:pt x="0" y="132"/>
                  <a:pt x="2" y="130"/>
                </a:cubicBezTo>
                <a:cubicBezTo>
                  <a:pt x="28" y="104"/>
                  <a:pt x="28" y="104"/>
                  <a:pt x="28" y="104"/>
                </a:cubicBezTo>
                <a:cubicBezTo>
                  <a:pt x="27" y="103"/>
                  <a:pt x="25" y="101"/>
                  <a:pt x="24" y="100"/>
                </a:cubicBezTo>
                <a:cubicBezTo>
                  <a:pt x="3" y="79"/>
                  <a:pt x="3" y="44"/>
                  <a:pt x="24" y="23"/>
                </a:cubicBezTo>
                <a:cubicBezTo>
                  <a:pt x="34" y="13"/>
                  <a:pt x="47" y="8"/>
                  <a:pt x="62" y="8"/>
                </a:cubicBezTo>
                <a:cubicBezTo>
                  <a:pt x="76" y="8"/>
                  <a:pt x="90" y="13"/>
                  <a:pt x="100" y="23"/>
                </a:cubicBezTo>
                <a:cubicBezTo>
                  <a:pt x="101" y="25"/>
                  <a:pt x="103" y="26"/>
                  <a:pt x="104" y="28"/>
                </a:cubicBezTo>
                <a:cubicBezTo>
                  <a:pt x="130" y="2"/>
                  <a:pt x="130" y="2"/>
                  <a:pt x="130" y="2"/>
                </a:cubicBezTo>
                <a:cubicBezTo>
                  <a:pt x="132" y="0"/>
                  <a:pt x="136" y="0"/>
                  <a:pt x="138" y="2"/>
                </a:cubicBezTo>
                <a:cubicBezTo>
                  <a:pt x="176" y="40"/>
                  <a:pt x="176" y="40"/>
                  <a:pt x="176" y="40"/>
                </a:cubicBezTo>
                <a:cubicBezTo>
                  <a:pt x="179" y="43"/>
                  <a:pt x="179" y="47"/>
                  <a:pt x="176" y="49"/>
                </a:cubicBezTo>
                <a:cubicBezTo>
                  <a:pt x="160" y="65"/>
                  <a:pt x="160" y="92"/>
                  <a:pt x="176" y="108"/>
                </a:cubicBezTo>
                <a:cubicBezTo>
                  <a:pt x="193" y="125"/>
                  <a:pt x="219" y="125"/>
                  <a:pt x="236" y="108"/>
                </a:cubicBezTo>
                <a:cubicBezTo>
                  <a:pt x="238" y="106"/>
                  <a:pt x="242" y="106"/>
                  <a:pt x="244" y="108"/>
                </a:cubicBezTo>
                <a:cubicBezTo>
                  <a:pt x="282" y="146"/>
                  <a:pt x="282" y="146"/>
                  <a:pt x="282" y="146"/>
                </a:cubicBezTo>
                <a:cubicBezTo>
                  <a:pt x="284" y="148"/>
                  <a:pt x="284" y="149"/>
                  <a:pt x="284" y="151"/>
                </a:cubicBezTo>
                <a:cubicBezTo>
                  <a:pt x="284" y="152"/>
                  <a:pt x="284" y="154"/>
                  <a:pt x="282" y="155"/>
                </a:cubicBezTo>
                <a:cubicBezTo>
                  <a:pt x="257" y="181"/>
                  <a:pt x="257" y="181"/>
                  <a:pt x="257" y="181"/>
                </a:cubicBezTo>
                <a:cubicBezTo>
                  <a:pt x="258" y="182"/>
                  <a:pt x="260" y="183"/>
                  <a:pt x="261" y="185"/>
                </a:cubicBezTo>
                <a:cubicBezTo>
                  <a:pt x="271" y="195"/>
                  <a:pt x="277" y="208"/>
                  <a:pt x="277" y="223"/>
                </a:cubicBezTo>
                <a:cubicBezTo>
                  <a:pt x="277" y="237"/>
                  <a:pt x="271" y="251"/>
                  <a:pt x="261" y="261"/>
                </a:cubicBezTo>
                <a:cubicBezTo>
                  <a:pt x="251" y="271"/>
                  <a:pt x="237" y="277"/>
                  <a:pt x="223" y="277"/>
                </a:cubicBezTo>
                <a:cubicBezTo>
                  <a:pt x="209" y="277"/>
                  <a:pt x="195" y="271"/>
                  <a:pt x="185" y="261"/>
                </a:cubicBezTo>
                <a:cubicBezTo>
                  <a:pt x="183" y="260"/>
                  <a:pt x="182" y="258"/>
                  <a:pt x="181" y="257"/>
                </a:cubicBezTo>
                <a:cubicBezTo>
                  <a:pt x="155" y="282"/>
                  <a:pt x="155" y="282"/>
                  <a:pt x="155" y="282"/>
                </a:cubicBezTo>
                <a:cubicBezTo>
                  <a:pt x="154" y="283"/>
                  <a:pt x="152" y="284"/>
                  <a:pt x="151" y="284"/>
                </a:cubicBezTo>
                <a:close/>
                <a:moveTo>
                  <a:pt x="121" y="240"/>
                </a:moveTo>
                <a:cubicBezTo>
                  <a:pt x="151" y="270"/>
                  <a:pt x="151" y="270"/>
                  <a:pt x="151" y="270"/>
                </a:cubicBezTo>
                <a:cubicBezTo>
                  <a:pt x="177" y="243"/>
                  <a:pt x="177" y="243"/>
                  <a:pt x="177" y="243"/>
                </a:cubicBezTo>
                <a:cubicBezTo>
                  <a:pt x="179" y="242"/>
                  <a:pt x="181" y="241"/>
                  <a:pt x="182" y="241"/>
                </a:cubicBezTo>
                <a:cubicBezTo>
                  <a:pt x="184" y="241"/>
                  <a:pt x="186" y="243"/>
                  <a:pt x="187" y="244"/>
                </a:cubicBezTo>
                <a:cubicBezTo>
                  <a:pt x="189" y="247"/>
                  <a:pt x="191" y="250"/>
                  <a:pt x="193" y="253"/>
                </a:cubicBezTo>
                <a:cubicBezTo>
                  <a:pt x="201" y="260"/>
                  <a:pt x="212" y="265"/>
                  <a:pt x="223" y="265"/>
                </a:cubicBezTo>
                <a:cubicBezTo>
                  <a:pt x="234" y="265"/>
                  <a:pt x="245" y="260"/>
                  <a:pt x="253" y="253"/>
                </a:cubicBezTo>
                <a:cubicBezTo>
                  <a:pt x="261" y="245"/>
                  <a:pt x="265" y="234"/>
                  <a:pt x="265" y="223"/>
                </a:cubicBezTo>
                <a:cubicBezTo>
                  <a:pt x="265" y="212"/>
                  <a:pt x="261" y="201"/>
                  <a:pt x="253" y="193"/>
                </a:cubicBezTo>
                <a:cubicBezTo>
                  <a:pt x="250" y="191"/>
                  <a:pt x="248" y="189"/>
                  <a:pt x="244" y="187"/>
                </a:cubicBezTo>
                <a:cubicBezTo>
                  <a:pt x="243" y="186"/>
                  <a:pt x="242" y="184"/>
                  <a:pt x="241" y="182"/>
                </a:cubicBezTo>
                <a:cubicBezTo>
                  <a:pt x="241" y="180"/>
                  <a:pt x="242" y="179"/>
                  <a:pt x="243" y="177"/>
                </a:cubicBezTo>
                <a:cubicBezTo>
                  <a:pt x="270" y="151"/>
                  <a:pt x="270" y="151"/>
                  <a:pt x="270" y="151"/>
                </a:cubicBezTo>
                <a:cubicBezTo>
                  <a:pt x="240" y="121"/>
                  <a:pt x="240" y="121"/>
                  <a:pt x="240" y="121"/>
                </a:cubicBezTo>
                <a:cubicBezTo>
                  <a:pt x="219" y="138"/>
                  <a:pt x="188" y="136"/>
                  <a:pt x="168" y="117"/>
                </a:cubicBezTo>
                <a:cubicBezTo>
                  <a:pt x="168" y="117"/>
                  <a:pt x="168" y="117"/>
                  <a:pt x="168" y="117"/>
                </a:cubicBezTo>
                <a:cubicBezTo>
                  <a:pt x="148" y="97"/>
                  <a:pt x="147" y="66"/>
                  <a:pt x="164" y="45"/>
                </a:cubicBezTo>
                <a:cubicBezTo>
                  <a:pt x="134" y="15"/>
                  <a:pt x="134" y="15"/>
                  <a:pt x="134" y="15"/>
                </a:cubicBezTo>
                <a:cubicBezTo>
                  <a:pt x="107" y="42"/>
                  <a:pt x="107" y="42"/>
                  <a:pt x="107" y="42"/>
                </a:cubicBezTo>
                <a:cubicBezTo>
                  <a:pt x="106" y="43"/>
                  <a:pt x="104" y="43"/>
                  <a:pt x="102" y="43"/>
                </a:cubicBezTo>
                <a:cubicBezTo>
                  <a:pt x="101" y="43"/>
                  <a:pt x="99" y="42"/>
                  <a:pt x="98" y="40"/>
                </a:cubicBezTo>
                <a:cubicBezTo>
                  <a:pt x="96" y="37"/>
                  <a:pt x="94" y="34"/>
                  <a:pt x="92" y="32"/>
                </a:cubicBezTo>
                <a:cubicBezTo>
                  <a:pt x="84" y="24"/>
                  <a:pt x="73" y="20"/>
                  <a:pt x="62" y="20"/>
                </a:cubicBezTo>
                <a:cubicBezTo>
                  <a:pt x="51" y="20"/>
                  <a:pt x="40" y="24"/>
                  <a:pt x="32" y="32"/>
                </a:cubicBezTo>
                <a:cubicBezTo>
                  <a:pt x="16" y="48"/>
                  <a:pt x="16" y="75"/>
                  <a:pt x="32" y="91"/>
                </a:cubicBezTo>
                <a:cubicBezTo>
                  <a:pt x="35" y="94"/>
                  <a:pt x="37" y="96"/>
                  <a:pt x="41" y="98"/>
                </a:cubicBezTo>
                <a:cubicBezTo>
                  <a:pt x="42" y="99"/>
                  <a:pt x="43" y="100"/>
                  <a:pt x="43" y="102"/>
                </a:cubicBezTo>
                <a:cubicBezTo>
                  <a:pt x="44" y="104"/>
                  <a:pt x="43" y="106"/>
                  <a:pt x="42" y="107"/>
                </a:cubicBezTo>
                <a:cubicBezTo>
                  <a:pt x="15" y="134"/>
                  <a:pt x="15" y="134"/>
                  <a:pt x="15" y="134"/>
                </a:cubicBezTo>
                <a:cubicBezTo>
                  <a:pt x="45" y="164"/>
                  <a:pt x="45" y="164"/>
                  <a:pt x="45" y="164"/>
                </a:cubicBezTo>
                <a:cubicBezTo>
                  <a:pt x="66" y="147"/>
                  <a:pt x="97" y="148"/>
                  <a:pt x="117" y="168"/>
                </a:cubicBezTo>
                <a:cubicBezTo>
                  <a:pt x="127" y="178"/>
                  <a:pt x="133" y="191"/>
                  <a:pt x="133" y="206"/>
                </a:cubicBezTo>
                <a:cubicBezTo>
                  <a:pt x="133" y="218"/>
                  <a:pt x="129" y="230"/>
                  <a:pt x="121" y="240"/>
                </a:cubicBezTo>
                <a:close/>
              </a:path>
            </a:pathLst>
          </a:custGeom>
          <a:solidFill>
            <a:schemeClr val="tx2"/>
          </a:solidFill>
          <a:ln>
            <a:noFill/>
          </a:ln>
        </p:spPr>
        <p:txBody>
          <a:bodyPr vert="horz" wrap="square" lIns="91419" tIns="45709" rIns="91419" bIns="45709" numCol="1" anchor="t" anchorCtr="0" compatLnSpc="1">
            <a:prstTxWarp prst="textNoShape">
              <a:avLst/>
            </a:prstTxWarp>
          </a:bodyPr>
          <a:lstStyle/>
          <a:p>
            <a:endParaRPr lang="en-US" dirty="0"/>
          </a:p>
        </p:txBody>
      </p:sp>
      <p:grpSp>
        <p:nvGrpSpPr>
          <p:cNvPr id="24" name="Group 21">
            <a:extLst>
              <a:ext uri="{FF2B5EF4-FFF2-40B4-BE49-F238E27FC236}">
                <a16:creationId xmlns:a16="http://schemas.microsoft.com/office/drawing/2014/main" id="{83314BE2-09D7-3675-B8D4-69437F340300}"/>
              </a:ext>
            </a:extLst>
          </p:cNvPr>
          <p:cNvGrpSpPr>
            <a:grpSpLocks noChangeAspect="1"/>
          </p:cNvGrpSpPr>
          <p:nvPr/>
        </p:nvGrpSpPr>
        <p:grpSpPr bwMode="auto">
          <a:xfrm>
            <a:off x="5832214" y="4732350"/>
            <a:ext cx="527572" cy="476592"/>
            <a:chOff x="2585" y="673"/>
            <a:chExt cx="445" cy="402"/>
          </a:xfrm>
          <a:solidFill>
            <a:schemeClr val="tx2"/>
          </a:solidFill>
        </p:grpSpPr>
        <p:sp>
          <p:nvSpPr>
            <p:cNvPr id="25" name="Freeform 22">
              <a:extLst>
                <a:ext uri="{FF2B5EF4-FFF2-40B4-BE49-F238E27FC236}">
                  <a16:creationId xmlns:a16="http://schemas.microsoft.com/office/drawing/2014/main" id="{C65732F3-5C0D-2E01-53C1-273690387FB7}"/>
                </a:ext>
              </a:extLst>
            </p:cNvPr>
            <p:cNvSpPr>
              <a:spLocks noEditPoints="1"/>
            </p:cNvSpPr>
            <p:nvPr/>
          </p:nvSpPr>
          <p:spPr bwMode="auto">
            <a:xfrm>
              <a:off x="2779" y="950"/>
              <a:ext cx="74" cy="71"/>
            </a:xfrm>
            <a:custGeom>
              <a:avLst/>
              <a:gdLst>
                <a:gd name="T0" fmla="*/ 24 w 48"/>
                <a:gd name="T1" fmla="*/ 0 h 48"/>
                <a:gd name="T2" fmla="*/ 0 w 48"/>
                <a:gd name="T3" fmla="*/ 24 h 48"/>
                <a:gd name="T4" fmla="*/ 24 w 48"/>
                <a:gd name="T5" fmla="*/ 48 h 48"/>
                <a:gd name="T6" fmla="*/ 48 w 48"/>
                <a:gd name="T7" fmla="*/ 24 h 48"/>
                <a:gd name="T8" fmla="*/ 24 w 48"/>
                <a:gd name="T9" fmla="*/ 0 h 48"/>
                <a:gd name="T10" fmla="*/ 24 w 48"/>
                <a:gd name="T11" fmla="*/ 36 h 48"/>
                <a:gd name="T12" fmla="*/ 12 w 48"/>
                <a:gd name="T13" fmla="*/ 24 h 48"/>
                <a:gd name="T14" fmla="*/ 24 w 48"/>
                <a:gd name="T15" fmla="*/ 12 h 48"/>
                <a:gd name="T16" fmla="*/ 36 w 48"/>
                <a:gd name="T17" fmla="*/ 24 h 48"/>
                <a:gd name="T18" fmla="*/ 24 w 48"/>
                <a:gd name="T19" fmla="*/ 3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0"/>
                  </a:moveTo>
                  <a:cubicBezTo>
                    <a:pt x="11" y="0"/>
                    <a:pt x="0" y="11"/>
                    <a:pt x="0" y="24"/>
                  </a:cubicBezTo>
                  <a:cubicBezTo>
                    <a:pt x="0" y="37"/>
                    <a:pt x="11" y="48"/>
                    <a:pt x="24" y="48"/>
                  </a:cubicBezTo>
                  <a:cubicBezTo>
                    <a:pt x="37" y="48"/>
                    <a:pt x="48" y="37"/>
                    <a:pt x="48" y="24"/>
                  </a:cubicBezTo>
                  <a:cubicBezTo>
                    <a:pt x="48" y="11"/>
                    <a:pt x="37" y="0"/>
                    <a:pt x="24" y="0"/>
                  </a:cubicBezTo>
                  <a:close/>
                  <a:moveTo>
                    <a:pt x="24" y="36"/>
                  </a:moveTo>
                  <a:cubicBezTo>
                    <a:pt x="17" y="36"/>
                    <a:pt x="12" y="31"/>
                    <a:pt x="12" y="24"/>
                  </a:cubicBezTo>
                  <a:cubicBezTo>
                    <a:pt x="12" y="17"/>
                    <a:pt x="17" y="12"/>
                    <a:pt x="24" y="12"/>
                  </a:cubicBezTo>
                  <a:cubicBezTo>
                    <a:pt x="30" y="12"/>
                    <a:pt x="36" y="17"/>
                    <a:pt x="36" y="24"/>
                  </a:cubicBezTo>
                  <a:cubicBezTo>
                    <a:pt x="36" y="31"/>
                    <a:pt x="30" y="36"/>
                    <a:pt x="2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6" name="Freeform 23">
              <a:extLst>
                <a:ext uri="{FF2B5EF4-FFF2-40B4-BE49-F238E27FC236}">
                  <a16:creationId xmlns:a16="http://schemas.microsoft.com/office/drawing/2014/main" id="{D98E892F-88E9-E9FC-482D-D8E8189C342F}"/>
                </a:ext>
              </a:extLst>
            </p:cNvPr>
            <p:cNvSpPr>
              <a:spLocks noEditPoints="1"/>
            </p:cNvSpPr>
            <p:nvPr/>
          </p:nvSpPr>
          <p:spPr bwMode="auto">
            <a:xfrm>
              <a:off x="2724" y="896"/>
              <a:ext cx="182" cy="179"/>
            </a:xfrm>
            <a:custGeom>
              <a:avLst/>
              <a:gdLst>
                <a:gd name="T0" fmla="*/ 118 w 119"/>
                <a:gd name="T1" fmla="*/ 41 h 120"/>
                <a:gd name="T2" fmla="*/ 98 w 119"/>
                <a:gd name="T3" fmla="*/ 17 h 120"/>
                <a:gd name="T4" fmla="*/ 76 w 119"/>
                <a:gd name="T5" fmla="*/ 16 h 120"/>
                <a:gd name="T6" fmla="*/ 70 w 119"/>
                <a:gd name="T7" fmla="*/ 0 h 120"/>
                <a:gd name="T8" fmla="*/ 40 w 119"/>
                <a:gd name="T9" fmla="*/ 6 h 120"/>
                <a:gd name="T10" fmla="*/ 29 w 119"/>
                <a:gd name="T11" fmla="*/ 22 h 120"/>
                <a:gd name="T12" fmla="*/ 17 w 119"/>
                <a:gd name="T13" fmla="*/ 17 h 120"/>
                <a:gd name="T14" fmla="*/ 2 w 119"/>
                <a:gd name="T15" fmla="*/ 41 h 120"/>
                <a:gd name="T16" fmla="*/ 12 w 119"/>
                <a:gd name="T17" fmla="*/ 53 h 120"/>
                <a:gd name="T18" fmla="*/ 12 w 119"/>
                <a:gd name="T19" fmla="*/ 67 h 120"/>
                <a:gd name="T20" fmla="*/ 2 w 119"/>
                <a:gd name="T21" fmla="*/ 80 h 120"/>
                <a:gd name="T22" fmla="*/ 18 w 119"/>
                <a:gd name="T23" fmla="*/ 103 h 120"/>
                <a:gd name="T24" fmla="*/ 29 w 119"/>
                <a:gd name="T25" fmla="*/ 98 h 120"/>
                <a:gd name="T26" fmla="*/ 40 w 119"/>
                <a:gd name="T27" fmla="*/ 114 h 120"/>
                <a:gd name="T28" fmla="*/ 70 w 119"/>
                <a:gd name="T29" fmla="*/ 120 h 120"/>
                <a:gd name="T30" fmla="*/ 76 w 119"/>
                <a:gd name="T31" fmla="*/ 104 h 120"/>
                <a:gd name="T32" fmla="*/ 97 w 119"/>
                <a:gd name="T33" fmla="*/ 103 h 120"/>
                <a:gd name="T34" fmla="*/ 117 w 119"/>
                <a:gd name="T35" fmla="*/ 80 h 120"/>
                <a:gd name="T36" fmla="*/ 115 w 119"/>
                <a:gd name="T37" fmla="*/ 71 h 120"/>
                <a:gd name="T38" fmla="*/ 108 w 119"/>
                <a:gd name="T39" fmla="*/ 60 h 120"/>
                <a:gd name="T40" fmla="*/ 115 w 119"/>
                <a:gd name="T41" fmla="*/ 49 h 120"/>
                <a:gd name="T42" fmla="*/ 95 w 119"/>
                <a:gd name="T43" fmla="*/ 52 h 120"/>
                <a:gd name="T44" fmla="*/ 95 w 119"/>
                <a:gd name="T45" fmla="*/ 68 h 120"/>
                <a:gd name="T46" fmla="*/ 104 w 119"/>
                <a:gd name="T47" fmla="*/ 79 h 120"/>
                <a:gd name="T48" fmla="*/ 90 w 119"/>
                <a:gd name="T49" fmla="*/ 85 h 120"/>
                <a:gd name="T50" fmla="*/ 68 w 119"/>
                <a:gd name="T51" fmla="*/ 95 h 120"/>
                <a:gd name="T52" fmla="*/ 64 w 119"/>
                <a:gd name="T53" fmla="*/ 108 h 120"/>
                <a:gd name="T54" fmla="*/ 52 w 119"/>
                <a:gd name="T55" fmla="*/ 100 h 120"/>
                <a:gd name="T56" fmla="*/ 34 w 119"/>
                <a:gd name="T57" fmla="*/ 86 h 120"/>
                <a:gd name="T58" fmla="*/ 21 w 119"/>
                <a:gd name="T59" fmla="*/ 89 h 120"/>
                <a:gd name="T60" fmla="*/ 22 w 119"/>
                <a:gd name="T61" fmla="*/ 75 h 120"/>
                <a:gd name="T62" fmla="*/ 24 w 119"/>
                <a:gd name="T63" fmla="*/ 60 h 120"/>
                <a:gd name="T64" fmla="*/ 22 w 119"/>
                <a:gd name="T65" fmla="*/ 45 h 120"/>
                <a:gd name="T66" fmla="*/ 21 w 119"/>
                <a:gd name="T67" fmla="*/ 31 h 120"/>
                <a:gd name="T68" fmla="*/ 34 w 119"/>
                <a:gd name="T69" fmla="*/ 34 h 120"/>
                <a:gd name="T70" fmla="*/ 52 w 119"/>
                <a:gd name="T71" fmla="*/ 20 h 120"/>
                <a:gd name="T72" fmla="*/ 64 w 119"/>
                <a:gd name="T73" fmla="*/ 12 h 120"/>
                <a:gd name="T74" fmla="*/ 68 w 119"/>
                <a:gd name="T75" fmla="*/ 26 h 120"/>
                <a:gd name="T76" fmla="*/ 90 w 119"/>
                <a:gd name="T77" fmla="*/ 35 h 120"/>
                <a:gd name="T78" fmla="*/ 104 w 119"/>
                <a:gd name="T79" fmla="*/ 41 h 120"/>
                <a:gd name="T80" fmla="*/ 95 w 119"/>
                <a:gd name="T81" fmla="*/ 5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118" y="45"/>
                  </a:moveTo>
                  <a:cubicBezTo>
                    <a:pt x="119" y="44"/>
                    <a:pt x="118" y="42"/>
                    <a:pt x="118" y="41"/>
                  </a:cubicBezTo>
                  <a:cubicBezTo>
                    <a:pt x="106" y="20"/>
                    <a:pt x="106" y="20"/>
                    <a:pt x="106" y="20"/>
                  </a:cubicBezTo>
                  <a:cubicBezTo>
                    <a:pt x="104" y="17"/>
                    <a:pt x="100" y="16"/>
                    <a:pt x="98" y="17"/>
                  </a:cubicBezTo>
                  <a:cubicBezTo>
                    <a:pt x="88" y="22"/>
                    <a:pt x="88" y="22"/>
                    <a:pt x="88" y="22"/>
                  </a:cubicBezTo>
                  <a:cubicBezTo>
                    <a:pt x="84" y="19"/>
                    <a:pt x="79" y="17"/>
                    <a:pt x="76" y="16"/>
                  </a:cubicBezTo>
                  <a:cubicBezTo>
                    <a:pt x="76" y="6"/>
                    <a:pt x="76" y="6"/>
                    <a:pt x="76" y="6"/>
                  </a:cubicBezTo>
                  <a:cubicBezTo>
                    <a:pt x="76" y="3"/>
                    <a:pt x="73" y="0"/>
                    <a:pt x="70" y="0"/>
                  </a:cubicBezTo>
                  <a:cubicBezTo>
                    <a:pt x="46" y="0"/>
                    <a:pt x="46" y="0"/>
                    <a:pt x="46" y="0"/>
                  </a:cubicBezTo>
                  <a:cubicBezTo>
                    <a:pt x="42" y="0"/>
                    <a:pt x="40" y="3"/>
                    <a:pt x="40" y="6"/>
                  </a:cubicBezTo>
                  <a:cubicBezTo>
                    <a:pt x="40" y="16"/>
                    <a:pt x="40" y="16"/>
                    <a:pt x="40" y="16"/>
                  </a:cubicBezTo>
                  <a:cubicBezTo>
                    <a:pt x="36" y="17"/>
                    <a:pt x="33" y="20"/>
                    <a:pt x="29" y="22"/>
                  </a:cubicBezTo>
                  <a:cubicBezTo>
                    <a:pt x="22" y="18"/>
                    <a:pt x="22" y="18"/>
                    <a:pt x="22" y="18"/>
                  </a:cubicBezTo>
                  <a:cubicBezTo>
                    <a:pt x="20" y="17"/>
                    <a:pt x="19" y="17"/>
                    <a:pt x="17" y="17"/>
                  </a:cubicBezTo>
                  <a:cubicBezTo>
                    <a:pt x="15" y="17"/>
                    <a:pt x="14" y="18"/>
                    <a:pt x="13" y="20"/>
                  </a:cubicBezTo>
                  <a:cubicBezTo>
                    <a:pt x="2" y="41"/>
                    <a:pt x="2" y="41"/>
                    <a:pt x="2" y="41"/>
                  </a:cubicBezTo>
                  <a:cubicBezTo>
                    <a:pt x="0" y="43"/>
                    <a:pt x="1" y="47"/>
                    <a:pt x="4" y="49"/>
                  </a:cubicBezTo>
                  <a:cubicBezTo>
                    <a:pt x="12" y="53"/>
                    <a:pt x="12" y="53"/>
                    <a:pt x="12" y="53"/>
                  </a:cubicBezTo>
                  <a:cubicBezTo>
                    <a:pt x="12" y="56"/>
                    <a:pt x="12" y="58"/>
                    <a:pt x="12" y="60"/>
                  </a:cubicBezTo>
                  <a:cubicBezTo>
                    <a:pt x="12" y="62"/>
                    <a:pt x="12" y="64"/>
                    <a:pt x="12" y="67"/>
                  </a:cubicBezTo>
                  <a:cubicBezTo>
                    <a:pt x="4" y="71"/>
                    <a:pt x="4" y="71"/>
                    <a:pt x="4" y="71"/>
                  </a:cubicBezTo>
                  <a:cubicBezTo>
                    <a:pt x="1" y="73"/>
                    <a:pt x="0" y="77"/>
                    <a:pt x="2" y="80"/>
                  </a:cubicBezTo>
                  <a:cubicBezTo>
                    <a:pt x="14" y="100"/>
                    <a:pt x="14" y="100"/>
                    <a:pt x="14" y="100"/>
                  </a:cubicBezTo>
                  <a:cubicBezTo>
                    <a:pt x="15" y="102"/>
                    <a:pt x="16" y="103"/>
                    <a:pt x="18" y="103"/>
                  </a:cubicBezTo>
                  <a:cubicBezTo>
                    <a:pt x="19" y="104"/>
                    <a:pt x="21" y="103"/>
                    <a:pt x="22" y="102"/>
                  </a:cubicBezTo>
                  <a:cubicBezTo>
                    <a:pt x="29" y="98"/>
                    <a:pt x="29" y="98"/>
                    <a:pt x="29" y="98"/>
                  </a:cubicBezTo>
                  <a:cubicBezTo>
                    <a:pt x="33" y="101"/>
                    <a:pt x="36" y="103"/>
                    <a:pt x="40" y="104"/>
                  </a:cubicBezTo>
                  <a:cubicBezTo>
                    <a:pt x="40" y="114"/>
                    <a:pt x="40" y="114"/>
                    <a:pt x="40" y="114"/>
                  </a:cubicBezTo>
                  <a:cubicBezTo>
                    <a:pt x="40" y="117"/>
                    <a:pt x="42" y="120"/>
                    <a:pt x="46" y="120"/>
                  </a:cubicBezTo>
                  <a:cubicBezTo>
                    <a:pt x="70" y="120"/>
                    <a:pt x="70" y="120"/>
                    <a:pt x="70" y="120"/>
                  </a:cubicBezTo>
                  <a:cubicBezTo>
                    <a:pt x="73" y="120"/>
                    <a:pt x="76" y="117"/>
                    <a:pt x="76" y="114"/>
                  </a:cubicBezTo>
                  <a:cubicBezTo>
                    <a:pt x="76" y="104"/>
                    <a:pt x="76" y="104"/>
                    <a:pt x="76" y="104"/>
                  </a:cubicBezTo>
                  <a:cubicBezTo>
                    <a:pt x="79" y="103"/>
                    <a:pt x="84" y="101"/>
                    <a:pt x="88" y="98"/>
                  </a:cubicBezTo>
                  <a:cubicBezTo>
                    <a:pt x="97" y="103"/>
                    <a:pt x="97" y="103"/>
                    <a:pt x="97" y="103"/>
                  </a:cubicBezTo>
                  <a:cubicBezTo>
                    <a:pt x="100" y="104"/>
                    <a:pt x="103" y="103"/>
                    <a:pt x="105" y="100"/>
                  </a:cubicBezTo>
                  <a:cubicBezTo>
                    <a:pt x="117" y="80"/>
                    <a:pt x="117" y="80"/>
                    <a:pt x="117" y="80"/>
                  </a:cubicBezTo>
                  <a:cubicBezTo>
                    <a:pt x="118" y="78"/>
                    <a:pt x="118" y="77"/>
                    <a:pt x="118" y="75"/>
                  </a:cubicBezTo>
                  <a:cubicBezTo>
                    <a:pt x="118" y="74"/>
                    <a:pt x="117" y="72"/>
                    <a:pt x="115" y="71"/>
                  </a:cubicBezTo>
                  <a:cubicBezTo>
                    <a:pt x="107" y="67"/>
                    <a:pt x="107" y="67"/>
                    <a:pt x="107" y="67"/>
                  </a:cubicBezTo>
                  <a:cubicBezTo>
                    <a:pt x="107" y="65"/>
                    <a:pt x="108" y="62"/>
                    <a:pt x="108" y="60"/>
                  </a:cubicBezTo>
                  <a:cubicBezTo>
                    <a:pt x="108" y="58"/>
                    <a:pt x="107" y="56"/>
                    <a:pt x="107" y="53"/>
                  </a:cubicBezTo>
                  <a:cubicBezTo>
                    <a:pt x="115" y="49"/>
                    <a:pt x="115" y="49"/>
                    <a:pt x="115" y="49"/>
                  </a:cubicBezTo>
                  <a:cubicBezTo>
                    <a:pt x="117" y="48"/>
                    <a:pt x="118" y="47"/>
                    <a:pt x="118" y="45"/>
                  </a:cubicBezTo>
                  <a:close/>
                  <a:moveTo>
                    <a:pt x="95" y="52"/>
                  </a:moveTo>
                  <a:cubicBezTo>
                    <a:pt x="95" y="55"/>
                    <a:pt x="96" y="57"/>
                    <a:pt x="96" y="60"/>
                  </a:cubicBezTo>
                  <a:cubicBezTo>
                    <a:pt x="96" y="63"/>
                    <a:pt x="95" y="65"/>
                    <a:pt x="95" y="68"/>
                  </a:cubicBezTo>
                  <a:cubicBezTo>
                    <a:pt x="94" y="71"/>
                    <a:pt x="95" y="74"/>
                    <a:pt x="97" y="75"/>
                  </a:cubicBezTo>
                  <a:cubicBezTo>
                    <a:pt x="104" y="79"/>
                    <a:pt x="104" y="79"/>
                    <a:pt x="104" y="79"/>
                  </a:cubicBezTo>
                  <a:cubicBezTo>
                    <a:pt x="98" y="89"/>
                    <a:pt x="98" y="89"/>
                    <a:pt x="98" y="89"/>
                  </a:cubicBezTo>
                  <a:cubicBezTo>
                    <a:pt x="90" y="85"/>
                    <a:pt x="90" y="85"/>
                    <a:pt x="90" y="85"/>
                  </a:cubicBezTo>
                  <a:cubicBezTo>
                    <a:pt x="88" y="84"/>
                    <a:pt x="85" y="84"/>
                    <a:pt x="83" y="86"/>
                  </a:cubicBezTo>
                  <a:cubicBezTo>
                    <a:pt x="80" y="89"/>
                    <a:pt x="74" y="93"/>
                    <a:pt x="68" y="95"/>
                  </a:cubicBezTo>
                  <a:cubicBezTo>
                    <a:pt x="65" y="95"/>
                    <a:pt x="64" y="98"/>
                    <a:pt x="64" y="100"/>
                  </a:cubicBezTo>
                  <a:cubicBezTo>
                    <a:pt x="64" y="108"/>
                    <a:pt x="64" y="108"/>
                    <a:pt x="64" y="108"/>
                  </a:cubicBezTo>
                  <a:cubicBezTo>
                    <a:pt x="52" y="108"/>
                    <a:pt x="52" y="108"/>
                    <a:pt x="52" y="108"/>
                  </a:cubicBezTo>
                  <a:cubicBezTo>
                    <a:pt x="52" y="100"/>
                    <a:pt x="52" y="100"/>
                    <a:pt x="52" y="100"/>
                  </a:cubicBezTo>
                  <a:cubicBezTo>
                    <a:pt x="52" y="98"/>
                    <a:pt x="50" y="95"/>
                    <a:pt x="48" y="95"/>
                  </a:cubicBezTo>
                  <a:cubicBezTo>
                    <a:pt x="43" y="93"/>
                    <a:pt x="38" y="90"/>
                    <a:pt x="34" y="86"/>
                  </a:cubicBezTo>
                  <a:cubicBezTo>
                    <a:pt x="32" y="84"/>
                    <a:pt x="29" y="84"/>
                    <a:pt x="27" y="85"/>
                  </a:cubicBezTo>
                  <a:cubicBezTo>
                    <a:pt x="21" y="89"/>
                    <a:pt x="21" y="89"/>
                    <a:pt x="21" y="89"/>
                  </a:cubicBezTo>
                  <a:cubicBezTo>
                    <a:pt x="15" y="79"/>
                    <a:pt x="15" y="79"/>
                    <a:pt x="15" y="79"/>
                  </a:cubicBezTo>
                  <a:cubicBezTo>
                    <a:pt x="22" y="75"/>
                    <a:pt x="22" y="75"/>
                    <a:pt x="22" y="75"/>
                  </a:cubicBezTo>
                  <a:cubicBezTo>
                    <a:pt x="24" y="74"/>
                    <a:pt x="25" y="71"/>
                    <a:pt x="25" y="68"/>
                  </a:cubicBezTo>
                  <a:cubicBezTo>
                    <a:pt x="24" y="65"/>
                    <a:pt x="24" y="63"/>
                    <a:pt x="24" y="60"/>
                  </a:cubicBezTo>
                  <a:cubicBezTo>
                    <a:pt x="24" y="57"/>
                    <a:pt x="24" y="54"/>
                    <a:pt x="25" y="52"/>
                  </a:cubicBezTo>
                  <a:cubicBezTo>
                    <a:pt x="25" y="49"/>
                    <a:pt x="24" y="47"/>
                    <a:pt x="22" y="45"/>
                  </a:cubicBezTo>
                  <a:cubicBezTo>
                    <a:pt x="15" y="41"/>
                    <a:pt x="15" y="41"/>
                    <a:pt x="15" y="41"/>
                  </a:cubicBezTo>
                  <a:cubicBezTo>
                    <a:pt x="21" y="31"/>
                    <a:pt x="21" y="31"/>
                    <a:pt x="21" y="31"/>
                  </a:cubicBezTo>
                  <a:cubicBezTo>
                    <a:pt x="27" y="35"/>
                    <a:pt x="27" y="35"/>
                    <a:pt x="27" y="35"/>
                  </a:cubicBezTo>
                  <a:cubicBezTo>
                    <a:pt x="29" y="36"/>
                    <a:pt x="32" y="36"/>
                    <a:pt x="34" y="34"/>
                  </a:cubicBezTo>
                  <a:cubicBezTo>
                    <a:pt x="38" y="30"/>
                    <a:pt x="43" y="27"/>
                    <a:pt x="48" y="26"/>
                  </a:cubicBezTo>
                  <a:cubicBezTo>
                    <a:pt x="50" y="25"/>
                    <a:pt x="52" y="23"/>
                    <a:pt x="52" y="20"/>
                  </a:cubicBezTo>
                  <a:cubicBezTo>
                    <a:pt x="52" y="12"/>
                    <a:pt x="52" y="12"/>
                    <a:pt x="52" y="12"/>
                  </a:cubicBezTo>
                  <a:cubicBezTo>
                    <a:pt x="64" y="12"/>
                    <a:pt x="64" y="12"/>
                    <a:pt x="64" y="12"/>
                  </a:cubicBezTo>
                  <a:cubicBezTo>
                    <a:pt x="64" y="20"/>
                    <a:pt x="64" y="20"/>
                    <a:pt x="64" y="20"/>
                  </a:cubicBezTo>
                  <a:cubicBezTo>
                    <a:pt x="64" y="23"/>
                    <a:pt x="65" y="25"/>
                    <a:pt x="68" y="26"/>
                  </a:cubicBezTo>
                  <a:cubicBezTo>
                    <a:pt x="74" y="28"/>
                    <a:pt x="80" y="31"/>
                    <a:pt x="83" y="34"/>
                  </a:cubicBezTo>
                  <a:cubicBezTo>
                    <a:pt x="85" y="36"/>
                    <a:pt x="88" y="36"/>
                    <a:pt x="90" y="35"/>
                  </a:cubicBezTo>
                  <a:cubicBezTo>
                    <a:pt x="98" y="31"/>
                    <a:pt x="98" y="31"/>
                    <a:pt x="98" y="31"/>
                  </a:cubicBezTo>
                  <a:cubicBezTo>
                    <a:pt x="104" y="41"/>
                    <a:pt x="104" y="41"/>
                    <a:pt x="104" y="41"/>
                  </a:cubicBezTo>
                  <a:cubicBezTo>
                    <a:pt x="97" y="45"/>
                    <a:pt x="97" y="45"/>
                    <a:pt x="97" y="45"/>
                  </a:cubicBezTo>
                  <a:cubicBezTo>
                    <a:pt x="95" y="47"/>
                    <a:pt x="94" y="49"/>
                    <a:pt x="95"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7" name="Freeform 24">
              <a:extLst>
                <a:ext uri="{FF2B5EF4-FFF2-40B4-BE49-F238E27FC236}">
                  <a16:creationId xmlns:a16="http://schemas.microsoft.com/office/drawing/2014/main" id="{2F2F96FF-25F7-C628-452B-6F981B594F8D}"/>
                </a:ext>
              </a:extLst>
            </p:cNvPr>
            <p:cNvSpPr>
              <a:spLocks noEditPoints="1"/>
            </p:cNvSpPr>
            <p:nvPr/>
          </p:nvSpPr>
          <p:spPr bwMode="auto">
            <a:xfrm>
              <a:off x="2734" y="673"/>
              <a:ext cx="296" cy="289"/>
            </a:xfrm>
            <a:custGeom>
              <a:avLst/>
              <a:gdLst>
                <a:gd name="T0" fmla="*/ 184 w 194"/>
                <a:gd name="T1" fmla="*/ 141 h 193"/>
                <a:gd name="T2" fmla="*/ 69 w 194"/>
                <a:gd name="T3" fmla="*/ 26 h 193"/>
                <a:gd name="T4" fmla="*/ 62 w 194"/>
                <a:gd name="T5" fmla="*/ 6 h 193"/>
                <a:gd name="T6" fmla="*/ 58 w 194"/>
                <a:gd name="T7" fmla="*/ 1 h 193"/>
                <a:gd name="T8" fmla="*/ 52 w 194"/>
                <a:gd name="T9" fmla="*/ 2 h 193"/>
                <a:gd name="T10" fmla="*/ 51 w 194"/>
                <a:gd name="T11" fmla="*/ 2 h 193"/>
                <a:gd name="T12" fmla="*/ 3 w 194"/>
                <a:gd name="T13" fmla="*/ 51 h 193"/>
                <a:gd name="T14" fmla="*/ 2 w 194"/>
                <a:gd name="T15" fmla="*/ 52 h 193"/>
                <a:gd name="T16" fmla="*/ 1 w 194"/>
                <a:gd name="T17" fmla="*/ 58 h 193"/>
                <a:gd name="T18" fmla="*/ 6 w 194"/>
                <a:gd name="T19" fmla="*/ 62 h 193"/>
                <a:gd name="T20" fmla="*/ 26 w 194"/>
                <a:gd name="T21" fmla="*/ 69 h 193"/>
                <a:gd name="T22" fmla="*/ 141 w 194"/>
                <a:gd name="T23" fmla="*/ 184 h 193"/>
                <a:gd name="T24" fmla="*/ 160 w 194"/>
                <a:gd name="T25" fmla="*/ 193 h 193"/>
                <a:gd name="T26" fmla="*/ 161 w 194"/>
                <a:gd name="T27" fmla="*/ 193 h 193"/>
                <a:gd name="T28" fmla="*/ 181 w 194"/>
                <a:gd name="T29" fmla="*/ 184 h 193"/>
                <a:gd name="T30" fmla="*/ 184 w 194"/>
                <a:gd name="T31" fmla="*/ 181 h 193"/>
                <a:gd name="T32" fmla="*/ 193 w 194"/>
                <a:gd name="T33" fmla="*/ 160 h 193"/>
                <a:gd name="T34" fmla="*/ 184 w 194"/>
                <a:gd name="T35" fmla="*/ 141 h 193"/>
                <a:gd name="T36" fmla="*/ 35 w 194"/>
                <a:gd name="T37" fmla="*/ 60 h 193"/>
                <a:gd name="T38" fmla="*/ 19 w 194"/>
                <a:gd name="T39" fmla="*/ 52 h 193"/>
                <a:gd name="T40" fmla="*/ 52 w 194"/>
                <a:gd name="T41" fmla="*/ 19 h 193"/>
                <a:gd name="T42" fmla="*/ 60 w 194"/>
                <a:gd name="T43" fmla="*/ 34 h 193"/>
                <a:gd name="T44" fmla="*/ 88 w 194"/>
                <a:gd name="T45" fmla="*/ 62 h 193"/>
                <a:gd name="T46" fmla="*/ 37 w 194"/>
                <a:gd name="T47" fmla="*/ 62 h 193"/>
                <a:gd name="T48" fmla="*/ 35 w 194"/>
                <a:gd name="T49" fmla="*/ 60 h 193"/>
                <a:gd name="T50" fmla="*/ 176 w 194"/>
                <a:gd name="T51" fmla="*/ 172 h 193"/>
                <a:gd name="T52" fmla="*/ 172 w 194"/>
                <a:gd name="T53" fmla="*/ 175 h 193"/>
                <a:gd name="T54" fmla="*/ 161 w 194"/>
                <a:gd name="T55" fmla="*/ 181 h 193"/>
                <a:gd name="T56" fmla="*/ 150 w 194"/>
                <a:gd name="T57" fmla="*/ 176 h 193"/>
                <a:gd name="T58" fmla="*/ 150 w 194"/>
                <a:gd name="T59" fmla="*/ 175 h 193"/>
                <a:gd name="T60" fmla="*/ 143 w 194"/>
                <a:gd name="T61" fmla="*/ 169 h 193"/>
                <a:gd name="T62" fmla="*/ 153 w 194"/>
                <a:gd name="T63" fmla="*/ 159 h 193"/>
                <a:gd name="T64" fmla="*/ 153 w 194"/>
                <a:gd name="T65" fmla="*/ 151 h 193"/>
                <a:gd name="T66" fmla="*/ 144 w 194"/>
                <a:gd name="T67" fmla="*/ 151 h 193"/>
                <a:gd name="T68" fmla="*/ 135 w 194"/>
                <a:gd name="T69" fmla="*/ 160 h 193"/>
                <a:gd name="T70" fmla="*/ 121 w 194"/>
                <a:gd name="T71" fmla="*/ 147 h 193"/>
                <a:gd name="T72" fmla="*/ 131 w 194"/>
                <a:gd name="T73" fmla="*/ 138 h 193"/>
                <a:gd name="T74" fmla="*/ 131 w 194"/>
                <a:gd name="T75" fmla="*/ 129 h 193"/>
                <a:gd name="T76" fmla="*/ 122 w 194"/>
                <a:gd name="T77" fmla="*/ 129 h 193"/>
                <a:gd name="T78" fmla="*/ 113 w 194"/>
                <a:gd name="T79" fmla="*/ 138 h 193"/>
                <a:gd name="T80" fmla="*/ 100 w 194"/>
                <a:gd name="T81" fmla="*/ 126 h 193"/>
                <a:gd name="T82" fmla="*/ 110 w 194"/>
                <a:gd name="T83" fmla="*/ 116 h 193"/>
                <a:gd name="T84" fmla="*/ 110 w 194"/>
                <a:gd name="T85" fmla="*/ 107 h 193"/>
                <a:gd name="T86" fmla="*/ 101 w 194"/>
                <a:gd name="T87" fmla="*/ 107 h 193"/>
                <a:gd name="T88" fmla="*/ 91 w 194"/>
                <a:gd name="T89" fmla="*/ 117 h 193"/>
                <a:gd name="T90" fmla="*/ 79 w 194"/>
                <a:gd name="T91" fmla="*/ 104 h 193"/>
                <a:gd name="T92" fmla="*/ 88 w 194"/>
                <a:gd name="T93" fmla="*/ 95 h 193"/>
                <a:gd name="T94" fmla="*/ 88 w 194"/>
                <a:gd name="T95" fmla="*/ 86 h 193"/>
                <a:gd name="T96" fmla="*/ 80 w 194"/>
                <a:gd name="T97" fmla="*/ 86 h 193"/>
                <a:gd name="T98" fmla="*/ 70 w 194"/>
                <a:gd name="T99" fmla="*/ 96 h 193"/>
                <a:gd name="T100" fmla="*/ 49 w 194"/>
                <a:gd name="T101" fmla="*/ 74 h 193"/>
                <a:gd name="T102" fmla="*/ 100 w 194"/>
                <a:gd name="T103" fmla="*/ 74 h 193"/>
                <a:gd name="T104" fmla="*/ 176 w 194"/>
                <a:gd name="T105" fmla="*/ 150 h 193"/>
                <a:gd name="T106" fmla="*/ 176 w 194"/>
                <a:gd name="T107" fmla="*/ 150 h 193"/>
                <a:gd name="T108" fmla="*/ 181 w 194"/>
                <a:gd name="T109" fmla="*/ 160 h 193"/>
                <a:gd name="T110" fmla="*/ 176 w 194"/>
                <a:gd name="T111" fmla="*/ 172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4" h="193">
                  <a:moveTo>
                    <a:pt x="184" y="141"/>
                  </a:moveTo>
                  <a:cubicBezTo>
                    <a:pt x="69" y="26"/>
                    <a:pt x="69" y="26"/>
                    <a:pt x="69" y="26"/>
                  </a:cubicBezTo>
                  <a:cubicBezTo>
                    <a:pt x="65" y="22"/>
                    <a:pt x="63" y="11"/>
                    <a:pt x="62" y="6"/>
                  </a:cubicBezTo>
                  <a:cubicBezTo>
                    <a:pt x="62" y="4"/>
                    <a:pt x="60" y="1"/>
                    <a:pt x="58" y="1"/>
                  </a:cubicBezTo>
                  <a:cubicBezTo>
                    <a:pt x="56" y="0"/>
                    <a:pt x="53" y="0"/>
                    <a:pt x="52" y="2"/>
                  </a:cubicBezTo>
                  <a:cubicBezTo>
                    <a:pt x="51" y="2"/>
                    <a:pt x="51" y="2"/>
                    <a:pt x="51" y="2"/>
                  </a:cubicBezTo>
                  <a:cubicBezTo>
                    <a:pt x="3" y="51"/>
                    <a:pt x="3" y="51"/>
                    <a:pt x="3" y="51"/>
                  </a:cubicBezTo>
                  <a:cubicBezTo>
                    <a:pt x="2" y="52"/>
                    <a:pt x="2" y="52"/>
                    <a:pt x="2" y="52"/>
                  </a:cubicBezTo>
                  <a:cubicBezTo>
                    <a:pt x="1" y="53"/>
                    <a:pt x="0" y="56"/>
                    <a:pt x="1" y="58"/>
                  </a:cubicBezTo>
                  <a:cubicBezTo>
                    <a:pt x="2" y="60"/>
                    <a:pt x="4" y="62"/>
                    <a:pt x="6" y="62"/>
                  </a:cubicBezTo>
                  <a:cubicBezTo>
                    <a:pt x="11" y="63"/>
                    <a:pt x="22" y="65"/>
                    <a:pt x="26" y="69"/>
                  </a:cubicBezTo>
                  <a:cubicBezTo>
                    <a:pt x="141" y="184"/>
                    <a:pt x="141" y="184"/>
                    <a:pt x="141" y="184"/>
                  </a:cubicBezTo>
                  <a:cubicBezTo>
                    <a:pt x="142" y="186"/>
                    <a:pt x="150" y="193"/>
                    <a:pt x="160" y="193"/>
                  </a:cubicBezTo>
                  <a:cubicBezTo>
                    <a:pt x="161" y="193"/>
                    <a:pt x="161" y="193"/>
                    <a:pt x="161" y="193"/>
                  </a:cubicBezTo>
                  <a:cubicBezTo>
                    <a:pt x="168" y="193"/>
                    <a:pt x="175" y="190"/>
                    <a:pt x="181" y="184"/>
                  </a:cubicBezTo>
                  <a:cubicBezTo>
                    <a:pt x="184" y="181"/>
                    <a:pt x="184" y="181"/>
                    <a:pt x="184" y="181"/>
                  </a:cubicBezTo>
                  <a:cubicBezTo>
                    <a:pt x="191" y="174"/>
                    <a:pt x="194" y="167"/>
                    <a:pt x="193" y="160"/>
                  </a:cubicBezTo>
                  <a:cubicBezTo>
                    <a:pt x="193" y="149"/>
                    <a:pt x="186" y="142"/>
                    <a:pt x="184" y="141"/>
                  </a:cubicBezTo>
                  <a:close/>
                  <a:moveTo>
                    <a:pt x="35" y="60"/>
                  </a:moveTo>
                  <a:cubicBezTo>
                    <a:pt x="31" y="56"/>
                    <a:pt x="25" y="54"/>
                    <a:pt x="19" y="52"/>
                  </a:cubicBezTo>
                  <a:cubicBezTo>
                    <a:pt x="52" y="19"/>
                    <a:pt x="52" y="19"/>
                    <a:pt x="52" y="19"/>
                  </a:cubicBezTo>
                  <a:cubicBezTo>
                    <a:pt x="54" y="24"/>
                    <a:pt x="56" y="30"/>
                    <a:pt x="60" y="34"/>
                  </a:cubicBezTo>
                  <a:cubicBezTo>
                    <a:pt x="88" y="62"/>
                    <a:pt x="88" y="62"/>
                    <a:pt x="88" y="62"/>
                  </a:cubicBezTo>
                  <a:cubicBezTo>
                    <a:pt x="37" y="62"/>
                    <a:pt x="37" y="62"/>
                    <a:pt x="37" y="62"/>
                  </a:cubicBezTo>
                  <a:lnTo>
                    <a:pt x="35" y="60"/>
                  </a:lnTo>
                  <a:close/>
                  <a:moveTo>
                    <a:pt x="176" y="172"/>
                  </a:moveTo>
                  <a:cubicBezTo>
                    <a:pt x="172" y="175"/>
                    <a:pt x="172" y="175"/>
                    <a:pt x="172" y="175"/>
                  </a:cubicBezTo>
                  <a:cubicBezTo>
                    <a:pt x="168" y="179"/>
                    <a:pt x="164" y="181"/>
                    <a:pt x="161" y="181"/>
                  </a:cubicBezTo>
                  <a:cubicBezTo>
                    <a:pt x="155" y="181"/>
                    <a:pt x="150" y="176"/>
                    <a:pt x="150" y="176"/>
                  </a:cubicBezTo>
                  <a:cubicBezTo>
                    <a:pt x="150" y="176"/>
                    <a:pt x="150" y="175"/>
                    <a:pt x="150" y="175"/>
                  </a:cubicBezTo>
                  <a:cubicBezTo>
                    <a:pt x="143" y="169"/>
                    <a:pt x="143" y="169"/>
                    <a:pt x="143" y="169"/>
                  </a:cubicBezTo>
                  <a:cubicBezTo>
                    <a:pt x="153" y="159"/>
                    <a:pt x="153" y="159"/>
                    <a:pt x="153" y="159"/>
                  </a:cubicBezTo>
                  <a:cubicBezTo>
                    <a:pt x="155" y="157"/>
                    <a:pt x="155" y="153"/>
                    <a:pt x="153" y="151"/>
                  </a:cubicBezTo>
                  <a:cubicBezTo>
                    <a:pt x="150" y="148"/>
                    <a:pt x="146" y="148"/>
                    <a:pt x="144" y="151"/>
                  </a:cubicBezTo>
                  <a:cubicBezTo>
                    <a:pt x="135" y="160"/>
                    <a:pt x="135" y="160"/>
                    <a:pt x="135" y="160"/>
                  </a:cubicBezTo>
                  <a:cubicBezTo>
                    <a:pt x="121" y="147"/>
                    <a:pt x="121" y="147"/>
                    <a:pt x="121" y="147"/>
                  </a:cubicBezTo>
                  <a:cubicBezTo>
                    <a:pt x="131" y="138"/>
                    <a:pt x="131" y="138"/>
                    <a:pt x="131" y="138"/>
                  </a:cubicBezTo>
                  <a:cubicBezTo>
                    <a:pt x="133" y="135"/>
                    <a:pt x="133" y="131"/>
                    <a:pt x="131" y="129"/>
                  </a:cubicBezTo>
                  <a:cubicBezTo>
                    <a:pt x="128" y="126"/>
                    <a:pt x="125" y="126"/>
                    <a:pt x="122" y="129"/>
                  </a:cubicBezTo>
                  <a:cubicBezTo>
                    <a:pt x="113" y="138"/>
                    <a:pt x="113" y="138"/>
                    <a:pt x="113" y="138"/>
                  </a:cubicBezTo>
                  <a:cubicBezTo>
                    <a:pt x="100" y="126"/>
                    <a:pt x="100" y="126"/>
                    <a:pt x="100" y="126"/>
                  </a:cubicBezTo>
                  <a:cubicBezTo>
                    <a:pt x="110" y="116"/>
                    <a:pt x="110" y="116"/>
                    <a:pt x="110" y="116"/>
                  </a:cubicBezTo>
                  <a:cubicBezTo>
                    <a:pt x="112" y="114"/>
                    <a:pt x="112" y="110"/>
                    <a:pt x="110" y="107"/>
                  </a:cubicBezTo>
                  <a:cubicBezTo>
                    <a:pt x="107" y="105"/>
                    <a:pt x="103" y="105"/>
                    <a:pt x="101" y="107"/>
                  </a:cubicBezTo>
                  <a:cubicBezTo>
                    <a:pt x="91" y="117"/>
                    <a:pt x="91" y="117"/>
                    <a:pt x="91" y="117"/>
                  </a:cubicBezTo>
                  <a:cubicBezTo>
                    <a:pt x="79" y="104"/>
                    <a:pt x="79" y="104"/>
                    <a:pt x="79" y="104"/>
                  </a:cubicBezTo>
                  <a:cubicBezTo>
                    <a:pt x="88" y="95"/>
                    <a:pt x="88" y="95"/>
                    <a:pt x="88" y="95"/>
                  </a:cubicBezTo>
                  <a:cubicBezTo>
                    <a:pt x="91" y="93"/>
                    <a:pt x="91" y="89"/>
                    <a:pt x="88" y="86"/>
                  </a:cubicBezTo>
                  <a:cubicBezTo>
                    <a:pt x="86" y="84"/>
                    <a:pt x="82" y="84"/>
                    <a:pt x="80" y="86"/>
                  </a:cubicBezTo>
                  <a:cubicBezTo>
                    <a:pt x="70" y="96"/>
                    <a:pt x="70" y="96"/>
                    <a:pt x="70" y="96"/>
                  </a:cubicBezTo>
                  <a:cubicBezTo>
                    <a:pt x="49" y="74"/>
                    <a:pt x="49" y="74"/>
                    <a:pt x="49" y="74"/>
                  </a:cubicBezTo>
                  <a:cubicBezTo>
                    <a:pt x="100" y="74"/>
                    <a:pt x="100" y="74"/>
                    <a:pt x="100" y="74"/>
                  </a:cubicBezTo>
                  <a:cubicBezTo>
                    <a:pt x="176" y="150"/>
                    <a:pt x="176" y="150"/>
                    <a:pt x="176" y="150"/>
                  </a:cubicBezTo>
                  <a:cubicBezTo>
                    <a:pt x="176" y="150"/>
                    <a:pt x="176" y="150"/>
                    <a:pt x="176" y="150"/>
                  </a:cubicBezTo>
                  <a:cubicBezTo>
                    <a:pt x="176" y="150"/>
                    <a:pt x="181" y="155"/>
                    <a:pt x="181" y="160"/>
                  </a:cubicBezTo>
                  <a:cubicBezTo>
                    <a:pt x="181" y="164"/>
                    <a:pt x="179" y="168"/>
                    <a:pt x="176" y="1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8" name="Freeform 25">
              <a:extLst>
                <a:ext uri="{FF2B5EF4-FFF2-40B4-BE49-F238E27FC236}">
                  <a16:creationId xmlns:a16="http://schemas.microsoft.com/office/drawing/2014/main" id="{35E4DFAA-8B6C-07CE-9F06-8E3B83C77D5D}"/>
                </a:ext>
              </a:extLst>
            </p:cNvPr>
            <p:cNvSpPr>
              <a:spLocks/>
            </p:cNvSpPr>
            <p:nvPr/>
          </p:nvSpPr>
          <p:spPr bwMode="auto">
            <a:xfrm>
              <a:off x="2585" y="806"/>
              <a:ext cx="185" cy="263"/>
            </a:xfrm>
            <a:custGeom>
              <a:avLst/>
              <a:gdLst>
                <a:gd name="T0" fmla="*/ 117 w 121"/>
                <a:gd name="T1" fmla="*/ 57 h 176"/>
                <a:gd name="T2" fmla="*/ 104 w 121"/>
                <a:gd name="T3" fmla="*/ 51 h 176"/>
                <a:gd name="T4" fmla="*/ 109 w 121"/>
                <a:gd name="T5" fmla="*/ 11 h 176"/>
                <a:gd name="T6" fmla="*/ 114 w 121"/>
                <a:gd name="T7" fmla="*/ 6 h 176"/>
                <a:gd name="T8" fmla="*/ 108 w 121"/>
                <a:gd name="T9" fmla="*/ 0 h 176"/>
                <a:gd name="T10" fmla="*/ 43 w 121"/>
                <a:gd name="T11" fmla="*/ 0 h 176"/>
                <a:gd name="T12" fmla="*/ 37 w 121"/>
                <a:gd name="T13" fmla="*/ 6 h 176"/>
                <a:gd name="T14" fmla="*/ 38 w 121"/>
                <a:gd name="T15" fmla="*/ 7 h 176"/>
                <a:gd name="T16" fmla="*/ 38 w 121"/>
                <a:gd name="T17" fmla="*/ 7 h 176"/>
                <a:gd name="T18" fmla="*/ 39 w 121"/>
                <a:gd name="T19" fmla="*/ 9 h 176"/>
                <a:gd name="T20" fmla="*/ 39 w 121"/>
                <a:gd name="T21" fmla="*/ 9 h 176"/>
                <a:gd name="T22" fmla="*/ 40 w 121"/>
                <a:gd name="T23" fmla="*/ 10 h 176"/>
                <a:gd name="T24" fmla="*/ 40 w 121"/>
                <a:gd name="T25" fmla="*/ 10 h 176"/>
                <a:gd name="T26" fmla="*/ 41 w 121"/>
                <a:gd name="T27" fmla="*/ 11 h 176"/>
                <a:gd name="T28" fmla="*/ 41 w 121"/>
                <a:gd name="T29" fmla="*/ 11 h 176"/>
                <a:gd name="T30" fmla="*/ 45 w 121"/>
                <a:gd name="T31" fmla="*/ 49 h 176"/>
                <a:gd name="T32" fmla="*/ 0 w 121"/>
                <a:gd name="T33" fmla="*/ 114 h 176"/>
                <a:gd name="T34" fmla="*/ 55 w 121"/>
                <a:gd name="T35" fmla="*/ 176 h 176"/>
                <a:gd name="T36" fmla="*/ 56 w 121"/>
                <a:gd name="T37" fmla="*/ 176 h 176"/>
                <a:gd name="T38" fmla="*/ 92 w 121"/>
                <a:gd name="T39" fmla="*/ 176 h 176"/>
                <a:gd name="T40" fmla="*/ 98 w 121"/>
                <a:gd name="T41" fmla="*/ 170 h 176"/>
                <a:gd name="T42" fmla="*/ 92 w 121"/>
                <a:gd name="T43" fmla="*/ 165 h 176"/>
                <a:gd name="T44" fmla="*/ 56 w 121"/>
                <a:gd name="T45" fmla="*/ 165 h 176"/>
                <a:gd name="T46" fmla="*/ 12 w 121"/>
                <a:gd name="T47" fmla="*/ 120 h 176"/>
                <a:gd name="T48" fmla="*/ 79 w 121"/>
                <a:gd name="T49" fmla="*/ 120 h 176"/>
                <a:gd name="T50" fmla="*/ 85 w 121"/>
                <a:gd name="T51" fmla="*/ 114 h 176"/>
                <a:gd name="T52" fmla="*/ 79 w 121"/>
                <a:gd name="T53" fmla="*/ 108 h 176"/>
                <a:gd name="T54" fmla="*/ 12 w 121"/>
                <a:gd name="T55" fmla="*/ 108 h 176"/>
                <a:gd name="T56" fmla="*/ 52 w 121"/>
                <a:gd name="T57" fmla="*/ 60 h 176"/>
                <a:gd name="T58" fmla="*/ 57 w 121"/>
                <a:gd name="T59" fmla="*/ 54 h 176"/>
                <a:gd name="T60" fmla="*/ 53 w 121"/>
                <a:gd name="T61" fmla="*/ 11 h 176"/>
                <a:gd name="T62" fmla="*/ 96 w 121"/>
                <a:gd name="T63" fmla="*/ 11 h 176"/>
                <a:gd name="T64" fmla="*/ 92 w 121"/>
                <a:gd name="T65" fmla="*/ 54 h 176"/>
                <a:gd name="T66" fmla="*/ 92 w 121"/>
                <a:gd name="T67" fmla="*/ 54 h 176"/>
                <a:gd name="T68" fmla="*/ 92 w 121"/>
                <a:gd name="T69" fmla="*/ 55 h 176"/>
                <a:gd name="T70" fmla="*/ 96 w 121"/>
                <a:gd name="T71" fmla="*/ 60 h 176"/>
                <a:gd name="T72" fmla="*/ 96 w 121"/>
                <a:gd name="T73" fmla="*/ 61 h 176"/>
                <a:gd name="T74" fmla="*/ 111 w 121"/>
                <a:gd name="T75" fmla="*/ 67 h 176"/>
                <a:gd name="T76" fmla="*/ 114 w 121"/>
                <a:gd name="T77" fmla="*/ 68 h 176"/>
                <a:gd name="T78" fmla="*/ 119 w 121"/>
                <a:gd name="T79" fmla="*/ 66 h 176"/>
                <a:gd name="T80" fmla="*/ 117 w 121"/>
                <a:gd name="T81" fmla="*/ 57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21" h="176">
                  <a:moveTo>
                    <a:pt x="117" y="57"/>
                  </a:moveTo>
                  <a:cubicBezTo>
                    <a:pt x="113" y="54"/>
                    <a:pt x="108" y="52"/>
                    <a:pt x="104" y="51"/>
                  </a:cubicBezTo>
                  <a:cubicBezTo>
                    <a:pt x="104" y="34"/>
                    <a:pt x="106" y="16"/>
                    <a:pt x="109" y="11"/>
                  </a:cubicBezTo>
                  <a:cubicBezTo>
                    <a:pt x="112" y="11"/>
                    <a:pt x="114" y="8"/>
                    <a:pt x="114" y="6"/>
                  </a:cubicBezTo>
                  <a:cubicBezTo>
                    <a:pt x="114" y="2"/>
                    <a:pt x="111" y="0"/>
                    <a:pt x="108" y="0"/>
                  </a:cubicBezTo>
                  <a:cubicBezTo>
                    <a:pt x="43" y="0"/>
                    <a:pt x="43" y="0"/>
                    <a:pt x="43" y="0"/>
                  </a:cubicBezTo>
                  <a:cubicBezTo>
                    <a:pt x="40" y="0"/>
                    <a:pt x="37" y="2"/>
                    <a:pt x="37" y="6"/>
                  </a:cubicBezTo>
                  <a:cubicBezTo>
                    <a:pt x="37" y="6"/>
                    <a:pt x="38" y="7"/>
                    <a:pt x="38" y="7"/>
                  </a:cubicBezTo>
                  <a:cubicBezTo>
                    <a:pt x="38" y="7"/>
                    <a:pt x="38" y="7"/>
                    <a:pt x="38" y="7"/>
                  </a:cubicBezTo>
                  <a:cubicBezTo>
                    <a:pt x="38" y="8"/>
                    <a:pt x="38" y="8"/>
                    <a:pt x="39" y="9"/>
                  </a:cubicBezTo>
                  <a:cubicBezTo>
                    <a:pt x="39" y="9"/>
                    <a:pt x="39" y="9"/>
                    <a:pt x="39" y="9"/>
                  </a:cubicBezTo>
                  <a:cubicBezTo>
                    <a:pt x="39" y="9"/>
                    <a:pt x="39" y="10"/>
                    <a:pt x="40" y="10"/>
                  </a:cubicBezTo>
                  <a:cubicBezTo>
                    <a:pt x="40" y="10"/>
                    <a:pt x="40" y="10"/>
                    <a:pt x="40" y="10"/>
                  </a:cubicBezTo>
                  <a:cubicBezTo>
                    <a:pt x="40" y="10"/>
                    <a:pt x="41" y="11"/>
                    <a:pt x="41" y="11"/>
                  </a:cubicBezTo>
                  <a:cubicBezTo>
                    <a:pt x="41" y="11"/>
                    <a:pt x="41" y="11"/>
                    <a:pt x="41" y="11"/>
                  </a:cubicBezTo>
                  <a:cubicBezTo>
                    <a:pt x="43" y="16"/>
                    <a:pt x="45" y="33"/>
                    <a:pt x="45" y="49"/>
                  </a:cubicBezTo>
                  <a:cubicBezTo>
                    <a:pt x="32" y="53"/>
                    <a:pt x="0" y="67"/>
                    <a:pt x="0" y="114"/>
                  </a:cubicBezTo>
                  <a:cubicBezTo>
                    <a:pt x="0" y="172"/>
                    <a:pt x="55" y="176"/>
                    <a:pt x="55" y="176"/>
                  </a:cubicBezTo>
                  <a:cubicBezTo>
                    <a:pt x="55" y="176"/>
                    <a:pt x="55" y="176"/>
                    <a:pt x="56" y="176"/>
                  </a:cubicBezTo>
                  <a:cubicBezTo>
                    <a:pt x="92" y="176"/>
                    <a:pt x="92" y="176"/>
                    <a:pt x="92" y="176"/>
                  </a:cubicBezTo>
                  <a:cubicBezTo>
                    <a:pt x="95" y="176"/>
                    <a:pt x="98" y="174"/>
                    <a:pt x="98" y="170"/>
                  </a:cubicBezTo>
                  <a:cubicBezTo>
                    <a:pt x="98" y="167"/>
                    <a:pt x="95" y="165"/>
                    <a:pt x="92" y="165"/>
                  </a:cubicBezTo>
                  <a:cubicBezTo>
                    <a:pt x="56" y="165"/>
                    <a:pt x="56" y="165"/>
                    <a:pt x="56" y="165"/>
                  </a:cubicBezTo>
                  <a:cubicBezTo>
                    <a:pt x="52" y="164"/>
                    <a:pt x="15" y="160"/>
                    <a:pt x="12" y="120"/>
                  </a:cubicBezTo>
                  <a:cubicBezTo>
                    <a:pt x="79" y="120"/>
                    <a:pt x="79" y="120"/>
                    <a:pt x="79" y="120"/>
                  </a:cubicBezTo>
                  <a:cubicBezTo>
                    <a:pt x="82" y="120"/>
                    <a:pt x="85" y="117"/>
                    <a:pt x="85" y="114"/>
                  </a:cubicBezTo>
                  <a:cubicBezTo>
                    <a:pt x="85" y="111"/>
                    <a:pt x="82" y="108"/>
                    <a:pt x="79" y="108"/>
                  </a:cubicBezTo>
                  <a:cubicBezTo>
                    <a:pt x="12" y="108"/>
                    <a:pt x="12" y="108"/>
                    <a:pt x="12" y="108"/>
                  </a:cubicBezTo>
                  <a:cubicBezTo>
                    <a:pt x="15" y="66"/>
                    <a:pt x="50" y="60"/>
                    <a:pt x="52" y="60"/>
                  </a:cubicBezTo>
                  <a:cubicBezTo>
                    <a:pt x="55" y="59"/>
                    <a:pt x="57" y="57"/>
                    <a:pt x="57" y="54"/>
                  </a:cubicBezTo>
                  <a:cubicBezTo>
                    <a:pt x="57" y="42"/>
                    <a:pt x="57" y="23"/>
                    <a:pt x="53" y="11"/>
                  </a:cubicBezTo>
                  <a:cubicBezTo>
                    <a:pt x="96" y="11"/>
                    <a:pt x="96" y="11"/>
                    <a:pt x="96" y="11"/>
                  </a:cubicBezTo>
                  <a:cubicBezTo>
                    <a:pt x="94" y="19"/>
                    <a:pt x="92" y="32"/>
                    <a:pt x="92" y="54"/>
                  </a:cubicBezTo>
                  <a:cubicBezTo>
                    <a:pt x="92" y="54"/>
                    <a:pt x="92" y="54"/>
                    <a:pt x="92" y="54"/>
                  </a:cubicBezTo>
                  <a:cubicBezTo>
                    <a:pt x="92" y="54"/>
                    <a:pt x="92" y="54"/>
                    <a:pt x="92" y="55"/>
                  </a:cubicBezTo>
                  <a:cubicBezTo>
                    <a:pt x="92" y="57"/>
                    <a:pt x="94" y="59"/>
                    <a:pt x="96" y="60"/>
                  </a:cubicBezTo>
                  <a:cubicBezTo>
                    <a:pt x="96" y="60"/>
                    <a:pt x="96" y="60"/>
                    <a:pt x="96" y="61"/>
                  </a:cubicBezTo>
                  <a:cubicBezTo>
                    <a:pt x="99" y="61"/>
                    <a:pt x="106" y="64"/>
                    <a:pt x="111" y="67"/>
                  </a:cubicBezTo>
                  <a:cubicBezTo>
                    <a:pt x="112" y="68"/>
                    <a:pt x="113" y="68"/>
                    <a:pt x="114" y="68"/>
                  </a:cubicBezTo>
                  <a:cubicBezTo>
                    <a:pt x="116" y="68"/>
                    <a:pt x="118" y="67"/>
                    <a:pt x="119" y="66"/>
                  </a:cubicBezTo>
                  <a:cubicBezTo>
                    <a:pt x="121" y="63"/>
                    <a:pt x="120" y="59"/>
                    <a:pt x="117"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29" name="Group 4">
            <a:extLst>
              <a:ext uri="{FF2B5EF4-FFF2-40B4-BE49-F238E27FC236}">
                <a16:creationId xmlns:a16="http://schemas.microsoft.com/office/drawing/2014/main" id="{3A137CCD-22D3-729F-4B7E-4A7D1D8BE936}"/>
              </a:ext>
            </a:extLst>
          </p:cNvPr>
          <p:cNvGrpSpPr>
            <a:grpSpLocks noChangeAspect="1"/>
          </p:cNvGrpSpPr>
          <p:nvPr/>
        </p:nvGrpSpPr>
        <p:grpSpPr bwMode="auto">
          <a:xfrm>
            <a:off x="6704181" y="3891514"/>
            <a:ext cx="530506" cy="494170"/>
            <a:chOff x="5704" y="1481"/>
            <a:chExt cx="438" cy="408"/>
          </a:xfrm>
          <a:solidFill>
            <a:schemeClr val="tx2"/>
          </a:solidFill>
        </p:grpSpPr>
        <p:sp>
          <p:nvSpPr>
            <p:cNvPr id="30" name="Freeform 5">
              <a:extLst>
                <a:ext uri="{FF2B5EF4-FFF2-40B4-BE49-F238E27FC236}">
                  <a16:creationId xmlns:a16="http://schemas.microsoft.com/office/drawing/2014/main" id="{57EC70D0-9CDF-F05F-93F8-E254860C7A7C}"/>
                </a:ext>
              </a:extLst>
            </p:cNvPr>
            <p:cNvSpPr>
              <a:spLocks noEditPoints="1"/>
            </p:cNvSpPr>
            <p:nvPr/>
          </p:nvSpPr>
          <p:spPr bwMode="auto">
            <a:xfrm>
              <a:off x="5869" y="1520"/>
              <a:ext cx="109" cy="99"/>
            </a:xfrm>
            <a:custGeom>
              <a:avLst/>
              <a:gdLst>
                <a:gd name="T0" fmla="*/ 74 w 80"/>
                <a:gd name="T1" fmla="*/ 72 h 72"/>
                <a:gd name="T2" fmla="*/ 80 w 80"/>
                <a:gd name="T3" fmla="*/ 66 h 72"/>
                <a:gd name="T4" fmla="*/ 80 w 80"/>
                <a:gd name="T5" fmla="*/ 6 h 72"/>
                <a:gd name="T6" fmla="*/ 74 w 80"/>
                <a:gd name="T7" fmla="*/ 0 h 72"/>
                <a:gd name="T8" fmla="*/ 51 w 80"/>
                <a:gd name="T9" fmla="*/ 0 h 72"/>
                <a:gd name="T10" fmla="*/ 29 w 80"/>
                <a:gd name="T11" fmla="*/ 0 h 72"/>
                <a:gd name="T12" fmla="*/ 6 w 80"/>
                <a:gd name="T13" fmla="*/ 0 h 72"/>
                <a:gd name="T14" fmla="*/ 0 w 80"/>
                <a:gd name="T15" fmla="*/ 6 h 72"/>
                <a:gd name="T16" fmla="*/ 0 w 80"/>
                <a:gd name="T17" fmla="*/ 66 h 72"/>
                <a:gd name="T18" fmla="*/ 6 w 80"/>
                <a:gd name="T19" fmla="*/ 72 h 72"/>
                <a:gd name="T20" fmla="*/ 74 w 80"/>
                <a:gd name="T21" fmla="*/ 72 h 72"/>
                <a:gd name="T22" fmla="*/ 45 w 80"/>
                <a:gd name="T23" fmla="*/ 12 h 72"/>
                <a:gd name="T24" fmla="*/ 45 w 80"/>
                <a:gd name="T25" fmla="*/ 31 h 72"/>
                <a:gd name="T26" fmla="*/ 35 w 80"/>
                <a:gd name="T27" fmla="*/ 31 h 72"/>
                <a:gd name="T28" fmla="*/ 35 w 80"/>
                <a:gd name="T29" fmla="*/ 12 h 72"/>
                <a:gd name="T30" fmla="*/ 45 w 80"/>
                <a:gd name="T31" fmla="*/ 12 h 72"/>
                <a:gd name="T32" fmla="*/ 12 w 80"/>
                <a:gd name="T33" fmla="*/ 12 h 72"/>
                <a:gd name="T34" fmla="*/ 23 w 80"/>
                <a:gd name="T35" fmla="*/ 12 h 72"/>
                <a:gd name="T36" fmla="*/ 23 w 80"/>
                <a:gd name="T37" fmla="*/ 37 h 72"/>
                <a:gd name="T38" fmla="*/ 29 w 80"/>
                <a:gd name="T39" fmla="*/ 43 h 72"/>
                <a:gd name="T40" fmla="*/ 51 w 80"/>
                <a:gd name="T41" fmla="*/ 43 h 72"/>
                <a:gd name="T42" fmla="*/ 57 w 80"/>
                <a:gd name="T43" fmla="*/ 37 h 72"/>
                <a:gd name="T44" fmla="*/ 57 w 80"/>
                <a:gd name="T45" fmla="*/ 12 h 72"/>
                <a:gd name="T46" fmla="*/ 68 w 80"/>
                <a:gd name="T47" fmla="*/ 12 h 72"/>
                <a:gd name="T48" fmla="*/ 68 w 80"/>
                <a:gd name="T49" fmla="*/ 60 h 72"/>
                <a:gd name="T50" fmla="*/ 12 w 80"/>
                <a:gd name="T51" fmla="*/ 60 h 72"/>
                <a:gd name="T52" fmla="*/ 12 w 80"/>
                <a:gd name="T53"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0" h="72">
                  <a:moveTo>
                    <a:pt x="74" y="72"/>
                  </a:moveTo>
                  <a:cubicBezTo>
                    <a:pt x="77" y="72"/>
                    <a:pt x="80" y="69"/>
                    <a:pt x="80" y="66"/>
                  </a:cubicBezTo>
                  <a:cubicBezTo>
                    <a:pt x="80" y="6"/>
                    <a:pt x="80" y="6"/>
                    <a:pt x="80" y="6"/>
                  </a:cubicBezTo>
                  <a:cubicBezTo>
                    <a:pt x="80" y="3"/>
                    <a:pt x="77" y="0"/>
                    <a:pt x="74" y="0"/>
                  </a:cubicBezTo>
                  <a:cubicBezTo>
                    <a:pt x="51" y="0"/>
                    <a:pt x="51" y="0"/>
                    <a:pt x="51" y="0"/>
                  </a:cubicBezTo>
                  <a:cubicBezTo>
                    <a:pt x="29" y="0"/>
                    <a:pt x="29" y="0"/>
                    <a:pt x="29" y="0"/>
                  </a:cubicBezTo>
                  <a:cubicBezTo>
                    <a:pt x="6" y="0"/>
                    <a:pt x="6" y="0"/>
                    <a:pt x="6" y="0"/>
                  </a:cubicBezTo>
                  <a:cubicBezTo>
                    <a:pt x="3" y="0"/>
                    <a:pt x="0" y="3"/>
                    <a:pt x="0" y="6"/>
                  </a:cubicBezTo>
                  <a:cubicBezTo>
                    <a:pt x="0" y="66"/>
                    <a:pt x="0" y="66"/>
                    <a:pt x="0" y="66"/>
                  </a:cubicBezTo>
                  <a:cubicBezTo>
                    <a:pt x="0" y="69"/>
                    <a:pt x="3" y="72"/>
                    <a:pt x="6" y="72"/>
                  </a:cubicBezTo>
                  <a:lnTo>
                    <a:pt x="74" y="72"/>
                  </a:lnTo>
                  <a:close/>
                  <a:moveTo>
                    <a:pt x="45" y="12"/>
                  </a:moveTo>
                  <a:cubicBezTo>
                    <a:pt x="45" y="31"/>
                    <a:pt x="45" y="31"/>
                    <a:pt x="45" y="31"/>
                  </a:cubicBezTo>
                  <a:cubicBezTo>
                    <a:pt x="35" y="31"/>
                    <a:pt x="35" y="31"/>
                    <a:pt x="35" y="31"/>
                  </a:cubicBezTo>
                  <a:cubicBezTo>
                    <a:pt x="35" y="12"/>
                    <a:pt x="35" y="12"/>
                    <a:pt x="35" y="12"/>
                  </a:cubicBezTo>
                  <a:lnTo>
                    <a:pt x="45" y="12"/>
                  </a:lnTo>
                  <a:close/>
                  <a:moveTo>
                    <a:pt x="12" y="12"/>
                  </a:moveTo>
                  <a:cubicBezTo>
                    <a:pt x="23" y="12"/>
                    <a:pt x="23" y="12"/>
                    <a:pt x="23" y="12"/>
                  </a:cubicBezTo>
                  <a:cubicBezTo>
                    <a:pt x="23" y="37"/>
                    <a:pt x="23" y="37"/>
                    <a:pt x="23" y="37"/>
                  </a:cubicBezTo>
                  <a:cubicBezTo>
                    <a:pt x="23" y="40"/>
                    <a:pt x="26" y="43"/>
                    <a:pt x="29" y="43"/>
                  </a:cubicBezTo>
                  <a:cubicBezTo>
                    <a:pt x="51" y="43"/>
                    <a:pt x="51" y="43"/>
                    <a:pt x="51" y="43"/>
                  </a:cubicBezTo>
                  <a:cubicBezTo>
                    <a:pt x="54" y="43"/>
                    <a:pt x="57" y="40"/>
                    <a:pt x="57" y="37"/>
                  </a:cubicBezTo>
                  <a:cubicBezTo>
                    <a:pt x="57" y="12"/>
                    <a:pt x="57" y="12"/>
                    <a:pt x="57" y="12"/>
                  </a:cubicBezTo>
                  <a:cubicBezTo>
                    <a:pt x="68" y="12"/>
                    <a:pt x="68" y="12"/>
                    <a:pt x="68" y="12"/>
                  </a:cubicBezTo>
                  <a:cubicBezTo>
                    <a:pt x="68" y="60"/>
                    <a:pt x="68" y="60"/>
                    <a:pt x="68" y="60"/>
                  </a:cubicBezTo>
                  <a:cubicBezTo>
                    <a:pt x="12" y="60"/>
                    <a:pt x="12" y="60"/>
                    <a:pt x="12" y="60"/>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1" name="Freeform 6">
              <a:extLst>
                <a:ext uri="{FF2B5EF4-FFF2-40B4-BE49-F238E27FC236}">
                  <a16:creationId xmlns:a16="http://schemas.microsoft.com/office/drawing/2014/main" id="{346E8A01-6746-C1A7-9BB6-849579602A15}"/>
                </a:ext>
              </a:extLst>
            </p:cNvPr>
            <p:cNvSpPr>
              <a:spLocks noEditPoints="1"/>
            </p:cNvSpPr>
            <p:nvPr/>
          </p:nvSpPr>
          <p:spPr bwMode="auto">
            <a:xfrm>
              <a:off x="5836" y="1481"/>
              <a:ext cx="175" cy="176"/>
            </a:xfrm>
            <a:custGeom>
              <a:avLst/>
              <a:gdLst>
                <a:gd name="T0" fmla="*/ 64 w 128"/>
                <a:gd name="T1" fmla="*/ 128 h 128"/>
                <a:gd name="T2" fmla="*/ 128 w 128"/>
                <a:gd name="T3" fmla="*/ 64 h 128"/>
                <a:gd name="T4" fmla="*/ 64 w 128"/>
                <a:gd name="T5" fmla="*/ 0 h 128"/>
                <a:gd name="T6" fmla="*/ 0 w 128"/>
                <a:gd name="T7" fmla="*/ 64 h 128"/>
                <a:gd name="T8" fmla="*/ 64 w 128"/>
                <a:gd name="T9" fmla="*/ 128 h 128"/>
                <a:gd name="T10" fmla="*/ 64 w 128"/>
                <a:gd name="T11" fmla="*/ 12 h 128"/>
                <a:gd name="T12" fmla="*/ 116 w 128"/>
                <a:gd name="T13" fmla="*/ 64 h 128"/>
                <a:gd name="T14" fmla="*/ 64 w 128"/>
                <a:gd name="T15" fmla="*/ 116 h 128"/>
                <a:gd name="T16" fmla="*/ 12 w 128"/>
                <a:gd name="T17" fmla="*/ 64 h 128"/>
                <a:gd name="T18" fmla="*/ 64 w 128"/>
                <a:gd name="T19" fmla="*/ 1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8">
                  <a:moveTo>
                    <a:pt x="64" y="128"/>
                  </a:moveTo>
                  <a:cubicBezTo>
                    <a:pt x="99" y="128"/>
                    <a:pt x="128" y="99"/>
                    <a:pt x="128" y="64"/>
                  </a:cubicBezTo>
                  <a:cubicBezTo>
                    <a:pt x="128" y="29"/>
                    <a:pt x="99" y="0"/>
                    <a:pt x="64" y="0"/>
                  </a:cubicBezTo>
                  <a:cubicBezTo>
                    <a:pt x="29" y="0"/>
                    <a:pt x="0" y="29"/>
                    <a:pt x="0" y="64"/>
                  </a:cubicBezTo>
                  <a:cubicBezTo>
                    <a:pt x="0" y="99"/>
                    <a:pt x="29" y="128"/>
                    <a:pt x="64" y="128"/>
                  </a:cubicBezTo>
                  <a:close/>
                  <a:moveTo>
                    <a:pt x="64" y="12"/>
                  </a:moveTo>
                  <a:cubicBezTo>
                    <a:pt x="93" y="12"/>
                    <a:pt x="116" y="35"/>
                    <a:pt x="116" y="64"/>
                  </a:cubicBezTo>
                  <a:cubicBezTo>
                    <a:pt x="116" y="93"/>
                    <a:pt x="93" y="116"/>
                    <a:pt x="64" y="116"/>
                  </a:cubicBezTo>
                  <a:cubicBezTo>
                    <a:pt x="35" y="116"/>
                    <a:pt x="12" y="93"/>
                    <a:pt x="12" y="64"/>
                  </a:cubicBezTo>
                  <a:cubicBezTo>
                    <a:pt x="12" y="35"/>
                    <a:pt x="35" y="12"/>
                    <a:pt x="6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192" name="Freeform 7">
              <a:extLst>
                <a:ext uri="{FF2B5EF4-FFF2-40B4-BE49-F238E27FC236}">
                  <a16:creationId xmlns:a16="http://schemas.microsoft.com/office/drawing/2014/main" id="{1D88A50E-3BBD-E5F0-B375-AA7E5B9D28D6}"/>
                </a:ext>
              </a:extLst>
            </p:cNvPr>
            <p:cNvSpPr>
              <a:spLocks noEditPoints="1"/>
            </p:cNvSpPr>
            <p:nvPr/>
          </p:nvSpPr>
          <p:spPr bwMode="auto">
            <a:xfrm>
              <a:off x="5734" y="1759"/>
              <a:ext cx="114" cy="95"/>
            </a:xfrm>
            <a:custGeom>
              <a:avLst/>
              <a:gdLst>
                <a:gd name="T0" fmla="*/ 24 w 84"/>
                <a:gd name="T1" fmla="*/ 11 h 69"/>
                <a:gd name="T2" fmla="*/ 23 w 84"/>
                <a:gd name="T3" fmla="*/ 5 h 69"/>
                <a:gd name="T4" fmla="*/ 23 w 84"/>
                <a:gd name="T5" fmla="*/ 4 h 69"/>
                <a:gd name="T6" fmla="*/ 22 w 84"/>
                <a:gd name="T7" fmla="*/ 4 h 69"/>
                <a:gd name="T8" fmla="*/ 22 w 84"/>
                <a:gd name="T9" fmla="*/ 3 h 69"/>
                <a:gd name="T10" fmla="*/ 22 w 84"/>
                <a:gd name="T11" fmla="*/ 3 h 69"/>
                <a:gd name="T12" fmla="*/ 21 w 84"/>
                <a:gd name="T13" fmla="*/ 2 h 69"/>
                <a:gd name="T14" fmla="*/ 21 w 84"/>
                <a:gd name="T15" fmla="*/ 2 h 69"/>
                <a:gd name="T16" fmla="*/ 21 w 84"/>
                <a:gd name="T17" fmla="*/ 2 h 69"/>
                <a:gd name="T18" fmla="*/ 20 w 84"/>
                <a:gd name="T19" fmla="*/ 1 h 69"/>
                <a:gd name="T20" fmla="*/ 20 w 84"/>
                <a:gd name="T21" fmla="*/ 1 h 69"/>
                <a:gd name="T22" fmla="*/ 19 w 84"/>
                <a:gd name="T23" fmla="*/ 1 h 69"/>
                <a:gd name="T24" fmla="*/ 18 w 84"/>
                <a:gd name="T25" fmla="*/ 0 h 69"/>
                <a:gd name="T26" fmla="*/ 18 w 84"/>
                <a:gd name="T27" fmla="*/ 0 h 69"/>
                <a:gd name="T28" fmla="*/ 17 w 84"/>
                <a:gd name="T29" fmla="*/ 0 h 69"/>
                <a:gd name="T30" fmla="*/ 17 w 84"/>
                <a:gd name="T31" fmla="*/ 0 h 69"/>
                <a:gd name="T32" fmla="*/ 17 w 84"/>
                <a:gd name="T33" fmla="*/ 0 h 69"/>
                <a:gd name="T34" fmla="*/ 17 w 84"/>
                <a:gd name="T35" fmla="*/ 0 h 69"/>
                <a:gd name="T36" fmla="*/ 6 w 84"/>
                <a:gd name="T37" fmla="*/ 0 h 69"/>
                <a:gd name="T38" fmla="*/ 0 w 84"/>
                <a:gd name="T39" fmla="*/ 6 h 69"/>
                <a:gd name="T40" fmla="*/ 6 w 84"/>
                <a:gd name="T41" fmla="*/ 12 h 69"/>
                <a:gd name="T42" fmla="*/ 12 w 84"/>
                <a:gd name="T43" fmla="*/ 12 h 69"/>
                <a:gd name="T44" fmla="*/ 22 w 84"/>
                <a:gd name="T45" fmla="*/ 56 h 69"/>
                <a:gd name="T46" fmla="*/ 21 w 84"/>
                <a:gd name="T47" fmla="*/ 61 h 69"/>
                <a:gd name="T48" fmla="*/ 29 w 84"/>
                <a:gd name="T49" fmla="*/ 69 h 69"/>
                <a:gd name="T50" fmla="*/ 36 w 84"/>
                <a:gd name="T51" fmla="*/ 66 h 69"/>
                <a:gd name="T52" fmla="*/ 61 w 84"/>
                <a:gd name="T53" fmla="*/ 66 h 69"/>
                <a:gd name="T54" fmla="*/ 67 w 84"/>
                <a:gd name="T55" fmla="*/ 69 h 69"/>
                <a:gd name="T56" fmla="*/ 76 w 84"/>
                <a:gd name="T57" fmla="*/ 61 h 69"/>
                <a:gd name="T58" fmla="*/ 67 w 84"/>
                <a:gd name="T59" fmla="*/ 52 h 69"/>
                <a:gd name="T60" fmla="*/ 63 w 84"/>
                <a:gd name="T61" fmla="*/ 54 h 69"/>
                <a:gd name="T62" fmla="*/ 34 w 84"/>
                <a:gd name="T63" fmla="*/ 54 h 69"/>
                <a:gd name="T64" fmla="*/ 34 w 84"/>
                <a:gd name="T65" fmla="*/ 51 h 69"/>
                <a:gd name="T66" fmla="*/ 69 w 84"/>
                <a:gd name="T67" fmla="*/ 51 h 69"/>
                <a:gd name="T68" fmla="*/ 74 w 84"/>
                <a:gd name="T69" fmla="*/ 47 h 69"/>
                <a:gd name="T70" fmla="*/ 84 w 84"/>
                <a:gd name="T71" fmla="*/ 19 h 69"/>
                <a:gd name="T72" fmla="*/ 83 w 84"/>
                <a:gd name="T73" fmla="*/ 13 h 69"/>
                <a:gd name="T74" fmla="*/ 78 w 84"/>
                <a:gd name="T75" fmla="*/ 11 h 69"/>
                <a:gd name="T76" fmla="*/ 24 w 84"/>
                <a:gd name="T77" fmla="*/ 11 h 69"/>
                <a:gd name="T78" fmla="*/ 64 w 84"/>
                <a:gd name="T79" fmla="*/ 39 h 69"/>
                <a:gd name="T80" fmla="*/ 31 w 84"/>
                <a:gd name="T81" fmla="*/ 39 h 69"/>
                <a:gd name="T82" fmla="*/ 27 w 84"/>
                <a:gd name="T83" fmla="*/ 23 h 69"/>
                <a:gd name="T84" fmla="*/ 70 w 84"/>
                <a:gd name="T85" fmla="*/ 23 h 69"/>
                <a:gd name="T86" fmla="*/ 64 w 84"/>
                <a:gd name="T87" fmla="*/ 3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4" h="69">
                  <a:moveTo>
                    <a:pt x="24" y="11"/>
                  </a:moveTo>
                  <a:cubicBezTo>
                    <a:pt x="23" y="5"/>
                    <a:pt x="23" y="5"/>
                    <a:pt x="23" y="5"/>
                  </a:cubicBezTo>
                  <a:cubicBezTo>
                    <a:pt x="23" y="5"/>
                    <a:pt x="23" y="5"/>
                    <a:pt x="23" y="4"/>
                  </a:cubicBezTo>
                  <a:cubicBezTo>
                    <a:pt x="22" y="4"/>
                    <a:pt x="22" y="4"/>
                    <a:pt x="22" y="4"/>
                  </a:cubicBezTo>
                  <a:cubicBezTo>
                    <a:pt x="22" y="4"/>
                    <a:pt x="22" y="3"/>
                    <a:pt x="22" y="3"/>
                  </a:cubicBezTo>
                  <a:cubicBezTo>
                    <a:pt x="22" y="3"/>
                    <a:pt x="22" y="3"/>
                    <a:pt x="22" y="3"/>
                  </a:cubicBezTo>
                  <a:cubicBezTo>
                    <a:pt x="22" y="3"/>
                    <a:pt x="22" y="2"/>
                    <a:pt x="21" y="2"/>
                  </a:cubicBezTo>
                  <a:cubicBezTo>
                    <a:pt x="21" y="2"/>
                    <a:pt x="21" y="2"/>
                    <a:pt x="21" y="2"/>
                  </a:cubicBezTo>
                  <a:cubicBezTo>
                    <a:pt x="21" y="2"/>
                    <a:pt x="21" y="2"/>
                    <a:pt x="21" y="2"/>
                  </a:cubicBezTo>
                  <a:cubicBezTo>
                    <a:pt x="20" y="1"/>
                    <a:pt x="20" y="1"/>
                    <a:pt x="20" y="1"/>
                  </a:cubicBezTo>
                  <a:cubicBezTo>
                    <a:pt x="20" y="1"/>
                    <a:pt x="20" y="1"/>
                    <a:pt x="20" y="1"/>
                  </a:cubicBezTo>
                  <a:cubicBezTo>
                    <a:pt x="19" y="1"/>
                    <a:pt x="19" y="1"/>
                    <a:pt x="19" y="1"/>
                  </a:cubicBezTo>
                  <a:cubicBezTo>
                    <a:pt x="19" y="1"/>
                    <a:pt x="19" y="1"/>
                    <a:pt x="18" y="0"/>
                  </a:cubicBezTo>
                  <a:cubicBezTo>
                    <a:pt x="18" y="0"/>
                    <a:pt x="18" y="0"/>
                    <a:pt x="18" y="0"/>
                  </a:cubicBezTo>
                  <a:cubicBezTo>
                    <a:pt x="18" y="0"/>
                    <a:pt x="17" y="0"/>
                    <a:pt x="17" y="0"/>
                  </a:cubicBezTo>
                  <a:cubicBezTo>
                    <a:pt x="17" y="0"/>
                    <a:pt x="17" y="0"/>
                    <a:pt x="17" y="0"/>
                  </a:cubicBezTo>
                  <a:cubicBezTo>
                    <a:pt x="17" y="0"/>
                    <a:pt x="17" y="0"/>
                    <a:pt x="17" y="0"/>
                  </a:cubicBezTo>
                  <a:cubicBezTo>
                    <a:pt x="17" y="0"/>
                    <a:pt x="17" y="0"/>
                    <a:pt x="17" y="0"/>
                  </a:cubicBezTo>
                  <a:cubicBezTo>
                    <a:pt x="6" y="0"/>
                    <a:pt x="6" y="0"/>
                    <a:pt x="6" y="0"/>
                  </a:cubicBezTo>
                  <a:cubicBezTo>
                    <a:pt x="3" y="0"/>
                    <a:pt x="0" y="3"/>
                    <a:pt x="0" y="6"/>
                  </a:cubicBezTo>
                  <a:cubicBezTo>
                    <a:pt x="0" y="10"/>
                    <a:pt x="3" y="12"/>
                    <a:pt x="6" y="12"/>
                  </a:cubicBezTo>
                  <a:cubicBezTo>
                    <a:pt x="12" y="12"/>
                    <a:pt x="12" y="12"/>
                    <a:pt x="12" y="12"/>
                  </a:cubicBezTo>
                  <a:cubicBezTo>
                    <a:pt x="22" y="56"/>
                    <a:pt x="22" y="56"/>
                    <a:pt x="22" y="56"/>
                  </a:cubicBezTo>
                  <a:cubicBezTo>
                    <a:pt x="21" y="57"/>
                    <a:pt x="21" y="59"/>
                    <a:pt x="21" y="61"/>
                  </a:cubicBezTo>
                  <a:cubicBezTo>
                    <a:pt x="21" y="65"/>
                    <a:pt x="24" y="69"/>
                    <a:pt x="29" y="69"/>
                  </a:cubicBezTo>
                  <a:cubicBezTo>
                    <a:pt x="32" y="69"/>
                    <a:pt x="34" y="68"/>
                    <a:pt x="36" y="66"/>
                  </a:cubicBezTo>
                  <a:cubicBezTo>
                    <a:pt x="61" y="66"/>
                    <a:pt x="61" y="66"/>
                    <a:pt x="61" y="66"/>
                  </a:cubicBezTo>
                  <a:cubicBezTo>
                    <a:pt x="62" y="68"/>
                    <a:pt x="65" y="69"/>
                    <a:pt x="67" y="69"/>
                  </a:cubicBezTo>
                  <a:cubicBezTo>
                    <a:pt x="72" y="69"/>
                    <a:pt x="76" y="65"/>
                    <a:pt x="76" y="61"/>
                  </a:cubicBezTo>
                  <a:cubicBezTo>
                    <a:pt x="76" y="56"/>
                    <a:pt x="72" y="52"/>
                    <a:pt x="67" y="52"/>
                  </a:cubicBezTo>
                  <a:cubicBezTo>
                    <a:pt x="66" y="52"/>
                    <a:pt x="64" y="53"/>
                    <a:pt x="63" y="54"/>
                  </a:cubicBezTo>
                  <a:cubicBezTo>
                    <a:pt x="34" y="54"/>
                    <a:pt x="34" y="54"/>
                    <a:pt x="34" y="54"/>
                  </a:cubicBezTo>
                  <a:cubicBezTo>
                    <a:pt x="34" y="51"/>
                    <a:pt x="34" y="51"/>
                    <a:pt x="34" y="51"/>
                  </a:cubicBezTo>
                  <a:cubicBezTo>
                    <a:pt x="69" y="51"/>
                    <a:pt x="69" y="51"/>
                    <a:pt x="69" y="51"/>
                  </a:cubicBezTo>
                  <a:cubicBezTo>
                    <a:pt x="71" y="51"/>
                    <a:pt x="74" y="50"/>
                    <a:pt x="74" y="47"/>
                  </a:cubicBezTo>
                  <a:cubicBezTo>
                    <a:pt x="84" y="19"/>
                    <a:pt x="84" y="19"/>
                    <a:pt x="84" y="19"/>
                  </a:cubicBezTo>
                  <a:cubicBezTo>
                    <a:pt x="84" y="17"/>
                    <a:pt x="84" y="15"/>
                    <a:pt x="83" y="13"/>
                  </a:cubicBezTo>
                  <a:cubicBezTo>
                    <a:pt x="82" y="12"/>
                    <a:pt x="80" y="11"/>
                    <a:pt x="78" y="11"/>
                  </a:cubicBezTo>
                  <a:lnTo>
                    <a:pt x="24" y="11"/>
                  </a:lnTo>
                  <a:close/>
                  <a:moveTo>
                    <a:pt x="64" y="39"/>
                  </a:moveTo>
                  <a:cubicBezTo>
                    <a:pt x="31" y="39"/>
                    <a:pt x="31" y="39"/>
                    <a:pt x="31" y="39"/>
                  </a:cubicBezTo>
                  <a:cubicBezTo>
                    <a:pt x="27" y="23"/>
                    <a:pt x="27" y="23"/>
                    <a:pt x="27" y="23"/>
                  </a:cubicBezTo>
                  <a:cubicBezTo>
                    <a:pt x="70" y="23"/>
                    <a:pt x="70" y="23"/>
                    <a:pt x="70" y="23"/>
                  </a:cubicBezTo>
                  <a:lnTo>
                    <a:pt x="64"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193" name="Freeform 8">
              <a:extLst>
                <a:ext uri="{FF2B5EF4-FFF2-40B4-BE49-F238E27FC236}">
                  <a16:creationId xmlns:a16="http://schemas.microsoft.com/office/drawing/2014/main" id="{048BBA46-04F4-30BC-E920-A2E3C630A3CF}"/>
                </a:ext>
              </a:extLst>
            </p:cNvPr>
            <p:cNvSpPr>
              <a:spLocks noEditPoints="1"/>
            </p:cNvSpPr>
            <p:nvPr/>
          </p:nvSpPr>
          <p:spPr bwMode="auto">
            <a:xfrm>
              <a:off x="5704" y="1714"/>
              <a:ext cx="174" cy="175"/>
            </a:xfrm>
            <a:custGeom>
              <a:avLst/>
              <a:gdLst>
                <a:gd name="T0" fmla="*/ 64 w 128"/>
                <a:gd name="T1" fmla="*/ 0 h 128"/>
                <a:gd name="T2" fmla="*/ 0 w 128"/>
                <a:gd name="T3" fmla="*/ 64 h 128"/>
                <a:gd name="T4" fmla="*/ 64 w 128"/>
                <a:gd name="T5" fmla="*/ 128 h 128"/>
                <a:gd name="T6" fmla="*/ 128 w 128"/>
                <a:gd name="T7" fmla="*/ 64 h 128"/>
                <a:gd name="T8" fmla="*/ 64 w 128"/>
                <a:gd name="T9" fmla="*/ 0 h 128"/>
                <a:gd name="T10" fmla="*/ 64 w 128"/>
                <a:gd name="T11" fmla="*/ 116 h 128"/>
                <a:gd name="T12" fmla="*/ 12 w 128"/>
                <a:gd name="T13" fmla="*/ 64 h 128"/>
                <a:gd name="T14" fmla="*/ 64 w 128"/>
                <a:gd name="T15" fmla="*/ 12 h 128"/>
                <a:gd name="T16" fmla="*/ 116 w 128"/>
                <a:gd name="T17" fmla="*/ 64 h 128"/>
                <a:gd name="T18" fmla="*/ 64 w 128"/>
                <a:gd name="T19" fmla="*/ 11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64" y="116"/>
                  </a:moveTo>
                  <a:cubicBezTo>
                    <a:pt x="35" y="116"/>
                    <a:pt x="12" y="93"/>
                    <a:pt x="12" y="64"/>
                  </a:cubicBezTo>
                  <a:cubicBezTo>
                    <a:pt x="12" y="35"/>
                    <a:pt x="35" y="12"/>
                    <a:pt x="64" y="12"/>
                  </a:cubicBezTo>
                  <a:cubicBezTo>
                    <a:pt x="93" y="12"/>
                    <a:pt x="116" y="35"/>
                    <a:pt x="116" y="64"/>
                  </a:cubicBezTo>
                  <a:cubicBezTo>
                    <a:pt x="116" y="93"/>
                    <a:pt x="93" y="116"/>
                    <a:pt x="64"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195" name="Freeform 9">
              <a:extLst>
                <a:ext uri="{FF2B5EF4-FFF2-40B4-BE49-F238E27FC236}">
                  <a16:creationId xmlns:a16="http://schemas.microsoft.com/office/drawing/2014/main" id="{455771D2-685A-F4D5-677B-06E7F00CF2B7}"/>
                </a:ext>
              </a:extLst>
            </p:cNvPr>
            <p:cNvSpPr>
              <a:spLocks noEditPoints="1"/>
            </p:cNvSpPr>
            <p:nvPr/>
          </p:nvSpPr>
          <p:spPr bwMode="auto">
            <a:xfrm>
              <a:off x="5967" y="1714"/>
              <a:ext cx="175" cy="175"/>
            </a:xfrm>
            <a:custGeom>
              <a:avLst/>
              <a:gdLst>
                <a:gd name="T0" fmla="*/ 64 w 128"/>
                <a:gd name="T1" fmla="*/ 0 h 128"/>
                <a:gd name="T2" fmla="*/ 0 w 128"/>
                <a:gd name="T3" fmla="*/ 64 h 128"/>
                <a:gd name="T4" fmla="*/ 64 w 128"/>
                <a:gd name="T5" fmla="*/ 128 h 128"/>
                <a:gd name="T6" fmla="*/ 128 w 128"/>
                <a:gd name="T7" fmla="*/ 64 h 128"/>
                <a:gd name="T8" fmla="*/ 64 w 128"/>
                <a:gd name="T9" fmla="*/ 0 h 128"/>
                <a:gd name="T10" fmla="*/ 64 w 128"/>
                <a:gd name="T11" fmla="*/ 116 h 128"/>
                <a:gd name="T12" fmla="*/ 12 w 128"/>
                <a:gd name="T13" fmla="*/ 64 h 128"/>
                <a:gd name="T14" fmla="*/ 64 w 128"/>
                <a:gd name="T15" fmla="*/ 12 h 128"/>
                <a:gd name="T16" fmla="*/ 116 w 128"/>
                <a:gd name="T17" fmla="*/ 64 h 128"/>
                <a:gd name="T18" fmla="*/ 64 w 128"/>
                <a:gd name="T19" fmla="*/ 11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64" y="116"/>
                  </a:moveTo>
                  <a:cubicBezTo>
                    <a:pt x="35" y="116"/>
                    <a:pt x="12" y="93"/>
                    <a:pt x="12" y="64"/>
                  </a:cubicBezTo>
                  <a:cubicBezTo>
                    <a:pt x="12" y="35"/>
                    <a:pt x="35" y="12"/>
                    <a:pt x="64" y="12"/>
                  </a:cubicBezTo>
                  <a:cubicBezTo>
                    <a:pt x="93" y="12"/>
                    <a:pt x="116" y="35"/>
                    <a:pt x="116" y="64"/>
                  </a:cubicBezTo>
                  <a:cubicBezTo>
                    <a:pt x="116" y="93"/>
                    <a:pt x="93" y="116"/>
                    <a:pt x="64"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196" name="Freeform 10">
              <a:extLst>
                <a:ext uri="{FF2B5EF4-FFF2-40B4-BE49-F238E27FC236}">
                  <a16:creationId xmlns:a16="http://schemas.microsoft.com/office/drawing/2014/main" id="{A2AA8A6D-11E0-467C-60EE-C3809858878A}"/>
                </a:ext>
              </a:extLst>
            </p:cNvPr>
            <p:cNvSpPr>
              <a:spLocks/>
            </p:cNvSpPr>
            <p:nvPr/>
          </p:nvSpPr>
          <p:spPr bwMode="auto">
            <a:xfrm>
              <a:off x="6028" y="1744"/>
              <a:ext cx="52" cy="115"/>
            </a:xfrm>
            <a:custGeom>
              <a:avLst/>
              <a:gdLst>
                <a:gd name="T0" fmla="*/ 19 w 38"/>
                <a:gd name="T1" fmla="*/ 21 h 84"/>
                <a:gd name="T2" fmla="*/ 26 w 38"/>
                <a:gd name="T3" fmla="*/ 29 h 84"/>
                <a:gd name="T4" fmla="*/ 32 w 38"/>
                <a:gd name="T5" fmla="*/ 35 h 84"/>
                <a:gd name="T6" fmla="*/ 38 w 38"/>
                <a:gd name="T7" fmla="*/ 29 h 84"/>
                <a:gd name="T8" fmla="*/ 25 w 38"/>
                <a:gd name="T9" fmla="*/ 10 h 84"/>
                <a:gd name="T10" fmla="*/ 25 w 38"/>
                <a:gd name="T11" fmla="*/ 6 h 84"/>
                <a:gd name="T12" fmla="*/ 19 w 38"/>
                <a:gd name="T13" fmla="*/ 0 h 84"/>
                <a:gd name="T14" fmla="*/ 13 w 38"/>
                <a:gd name="T15" fmla="*/ 6 h 84"/>
                <a:gd name="T16" fmla="*/ 13 w 38"/>
                <a:gd name="T17" fmla="*/ 10 h 84"/>
                <a:gd name="T18" fmla="*/ 0 w 38"/>
                <a:gd name="T19" fmla="*/ 29 h 84"/>
                <a:gd name="T20" fmla="*/ 19 w 38"/>
                <a:gd name="T21" fmla="*/ 48 h 84"/>
                <a:gd name="T22" fmla="*/ 26 w 38"/>
                <a:gd name="T23" fmla="*/ 55 h 84"/>
                <a:gd name="T24" fmla="*/ 19 w 38"/>
                <a:gd name="T25" fmla="*/ 63 h 84"/>
                <a:gd name="T26" fmla="*/ 12 w 38"/>
                <a:gd name="T27" fmla="*/ 55 h 84"/>
                <a:gd name="T28" fmla="*/ 6 w 38"/>
                <a:gd name="T29" fmla="*/ 49 h 84"/>
                <a:gd name="T30" fmla="*/ 0 w 38"/>
                <a:gd name="T31" fmla="*/ 55 h 84"/>
                <a:gd name="T32" fmla="*/ 13 w 38"/>
                <a:gd name="T33" fmla="*/ 74 h 84"/>
                <a:gd name="T34" fmla="*/ 13 w 38"/>
                <a:gd name="T35" fmla="*/ 78 h 84"/>
                <a:gd name="T36" fmla="*/ 19 w 38"/>
                <a:gd name="T37" fmla="*/ 84 h 84"/>
                <a:gd name="T38" fmla="*/ 25 w 38"/>
                <a:gd name="T39" fmla="*/ 78 h 84"/>
                <a:gd name="T40" fmla="*/ 25 w 38"/>
                <a:gd name="T41" fmla="*/ 74 h 84"/>
                <a:gd name="T42" fmla="*/ 38 w 38"/>
                <a:gd name="T43" fmla="*/ 55 h 84"/>
                <a:gd name="T44" fmla="*/ 19 w 38"/>
                <a:gd name="T45" fmla="*/ 36 h 84"/>
                <a:gd name="T46" fmla="*/ 12 w 38"/>
                <a:gd name="T47" fmla="*/ 29 h 84"/>
                <a:gd name="T48" fmla="*/ 19 w 38"/>
                <a:gd name="T49" fmla="*/ 2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84">
                  <a:moveTo>
                    <a:pt x="19" y="21"/>
                  </a:moveTo>
                  <a:cubicBezTo>
                    <a:pt x="23" y="21"/>
                    <a:pt x="26" y="24"/>
                    <a:pt x="26" y="29"/>
                  </a:cubicBezTo>
                  <a:cubicBezTo>
                    <a:pt x="26" y="32"/>
                    <a:pt x="29" y="35"/>
                    <a:pt x="32" y="35"/>
                  </a:cubicBezTo>
                  <a:cubicBezTo>
                    <a:pt x="36" y="35"/>
                    <a:pt x="38" y="32"/>
                    <a:pt x="38" y="29"/>
                  </a:cubicBezTo>
                  <a:cubicBezTo>
                    <a:pt x="38" y="20"/>
                    <a:pt x="33" y="13"/>
                    <a:pt x="25" y="10"/>
                  </a:cubicBezTo>
                  <a:cubicBezTo>
                    <a:pt x="25" y="6"/>
                    <a:pt x="25" y="6"/>
                    <a:pt x="25" y="6"/>
                  </a:cubicBezTo>
                  <a:cubicBezTo>
                    <a:pt x="25" y="3"/>
                    <a:pt x="22" y="0"/>
                    <a:pt x="19" y="0"/>
                  </a:cubicBezTo>
                  <a:cubicBezTo>
                    <a:pt x="16" y="0"/>
                    <a:pt x="13" y="3"/>
                    <a:pt x="13" y="6"/>
                  </a:cubicBezTo>
                  <a:cubicBezTo>
                    <a:pt x="13" y="10"/>
                    <a:pt x="13" y="10"/>
                    <a:pt x="13" y="10"/>
                  </a:cubicBezTo>
                  <a:cubicBezTo>
                    <a:pt x="5" y="13"/>
                    <a:pt x="0" y="20"/>
                    <a:pt x="0" y="29"/>
                  </a:cubicBezTo>
                  <a:cubicBezTo>
                    <a:pt x="0" y="39"/>
                    <a:pt x="8" y="48"/>
                    <a:pt x="19" y="48"/>
                  </a:cubicBezTo>
                  <a:cubicBezTo>
                    <a:pt x="23" y="48"/>
                    <a:pt x="26" y="51"/>
                    <a:pt x="26" y="55"/>
                  </a:cubicBezTo>
                  <a:cubicBezTo>
                    <a:pt x="26" y="60"/>
                    <a:pt x="23" y="63"/>
                    <a:pt x="19" y="63"/>
                  </a:cubicBezTo>
                  <a:cubicBezTo>
                    <a:pt x="15" y="63"/>
                    <a:pt x="12" y="60"/>
                    <a:pt x="12" y="55"/>
                  </a:cubicBezTo>
                  <a:cubicBezTo>
                    <a:pt x="12" y="52"/>
                    <a:pt x="9" y="49"/>
                    <a:pt x="6" y="49"/>
                  </a:cubicBezTo>
                  <a:cubicBezTo>
                    <a:pt x="2" y="49"/>
                    <a:pt x="0" y="52"/>
                    <a:pt x="0" y="55"/>
                  </a:cubicBezTo>
                  <a:cubicBezTo>
                    <a:pt x="0" y="64"/>
                    <a:pt x="5" y="71"/>
                    <a:pt x="13" y="74"/>
                  </a:cubicBezTo>
                  <a:cubicBezTo>
                    <a:pt x="13" y="78"/>
                    <a:pt x="13" y="78"/>
                    <a:pt x="13" y="78"/>
                  </a:cubicBezTo>
                  <a:cubicBezTo>
                    <a:pt x="13" y="81"/>
                    <a:pt x="16" y="84"/>
                    <a:pt x="19" y="84"/>
                  </a:cubicBezTo>
                  <a:cubicBezTo>
                    <a:pt x="22" y="84"/>
                    <a:pt x="25" y="81"/>
                    <a:pt x="25" y="78"/>
                  </a:cubicBezTo>
                  <a:cubicBezTo>
                    <a:pt x="25" y="74"/>
                    <a:pt x="25" y="74"/>
                    <a:pt x="25" y="74"/>
                  </a:cubicBezTo>
                  <a:cubicBezTo>
                    <a:pt x="33" y="71"/>
                    <a:pt x="38" y="64"/>
                    <a:pt x="38" y="55"/>
                  </a:cubicBezTo>
                  <a:cubicBezTo>
                    <a:pt x="38" y="45"/>
                    <a:pt x="30" y="36"/>
                    <a:pt x="19" y="36"/>
                  </a:cubicBezTo>
                  <a:cubicBezTo>
                    <a:pt x="15" y="36"/>
                    <a:pt x="12" y="33"/>
                    <a:pt x="12" y="29"/>
                  </a:cubicBezTo>
                  <a:cubicBezTo>
                    <a:pt x="12" y="24"/>
                    <a:pt x="15" y="21"/>
                    <a:pt x="1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197" name="Freeform 11">
              <a:extLst>
                <a:ext uri="{FF2B5EF4-FFF2-40B4-BE49-F238E27FC236}">
                  <a16:creationId xmlns:a16="http://schemas.microsoft.com/office/drawing/2014/main" id="{A36F9A76-0B27-FB14-831B-090D006104F4}"/>
                </a:ext>
              </a:extLst>
            </p:cNvPr>
            <p:cNvSpPr>
              <a:spLocks/>
            </p:cNvSpPr>
            <p:nvPr/>
          </p:nvSpPr>
          <p:spPr bwMode="auto">
            <a:xfrm>
              <a:off x="5963" y="1661"/>
              <a:ext cx="54" cy="54"/>
            </a:xfrm>
            <a:custGeom>
              <a:avLst/>
              <a:gdLst>
                <a:gd name="T0" fmla="*/ 33 w 40"/>
                <a:gd name="T1" fmla="*/ 39 h 39"/>
                <a:gd name="T2" fmla="*/ 37 w 40"/>
                <a:gd name="T3" fmla="*/ 37 h 39"/>
                <a:gd name="T4" fmla="*/ 37 w 40"/>
                <a:gd name="T5" fmla="*/ 29 h 39"/>
                <a:gd name="T6" fmla="*/ 11 w 40"/>
                <a:gd name="T7" fmla="*/ 3 h 39"/>
                <a:gd name="T8" fmla="*/ 3 w 40"/>
                <a:gd name="T9" fmla="*/ 3 h 39"/>
                <a:gd name="T10" fmla="*/ 3 w 40"/>
                <a:gd name="T11" fmla="*/ 11 h 39"/>
                <a:gd name="T12" fmla="*/ 29 w 40"/>
                <a:gd name="T13" fmla="*/ 37 h 39"/>
                <a:gd name="T14" fmla="*/ 33 w 40"/>
                <a:gd name="T15" fmla="*/ 39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 h="39">
                  <a:moveTo>
                    <a:pt x="33" y="39"/>
                  </a:moveTo>
                  <a:cubicBezTo>
                    <a:pt x="35" y="39"/>
                    <a:pt x="36" y="38"/>
                    <a:pt x="37" y="37"/>
                  </a:cubicBezTo>
                  <a:cubicBezTo>
                    <a:pt x="40" y="35"/>
                    <a:pt x="40" y="31"/>
                    <a:pt x="37" y="29"/>
                  </a:cubicBezTo>
                  <a:cubicBezTo>
                    <a:pt x="11" y="3"/>
                    <a:pt x="11" y="3"/>
                    <a:pt x="11" y="3"/>
                  </a:cubicBezTo>
                  <a:cubicBezTo>
                    <a:pt x="9" y="0"/>
                    <a:pt x="5" y="0"/>
                    <a:pt x="3" y="3"/>
                  </a:cubicBezTo>
                  <a:cubicBezTo>
                    <a:pt x="0" y="5"/>
                    <a:pt x="0" y="9"/>
                    <a:pt x="3" y="11"/>
                  </a:cubicBezTo>
                  <a:cubicBezTo>
                    <a:pt x="29" y="37"/>
                    <a:pt x="29" y="37"/>
                    <a:pt x="29" y="37"/>
                  </a:cubicBezTo>
                  <a:cubicBezTo>
                    <a:pt x="30" y="38"/>
                    <a:pt x="32" y="39"/>
                    <a:pt x="33"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198" name="Freeform 12">
              <a:extLst>
                <a:ext uri="{FF2B5EF4-FFF2-40B4-BE49-F238E27FC236}">
                  <a16:creationId xmlns:a16="http://schemas.microsoft.com/office/drawing/2014/main" id="{E04304F5-ECBB-4354-5118-F3BB6EF0ACB2}"/>
                </a:ext>
              </a:extLst>
            </p:cNvPr>
            <p:cNvSpPr>
              <a:spLocks/>
            </p:cNvSpPr>
            <p:nvPr/>
          </p:nvSpPr>
          <p:spPr bwMode="auto">
            <a:xfrm>
              <a:off x="5829" y="1661"/>
              <a:ext cx="55" cy="54"/>
            </a:xfrm>
            <a:custGeom>
              <a:avLst/>
              <a:gdLst>
                <a:gd name="T0" fmla="*/ 29 w 40"/>
                <a:gd name="T1" fmla="*/ 3 h 39"/>
                <a:gd name="T2" fmla="*/ 3 w 40"/>
                <a:gd name="T3" fmla="*/ 29 h 39"/>
                <a:gd name="T4" fmla="*/ 3 w 40"/>
                <a:gd name="T5" fmla="*/ 37 h 39"/>
                <a:gd name="T6" fmla="*/ 7 w 40"/>
                <a:gd name="T7" fmla="*/ 39 h 39"/>
                <a:gd name="T8" fmla="*/ 11 w 40"/>
                <a:gd name="T9" fmla="*/ 37 h 39"/>
                <a:gd name="T10" fmla="*/ 37 w 40"/>
                <a:gd name="T11" fmla="*/ 11 h 39"/>
                <a:gd name="T12" fmla="*/ 37 w 40"/>
                <a:gd name="T13" fmla="*/ 3 h 39"/>
                <a:gd name="T14" fmla="*/ 29 w 40"/>
                <a:gd name="T15" fmla="*/ 3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 h="39">
                  <a:moveTo>
                    <a:pt x="29" y="3"/>
                  </a:moveTo>
                  <a:cubicBezTo>
                    <a:pt x="3" y="29"/>
                    <a:pt x="3" y="29"/>
                    <a:pt x="3" y="29"/>
                  </a:cubicBezTo>
                  <a:cubicBezTo>
                    <a:pt x="0" y="31"/>
                    <a:pt x="0" y="35"/>
                    <a:pt x="3" y="37"/>
                  </a:cubicBezTo>
                  <a:cubicBezTo>
                    <a:pt x="4" y="38"/>
                    <a:pt x="5" y="39"/>
                    <a:pt x="7" y="39"/>
                  </a:cubicBezTo>
                  <a:cubicBezTo>
                    <a:pt x="8" y="39"/>
                    <a:pt x="10" y="38"/>
                    <a:pt x="11" y="37"/>
                  </a:cubicBezTo>
                  <a:cubicBezTo>
                    <a:pt x="37" y="11"/>
                    <a:pt x="37" y="11"/>
                    <a:pt x="37" y="11"/>
                  </a:cubicBezTo>
                  <a:cubicBezTo>
                    <a:pt x="40" y="9"/>
                    <a:pt x="40" y="5"/>
                    <a:pt x="37" y="3"/>
                  </a:cubicBezTo>
                  <a:cubicBezTo>
                    <a:pt x="35" y="0"/>
                    <a:pt x="31"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199" name="Freeform 13">
              <a:extLst>
                <a:ext uri="{FF2B5EF4-FFF2-40B4-BE49-F238E27FC236}">
                  <a16:creationId xmlns:a16="http://schemas.microsoft.com/office/drawing/2014/main" id="{5A7E8FE3-60E7-B470-7106-A2C95AE6370D}"/>
                </a:ext>
              </a:extLst>
            </p:cNvPr>
            <p:cNvSpPr>
              <a:spLocks/>
            </p:cNvSpPr>
            <p:nvPr/>
          </p:nvSpPr>
          <p:spPr bwMode="auto">
            <a:xfrm>
              <a:off x="5891" y="1788"/>
              <a:ext cx="65" cy="16"/>
            </a:xfrm>
            <a:custGeom>
              <a:avLst/>
              <a:gdLst>
                <a:gd name="T0" fmla="*/ 42 w 48"/>
                <a:gd name="T1" fmla="*/ 0 h 12"/>
                <a:gd name="T2" fmla="*/ 6 w 48"/>
                <a:gd name="T3" fmla="*/ 0 h 12"/>
                <a:gd name="T4" fmla="*/ 0 w 48"/>
                <a:gd name="T5" fmla="*/ 6 h 12"/>
                <a:gd name="T6" fmla="*/ 6 w 48"/>
                <a:gd name="T7" fmla="*/ 12 h 12"/>
                <a:gd name="T8" fmla="*/ 42 w 48"/>
                <a:gd name="T9" fmla="*/ 12 h 12"/>
                <a:gd name="T10" fmla="*/ 48 w 48"/>
                <a:gd name="T11" fmla="*/ 6 h 12"/>
                <a:gd name="T12" fmla="*/ 42 w 48"/>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0"/>
                  </a:moveTo>
                  <a:cubicBezTo>
                    <a:pt x="6" y="0"/>
                    <a:pt x="6" y="0"/>
                    <a:pt x="6" y="0"/>
                  </a:cubicBezTo>
                  <a:cubicBezTo>
                    <a:pt x="2" y="0"/>
                    <a:pt x="0" y="2"/>
                    <a:pt x="0" y="6"/>
                  </a:cubicBezTo>
                  <a:cubicBezTo>
                    <a:pt x="0" y="9"/>
                    <a:pt x="2" y="12"/>
                    <a:pt x="6" y="12"/>
                  </a:cubicBezTo>
                  <a:cubicBezTo>
                    <a:pt x="42" y="12"/>
                    <a:pt x="42" y="12"/>
                    <a:pt x="42" y="12"/>
                  </a:cubicBezTo>
                  <a:cubicBezTo>
                    <a:pt x="46" y="12"/>
                    <a:pt x="48" y="9"/>
                    <a:pt x="48" y="6"/>
                  </a:cubicBezTo>
                  <a:cubicBezTo>
                    <a:pt x="48" y="2"/>
                    <a:pt x="46" y="0"/>
                    <a:pt x="4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8200" name="Group 40">
            <a:extLst>
              <a:ext uri="{FF2B5EF4-FFF2-40B4-BE49-F238E27FC236}">
                <a16:creationId xmlns:a16="http://schemas.microsoft.com/office/drawing/2014/main" id="{DBE851EB-F2F9-5B65-E5C6-5F942691C7B7}"/>
              </a:ext>
            </a:extLst>
          </p:cNvPr>
          <p:cNvGrpSpPr>
            <a:grpSpLocks noChangeAspect="1"/>
          </p:cNvGrpSpPr>
          <p:nvPr/>
        </p:nvGrpSpPr>
        <p:grpSpPr bwMode="auto">
          <a:xfrm>
            <a:off x="4863150" y="3897333"/>
            <a:ext cx="521622" cy="482532"/>
            <a:chOff x="3438" y="454"/>
            <a:chExt cx="427" cy="395"/>
          </a:xfrm>
          <a:solidFill>
            <a:schemeClr val="tx2"/>
          </a:solidFill>
        </p:grpSpPr>
        <p:sp>
          <p:nvSpPr>
            <p:cNvPr id="8201" name="Freeform 41">
              <a:extLst>
                <a:ext uri="{FF2B5EF4-FFF2-40B4-BE49-F238E27FC236}">
                  <a16:creationId xmlns:a16="http://schemas.microsoft.com/office/drawing/2014/main" id="{9D6DB545-3D2B-88F2-6578-4FB857BB8F19}"/>
                </a:ext>
              </a:extLst>
            </p:cNvPr>
            <p:cNvSpPr>
              <a:spLocks noEditPoints="1"/>
            </p:cNvSpPr>
            <p:nvPr/>
          </p:nvSpPr>
          <p:spPr bwMode="auto">
            <a:xfrm>
              <a:off x="3438" y="653"/>
              <a:ext cx="196" cy="196"/>
            </a:xfrm>
            <a:custGeom>
              <a:avLst/>
              <a:gdLst>
                <a:gd name="T0" fmla="*/ 66 w 132"/>
                <a:gd name="T1" fmla="*/ 132 h 132"/>
                <a:gd name="T2" fmla="*/ 0 w 132"/>
                <a:gd name="T3" fmla="*/ 66 h 132"/>
                <a:gd name="T4" fmla="*/ 66 w 132"/>
                <a:gd name="T5" fmla="*/ 0 h 132"/>
                <a:gd name="T6" fmla="*/ 132 w 132"/>
                <a:gd name="T7" fmla="*/ 66 h 132"/>
                <a:gd name="T8" fmla="*/ 66 w 132"/>
                <a:gd name="T9" fmla="*/ 132 h 132"/>
                <a:gd name="T10" fmla="*/ 66 w 132"/>
                <a:gd name="T11" fmla="*/ 12 h 132"/>
                <a:gd name="T12" fmla="*/ 12 w 132"/>
                <a:gd name="T13" fmla="*/ 66 h 132"/>
                <a:gd name="T14" fmla="*/ 66 w 132"/>
                <a:gd name="T15" fmla="*/ 120 h 132"/>
                <a:gd name="T16" fmla="*/ 120 w 132"/>
                <a:gd name="T17" fmla="*/ 66 h 132"/>
                <a:gd name="T18" fmla="*/ 66 w 132"/>
                <a:gd name="T19" fmla="*/ 1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32">
                  <a:moveTo>
                    <a:pt x="66" y="132"/>
                  </a:moveTo>
                  <a:cubicBezTo>
                    <a:pt x="29" y="132"/>
                    <a:pt x="0" y="102"/>
                    <a:pt x="0" y="66"/>
                  </a:cubicBezTo>
                  <a:cubicBezTo>
                    <a:pt x="0" y="29"/>
                    <a:pt x="29" y="0"/>
                    <a:pt x="66" y="0"/>
                  </a:cubicBezTo>
                  <a:cubicBezTo>
                    <a:pt x="102" y="0"/>
                    <a:pt x="132" y="29"/>
                    <a:pt x="132" y="66"/>
                  </a:cubicBezTo>
                  <a:cubicBezTo>
                    <a:pt x="132" y="102"/>
                    <a:pt x="102" y="132"/>
                    <a:pt x="66" y="132"/>
                  </a:cubicBezTo>
                  <a:close/>
                  <a:moveTo>
                    <a:pt x="66" y="12"/>
                  </a:moveTo>
                  <a:cubicBezTo>
                    <a:pt x="36" y="12"/>
                    <a:pt x="12" y="36"/>
                    <a:pt x="12" y="66"/>
                  </a:cubicBezTo>
                  <a:cubicBezTo>
                    <a:pt x="12" y="95"/>
                    <a:pt x="36" y="120"/>
                    <a:pt x="66" y="120"/>
                  </a:cubicBezTo>
                  <a:cubicBezTo>
                    <a:pt x="96" y="120"/>
                    <a:pt x="120" y="95"/>
                    <a:pt x="120" y="66"/>
                  </a:cubicBezTo>
                  <a:cubicBezTo>
                    <a:pt x="120" y="36"/>
                    <a:pt x="96"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8202" name="Freeform 42">
              <a:extLst>
                <a:ext uri="{FF2B5EF4-FFF2-40B4-BE49-F238E27FC236}">
                  <a16:creationId xmlns:a16="http://schemas.microsoft.com/office/drawing/2014/main" id="{6284F34F-0FE4-9D73-2875-F3241EE9D9FD}"/>
                </a:ext>
              </a:extLst>
            </p:cNvPr>
            <p:cNvSpPr>
              <a:spLocks/>
            </p:cNvSpPr>
            <p:nvPr/>
          </p:nvSpPr>
          <p:spPr bwMode="auto">
            <a:xfrm>
              <a:off x="3455" y="457"/>
              <a:ext cx="179" cy="250"/>
            </a:xfrm>
            <a:custGeom>
              <a:avLst/>
              <a:gdLst>
                <a:gd name="T0" fmla="*/ 7 w 121"/>
                <a:gd name="T1" fmla="*/ 169 h 169"/>
                <a:gd name="T2" fmla="*/ 4 w 121"/>
                <a:gd name="T3" fmla="*/ 168 h 169"/>
                <a:gd name="T4" fmla="*/ 1 w 121"/>
                <a:gd name="T5" fmla="*/ 160 h 169"/>
                <a:gd name="T6" fmla="*/ 37 w 121"/>
                <a:gd name="T7" fmla="*/ 76 h 169"/>
                <a:gd name="T8" fmla="*/ 39 w 121"/>
                <a:gd name="T9" fmla="*/ 74 h 169"/>
                <a:gd name="T10" fmla="*/ 56 w 121"/>
                <a:gd name="T11" fmla="*/ 57 h 169"/>
                <a:gd name="T12" fmla="*/ 73 w 121"/>
                <a:gd name="T13" fmla="*/ 11 h 169"/>
                <a:gd name="T14" fmla="*/ 75 w 121"/>
                <a:gd name="T15" fmla="*/ 8 h 169"/>
                <a:gd name="T16" fmla="*/ 97 w 121"/>
                <a:gd name="T17" fmla="*/ 0 h 169"/>
                <a:gd name="T18" fmla="*/ 119 w 121"/>
                <a:gd name="T19" fmla="*/ 8 h 169"/>
                <a:gd name="T20" fmla="*/ 121 w 121"/>
                <a:gd name="T21" fmla="*/ 13 h 169"/>
                <a:gd name="T22" fmla="*/ 121 w 121"/>
                <a:gd name="T23" fmla="*/ 61 h 169"/>
                <a:gd name="T24" fmla="*/ 115 w 121"/>
                <a:gd name="T25" fmla="*/ 67 h 169"/>
                <a:gd name="T26" fmla="*/ 109 w 121"/>
                <a:gd name="T27" fmla="*/ 61 h 169"/>
                <a:gd name="T28" fmla="*/ 109 w 121"/>
                <a:gd name="T29" fmla="*/ 15 h 169"/>
                <a:gd name="T30" fmla="*/ 84 w 121"/>
                <a:gd name="T31" fmla="*/ 16 h 169"/>
                <a:gd name="T32" fmla="*/ 66 w 121"/>
                <a:gd name="T33" fmla="*/ 63 h 169"/>
                <a:gd name="T34" fmla="*/ 65 w 121"/>
                <a:gd name="T35" fmla="*/ 65 h 169"/>
                <a:gd name="T36" fmla="*/ 48 w 121"/>
                <a:gd name="T37" fmla="*/ 82 h 169"/>
                <a:gd name="T38" fmla="*/ 12 w 121"/>
                <a:gd name="T39" fmla="*/ 165 h 169"/>
                <a:gd name="T40" fmla="*/ 7 w 121"/>
                <a:gd name="T41" fmla="*/ 169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1" h="169">
                  <a:moveTo>
                    <a:pt x="7" y="169"/>
                  </a:moveTo>
                  <a:cubicBezTo>
                    <a:pt x="6" y="169"/>
                    <a:pt x="5" y="168"/>
                    <a:pt x="4" y="168"/>
                  </a:cubicBezTo>
                  <a:cubicBezTo>
                    <a:pt x="1" y="167"/>
                    <a:pt x="0" y="163"/>
                    <a:pt x="1" y="160"/>
                  </a:cubicBezTo>
                  <a:cubicBezTo>
                    <a:pt x="37" y="76"/>
                    <a:pt x="37" y="76"/>
                    <a:pt x="37" y="76"/>
                  </a:cubicBezTo>
                  <a:cubicBezTo>
                    <a:pt x="38" y="76"/>
                    <a:pt x="38" y="75"/>
                    <a:pt x="39" y="74"/>
                  </a:cubicBezTo>
                  <a:cubicBezTo>
                    <a:pt x="56" y="57"/>
                    <a:pt x="56" y="57"/>
                    <a:pt x="56" y="57"/>
                  </a:cubicBezTo>
                  <a:cubicBezTo>
                    <a:pt x="73" y="11"/>
                    <a:pt x="73" y="11"/>
                    <a:pt x="73" y="11"/>
                  </a:cubicBezTo>
                  <a:cubicBezTo>
                    <a:pt x="74" y="10"/>
                    <a:pt x="74" y="9"/>
                    <a:pt x="75" y="8"/>
                  </a:cubicBezTo>
                  <a:cubicBezTo>
                    <a:pt x="80" y="3"/>
                    <a:pt x="88" y="0"/>
                    <a:pt x="97" y="0"/>
                  </a:cubicBezTo>
                  <a:cubicBezTo>
                    <a:pt x="106" y="0"/>
                    <a:pt x="114" y="3"/>
                    <a:pt x="119" y="8"/>
                  </a:cubicBezTo>
                  <a:cubicBezTo>
                    <a:pt x="120" y="10"/>
                    <a:pt x="121" y="11"/>
                    <a:pt x="121" y="13"/>
                  </a:cubicBezTo>
                  <a:cubicBezTo>
                    <a:pt x="121" y="61"/>
                    <a:pt x="121" y="61"/>
                    <a:pt x="121" y="61"/>
                  </a:cubicBezTo>
                  <a:cubicBezTo>
                    <a:pt x="121" y="64"/>
                    <a:pt x="118" y="67"/>
                    <a:pt x="115" y="67"/>
                  </a:cubicBezTo>
                  <a:cubicBezTo>
                    <a:pt x="112" y="67"/>
                    <a:pt x="109" y="64"/>
                    <a:pt x="109" y="61"/>
                  </a:cubicBezTo>
                  <a:cubicBezTo>
                    <a:pt x="109" y="15"/>
                    <a:pt x="109" y="15"/>
                    <a:pt x="109" y="15"/>
                  </a:cubicBezTo>
                  <a:cubicBezTo>
                    <a:pt x="102" y="10"/>
                    <a:pt x="90" y="11"/>
                    <a:pt x="84" y="16"/>
                  </a:cubicBezTo>
                  <a:cubicBezTo>
                    <a:pt x="66" y="63"/>
                    <a:pt x="66" y="63"/>
                    <a:pt x="66" y="63"/>
                  </a:cubicBezTo>
                  <a:cubicBezTo>
                    <a:pt x="66" y="64"/>
                    <a:pt x="66" y="64"/>
                    <a:pt x="65" y="65"/>
                  </a:cubicBezTo>
                  <a:cubicBezTo>
                    <a:pt x="48" y="82"/>
                    <a:pt x="48" y="82"/>
                    <a:pt x="48" y="82"/>
                  </a:cubicBezTo>
                  <a:cubicBezTo>
                    <a:pt x="12" y="165"/>
                    <a:pt x="12" y="165"/>
                    <a:pt x="12" y="165"/>
                  </a:cubicBezTo>
                  <a:cubicBezTo>
                    <a:pt x="11" y="167"/>
                    <a:pt x="9" y="169"/>
                    <a:pt x="7" y="1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8203" name="Freeform 43">
              <a:extLst>
                <a:ext uri="{FF2B5EF4-FFF2-40B4-BE49-F238E27FC236}">
                  <a16:creationId xmlns:a16="http://schemas.microsoft.com/office/drawing/2014/main" id="{170E382C-B1B0-144D-1A59-E9D249F90821}"/>
                </a:ext>
              </a:extLst>
            </p:cNvPr>
            <p:cNvSpPr>
              <a:spLocks noEditPoints="1"/>
            </p:cNvSpPr>
            <p:nvPr/>
          </p:nvSpPr>
          <p:spPr bwMode="auto">
            <a:xfrm>
              <a:off x="3669" y="653"/>
              <a:ext cx="196" cy="196"/>
            </a:xfrm>
            <a:custGeom>
              <a:avLst/>
              <a:gdLst>
                <a:gd name="T0" fmla="*/ 66 w 132"/>
                <a:gd name="T1" fmla="*/ 132 h 132"/>
                <a:gd name="T2" fmla="*/ 0 w 132"/>
                <a:gd name="T3" fmla="*/ 66 h 132"/>
                <a:gd name="T4" fmla="*/ 66 w 132"/>
                <a:gd name="T5" fmla="*/ 0 h 132"/>
                <a:gd name="T6" fmla="*/ 132 w 132"/>
                <a:gd name="T7" fmla="*/ 66 h 132"/>
                <a:gd name="T8" fmla="*/ 66 w 132"/>
                <a:gd name="T9" fmla="*/ 132 h 132"/>
                <a:gd name="T10" fmla="*/ 66 w 132"/>
                <a:gd name="T11" fmla="*/ 12 h 132"/>
                <a:gd name="T12" fmla="*/ 12 w 132"/>
                <a:gd name="T13" fmla="*/ 66 h 132"/>
                <a:gd name="T14" fmla="*/ 66 w 132"/>
                <a:gd name="T15" fmla="*/ 120 h 132"/>
                <a:gd name="T16" fmla="*/ 120 w 132"/>
                <a:gd name="T17" fmla="*/ 66 h 132"/>
                <a:gd name="T18" fmla="*/ 66 w 132"/>
                <a:gd name="T19" fmla="*/ 1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32">
                  <a:moveTo>
                    <a:pt x="66" y="132"/>
                  </a:moveTo>
                  <a:cubicBezTo>
                    <a:pt x="29" y="132"/>
                    <a:pt x="0" y="102"/>
                    <a:pt x="0" y="66"/>
                  </a:cubicBezTo>
                  <a:cubicBezTo>
                    <a:pt x="0" y="29"/>
                    <a:pt x="29" y="0"/>
                    <a:pt x="66" y="0"/>
                  </a:cubicBezTo>
                  <a:cubicBezTo>
                    <a:pt x="102" y="0"/>
                    <a:pt x="132" y="29"/>
                    <a:pt x="132" y="66"/>
                  </a:cubicBezTo>
                  <a:cubicBezTo>
                    <a:pt x="132" y="102"/>
                    <a:pt x="102" y="132"/>
                    <a:pt x="66" y="132"/>
                  </a:cubicBezTo>
                  <a:close/>
                  <a:moveTo>
                    <a:pt x="66" y="12"/>
                  </a:moveTo>
                  <a:cubicBezTo>
                    <a:pt x="36" y="12"/>
                    <a:pt x="12" y="36"/>
                    <a:pt x="12" y="66"/>
                  </a:cubicBezTo>
                  <a:cubicBezTo>
                    <a:pt x="12" y="95"/>
                    <a:pt x="36" y="120"/>
                    <a:pt x="66" y="120"/>
                  </a:cubicBezTo>
                  <a:cubicBezTo>
                    <a:pt x="96" y="120"/>
                    <a:pt x="120" y="95"/>
                    <a:pt x="120" y="66"/>
                  </a:cubicBezTo>
                  <a:cubicBezTo>
                    <a:pt x="120" y="36"/>
                    <a:pt x="96"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8204" name="Freeform 44">
              <a:extLst>
                <a:ext uri="{FF2B5EF4-FFF2-40B4-BE49-F238E27FC236}">
                  <a16:creationId xmlns:a16="http://schemas.microsoft.com/office/drawing/2014/main" id="{B8001EAA-63B7-8D87-0643-0119FFDDD4AE}"/>
                </a:ext>
              </a:extLst>
            </p:cNvPr>
            <p:cNvSpPr>
              <a:spLocks/>
            </p:cNvSpPr>
            <p:nvPr/>
          </p:nvSpPr>
          <p:spPr bwMode="auto">
            <a:xfrm>
              <a:off x="3669" y="454"/>
              <a:ext cx="179" cy="253"/>
            </a:xfrm>
            <a:custGeom>
              <a:avLst/>
              <a:gdLst>
                <a:gd name="T0" fmla="*/ 114 w 121"/>
                <a:gd name="T1" fmla="*/ 171 h 171"/>
                <a:gd name="T2" fmla="*/ 108 w 121"/>
                <a:gd name="T3" fmla="*/ 167 h 171"/>
                <a:gd name="T4" fmla="*/ 73 w 121"/>
                <a:gd name="T5" fmla="*/ 84 h 171"/>
                <a:gd name="T6" fmla="*/ 56 w 121"/>
                <a:gd name="T7" fmla="*/ 67 h 171"/>
                <a:gd name="T8" fmla="*/ 54 w 121"/>
                <a:gd name="T9" fmla="*/ 65 h 171"/>
                <a:gd name="T10" fmla="*/ 37 w 121"/>
                <a:gd name="T11" fmla="*/ 19 h 171"/>
                <a:gd name="T12" fmla="*/ 12 w 121"/>
                <a:gd name="T13" fmla="*/ 18 h 171"/>
                <a:gd name="T14" fmla="*/ 12 w 121"/>
                <a:gd name="T15" fmla="*/ 63 h 171"/>
                <a:gd name="T16" fmla="*/ 6 w 121"/>
                <a:gd name="T17" fmla="*/ 69 h 171"/>
                <a:gd name="T18" fmla="*/ 0 w 121"/>
                <a:gd name="T19" fmla="*/ 63 h 171"/>
                <a:gd name="T20" fmla="*/ 0 w 121"/>
                <a:gd name="T21" fmla="*/ 15 h 171"/>
                <a:gd name="T22" fmla="*/ 2 w 121"/>
                <a:gd name="T23" fmla="*/ 11 h 171"/>
                <a:gd name="T24" fmla="*/ 46 w 121"/>
                <a:gd name="T25" fmla="*/ 11 h 171"/>
                <a:gd name="T26" fmla="*/ 47 w 121"/>
                <a:gd name="T27" fmla="*/ 13 h 171"/>
                <a:gd name="T28" fmla="*/ 65 w 121"/>
                <a:gd name="T29" fmla="*/ 59 h 171"/>
                <a:gd name="T30" fmla="*/ 82 w 121"/>
                <a:gd name="T31" fmla="*/ 76 h 171"/>
                <a:gd name="T32" fmla="*/ 83 w 121"/>
                <a:gd name="T33" fmla="*/ 78 h 171"/>
                <a:gd name="T34" fmla="*/ 119 w 121"/>
                <a:gd name="T35" fmla="*/ 162 h 171"/>
                <a:gd name="T36" fmla="*/ 116 w 121"/>
                <a:gd name="T37" fmla="*/ 170 h 171"/>
                <a:gd name="T38" fmla="*/ 114 w 121"/>
                <a:gd name="T39" fmla="*/ 17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1" h="171">
                  <a:moveTo>
                    <a:pt x="114" y="171"/>
                  </a:moveTo>
                  <a:cubicBezTo>
                    <a:pt x="112" y="171"/>
                    <a:pt x="109" y="169"/>
                    <a:pt x="108" y="167"/>
                  </a:cubicBezTo>
                  <a:cubicBezTo>
                    <a:pt x="73" y="84"/>
                    <a:pt x="73" y="84"/>
                    <a:pt x="73" y="84"/>
                  </a:cubicBezTo>
                  <a:cubicBezTo>
                    <a:pt x="56" y="67"/>
                    <a:pt x="56" y="67"/>
                    <a:pt x="56" y="67"/>
                  </a:cubicBezTo>
                  <a:cubicBezTo>
                    <a:pt x="55" y="66"/>
                    <a:pt x="55" y="66"/>
                    <a:pt x="54" y="65"/>
                  </a:cubicBezTo>
                  <a:cubicBezTo>
                    <a:pt x="37" y="19"/>
                    <a:pt x="37" y="19"/>
                    <a:pt x="37" y="19"/>
                  </a:cubicBezTo>
                  <a:cubicBezTo>
                    <a:pt x="30" y="13"/>
                    <a:pt x="19" y="13"/>
                    <a:pt x="12" y="18"/>
                  </a:cubicBezTo>
                  <a:cubicBezTo>
                    <a:pt x="12" y="63"/>
                    <a:pt x="12" y="63"/>
                    <a:pt x="12" y="63"/>
                  </a:cubicBezTo>
                  <a:cubicBezTo>
                    <a:pt x="12" y="66"/>
                    <a:pt x="9" y="69"/>
                    <a:pt x="6" y="69"/>
                  </a:cubicBezTo>
                  <a:cubicBezTo>
                    <a:pt x="3" y="69"/>
                    <a:pt x="0" y="66"/>
                    <a:pt x="0" y="63"/>
                  </a:cubicBezTo>
                  <a:cubicBezTo>
                    <a:pt x="0" y="15"/>
                    <a:pt x="0" y="15"/>
                    <a:pt x="0" y="15"/>
                  </a:cubicBezTo>
                  <a:cubicBezTo>
                    <a:pt x="0" y="14"/>
                    <a:pt x="0" y="12"/>
                    <a:pt x="2" y="11"/>
                  </a:cubicBezTo>
                  <a:cubicBezTo>
                    <a:pt x="13" y="0"/>
                    <a:pt x="35" y="0"/>
                    <a:pt x="46" y="11"/>
                  </a:cubicBezTo>
                  <a:cubicBezTo>
                    <a:pt x="47" y="12"/>
                    <a:pt x="47" y="12"/>
                    <a:pt x="47" y="13"/>
                  </a:cubicBezTo>
                  <a:cubicBezTo>
                    <a:pt x="65" y="59"/>
                    <a:pt x="65" y="59"/>
                    <a:pt x="65" y="59"/>
                  </a:cubicBezTo>
                  <a:cubicBezTo>
                    <a:pt x="82" y="76"/>
                    <a:pt x="82" y="76"/>
                    <a:pt x="82" y="76"/>
                  </a:cubicBezTo>
                  <a:cubicBezTo>
                    <a:pt x="83" y="77"/>
                    <a:pt x="83" y="78"/>
                    <a:pt x="83" y="78"/>
                  </a:cubicBezTo>
                  <a:cubicBezTo>
                    <a:pt x="119" y="162"/>
                    <a:pt x="119" y="162"/>
                    <a:pt x="119" y="162"/>
                  </a:cubicBezTo>
                  <a:cubicBezTo>
                    <a:pt x="121" y="165"/>
                    <a:pt x="119" y="169"/>
                    <a:pt x="116" y="170"/>
                  </a:cubicBezTo>
                  <a:cubicBezTo>
                    <a:pt x="115" y="170"/>
                    <a:pt x="115" y="171"/>
                    <a:pt x="114" y="1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8205" name="Freeform 45">
              <a:extLst>
                <a:ext uri="{FF2B5EF4-FFF2-40B4-BE49-F238E27FC236}">
                  <a16:creationId xmlns:a16="http://schemas.microsoft.com/office/drawing/2014/main" id="{8E7E0BBE-24F6-E371-5058-9FC00F95DA7E}"/>
                </a:ext>
              </a:extLst>
            </p:cNvPr>
            <p:cNvSpPr>
              <a:spLocks/>
            </p:cNvSpPr>
            <p:nvPr/>
          </p:nvSpPr>
          <p:spPr bwMode="auto">
            <a:xfrm>
              <a:off x="3572" y="574"/>
              <a:ext cx="159" cy="53"/>
            </a:xfrm>
            <a:custGeom>
              <a:avLst/>
              <a:gdLst>
                <a:gd name="T0" fmla="*/ 102 w 108"/>
                <a:gd name="T1" fmla="*/ 36 h 36"/>
                <a:gd name="T2" fmla="*/ 96 w 108"/>
                <a:gd name="T3" fmla="*/ 30 h 36"/>
                <a:gd name="T4" fmla="*/ 54 w 108"/>
                <a:gd name="T5" fmla="*/ 12 h 36"/>
                <a:gd name="T6" fmla="*/ 12 w 108"/>
                <a:gd name="T7" fmla="*/ 30 h 36"/>
                <a:gd name="T8" fmla="*/ 6 w 108"/>
                <a:gd name="T9" fmla="*/ 36 h 36"/>
                <a:gd name="T10" fmla="*/ 0 w 108"/>
                <a:gd name="T11" fmla="*/ 30 h 36"/>
                <a:gd name="T12" fmla="*/ 54 w 108"/>
                <a:gd name="T13" fmla="*/ 0 h 36"/>
                <a:gd name="T14" fmla="*/ 108 w 108"/>
                <a:gd name="T15" fmla="*/ 30 h 36"/>
                <a:gd name="T16" fmla="*/ 102 w 108"/>
                <a:gd name="T17"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 h="36">
                  <a:moveTo>
                    <a:pt x="102" y="36"/>
                  </a:moveTo>
                  <a:cubicBezTo>
                    <a:pt x="99" y="36"/>
                    <a:pt x="96" y="33"/>
                    <a:pt x="96" y="30"/>
                  </a:cubicBezTo>
                  <a:cubicBezTo>
                    <a:pt x="96" y="21"/>
                    <a:pt x="78" y="12"/>
                    <a:pt x="54" y="12"/>
                  </a:cubicBezTo>
                  <a:cubicBezTo>
                    <a:pt x="30" y="12"/>
                    <a:pt x="12" y="21"/>
                    <a:pt x="12" y="30"/>
                  </a:cubicBezTo>
                  <a:cubicBezTo>
                    <a:pt x="12" y="33"/>
                    <a:pt x="9" y="36"/>
                    <a:pt x="6" y="36"/>
                  </a:cubicBezTo>
                  <a:cubicBezTo>
                    <a:pt x="3" y="36"/>
                    <a:pt x="0" y="33"/>
                    <a:pt x="0" y="30"/>
                  </a:cubicBezTo>
                  <a:cubicBezTo>
                    <a:pt x="0" y="13"/>
                    <a:pt x="23" y="0"/>
                    <a:pt x="54" y="0"/>
                  </a:cubicBezTo>
                  <a:cubicBezTo>
                    <a:pt x="85" y="0"/>
                    <a:pt x="108" y="13"/>
                    <a:pt x="108" y="30"/>
                  </a:cubicBezTo>
                  <a:cubicBezTo>
                    <a:pt x="108" y="33"/>
                    <a:pt x="105" y="36"/>
                    <a:pt x="102"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8206" name="Freeform 46">
              <a:extLst>
                <a:ext uri="{FF2B5EF4-FFF2-40B4-BE49-F238E27FC236}">
                  <a16:creationId xmlns:a16="http://schemas.microsoft.com/office/drawing/2014/main" id="{D7A19709-EF84-C27E-40F7-14D4A86CBC0F}"/>
                </a:ext>
              </a:extLst>
            </p:cNvPr>
            <p:cNvSpPr>
              <a:spLocks/>
            </p:cNvSpPr>
            <p:nvPr/>
          </p:nvSpPr>
          <p:spPr bwMode="auto">
            <a:xfrm>
              <a:off x="3616" y="575"/>
              <a:ext cx="18" cy="185"/>
            </a:xfrm>
            <a:custGeom>
              <a:avLst/>
              <a:gdLst>
                <a:gd name="T0" fmla="*/ 6 w 12"/>
                <a:gd name="T1" fmla="*/ 125 h 125"/>
                <a:gd name="T2" fmla="*/ 0 w 12"/>
                <a:gd name="T3" fmla="*/ 119 h 125"/>
                <a:gd name="T4" fmla="*/ 0 w 12"/>
                <a:gd name="T5" fmla="*/ 6 h 125"/>
                <a:gd name="T6" fmla="*/ 6 w 12"/>
                <a:gd name="T7" fmla="*/ 0 h 125"/>
                <a:gd name="T8" fmla="*/ 12 w 12"/>
                <a:gd name="T9" fmla="*/ 6 h 125"/>
                <a:gd name="T10" fmla="*/ 12 w 12"/>
                <a:gd name="T11" fmla="*/ 119 h 125"/>
                <a:gd name="T12" fmla="*/ 6 w 12"/>
                <a:gd name="T13" fmla="*/ 125 h 125"/>
              </a:gdLst>
              <a:ahLst/>
              <a:cxnLst>
                <a:cxn ang="0">
                  <a:pos x="T0" y="T1"/>
                </a:cxn>
                <a:cxn ang="0">
                  <a:pos x="T2" y="T3"/>
                </a:cxn>
                <a:cxn ang="0">
                  <a:pos x="T4" y="T5"/>
                </a:cxn>
                <a:cxn ang="0">
                  <a:pos x="T6" y="T7"/>
                </a:cxn>
                <a:cxn ang="0">
                  <a:pos x="T8" y="T9"/>
                </a:cxn>
                <a:cxn ang="0">
                  <a:pos x="T10" y="T11"/>
                </a:cxn>
                <a:cxn ang="0">
                  <a:pos x="T12" y="T13"/>
                </a:cxn>
              </a:cxnLst>
              <a:rect l="0" t="0" r="r" b="b"/>
              <a:pathLst>
                <a:path w="12" h="125">
                  <a:moveTo>
                    <a:pt x="6" y="125"/>
                  </a:moveTo>
                  <a:cubicBezTo>
                    <a:pt x="3" y="125"/>
                    <a:pt x="0" y="122"/>
                    <a:pt x="0" y="119"/>
                  </a:cubicBezTo>
                  <a:cubicBezTo>
                    <a:pt x="0" y="6"/>
                    <a:pt x="0" y="6"/>
                    <a:pt x="0" y="6"/>
                  </a:cubicBezTo>
                  <a:cubicBezTo>
                    <a:pt x="0" y="3"/>
                    <a:pt x="3" y="0"/>
                    <a:pt x="6" y="0"/>
                  </a:cubicBezTo>
                  <a:cubicBezTo>
                    <a:pt x="9" y="0"/>
                    <a:pt x="12" y="3"/>
                    <a:pt x="12" y="6"/>
                  </a:cubicBezTo>
                  <a:cubicBezTo>
                    <a:pt x="12" y="119"/>
                    <a:pt x="12" y="119"/>
                    <a:pt x="12" y="119"/>
                  </a:cubicBezTo>
                  <a:cubicBezTo>
                    <a:pt x="12" y="122"/>
                    <a:pt x="9" y="125"/>
                    <a:pt x="6" y="1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8207" name="Freeform 47">
              <a:extLst>
                <a:ext uri="{FF2B5EF4-FFF2-40B4-BE49-F238E27FC236}">
                  <a16:creationId xmlns:a16="http://schemas.microsoft.com/office/drawing/2014/main" id="{DBDD1AD0-33C8-B030-13DC-A518A1008170}"/>
                </a:ext>
              </a:extLst>
            </p:cNvPr>
            <p:cNvSpPr>
              <a:spLocks/>
            </p:cNvSpPr>
            <p:nvPr/>
          </p:nvSpPr>
          <p:spPr bwMode="auto">
            <a:xfrm>
              <a:off x="3669" y="575"/>
              <a:ext cx="18" cy="185"/>
            </a:xfrm>
            <a:custGeom>
              <a:avLst/>
              <a:gdLst>
                <a:gd name="T0" fmla="*/ 6 w 12"/>
                <a:gd name="T1" fmla="*/ 125 h 125"/>
                <a:gd name="T2" fmla="*/ 0 w 12"/>
                <a:gd name="T3" fmla="*/ 119 h 125"/>
                <a:gd name="T4" fmla="*/ 0 w 12"/>
                <a:gd name="T5" fmla="*/ 6 h 125"/>
                <a:gd name="T6" fmla="*/ 6 w 12"/>
                <a:gd name="T7" fmla="*/ 0 h 125"/>
                <a:gd name="T8" fmla="*/ 12 w 12"/>
                <a:gd name="T9" fmla="*/ 6 h 125"/>
                <a:gd name="T10" fmla="*/ 12 w 12"/>
                <a:gd name="T11" fmla="*/ 119 h 125"/>
                <a:gd name="T12" fmla="*/ 6 w 12"/>
                <a:gd name="T13" fmla="*/ 125 h 125"/>
              </a:gdLst>
              <a:ahLst/>
              <a:cxnLst>
                <a:cxn ang="0">
                  <a:pos x="T0" y="T1"/>
                </a:cxn>
                <a:cxn ang="0">
                  <a:pos x="T2" y="T3"/>
                </a:cxn>
                <a:cxn ang="0">
                  <a:pos x="T4" y="T5"/>
                </a:cxn>
                <a:cxn ang="0">
                  <a:pos x="T6" y="T7"/>
                </a:cxn>
                <a:cxn ang="0">
                  <a:pos x="T8" y="T9"/>
                </a:cxn>
                <a:cxn ang="0">
                  <a:pos x="T10" y="T11"/>
                </a:cxn>
                <a:cxn ang="0">
                  <a:pos x="T12" y="T13"/>
                </a:cxn>
              </a:cxnLst>
              <a:rect l="0" t="0" r="r" b="b"/>
              <a:pathLst>
                <a:path w="12" h="125">
                  <a:moveTo>
                    <a:pt x="6" y="125"/>
                  </a:moveTo>
                  <a:cubicBezTo>
                    <a:pt x="3" y="125"/>
                    <a:pt x="0" y="122"/>
                    <a:pt x="0" y="119"/>
                  </a:cubicBezTo>
                  <a:cubicBezTo>
                    <a:pt x="0" y="6"/>
                    <a:pt x="0" y="6"/>
                    <a:pt x="0" y="6"/>
                  </a:cubicBezTo>
                  <a:cubicBezTo>
                    <a:pt x="0" y="3"/>
                    <a:pt x="3" y="0"/>
                    <a:pt x="6" y="0"/>
                  </a:cubicBezTo>
                  <a:cubicBezTo>
                    <a:pt x="9" y="0"/>
                    <a:pt x="12" y="3"/>
                    <a:pt x="12" y="6"/>
                  </a:cubicBezTo>
                  <a:cubicBezTo>
                    <a:pt x="12" y="119"/>
                    <a:pt x="12" y="119"/>
                    <a:pt x="12" y="119"/>
                  </a:cubicBezTo>
                  <a:cubicBezTo>
                    <a:pt x="12" y="122"/>
                    <a:pt x="9" y="125"/>
                    <a:pt x="6" y="1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8208" name="Freeform 48">
              <a:extLst>
                <a:ext uri="{FF2B5EF4-FFF2-40B4-BE49-F238E27FC236}">
                  <a16:creationId xmlns:a16="http://schemas.microsoft.com/office/drawing/2014/main" id="{50EAC844-11C4-F1A2-E04E-659AB725D3EF}"/>
                </a:ext>
              </a:extLst>
            </p:cNvPr>
            <p:cNvSpPr>
              <a:spLocks/>
            </p:cNvSpPr>
            <p:nvPr/>
          </p:nvSpPr>
          <p:spPr bwMode="auto">
            <a:xfrm>
              <a:off x="3474" y="689"/>
              <a:ext cx="71" cy="71"/>
            </a:xfrm>
            <a:custGeom>
              <a:avLst/>
              <a:gdLst>
                <a:gd name="T0" fmla="*/ 6 w 48"/>
                <a:gd name="T1" fmla="*/ 48 h 48"/>
                <a:gd name="T2" fmla="*/ 0 w 48"/>
                <a:gd name="T3" fmla="*/ 42 h 48"/>
                <a:gd name="T4" fmla="*/ 42 w 48"/>
                <a:gd name="T5" fmla="*/ 0 h 48"/>
                <a:gd name="T6" fmla="*/ 48 w 48"/>
                <a:gd name="T7" fmla="*/ 6 h 48"/>
                <a:gd name="T8" fmla="*/ 42 w 48"/>
                <a:gd name="T9" fmla="*/ 12 h 48"/>
                <a:gd name="T10" fmla="*/ 12 w 48"/>
                <a:gd name="T11" fmla="*/ 42 h 48"/>
                <a:gd name="T12" fmla="*/ 6 w 48"/>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48" h="48">
                  <a:moveTo>
                    <a:pt x="6" y="48"/>
                  </a:moveTo>
                  <a:cubicBezTo>
                    <a:pt x="3" y="48"/>
                    <a:pt x="0" y="45"/>
                    <a:pt x="0" y="42"/>
                  </a:cubicBezTo>
                  <a:cubicBezTo>
                    <a:pt x="0" y="18"/>
                    <a:pt x="19" y="0"/>
                    <a:pt x="42" y="0"/>
                  </a:cubicBezTo>
                  <a:cubicBezTo>
                    <a:pt x="45" y="0"/>
                    <a:pt x="48" y="2"/>
                    <a:pt x="48" y="6"/>
                  </a:cubicBezTo>
                  <a:cubicBezTo>
                    <a:pt x="48" y="9"/>
                    <a:pt x="45" y="12"/>
                    <a:pt x="42" y="12"/>
                  </a:cubicBezTo>
                  <a:cubicBezTo>
                    <a:pt x="25" y="12"/>
                    <a:pt x="12" y="25"/>
                    <a:pt x="12" y="42"/>
                  </a:cubicBezTo>
                  <a:cubicBezTo>
                    <a:pt x="12" y="45"/>
                    <a:pt x="9"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8209" name="Freeform 49">
              <a:extLst>
                <a:ext uri="{FF2B5EF4-FFF2-40B4-BE49-F238E27FC236}">
                  <a16:creationId xmlns:a16="http://schemas.microsoft.com/office/drawing/2014/main" id="{48522FB4-5A65-D019-6F39-5520BE9672A9}"/>
                </a:ext>
              </a:extLst>
            </p:cNvPr>
            <p:cNvSpPr>
              <a:spLocks/>
            </p:cNvSpPr>
            <p:nvPr/>
          </p:nvSpPr>
          <p:spPr bwMode="auto">
            <a:xfrm>
              <a:off x="3705" y="689"/>
              <a:ext cx="71" cy="71"/>
            </a:xfrm>
            <a:custGeom>
              <a:avLst/>
              <a:gdLst>
                <a:gd name="T0" fmla="*/ 6 w 48"/>
                <a:gd name="T1" fmla="*/ 48 h 48"/>
                <a:gd name="T2" fmla="*/ 0 w 48"/>
                <a:gd name="T3" fmla="*/ 42 h 48"/>
                <a:gd name="T4" fmla="*/ 42 w 48"/>
                <a:gd name="T5" fmla="*/ 0 h 48"/>
                <a:gd name="T6" fmla="*/ 48 w 48"/>
                <a:gd name="T7" fmla="*/ 6 h 48"/>
                <a:gd name="T8" fmla="*/ 42 w 48"/>
                <a:gd name="T9" fmla="*/ 12 h 48"/>
                <a:gd name="T10" fmla="*/ 12 w 48"/>
                <a:gd name="T11" fmla="*/ 42 h 48"/>
                <a:gd name="T12" fmla="*/ 6 w 48"/>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48" h="48">
                  <a:moveTo>
                    <a:pt x="6" y="48"/>
                  </a:moveTo>
                  <a:cubicBezTo>
                    <a:pt x="3" y="48"/>
                    <a:pt x="0" y="45"/>
                    <a:pt x="0" y="42"/>
                  </a:cubicBezTo>
                  <a:cubicBezTo>
                    <a:pt x="0" y="18"/>
                    <a:pt x="19" y="0"/>
                    <a:pt x="42" y="0"/>
                  </a:cubicBezTo>
                  <a:cubicBezTo>
                    <a:pt x="45" y="0"/>
                    <a:pt x="48" y="2"/>
                    <a:pt x="48" y="6"/>
                  </a:cubicBezTo>
                  <a:cubicBezTo>
                    <a:pt x="48" y="9"/>
                    <a:pt x="45" y="12"/>
                    <a:pt x="42" y="12"/>
                  </a:cubicBezTo>
                  <a:cubicBezTo>
                    <a:pt x="25" y="12"/>
                    <a:pt x="12" y="25"/>
                    <a:pt x="12" y="42"/>
                  </a:cubicBezTo>
                  <a:cubicBezTo>
                    <a:pt x="12" y="45"/>
                    <a:pt x="9"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sp>
        <p:nvSpPr>
          <p:cNvPr id="8194" name="Marcador de pie de página 8193">
            <a:extLst>
              <a:ext uri="{FF2B5EF4-FFF2-40B4-BE49-F238E27FC236}">
                <a16:creationId xmlns:a16="http://schemas.microsoft.com/office/drawing/2014/main" id="{48D4DAC1-4EAA-FD97-A323-DC1F4E0522AC}"/>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6408455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SIPOC model</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105620799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7DCF82FD-2280-065A-0CE5-C353C4298605}"/>
              </a:ext>
            </a:extLst>
          </p:cNvPr>
          <p:cNvGraphicFramePr>
            <a:graphicFrameLocks noChangeAspect="1"/>
          </p:cNvGraphicFramePr>
          <p:nvPr>
            <p:custDataLst>
              <p:tags r:id="rId1"/>
            </p:custDataLst>
            <p:extLst>
              <p:ext uri="{D42A27DB-BD31-4B8C-83A1-F6EECF244321}">
                <p14:modId xmlns:p14="http://schemas.microsoft.com/office/powerpoint/2010/main" val="16216900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B4E55F05-637F-B9F0-C3A1-5CE22A694989}"/>
              </a:ext>
            </a:extLst>
          </p:cNvPr>
          <p:cNvSpPr>
            <a:spLocks noGrp="1"/>
          </p:cNvSpPr>
          <p:nvPr>
            <p:ph type="title"/>
          </p:nvPr>
        </p:nvSpPr>
        <p:spPr/>
        <p:txBody>
          <a:bodyPr vert="horz"/>
          <a:lstStyle/>
          <a:p>
            <a:r>
              <a:rPr lang="en-US" dirty="0"/>
              <a:t>SIPOC model — Overview</a:t>
            </a:r>
          </a:p>
        </p:txBody>
      </p:sp>
      <p:sp>
        <p:nvSpPr>
          <p:cNvPr id="3" name="Marcador de texto 2">
            <a:extLst>
              <a:ext uri="{FF2B5EF4-FFF2-40B4-BE49-F238E27FC236}">
                <a16:creationId xmlns:a16="http://schemas.microsoft.com/office/drawing/2014/main" id="{999897DC-93B2-7C6A-25B8-7A04654638A4}"/>
              </a:ext>
            </a:extLst>
          </p:cNvPr>
          <p:cNvSpPr>
            <a:spLocks noGrp="1"/>
          </p:cNvSpPr>
          <p:nvPr>
            <p:ph type="body" sz="quarter" idx="18"/>
          </p:nvPr>
        </p:nvSpPr>
        <p:spPr/>
        <p:txBody>
          <a:bodyPr/>
          <a:lstStyle/>
          <a:p>
            <a:r>
              <a:rPr lang="en-US" dirty="0"/>
              <a:t>The SIPOC model is a process mapping tool used in Six Sigma and Lean management methodologies. Its origins are not clear, but it is believed to have originated in the manufacturing industry in the 1980s or 1990s.</a:t>
            </a:r>
          </a:p>
        </p:txBody>
      </p:sp>
      <p:sp>
        <p:nvSpPr>
          <p:cNvPr id="4" name="Marcador de texto 3">
            <a:extLst>
              <a:ext uri="{FF2B5EF4-FFF2-40B4-BE49-F238E27FC236}">
                <a16:creationId xmlns:a16="http://schemas.microsoft.com/office/drawing/2014/main" id="{DB8B8DAD-1A85-5D7A-1BF6-C5B2DD06CC9C}"/>
              </a:ext>
            </a:extLst>
          </p:cNvPr>
          <p:cNvSpPr>
            <a:spLocks noGrp="1"/>
          </p:cNvSpPr>
          <p:nvPr>
            <p:ph type="body" sz="quarter" idx="19"/>
          </p:nvPr>
        </p:nvSpPr>
        <p:spPr/>
        <p:txBody>
          <a:bodyPr/>
          <a:lstStyle/>
          <a:p>
            <a:pPr marL="0" indent="0">
              <a:buFont typeface="Arial" panose="020B0604020202020204" pitchFamily="34" charset="0"/>
              <a:buNone/>
            </a:pPr>
            <a:r>
              <a:rPr lang="en-US" dirty="0"/>
              <a:t>The SIPOC model is a tool used in Six Sigma and Lean management methodologies to map out and visualize a process. SIPOC stands for:</a:t>
            </a:r>
          </a:p>
          <a:p>
            <a:r>
              <a:rPr lang="en-US" b="1" dirty="0"/>
              <a:t>Suppliers</a:t>
            </a:r>
            <a:r>
              <a:rPr lang="en-US" dirty="0"/>
              <a:t>: The suppliers are the individuals, departments, or organizations that provide the inputs needed for the process. Suppliers can include internal departments, external vendors, or other sources.</a:t>
            </a:r>
          </a:p>
          <a:p>
            <a:r>
              <a:rPr lang="en-US" b="1" dirty="0"/>
              <a:t>Inputs</a:t>
            </a:r>
            <a:r>
              <a:rPr lang="en-US" dirty="0"/>
              <a:t>: The inputs are the resources or materials that are necessary for the process to work. Inputs can include raw materials, data, information, or even energy.</a:t>
            </a:r>
          </a:p>
          <a:p>
            <a:r>
              <a:rPr lang="en-US" b="1" dirty="0"/>
              <a:t>Process</a:t>
            </a:r>
            <a:r>
              <a:rPr lang="en-US" dirty="0"/>
              <a:t>: The process refers to the series of steps or activities that transform the inputs into outputs. The process steps can include manual tasks, automated steps, and decision-making points.</a:t>
            </a:r>
          </a:p>
          <a:p>
            <a:r>
              <a:rPr lang="en-US" b="1" dirty="0"/>
              <a:t>Outputs</a:t>
            </a:r>
            <a:r>
              <a:rPr lang="en-US" dirty="0"/>
              <a:t>: The outputs are the end result of the process. Outputs can include products, services, reports, or other deliverables.</a:t>
            </a:r>
          </a:p>
          <a:p>
            <a:r>
              <a:rPr lang="en-US" b="1" dirty="0"/>
              <a:t>Customers</a:t>
            </a:r>
            <a:r>
              <a:rPr lang="en-US" dirty="0"/>
              <a:t>: The customers are the individuals or groups who receive the outputs of the process. Customers can be internal or external, and can include individuals, departments, or other organizations.</a:t>
            </a:r>
          </a:p>
        </p:txBody>
      </p:sp>
      <p:sp>
        <p:nvSpPr>
          <p:cNvPr id="5" name="Marcador de texto 4">
            <a:extLst>
              <a:ext uri="{FF2B5EF4-FFF2-40B4-BE49-F238E27FC236}">
                <a16:creationId xmlns:a16="http://schemas.microsoft.com/office/drawing/2014/main" id="{7DAD9C7A-E39A-63C8-9CF2-28959F056D59}"/>
              </a:ext>
            </a:extLst>
          </p:cNvPr>
          <p:cNvSpPr>
            <a:spLocks noGrp="1"/>
          </p:cNvSpPr>
          <p:nvPr>
            <p:ph type="body" sz="quarter" idx="20"/>
          </p:nvPr>
        </p:nvSpPr>
        <p:spPr/>
        <p:txBody>
          <a:bodyPr/>
          <a:lstStyle/>
          <a:p>
            <a:r>
              <a:rPr lang="en-US" b="1" dirty="0"/>
              <a:t>Supply Chain Optimization: </a:t>
            </a:r>
            <a:r>
              <a:rPr lang="en-US" dirty="0"/>
              <a:t>By identifying the sources of inputs, the process steps, and the outputs delivered to customers, teams can identify areas where improvements can be made to increase efficiency, reduce costs, or improve delivery times.</a:t>
            </a:r>
          </a:p>
          <a:p>
            <a:r>
              <a:rPr lang="en-US" b="1" dirty="0"/>
              <a:t>Quality Control: </a:t>
            </a:r>
            <a:r>
              <a:rPr lang="en-US" dirty="0"/>
              <a:t>By mapping out the process steps and the inputs and outputs at each step, teams can identify where defects may occur and can prioritize improvement efforts to reduce defects and improve quality.</a:t>
            </a:r>
          </a:p>
          <a:p>
            <a:r>
              <a:rPr lang="en-US" b="1" dirty="0"/>
              <a:t>Customer Experience Improvement: </a:t>
            </a:r>
            <a:r>
              <a:rPr lang="en-US" dirty="0"/>
              <a:t>By mapping out the process steps and the outputs delivered to customers, teams can identify areas where customer satisfaction may be low and can prioritize improvement efforts to improve the overall customer experience.</a:t>
            </a:r>
          </a:p>
          <a:p>
            <a:r>
              <a:rPr lang="en-US" b="1" dirty="0"/>
              <a:t>Process Automation: </a:t>
            </a:r>
            <a:r>
              <a:rPr lang="en-US" dirty="0"/>
              <a:t>By mapping out the process steps and the inputs and outputs at each step, teams can identify areas where automation can be implemented to reduce manual tasks and improve process efficiency.</a:t>
            </a:r>
          </a:p>
        </p:txBody>
      </p:sp>
      <p:sp>
        <p:nvSpPr>
          <p:cNvPr id="11" name="Marcador de pie de página 10">
            <a:extLst>
              <a:ext uri="{FF2B5EF4-FFF2-40B4-BE49-F238E27FC236}">
                <a16:creationId xmlns:a16="http://schemas.microsoft.com/office/drawing/2014/main" id="{D1CDA176-5B07-6E50-A3A2-332F04C202A6}"/>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26460843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28" name="Objeto 9227" hidden="1">
            <a:extLst>
              <a:ext uri="{FF2B5EF4-FFF2-40B4-BE49-F238E27FC236}">
                <a16:creationId xmlns:a16="http://schemas.microsoft.com/office/drawing/2014/main" id="{481DB249-FCA0-F667-4CDC-8CD1F36F5880}"/>
              </a:ext>
            </a:extLst>
          </p:cNvPr>
          <p:cNvGraphicFramePr>
            <a:graphicFrameLocks noChangeAspect="1"/>
          </p:cNvGraphicFramePr>
          <p:nvPr>
            <p:custDataLst>
              <p:tags r:id="rId1"/>
            </p:custDataLst>
            <p:extLst>
              <p:ext uri="{D42A27DB-BD31-4B8C-83A1-F6EECF244321}">
                <p14:modId xmlns:p14="http://schemas.microsoft.com/office/powerpoint/2010/main" val="27501033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vert="horz"/>
          <a:lstStyle/>
          <a:p>
            <a:r>
              <a:rPr lang="en-US" dirty="0"/>
              <a:t>SIPOC model — Template A</a:t>
            </a:r>
          </a:p>
        </p:txBody>
      </p:sp>
      <p:grpSp>
        <p:nvGrpSpPr>
          <p:cNvPr id="9246" name="Grupo 9245">
            <a:extLst>
              <a:ext uri="{FF2B5EF4-FFF2-40B4-BE49-F238E27FC236}">
                <a16:creationId xmlns:a16="http://schemas.microsoft.com/office/drawing/2014/main" id="{64FCC82D-46DB-7897-4F04-547F1E9D7D58}"/>
              </a:ext>
            </a:extLst>
          </p:cNvPr>
          <p:cNvGrpSpPr/>
          <p:nvPr/>
        </p:nvGrpSpPr>
        <p:grpSpPr>
          <a:xfrm>
            <a:off x="10345158" y="1519371"/>
            <a:ext cx="795204" cy="795204"/>
            <a:chOff x="10345158" y="1519371"/>
            <a:chExt cx="795204" cy="795204"/>
          </a:xfrm>
        </p:grpSpPr>
        <p:sp>
          <p:nvSpPr>
            <p:cNvPr id="9226" name="Elipse 9225">
              <a:extLst>
                <a:ext uri="{FF2B5EF4-FFF2-40B4-BE49-F238E27FC236}">
                  <a16:creationId xmlns:a16="http://schemas.microsoft.com/office/drawing/2014/main" id="{2F35F395-78B7-9DB8-39F9-9838F653630D}"/>
                </a:ext>
              </a:extLst>
            </p:cNvPr>
            <p:cNvSpPr/>
            <p:nvPr/>
          </p:nvSpPr>
          <p:spPr>
            <a:xfrm>
              <a:off x="10345158" y="1519371"/>
              <a:ext cx="795204" cy="79520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nvGrpSpPr>
            <p:cNvPr id="10" name="Group 31">
              <a:extLst>
                <a:ext uri="{FF2B5EF4-FFF2-40B4-BE49-F238E27FC236}">
                  <a16:creationId xmlns:a16="http://schemas.microsoft.com/office/drawing/2014/main" id="{9F9AE78F-9AF1-1771-7C70-1C6AED2D2193}"/>
                </a:ext>
              </a:extLst>
            </p:cNvPr>
            <p:cNvGrpSpPr>
              <a:grpSpLocks noChangeAspect="1"/>
            </p:cNvGrpSpPr>
            <p:nvPr/>
          </p:nvGrpSpPr>
          <p:grpSpPr bwMode="auto">
            <a:xfrm>
              <a:off x="10492669" y="1672566"/>
              <a:ext cx="500182" cy="488814"/>
              <a:chOff x="3619" y="663"/>
              <a:chExt cx="440" cy="430"/>
            </a:xfrm>
            <a:solidFill>
              <a:schemeClr val="tx2"/>
            </a:solidFill>
          </p:grpSpPr>
          <p:sp>
            <p:nvSpPr>
              <p:cNvPr id="11" name="Freeform 32">
                <a:extLst>
                  <a:ext uri="{FF2B5EF4-FFF2-40B4-BE49-F238E27FC236}">
                    <a16:creationId xmlns:a16="http://schemas.microsoft.com/office/drawing/2014/main" id="{401C6BE9-63B1-90FC-2271-745F181651A9}"/>
                  </a:ext>
                </a:extLst>
              </p:cNvPr>
              <p:cNvSpPr>
                <a:spLocks noEditPoints="1"/>
              </p:cNvSpPr>
              <p:nvPr/>
            </p:nvSpPr>
            <p:spPr bwMode="auto">
              <a:xfrm>
                <a:off x="3646" y="806"/>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2" name="Freeform 33">
                <a:extLst>
                  <a:ext uri="{FF2B5EF4-FFF2-40B4-BE49-F238E27FC236}">
                    <a16:creationId xmlns:a16="http://schemas.microsoft.com/office/drawing/2014/main" id="{1BC55ED2-F174-9475-8015-9F3246E0657D}"/>
                  </a:ext>
                </a:extLst>
              </p:cNvPr>
              <p:cNvSpPr>
                <a:spLocks noEditPoints="1"/>
              </p:cNvSpPr>
              <p:nvPr/>
            </p:nvSpPr>
            <p:spPr bwMode="auto">
              <a:xfrm>
                <a:off x="3619" y="914"/>
                <a:ext cx="147"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3" name="Freeform 34">
                <a:extLst>
                  <a:ext uri="{FF2B5EF4-FFF2-40B4-BE49-F238E27FC236}">
                    <a16:creationId xmlns:a16="http://schemas.microsoft.com/office/drawing/2014/main" id="{903A7EBB-3148-48CD-FD24-FA4D5D73AFC4}"/>
                  </a:ext>
                </a:extLst>
              </p:cNvPr>
              <p:cNvSpPr>
                <a:spLocks noEditPoints="1"/>
              </p:cNvSpPr>
              <p:nvPr/>
            </p:nvSpPr>
            <p:spPr bwMode="auto">
              <a:xfrm>
                <a:off x="3940" y="806"/>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4" name="Freeform 35">
                <a:extLst>
                  <a:ext uri="{FF2B5EF4-FFF2-40B4-BE49-F238E27FC236}">
                    <a16:creationId xmlns:a16="http://schemas.microsoft.com/office/drawing/2014/main" id="{B7F493D3-3962-5ABD-8EFB-80CC43738709}"/>
                  </a:ext>
                </a:extLst>
              </p:cNvPr>
              <p:cNvSpPr>
                <a:spLocks noEditPoints="1"/>
              </p:cNvSpPr>
              <p:nvPr/>
            </p:nvSpPr>
            <p:spPr bwMode="auto">
              <a:xfrm>
                <a:off x="3912" y="914"/>
                <a:ext cx="147"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5" name="Freeform 36">
                <a:extLst>
                  <a:ext uri="{FF2B5EF4-FFF2-40B4-BE49-F238E27FC236}">
                    <a16:creationId xmlns:a16="http://schemas.microsoft.com/office/drawing/2014/main" id="{3F666D3E-83BA-E78B-9906-2BE016B6349F}"/>
                  </a:ext>
                </a:extLst>
              </p:cNvPr>
              <p:cNvSpPr>
                <a:spLocks noEditPoints="1"/>
              </p:cNvSpPr>
              <p:nvPr/>
            </p:nvSpPr>
            <p:spPr bwMode="auto">
              <a:xfrm>
                <a:off x="3793" y="663"/>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6" name="Freeform 37">
                <a:extLst>
                  <a:ext uri="{FF2B5EF4-FFF2-40B4-BE49-F238E27FC236}">
                    <a16:creationId xmlns:a16="http://schemas.microsoft.com/office/drawing/2014/main" id="{2604BD15-D753-498A-6FAD-E0323504B990}"/>
                  </a:ext>
                </a:extLst>
              </p:cNvPr>
              <p:cNvSpPr>
                <a:spLocks noEditPoints="1"/>
              </p:cNvSpPr>
              <p:nvPr/>
            </p:nvSpPr>
            <p:spPr bwMode="auto">
              <a:xfrm>
                <a:off x="3766" y="771"/>
                <a:ext cx="146"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grpSp>
        <p:nvGrpSpPr>
          <p:cNvPr id="9247" name="Grupo 9246">
            <a:extLst>
              <a:ext uri="{FF2B5EF4-FFF2-40B4-BE49-F238E27FC236}">
                <a16:creationId xmlns:a16="http://schemas.microsoft.com/office/drawing/2014/main" id="{016780C6-1420-CC21-C0AF-B7DBC7AD9715}"/>
              </a:ext>
            </a:extLst>
          </p:cNvPr>
          <p:cNvGrpSpPr/>
          <p:nvPr/>
        </p:nvGrpSpPr>
        <p:grpSpPr>
          <a:xfrm>
            <a:off x="8021778" y="1519371"/>
            <a:ext cx="795204" cy="795204"/>
            <a:chOff x="8021778" y="1519371"/>
            <a:chExt cx="795204" cy="795204"/>
          </a:xfrm>
        </p:grpSpPr>
        <p:sp>
          <p:nvSpPr>
            <p:cNvPr id="9225" name="Elipse 9224">
              <a:extLst>
                <a:ext uri="{FF2B5EF4-FFF2-40B4-BE49-F238E27FC236}">
                  <a16:creationId xmlns:a16="http://schemas.microsoft.com/office/drawing/2014/main" id="{56C5A167-CFB8-F2AB-E2CD-55888750F078}"/>
                </a:ext>
              </a:extLst>
            </p:cNvPr>
            <p:cNvSpPr/>
            <p:nvPr/>
          </p:nvSpPr>
          <p:spPr>
            <a:xfrm>
              <a:off x="8021778" y="1519371"/>
              <a:ext cx="795204" cy="79520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nvGrpSpPr>
            <p:cNvPr id="17" name="Group 146">
              <a:extLst>
                <a:ext uri="{FF2B5EF4-FFF2-40B4-BE49-F238E27FC236}">
                  <a16:creationId xmlns:a16="http://schemas.microsoft.com/office/drawing/2014/main" id="{FF7B5684-59CA-FC16-6573-BFFD366702B3}"/>
                </a:ext>
              </a:extLst>
            </p:cNvPr>
            <p:cNvGrpSpPr>
              <a:grpSpLocks noChangeAspect="1"/>
            </p:cNvGrpSpPr>
            <p:nvPr/>
          </p:nvGrpSpPr>
          <p:grpSpPr bwMode="auto">
            <a:xfrm>
              <a:off x="8207410" y="1707467"/>
              <a:ext cx="423942" cy="419012"/>
              <a:chOff x="3438" y="1721"/>
              <a:chExt cx="430" cy="425"/>
            </a:xfrm>
            <a:solidFill>
              <a:schemeClr val="tx2"/>
            </a:solidFill>
          </p:grpSpPr>
          <p:sp>
            <p:nvSpPr>
              <p:cNvPr id="18" name="Freeform 147">
                <a:extLst>
                  <a:ext uri="{FF2B5EF4-FFF2-40B4-BE49-F238E27FC236}">
                    <a16:creationId xmlns:a16="http://schemas.microsoft.com/office/drawing/2014/main" id="{BCB3EA2E-812F-3D54-9767-2FB7E847DA0E}"/>
                  </a:ext>
                </a:extLst>
              </p:cNvPr>
              <p:cNvSpPr>
                <a:spLocks noEditPoints="1"/>
              </p:cNvSpPr>
              <p:nvPr/>
            </p:nvSpPr>
            <p:spPr bwMode="auto">
              <a:xfrm>
                <a:off x="3440" y="2004"/>
                <a:ext cx="426" cy="142"/>
              </a:xfrm>
              <a:custGeom>
                <a:avLst/>
                <a:gdLst>
                  <a:gd name="T0" fmla="*/ 282 w 288"/>
                  <a:gd name="T1" fmla="*/ 96 h 96"/>
                  <a:gd name="T2" fmla="*/ 6 w 288"/>
                  <a:gd name="T3" fmla="*/ 96 h 96"/>
                  <a:gd name="T4" fmla="*/ 0 w 288"/>
                  <a:gd name="T5" fmla="*/ 90 h 96"/>
                  <a:gd name="T6" fmla="*/ 0 w 288"/>
                  <a:gd name="T7" fmla="*/ 6 h 96"/>
                  <a:gd name="T8" fmla="*/ 6 w 288"/>
                  <a:gd name="T9" fmla="*/ 0 h 96"/>
                  <a:gd name="T10" fmla="*/ 96 w 288"/>
                  <a:gd name="T11" fmla="*/ 0 h 96"/>
                  <a:gd name="T12" fmla="*/ 102 w 288"/>
                  <a:gd name="T13" fmla="*/ 6 h 96"/>
                  <a:gd name="T14" fmla="*/ 102 w 288"/>
                  <a:gd name="T15" fmla="*/ 18 h 96"/>
                  <a:gd name="T16" fmla="*/ 120 w 288"/>
                  <a:gd name="T17" fmla="*/ 36 h 96"/>
                  <a:gd name="T18" fmla="*/ 174 w 288"/>
                  <a:gd name="T19" fmla="*/ 36 h 96"/>
                  <a:gd name="T20" fmla="*/ 192 w 288"/>
                  <a:gd name="T21" fmla="*/ 18 h 96"/>
                  <a:gd name="T22" fmla="*/ 192 w 288"/>
                  <a:gd name="T23" fmla="*/ 6 h 96"/>
                  <a:gd name="T24" fmla="*/ 198 w 288"/>
                  <a:gd name="T25" fmla="*/ 0 h 96"/>
                  <a:gd name="T26" fmla="*/ 282 w 288"/>
                  <a:gd name="T27" fmla="*/ 0 h 96"/>
                  <a:gd name="T28" fmla="*/ 288 w 288"/>
                  <a:gd name="T29" fmla="*/ 6 h 96"/>
                  <a:gd name="T30" fmla="*/ 288 w 288"/>
                  <a:gd name="T31" fmla="*/ 90 h 96"/>
                  <a:gd name="T32" fmla="*/ 282 w 288"/>
                  <a:gd name="T33" fmla="*/ 96 h 96"/>
                  <a:gd name="T34" fmla="*/ 12 w 288"/>
                  <a:gd name="T35" fmla="*/ 84 h 96"/>
                  <a:gd name="T36" fmla="*/ 276 w 288"/>
                  <a:gd name="T37" fmla="*/ 84 h 96"/>
                  <a:gd name="T38" fmla="*/ 276 w 288"/>
                  <a:gd name="T39" fmla="*/ 12 h 96"/>
                  <a:gd name="T40" fmla="*/ 204 w 288"/>
                  <a:gd name="T41" fmla="*/ 12 h 96"/>
                  <a:gd name="T42" fmla="*/ 204 w 288"/>
                  <a:gd name="T43" fmla="*/ 18 h 96"/>
                  <a:gd name="T44" fmla="*/ 174 w 288"/>
                  <a:gd name="T45" fmla="*/ 48 h 96"/>
                  <a:gd name="T46" fmla="*/ 120 w 288"/>
                  <a:gd name="T47" fmla="*/ 48 h 96"/>
                  <a:gd name="T48" fmla="*/ 90 w 288"/>
                  <a:gd name="T49" fmla="*/ 18 h 96"/>
                  <a:gd name="T50" fmla="*/ 90 w 288"/>
                  <a:gd name="T51" fmla="*/ 12 h 96"/>
                  <a:gd name="T52" fmla="*/ 12 w 288"/>
                  <a:gd name="T53" fmla="*/ 12 h 96"/>
                  <a:gd name="T54" fmla="*/ 12 w 288"/>
                  <a:gd name="T55"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8" h="96">
                    <a:moveTo>
                      <a:pt x="282" y="96"/>
                    </a:moveTo>
                    <a:cubicBezTo>
                      <a:pt x="6" y="96"/>
                      <a:pt x="6" y="96"/>
                      <a:pt x="6" y="96"/>
                    </a:cubicBezTo>
                    <a:cubicBezTo>
                      <a:pt x="3" y="96"/>
                      <a:pt x="0" y="94"/>
                      <a:pt x="0" y="90"/>
                    </a:cubicBezTo>
                    <a:cubicBezTo>
                      <a:pt x="0" y="6"/>
                      <a:pt x="0" y="6"/>
                      <a:pt x="0" y="6"/>
                    </a:cubicBezTo>
                    <a:cubicBezTo>
                      <a:pt x="0" y="3"/>
                      <a:pt x="3" y="0"/>
                      <a:pt x="6" y="0"/>
                    </a:cubicBezTo>
                    <a:cubicBezTo>
                      <a:pt x="96" y="0"/>
                      <a:pt x="96" y="0"/>
                      <a:pt x="96" y="0"/>
                    </a:cubicBezTo>
                    <a:cubicBezTo>
                      <a:pt x="100" y="0"/>
                      <a:pt x="102" y="3"/>
                      <a:pt x="102" y="6"/>
                    </a:cubicBezTo>
                    <a:cubicBezTo>
                      <a:pt x="102" y="18"/>
                      <a:pt x="102" y="18"/>
                      <a:pt x="102" y="18"/>
                    </a:cubicBezTo>
                    <a:cubicBezTo>
                      <a:pt x="102" y="28"/>
                      <a:pt x="110" y="36"/>
                      <a:pt x="120" y="36"/>
                    </a:cubicBezTo>
                    <a:cubicBezTo>
                      <a:pt x="174" y="36"/>
                      <a:pt x="174" y="36"/>
                      <a:pt x="174" y="36"/>
                    </a:cubicBezTo>
                    <a:cubicBezTo>
                      <a:pt x="184" y="36"/>
                      <a:pt x="192" y="28"/>
                      <a:pt x="192" y="18"/>
                    </a:cubicBezTo>
                    <a:cubicBezTo>
                      <a:pt x="192" y="6"/>
                      <a:pt x="192" y="6"/>
                      <a:pt x="192" y="6"/>
                    </a:cubicBezTo>
                    <a:cubicBezTo>
                      <a:pt x="192" y="3"/>
                      <a:pt x="195" y="0"/>
                      <a:pt x="198" y="0"/>
                    </a:cubicBezTo>
                    <a:cubicBezTo>
                      <a:pt x="282" y="0"/>
                      <a:pt x="282" y="0"/>
                      <a:pt x="282" y="0"/>
                    </a:cubicBezTo>
                    <a:cubicBezTo>
                      <a:pt x="286" y="0"/>
                      <a:pt x="288" y="3"/>
                      <a:pt x="288" y="6"/>
                    </a:cubicBezTo>
                    <a:cubicBezTo>
                      <a:pt x="288" y="90"/>
                      <a:pt x="288" y="90"/>
                      <a:pt x="288" y="90"/>
                    </a:cubicBezTo>
                    <a:cubicBezTo>
                      <a:pt x="288" y="94"/>
                      <a:pt x="286" y="96"/>
                      <a:pt x="282" y="96"/>
                    </a:cubicBezTo>
                    <a:close/>
                    <a:moveTo>
                      <a:pt x="12" y="84"/>
                    </a:moveTo>
                    <a:cubicBezTo>
                      <a:pt x="276" y="84"/>
                      <a:pt x="276" y="84"/>
                      <a:pt x="276" y="84"/>
                    </a:cubicBezTo>
                    <a:cubicBezTo>
                      <a:pt x="276" y="12"/>
                      <a:pt x="276" y="12"/>
                      <a:pt x="276" y="12"/>
                    </a:cubicBezTo>
                    <a:cubicBezTo>
                      <a:pt x="204" y="12"/>
                      <a:pt x="204" y="12"/>
                      <a:pt x="204" y="12"/>
                    </a:cubicBezTo>
                    <a:cubicBezTo>
                      <a:pt x="204" y="18"/>
                      <a:pt x="204" y="18"/>
                      <a:pt x="204" y="18"/>
                    </a:cubicBezTo>
                    <a:cubicBezTo>
                      <a:pt x="204" y="35"/>
                      <a:pt x="191" y="48"/>
                      <a:pt x="174" y="48"/>
                    </a:cubicBezTo>
                    <a:cubicBezTo>
                      <a:pt x="120" y="48"/>
                      <a:pt x="120" y="48"/>
                      <a:pt x="120" y="48"/>
                    </a:cubicBezTo>
                    <a:cubicBezTo>
                      <a:pt x="104" y="48"/>
                      <a:pt x="90" y="35"/>
                      <a:pt x="90" y="18"/>
                    </a:cubicBezTo>
                    <a:cubicBezTo>
                      <a:pt x="90" y="12"/>
                      <a:pt x="90" y="12"/>
                      <a:pt x="90"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9" name="Freeform 148">
                <a:extLst>
                  <a:ext uri="{FF2B5EF4-FFF2-40B4-BE49-F238E27FC236}">
                    <a16:creationId xmlns:a16="http://schemas.microsoft.com/office/drawing/2014/main" id="{41F48EEE-A424-E5B6-0DDD-69C16764D7FB}"/>
                  </a:ext>
                </a:extLst>
              </p:cNvPr>
              <p:cNvSpPr>
                <a:spLocks/>
              </p:cNvSpPr>
              <p:nvPr/>
            </p:nvSpPr>
            <p:spPr bwMode="auto">
              <a:xfrm>
                <a:off x="3438" y="1898"/>
                <a:ext cx="144" cy="124"/>
              </a:xfrm>
              <a:custGeom>
                <a:avLst/>
                <a:gdLst>
                  <a:gd name="T0" fmla="*/ 7 w 97"/>
                  <a:gd name="T1" fmla="*/ 84 h 84"/>
                  <a:gd name="T2" fmla="*/ 4 w 97"/>
                  <a:gd name="T3" fmla="*/ 83 h 84"/>
                  <a:gd name="T4" fmla="*/ 2 w 97"/>
                  <a:gd name="T5" fmla="*/ 75 h 84"/>
                  <a:gd name="T6" fmla="*/ 44 w 97"/>
                  <a:gd name="T7" fmla="*/ 3 h 84"/>
                  <a:gd name="T8" fmla="*/ 49 w 97"/>
                  <a:gd name="T9" fmla="*/ 0 h 84"/>
                  <a:gd name="T10" fmla="*/ 91 w 97"/>
                  <a:gd name="T11" fmla="*/ 0 h 84"/>
                  <a:gd name="T12" fmla="*/ 97 w 97"/>
                  <a:gd name="T13" fmla="*/ 6 h 84"/>
                  <a:gd name="T14" fmla="*/ 91 w 97"/>
                  <a:gd name="T15" fmla="*/ 12 h 84"/>
                  <a:gd name="T16" fmla="*/ 53 w 97"/>
                  <a:gd name="T17" fmla="*/ 12 h 84"/>
                  <a:gd name="T18" fmla="*/ 12 w 97"/>
                  <a:gd name="T19" fmla="*/ 81 h 84"/>
                  <a:gd name="T20" fmla="*/ 7 w 97"/>
                  <a:gd name="T2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7" h="84">
                    <a:moveTo>
                      <a:pt x="7" y="84"/>
                    </a:moveTo>
                    <a:cubicBezTo>
                      <a:pt x="6" y="84"/>
                      <a:pt x="5" y="84"/>
                      <a:pt x="4" y="83"/>
                    </a:cubicBezTo>
                    <a:cubicBezTo>
                      <a:pt x="1" y="82"/>
                      <a:pt x="0" y="78"/>
                      <a:pt x="2" y="75"/>
                    </a:cubicBezTo>
                    <a:cubicBezTo>
                      <a:pt x="44" y="3"/>
                      <a:pt x="44" y="3"/>
                      <a:pt x="44" y="3"/>
                    </a:cubicBezTo>
                    <a:cubicBezTo>
                      <a:pt x="45" y="1"/>
                      <a:pt x="47" y="0"/>
                      <a:pt x="49" y="0"/>
                    </a:cubicBezTo>
                    <a:cubicBezTo>
                      <a:pt x="91" y="0"/>
                      <a:pt x="91" y="0"/>
                      <a:pt x="91" y="0"/>
                    </a:cubicBezTo>
                    <a:cubicBezTo>
                      <a:pt x="95" y="0"/>
                      <a:pt x="97" y="3"/>
                      <a:pt x="97" y="6"/>
                    </a:cubicBezTo>
                    <a:cubicBezTo>
                      <a:pt x="97" y="10"/>
                      <a:pt x="95" y="12"/>
                      <a:pt x="91" y="12"/>
                    </a:cubicBezTo>
                    <a:cubicBezTo>
                      <a:pt x="53" y="12"/>
                      <a:pt x="53" y="12"/>
                      <a:pt x="53" y="12"/>
                    </a:cubicBezTo>
                    <a:cubicBezTo>
                      <a:pt x="12" y="81"/>
                      <a:pt x="12" y="81"/>
                      <a:pt x="12" y="81"/>
                    </a:cubicBezTo>
                    <a:cubicBezTo>
                      <a:pt x="11" y="83"/>
                      <a:pt x="9" y="84"/>
                      <a:pt x="7"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0" name="Freeform 149">
                <a:extLst>
                  <a:ext uri="{FF2B5EF4-FFF2-40B4-BE49-F238E27FC236}">
                    <a16:creationId xmlns:a16="http://schemas.microsoft.com/office/drawing/2014/main" id="{F3C802CB-9223-7853-178B-358378BC6A2D}"/>
                  </a:ext>
                </a:extLst>
              </p:cNvPr>
              <p:cNvSpPr>
                <a:spLocks/>
              </p:cNvSpPr>
              <p:nvPr/>
            </p:nvSpPr>
            <p:spPr bwMode="auto">
              <a:xfrm>
                <a:off x="3742" y="1898"/>
                <a:ext cx="126" cy="124"/>
              </a:xfrm>
              <a:custGeom>
                <a:avLst/>
                <a:gdLst>
                  <a:gd name="T0" fmla="*/ 78 w 85"/>
                  <a:gd name="T1" fmla="*/ 84 h 84"/>
                  <a:gd name="T2" fmla="*/ 73 w 85"/>
                  <a:gd name="T3" fmla="*/ 81 h 84"/>
                  <a:gd name="T4" fmla="*/ 33 w 85"/>
                  <a:gd name="T5" fmla="*/ 12 h 84"/>
                  <a:gd name="T6" fmla="*/ 6 w 85"/>
                  <a:gd name="T7" fmla="*/ 12 h 84"/>
                  <a:gd name="T8" fmla="*/ 0 w 85"/>
                  <a:gd name="T9" fmla="*/ 6 h 84"/>
                  <a:gd name="T10" fmla="*/ 6 w 85"/>
                  <a:gd name="T11" fmla="*/ 0 h 84"/>
                  <a:gd name="T12" fmla="*/ 36 w 85"/>
                  <a:gd name="T13" fmla="*/ 0 h 84"/>
                  <a:gd name="T14" fmla="*/ 41 w 85"/>
                  <a:gd name="T15" fmla="*/ 3 h 84"/>
                  <a:gd name="T16" fmla="*/ 83 w 85"/>
                  <a:gd name="T17" fmla="*/ 75 h 84"/>
                  <a:gd name="T18" fmla="*/ 81 w 85"/>
                  <a:gd name="T19" fmla="*/ 83 h 84"/>
                  <a:gd name="T20" fmla="*/ 78 w 85"/>
                  <a:gd name="T2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84">
                    <a:moveTo>
                      <a:pt x="78" y="84"/>
                    </a:moveTo>
                    <a:cubicBezTo>
                      <a:pt x="76" y="84"/>
                      <a:pt x="74" y="83"/>
                      <a:pt x="73" y="81"/>
                    </a:cubicBezTo>
                    <a:cubicBezTo>
                      <a:pt x="33" y="12"/>
                      <a:pt x="33" y="12"/>
                      <a:pt x="33" y="12"/>
                    </a:cubicBezTo>
                    <a:cubicBezTo>
                      <a:pt x="6" y="12"/>
                      <a:pt x="6" y="12"/>
                      <a:pt x="6" y="12"/>
                    </a:cubicBezTo>
                    <a:cubicBezTo>
                      <a:pt x="3" y="12"/>
                      <a:pt x="0" y="10"/>
                      <a:pt x="0" y="6"/>
                    </a:cubicBezTo>
                    <a:cubicBezTo>
                      <a:pt x="0" y="3"/>
                      <a:pt x="3" y="0"/>
                      <a:pt x="6" y="0"/>
                    </a:cubicBezTo>
                    <a:cubicBezTo>
                      <a:pt x="36" y="0"/>
                      <a:pt x="36" y="0"/>
                      <a:pt x="36" y="0"/>
                    </a:cubicBezTo>
                    <a:cubicBezTo>
                      <a:pt x="38" y="0"/>
                      <a:pt x="40" y="1"/>
                      <a:pt x="41" y="3"/>
                    </a:cubicBezTo>
                    <a:cubicBezTo>
                      <a:pt x="83" y="75"/>
                      <a:pt x="83" y="75"/>
                      <a:pt x="83" y="75"/>
                    </a:cubicBezTo>
                    <a:cubicBezTo>
                      <a:pt x="85" y="78"/>
                      <a:pt x="84" y="82"/>
                      <a:pt x="81" y="83"/>
                    </a:cubicBezTo>
                    <a:cubicBezTo>
                      <a:pt x="80" y="84"/>
                      <a:pt x="79"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1" name="Freeform 150">
                <a:extLst>
                  <a:ext uri="{FF2B5EF4-FFF2-40B4-BE49-F238E27FC236}">
                    <a16:creationId xmlns:a16="http://schemas.microsoft.com/office/drawing/2014/main" id="{A03A64BD-7BF3-6EE2-1944-CC5AC7C604DA}"/>
                  </a:ext>
                </a:extLst>
              </p:cNvPr>
              <p:cNvSpPr>
                <a:spLocks/>
              </p:cNvSpPr>
              <p:nvPr/>
            </p:nvSpPr>
            <p:spPr bwMode="auto">
              <a:xfrm>
                <a:off x="3653" y="1721"/>
                <a:ext cx="18" cy="213"/>
              </a:xfrm>
              <a:custGeom>
                <a:avLst/>
                <a:gdLst>
                  <a:gd name="T0" fmla="*/ 6 w 12"/>
                  <a:gd name="T1" fmla="*/ 144 h 144"/>
                  <a:gd name="T2" fmla="*/ 0 w 12"/>
                  <a:gd name="T3" fmla="*/ 138 h 144"/>
                  <a:gd name="T4" fmla="*/ 0 w 12"/>
                  <a:gd name="T5" fmla="*/ 6 h 144"/>
                  <a:gd name="T6" fmla="*/ 6 w 12"/>
                  <a:gd name="T7" fmla="*/ 0 h 144"/>
                  <a:gd name="T8" fmla="*/ 12 w 12"/>
                  <a:gd name="T9" fmla="*/ 6 h 144"/>
                  <a:gd name="T10" fmla="*/ 12 w 12"/>
                  <a:gd name="T11" fmla="*/ 138 h 144"/>
                  <a:gd name="T12" fmla="*/ 6 w 12"/>
                  <a:gd name="T13" fmla="*/ 144 h 144"/>
                </a:gdLst>
                <a:ahLst/>
                <a:cxnLst>
                  <a:cxn ang="0">
                    <a:pos x="T0" y="T1"/>
                  </a:cxn>
                  <a:cxn ang="0">
                    <a:pos x="T2" y="T3"/>
                  </a:cxn>
                  <a:cxn ang="0">
                    <a:pos x="T4" y="T5"/>
                  </a:cxn>
                  <a:cxn ang="0">
                    <a:pos x="T6" y="T7"/>
                  </a:cxn>
                  <a:cxn ang="0">
                    <a:pos x="T8" y="T9"/>
                  </a:cxn>
                  <a:cxn ang="0">
                    <a:pos x="T10" y="T11"/>
                  </a:cxn>
                  <a:cxn ang="0">
                    <a:pos x="T12" y="T13"/>
                  </a:cxn>
                </a:cxnLst>
                <a:rect l="0" t="0" r="r" b="b"/>
                <a:pathLst>
                  <a:path w="12" h="144">
                    <a:moveTo>
                      <a:pt x="6" y="144"/>
                    </a:moveTo>
                    <a:cubicBezTo>
                      <a:pt x="3" y="144"/>
                      <a:pt x="0" y="142"/>
                      <a:pt x="0" y="138"/>
                    </a:cubicBezTo>
                    <a:cubicBezTo>
                      <a:pt x="0" y="6"/>
                      <a:pt x="0" y="6"/>
                      <a:pt x="0" y="6"/>
                    </a:cubicBezTo>
                    <a:cubicBezTo>
                      <a:pt x="0" y="3"/>
                      <a:pt x="3" y="0"/>
                      <a:pt x="6" y="0"/>
                    </a:cubicBezTo>
                    <a:cubicBezTo>
                      <a:pt x="10" y="0"/>
                      <a:pt x="12" y="3"/>
                      <a:pt x="12" y="6"/>
                    </a:cubicBezTo>
                    <a:cubicBezTo>
                      <a:pt x="12" y="138"/>
                      <a:pt x="12" y="138"/>
                      <a:pt x="12" y="138"/>
                    </a:cubicBezTo>
                    <a:cubicBezTo>
                      <a:pt x="12" y="142"/>
                      <a:pt x="10" y="144"/>
                      <a:pt x="6"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2" name="Freeform 151">
                <a:extLst>
                  <a:ext uri="{FF2B5EF4-FFF2-40B4-BE49-F238E27FC236}">
                    <a16:creationId xmlns:a16="http://schemas.microsoft.com/office/drawing/2014/main" id="{2CE71F02-D03C-8795-8923-51B14F98A913}"/>
                  </a:ext>
                </a:extLst>
              </p:cNvPr>
              <p:cNvSpPr>
                <a:spLocks/>
              </p:cNvSpPr>
              <p:nvPr/>
            </p:nvSpPr>
            <p:spPr bwMode="auto">
              <a:xfrm>
                <a:off x="3582" y="1721"/>
                <a:ext cx="161" cy="90"/>
              </a:xfrm>
              <a:custGeom>
                <a:avLst/>
                <a:gdLst>
                  <a:gd name="T0" fmla="*/ 102 w 109"/>
                  <a:gd name="T1" fmla="*/ 60 h 61"/>
                  <a:gd name="T2" fmla="*/ 98 w 109"/>
                  <a:gd name="T3" fmla="*/ 58 h 61"/>
                  <a:gd name="T4" fmla="*/ 54 w 109"/>
                  <a:gd name="T5" fmla="*/ 15 h 61"/>
                  <a:gd name="T6" fmla="*/ 10 w 109"/>
                  <a:gd name="T7" fmla="*/ 58 h 61"/>
                  <a:gd name="T8" fmla="*/ 2 w 109"/>
                  <a:gd name="T9" fmla="*/ 58 h 61"/>
                  <a:gd name="T10" fmla="*/ 2 w 109"/>
                  <a:gd name="T11" fmla="*/ 50 h 61"/>
                  <a:gd name="T12" fmla="*/ 50 w 109"/>
                  <a:gd name="T13" fmla="*/ 2 h 61"/>
                  <a:gd name="T14" fmla="*/ 58 w 109"/>
                  <a:gd name="T15" fmla="*/ 2 h 61"/>
                  <a:gd name="T16" fmla="*/ 106 w 109"/>
                  <a:gd name="T17" fmla="*/ 50 h 61"/>
                  <a:gd name="T18" fmla="*/ 106 w 109"/>
                  <a:gd name="T19" fmla="*/ 58 h 61"/>
                  <a:gd name="T20" fmla="*/ 102 w 109"/>
                  <a:gd name="T21" fmla="*/ 6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61">
                    <a:moveTo>
                      <a:pt x="102" y="60"/>
                    </a:moveTo>
                    <a:cubicBezTo>
                      <a:pt x="101" y="60"/>
                      <a:pt x="99" y="60"/>
                      <a:pt x="98" y="58"/>
                    </a:cubicBezTo>
                    <a:cubicBezTo>
                      <a:pt x="54" y="15"/>
                      <a:pt x="54" y="15"/>
                      <a:pt x="54" y="15"/>
                    </a:cubicBezTo>
                    <a:cubicBezTo>
                      <a:pt x="10" y="58"/>
                      <a:pt x="10" y="58"/>
                      <a:pt x="10" y="58"/>
                    </a:cubicBezTo>
                    <a:cubicBezTo>
                      <a:pt x="8" y="61"/>
                      <a:pt x="4" y="61"/>
                      <a:pt x="2" y="58"/>
                    </a:cubicBezTo>
                    <a:cubicBezTo>
                      <a:pt x="0" y="56"/>
                      <a:pt x="0" y="52"/>
                      <a:pt x="2" y="50"/>
                    </a:cubicBezTo>
                    <a:cubicBezTo>
                      <a:pt x="50" y="2"/>
                      <a:pt x="50" y="2"/>
                      <a:pt x="50" y="2"/>
                    </a:cubicBezTo>
                    <a:cubicBezTo>
                      <a:pt x="52" y="0"/>
                      <a:pt x="56" y="0"/>
                      <a:pt x="58" y="2"/>
                    </a:cubicBezTo>
                    <a:cubicBezTo>
                      <a:pt x="106" y="50"/>
                      <a:pt x="106" y="50"/>
                      <a:pt x="106" y="50"/>
                    </a:cubicBezTo>
                    <a:cubicBezTo>
                      <a:pt x="109" y="52"/>
                      <a:pt x="109" y="56"/>
                      <a:pt x="106" y="58"/>
                    </a:cubicBezTo>
                    <a:cubicBezTo>
                      <a:pt x="105" y="60"/>
                      <a:pt x="104" y="60"/>
                      <a:pt x="102"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grpSp>
        <p:nvGrpSpPr>
          <p:cNvPr id="9249" name="Grupo 9248">
            <a:extLst>
              <a:ext uri="{FF2B5EF4-FFF2-40B4-BE49-F238E27FC236}">
                <a16:creationId xmlns:a16="http://schemas.microsoft.com/office/drawing/2014/main" id="{87A3E0D1-8455-ACE4-9650-21A77E497E29}"/>
              </a:ext>
            </a:extLst>
          </p:cNvPr>
          <p:cNvGrpSpPr/>
          <p:nvPr/>
        </p:nvGrpSpPr>
        <p:grpSpPr>
          <a:xfrm>
            <a:off x="3533036" y="1519371"/>
            <a:ext cx="795204" cy="795204"/>
            <a:chOff x="3533036" y="1519371"/>
            <a:chExt cx="795204" cy="795204"/>
          </a:xfrm>
        </p:grpSpPr>
        <p:sp>
          <p:nvSpPr>
            <p:cNvPr id="9223" name="Elipse 9222">
              <a:extLst>
                <a:ext uri="{FF2B5EF4-FFF2-40B4-BE49-F238E27FC236}">
                  <a16:creationId xmlns:a16="http://schemas.microsoft.com/office/drawing/2014/main" id="{A5BB5293-9A1E-D5D0-A0C6-5998CF5E2CCF}"/>
                </a:ext>
              </a:extLst>
            </p:cNvPr>
            <p:cNvSpPr/>
            <p:nvPr/>
          </p:nvSpPr>
          <p:spPr>
            <a:xfrm>
              <a:off x="3533036" y="1519371"/>
              <a:ext cx="795204" cy="79520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nvGrpSpPr>
            <p:cNvPr id="23" name="Group 19">
              <a:extLst>
                <a:ext uri="{FF2B5EF4-FFF2-40B4-BE49-F238E27FC236}">
                  <a16:creationId xmlns:a16="http://schemas.microsoft.com/office/drawing/2014/main" id="{2BE65B78-F079-93A4-7618-FBE75568400F}"/>
                </a:ext>
              </a:extLst>
            </p:cNvPr>
            <p:cNvGrpSpPr>
              <a:grpSpLocks noChangeAspect="1"/>
            </p:cNvGrpSpPr>
            <p:nvPr/>
          </p:nvGrpSpPr>
          <p:grpSpPr bwMode="auto">
            <a:xfrm>
              <a:off x="3720618" y="1707932"/>
              <a:ext cx="420042" cy="418082"/>
              <a:chOff x="2402" y="437"/>
              <a:chExt cx="429" cy="427"/>
            </a:xfrm>
            <a:solidFill>
              <a:schemeClr val="tx2"/>
            </a:solidFill>
          </p:grpSpPr>
          <p:sp>
            <p:nvSpPr>
              <p:cNvPr id="24" name="Freeform 20">
                <a:extLst>
                  <a:ext uri="{FF2B5EF4-FFF2-40B4-BE49-F238E27FC236}">
                    <a16:creationId xmlns:a16="http://schemas.microsoft.com/office/drawing/2014/main" id="{9FDC6761-B1E6-DA16-F3D6-C774BADD5956}"/>
                  </a:ext>
                </a:extLst>
              </p:cNvPr>
              <p:cNvSpPr>
                <a:spLocks noEditPoints="1"/>
              </p:cNvSpPr>
              <p:nvPr/>
            </p:nvSpPr>
            <p:spPr bwMode="auto">
              <a:xfrm>
                <a:off x="2403" y="721"/>
                <a:ext cx="427" cy="143"/>
              </a:xfrm>
              <a:custGeom>
                <a:avLst/>
                <a:gdLst>
                  <a:gd name="T0" fmla="*/ 282 w 288"/>
                  <a:gd name="T1" fmla="*/ 96 h 96"/>
                  <a:gd name="T2" fmla="*/ 6 w 288"/>
                  <a:gd name="T3" fmla="*/ 96 h 96"/>
                  <a:gd name="T4" fmla="*/ 0 w 288"/>
                  <a:gd name="T5" fmla="*/ 90 h 96"/>
                  <a:gd name="T6" fmla="*/ 0 w 288"/>
                  <a:gd name="T7" fmla="*/ 6 h 96"/>
                  <a:gd name="T8" fmla="*/ 6 w 288"/>
                  <a:gd name="T9" fmla="*/ 0 h 96"/>
                  <a:gd name="T10" fmla="*/ 96 w 288"/>
                  <a:gd name="T11" fmla="*/ 0 h 96"/>
                  <a:gd name="T12" fmla="*/ 102 w 288"/>
                  <a:gd name="T13" fmla="*/ 6 h 96"/>
                  <a:gd name="T14" fmla="*/ 102 w 288"/>
                  <a:gd name="T15" fmla="*/ 18 h 96"/>
                  <a:gd name="T16" fmla="*/ 120 w 288"/>
                  <a:gd name="T17" fmla="*/ 36 h 96"/>
                  <a:gd name="T18" fmla="*/ 174 w 288"/>
                  <a:gd name="T19" fmla="*/ 36 h 96"/>
                  <a:gd name="T20" fmla="*/ 192 w 288"/>
                  <a:gd name="T21" fmla="*/ 18 h 96"/>
                  <a:gd name="T22" fmla="*/ 192 w 288"/>
                  <a:gd name="T23" fmla="*/ 6 h 96"/>
                  <a:gd name="T24" fmla="*/ 198 w 288"/>
                  <a:gd name="T25" fmla="*/ 0 h 96"/>
                  <a:gd name="T26" fmla="*/ 282 w 288"/>
                  <a:gd name="T27" fmla="*/ 0 h 96"/>
                  <a:gd name="T28" fmla="*/ 288 w 288"/>
                  <a:gd name="T29" fmla="*/ 6 h 96"/>
                  <a:gd name="T30" fmla="*/ 288 w 288"/>
                  <a:gd name="T31" fmla="*/ 90 h 96"/>
                  <a:gd name="T32" fmla="*/ 282 w 288"/>
                  <a:gd name="T33" fmla="*/ 96 h 96"/>
                  <a:gd name="T34" fmla="*/ 12 w 288"/>
                  <a:gd name="T35" fmla="*/ 84 h 96"/>
                  <a:gd name="T36" fmla="*/ 276 w 288"/>
                  <a:gd name="T37" fmla="*/ 84 h 96"/>
                  <a:gd name="T38" fmla="*/ 276 w 288"/>
                  <a:gd name="T39" fmla="*/ 12 h 96"/>
                  <a:gd name="T40" fmla="*/ 204 w 288"/>
                  <a:gd name="T41" fmla="*/ 12 h 96"/>
                  <a:gd name="T42" fmla="*/ 204 w 288"/>
                  <a:gd name="T43" fmla="*/ 18 h 96"/>
                  <a:gd name="T44" fmla="*/ 174 w 288"/>
                  <a:gd name="T45" fmla="*/ 48 h 96"/>
                  <a:gd name="T46" fmla="*/ 120 w 288"/>
                  <a:gd name="T47" fmla="*/ 48 h 96"/>
                  <a:gd name="T48" fmla="*/ 90 w 288"/>
                  <a:gd name="T49" fmla="*/ 18 h 96"/>
                  <a:gd name="T50" fmla="*/ 90 w 288"/>
                  <a:gd name="T51" fmla="*/ 12 h 96"/>
                  <a:gd name="T52" fmla="*/ 12 w 288"/>
                  <a:gd name="T53" fmla="*/ 12 h 96"/>
                  <a:gd name="T54" fmla="*/ 12 w 288"/>
                  <a:gd name="T55"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8" h="96">
                    <a:moveTo>
                      <a:pt x="282" y="96"/>
                    </a:moveTo>
                    <a:cubicBezTo>
                      <a:pt x="6" y="96"/>
                      <a:pt x="6" y="96"/>
                      <a:pt x="6" y="96"/>
                    </a:cubicBezTo>
                    <a:cubicBezTo>
                      <a:pt x="3" y="96"/>
                      <a:pt x="0" y="93"/>
                      <a:pt x="0" y="90"/>
                    </a:cubicBezTo>
                    <a:cubicBezTo>
                      <a:pt x="0" y="6"/>
                      <a:pt x="0" y="6"/>
                      <a:pt x="0" y="6"/>
                    </a:cubicBezTo>
                    <a:cubicBezTo>
                      <a:pt x="0" y="3"/>
                      <a:pt x="3" y="0"/>
                      <a:pt x="6" y="0"/>
                    </a:cubicBezTo>
                    <a:cubicBezTo>
                      <a:pt x="96" y="0"/>
                      <a:pt x="96" y="0"/>
                      <a:pt x="96" y="0"/>
                    </a:cubicBezTo>
                    <a:cubicBezTo>
                      <a:pt x="99" y="0"/>
                      <a:pt x="102" y="3"/>
                      <a:pt x="102" y="6"/>
                    </a:cubicBezTo>
                    <a:cubicBezTo>
                      <a:pt x="102" y="18"/>
                      <a:pt x="102" y="18"/>
                      <a:pt x="102" y="18"/>
                    </a:cubicBezTo>
                    <a:cubicBezTo>
                      <a:pt x="102" y="28"/>
                      <a:pt x="110" y="36"/>
                      <a:pt x="120" y="36"/>
                    </a:cubicBezTo>
                    <a:cubicBezTo>
                      <a:pt x="174" y="36"/>
                      <a:pt x="174" y="36"/>
                      <a:pt x="174" y="36"/>
                    </a:cubicBezTo>
                    <a:cubicBezTo>
                      <a:pt x="184" y="36"/>
                      <a:pt x="192" y="28"/>
                      <a:pt x="192" y="18"/>
                    </a:cubicBezTo>
                    <a:cubicBezTo>
                      <a:pt x="192" y="6"/>
                      <a:pt x="192" y="6"/>
                      <a:pt x="192" y="6"/>
                    </a:cubicBezTo>
                    <a:cubicBezTo>
                      <a:pt x="192" y="3"/>
                      <a:pt x="195" y="0"/>
                      <a:pt x="198" y="0"/>
                    </a:cubicBezTo>
                    <a:cubicBezTo>
                      <a:pt x="282" y="0"/>
                      <a:pt x="282" y="0"/>
                      <a:pt x="282" y="0"/>
                    </a:cubicBezTo>
                    <a:cubicBezTo>
                      <a:pt x="285" y="0"/>
                      <a:pt x="288" y="3"/>
                      <a:pt x="288" y="6"/>
                    </a:cubicBezTo>
                    <a:cubicBezTo>
                      <a:pt x="288" y="90"/>
                      <a:pt x="288" y="90"/>
                      <a:pt x="288" y="90"/>
                    </a:cubicBezTo>
                    <a:cubicBezTo>
                      <a:pt x="288" y="93"/>
                      <a:pt x="285" y="96"/>
                      <a:pt x="282" y="96"/>
                    </a:cubicBezTo>
                    <a:close/>
                    <a:moveTo>
                      <a:pt x="12" y="84"/>
                    </a:moveTo>
                    <a:cubicBezTo>
                      <a:pt x="276" y="84"/>
                      <a:pt x="276" y="84"/>
                      <a:pt x="276" y="84"/>
                    </a:cubicBezTo>
                    <a:cubicBezTo>
                      <a:pt x="276" y="12"/>
                      <a:pt x="276" y="12"/>
                      <a:pt x="276" y="12"/>
                    </a:cubicBezTo>
                    <a:cubicBezTo>
                      <a:pt x="204" y="12"/>
                      <a:pt x="204" y="12"/>
                      <a:pt x="204" y="12"/>
                    </a:cubicBezTo>
                    <a:cubicBezTo>
                      <a:pt x="204" y="18"/>
                      <a:pt x="204" y="18"/>
                      <a:pt x="204" y="18"/>
                    </a:cubicBezTo>
                    <a:cubicBezTo>
                      <a:pt x="204" y="35"/>
                      <a:pt x="190" y="48"/>
                      <a:pt x="174" y="48"/>
                    </a:cubicBezTo>
                    <a:cubicBezTo>
                      <a:pt x="120" y="48"/>
                      <a:pt x="120" y="48"/>
                      <a:pt x="120" y="48"/>
                    </a:cubicBezTo>
                    <a:cubicBezTo>
                      <a:pt x="103" y="48"/>
                      <a:pt x="90" y="35"/>
                      <a:pt x="90" y="18"/>
                    </a:cubicBezTo>
                    <a:cubicBezTo>
                      <a:pt x="90" y="12"/>
                      <a:pt x="90" y="12"/>
                      <a:pt x="90"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5" name="Freeform 21">
                <a:extLst>
                  <a:ext uri="{FF2B5EF4-FFF2-40B4-BE49-F238E27FC236}">
                    <a16:creationId xmlns:a16="http://schemas.microsoft.com/office/drawing/2014/main" id="{788AB7E9-1137-731B-C0BC-5ED9099659FB}"/>
                  </a:ext>
                </a:extLst>
              </p:cNvPr>
              <p:cNvSpPr>
                <a:spLocks/>
              </p:cNvSpPr>
              <p:nvPr/>
            </p:nvSpPr>
            <p:spPr bwMode="auto">
              <a:xfrm>
                <a:off x="2402" y="615"/>
                <a:ext cx="126" cy="124"/>
              </a:xfrm>
              <a:custGeom>
                <a:avLst/>
                <a:gdLst>
                  <a:gd name="T0" fmla="*/ 7 w 85"/>
                  <a:gd name="T1" fmla="*/ 84 h 84"/>
                  <a:gd name="T2" fmla="*/ 4 w 85"/>
                  <a:gd name="T3" fmla="*/ 83 h 84"/>
                  <a:gd name="T4" fmla="*/ 2 w 85"/>
                  <a:gd name="T5" fmla="*/ 75 h 84"/>
                  <a:gd name="T6" fmla="*/ 44 w 85"/>
                  <a:gd name="T7" fmla="*/ 3 h 84"/>
                  <a:gd name="T8" fmla="*/ 49 w 85"/>
                  <a:gd name="T9" fmla="*/ 0 h 84"/>
                  <a:gd name="T10" fmla="*/ 79 w 85"/>
                  <a:gd name="T11" fmla="*/ 0 h 84"/>
                  <a:gd name="T12" fmla="*/ 85 w 85"/>
                  <a:gd name="T13" fmla="*/ 6 h 84"/>
                  <a:gd name="T14" fmla="*/ 79 w 85"/>
                  <a:gd name="T15" fmla="*/ 12 h 84"/>
                  <a:gd name="T16" fmla="*/ 52 w 85"/>
                  <a:gd name="T17" fmla="*/ 12 h 84"/>
                  <a:gd name="T18" fmla="*/ 12 w 85"/>
                  <a:gd name="T19" fmla="*/ 81 h 84"/>
                  <a:gd name="T20" fmla="*/ 7 w 85"/>
                  <a:gd name="T2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84">
                    <a:moveTo>
                      <a:pt x="7" y="84"/>
                    </a:moveTo>
                    <a:cubicBezTo>
                      <a:pt x="6" y="84"/>
                      <a:pt x="5" y="84"/>
                      <a:pt x="4" y="83"/>
                    </a:cubicBezTo>
                    <a:cubicBezTo>
                      <a:pt x="1" y="82"/>
                      <a:pt x="0" y="78"/>
                      <a:pt x="2" y="75"/>
                    </a:cubicBezTo>
                    <a:cubicBezTo>
                      <a:pt x="44" y="3"/>
                      <a:pt x="44" y="3"/>
                      <a:pt x="44" y="3"/>
                    </a:cubicBezTo>
                    <a:cubicBezTo>
                      <a:pt x="45" y="1"/>
                      <a:pt x="47" y="0"/>
                      <a:pt x="49" y="0"/>
                    </a:cubicBezTo>
                    <a:cubicBezTo>
                      <a:pt x="79" y="0"/>
                      <a:pt x="79" y="0"/>
                      <a:pt x="79" y="0"/>
                    </a:cubicBezTo>
                    <a:cubicBezTo>
                      <a:pt x="82" y="0"/>
                      <a:pt x="85" y="3"/>
                      <a:pt x="85" y="6"/>
                    </a:cubicBezTo>
                    <a:cubicBezTo>
                      <a:pt x="85" y="9"/>
                      <a:pt x="82" y="12"/>
                      <a:pt x="79" y="12"/>
                    </a:cubicBezTo>
                    <a:cubicBezTo>
                      <a:pt x="52" y="12"/>
                      <a:pt x="52" y="12"/>
                      <a:pt x="52" y="12"/>
                    </a:cubicBezTo>
                    <a:cubicBezTo>
                      <a:pt x="12" y="81"/>
                      <a:pt x="12" y="81"/>
                      <a:pt x="12" y="81"/>
                    </a:cubicBezTo>
                    <a:cubicBezTo>
                      <a:pt x="11" y="83"/>
                      <a:pt x="9" y="84"/>
                      <a:pt x="7"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6" name="Freeform 22">
                <a:extLst>
                  <a:ext uri="{FF2B5EF4-FFF2-40B4-BE49-F238E27FC236}">
                    <a16:creationId xmlns:a16="http://schemas.microsoft.com/office/drawing/2014/main" id="{1980D43D-F160-230A-0AF3-A63E7A079627}"/>
                  </a:ext>
                </a:extLst>
              </p:cNvPr>
              <p:cNvSpPr>
                <a:spLocks/>
              </p:cNvSpPr>
              <p:nvPr/>
            </p:nvSpPr>
            <p:spPr bwMode="auto">
              <a:xfrm>
                <a:off x="2696" y="615"/>
                <a:ext cx="135" cy="124"/>
              </a:xfrm>
              <a:custGeom>
                <a:avLst/>
                <a:gdLst>
                  <a:gd name="T0" fmla="*/ 84 w 91"/>
                  <a:gd name="T1" fmla="*/ 84 h 84"/>
                  <a:gd name="T2" fmla="*/ 79 w 91"/>
                  <a:gd name="T3" fmla="*/ 81 h 84"/>
                  <a:gd name="T4" fmla="*/ 38 w 91"/>
                  <a:gd name="T5" fmla="*/ 12 h 84"/>
                  <a:gd name="T6" fmla="*/ 6 w 91"/>
                  <a:gd name="T7" fmla="*/ 12 h 84"/>
                  <a:gd name="T8" fmla="*/ 0 w 91"/>
                  <a:gd name="T9" fmla="*/ 6 h 84"/>
                  <a:gd name="T10" fmla="*/ 6 w 91"/>
                  <a:gd name="T11" fmla="*/ 0 h 84"/>
                  <a:gd name="T12" fmla="*/ 42 w 91"/>
                  <a:gd name="T13" fmla="*/ 0 h 84"/>
                  <a:gd name="T14" fmla="*/ 47 w 91"/>
                  <a:gd name="T15" fmla="*/ 3 h 84"/>
                  <a:gd name="T16" fmla="*/ 89 w 91"/>
                  <a:gd name="T17" fmla="*/ 75 h 84"/>
                  <a:gd name="T18" fmla="*/ 87 w 91"/>
                  <a:gd name="T19" fmla="*/ 83 h 84"/>
                  <a:gd name="T20" fmla="*/ 84 w 91"/>
                  <a:gd name="T2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84">
                    <a:moveTo>
                      <a:pt x="84" y="84"/>
                    </a:moveTo>
                    <a:cubicBezTo>
                      <a:pt x="82" y="84"/>
                      <a:pt x="80" y="83"/>
                      <a:pt x="79" y="81"/>
                    </a:cubicBezTo>
                    <a:cubicBezTo>
                      <a:pt x="38" y="12"/>
                      <a:pt x="38" y="12"/>
                      <a:pt x="38" y="12"/>
                    </a:cubicBezTo>
                    <a:cubicBezTo>
                      <a:pt x="6" y="12"/>
                      <a:pt x="6" y="12"/>
                      <a:pt x="6" y="12"/>
                    </a:cubicBezTo>
                    <a:cubicBezTo>
                      <a:pt x="3" y="12"/>
                      <a:pt x="0" y="9"/>
                      <a:pt x="0" y="6"/>
                    </a:cubicBezTo>
                    <a:cubicBezTo>
                      <a:pt x="0" y="3"/>
                      <a:pt x="3" y="0"/>
                      <a:pt x="6" y="0"/>
                    </a:cubicBezTo>
                    <a:cubicBezTo>
                      <a:pt x="42" y="0"/>
                      <a:pt x="42" y="0"/>
                      <a:pt x="42" y="0"/>
                    </a:cubicBezTo>
                    <a:cubicBezTo>
                      <a:pt x="44" y="0"/>
                      <a:pt x="46" y="1"/>
                      <a:pt x="47" y="3"/>
                    </a:cubicBezTo>
                    <a:cubicBezTo>
                      <a:pt x="89" y="75"/>
                      <a:pt x="89" y="75"/>
                      <a:pt x="89" y="75"/>
                    </a:cubicBezTo>
                    <a:cubicBezTo>
                      <a:pt x="91" y="78"/>
                      <a:pt x="90" y="82"/>
                      <a:pt x="87" y="83"/>
                    </a:cubicBezTo>
                    <a:cubicBezTo>
                      <a:pt x="86" y="84"/>
                      <a:pt x="85" y="84"/>
                      <a:pt x="8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7" name="Freeform 23">
                <a:extLst>
                  <a:ext uri="{FF2B5EF4-FFF2-40B4-BE49-F238E27FC236}">
                    <a16:creationId xmlns:a16="http://schemas.microsoft.com/office/drawing/2014/main" id="{D1456FCA-B43F-0C8D-811B-0A75A0E60940}"/>
                  </a:ext>
                </a:extLst>
              </p:cNvPr>
              <p:cNvSpPr>
                <a:spLocks/>
              </p:cNvSpPr>
              <p:nvPr/>
            </p:nvSpPr>
            <p:spPr bwMode="auto">
              <a:xfrm>
                <a:off x="2599" y="437"/>
                <a:ext cx="18" cy="213"/>
              </a:xfrm>
              <a:custGeom>
                <a:avLst/>
                <a:gdLst>
                  <a:gd name="T0" fmla="*/ 6 w 12"/>
                  <a:gd name="T1" fmla="*/ 144 h 144"/>
                  <a:gd name="T2" fmla="*/ 0 w 12"/>
                  <a:gd name="T3" fmla="*/ 138 h 144"/>
                  <a:gd name="T4" fmla="*/ 0 w 12"/>
                  <a:gd name="T5" fmla="*/ 6 h 144"/>
                  <a:gd name="T6" fmla="*/ 6 w 12"/>
                  <a:gd name="T7" fmla="*/ 0 h 144"/>
                  <a:gd name="T8" fmla="*/ 12 w 12"/>
                  <a:gd name="T9" fmla="*/ 6 h 144"/>
                  <a:gd name="T10" fmla="*/ 12 w 12"/>
                  <a:gd name="T11" fmla="*/ 138 h 144"/>
                  <a:gd name="T12" fmla="*/ 6 w 12"/>
                  <a:gd name="T13" fmla="*/ 144 h 144"/>
                </a:gdLst>
                <a:ahLst/>
                <a:cxnLst>
                  <a:cxn ang="0">
                    <a:pos x="T0" y="T1"/>
                  </a:cxn>
                  <a:cxn ang="0">
                    <a:pos x="T2" y="T3"/>
                  </a:cxn>
                  <a:cxn ang="0">
                    <a:pos x="T4" y="T5"/>
                  </a:cxn>
                  <a:cxn ang="0">
                    <a:pos x="T6" y="T7"/>
                  </a:cxn>
                  <a:cxn ang="0">
                    <a:pos x="T8" y="T9"/>
                  </a:cxn>
                  <a:cxn ang="0">
                    <a:pos x="T10" y="T11"/>
                  </a:cxn>
                  <a:cxn ang="0">
                    <a:pos x="T12" y="T13"/>
                  </a:cxn>
                </a:cxnLst>
                <a:rect l="0" t="0" r="r" b="b"/>
                <a:pathLst>
                  <a:path w="12" h="144">
                    <a:moveTo>
                      <a:pt x="6" y="144"/>
                    </a:moveTo>
                    <a:cubicBezTo>
                      <a:pt x="3" y="144"/>
                      <a:pt x="0" y="141"/>
                      <a:pt x="0" y="138"/>
                    </a:cubicBezTo>
                    <a:cubicBezTo>
                      <a:pt x="0" y="6"/>
                      <a:pt x="0" y="6"/>
                      <a:pt x="0" y="6"/>
                    </a:cubicBezTo>
                    <a:cubicBezTo>
                      <a:pt x="0" y="3"/>
                      <a:pt x="3" y="0"/>
                      <a:pt x="6" y="0"/>
                    </a:cubicBezTo>
                    <a:cubicBezTo>
                      <a:pt x="9" y="0"/>
                      <a:pt x="12" y="3"/>
                      <a:pt x="12" y="6"/>
                    </a:cubicBezTo>
                    <a:cubicBezTo>
                      <a:pt x="12" y="138"/>
                      <a:pt x="12" y="138"/>
                      <a:pt x="12" y="138"/>
                    </a:cubicBezTo>
                    <a:cubicBezTo>
                      <a:pt x="12" y="141"/>
                      <a:pt x="9" y="144"/>
                      <a:pt x="6"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8" name="Freeform 24">
                <a:extLst>
                  <a:ext uri="{FF2B5EF4-FFF2-40B4-BE49-F238E27FC236}">
                    <a16:creationId xmlns:a16="http://schemas.microsoft.com/office/drawing/2014/main" id="{870F4AC9-904F-F2FD-0425-23D04FBB7E72}"/>
                  </a:ext>
                </a:extLst>
              </p:cNvPr>
              <p:cNvSpPr>
                <a:spLocks/>
              </p:cNvSpPr>
              <p:nvPr/>
            </p:nvSpPr>
            <p:spPr bwMode="auto">
              <a:xfrm>
                <a:off x="2526" y="560"/>
                <a:ext cx="162" cy="90"/>
              </a:xfrm>
              <a:custGeom>
                <a:avLst/>
                <a:gdLst>
                  <a:gd name="T0" fmla="*/ 55 w 109"/>
                  <a:gd name="T1" fmla="*/ 61 h 61"/>
                  <a:gd name="T2" fmla="*/ 51 w 109"/>
                  <a:gd name="T3" fmla="*/ 59 h 61"/>
                  <a:gd name="T4" fmla="*/ 3 w 109"/>
                  <a:gd name="T5" fmla="*/ 11 h 61"/>
                  <a:gd name="T6" fmla="*/ 3 w 109"/>
                  <a:gd name="T7" fmla="*/ 3 h 61"/>
                  <a:gd name="T8" fmla="*/ 11 w 109"/>
                  <a:gd name="T9" fmla="*/ 3 h 61"/>
                  <a:gd name="T10" fmla="*/ 55 w 109"/>
                  <a:gd name="T11" fmla="*/ 47 h 61"/>
                  <a:gd name="T12" fmla="*/ 99 w 109"/>
                  <a:gd name="T13" fmla="*/ 3 h 61"/>
                  <a:gd name="T14" fmla="*/ 107 w 109"/>
                  <a:gd name="T15" fmla="*/ 3 h 61"/>
                  <a:gd name="T16" fmla="*/ 107 w 109"/>
                  <a:gd name="T17" fmla="*/ 11 h 61"/>
                  <a:gd name="T18" fmla="*/ 59 w 109"/>
                  <a:gd name="T19" fmla="*/ 59 h 61"/>
                  <a:gd name="T20" fmla="*/ 55 w 109"/>
                  <a:gd name="T21" fmla="*/ 6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61">
                    <a:moveTo>
                      <a:pt x="55" y="61"/>
                    </a:moveTo>
                    <a:cubicBezTo>
                      <a:pt x="53" y="61"/>
                      <a:pt x="52" y="60"/>
                      <a:pt x="51" y="59"/>
                    </a:cubicBezTo>
                    <a:cubicBezTo>
                      <a:pt x="3" y="11"/>
                      <a:pt x="3" y="11"/>
                      <a:pt x="3" y="11"/>
                    </a:cubicBezTo>
                    <a:cubicBezTo>
                      <a:pt x="0" y="9"/>
                      <a:pt x="0" y="5"/>
                      <a:pt x="3" y="3"/>
                    </a:cubicBezTo>
                    <a:cubicBezTo>
                      <a:pt x="5" y="0"/>
                      <a:pt x="9" y="0"/>
                      <a:pt x="11" y="3"/>
                    </a:cubicBezTo>
                    <a:cubicBezTo>
                      <a:pt x="55" y="47"/>
                      <a:pt x="55" y="47"/>
                      <a:pt x="55" y="47"/>
                    </a:cubicBezTo>
                    <a:cubicBezTo>
                      <a:pt x="99" y="3"/>
                      <a:pt x="99" y="3"/>
                      <a:pt x="99" y="3"/>
                    </a:cubicBezTo>
                    <a:cubicBezTo>
                      <a:pt x="101" y="0"/>
                      <a:pt x="105" y="0"/>
                      <a:pt x="107" y="3"/>
                    </a:cubicBezTo>
                    <a:cubicBezTo>
                      <a:pt x="109" y="5"/>
                      <a:pt x="109" y="9"/>
                      <a:pt x="107" y="11"/>
                    </a:cubicBezTo>
                    <a:cubicBezTo>
                      <a:pt x="59" y="59"/>
                      <a:pt x="59" y="59"/>
                      <a:pt x="59" y="59"/>
                    </a:cubicBezTo>
                    <a:cubicBezTo>
                      <a:pt x="58" y="60"/>
                      <a:pt x="56" y="61"/>
                      <a:pt x="55"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grpSp>
        <p:nvGrpSpPr>
          <p:cNvPr id="9248" name="Grupo 9247">
            <a:extLst>
              <a:ext uri="{FF2B5EF4-FFF2-40B4-BE49-F238E27FC236}">
                <a16:creationId xmlns:a16="http://schemas.microsoft.com/office/drawing/2014/main" id="{15E04AF0-5D8D-415B-F3A0-51688EB7C388}"/>
              </a:ext>
            </a:extLst>
          </p:cNvPr>
          <p:cNvGrpSpPr/>
          <p:nvPr/>
        </p:nvGrpSpPr>
        <p:grpSpPr>
          <a:xfrm>
            <a:off x="5698399" y="1519371"/>
            <a:ext cx="795204" cy="795204"/>
            <a:chOff x="5698399" y="1519371"/>
            <a:chExt cx="795204" cy="795204"/>
          </a:xfrm>
        </p:grpSpPr>
        <p:sp>
          <p:nvSpPr>
            <p:cNvPr id="9224" name="Elipse 9223">
              <a:extLst>
                <a:ext uri="{FF2B5EF4-FFF2-40B4-BE49-F238E27FC236}">
                  <a16:creationId xmlns:a16="http://schemas.microsoft.com/office/drawing/2014/main" id="{0CF60551-0D28-764A-CFCB-F6F78A757BC3}"/>
                </a:ext>
              </a:extLst>
            </p:cNvPr>
            <p:cNvSpPr/>
            <p:nvPr/>
          </p:nvSpPr>
          <p:spPr>
            <a:xfrm>
              <a:off x="5698399" y="1519371"/>
              <a:ext cx="795204" cy="79520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nvGrpSpPr>
            <p:cNvPr id="29" name="Group 28">
              <a:extLst>
                <a:ext uri="{FF2B5EF4-FFF2-40B4-BE49-F238E27FC236}">
                  <a16:creationId xmlns:a16="http://schemas.microsoft.com/office/drawing/2014/main" id="{B4245858-42D1-9189-7DF8-7B61896E04F2}"/>
                </a:ext>
              </a:extLst>
            </p:cNvPr>
            <p:cNvGrpSpPr>
              <a:grpSpLocks noChangeAspect="1"/>
            </p:cNvGrpSpPr>
            <p:nvPr/>
          </p:nvGrpSpPr>
          <p:grpSpPr bwMode="auto">
            <a:xfrm>
              <a:off x="5887178" y="1708150"/>
              <a:ext cx="417648" cy="417646"/>
              <a:chOff x="2402" y="439"/>
              <a:chExt cx="426" cy="426"/>
            </a:xfrm>
            <a:solidFill>
              <a:schemeClr val="tx2"/>
            </a:solidFill>
          </p:grpSpPr>
          <p:sp>
            <p:nvSpPr>
              <p:cNvPr id="30" name="Freeform 29">
                <a:extLst>
                  <a:ext uri="{FF2B5EF4-FFF2-40B4-BE49-F238E27FC236}">
                    <a16:creationId xmlns:a16="http://schemas.microsoft.com/office/drawing/2014/main" id="{0E537C32-3859-864A-27A4-C97627858CED}"/>
                  </a:ext>
                </a:extLst>
              </p:cNvPr>
              <p:cNvSpPr>
                <a:spLocks noEditPoints="1"/>
              </p:cNvSpPr>
              <p:nvPr/>
            </p:nvSpPr>
            <p:spPr bwMode="auto">
              <a:xfrm>
                <a:off x="2402" y="439"/>
                <a:ext cx="426"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2 w 288"/>
                  <a:gd name="T33" fmla="*/ 59 h 288"/>
                  <a:gd name="T34" fmla="*/ 262 w 288"/>
                  <a:gd name="T35" fmla="*/ 67 h 288"/>
                  <a:gd name="T36" fmla="*/ 247 w 288"/>
                  <a:gd name="T37" fmla="*/ 120 h 288"/>
                  <a:gd name="T38" fmla="*/ 288 w 288"/>
                  <a:gd name="T39" fmla="*/ 126 h 288"/>
                  <a:gd name="T40" fmla="*/ 282 w 288"/>
                  <a:gd name="T41" fmla="*/ 168 h 288"/>
                  <a:gd name="T42" fmla="*/ 238 w 288"/>
                  <a:gd name="T43" fmla="*/ 196 h 288"/>
                  <a:gd name="T44" fmla="*/ 262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6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6 w 288"/>
                  <a:gd name="T81" fmla="*/ 61 h 288"/>
                  <a:gd name="T82" fmla="*/ 38 w 288"/>
                  <a:gd name="T83" fmla="*/ 63 h 288"/>
                  <a:gd name="T84" fmla="*/ 62 w 288"/>
                  <a:gd name="T85" fmla="*/ 94 h 288"/>
                  <a:gd name="T86" fmla="*/ 45 w 288"/>
                  <a:gd name="T87" fmla="*/ 132 h 288"/>
                  <a:gd name="T88" fmla="*/ 12 w 288"/>
                  <a:gd name="T89" fmla="*/ 156 h 288"/>
                  <a:gd name="T90" fmla="*/ 50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2"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5" y="188"/>
                      <a:pt x="42" y="177"/>
                      <a:pt x="40" y="168"/>
                    </a:cubicBezTo>
                    <a:cubicBezTo>
                      <a:pt x="6" y="168"/>
                      <a:pt x="6" y="168"/>
                      <a:pt x="6" y="168"/>
                    </a:cubicBezTo>
                    <a:cubicBezTo>
                      <a:pt x="2" y="168"/>
                      <a:pt x="0" y="165"/>
                      <a:pt x="0" y="162"/>
                    </a:cubicBezTo>
                    <a:cubicBezTo>
                      <a:pt x="0" y="126"/>
                      <a:pt x="0" y="126"/>
                      <a:pt x="0" y="126"/>
                    </a:cubicBezTo>
                    <a:cubicBezTo>
                      <a:pt x="0" y="122"/>
                      <a:pt x="2" y="120"/>
                      <a:pt x="6" y="120"/>
                    </a:cubicBezTo>
                    <a:cubicBezTo>
                      <a:pt x="40" y="120"/>
                      <a:pt x="40" y="120"/>
                      <a:pt x="40" y="120"/>
                    </a:cubicBezTo>
                    <a:cubicBezTo>
                      <a:pt x="42" y="110"/>
                      <a:pt x="45"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2"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2" y="23"/>
                      <a:pt x="226" y="23"/>
                      <a:pt x="228" y="25"/>
                    </a:cubicBezTo>
                    <a:cubicBezTo>
                      <a:pt x="262" y="59"/>
                      <a:pt x="262" y="59"/>
                      <a:pt x="262" y="59"/>
                    </a:cubicBezTo>
                    <a:cubicBezTo>
                      <a:pt x="264" y="60"/>
                      <a:pt x="264" y="61"/>
                      <a:pt x="264" y="63"/>
                    </a:cubicBezTo>
                    <a:cubicBezTo>
                      <a:pt x="264" y="65"/>
                      <a:pt x="264" y="66"/>
                      <a:pt x="262" y="67"/>
                    </a:cubicBezTo>
                    <a:cubicBezTo>
                      <a:pt x="238" y="92"/>
                      <a:pt x="238" y="92"/>
                      <a:pt x="238" y="92"/>
                    </a:cubicBezTo>
                    <a:cubicBezTo>
                      <a:pt x="242" y="100"/>
                      <a:pt x="245" y="110"/>
                      <a:pt x="247"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7" y="168"/>
                      <a:pt x="247" y="168"/>
                      <a:pt x="247" y="168"/>
                    </a:cubicBezTo>
                    <a:cubicBezTo>
                      <a:pt x="245" y="177"/>
                      <a:pt x="242" y="188"/>
                      <a:pt x="238" y="196"/>
                    </a:cubicBezTo>
                    <a:cubicBezTo>
                      <a:pt x="262" y="220"/>
                      <a:pt x="262" y="220"/>
                      <a:pt x="262" y="220"/>
                    </a:cubicBezTo>
                    <a:cubicBezTo>
                      <a:pt x="265" y="222"/>
                      <a:pt x="265" y="226"/>
                      <a:pt x="262" y="229"/>
                    </a:cubicBezTo>
                    <a:cubicBezTo>
                      <a:pt x="228" y="262"/>
                      <a:pt x="228" y="262"/>
                      <a:pt x="228" y="262"/>
                    </a:cubicBezTo>
                    <a:cubicBezTo>
                      <a:pt x="226" y="265"/>
                      <a:pt x="222"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6" y="201"/>
                      <a:pt x="226" y="201"/>
                      <a:pt x="226" y="201"/>
                    </a:cubicBezTo>
                    <a:cubicBezTo>
                      <a:pt x="224"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7" y="130"/>
                      <a:pt x="237" y="127"/>
                    </a:cubicBezTo>
                    <a:cubicBezTo>
                      <a:pt x="235" y="120"/>
                      <a:pt x="231" y="103"/>
                      <a:pt x="226" y="94"/>
                    </a:cubicBezTo>
                    <a:cubicBezTo>
                      <a:pt x="224" y="91"/>
                      <a:pt x="224" y="88"/>
                      <a:pt x="226"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5" y="56"/>
                      <a:pt x="167" y="52"/>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20" y="52"/>
                      <a:pt x="103" y="56"/>
                      <a:pt x="94" y="62"/>
                    </a:cubicBezTo>
                    <a:cubicBezTo>
                      <a:pt x="91" y="63"/>
                      <a:pt x="88" y="63"/>
                      <a:pt x="86" y="61"/>
                    </a:cubicBezTo>
                    <a:cubicBezTo>
                      <a:pt x="63" y="38"/>
                      <a:pt x="63" y="38"/>
                      <a:pt x="63" y="38"/>
                    </a:cubicBezTo>
                    <a:cubicBezTo>
                      <a:pt x="38" y="63"/>
                      <a:pt x="38" y="63"/>
                      <a:pt x="38" y="63"/>
                    </a:cubicBezTo>
                    <a:cubicBezTo>
                      <a:pt x="61" y="86"/>
                      <a:pt x="61" y="86"/>
                      <a:pt x="61" y="86"/>
                    </a:cubicBezTo>
                    <a:cubicBezTo>
                      <a:pt x="63" y="88"/>
                      <a:pt x="63" y="91"/>
                      <a:pt x="62" y="94"/>
                    </a:cubicBezTo>
                    <a:cubicBezTo>
                      <a:pt x="56" y="103"/>
                      <a:pt x="52" y="120"/>
                      <a:pt x="50" y="127"/>
                    </a:cubicBezTo>
                    <a:cubicBezTo>
                      <a:pt x="50" y="130"/>
                      <a:pt x="47" y="132"/>
                      <a:pt x="45" y="132"/>
                    </a:cubicBezTo>
                    <a:cubicBezTo>
                      <a:pt x="12" y="132"/>
                      <a:pt x="12" y="132"/>
                      <a:pt x="12" y="132"/>
                    </a:cubicBezTo>
                    <a:cubicBezTo>
                      <a:pt x="12" y="156"/>
                      <a:pt x="12" y="156"/>
                      <a:pt x="12" y="156"/>
                    </a:cubicBezTo>
                    <a:cubicBezTo>
                      <a:pt x="45" y="156"/>
                      <a:pt x="45" y="156"/>
                      <a:pt x="45" y="156"/>
                    </a:cubicBezTo>
                    <a:cubicBezTo>
                      <a:pt x="47" y="156"/>
                      <a:pt x="50" y="158"/>
                      <a:pt x="50" y="160"/>
                    </a:cubicBezTo>
                    <a:cubicBezTo>
                      <a:pt x="52" y="167"/>
                      <a:pt x="56" y="185"/>
                      <a:pt x="62" y="194"/>
                    </a:cubicBezTo>
                    <a:cubicBezTo>
                      <a:pt x="63" y="196"/>
                      <a:pt x="63" y="199"/>
                      <a:pt x="61" y="201"/>
                    </a:cubicBezTo>
                    <a:cubicBezTo>
                      <a:pt x="38" y="224"/>
                      <a:pt x="38" y="224"/>
                      <a:pt x="38" y="224"/>
                    </a:cubicBezTo>
                    <a:cubicBezTo>
                      <a:pt x="63" y="250"/>
                      <a:pt x="63" y="250"/>
                      <a:pt x="63" y="250"/>
                    </a:cubicBezTo>
                    <a:cubicBezTo>
                      <a:pt x="86" y="226"/>
                      <a:pt x="86" y="226"/>
                      <a:pt x="86" y="226"/>
                    </a:cubicBezTo>
                    <a:cubicBezTo>
                      <a:pt x="88" y="224"/>
                      <a:pt x="91" y="224"/>
                      <a:pt x="94" y="226"/>
                    </a:cubicBezTo>
                    <a:cubicBezTo>
                      <a:pt x="103" y="231"/>
                      <a:pt x="120"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1" name="Freeform 30">
                <a:extLst>
                  <a:ext uri="{FF2B5EF4-FFF2-40B4-BE49-F238E27FC236}">
                    <a16:creationId xmlns:a16="http://schemas.microsoft.com/office/drawing/2014/main" id="{5C0CF053-DE23-51F7-4B44-87C3D8050548}"/>
                  </a:ext>
                </a:extLst>
              </p:cNvPr>
              <p:cNvSpPr>
                <a:spLocks noEditPoints="1"/>
              </p:cNvSpPr>
              <p:nvPr/>
            </p:nvSpPr>
            <p:spPr bwMode="auto">
              <a:xfrm>
                <a:off x="2526" y="563"/>
                <a:ext cx="178" cy="178"/>
              </a:xfrm>
              <a:custGeom>
                <a:avLst/>
                <a:gdLst>
                  <a:gd name="T0" fmla="*/ 60 w 120"/>
                  <a:gd name="T1" fmla="*/ 120 h 120"/>
                  <a:gd name="T2" fmla="*/ 0 w 120"/>
                  <a:gd name="T3" fmla="*/ 60 h 120"/>
                  <a:gd name="T4" fmla="*/ 60 w 120"/>
                  <a:gd name="T5" fmla="*/ 0 h 120"/>
                  <a:gd name="T6" fmla="*/ 120 w 120"/>
                  <a:gd name="T7" fmla="*/ 60 h 120"/>
                  <a:gd name="T8" fmla="*/ 60 w 120"/>
                  <a:gd name="T9" fmla="*/ 120 h 120"/>
                  <a:gd name="T10" fmla="*/ 60 w 120"/>
                  <a:gd name="T11" fmla="*/ 12 h 120"/>
                  <a:gd name="T12" fmla="*/ 12 w 120"/>
                  <a:gd name="T13" fmla="*/ 60 h 120"/>
                  <a:gd name="T14" fmla="*/ 60 w 120"/>
                  <a:gd name="T15" fmla="*/ 108 h 120"/>
                  <a:gd name="T16" fmla="*/ 108 w 120"/>
                  <a:gd name="T17" fmla="*/ 60 h 120"/>
                  <a:gd name="T18" fmla="*/ 60 w 120"/>
                  <a:gd name="T19" fmla="*/ 1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 h="120">
                    <a:moveTo>
                      <a:pt x="60" y="120"/>
                    </a:moveTo>
                    <a:cubicBezTo>
                      <a:pt x="27" y="120"/>
                      <a:pt x="0" y="93"/>
                      <a:pt x="0" y="60"/>
                    </a:cubicBezTo>
                    <a:cubicBezTo>
                      <a:pt x="0" y="27"/>
                      <a:pt x="27" y="0"/>
                      <a:pt x="60" y="0"/>
                    </a:cubicBezTo>
                    <a:cubicBezTo>
                      <a:pt x="93" y="0"/>
                      <a:pt x="120" y="27"/>
                      <a:pt x="120" y="60"/>
                    </a:cubicBezTo>
                    <a:cubicBezTo>
                      <a:pt x="120" y="93"/>
                      <a:pt x="93" y="120"/>
                      <a:pt x="60" y="120"/>
                    </a:cubicBezTo>
                    <a:close/>
                    <a:moveTo>
                      <a:pt x="60" y="12"/>
                    </a:moveTo>
                    <a:cubicBezTo>
                      <a:pt x="33" y="12"/>
                      <a:pt x="12" y="33"/>
                      <a:pt x="12" y="60"/>
                    </a:cubicBezTo>
                    <a:cubicBezTo>
                      <a:pt x="12" y="86"/>
                      <a:pt x="33" y="108"/>
                      <a:pt x="60" y="108"/>
                    </a:cubicBezTo>
                    <a:cubicBezTo>
                      <a:pt x="86" y="108"/>
                      <a:pt x="108" y="86"/>
                      <a:pt x="108" y="60"/>
                    </a:cubicBezTo>
                    <a:cubicBezTo>
                      <a:pt x="108" y="33"/>
                      <a:pt x="86" y="12"/>
                      <a:pt x="6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grpSp>
        <p:nvGrpSpPr>
          <p:cNvPr id="9250" name="Grupo 9249">
            <a:extLst>
              <a:ext uri="{FF2B5EF4-FFF2-40B4-BE49-F238E27FC236}">
                <a16:creationId xmlns:a16="http://schemas.microsoft.com/office/drawing/2014/main" id="{AF981980-EE18-6802-7480-2D04110FDB1F}"/>
              </a:ext>
            </a:extLst>
          </p:cNvPr>
          <p:cNvGrpSpPr/>
          <p:nvPr/>
        </p:nvGrpSpPr>
        <p:grpSpPr>
          <a:xfrm>
            <a:off x="1051640" y="1519371"/>
            <a:ext cx="795204" cy="795204"/>
            <a:chOff x="1051640" y="1519371"/>
            <a:chExt cx="795204" cy="795204"/>
          </a:xfrm>
        </p:grpSpPr>
        <p:sp>
          <p:nvSpPr>
            <p:cNvPr id="9" name="Elipse 8">
              <a:extLst>
                <a:ext uri="{FF2B5EF4-FFF2-40B4-BE49-F238E27FC236}">
                  <a16:creationId xmlns:a16="http://schemas.microsoft.com/office/drawing/2014/main" id="{C93D31DF-30D8-AD40-7436-0D0E735240EF}"/>
                </a:ext>
              </a:extLst>
            </p:cNvPr>
            <p:cNvSpPr/>
            <p:nvPr/>
          </p:nvSpPr>
          <p:spPr>
            <a:xfrm>
              <a:off x="1051640" y="1519371"/>
              <a:ext cx="795204" cy="79520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nvGrpSpPr>
            <p:cNvPr id="9216" name="Group 166">
              <a:extLst>
                <a:ext uri="{FF2B5EF4-FFF2-40B4-BE49-F238E27FC236}">
                  <a16:creationId xmlns:a16="http://schemas.microsoft.com/office/drawing/2014/main" id="{368C2900-14F4-30EE-11C5-03FE91EA4ECD}"/>
                </a:ext>
              </a:extLst>
            </p:cNvPr>
            <p:cNvGrpSpPr>
              <a:grpSpLocks noChangeAspect="1"/>
            </p:cNvGrpSpPr>
            <p:nvPr/>
          </p:nvGrpSpPr>
          <p:grpSpPr bwMode="auto">
            <a:xfrm>
              <a:off x="1229023" y="1693119"/>
              <a:ext cx="440438" cy="447708"/>
              <a:chOff x="6728" y="3219"/>
              <a:chExt cx="424" cy="431"/>
            </a:xfrm>
            <a:solidFill>
              <a:schemeClr val="tx2"/>
            </a:solidFill>
          </p:grpSpPr>
          <p:sp>
            <p:nvSpPr>
              <p:cNvPr id="9217" name="Rectangle 167">
                <a:extLst>
                  <a:ext uri="{FF2B5EF4-FFF2-40B4-BE49-F238E27FC236}">
                    <a16:creationId xmlns:a16="http://schemas.microsoft.com/office/drawing/2014/main" id="{B2E7C479-1493-5698-EA5C-7F084B26CBF2}"/>
                  </a:ext>
                </a:extLst>
              </p:cNvPr>
              <p:cNvSpPr>
                <a:spLocks noChangeArrowheads="1"/>
              </p:cNvSpPr>
              <p:nvPr/>
            </p:nvSpPr>
            <p:spPr bwMode="auto">
              <a:xfrm>
                <a:off x="6949" y="3430"/>
                <a:ext cx="18" cy="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9219" name="Freeform 168">
                <a:extLst>
                  <a:ext uri="{FF2B5EF4-FFF2-40B4-BE49-F238E27FC236}">
                    <a16:creationId xmlns:a16="http://schemas.microsoft.com/office/drawing/2014/main" id="{F6CE1AEE-32ED-E6AC-52BF-417DA4BEB649}"/>
                  </a:ext>
                </a:extLst>
              </p:cNvPr>
              <p:cNvSpPr>
                <a:spLocks/>
              </p:cNvSpPr>
              <p:nvPr/>
            </p:nvSpPr>
            <p:spPr bwMode="auto">
              <a:xfrm>
                <a:off x="6728" y="3430"/>
                <a:ext cx="211" cy="184"/>
              </a:xfrm>
              <a:custGeom>
                <a:avLst/>
                <a:gdLst>
                  <a:gd name="T0" fmla="*/ 138 w 138"/>
                  <a:gd name="T1" fmla="*/ 123 h 123"/>
                  <a:gd name="T2" fmla="*/ 6 w 138"/>
                  <a:gd name="T3" fmla="*/ 123 h 123"/>
                  <a:gd name="T4" fmla="*/ 0 w 138"/>
                  <a:gd name="T5" fmla="*/ 117 h 123"/>
                  <a:gd name="T6" fmla="*/ 0 w 138"/>
                  <a:gd name="T7" fmla="*/ 89 h 123"/>
                  <a:gd name="T8" fmla="*/ 28 w 138"/>
                  <a:gd name="T9" fmla="*/ 49 h 123"/>
                  <a:gd name="T10" fmla="*/ 84 w 138"/>
                  <a:gd name="T11" fmla="*/ 29 h 123"/>
                  <a:gd name="T12" fmla="*/ 84 w 138"/>
                  <a:gd name="T13" fmla="*/ 0 h 123"/>
                  <a:gd name="T14" fmla="*/ 96 w 138"/>
                  <a:gd name="T15" fmla="*/ 0 h 123"/>
                  <a:gd name="T16" fmla="*/ 96 w 138"/>
                  <a:gd name="T17" fmla="*/ 33 h 123"/>
                  <a:gd name="T18" fmla="*/ 92 w 138"/>
                  <a:gd name="T19" fmla="*/ 39 h 123"/>
                  <a:gd name="T20" fmla="*/ 32 w 138"/>
                  <a:gd name="T21" fmla="*/ 61 h 123"/>
                  <a:gd name="T22" fmla="*/ 12 w 138"/>
                  <a:gd name="T23" fmla="*/ 89 h 123"/>
                  <a:gd name="T24" fmla="*/ 12 w 138"/>
                  <a:gd name="T25" fmla="*/ 111 h 123"/>
                  <a:gd name="T26" fmla="*/ 138 w 138"/>
                  <a:gd name="T27" fmla="*/ 111 h 123"/>
                  <a:gd name="T28" fmla="*/ 138 w 138"/>
                  <a:gd name="T29"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8" h="123">
                    <a:moveTo>
                      <a:pt x="138" y="123"/>
                    </a:moveTo>
                    <a:cubicBezTo>
                      <a:pt x="6" y="123"/>
                      <a:pt x="6" y="123"/>
                      <a:pt x="6" y="123"/>
                    </a:cubicBezTo>
                    <a:cubicBezTo>
                      <a:pt x="3" y="123"/>
                      <a:pt x="0" y="121"/>
                      <a:pt x="0" y="117"/>
                    </a:cubicBezTo>
                    <a:cubicBezTo>
                      <a:pt x="0" y="89"/>
                      <a:pt x="0" y="89"/>
                      <a:pt x="0" y="89"/>
                    </a:cubicBezTo>
                    <a:cubicBezTo>
                      <a:pt x="0" y="71"/>
                      <a:pt x="11" y="55"/>
                      <a:pt x="28" y="49"/>
                    </a:cubicBezTo>
                    <a:cubicBezTo>
                      <a:pt x="84" y="29"/>
                      <a:pt x="84" y="29"/>
                      <a:pt x="84" y="29"/>
                    </a:cubicBezTo>
                    <a:cubicBezTo>
                      <a:pt x="84" y="0"/>
                      <a:pt x="84" y="0"/>
                      <a:pt x="84" y="0"/>
                    </a:cubicBezTo>
                    <a:cubicBezTo>
                      <a:pt x="96" y="0"/>
                      <a:pt x="96" y="0"/>
                      <a:pt x="96" y="0"/>
                    </a:cubicBezTo>
                    <a:cubicBezTo>
                      <a:pt x="96" y="33"/>
                      <a:pt x="96" y="33"/>
                      <a:pt x="96" y="33"/>
                    </a:cubicBezTo>
                    <a:cubicBezTo>
                      <a:pt x="96" y="36"/>
                      <a:pt x="94" y="38"/>
                      <a:pt x="92" y="39"/>
                    </a:cubicBezTo>
                    <a:cubicBezTo>
                      <a:pt x="32" y="61"/>
                      <a:pt x="32" y="61"/>
                      <a:pt x="32" y="61"/>
                    </a:cubicBezTo>
                    <a:cubicBezTo>
                      <a:pt x="20" y="65"/>
                      <a:pt x="12" y="76"/>
                      <a:pt x="12" y="89"/>
                    </a:cubicBezTo>
                    <a:cubicBezTo>
                      <a:pt x="12" y="111"/>
                      <a:pt x="12" y="111"/>
                      <a:pt x="12" y="111"/>
                    </a:cubicBezTo>
                    <a:cubicBezTo>
                      <a:pt x="138" y="111"/>
                      <a:pt x="138" y="111"/>
                      <a:pt x="138" y="111"/>
                    </a:cubicBezTo>
                    <a:lnTo>
                      <a:pt x="138"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9220" name="Freeform 169">
                <a:extLst>
                  <a:ext uri="{FF2B5EF4-FFF2-40B4-BE49-F238E27FC236}">
                    <a16:creationId xmlns:a16="http://schemas.microsoft.com/office/drawing/2014/main" id="{19F4B894-607A-DD0D-14DF-C75A65B97A55}"/>
                  </a:ext>
                </a:extLst>
              </p:cNvPr>
              <p:cNvSpPr>
                <a:spLocks noEditPoints="1"/>
              </p:cNvSpPr>
              <p:nvPr/>
            </p:nvSpPr>
            <p:spPr bwMode="auto">
              <a:xfrm>
                <a:off x="6811" y="3219"/>
                <a:ext cx="202" cy="234"/>
              </a:xfrm>
              <a:custGeom>
                <a:avLst/>
                <a:gdLst>
                  <a:gd name="T0" fmla="*/ 66 w 132"/>
                  <a:gd name="T1" fmla="*/ 156 h 156"/>
                  <a:gd name="T2" fmla="*/ 0 w 132"/>
                  <a:gd name="T3" fmla="*/ 78 h 156"/>
                  <a:gd name="T4" fmla="*/ 66 w 132"/>
                  <a:gd name="T5" fmla="*/ 0 h 156"/>
                  <a:gd name="T6" fmla="*/ 132 w 132"/>
                  <a:gd name="T7" fmla="*/ 78 h 156"/>
                  <a:gd name="T8" fmla="*/ 66 w 132"/>
                  <a:gd name="T9" fmla="*/ 156 h 156"/>
                  <a:gd name="T10" fmla="*/ 66 w 132"/>
                  <a:gd name="T11" fmla="*/ 12 h 156"/>
                  <a:gd name="T12" fmla="*/ 12 w 132"/>
                  <a:gd name="T13" fmla="*/ 78 h 156"/>
                  <a:gd name="T14" fmla="*/ 66 w 132"/>
                  <a:gd name="T15" fmla="*/ 144 h 156"/>
                  <a:gd name="T16" fmla="*/ 120 w 132"/>
                  <a:gd name="T17" fmla="*/ 78 h 156"/>
                  <a:gd name="T18" fmla="*/ 66 w 132"/>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56">
                    <a:moveTo>
                      <a:pt x="66" y="156"/>
                    </a:moveTo>
                    <a:cubicBezTo>
                      <a:pt x="29" y="156"/>
                      <a:pt x="0" y="121"/>
                      <a:pt x="0" y="78"/>
                    </a:cubicBezTo>
                    <a:cubicBezTo>
                      <a:pt x="0" y="35"/>
                      <a:pt x="29" y="0"/>
                      <a:pt x="66" y="0"/>
                    </a:cubicBezTo>
                    <a:cubicBezTo>
                      <a:pt x="102" y="0"/>
                      <a:pt x="132" y="35"/>
                      <a:pt x="132" y="78"/>
                    </a:cubicBezTo>
                    <a:cubicBezTo>
                      <a:pt x="132" y="121"/>
                      <a:pt x="102" y="156"/>
                      <a:pt x="66" y="156"/>
                    </a:cubicBezTo>
                    <a:close/>
                    <a:moveTo>
                      <a:pt x="66" y="12"/>
                    </a:moveTo>
                    <a:cubicBezTo>
                      <a:pt x="36" y="12"/>
                      <a:pt x="12" y="42"/>
                      <a:pt x="12" y="78"/>
                    </a:cubicBezTo>
                    <a:cubicBezTo>
                      <a:pt x="12" y="115"/>
                      <a:pt x="36" y="144"/>
                      <a:pt x="66" y="144"/>
                    </a:cubicBezTo>
                    <a:cubicBezTo>
                      <a:pt x="96" y="144"/>
                      <a:pt x="120" y="115"/>
                      <a:pt x="120" y="78"/>
                    </a:cubicBezTo>
                    <a:cubicBezTo>
                      <a:pt x="120" y="42"/>
                      <a:pt x="96"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9221" name="Freeform 171">
                <a:extLst>
                  <a:ext uri="{FF2B5EF4-FFF2-40B4-BE49-F238E27FC236}">
                    <a16:creationId xmlns:a16="http://schemas.microsoft.com/office/drawing/2014/main" id="{00FF6F77-5288-F984-A6A8-54A0C93F4288}"/>
                  </a:ext>
                </a:extLst>
              </p:cNvPr>
              <p:cNvSpPr>
                <a:spLocks noEditPoints="1"/>
              </p:cNvSpPr>
              <p:nvPr/>
            </p:nvSpPr>
            <p:spPr bwMode="auto">
              <a:xfrm>
                <a:off x="7025" y="3524"/>
                <a:ext cx="74"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8"/>
                      <a:pt x="0" y="24"/>
                    </a:cubicBezTo>
                    <a:cubicBezTo>
                      <a:pt x="0" y="11"/>
                      <a:pt x="11" y="0"/>
                      <a:pt x="24" y="0"/>
                    </a:cubicBezTo>
                    <a:cubicBezTo>
                      <a:pt x="37" y="0"/>
                      <a:pt x="48" y="11"/>
                      <a:pt x="48" y="24"/>
                    </a:cubicBezTo>
                    <a:cubicBezTo>
                      <a:pt x="48" y="38"/>
                      <a:pt x="37" y="48"/>
                      <a:pt x="24" y="48"/>
                    </a:cubicBezTo>
                    <a:close/>
                    <a:moveTo>
                      <a:pt x="24" y="12"/>
                    </a:moveTo>
                    <a:cubicBezTo>
                      <a:pt x="17" y="12"/>
                      <a:pt x="12" y="18"/>
                      <a:pt x="12" y="24"/>
                    </a:cubicBezTo>
                    <a:cubicBezTo>
                      <a:pt x="12" y="31"/>
                      <a:pt x="17" y="36"/>
                      <a:pt x="24" y="36"/>
                    </a:cubicBezTo>
                    <a:cubicBezTo>
                      <a:pt x="30" y="36"/>
                      <a:pt x="36" y="31"/>
                      <a:pt x="36" y="24"/>
                    </a:cubicBezTo>
                    <a:cubicBezTo>
                      <a:pt x="36" y="18"/>
                      <a:pt x="30"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9222" name="Freeform 172">
                <a:extLst>
                  <a:ext uri="{FF2B5EF4-FFF2-40B4-BE49-F238E27FC236}">
                    <a16:creationId xmlns:a16="http://schemas.microsoft.com/office/drawing/2014/main" id="{BEA602DC-9E39-D60A-AAD6-09135A70208D}"/>
                  </a:ext>
                </a:extLst>
              </p:cNvPr>
              <p:cNvSpPr>
                <a:spLocks noEditPoints="1"/>
              </p:cNvSpPr>
              <p:nvPr/>
            </p:nvSpPr>
            <p:spPr bwMode="auto">
              <a:xfrm>
                <a:off x="6970" y="3471"/>
                <a:ext cx="182" cy="179"/>
              </a:xfrm>
              <a:custGeom>
                <a:avLst/>
                <a:gdLst>
                  <a:gd name="T0" fmla="*/ 46 w 119"/>
                  <a:gd name="T1" fmla="*/ 120 h 120"/>
                  <a:gd name="T2" fmla="*/ 40 w 119"/>
                  <a:gd name="T3" fmla="*/ 105 h 120"/>
                  <a:gd name="T4" fmla="*/ 22 w 119"/>
                  <a:gd name="T5" fmla="*/ 103 h 120"/>
                  <a:gd name="T6" fmla="*/ 14 w 119"/>
                  <a:gd name="T7" fmla="*/ 101 h 120"/>
                  <a:gd name="T8" fmla="*/ 1 w 119"/>
                  <a:gd name="T9" fmla="*/ 75 h 120"/>
                  <a:gd name="T10" fmla="*/ 12 w 119"/>
                  <a:gd name="T11" fmla="*/ 67 h 120"/>
                  <a:gd name="T12" fmla="*/ 12 w 119"/>
                  <a:gd name="T13" fmla="*/ 54 h 120"/>
                  <a:gd name="T14" fmla="*/ 2 w 119"/>
                  <a:gd name="T15" fmla="*/ 41 h 120"/>
                  <a:gd name="T16" fmla="*/ 17 w 119"/>
                  <a:gd name="T17" fmla="*/ 17 h 120"/>
                  <a:gd name="T18" fmla="*/ 29 w 119"/>
                  <a:gd name="T19" fmla="*/ 23 h 120"/>
                  <a:gd name="T20" fmla="*/ 40 w 119"/>
                  <a:gd name="T21" fmla="*/ 6 h 120"/>
                  <a:gd name="T22" fmla="*/ 70 w 119"/>
                  <a:gd name="T23" fmla="*/ 0 h 120"/>
                  <a:gd name="T24" fmla="*/ 76 w 119"/>
                  <a:gd name="T25" fmla="*/ 16 h 120"/>
                  <a:gd name="T26" fmla="*/ 98 w 119"/>
                  <a:gd name="T27" fmla="*/ 18 h 120"/>
                  <a:gd name="T28" fmla="*/ 118 w 119"/>
                  <a:gd name="T29" fmla="*/ 41 h 120"/>
                  <a:gd name="T30" fmla="*/ 116 w 119"/>
                  <a:gd name="T31" fmla="*/ 49 h 120"/>
                  <a:gd name="T32" fmla="*/ 108 w 119"/>
                  <a:gd name="T33" fmla="*/ 60 h 120"/>
                  <a:gd name="T34" fmla="*/ 115 w 119"/>
                  <a:gd name="T35" fmla="*/ 72 h 120"/>
                  <a:gd name="T36" fmla="*/ 118 w 119"/>
                  <a:gd name="T37" fmla="*/ 80 h 120"/>
                  <a:gd name="T38" fmla="*/ 97 w 119"/>
                  <a:gd name="T39" fmla="*/ 103 h 120"/>
                  <a:gd name="T40" fmla="*/ 76 w 119"/>
                  <a:gd name="T41" fmla="*/ 105 h 120"/>
                  <a:gd name="T42" fmla="*/ 70 w 119"/>
                  <a:gd name="T43" fmla="*/ 120 h 120"/>
                  <a:gd name="T44" fmla="*/ 64 w 119"/>
                  <a:gd name="T45" fmla="*/ 108 h 120"/>
                  <a:gd name="T46" fmla="*/ 68 w 119"/>
                  <a:gd name="T47" fmla="*/ 95 h 120"/>
                  <a:gd name="T48" fmla="*/ 91 w 119"/>
                  <a:gd name="T49" fmla="*/ 86 h 120"/>
                  <a:gd name="T50" fmla="*/ 104 w 119"/>
                  <a:gd name="T51" fmla="*/ 79 h 120"/>
                  <a:gd name="T52" fmla="*/ 95 w 119"/>
                  <a:gd name="T53" fmla="*/ 69 h 120"/>
                  <a:gd name="T54" fmla="*/ 95 w 119"/>
                  <a:gd name="T55" fmla="*/ 52 h 120"/>
                  <a:gd name="T56" fmla="*/ 104 w 119"/>
                  <a:gd name="T57" fmla="*/ 42 h 120"/>
                  <a:gd name="T58" fmla="*/ 91 w 119"/>
                  <a:gd name="T59" fmla="*/ 35 h 120"/>
                  <a:gd name="T60" fmla="*/ 68 w 119"/>
                  <a:gd name="T61" fmla="*/ 26 h 120"/>
                  <a:gd name="T62" fmla="*/ 64 w 119"/>
                  <a:gd name="T63" fmla="*/ 12 h 120"/>
                  <a:gd name="T64" fmla="*/ 52 w 119"/>
                  <a:gd name="T65" fmla="*/ 20 h 120"/>
                  <a:gd name="T66" fmla="*/ 34 w 119"/>
                  <a:gd name="T67" fmla="*/ 34 h 120"/>
                  <a:gd name="T68" fmla="*/ 21 w 119"/>
                  <a:gd name="T69" fmla="*/ 31 h 120"/>
                  <a:gd name="T70" fmla="*/ 22 w 119"/>
                  <a:gd name="T71" fmla="*/ 46 h 120"/>
                  <a:gd name="T72" fmla="*/ 24 w 119"/>
                  <a:gd name="T73" fmla="*/ 60 h 120"/>
                  <a:gd name="T74" fmla="*/ 22 w 119"/>
                  <a:gd name="T75" fmla="*/ 75 h 120"/>
                  <a:gd name="T76" fmla="*/ 21 w 119"/>
                  <a:gd name="T77" fmla="*/ 89 h 120"/>
                  <a:gd name="T78" fmla="*/ 34 w 119"/>
                  <a:gd name="T79" fmla="*/ 87 h 120"/>
                  <a:gd name="T80" fmla="*/ 52 w 119"/>
                  <a:gd name="T81" fmla="*/ 10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0" y="120"/>
                    </a:moveTo>
                    <a:cubicBezTo>
                      <a:pt x="46" y="120"/>
                      <a:pt x="46" y="120"/>
                      <a:pt x="46" y="120"/>
                    </a:cubicBezTo>
                    <a:cubicBezTo>
                      <a:pt x="43" y="120"/>
                      <a:pt x="40" y="118"/>
                      <a:pt x="40" y="114"/>
                    </a:cubicBezTo>
                    <a:cubicBezTo>
                      <a:pt x="40" y="105"/>
                      <a:pt x="40" y="105"/>
                      <a:pt x="40" y="105"/>
                    </a:cubicBezTo>
                    <a:cubicBezTo>
                      <a:pt x="36" y="103"/>
                      <a:pt x="33" y="101"/>
                      <a:pt x="29" y="98"/>
                    </a:cubicBezTo>
                    <a:cubicBezTo>
                      <a:pt x="22" y="103"/>
                      <a:pt x="22" y="103"/>
                      <a:pt x="22" y="103"/>
                    </a:cubicBezTo>
                    <a:cubicBezTo>
                      <a:pt x="21" y="104"/>
                      <a:pt x="19" y="104"/>
                      <a:pt x="18" y="104"/>
                    </a:cubicBezTo>
                    <a:cubicBezTo>
                      <a:pt x="16" y="103"/>
                      <a:pt x="15" y="102"/>
                      <a:pt x="14" y="101"/>
                    </a:cubicBezTo>
                    <a:cubicBezTo>
                      <a:pt x="2" y="80"/>
                      <a:pt x="2" y="80"/>
                      <a:pt x="2" y="80"/>
                    </a:cubicBezTo>
                    <a:cubicBezTo>
                      <a:pt x="1" y="79"/>
                      <a:pt x="1" y="77"/>
                      <a:pt x="1" y="75"/>
                    </a:cubicBezTo>
                    <a:cubicBezTo>
                      <a:pt x="2" y="74"/>
                      <a:pt x="3" y="73"/>
                      <a:pt x="4" y="72"/>
                    </a:cubicBezTo>
                    <a:cubicBezTo>
                      <a:pt x="12" y="67"/>
                      <a:pt x="12" y="67"/>
                      <a:pt x="12" y="67"/>
                    </a:cubicBezTo>
                    <a:cubicBezTo>
                      <a:pt x="12" y="65"/>
                      <a:pt x="12" y="63"/>
                      <a:pt x="12" y="60"/>
                    </a:cubicBezTo>
                    <a:cubicBezTo>
                      <a:pt x="12" y="58"/>
                      <a:pt x="12" y="56"/>
                      <a:pt x="12" y="54"/>
                    </a:cubicBezTo>
                    <a:cubicBezTo>
                      <a:pt x="4" y="49"/>
                      <a:pt x="4" y="49"/>
                      <a:pt x="4" y="49"/>
                    </a:cubicBezTo>
                    <a:cubicBezTo>
                      <a:pt x="1" y="47"/>
                      <a:pt x="0" y="44"/>
                      <a:pt x="2" y="41"/>
                    </a:cubicBezTo>
                    <a:cubicBezTo>
                      <a:pt x="13" y="20"/>
                      <a:pt x="13" y="20"/>
                      <a:pt x="13" y="20"/>
                    </a:cubicBezTo>
                    <a:cubicBezTo>
                      <a:pt x="14" y="19"/>
                      <a:pt x="16" y="18"/>
                      <a:pt x="17" y="17"/>
                    </a:cubicBezTo>
                    <a:cubicBezTo>
                      <a:pt x="19" y="17"/>
                      <a:pt x="20" y="17"/>
                      <a:pt x="22" y="18"/>
                    </a:cubicBezTo>
                    <a:cubicBezTo>
                      <a:pt x="29" y="23"/>
                      <a:pt x="29" y="23"/>
                      <a:pt x="29" y="23"/>
                    </a:cubicBezTo>
                    <a:cubicBezTo>
                      <a:pt x="33" y="20"/>
                      <a:pt x="36" y="18"/>
                      <a:pt x="40" y="16"/>
                    </a:cubicBezTo>
                    <a:cubicBezTo>
                      <a:pt x="40" y="6"/>
                      <a:pt x="40" y="6"/>
                      <a:pt x="40" y="6"/>
                    </a:cubicBezTo>
                    <a:cubicBezTo>
                      <a:pt x="40" y="3"/>
                      <a:pt x="43" y="0"/>
                      <a:pt x="46" y="0"/>
                    </a:cubicBezTo>
                    <a:cubicBezTo>
                      <a:pt x="70" y="0"/>
                      <a:pt x="70" y="0"/>
                      <a:pt x="70" y="0"/>
                    </a:cubicBezTo>
                    <a:cubicBezTo>
                      <a:pt x="73" y="0"/>
                      <a:pt x="76" y="3"/>
                      <a:pt x="76" y="6"/>
                    </a:cubicBezTo>
                    <a:cubicBezTo>
                      <a:pt x="76" y="16"/>
                      <a:pt x="76" y="16"/>
                      <a:pt x="76" y="16"/>
                    </a:cubicBezTo>
                    <a:cubicBezTo>
                      <a:pt x="79" y="17"/>
                      <a:pt x="84" y="20"/>
                      <a:pt x="88" y="23"/>
                    </a:cubicBezTo>
                    <a:cubicBezTo>
                      <a:pt x="98" y="18"/>
                      <a:pt x="98" y="18"/>
                      <a:pt x="98" y="18"/>
                    </a:cubicBezTo>
                    <a:cubicBezTo>
                      <a:pt x="101" y="16"/>
                      <a:pt x="104" y="17"/>
                      <a:pt x="106" y="20"/>
                    </a:cubicBezTo>
                    <a:cubicBezTo>
                      <a:pt x="118" y="41"/>
                      <a:pt x="118" y="41"/>
                      <a:pt x="118" y="41"/>
                    </a:cubicBezTo>
                    <a:cubicBezTo>
                      <a:pt x="119" y="42"/>
                      <a:pt x="119" y="44"/>
                      <a:pt x="118" y="45"/>
                    </a:cubicBezTo>
                    <a:cubicBezTo>
                      <a:pt x="118" y="47"/>
                      <a:pt x="117" y="48"/>
                      <a:pt x="116" y="49"/>
                    </a:cubicBezTo>
                    <a:cubicBezTo>
                      <a:pt x="107" y="54"/>
                      <a:pt x="107" y="54"/>
                      <a:pt x="107" y="54"/>
                    </a:cubicBezTo>
                    <a:cubicBezTo>
                      <a:pt x="108" y="56"/>
                      <a:pt x="108" y="58"/>
                      <a:pt x="108" y="60"/>
                    </a:cubicBezTo>
                    <a:cubicBezTo>
                      <a:pt x="108" y="63"/>
                      <a:pt x="108" y="65"/>
                      <a:pt x="107" y="67"/>
                    </a:cubicBezTo>
                    <a:cubicBezTo>
                      <a:pt x="115" y="72"/>
                      <a:pt x="115" y="72"/>
                      <a:pt x="115" y="72"/>
                    </a:cubicBezTo>
                    <a:cubicBezTo>
                      <a:pt x="117" y="73"/>
                      <a:pt x="118" y="74"/>
                      <a:pt x="118" y="76"/>
                    </a:cubicBezTo>
                    <a:cubicBezTo>
                      <a:pt x="119" y="77"/>
                      <a:pt x="118" y="79"/>
                      <a:pt x="118" y="80"/>
                    </a:cubicBezTo>
                    <a:cubicBezTo>
                      <a:pt x="105" y="101"/>
                      <a:pt x="105" y="101"/>
                      <a:pt x="105" y="101"/>
                    </a:cubicBezTo>
                    <a:cubicBezTo>
                      <a:pt x="104" y="104"/>
                      <a:pt x="100" y="105"/>
                      <a:pt x="97" y="103"/>
                    </a:cubicBezTo>
                    <a:cubicBezTo>
                      <a:pt x="88" y="98"/>
                      <a:pt x="88" y="98"/>
                      <a:pt x="88" y="98"/>
                    </a:cubicBezTo>
                    <a:cubicBezTo>
                      <a:pt x="84" y="101"/>
                      <a:pt x="79" y="103"/>
                      <a:pt x="76" y="105"/>
                    </a:cubicBezTo>
                    <a:cubicBezTo>
                      <a:pt x="76" y="114"/>
                      <a:pt x="76" y="114"/>
                      <a:pt x="76" y="114"/>
                    </a:cubicBezTo>
                    <a:cubicBezTo>
                      <a:pt x="76" y="118"/>
                      <a:pt x="73" y="120"/>
                      <a:pt x="70" y="120"/>
                    </a:cubicBezTo>
                    <a:close/>
                    <a:moveTo>
                      <a:pt x="52" y="108"/>
                    </a:moveTo>
                    <a:cubicBezTo>
                      <a:pt x="64" y="108"/>
                      <a:pt x="64" y="108"/>
                      <a:pt x="64" y="108"/>
                    </a:cubicBezTo>
                    <a:cubicBezTo>
                      <a:pt x="64" y="101"/>
                      <a:pt x="64" y="101"/>
                      <a:pt x="64" y="101"/>
                    </a:cubicBezTo>
                    <a:cubicBezTo>
                      <a:pt x="64" y="98"/>
                      <a:pt x="66" y="96"/>
                      <a:pt x="68" y="95"/>
                    </a:cubicBezTo>
                    <a:cubicBezTo>
                      <a:pt x="74" y="93"/>
                      <a:pt x="80" y="90"/>
                      <a:pt x="84" y="87"/>
                    </a:cubicBezTo>
                    <a:cubicBezTo>
                      <a:pt x="85" y="85"/>
                      <a:pt x="88" y="84"/>
                      <a:pt x="91" y="86"/>
                    </a:cubicBezTo>
                    <a:cubicBezTo>
                      <a:pt x="98" y="90"/>
                      <a:pt x="98" y="90"/>
                      <a:pt x="98" y="90"/>
                    </a:cubicBezTo>
                    <a:cubicBezTo>
                      <a:pt x="104" y="79"/>
                      <a:pt x="104" y="79"/>
                      <a:pt x="104" y="79"/>
                    </a:cubicBezTo>
                    <a:cubicBezTo>
                      <a:pt x="98" y="75"/>
                      <a:pt x="98" y="75"/>
                      <a:pt x="98" y="75"/>
                    </a:cubicBezTo>
                    <a:cubicBezTo>
                      <a:pt x="95" y="74"/>
                      <a:pt x="94" y="71"/>
                      <a:pt x="95" y="69"/>
                    </a:cubicBezTo>
                    <a:cubicBezTo>
                      <a:pt x="96" y="65"/>
                      <a:pt x="96" y="63"/>
                      <a:pt x="96" y="60"/>
                    </a:cubicBezTo>
                    <a:cubicBezTo>
                      <a:pt x="96" y="58"/>
                      <a:pt x="96" y="55"/>
                      <a:pt x="95" y="52"/>
                    </a:cubicBezTo>
                    <a:cubicBezTo>
                      <a:pt x="94" y="50"/>
                      <a:pt x="95" y="47"/>
                      <a:pt x="98" y="46"/>
                    </a:cubicBezTo>
                    <a:cubicBezTo>
                      <a:pt x="104" y="42"/>
                      <a:pt x="104" y="42"/>
                      <a:pt x="104" y="42"/>
                    </a:cubicBezTo>
                    <a:cubicBezTo>
                      <a:pt x="98" y="31"/>
                      <a:pt x="98" y="31"/>
                      <a:pt x="98" y="31"/>
                    </a:cubicBezTo>
                    <a:cubicBezTo>
                      <a:pt x="91" y="35"/>
                      <a:pt x="91" y="35"/>
                      <a:pt x="91" y="35"/>
                    </a:cubicBezTo>
                    <a:cubicBezTo>
                      <a:pt x="88" y="36"/>
                      <a:pt x="85" y="36"/>
                      <a:pt x="84" y="34"/>
                    </a:cubicBezTo>
                    <a:cubicBezTo>
                      <a:pt x="80" y="31"/>
                      <a:pt x="74" y="28"/>
                      <a:pt x="68" y="26"/>
                    </a:cubicBezTo>
                    <a:cubicBezTo>
                      <a:pt x="66" y="25"/>
                      <a:pt x="64" y="23"/>
                      <a:pt x="64" y="20"/>
                    </a:cubicBezTo>
                    <a:cubicBezTo>
                      <a:pt x="64" y="12"/>
                      <a:pt x="64" y="12"/>
                      <a:pt x="64" y="12"/>
                    </a:cubicBezTo>
                    <a:cubicBezTo>
                      <a:pt x="52" y="12"/>
                      <a:pt x="52" y="12"/>
                      <a:pt x="52" y="12"/>
                    </a:cubicBezTo>
                    <a:cubicBezTo>
                      <a:pt x="52" y="20"/>
                      <a:pt x="52" y="20"/>
                      <a:pt x="52" y="20"/>
                    </a:cubicBezTo>
                    <a:cubicBezTo>
                      <a:pt x="52" y="23"/>
                      <a:pt x="50" y="25"/>
                      <a:pt x="48" y="26"/>
                    </a:cubicBezTo>
                    <a:cubicBezTo>
                      <a:pt x="43" y="27"/>
                      <a:pt x="39" y="30"/>
                      <a:pt x="34" y="34"/>
                    </a:cubicBezTo>
                    <a:cubicBezTo>
                      <a:pt x="32" y="36"/>
                      <a:pt x="29" y="36"/>
                      <a:pt x="27" y="35"/>
                    </a:cubicBezTo>
                    <a:cubicBezTo>
                      <a:pt x="21" y="31"/>
                      <a:pt x="21" y="31"/>
                      <a:pt x="21" y="31"/>
                    </a:cubicBezTo>
                    <a:cubicBezTo>
                      <a:pt x="15" y="42"/>
                      <a:pt x="15" y="42"/>
                      <a:pt x="15" y="42"/>
                    </a:cubicBezTo>
                    <a:cubicBezTo>
                      <a:pt x="22" y="46"/>
                      <a:pt x="22" y="46"/>
                      <a:pt x="22" y="46"/>
                    </a:cubicBezTo>
                    <a:cubicBezTo>
                      <a:pt x="24" y="47"/>
                      <a:pt x="25" y="50"/>
                      <a:pt x="25" y="52"/>
                    </a:cubicBezTo>
                    <a:cubicBezTo>
                      <a:pt x="24" y="55"/>
                      <a:pt x="24" y="58"/>
                      <a:pt x="24" y="60"/>
                    </a:cubicBezTo>
                    <a:cubicBezTo>
                      <a:pt x="24" y="63"/>
                      <a:pt x="24" y="66"/>
                      <a:pt x="25" y="69"/>
                    </a:cubicBezTo>
                    <a:cubicBezTo>
                      <a:pt x="25" y="71"/>
                      <a:pt x="24" y="74"/>
                      <a:pt x="22" y="75"/>
                    </a:cubicBezTo>
                    <a:cubicBezTo>
                      <a:pt x="15" y="79"/>
                      <a:pt x="15" y="79"/>
                      <a:pt x="15" y="79"/>
                    </a:cubicBezTo>
                    <a:cubicBezTo>
                      <a:pt x="21" y="89"/>
                      <a:pt x="21" y="89"/>
                      <a:pt x="21" y="89"/>
                    </a:cubicBezTo>
                    <a:cubicBezTo>
                      <a:pt x="27" y="86"/>
                      <a:pt x="27" y="86"/>
                      <a:pt x="27" y="86"/>
                    </a:cubicBezTo>
                    <a:cubicBezTo>
                      <a:pt x="29" y="84"/>
                      <a:pt x="32" y="85"/>
                      <a:pt x="34" y="87"/>
                    </a:cubicBezTo>
                    <a:cubicBezTo>
                      <a:pt x="39" y="91"/>
                      <a:pt x="43" y="93"/>
                      <a:pt x="48" y="95"/>
                    </a:cubicBezTo>
                    <a:cubicBezTo>
                      <a:pt x="50" y="96"/>
                      <a:pt x="52" y="98"/>
                      <a:pt x="52" y="101"/>
                    </a:cubicBezTo>
                    <a:lnTo>
                      <a:pt x="52"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sp>
        <p:nvSpPr>
          <p:cNvPr id="2" name="TextBox 24">
            <a:extLst>
              <a:ext uri="{FF2B5EF4-FFF2-40B4-BE49-F238E27FC236}">
                <a16:creationId xmlns:a16="http://schemas.microsoft.com/office/drawing/2014/main" id="{0BA1E044-E982-D597-39A9-85BBCFDBBE1B}"/>
              </a:ext>
            </a:extLst>
          </p:cNvPr>
          <p:cNvSpPr txBox="1"/>
          <p:nvPr/>
        </p:nvSpPr>
        <p:spPr>
          <a:xfrm>
            <a:off x="371476" y="2880360"/>
            <a:ext cx="2155532" cy="3428364"/>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Supplier</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Sales department</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Marketing department</a:t>
            </a:r>
          </a:p>
        </p:txBody>
      </p:sp>
      <p:sp>
        <p:nvSpPr>
          <p:cNvPr id="4" name="TextBox 24">
            <a:extLst>
              <a:ext uri="{FF2B5EF4-FFF2-40B4-BE49-F238E27FC236}">
                <a16:creationId xmlns:a16="http://schemas.microsoft.com/office/drawing/2014/main" id="{B7BF6EC4-DCED-1942-8A50-178F0CD42315}"/>
              </a:ext>
            </a:extLst>
          </p:cNvPr>
          <p:cNvSpPr txBox="1"/>
          <p:nvPr/>
        </p:nvSpPr>
        <p:spPr>
          <a:xfrm>
            <a:off x="2694856" y="2880360"/>
            <a:ext cx="2155532" cy="3428364"/>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Inputs</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Order system</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Customer database</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Call accounting</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5" name="TextBox 24">
            <a:extLst>
              <a:ext uri="{FF2B5EF4-FFF2-40B4-BE49-F238E27FC236}">
                <a16:creationId xmlns:a16="http://schemas.microsoft.com/office/drawing/2014/main" id="{DCB2AC3D-6500-5AC5-3D3B-C24359166F60}"/>
              </a:ext>
            </a:extLst>
          </p:cNvPr>
          <p:cNvSpPr txBox="1"/>
          <p:nvPr/>
        </p:nvSpPr>
        <p:spPr>
          <a:xfrm>
            <a:off x="5018236" y="2880360"/>
            <a:ext cx="2155532" cy="3428364"/>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Process</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Receive call from customer</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Exchange information</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Input order information</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Product details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End the call</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6" name="TextBox 24">
            <a:extLst>
              <a:ext uri="{FF2B5EF4-FFF2-40B4-BE49-F238E27FC236}">
                <a16:creationId xmlns:a16="http://schemas.microsoft.com/office/drawing/2014/main" id="{1BD8A85A-20B5-B685-FD60-4DA9AC9D5020}"/>
              </a:ext>
            </a:extLst>
          </p:cNvPr>
          <p:cNvSpPr txBox="1"/>
          <p:nvPr/>
        </p:nvSpPr>
        <p:spPr>
          <a:xfrm>
            <a:off x="7341616" y="2880360"/>
            <a:ext cx="2155532" cy="3428364"/>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Outputs</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Update stock database</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Update customer database</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Update call accounting</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7" name="TextBox 24">
            <a:extLst>
              <a:ext uri="{FF2B5EF4-FFF2-40B4-BE49-F238E27FC236}">
                <a16:creationId xmlns:a16="http://schemas.microsoft.com/office/drawing/2014/main" id="{55B39897-0266-CCAB-8BD4-9364E7E8E3E5}"/>
              </a:ext>
            </a:extLst>
          </p:cNvPr>
          <p:cNvSpPr txBox="1"/>
          <p:nvPr/>
        </p:nvSpPr>
        <p:spPr>
          <a:xfrm>
            <a:off x="9664994" y="2880360"/>
            <a:ext cx="2155532" cy="3428364"/>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Customers</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Financial department</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Marketing department</a:t>
            </a:r>
          </a:p>
        </p:txBody>
      </p:sp>
      <p:cxnSp>
        <p:nvCxnSpPr>
          <p:cNvPr id="9230" name="Conector recto 9229">
            <a:extLst>
              <a:ext uri="{FF2B5EF4-FFF2-40B4-BE49-F238E27FC236}">
                <a16:creationId xmlns:a16="http://schemas.microsoft.com/office/drawing/2014/main" id="{469E2E3E-E2C4-9FDE-EE9E-13CF06DF1BED}"/>
              </a:ext>
            </a:extLst>
          </p:cNvPr>
          <p:cNvCxnSpPr>
            <a:cxnSpLocks/>
          </p:cNvCxnSpPr>
          <p:nvPr/>
        </p:nvCxnSpPr>
        <p:spPr>
          <a:xfrm flipV="1">
            <a:off x="2610932" y="2880360"/>
            <a:ext cx="0" cy="342836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32" name="Conector recto 9231">
            <a:extLst>
              <a:ext uri="{FF2B5EF4-FFF2-40B4-BE49-F238E27FC236}">
                <a16:creationId xmlns:a16="http://schemas.microsoft.com/office/drawing/2014/main" id="{B97C65A1-1192-3784-24CC-7285F38854CF}"/>
              </a:ext>
            </a:extLst>
          </p:cNvPr>
          <p:cNvCxnSpPr>
            <a:cxnSpLocks/>
          </p:cNvCxnSpPr>
          <p:nvPr/>
        </p:nvCxnSpPr>
        <p:spPr>
          <a:xfrm flipV="1">
            <a:off x="4934312" y="2880360"/>
            <a:ext cx="0" cy="342836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33" name="Conector recto 9232">
            <a:extLst>
              <a:ext uri="{FF2B5EF4-FFF2-40B4-BE49-F238E27FC236}">
                <a16:creationId xmlns:a16="http://schemas.microsoft.com/office/drawing/2014/main" id="{FC45690C-CECC-0262-049D-C5E1219C7DDD}"/>
              </a:ext>
            </a:extLst>
          </p:cNvPr>
          <p:cNvCxnSpPr>
            <a:cxnSpLocks/>
          </p:cNvCxnSpPr>
          <p:nvPr/>
        </p:nvCxnSpPr>
        <p:spPr>
          <a:xfrm flipV="1">
            <a:off x="7257692" y="2880360"/>
            <a:ext cx="0" cy="342836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34" name="Conector recto 9233">
            <a:extLst>
              <a:ext uri="{FF2B5EF4-FFF2-40B4-BE49-F238E27FC236}">
                <a16:creationId xmlns:a16="http://schemas.microsoft.com/office/drawing/2014/main" id="{B1658D0A-520D-E230-A014-2A8B727B2732}"/>
              </a:ext>
            </a:extLst>
          </p:cNvPr>
          <p:cNvCxnSpPr>
            <a:cxnSpLocks/>
          </p:cNvCxnSpPr>
          <p:nvPr/>
        </p:nvCxnSpPr>
        <p:spPr>
          <a:xfrm flipV="1">
            <a:off x="9581072" y="2880360"/>
            <a:ext cx="0" cy="342836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241" name="Rectángulo 9240">
            <a:extLst>
              <a:ext uri="{FF2B5EF4-FFF2-40B4-BE49-F238E27FC236}">
                <a16:creationId xmlns:a16="http://schemas.microsoft.com/office/drawing/2014/main" id="{F0CE5A87-7768-64D4-F5FB-5291B1A38B64}"/>
              </a:ext>
            </a:extLst>
          </p:cNvPr>
          <p:cNvSpPr/>
          <p:nvPr/>
        </p:nvSpPr>
        <p:spPr>
          <a:xfrm>
            <a:off x="371476" y="2395920"/>
            <a:ext cx="385383" cy="3853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t>S</a:t>
            </a:r>
          </a:p>
        </p:txBody>
      </p:sp>
      <p:sp>
        <p:nvSpPr>
          <p:cNvPr id="9242" name="Rectángulo 9241">
            <a:extLst>
              <a:ext uri="{FF2B5EF4-FFF2-40B4-BE49-F238E27FC236}">
                <a16:creationId xmlns:a16="http://schemas.microsoft.com/office/drawing/2014/main" id="{9F815297-4501-63A3-7679-8723243D4515}"/>
              </a:ext>
            </a:extLst>
          </p:cNvPr>
          <p:cNvSpPr/>
          <p:nvPr/>
        </p:nvSpPr>
        <p:spPr>
          <a:xfrm>
            <a:off x="2694856" y="2395920"/>
            <a:ext cx="385383" cy="3853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t>I</a:t>
            </a:r>
          </a:p>
        </p:txBody>
      </p:sp>
      <p:sp>
        <p:nvSpPr>
          <p:cNvPr id="9243" name="Rectángulo 9242">
            <a:extLst>
              <a:ext uri="{FF2B5EF4-FFF2-40B4-BE49-F238E27FC236}">
                <a16:creationId xmlns:a16="http://schemas.microsoft.com/office/drawing/2014/main" id="{EBB054AD-E835-2EE6-DB0B-7749D2BFC8D5}"/>
              </a:ext>
            </a:extLst>
          </p:cNvPr>
          <p:cNvSpPr/>
          <p:nvPr/>
        </p:nvSpPr>
        <p:spPr>
          <a:xfrm>
            <a:off x="5018236" y="2395920"/>
            <a:ext cx="385383" cy="3853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t>P</a:t>
            </a:r>
          </a:p>
        </p:txBody>
      </p:sp>
      <p:sp>
        <p:nvSpPr>
          <p:cNvPr id="9244" name="Rectángulo 9243">
            <a:extLst>
              <a:ext uri="{FF2B5EF4-FFF2-40B4-BE49-F238E27FC236}">
                <a16:creationId xmlns:a16="http://schemas.microsoft.com/office/drawing/2014/main" id="{26A881FE-D28D-A230-6C89-E43807887FB5}"/>
              </a:ext>
            </a:extLst>
          </p:cNvPr>
          <p:cNvSpPr/>
          <p:nvPr/>
        </p:nvSpPr>
        <p:spPr>
          <a:xfrm>
            <a:off x="7341616" y="2395920"/>
            <a:ext cx="385383" cy="3853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t>O</a:t>
            </a:r>
          </a:p>
        </p:txBody>
      </p:sp>
      <p:sp>
        <p:nvSpPr>
          <p:cNvPr id="9245" name="Rectángulo 9244">
            <a:extLst>
              <a:ext uri="{FF2B5EF4-FFF2-40B4-BE49-F238E27FC236}">
                <a16:creationId xmlns:a16="http://schemas.microsoft.com/office/drawing/2014/main" id="{C38D7092-7A5A-34AA-B7CE-0955538B6FB9}"/>
              </a:ext>
            </a:extLst>
          </p:cNvPr>
          <p:cNvSpPr/>
          <p:nvPr/>
        </p:nvSpPr>
        <p:spPr>
          <a:xfrm>
            <a:off x="9664994" y="2395920"/>
            <a:ext cx="385383" cy="3853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t>C</a:t>
            </a:r>
          </a:p>
        </p:txBody>
      </p:sp>
      <p:sp>
        <p:nvSpPr>
          <p:cNvPr id="8" name="Marcador de pie de página 7">
            <a:extLst>
              <a:ext uri="{FF2B5EF4-FFF2-40B4-BE49-F238E27FC236}">
                <a16:creationId xmlns:a16="http://schemas.microsoft.com/office/drawing/2014/main" id="{BFCA2E00-C466-A6F1-E09D-CE6B35EB129F}"/>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58016215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a:lstStyle/>
          <a:p>
            <a:r>
              <a:rPr lang="en-US" dirty="0"/>
              <a:t>SIPOC model — Template B</a:t>
            </a:r>
          </a:p>
        </p:txBody>
      </p:sp>
      <p:grpSp>
        <p:nvGrpSpPr>
          <p:cNvPr id="16" name="Grupo 15">
            <a:extLst>
              <a:ext uri="{FF2B5EF4-FFF2-40B4-BE49-F238E27FC236}">
                <a16:creationId xmlns:a16="http://schemas.microsoft.com/office/drawing/2014/main" id="{4C95E867-553A-13C7-2BA9-3385EA50A2E2}"/>
              </a:ext>
            </a:extLst>
          </p:cNvPr>
          <p:cNvGrpSpPr/>
          <p:nvPr/>
        </p:nvGrpSpPr>
        <p:grpSpPr>
          <a:xfrm>
            <a:off x="10345158" y="2567541"/>
            <a:ext cx="795204" cy="795204"/>
            <a:chOff x="10345158" y="1519371"/>
            <a:chExt cx="795204" cy="795204"/>
          </a:xfrm>
        </p:grpSpPr>
        <p:sp>
          <p:nvSpPr>
            <p:cNvPr id="17" name="Elipse 16">
              <a:extLst>
                <a:ext uri="{FF2B5EF4-FFF2-40B4-BE49-F238E27FC236}">
                  <a16:creationId xmlns:a16="http://schemas.microsoft.com/office/drawing/2014/main" id="{3B03C8C8-3883-4F00-8064-863F1B903563}"/>
                </a:ext>
              </a:extLst>
            </p:cNvPr>
            <p:cNvSpPr/>
            <p:nvPr/>
          </p:nvSpPr>
          <p:spPr>
            <a:xfrm>
              <a:off x="10345158" y="1519371"/>
              <a:ext cx="795204" cy="79520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nvGrpSpPr>
            <p:cNvPr id="18" name="Group 31">
              <a:extLst>
                <a:ext uri="{FF2B5EF4-FFF2-40B4-BE49-F238E27FC236}">
                  <a16:creationId xmlns:a16="http://schemas.microsoft.com/office/drawing/2014/main" id="{5941BC06-2383-0740-206F-385E27EA34D4}"/>
                </a:ext>
              </a:extLst>
            </p:cNvPr>
            <p:cNvGrpSpPr>
              <a:grpSpLocks noChangeAspect="1"/>
            </p:cNvGrpSpPr>
            <p:nvPr/>
          </p:nvGrpSpPr>
          <p:grpSpPr bwMode="auto">
            <a:xfrm>
              <a:off x="10492669" y="1672566"/>
              <a:ext cx="500182" cy="488814"/>
              <a:chOff x="3619" y="663"/>
              <a:chExt cx="440" cy="430"/>
            </a:xfrm>
            <a:solidFill>
              <a:schemeClr val="tx2"/>
            </a:solidFill>
          </p:grpSpPr>
          <p:sp>
            <p:nvSpPr>
              <p:cNvPr id="19" name="Freeform 32">
                <a:extLst>
                  <a:ext uri="{FF2B5EF4-FFF2-40B4-BE49-F238E27FC236}">
                    <a16:creationId xmlns:a16="http://schemas.microsoft.com/office/drawing/2014/main" id="{19F17026-6749-E2B1-4072-251AF362998D}"/>
                  </a:ext>
                </a:extLst>
              </p:cNvPr>
              <p:cNvSpPr>
                <a:spLocks noEditPoints="1"/>
              </p:cNvSpPr>
              <p:nvPr/>
            </p:nvSpPr>
            <p:spPr bwMode="auto">
              <a:xfrm>
                <a:off x="3646" y="806"/>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0" name="Freeform 33">
                <a:extLst>
                  <a:ext uri="{FF2B5EF4-FFF2-40B4-BE49-F238E27FC236}">
                    <a16:creationId xmlns:a16="http://schemas.microsoft.com/office/drawing/2014/main" id="{03CB2D14-199F-4EF2-71CC-A78AD732258D}"/>
                  </a:ext>
                </a:extLst>
              </p:cNvPr>
              <p:cNvSpPr>
                <a:spLocks noEditPoints="1"/>
              </p:cNvSpPr>
              <p:nvPr/>
            </p:nvSpPr>
            <p:spPr bwMode="auto">
              <a:xfrm>
                <a:off x="3619" y="914"/>
                <a:ext cx="147"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1" name="Freeform 34">
                <a:extLst>
                  <a:ext uri="{FF2B5EF4-FFF2-40B4-BE49-F238E27FC236}">
                    <a16:creationId xmlns:a16="http://schemas.microsoft.com/office/drawing/2014/main" id="{4196C2E5-41BE-5C35-D79D-CEDDD80E54A9}"/>
                  </a:ext>
                </a:extLst>
              </p:cNvPr>
              <p:cNvSpPr>
                <a:spLocks noEditPoints="1"/>
              </p:cNvSpPr>
              <p:nvPr/>
            </p:nvSpPr>
            <p:spPr bwMode="auto">
              <a:xfrm>
                <a:off x="3940" y="806"/>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2" name="Freeform 35">
                <a:extLst>
                  <a:ext uri="{FF2B5EF4-FFF2-40B4-BE49-F238E27FC236}">
                    <a16:creationId xmlns:a16="http://schemas.microsoft.com/office/drawing/2014/main" id="{CB25844C-8E79-D0CC-E2A8-D35CCA5272B8}"/>
                  </a:ext>
                </a:extLst>
              </p:cNvPr>
              <p:cNvSpPr>
                <a:spLocks noEditPoints="1"/>
              </p:cNvSpPr>
              <p:nvPr/>
            </p:nvSpPr>
            <p:spPr bwMode="auto">
              <a:xfrm>
                <a:off x="3912" y="914"/>
                <a:ext cx="147"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3" name="Freeform 36">
                <a:extLst>
                  <a:ext uri="{FF2B5EF4-FFF2-40B4-BE49-F238E27FC236}">
                    <a16:creationId xmlns:a16="http://schemas.microsoft.com/office/drawing/2014/main" id="{10EB0033-4502-AB5F-786F-B65E1B319CE6}"/>
                  </a:ext>
                </a:extLst>
              </p:cNvPr>
              <p:cNvSpPr>
                <a:spLocks noEditPoints="1"/>
              </p:cNvSpPr>
              <p:nvPr/>
            </p:nvSpPr>
            <p:spPr bwMode="auto">
              <a:xfrm>
                <a:off x="3793" y="663"/>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4" name="Freeform 37">
                <a:extLst>
                  <a:ext uri="{FF2B5EF4-FFF2-40B4-BE49-F238E27FC236}">
                    <a16:creationId xmlns:a16="http://schemas.microsoft.com/office/drawing/2014/main" id="{2EB6FA22-2D7F-DE4A-E306-6DE9F3AA7646}"/>
                  </a:ext>
                </a:extLst>
              </p:cNvPr>
              <p:cNvSpPr>
                <a:spLocks noEditPoints="1"/>
              </p:cNvSpPr>
              <p:nvPr/>
            </p:nvSpPr>
            <p:spPr bwMode="auto">
              <a:xfrm>
                <a:off x="3766" y="771"/>
                <a:ext cx="146"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grpSp>
        <p:nvGrpSpPr>
          <p:cNvPr id="25" name="Grupo 24">
            <a:extLst>
              <a:ext uri="{FF2B5EF4-FFF2-40B4-BE49-F238E27FC236}">
                <a16:creationId xmlns:a16="http://schemas.microsoft.com/office/drawing/2014/main" id="{177CC361-5D26-65D5-2EEA-4C74A1BAFE2F}"/>
              </a:ext>
            </a:extLst>
          </p:cNvPr>
          <p:cNvGrpSpPr/>
          <p:nvPr/>
        </p:nvGrpSpPr>
        <p:grpSpPr>
          <a:xfrm>
            <a:off x="8021780" y="2567541"/>
            <a:ext cx="795204" cy="795204"/>
            <a:chOff x="8021778" y="1519371"/>
            <a:chExt cx="795204" cy="795204"/>
          </a:xfrm>
        </p:grpSpPr>
        <p:sp>
          <p:nvSpPr>
            <p:cNvPr id="26" name="Elipse 25">
              <a:extLst>
                <a:ext uri="{FF2B5EF4-FFF2-40B4-BE49-F238E27FC236}">
                  <a16:creationId xmlns:a16="http://schemas.microsoft.com/office/drawing/2014/main" id="{4B335A89-4683-E1DB-3745-6D6F2E7FA120}"/>
                </a:ext>
              </a:extLst>
            </p:cNvPr>
            <p:cNvSpPr/>
            <p:nvPr/>
          </p:nvSpPr>
          <p:spPr>
            <a:xfrm>
              <a:off x="8021778" y="1519371"/>
              <a:ext cx="795204" cy="79520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nvGrpSpPr>
            <p:cNvPr id="27" name="Group 146">
              <a:extLst>
                <a:ext uri="{FF2B5EF4-FFF2-40B4-BE49-F238E27FC236}">
                  <a16:creationId xmlns:a16="http://schemas.microsoft.com/office/drawing/2014/main" id="{4DE0B11A-259C-DE01-10E9-8E3EC4CB5D41}"/>
                </a:ext>
              </a:extLst>
            </p:cNvPr>
            <p:cNvGrpSpPr>
              <a:grpSpLocks noChangeAspect="1"/>
            </p:cNvGrpSpPr>
            <p:nvPr/>
          </p:nvGrpSpPr>
          <p:grpSpPr bwMode="auto">
            <a:xfrm>
              <a:off x="8207410" y="1707467"/>
              <a:ext cx="423942" cy="419012"/>
              <a:chOff x="3438" y="1721"/>
              <a:chExt cx="430" cy="425"/>
            </a:xfrm>
            <a:solidFill>
              <a:schemeClr val="tx2"/>
            </a:solidFill>
          </p:grpSpPr>
          <p:sp>
            <p:nvSpPr>
              <p:cNvPr id="28" name="Freeform 147">
                <a:extLst>
                  <a:ext uri="{FF2B5EF4-FFF2-40B4-BE49-F238E27FC236}">
                    <a16:creationId xmlns:a16="http://schemas.microsoft.com/office/drawing/2014/main" id="{ECD5566A-6A63-33D2-6EBE-A11753AAC9C6}"/>
                  </a:ext>
                </a:extLst>
              </p:cNvPr>
              <p:cNvSpPr>
                <a:spLocks noEditPoints="1"/>
              </p:cNvSpPr>
              <p:nvPr/>
            </p:nvSpPr>
            <p:spPr bwMode="auto">
              <a:xfrm>
                <a:off x="3440" y="2004"/>
                <a:ext cx="426" cy="142"/>
              </a:xfrm>
              <a:custGeom>
                <a:avLst/>
                <a:gdLst>
                  <a:gd name="T0" fmla="*/ 282 w 288"/>
                  <a:gd name="T1" fmla="*/ 96 h 96"/>
                  <a:gd name="T2" fmla="*/ 6 w 288"/>
                  <a:gd name="T3" fmla="*/ 96 h 96"/>
                  <a:gd name="T4" fmla="*/ 0 w 288"/>
                  <a:gd name="T5" fmla="*/ 90 h 96"/>
                  <a:gd name="T6" fmla="*/ 0 w 288"/>
                  <a:gd name="T7" fmla="*/ 6 h 96"/>
                  <a:gd name="T8" fmla="*/ 6 w 288"/>
                  <a:gd name="T9" fmla="*/ 0 h 96"/>
                  <a:gd name="T10" fmla="*/ 96 w 288"/>
                  <a:gd name="T11" fmla="*/ 0 h 96"/>
                  <a:gd name="T12" fmla="*/ 102 w 288"/>
                  <a:gd name="T13" fmla="*/ 6 h 96"/>
                  <a:gd name="T14" fmla="*/ 102 w 288"/>
                  <a:gd name="T15" fmla="*/ 18 h 96"/>
                  <a:gd name="T16" fmla="*/ 120 w 288"/>
                  <a:gd name="T17" fmla="*/ 36 h 96"/>
                  <a:gd name="T18" fmla="*/ 174 w 288"/>
                  <a:gd name="T19" fmla="*/ 36 h 96"/>
                  <a:gd name="T20" fmla="*/ 192 w 288"/>
                  <a:gd name="T21" fmla="*/ 18 h 96"/>
                  <a:gd name="T22" fmla="*/ 192 w 288"/>
                  <a:gd name="T23" fmla="*/ 6 h 96"/>
                  <a:gd name="T24" fmla="*/ 198 w 288"/>
                  <a:gd name="T25" fmla="*/ 0 h 96"/>
                  <a:gd name="T26" fmla="*/ 282 w 288"/>
                  <a:gd name="T27" fmla="*/ 0 h 96"/>
                  <a:gd name="T28" fmla="*/ 288 w 288"/>
                  <a:gd name="T29" fmla="*/ 6 h 96"/>
                  <a:gd name="T30" fmla="*/ 288 w 288"/>
                  <a:gd name="T31" fmla="*/ 90 h 96"/>
                  <a:gd name="T32" fmla="*/ 282 w 288"/>
                  <a:gd name="T33" fmla="*/ 96 h 96"/>
                  <a:gd name="T34" fmla="*/ 12 w 288"/>
                  <a:gd name="T35" fmla="*/ 84 h 96"/>
                  <a:gd name="T36" fmla="*/ 276 w 288"/>
                  <a:gd name="T37" fmla="*/ 84 h 96"/>
                  <a:gd name="T38" fmla="*/ 276 w 288"/>
                  <a:gd name="T39" fmla="*/ 12 h 96"/>
                  <a:gd name="T40" fmla="*/ 204 w 288"/>
                  <a:gd name="T41" fmla="*/ 12 h 96"/>
                  <a:gd name="T42" fmla="*/ 204 w 288"/>
                  <a:gd name="T43" fmla="*/ 18 h 96"/>
                  <a:gd name="T44" fmla="*/ 174 w 288"/>
                  <a:gd name="T45" fmla="*/ 48 h 96"/>
                  <a:gd name="T46" fmla="*/ 120 w 288"/>
                  <a:gd name="T47" fmla="*/ 48 h 96"/>
                  <a:gd name="T48" fmla="*/ 90 w 288"/>
                  <a:gd name="T49" fmla="*/ 18 h 96"/>
                  <a:gd name="T50" fmla="*/ 90 w 288"/>
                  <a:gd name="T51" fmla="*/ 12 h 96"/>
                  <a:gd name="T52" fmla="*/ 12 w 288"/>
                  <a:gd name="T53" fmla="*/ 12 h 96"/>
                  <a:gd name="T54" fmla="*/ 12 w 288"/>
                  <a:gd name="T55"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8" h="96">
                    <a:moveTo>
                      <a:pt x="282" y="96"/>
                    </a:moveTo>
                    <a:cubicBezTo>
                      <a:pt x="6" y="96"/>
                      <a:pt x="6" y="96"/>
                      <a:pt x="6" y="96"/>
                    </a:cubicBezTo>
                    <a:cubicBezTo>
                      <a:pt x="3" y="96"/>
                      <a:pt x="0" y="94"/>
                      <a:pt x="0" y="90"/>
                    </a:cubicBezTo>
                    <a:cubicBezTo>
                      <a:pt x="0" y="6"/>
                      <a:pt x="0" y="6"/>
                      <a:pt x="0" y="6"/>
                    </a:cubicBezTo>
                    <a:cubicBezTo>
                      <a:pt x="0" y="3"/>
                      <a:pt x="3" y="0"/>
                      <a:pt x="6" y="0"/>
                    </a:cubicBezTo>
                    <a:cubicBezTo>
                      <a:pt x="96" y="0"/>
                      <a:pt x="96" y="0"/>
                      <a:pt x="96" y="0"/>
                    </a:cubicBezTo>
                    <a:cubicBezTo>
                      <a:pt x="100" y="0"/>
                      <a:pt x="102" y="3"/>
                      <a:pt x="102" y="6"/>
                    </a:cubicBezTo>
                    <a:cubicBezTo>
                      <a:pt x="102" y="18"/>
                      <a:pt x="102" y="18"/>
                      <a:pt x="102" y="18"/>
                    </a:cubicBezTo>
                    <a:cubicBezTo>
                      <a:pt x="102" y="28"/>
                      <a:pt x="110" y="36"/>
                      <a:pt x="120" y="36"/>
                    </a:cubicBezTo>
                    <a:cubicBezTo>
                      <a:pt x="174" y="36"/>
                      <a:pt x="174" y="36"/>
                      <a:pt x="174" y="36"/>
                    </a:cubicBezTo>
                    <a:cubicBezTo>
                      <a:pt x="184" y="36"/>
                      <a:pt x="192" y="28"/>
                      <a:pt x="192" y="18"/>
                    </a:cubicBezTo>
                    <a:cubicBezTo>
                      <a:pt x="192" y="6"/>
                      <a:pt x="192" y="6"/>
                      <a:pt x="192" y="6"/>
                    </a:cubicBezTo>
                    <a:cubicBezTo>
                      <a:pt x="192" y="3"/>
                      <a:pt x="195" y="0"/>
                      <a:pt x="198" y="0"/>
                    </a:cubicBezTo>
                    <a:cubicBezTo>
                      <a:pt x="282" y="0"/>
                      <a:pt x="282" y="0"/>
                      <a:pt x="282" y="0"/>
                    </a:cubicBezTo>
                    <a:cubicBezTo>
                      <a:pt x="286" y="0"/>
                      <a:pt x="288" y="3"/>
                      <a:pt x="288" y="6"/>
                    </a:cubicBezTo>
                    <a:cubicBezTo>
                      <a:pt x="288" y="90"/>
                      <a:pt x="288" y="90"/>
                      <a:pt x="288" y="90"/>
                    </a:cubicBezTo>
                    <a:cubicBezTo>
                      <a:pt x="288" y="94"/>
                      <a:pt x="286" y="96"/>
                      <a:pt x="282" y="96"/>
                    </a:cubicBezTo>
                    <a:close/>
                    <a:moveTo>
                      <a:pt x="12" y="84"/>
                    </a:moveTo>
                    <a:cubicBezTo>
                      <a:pt x="276" y="84"/>
                      <a:pt x="276" y="84"/>
                      <a:pt x="276" y="84"/>
                    </a:cubicBezTo>
                    <a:cubicBezTo>
                      <a:pt x="276" y="12"/>
                      <a:pt x="276" y="12"/>
                      <a:pt x="276" y="12"/>
                    </a:cubicBezTo>
                    <a:cubicBezTo>
                      <a:pt x="204" y="12"/>
                      <a:pt x="204" y="12"/>
                      <a:pt x="204" y="12"/>
                    </a:cubicBezTo>
                    <a:cubicBezTo>
                      <a:pt x="204" y="18"/>
                      <a:pt x="204" y="18"/>
                      <a:pt x="204" y="18"/>
                    </a:cubicBezTo>
                    <a:cubicBezTo>
                      <a:pt x="204" y="35"/>
                      <a:pt x="191" y="48"/>
                      <a:pt x="174" y="48"/>
                    </a:cubicBezTo>
                    <a:cubicBezTo>
                      <a:pt x="120" y="48"/>
                      <a:pt x="120" y="48"/>
                      <a:pt x="120" y="48"/>
                    </a:cubicBezTo>
                    <a:cubicBezTo>
                      <a:pt x="104" y="48"/>
                      <a:pt x="90" y="35"/>
                      <a:pt x="90" y="18"/>
                    </a:cubicBezTo>
                    <a:cubicBezTo>
                      <a:pt x="90" y="12"/>
                      <a:pt x="90" y="12"/>
                      <a:pt x="90"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9" name="Freeform 148">
                <a:extLst>
                  <a:ext uri="{FF2B5EF4-FFF2-40B4-BE49-F238E27FC236}">
                    <a16:creationId xmlns:a16="http://schemas.microsoft.com/office/drawing/2014/main" id="{A3AA013E-0CEA-CCB9-EC1B-9DA7E1449E5B}"/>
                  </a:ext>
                </a:extLst>
              </p:cNvPr>
              <p:cNvSpPr>
                <a:spLocks/>
              </p:cNvSpPr>
              <p:nvPr/>
            </p:nvSpPr>
            <p:spPr bwMode="auto">
              <a:xfrm>
                <a:off x="3438" y="1898"/>
                <a:ext cx="144" cy="124"/>
              </a:xfrm>
              <a:custGeom>
                <a:avLst/>
                <a:gdLst>
                  <a:gd name="T0" fmla="*/ 7 w 97"/>
                  <a:gd name="T1" fmla="*/ 84 h 84"/>
                  <a:gd name="T2" fmla="*/ 4 w 97"/>
                  <a:gd name="T3" fmla="*/ 83 h 84"/>
                  <a:gd name="T4" fmla="*/ 2 w 97"/>
                  <a:gd name="T5" fmla="*/ 75 h 84"/>
                  <a:gd name="T6" fmla="*/ 44 w 97"/>
                  <a:gd name="T7" fmla="*/ 3 h 84"/>
                  <a:gd name="T8" fmla="*/ 49 w 97"/>
                  <a:gd name="T9" fmla="*/ 0 h 84"/>
                  <a:gd name="T10" fmla="*/ 91 w 97"/>
                  <a:gd name="T11" fmla="*/ 0 h 84"/>
                  <a:gd name="T12" fmla="*/ 97 w 97"/>
                  <a:gd name="T13" fmla="*/ 6 h 84"/>
                  <a:gd name="T14" fmla="*/ 91 w 97"/>
                  <a:gd name="T15" fmla="*/ 12 h 84"/>
                  <a:gd name="T16" fmla="*/ 53 w 97"/>
                  <a:gd name="T17" fmla="*/ 12 h 84"/>
                  <a:gd name="T18" fmla="*/ 12 w 97"/>
                  <a:gd name="T19" fmla="*/ 81 h 84"/>
                  <a:gd name="T20" fmla="*/ 7 w 97"/>
                  <a:gd name="T2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7" h="84">
                    <a:moveTo>
                      <a:pt x="7" y="84"/>
                    </a:moveTo>
                    <a:cubicBezTo>
                      <a:pt x="6" y="84"/>
                      <a:pt x="5" y="84"/>
                      <a:pt x="4" y="83"/>
                    </a:cubicBezTo>
                    <a:cubicBezTo>
                      <a:pt x="1" y="82"/>
                      <a:pt x="0" y="78"/>
                      <a:pt x="2" y="75"/>
                    </a:cubicBezTo>
                    <a:cubicBezTo>
                      <a:pt x="44" y="3"/>
                      <a:pt x="44" y="3"/>
                      <a:pt x="44" y="3"/>
                    </a:cubicBezTo>
                    <a:cubicBezTo>
                      <a:pt x="45" y="1"/>
                      <a:pt x="47" y="0"/>
                      <a:pt x="49" y="0"/>
                    </a:cubicBezTo>
                    <a:cubicBezTo>
                      <a:pt x="91" y="0"/>
                      <a:pt x="91" y="0"/>
                      <a:pt x="91" y="0"/>
                    </a:cubicBezTo>
                    <a:cubicBezTo>
                      <a:pt x="95" y="0"/>
                      <a:pt x="97" y="3"/>
                      <a:pt x="97" y="6"/>
                    </a:cubicBezTo>
                    <a:cubicBezTo>
                      <a:pt x="97" y="10"/>
                      <a:pt x="95" y="12"/>
                      <a:pt x="91" y="12"/>
                    </a:cubicBezTo>
                    <a:cubicBezTo>
                      <a:pt x="53" y="12"/>
                      <a:pt x="53" y="12"/>
                      <a:pt x="53" y="12"/>
                    </a:cubicBezTo>
                    <a:cubicBezTo>
                      <a:pt x="12" y="81"/>
                      <a:pt x="12" y="81"/>
                      <a:pt x="12" y="81"/>
                    </a:cubicBezTo>
                    <a:cubicBezTo>
                      <a:pt x="11" y="83"/>
                      <a:pt x="9" y="84"/>
                      <a:pt x="7"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0" name="Freeform 149">
                <a:extLst>
                  <a:ext uri="{FF2B5EF4-FFF2-40B4-BE49-F238E27FC236}">
                    <a16:creationId xmlns:a16="http://schemas.microsoft.com/office/drawing/2014/main" id="{6B323D94-ADFB-436C-4382-19A79A6E324E}"/>
                  </a:ext>
                </a:extLst>
              </p:cNvPr>
              <p:cNvSpPr>
                <a:spLocks/>
              </p:cNvSpPr>
              <p:nvPr/>
            </p:nvSpPr>
            <p:spPr bwMode="auto">
              <a:xfrm>
                <a:off x="3742" y="1898"/>
                <a:ext cx="126" cy="124"/>
              </a:xfrm>
              <a:custGeom>
                <a:avLst/>
                <a:gdLst>
                  <a:gd name="T0" fmla="*/ 78 w 85"/>
                  <a:gd name="T1" fmla="*/ 84 h 84"/>
                  <a:gd name="T2" fmla="*/ 73 w 85"/>
                  <a:gd name="T3" fmla="*/ 81 h 84"/>
                  <a:gd name="T4" fmla="*/ 33 w 85"/>
                  <a:gd name="T5" fmla="*/ 12 h 84"/>
                  <a:gd name="T6" fmla="*/ 6 w 85"/>
                  <a:gd name="T7" fmla="*/ 12 h 84"/>
                  <a:gd name="T8" fmla="*/ 0 w 85"/>
                  <a:gd name="T9" fmla="*/ 6 h 84"/>
                  <a:gd name="T10" fmla="*/ 6 w 85"/>
                  <a:gd name="T11" fmla="*/ 0 h 84"/>
                  <a:gd name="T12" fmla="*/ 36 w 85"/>
                  <a:gd name="T13" fmla="*/ 0 h 84"/>
                  <a:gd name="T14" fmla="*/ 41 w 85"/>
                  <a:gd name="T15" fmla="*/ 3 h 84"/>
                  <a:gd name="T16" fmla="*/ 83 w 85"/>
                  <a:gd name="T17" fmla="*/ 75 h 84"/>
                  <a:gd name="T18" fmla="*/ 81 w 85"/>
                  <a:gd name="T19" fmla="*/ 83 h 84"/>
                  <a:gd name="T20" fmla="*/ 78 w 85"/>
                  <a:gd name="T2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84">
                    <a:moveTo>
                      <a:pt x="78" y="84"/>
                    </a:moveTo>
                    <a:cubicBezTo>
                      <a:pt x="76" y="84"/>
                      <a:pt x="74" y="83"/>
                      <a:pt x="73" y="81"/>
                    </a:cubicBezTo>
                    <a:cubicBezTo>
                      <a:pt x="33" y="12"/>
                      <a:pt x="33" y="12"/>
                      <a:pt x="33" y="12"/>
                    </a:cubicBezTo>
                    <a:cubicBezTo>
                      <a:pt x="6" y="12"/>
                      <a:pt x="6" y="12"/>
                      <a:pt x="6" y="12"/>
                    </a:cubicBezTo>
                    <a:cubicBezTo>
                      <a:pt x="3" y="12"/>
                      <a:pt x="0" y="10"/>
                      <a:pt x="0" y="6"/>
                    </a:cubicBezTo>
                    <a:cubicBezTo>
                      <a:pt x="0" y="3"/>
                      <a:pt x="3" y="0"/>
                      <a:pt x="6" y="0"/>
                    </a:cubicBezTo>
                    <a:cubicBezTo>
                      <a:pt x="36" y="0"/>
                      <a:pt x="36" y="0"/>
                      <a:pt x="36" y="0"/>
                    </a:cubicBezTo>
                    <a:cubicBezTo>
                      <a:pt x="38" y="0"/>
                      <a:pt x="40" y="1"/>
                      <a:pt x="41" y="3"/>
                    </a:cubicBezTo>
                    <a:cubicBezTo>
                      <a:pt x="83" y="75"/>
                      <a:pt x="83" y="75"/>
                      <a:pt x="83" y="75"/>
                    </a:cubicBezTo>
                    <a:cubicBezTo>
                      <a:pt x="85" y="78"/>
                      <a:pt x="84" y="82"/>
                      <a:pt x="81" y="83"/>
                    </a:cubicBezTo>
                    <a:cubicBezTo>
                      <a:pt x="80" y="84"/>
                      <a:pt x="79"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1" name="Freeform 150">
                <a:extLst>
                  <a:ext uri="{FF2B5EF4-FFF2-40B4-BE49-F238E27FC236}">
                    <a16:creationId xmlns:a16="http://schemas.microsoft.com/office/drawing/2014/main" id="{852E9CFA-CE9B-3B5E-7B89-46F281CFCD48}"/>
                  </a:ext>
                </a:extLst>
              </p:cNvPr>
              <p:cNvSpPr>
                <a:spLocks/>
              </p:cNvSpPr>
              <p:nvPr/>
            </p:nvSpPr>
            <p:spPr bwMode="auto">
              <a:xfrm>
                <a:off x="3653" y="1721"/>
                <a:ext cx="18" cy="213"/>
              </a:xfrm>
              <a:custGeom>
                <a:avLst/>
                <a:gdLst>
                  <a:gd name="T0" fmla="*/ 6 w 12"/>
                  <a:gd name="T1" fmla="*/ 144 h 144"/>
                  <a:gd name="T2" fmla="*/ 0 w 12"/>
                  <a:gd name="T3" fmla="*/ 138 h 144"/>
                  <a:gd name="T4" fmla="*/ 0 w 12"/>
                  <a:gd name="T5" fmla="*/ 6 h 144"/>
                  <a:gd name="T6" fmla="*/ 6 w 12"/>
                  <a:gd name="T7" fmla="*/ 0 h 144"/>
                  <a:gd name="T8" fmla="*/ 12 w 12"/>
                  <a:gd name="T9" fmla="*/ 6 h 144"/>
                  <a:gd name="T10" fmla="*/ 12 w 12"/>
                  <a:gd name="T11" fmla="*/ 138 h 144"/>
                  <a:gd name="T12" fmla="*/ 6 w 12"/>
                  <a:gd name="T13" fmla="*/ 144 h 144"/>
                </a:gdLst>
                <a:ahLst/>
                <a:cxnLst>
                  <a:cxn ang="0">
                    <a:pos x="T0" y="T1"/>
                  </a:cxn>
                  <a:cxn ang="0">
                    <a:pos x="T2" y="T3"/>
                  </a:cxn>
                  <a:cxn ang="0">
                    <a:pos x="T4" y="T5"/>
                  </a:cxn>
                  <a:cxn ang="0">
                    <a:pos x="T6" y="T7"/>
                  </a:cxn>
                  <a:cxn ang="0">
                    <a:pos x="T8" y="T9"/>
                  </a:cxn>
                  <a:cxn ang="0">
                    <a:pos x="T10" y="T11"/>
                  </a:cxn>
                  <a:cxn ang="0">
                    <a:pos x="T12" y="T13"/>
                  </a:cxn>
                </a:cxnLst>
                <a:rect l="0" t="0" r="r" b="b"/>
                <a:pathLst>
                  <a:path w="12" h="144">
                    <a:moveTo>
                      <a:pt x="6" y="144"/>
                    </a:moveTo>
                    <a:cubicBezTo>
                      <a:pt x="3" y="144"/>
                      <a:pt x="0" y="142"/>
                      <a:pt x="0" y="138"/>
                    </a:cubicBezTo>
                    <a:cubicBezTo>
                      <a:pt x="0" y="6"/>
                      <a:pt x="0" y="6"/>
                      <a:pt x="0" y="6"/>
                    </a:cubicBezTo>
                    <a:cubicBezTo>
                      <a:pt x="0" y="3"/>
                      <a:pt x="3" y="0"/>
                      <a:pt x="6" y="0"/>
                    </a:cubicBezTo>
                    <a:cubicBezTo>
                      <a:pt x="10" y="0"/>
                      <a:pt x="12" y="3"/>
                      <a:pt x="12" y="6"/>
                    </a:cubicBezTo>
                    <a:cubicBezTo>
                      <a:pt x="12" y="138"/>
                      <a:pt x="12" y="138"/>
                      <a:pt x="12" y="138"/>
                    </a:cubicBezTo>
                    <a:cubicBezTo>
                      <a:pt x="12" y="142"/>
                      <a:pt x="10" y="144"/>
                      <a:pt x="6"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1264" name="Freeform 151">
                <a:extLst>
                  <a:ext uri="{FF2B5EF4-FFF2-40B4-BE49-F238E27FC236}">
                    <a16:creationId xmlns:a16="http://schemas.microsoft.com/office/drawing/2014/main" id="{172D3FA2-CF89-EA91-64EC-1A40D20AFDD7}"/>
                  </a:ext>
                </a:extLst>
              </p:cNvPr>
              <p:cNvSpPr>
                <a:spLocks/>
              </p:cNvSpPr>
              <p:nvPr/>
            </p:nvSpPr>
            <p:spPr bwMode="auto">
              <a:xfrm>
                <a:off x="3582" y="1721"/>
                <a:ext cx="161" cy="90"/>
              </a:xfrm>
              <a:custGeom>
                <a:avLst/>
                <a:gdLst>
                  <a:gd name="T0" fmla="*/ 102 w 109"/>
                  <a:gd name="T1" fmla="*/ 60 h 61"/>
                  <a:gd name="T2" fmla="*/ 98 w 109"/>
                  <a:gd name="T3" fmla="*/ 58 h 61"/>
                  <a:gd name="T4" fmla="*/ 54 w 109"/>
                  <a:gd name="T5" fmla="*/ 15 h 61"/>
                  <a:gd name="T6" fmla="*/ 10 w 109"/>
                  <a:gd name="T7" fmla="*/ 58 h 61"/>
                  <a:gd name="T8" fmla="*/ 2 w 109"/>
                  <a:gd name="T9" fmla="*/ 58 h 61"/>
                  <a:gd name="T10" fmla="*/ 2 w 109"/>
                  <a:gd name="T11" fmla="*/ 50 h 61"/>
                  <a:gd name="T12" fmla="*/ 50 w 109"/>
                  <a:gd name="T13" fmla="*/ 2 h 61"/>
                  <a:gd name="T14" fmla="*/ 58 w 109"/>
                  <a:gd name="T15" fmla="*/ 2 h 61"/>
                  <a:gd name="T16" fmla="*/ 106 w 109"/>
                  <a:gd name="T17" fmla="*/ 50 h 61"/>
                  <a:gd name="T18" fmla="*/ 106 w 109"/>
                  <a:gd name="T19" fmla="*/ 58 h 61"/>
                  <a:gd name="T20" fmla="*/ 102 w 109"/>
                  <a:gd name="T21" fmla="*/ 6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61">
                    <a:moveTo>
                      <a:pt x="102" y="60"/>
                    </a:moveTo>
                    <a:cubicBezTo>
                      <a:pt x="101" y="60"/>
                      <a:pt x="99" y="60"/>
                      <a:pt x="98" y="58"/>
                    </a:cubicBezTo>
                    <a:cubicBezTo>
                      <a:pt x="54" y="15"/>
                      <a:pt x="54" y="15"/>
                      <a:pt x="54" y="15"/>
                    </a:cubicBezTo>
                    <a:cubicBezTo>
                      <a:pt x="10" y="58"/>
                      <a:pt x="10" y="58"/>
                      <a:pt x="10" y="58"/>
                    </a:cubicBezTo>
                    <a:cubicBezTo>
                      <a:pt x="8" y="61"/>
                      <a:pt x="4" y="61"/>
                      <a:pt x="2" y="58"/>
                    </a:cubicBezTo>
                    <a:cubicBezTo>
                      <a:pt x="0" y="56"/>
                      <a:pt x="0" y="52"/>
                      <a:pt x="2" y="50"/>
                    </a:cubicBezTo>
                    <a:cubicBezTo>
                      <a:pt x="50" y="2"/>
                      <a:pt x="50" y="2"/>
                      <a:pt x="50" y="2"/>
                    </a:cubicBezTo>
                    <a:cubicBezTo>
                      <a:pt x="52" y="0"/>
                      <a:pt x="56" y="0"/>
                      <a:pt x="58" y="2"/>
                    </a:cubicBezTo>
                    <a:cubicBezTo>
                      <a:pt x="106" y="50"/>
                      <a:pt x="106" y="50"/>
                      <a:pt x="106" y="50"/>
                    </a:cubicBezTo>
                    <a:cubicBezTo>
                      <a:pt x="109" y="52"/>
                      <a:pt x="109" y="56"/>
                      <a:pt x="106" y="58"/>
                    </a:cubicBezTo>
                    <a:cubicBezTo>
                      <a:pt x="105" y="60"/>
                      <a:pt x="104" y="60"/>
                      <a:pt x="102"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grpSp>
        <p:nvGrpSpPr>
          <p:cNvPr id="11265" name="Grupo 11264">
            <a:extLst>
              <a:ext uri="{FF2B5EF4-FFF2-40B4-BE49-F238E27FC236}">
                <a16:creationId xmlns:a16="http://schemas.microsoft.com/office/drawing/2014/main" id="{CCBA2CC0-76AD-CA9D-B4F7-FDADC5D50060}"/>
              </a:ext>
            </a:extLst>
          </p:cNvPr>
          <p:cNvGrpSpPr/>
          <p:nvPr/>
        </p:nvGrpSpPr>
        <p:grpSpPr>
          <a:xfrm>
            <a:off x="3375020" y="2567541"/>
            <a:ext cx="795204" cy="795204"/>
            <a:chOff x="3533036" y="1519371"/>
            <a:chExt cx="795204" cy="795204"/>
          </a:xfrm>
        </p:grpSpPr>
        <p:sp>
          <p:nvSpPr>
            <p:cNvPr id="11267" name="Elipse 11266">
              <a:extLst>
                <a:ext uri="{FF2B5EF4-FFF2-40B4-BE49-F238E27FC236}">
                  <a16:creationId xmlns:a16="http://schemas.microsoft.com/office/drawing/2014/main" id="{78942BE5-1A83-8010-5FD6-FD8F68E1821F}"/>
                </a:ext>
              </a:extLst>
            </p:cNvPr>
            <p:cNvSpPr/>
            <p:nvPr/>
          </p:nvSpPr>
          <p:spPr>
            <a:xfrm>
              <a:off x="3533036" y="1519371"/>
              <a:ext cx="795204" cy="79520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nvGrpSpPr>
            <p:cNvPr id="11268" name="Group 19">
              <a:extLst>
                <a:ext uri="{FF2B5EF4-FFF2-40B4-BE49-F238E27FC236}">
                  <a16:creationId xmlns:a16="http://schemas.microsoft.com/office/drawing/2014/main" id="{805D9847-9859-2574-DFCF-93D617B3EC4F}"/>
                </a:ext>
              </a:extLst>
            </p:cNvPr>
            <p:cNvGrpSpPr>
              <a:grpSpLocks noChangeAspect="1"/>
            </p:cNvGrpSpPr>
            <p:nvPr/>
          </p:nvGrpSpPr>
          <p:grpSpPr bwMode="auto">
            <a:xfrm>
              <a:off x="3720618" y="1707932"/>
              <a:ext cx="420042" cy="418082"/>
              <a:chOff x="2402" y="437"/>
              <a:chExt cx="429" cy="427"/>
            </a:xfrm>
            <a:solidFill>
              <a:schemeClr val="tx2"/>
            </a:solidFill>
          </p:grpSpPr>
          <p:sp>
            <p:nvSpPr>
              <p:cNvPr id="11269" name="Freeform 20">
                <a:extLst>
                  <a:ext uri="{FF2B5EF4-FFF2-40B4-BE49-F238E27FC236}">
                    <a16:creationId xmlns:a16="http://schemas.microsoft.com/office/drawing/2014/main" id="{F3EF6864-2795-AD5A-95E9-85A42B932074}"/>
                  </a:ext>
                </a:extLst>
              </p:cNvPr>
              <p:cNvSpPr>
                <a:spLocks noEditPoints="1"/>
              </p:cNvSpPr>
              <p:nvPr/>
            </p:nvSpPr>
            <p:spPr bwMode="auto">
              <a:xfrm>
                <a:off x="2403" y="721"/>
                <a:ext cx="427" cy="143"/>
              </a:xfrm>
              <a:custGeom>
                <a:avLst/>
                <a:gdLst>
                  <a:gd name="T0" fmla="*/ 282 w 288"/>
                  <a:gd name="T1" fmla="*/ 96 h 96"/>
                  <a:gd name="T2" fmla="*/ 6 w 288"/>
                  <a:gd name="T3" fmla="*/ 96 h 96"/>
                  <a:gd name="T4" fmla="*/ 0 w 288"/>
                  <a:gd name="T5" fmla="*/ 90 h 96"/>
                  <a:gd name="T6" fmla="*/ 0 w 288"/>
                  <a:gd name="T7" fmla="*/ 6 h 96"/>
                  <a:gd name="T8" fmla="*/ 6 w 288"/>
                  <a:gd name="T9" fmla="*/ 0 h 96"/>
                  <a:gd name="T10" fmla="*/ 96 w 288"/>
                  <a:gd name="T11" fmla="*/ 0 h 96"/>
                  <a:gd name="T12" fmla="*/ 102 w 288"/>
                  <a:gd name="T13" fmla="*/ 6 h 96"/>
                  <a:gd name="T14" fmla="*/ 102 w 288"/>
                  <a:gd name="T15" fmla="*/ 18 h 96"/>
                  <a:gd name="T16" fmla="*/ 120 w 288"/>
                  <a:gd name="T17" fmla="*/ 36 h 96"/>
                  <a:gd name="T18" fmla="*/ 174 w 288"/>
                  <a:gd name="T19" fmla="*/ 36 h 96"/>
                  <a:gd name="T20" fmla="*/ 192 w 288"/>
                  <a:gd name="T21" fmla="*/ 18 h 96"/>
                  <a:gd name="T22" fmla="*/ 192 w 288"/>
                  <a:gd name="T23" fmla="*/ 6 h 96"/>
                  <a:gd name="T24" fmla="*/ 198 w 288"/>
                  <a:gd name="T25" fmla="*/ 0 h 96"/>
                  <a:gd name="T26" fmla="*/ 282 w 288"/>
                  <a:gd name="T27" fmla="*/ 0 h 96"/>
                  <a:gd name="T28" fmla="*/ 288 w 288"/>
                  <a:gd name="T29" fmla="*/ 6 h 96"/>
                  <a:gd name="T30" fmla="*/ 288 w 288"/>
                  <a:gd name="T31" fmla="*/ 90 h 96"/>
                  <a:gd name="T32" fmla="*/ 282 w 288"/>
                  <a:gd name="T33" fmla="*/ 96 h 96"/>
                  <a:gd name="T34" fmla="*/ 12 w 288"/>
                  <a:gd name="T35" fmla="*/ 84 h 96"/>
                  <a:gd name="T36" fmla="*/ 276 w 288"/>
                  <a:gd name="T37" fmla="*/ 84 h 96"/>
                  <a:gd name="T38" fmla="*/ 276 w 288"/>
                  <a:gd name="T39" fmla="*/ 12 h 96"/>
                  <a:gd name="T40" fmla="*/ 204 w 288"/>
                  <a:gd name="T41" fmla="*/ 12 h 96"/>
                  <a:gd name="T42" fmla="*/ 204 w 288"/>
                  <a:gd name="T43" fmla="*/ 18 h 96"/>
                  <a:gd name="T44" fmla="*/ 174 w 288"/>
                  <a:gd name="T45" fmla="*/ 48 h 96"/>
                  <a:gd name="T46" fmla="*/ 120 w 288"/>
                  <a:gd name="T47" fmla="*/ 48 h 96"/>
                  <a:gd name="T48" fmla="*/ 90 w 288"/>
                  <a:gd name="T49" fmla="*/ 18 h 96"/>
                  <a:gd name="T50" fmla="*/ 90 w 288"/>
                  <a:gd name="T51" fmla="*/ 12 h 96"/>
                  <a:gd name="T52" fmla="*/ 12 w 288"/>
                  <a:gd name="T53" fmla="*/ 12 h 96"/>
                  <a:gd name="T54" fmla="*/ 12 w 288"/>
                  <a:gd name="T55"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8" h="96">
                    <a:moveTo>
                      <a:pt x="282" y="96"/>
                    </a:moveTo>
                    <a:cubicBezTo>
                      <a:pt x="6" y="96"/>
                      <a:pt x="6" y="96"/>
                      <a:pt x="6" y="96"/>
                    </a:cubicBezTo>
                    <a:cubicBezTo>
                      <a:pt x="3" y="96"/>
                      <a:pt x="0" y="93"/>
                      <a:pt x="0" y="90"/>
                    </a:cubicBezTo>
                    <a:cubicBezTo>
                      <a:pt x="0" y="6"/>
                      <a:pt x="0" y="6"/>
                      <a:pt x="0" y="6"/>
                    </a:cubicBezTo>
                    <a:cubicBezTo>
                      <a:pt x="0" y="3"/>
                      <a:pt x="3" y="0"/>
                      <a:pt x="6" y="0"/>
                    </a:cubicBezTo>
                    <a:cubicBezTo>
                      <a:pt x="96" y="0"/>
                      <a:pt x="96" y="0"/>
                      <a:pt x="96" y="0"/>
                    </a:cubicBezTo>
                    <a:cubicBezTo>
                      <a:pt x="99" y="0"/>
                      <a:pt x="102" y="3"/>
                      <a:pt x="102" y="6"/>
                    </a:cubicBezTo>
                    <a:cubicBezTo>
                      <a:pt x="102" y="18"/>
                      <a:pt x="102" y="18"/>
                      <a:pt x="102" y="18"/>
                    </a:cubicBezTo>
                    <a:cubicBezTo>
                      <a:pt x="102" y="28"/>
                      <a:pt x="110" y="36"/>
                      <a:pt x="120" y="36"/>
                    </a:cubicBezTo>
                    <a:cubicBezTo>
                      <a:pt x="174" y="36"/>
                      <a:pt x="174" y="36"/>
                      <a:pt x="174" y="36"/>
                    </a:cubicBezTo>
                    <a:cubicBezTo>
                      <a:pt x="184" y="36"/>
                      <a:pt x="192" y="28"/>
                      <a:pt x="192" y="18"/>
                    </a:cubicBezTo>
                    <a:cubicBezTo>
                      <a:pt x="192" y="6"/>
                      <a:pt x="192" y="6"/>
                      <a:pt x="192" y="6"/>
                    </a:cubicBezTo>
                    <a:cubicBezTo>
                      <a:pt x="192" y="3"/>
                      <a:pt x="195" y="0"/>
                      <a:pt x="198" y="0"/>
                    </a:cubicBezTo>
                    <a:cubicBezTo>
                      <a:pt x="282" y="0"/>
                      <a:pt x="282" y="0"/>
                      <a:pt x="282" y="0"/>
                    </a:cubicBezTo>
                    <a:cubicBezTo>
                      <a:pt x="285" y="0"/>
                      <a:pt x="288" y="3"/>
                      <a:pt x="288" y="6"/>
                    </a:cubicBezTo>
                    <a:cubicBezTo>
                      <a:pt x="288" y="90"/>
                      <a:pt x="288" y="90"/>
                      <a:pt x="288" y="90"/>
                    </a:cubicBezTo>
                    <a:cubicBezTo>
                      <a:pt x="288" y="93"/>
                      <a:pt x="285" y="96"/>
                      <a:pt x="282" y="96"/>
                    </a:cubicBezTo>
                    <a:close/>
                    <a:moveTo>
                      <a:pt x="12" y="84"/>
                    </a:moveTo>
                    <a:cubicBezTo>
                      <a:pt x="276" y="84"/>
                      <a:pt x="276" y="84"/>
                      <a:pt x="276" y="84"/>
                    </a:cubicBezTo>
                    <a:cubicBezTo>
                      <a:pt x="276" y="12"/>
                      <a:pt x="276" y="12"/>
                      <a:pt x="276" y="12"/>
                    </a:cubicBezTo>
                    <a:cubicBezTo>
                      <a:pt x="204" y="12"/>
                      <a:pt x="204" y="12"/>
                      <a:pt x="204" y="12"/>
                    </a:cubicBezTo>
                    <a:cubicBezTo>
                      <a:pt x="204" y="18"/>
                      <a:pt x="204" y="18"/>
                      <a:pt x="204" y="18"/>
                    </a:cubicBezTo>
                    <a:cubicBezTo>
                      <a:pt x="204" y="35"/>
                      <a:pt x="190" y="48"/>
                      <a:pt x="174" y="48"/>
                    </a:cubicBezTo>
                    <a:cubicBezTo>
                      <a:pt x="120" y="48"/>
                      <a:pt x="120" y="48"/>
                      <a:pt x="120" y="48"/>
                    </a:cubicBezTo>
                    <a:cubicBezTo>
                      <a:pt x="103" y="48"/>
                      <a:pt x="90" y="35"/>
                      <a:pt x="90" y="18"/>
                    </a:cubicBezTo>
                    <a:cubicBezTo>
                      <a:pt x="90" y="12"/>
                      <a:pt x="90" y="12"/>
                      <a:pt x="90"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1270" name="Freeform 21">
                <a:extLst>
                  <a:ext uri="{FF2B5EF4-FFF2-40B4-BE49-F238E27FC236}">
                    <a16:creationId xmlns:a16="http://schemas.microsoft.com/office/drawing/2014/main" id="{8A195884-6558-6BAC-E8A9-ED06043A1AF8}"/>
                  </a:ext>
                </a:extLst>
              </p:cNvPr>
              <p:cNvSpPr>
                <a:spLocks/>
              </p:cNvSpPr>
              <p:nvPr/>
            </p:nvSpPr>
            <p:spPr bwMode="auto">
              <a:xfrm>
                <a:off x="2402" y="615"/>
                <a:ext cx="126" cy="124"/>
              </a:xfrm>
              <a:custGeom>
                <a:avLst/>
                <a:gdLst>
                  <a:gd name="T0" fmla="*/ 7 w 85"/>
                  <a:gd name="T1" fmla="*/ 84 h 84"/>
                  <a:gd name="T2" fmla="*/ 4 w 85"/>
                  <a:gd name="T3" fmla="*/ 83 h 84"/>
                  <a:gd name="T4" fmla="*/ 2 w 85"/>
                  <a:gd name="T5" fmla="*/ 75 h 84"/>
                  <a:gd name="T6" fmla="*/ 44 w 85"/>
                  <a:gd name="T7" fmla="*/ 3 h 84"/>
                  <a:gd name="T8" fmla="*/ 49 w 85"/>
                  <a:gd name="T9" fmla="*/ 0 h 84"/>
                  <a:gd name="T10" fmla="*/ 79 w 85"/>
                  <a:gd name="T11" fmla="*/ 0 h 84"/>
                  <a:gd name="T12" fmla="*/ 85 w 85"/>
                  <a:gd name="T13" fmla="*/ 6 h 84"/>
                  <a:gd name="T14" fmla="*/ 79 w 85"/>
                  <a:gd name="T15" fmla="*/ 12 h 84"/>
                  <a:gd name="T16" fmla="*/ 52 w 85"/>
                  <a:gd name="T17" fmla="*/ 12 h 84"/>
                  <a:gd name="T18" fmla="*/ 12 w 85"/>
                  <a:gd name="T19" fmla="*/ 81 h 84"/>
                  <a:gd name="T20" fmla="*/ 7 w 85"/>
                  <a:gd name="T2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84">
                    <a:moveTo>
                      <a:pt x="7" y="84"/>
                    </a:moveTo>
                    <a:cubicBezTo>
                      <a:pt x="6" y="84"/>
                      <a:pt x="5" y="84"/>
                      <a:pt x="4" y="83"/>
                    </a:cubicBezTo>
                    <a:cubicBezTo>
                      <a:pt x="1" y="82"/>
                      <a:pt x="0" y="78"/>
                      <a:pt x="2" y="75"/>
                    </a:cubicBezTo>
                    <a:cubicBezTo>
                      <a:pt x="44" y="3"/>
                      <a:pt x="44" y="3"/>
                      <a:pt x="44" y="3"/>
                    </a:cubicBezTo>
                    <a:cubicBezTo>
                      <a:pt x="45" y="1"/>
                      <a:pt x="47" y="0"/>
                      <a:pt x="49" y="0"/>
                    </a:cubicBezTo>
                    <a:cubicBezTo>
                      <a:pt x="79" y="0"/>
                      <a:pt x="79" y="0"/>
                      <a:pt x="79" y="0"/>
                    </a:cubicBezTo>
                    <a:cubicBezTo>
                      <a:pt x="82" y="0"/>
                      <a:pt x="85" y="3"/>
                      <a:pt x="85" y="6"/>
                    </a:cubicBezTo>
                    <a:cubicBezTo>
                      <a:pt x="85" y="9"/>
                      <a:pt x="82" y="12"/>
                      <a:pt x="79" y="12"/>
                    </a:cubicBezTo>
                    <a:cubicBezTo>
                      <a:pt x="52" y="12"/>
                      <a:pt x="52" y="12"/>
                      <a:pt x="52" y="12"/>
                    </a:cubicBezTo>
                    <a:cubicBezTo>
                      <a:pt x="12" y="81"/>
                      <a:pt x="12" y="81"/>
                      <a:pt x="12" y="81"/>
                    </a:cubicBezTo>
                    <a:cubicBezTo>
                      <a:pt x="11" y="83"/>
                      <a:pt x="9" y="84"/>
                      <a:pt x="7"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1271" name="Freeform 22">
                <a:extLst>
                  <a:ext uri="{FF2B5EF4-FFF2-40B4-BE49-F238E27FC236}">
                    <a16:creationId xmlns:a16="http://schemas.microsoft.com/office/drawing/2014/main" id="{41FF5448-F4DE-82BD-D85B-47B72E2C1B0F}"/>
                  </a:ext>
                </a:extLst>
              </p:cNvPr>
              <p:cNvSpPr>
                <a:spLocks/>
              </p:cNvSpPr>
              <p:nvPr/>
            </p:nvSpPr>
            <p:spPr bwMode="auto">
              <a:xfrm>
                <a:off x="2696" y="615"/>
                <a:ext cx="135" cy="124"/>
              </a:xfrm>
              <a:custGeom>
                <a:avLst/>
                <a:gdLst>
                  <a:gd name="T0" fmla="*/ 84 w 91"/>
                  <a:gd name="T1" fmla="*/ 84 h 84"/>
                  <a:gd name="T2" fmla="*/ 79 w 91"/>
                  <a:gd name="T3" fmla="*/ 81 h 84"/>
                  <a:gd name="T4" fmla="*/ 38 w 91"/>
                  <a:gd name="T5" fmla="*/ 12 h 84"/>
                  <a:gd name="T6" fmla="*/ 6 w 91"/>
                  <a:gd name="T7" fmla="*/ 12 h 84"/>
                  <a:gd name="T8" fmla="*/ 0 w 91"/>
                  <a:gd name="T9" fmla="*/ 6 h 84"/>
                  <a:gd name="T10" fmla="*/ 6 w 91"/>
                  <a:gd name="T11" fmla="*/ 0 h 84"/>
                  <a:gd name="T12" fmla="*/ 42 w 91"/>
                  <a:gd name="T13" fmla="*/ 0 h 84"/>
                  <a:gd name="T14" fmla="*/ 47 w 91"/>
                  <a:gd name="T15" fmla="*/ 3 h 84"/>
                  <a:gd name="T16" fmla="*/ 89 w 91"/>
                  <a:gd name="T17" fmla="*/ 75 h 84"/>
                  <a:gd name="T18" fmla="*/ 87 w 91"/>
                  <a:gd name="T19" fmla="*/ 83 h 84"/>
                  <a:gd name="T20" fmla="*/ 84 w 91"/>
                  <a:gd name="T2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84">
                    <a:moveTo>
                      <a:pt x="84" y="84"/>
                    </a:moveTo>
                    <a:cubicBezTo>
                      <a:pt x="82" y="84"/>
                      <a:pt x="80" y="83"/>
                      <a:pt x="79" y="81"/>
                    </a:cubicBezTo>
                    <a:cubicBezTo>
                      <a:pt x="38" y="12"/>
                      <a:pt x="38" y="12"/>
                      <a:pt x="38" y="12"/>
                    </a:cubicBezTo>
                    <a:cubicBezTo>
                      <a:pt x="6" y="12"/>
                      <a:pt x="6" y="12"/>
                      <a:pt x="6" y="12"/>
                    </a:cubicBezTo>
                    <a:cubicBezTo>
                      <a:pt x="3" y="12"/>
                      <a:pt x="0" y="9"/>
                      <a:pt x="0" y="6"/>
                    </a:cubicBezTo>
                    <a:cubicBezTo>
                      <a:pt x="0" y="3"/>
                      <a:pt x="3" y="0"/>
                      <a:pt x="6" y="0"/>
                    </a:cubicBezTo>
                    <a:cubicBezTo>
                      <a:pt x="42" y="0"/>
                      <a:pt x="42" y="0"/>
                      <a:pt x="42" y="0"/>
                    </a:cubicBezTo>
                    <a:cubicBezTo>
                      <a:pt x="44" y="0"/>
                      <a:pt x="46" y="1"/>
                      <a:pt x="47" y="3"/>
                    </a:cubicBezTo>
                    <a:cubicBezTo>
                      <a:pt x="89" y="75"/>
                      <a:pt x="89" y="75"/>
                      <a:pt x="89" y="75"/>
                    </a:cubicBezTo>
                    <a:cubicBezTo>
                      <a:pt x="91" y="78"/>
                      <a:pt x="90" y="82"/>
                      <a:pt x="87" y="83"/>
                    </a:cubicBezTo>
                    <a:cubicBezTo>
                      <a:pt x="86" y="84"/>
                      <a:pt x="85" y="84"/>
                      <a:pt x="8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1272" name="Freeform 23">
                <a:extLst>
                  <a:ext uri="{FF2B5EF4-FFF2-40B4-BE49-F238E27FC236}">
                    <a16:creationId xmlns:a16="http://schemas.microsoft.com/office/drawing/2014/main" id="{40400E15-1FD3-E92A-2DCE-13A5E728840C}"/>
                  </a:ext>
                </a:extLst>
              </p:cNvPr>
              <p:cNvSpPr>
                <a:spLocks/>
              </p:cNvSpPr>
              <p:nvPr/>
            </p:nvSpPr>
            <p:spPr bwMode="auto">
              <a:xfrm>
                <a:off x="2599" y="437"/>
                <a:ext cx="18" cy="213"/>
              </a:xfrm>
              <a:custGeom>
                <a:avLst/>
                <a:gdLst>
                  <a:gd name="T0" fmla="*/ 6 w 12"/>
                  <a:gd name="T1" fmla="*/ 144 h 144"/>
                  <a:gd name="T2" fmla="*/ 0 w 12"/>
                  <a:gd name="T3" fmla="*/ 138 h 144"/>
                  <a:gd name="T4" fmla="*/ 0 w 12"/>
                  <a:gd name="T5" fmla="*/ 6 h 144"/>
                  <a:gd name="T6" fmla="*/ 6 w 12"/>
                  <a:gd name="T7" fmla="*/ 0 h 144"/>
                  <a:gd name="T8" fmla="*/ 12 w 12"/>
                  <a:gd name="T9" fmla="*/ 6 h 144"/>
                  <a:gd name="T10" fmla="*/ 12 w 12"/>
                  <a:gd name="T11" fmla="*/ 138 h 144"/>
                  <a:gd name="T12" fmla="*/ 6 w 12"/>
                  <a:gd name="T13" fmla="*/ 144 h 144"/>
                </a:gdLst>
                <a:ahLst/>
                <a:cxnLst>
                  <a:cxn ang="0">
                    <a:pos x="T0" y="T1"/>
                  </a:cxn>
                  <a:cxn ang="0">
                    <a:pos x="T2" y="T3"/>
                  </a:cxn>
                  <a:cxn ang="0">
                    <a:pos x="T4" y="T5"/>
                  </a:cxn>
                  <a:cxn ang="0">
                    <a:pos x="T6" y="T7"/>
                  </a:cxn>
                  <a:cxn ang="0">
                    <a:pos x="T8" y="T9"/>
                  </a:cxn>
                  <a:cxn ang="0">
                    <a:pos x="T10" y="T11"/>
                  </a:cxn>
                  <a:cxn ang="0">
                    <a:pos x="T12" y="T13"/>
                  </a:cxn>
                </a:cxnLst>
                <a:rect l="0" t="0" r="r" b="b"/>
                <a:pathLst>
                  <a:path w="12" h="144">
                    <a:moveTo>
                      <a:pt x="6" y="144"/>
                    </a:moveTo>
                    <a:cubicBezTo>
                      <a:pt x="3" y="144"/>
                      <a:pt x="0" y="141"/>
                      <a:pt x="0" y="138"/>
                    </a:cubicBezTo>
                    <a:cubicBezTo>
                      <a:pt x="0" y="6"/>
                      <a:pt x="0" y="6"/>
                      <a:pt x="0" y="6"/>
                    </a:cubicBezTo>
                    <a:cubicBezTo>
                      <a:pt x="0" y="3"/>
                      <a:pt x="3" y="0"/>
                      <a:pt x="6" y="0"/>
                    </a:cubicBezTo>
                    <a:cubicBezTo>
                      <a:pt x="9" y="0"/>
                      <a:pt x="12" y="3"/>
                      <a:pt x="12" y="6"/>
                    </a:cubicBezTo>
                    <a:cubicBezTo>
                      <a:pt x="12" y="138"/>
                      <a:pt x="12" y="138"/>
                      <a:pt x="12" y="138"/>
                    </a:cubicBezTo>
                    <a:cubicBezTo>
                      <a:pt x="12" y="141"/>
                      <a:pt x="9" y="144"/>
                      <a:pt x="6"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1273" name="Freeform 24">
                <a:extLst>
                  <a:ext uri="{FF2B5EF4-FFF2-40B4-BE49-F238E27FC236}">
                    <a16:creationId xmlns:a16="http://schemas.microsoft.com/office/drawing/2014/main" id="{52CECD86-C1C2-5E93-E1B5-E05DF7FC073D}"/>
                  </a:ext>
                </a:extLst>
              </p:cNvPr>
              <p:cNvSpPr>
                <a:spLocks/>
              </p:cNvSpPr>
              <p:nvPr/>
            </p:nvSpPr>
            <p:spPr bwMode="auto">
              <a:xfrm>
                <a:off x="2526" y="560"/>
                <a:ext cx="162" cy="90"/>
              </a:xfrm>
              <a:custGeom>
                <a:avLst/>
                <a:gdLst>
                  <a:gd name="T0" fmla="*/ 55 w 109"/>
                  <a:gd name="T1" fmla="*/ 61 h 61"/>
                  <a:gd name="T2" fmla="*/ 51 w 109"/>
                  <a:gd name="T3" fmla="*/ 59 h 61"/>
                  <a:gd name="T4" fmla="*/ 3 w 109"/>
                  <a:gd name="T5" fmla="*/ 11 h 61"/>
                  <a:gd name="T6" fmla="*/ 3 w 109"/>
                  <a:gd name="T7" fmla="*/ 3 h 61"/>
                  <a:gd name="T8" fmla="*/ 11 w 109"/>
                  <a:gd name="T9" fmla="*/ 3 h 61"/>
                  <a:gd name="T10" fmla="*/ 55 w 109"/>
                  <a:gd name="T11" fmla="*/ 47 h 61"/>
                  <a:gd name="T12" fmla="*/ 99 w 109"/>
                  <a:gd name="T13" fmla="*/ 3 h 61"/>
                  <a:gd name="T14" fmla="*/ 107 w 109"/>
                  <a:gd name="T15" fmla="*/ 3 h 61"/>
                  <a:gd name="T16" fmla="*/ 107 w 109"/>
                  <a:gd name="T17" fmla="*/ 11 h 61"/>
                  <a:gd name="T18" fmla="*/ 59 w 109"/>
                  <a:gd name="T19" fmla="*/ 59 h 61"/>
                  <a:gd name="T20" fmla="*/ 55 w 109"/>
                  <a:gd name="T21" fmla="*/ 6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61">
                    <a:moveTo>
                      <a:pt x="55" y="61"/>
                    </a:moveTo>
                    <a:cubicBezTo>
                      <a:pt x="53" y="61"/>
                      <a:pt x="52" y="60"/>
                      <a:pt x="51" y="59"/>
                    </a:cubicBezTo>
                    <a:cubicBezTo>
                      <a:pt x="3" y="11"/>
                      <a:pt x="3" y="11"/>
                      <a:pt x="3" y="11"/>
                    </a:cubicBezTo>
                    <a:cubicBezTo>
                      <a:pt x="0" y="9"/>
                      <a:pt x="0" y="5"/>
                      <a:pt x="3" y="3"/>
                    </a:cubicBezTo>
                    <a:cubicBezTo>
                      <a:pt x="5" y="0"/>
                      <a:pt x="9" y="0"/>
                      <a:pt x="11" y="3"/>
                    </a:cubicBezTo>
                    <a:cubicBezTo>
                      <a:pt x="55" y="47"/>
                      <a:pt x="55" y="47"/>
                      <a:pt x="55" y="47"/>
                    </a:cubicBezTo>
                    <a:cubicBezTo>
                      <a:pt x="99" y="3"/>
                      <a:pt x="99" y="3"/>
                      <a:pt x="99" y="3"/>
                    </a:cubicBezTo>
                    <a:cubicBezTo>
                      <a:pt x="101" y="0"/>
                      <a:pt x="105" y="0"/>
                      <a:pt x="107" y="3"/>
                    </a:cubicBezTo>
                    <a:cubicBezTo>
                      <a:pt x="109" y="5"/>
                      <a:pt x="109" y="9"/>
                      <a:pt x="107" y="11"/>
                    </a:cubicBezTo>
                    <a:cubicBezTo>
                      <a:pt x="59" y="59"/>
                      <a:pt x="59" y="59"/>
                      <a:pt x="59" y="59"/>
                    </a:cubicBezTo>
                    <a:cubicBezTo>
                      <a:pt x="58" y="60"/>
                      <a:pt x="56" y="61"/>
                      <a:pt x="55"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grpSp>
        <p:nvGrpSpPr>
          <p:cNvPr id="11274" name="Grupo 11273">
            <a:extLst>
              <a:ext uri="{FF2B5EF4-FFF2-40B4-BE49-F238E27FC236}">
                <a16:creationId xmlns:a16="http://schemas.microsoft.com/office/drawing/2014/main" id="{8E15F690-07C8-2928-5D42-58020955D21A}"/>
              </a:ext>
            </a:extLst>
          </p:cNvPr>
          <p:cNvGrpSpPr/>
          <p:nvPr/>
        </p:nvGrpSpPr>
        <p:grpSpPr>
          <a:xfrm>
            <a:off x="5698399" y="2567541"/>
            <a:ext cx="795204" cy="795204"/>
            <a:chOff x="5698399" y="1519371"/>
            <a:chExt cx="795204" cy="795204"/>
          </a:xfrm>
        </p:grpSpPr>
        <p:sp>
          <p:nvSpPr>
            <p:cNvPr id="11275" name="Elipse 11274">
              <a:extLst>
                <a:ext uri="{FF2B5EF4-FFF2-40B4-BE49-F238E27FC236}">
                  <a16:creationId xmlns:a16="http://schemas.microsoft.com/office/drawing/2014/main" id="{BD4898B7-35EF-1A78-560F-9645F3562366}"/>
                </a:ext>
              </a:extLst>
            </p:cNvPr>
            <p:cNvSpPr/>
            <p:nvPr/>
          </p:nvSpPr>
          <p:spPr>
            <a:xfrm>
              <a:off x="5698399" y="1519371"/>
              <a:ext cx="795204" cy="79520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nvGrpSpPr>
            <p:cNvPr id="11276" name="Group 28">
              <a:extLst>
                <a:ext uri="{FF2B5EF4-FFF2-40B4-BE49-F238E27FC236}">
                  <a16:creationId xmlns:a16="http://schemas.microsoft.com/office/drawing/2014/main" id="{22A1E40C-2249-B136-0A82-47EDC44A549E}"/>
                </a:ext>
              </a:extLst>
            </p:cNvPr>
            <p:cNvGrpSpPr>
              <a:grpSpLocks noChangeAspect="1"/>
            </p:cNvGrpSpPr>
            <p:nvPr/>
          </p:nvGrpSpPr>
          <p:grpSpPr bwMode="auto">
            <a:xfrm>
              <a:off x="5887178" y="1708150"/>
              <a:ext cx="417648" cy="417646"/>
              <a:chOff x="2402" y="439"/>
              <a:chExt cx="426" cy="426"/>
            </a:xfrm>
            <a:solidFill>
              <a:schemeClr val="tx2"/>
            </a:solidFill>
          </p:grpSpPr>
          <p:sp>
            <p:nvSpPr>
              <p:cNvPr id="11277" name="Freeform 29">
                <a:extLst>
                  <a:ext uri="{FF2B5EF4-FFF2-40B4-BE49-F238E27FC236}">
                    <a16:creationId xmlns:a16="http://schemas.microsoft.com/office/drawing/2014/main" id="{850EB96D-F29B-D55E-B1CC-B8B40EF5E4B7}"/>
                  </a:ext>
                </a:extLst>
              </p:cNvPr>
              <p:cNvSpPr>
                <a:spLocks noEditPoints="1"/>
              </p:cNvSpPr>
              <p:nvPr/>
            </p:nvSpPr>
            <p:spPr bwMode="auto">
              <a:xfrm>
                <a:off x="2402" y="439"/>
                <a:ext cx="426"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2 w 288"/>
                  <a:gd name="T33" fmla="*/ 59 h 288"/>
                  <a:gd name="T34" fmla="*/ 262 w 288"/>
                  <a:gd name="T35" fmla="*/ 67 h 288"/>
                  <a:gd name="T36" fmla="*/ 247 w 288"/>
                  <a:gd name="T37" fmla="*/ 120 h 288"/>
                  <a:gd name="T38" fmla="*/ 288 w 288"/>
                  <a:gd name="T39" fmla="*/ 126 h 288"/>
                  <a:gd name="T40" fmla="*/ 282 w 288"/>
                  <a:gd name="T41" fmla="*/ 168 h 288"/>
                  <a:gd name="T42" fmla="*/ 238 w 288"/>
                  <a:gd name="T43" fmla="*/ 196 h 288"/>
                  <a:gd name="T44" fmla="*/ 262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6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6 w 288"/>
                  <a:gd name="T81" fmla="*/ 61 h 288"/>
                  <a:gd name="T82" fmla="*/ 38 w 288"/>
                  <a:gd name="T83" fmla="*/ 63 h 288"/>
                  <a:gd name="T84" fmla="*/ 62 w 288"/>
                  <a:gd name="T85" fmla="*/ 94 h 288"/>
                  <a:gd name="T86" fmla="*/ 45 w 288"/>
                  <a:gd name="T87" fmla="*/ 132 h 288"/>
                  <a:gd name="T88" fmla="*/ 12 w 288"/>
                  <a:gd name="T89" fmla="*/ 156 h 288"/>
                  <a:gd name="T90" fmla="*/ 50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2"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5" y="188"/>
                      <a:pt x="42" y="177"/>
                      <a:pt x="40" y="168"/>
                    </a:cubicBezTo>
                    <a:cubicBezTo>
                      <a:pt x="6" y="168"/>
                      <a:pt x="6" y="168"/>
                      <a:pt x="6" y="168"/>
                    </a:cubicBezTo>
                    <a:cubicBezTo>
                      <a:pt x="2" y="168"/>
                      <a:pt x="0" y="165"/>
                      <a:pt x="0" y="162"/>
                    </a:cubicBezTo>
                    <a:cubicBezTo>
                      <a:pt x="0" y="126"/>
                      <a:pt x="0" y="126"/>
                      <a:pt x="0" y="126"/>
                    </a:cubicBezTo>
                    <a:cubicBezTo>
                      <a:pt x="0" y="122"/>
                      <a:pt x="2" y="120"/>
                      <a:pt x="6" y="120"/>
                    </a:cubicBezTo>
                    <a:cubicBezTo>
                      <a:pt x="40" y="120"/>
                      <a:pt x="40" y="120"/>
                      <a:pt x="40" y="120"/>
                    </a:cubicBezTo>
                    <a:cubicBezTo>
                      <a:pt x="42" y="110"/>
                      <a:pt x="45"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2"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2" y="23"/>
                      <a:pt x="226" y="23"/>
                      <a:pt x="228" y="25"/>
                    </a:cubicBezTo>
                    <a:cubicBezTo>
                      <a:pt x="262" y="59"/>
                      <a:pt x="262" y="59"/>
                      <a:pt x="262" y="59"/>
                    </a:cubicBezTo>
                    <a:cubicBezTo>
                      <a:pt x="264" y="60"/>
                      <a:pt x="264" y="61"/>
                      <a:pt x="264" y="63"/>
                    </a:cubicBezTo>
                    <a:cubicBezTo>
                      <a:pt x="264" y="65"/>
                      <a:pt x="264" y="66"/>
                      <a:pt x="262" y="67"/>
                    </a:cubicBezTo>
                    <a:cubicBezTo>
                      <a:pt x="238" y="92"/>
                      <a:pt x="238" y="92"/>
                      <a:pt x="238" y="92"/>
                    </a:cubicBezTo>
                    <a:cubicBezTo>
                      <a:pt x="242" y="100"/>
                      <a:pt x="245" y="110"/>
                      <a:pt x="247"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7" y="168"/>
                      <a:pt x="247" y="168"/>
                      <a:pt x="247" y="168"/>
                    </a:cubicBezTo>
                    <a:cubicBezTo>
                      <a:pt x="245" y="177"/>
                      <a:pt x="242" y="188"/>
                      <a:pt x="238" y="196"/>
                    </a:cubicBezTo>
                    <a:cubicBezTo>
                      <a:pt x="262" y="220"/>
                      <a:pt x="262" y="220"/>
                      <a:pt x="262" y="220"/>
                    </a:cubicBezTo>
                    <a:cubicBezTo>
                      <a:pt x="265" y="222"/>
                      <a:pt x="265" y="226"/>
                      <a:pt x="262" y="229"/>
                    </a:cubicBezTo>
                    <a:cubicBezTo>
                      <a:pt x="228" y="262"/>
                      <a:pt x="228" y="262"/>
                      <a:pt x="228" y="262"/>
                    </a:cubicBezTo>
                    <a:cubicBezTo>
                      <a:pt x="226" y="265"/>
                      <a:pt x="222"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6" y="201"/>
                      <a:pt x="226" y="201"/>
                      <a:pt x="226" y="201"/>
                    </a:cubicBezTo>
                    <a:cubicBezTo>
                      <a:pt x="224"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7" y="130"/>
                      <a:pt x="237" y="127"/>
                    </a:cubicBezTo>
                    <a:cubicBezTo>
                      <a:pt x="235" y="120"/>
                      <a:pt x="231" y="103"/>
                      <a:pt x="226" y="94"/>
                    </a:cubicBezTo>
                    <a:cubicBezTo>
                      <a:pt x="224" y="91"/>
                      <a:pt x="224" y="88"/>
                      <a:pt x="226"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5" y="56"/>
                      <a:pt x="167" y="52"/>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20" y="52"/>
                      <a:pt x="103" y="56"/>
                      <a:pt x="94" y="62"/>
                    </a:cubicBezTo>
                    <a:cubicBezTo>
                      <a:pt x="91" y="63"/>
                      <a:pt x="88" y="63"/>
                      <a:pt x="86" y="61"/>
                    </a:cubicBezTo>
                    <a:cubicBezTo>
                      <a:pt x="63" y="38"/>
                      <a:pt x="63" y="38"/>
                      <a:pt x="63" y="38"/>
                    </a:cubicBezTo>
                    <a:cubicBezTo>
                      <a:pt x="38" y="63"/>
                      <a:pt x="38" y="63"/>
                      <a:pt x="38" y="63"/>
                    </a:cubicBezTo>
                    <a:cubicBezTo>
                      <a:pt x="61" y="86"/>
                      <a:pt x="61" y="86"/>
                      <a:pt x="61" y="86"/>
                    </a:cubicBezTo>
                    <a:cubicBezTo>
                      <a:pt x="63" y="88"/>
                      <a:pt x="63" y="91"/>
                      <a:pt x="62" y="94"/>
                    </a:cubicBezTo>
                    <a:cubicBezTo>
                      <a:pt x="56" y="103"/>
                      <a:pt x="52" y="120"/>
                      <a:pt x="50" y="127"/>
                    </a:cubicBezTo>
                    <a:cubicBezTo>
                      <a:pt x="50" y="130"/>
                      <a:pt x="47" y="132"/>
                      <a:pt x="45" y="132"/>
                    </a:cubicBezTo>
                    <a:cubicBezTo>
                      <a:pt x="12" y="132"/>
                      <a:pt x="12" y="132"/>
                      <a:pt x="12" y="132"/>
                    </a:cubicBezTo>
                    <a:cubicBezTo>
                      <a:pt x="12" y="156"/>
                      <a:pt x="12" y="156"/>
                      <a:pt x="12" y="156"/>
                    </a:cubicBezTo>
                    <a:cubicBezTo>
                      <a:pt x="45" y="156"/>
                      <a:pt x="45" y="156"/>
                      <a:pt x="45" y="156"/>
                    </a:cubicBezTo>
                    <a:cubicBezTo>
                      <a:pt x="47" y="156"/>
                      <a:pt x="50" y="158"/>
                      <a:pt x="50" y="160"/>
                    </a:cubicBezTo>
                    <a:cubicBezTo>
                      <a:pt x="52" y="167"/>
                      <a:pt x="56" y="185"/>
                      <a:pt x="62" y="194"/>
                    </a:cubicBezTo>
                    <a:cubicBezTo>
                      <a:pt x="63" y="196"/>
                      <a:pt x="63" y="199"/>
                      <a:pt x="61" y="201"/>
                    </a:cubicBezTo>
                    <a:cubicBezTo>
                      <a:pt x="38" y="224"/>
                      <a:pt x="38" y="224"/>
                      <a:pt x="38" y="224"/>
                    </a:cubicBezTo>
                    <a:cubicBezTo>
                      <a:pt x="63" y="250"/>
                      <a:pt x="63" y="250"/>
                      <a:pt x="63" y="250"/>
                    </a:cubicBezTo>
                    <a:cubicBezTo>
                      <a:pt x="86" y="226"/>
                      <a:pt x="86" y="226"/>
                      <a:pt x="86" y="226"/>
                    </a:cubicBezTo>
                    <a:cubicBezTo>
                      <a:pt x="88" y="224"/>
                      <a:pt x="91" y="224"/>
                      <a:pt x="94" y="226"/>
                    </a:cubicBezTo>
                    <a:cubicBezTo>
                      <a:pt x="103" y="231"/>
                      <a:pt x="120"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1278" name="Freeform 30">
                <a:extLst>
                  <a:ext uri="{FF2B5EF4-FFF2-40B4-BE49-F238E27FC236}">
                    <a16:creationId xmlns:a16="http://schemas.microsoft.com/office/drawing/2014/main" id="{50131E02-B2A5-0BCE-99E7-025D95C342E0}"/>
                  </a:ext>
                </a:extLst>
              </p:cNvPr>
              <p:cNvSpPr>
                <a:spLocks noEditPoints="1"/>
              </p:cNvSpPr>
              <p:nvPr/>
            </p:nvSpPr>
            <p:spPr bwMode="auto">
              <a:xfrm>
                <a:off x="2526" y="563"/>
                <a:ext cx="178" cy="178"/>
              </a:xfrm>
              <a:custGeom>
                <a:avLst/>
                <a:gdLst>
                  <a:gd name="T0" fmla="*/ 60 w 120"/>
                  <a:gd name="T1" fmla="*/ 120 h 120"/>
                  <a:gd name="T2" fmla="*/ 0 w 120"/>
                  <a:gd name="T3" fmla="*/ 60 h 120"/>
                  <a:gd name="T4" fmla="*/ 60 w 120"/>
                  <a:gd name="T5" fmla="*/ 0 h 120"/>
                  <a:gd name="T6" fmla="*/ 120 w 120"/>
                  <a:gd name="T7" fmla="*/ 60 h 120"/>
                  <a:gd name="T8" fmla="*/ 60 w 120"/>
                  <a:gd name="T9" fmla="*/ 120 h 120"/>
                  <a:gd name="T10" fmla="*/ 60 w 120"/>
                  <a:gd name="T11" fmla="*/ 12 h 120"/>
                  <a:gd name="T12" fmla="*/ 12 w 120"/>
                  <a:gd name="T13" fmla="*/ 60 h 120"/>
                  <a:gd name="T14" fmla="*/ 60 w 120"/>
                  <a:gd name="T15" fmla="*/ 108 h 120"/>
                  <a:gd name="T16" fmla="*/ 108 w 120"/>
                  <a:gd name="T17" fmla="*/ 60 h 120"/>
                  <a:gd name="T18" fmla="*/ 60 w 120"/>
                  <a:gd name="T19" fmla="*/ 1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 h="120">
                    <a:moveTo>
                      <a:pt x="60" y="120"/>
                    </a:moveTo>
                    <a:cubicBezTo>
                      <a:pt x="27" y="120"/>
                      <a:pt x="0" y="93"/>
                      <a:pt x="0" y="60"/>
                    </a:cubicBezTo>
                    <a:cubicBezTo>
                      <a:pt x="0" y="27"/>
                      <a:pt x="27" y="0"/>
                      <a:pt x="60" y="0"/>
                    </a:cubicBezTo>
                    <a:cubicBezTo>
                      <a:pt x="93" y="0"/>
                      <a:pt x="120" y="27"/>
                      <a:pt x="120" y="60"/>
                    </a:cubicBezTo>
                    <a:cubicBezTo>
                      <a:pt x="120" y="93"/>
                      <a:pt x="93" y="120"/>
                      <a:pt x="60" y="120"/>
                    </a:cubicBezTo>
                    <a:close/>
                    <a:moveTo>
                      <a:pt x="60" y="12"/>
                    </a:moveTo>
                    <a:cubicBezTo>
                      <a:pt x="33" y="12"/>
                      <a:pt x="12" y="33"/>
                      <a:pt x="12" y="60"/>
                    </a:cubicBezTo>
                    <a:cubicBezTo>
                      <a:pt x="12" y="86"/>
                      <a:pt x="33" y="108"/>
                      <a:pt x="60" y="108"/>
                    </a:cubicBezTo>
                    <a:cubicBezTo>
                      <a:pt x="86" y="108"/>
                      <a:pt x="108" y="86"/>
                      <a:pt x="108" y="60"/>
                    </a:cubicBezTo>
                    <a:cubicBezTo>
                      <a:pt x="108" y="33"/>
                      <a:pt x="86" y="12"/>
                      <a:pt x="6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grpSp>
        <p:nvGrpSpPr>
          <p:cNvPr id="11279" name="Grupo 11278">
            <a:extLst>
              <a:ext uri="{FF2B5EF4-FFF2-40B4-BE49-F238E27FC236}">
                <a16:creationId xmlns:a16="http://schemas.microsoft.com/office/drawing/2014/main" id="{6335A4CD-B3BA-2634-1E60-D25D2CCF6D54}"/>
              </a:ext>
            </a:extLst>
          </p:cNvPr>
          <p:cNvGrpSpPr/>
          <p:nvPr/>
        </p:nvGrpSpPr>
        <p:grpSpPr>
          <a:xfrm>
            <a:off x="1051640" y="2567541"/>
            <a:ext cx="795204" cy="795204"/>
            <a:chOff x="1051640" y="1519371"/>
            <a:chExt cx="795204" cy="795204"/>
          </a:xfrm>
        </p:grpSpPr>
        <p:sp>
          <p:nvSpPr>
            <p:cNvPr id="11280" name="Elipse 11279">
              <a:extLst>
                <a:ext uri="{FF2B5EF4-FFF2-40B4-BE49-F238E27FC236}">
                  <a16:creationId xmlns:a16="http://schemas.microsoft.com/office/drawing/2014/main" id="{326D1DC6-4E8C-2FD0-28E3-D9F09CD45560}"/>
                </a:ext>
              </a:extLst>
            </p:cNvPr>
            <p:cNvSpPr/>
            <p:nvPr/>
          </p:nvSpPr>
          <p:spPr>
            <a:xfrm>
              <a:off x="1051640" y="1519371"/>
              <a:ext cx="795204" cy="79520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nvGrpSpPr>
            <p:cNvPr id="11281" name="Group 166">
              <a:extLst>
                <a:ext uri="{FF2B5EF4-FFF2-40B4-BE49-F238E27FC236}">
                  <a16:creationId xmlns:a16="http://schemas.microsoft.com/office/drawing/2014/main" id="{A53D0D9D-E34D-C1D0-0422-809A8A3A484D}"/>
                </a:ext>
              </a:extLst>
            </p:cNvPr>
            <p:cNvGrpSpPr>
              <a:grpSpLocks noChangeAspect="1"/>
            </p:cNvGrpSpPr>
            <p:nvPr/>
          </p:nvGrpSpPr>
          <p:grpSpPr bwMode="auto">
            <a:xfrm>
              <a:off x="1229023" y="1693119"/>
              <a:ext cx="440438" cy="447708"/>
              <a:chOff x="6728" y="3219"/>
              <a:chExt cx="424" cy="431"/>
            </a:xfrm>
            <a:solidFill>
              <a:schemeClr val="tx2"/>
            </a:solidFill>
          </p:grpSpPr>
          <p:sp>
            <p:nvSpPr>
              <p:cNvPr id="11282" name="Rectangle 167">
                <a:extLst>
                  <a:ext uri="{FF2B5EF4-FFF2-40B4-BE49-F238E27FC236}">
                    <a16:creationId xmlns:a16="http://schemas.microsoft.com/office/drawing/2014/main" id="{8E128AE0-BA3F-3B23-620E-FD5A4008BA5C}"/>
                  </a:ext>
                </a:extLst>
              </p:cNvPr>
              <p:cNvSpPr>
                <a:spLocks noChangeArrowheads="1"/>
              </p:cNvSpPr>
              <p:nvPr/>
            </p:nvSpPr>
            <p:spPr bwMode="auto">
              <a:xfrm>
                <a:off x="6949" y="3430"/>
                <a:ext cx="18" cy="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1283" name="Freeform 168">
                <a:extLst>
                  <a:ext uri="{FF2B5EF4-FFF2-40B4-BE49-F238E27FC236}">
                    <a16:creationId xmlns:a16="http://schemas.microsoft.com/office/drawing/2014/main" id="{C91FC5A8-54E4-2421-E8C4-225431A24DEF}"/>
                  </a:ext>
                </a:extLst>
              </p:cNvPr>
              <p:cNvSpPr>
                <a:spLocks/>
              </p:cNvSpPr>
              <p:nvPr/>
            </p:nvSpPr>
            <p:spPr bwMode="auto">
              <a:xfrm>
                <a:off x="6728" y="3430"/>
                <a:ext cx="211" cy="184"/>
              </a:xfrm>
              <a:custGeom>
                <a:avLst/>
                <a:gdLst>
                  <a:gd name="T0" fmla="*/ 138 w 138"/>
                  <a:gd name="T1" fmla="*/ 123 h 123"/>
                  <a:gd name="T2" fmla="*/ 6 w 138"/>
                  <a:gd name="T3" fmla="*/ 123 h 123"/>
                  <a:gd name="T4" fmla="*/ 0 w 138"/>
                  <a:gd name="T5" fmla="*/ 117 h 123"/>
                  <a:gd name="T6" fmla="*/ 0 w 138"/>
                  <a:gd name="T7" fmla="*/ 89 h 123"/>
                  <a:gd name="T8" fmla="*/ 28 w 138"/>
                  <a:gd name="T9" fmla="*/ 49 h 123"/>
                  <a:gd name="T10" fmla="*/ 84 w 138"/>
                  <a:gd name="T11" fmla="*/ 29 h 123"/>
                  <a:gd name="T12" fmla="*/ 84 w 138"/>
                  <a:gd name="T13" fmla="*/ 0 h 123"/>
                  <a:gd name="T14" fmla="*/ 96 w 138"/>
                  <a:gd name="T15" fmla="*/ 0 h 123"/>
                  <a:gd name="T16" fmla="*/ 96 w 138"/>
                  <a:gd name="T17" fmla="*/ 33 h 123"/>
                  <a:gd name="T18" fmla="*/ 92 w 138"/>
                  <a:gd name="T19" fmla="*/ 39 h 123"/>
                  <a:gd name="T20" fmla="*/ 32 w 138"/>
                  <a:gd name="T21" fmla="*/ 61 h 123"/>
                  <a:gd name="T22" fmla="*/ 12 w 138"/>
                  <a:gd name="T23" fmla="*/ 89 h 123"/>
                  <a:gd name="T24" fmla="*/ 12 w 138"/>
                  <a:gd name="T25" fmla="*/ 111 h 123"/>
                  <a:gd name="T26" fmla="*/ 138 w 138"/>
                  <a:gd name="T27" fmla="*/ 111 h 123"/>
                  <a:gd name="T28" fmla="*/ 138 w 138"/>
                  <a:gd name="T29"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8" h="123">
                    <a:moveTo>
                      <a:pt x="138" y="123"/>
                    </a:moveTo>
                    <a:cubicBezTo>
                      <a:pt x="6" y="123"/>
                      <a:pt x="6" y="123"/>
                      <a:pt x="6" y="123"/>
                    </a:cubicBezTo>
                    <a:cubicBezTo>
                      <a:pt x="3" y="123"/>
                      <a:pt x="0" y="121"/>
                      <a:pt x="0" y="117"/>
                    </a:cubicBezTo>
                    <a:cubicBezTo>
                      <a:pt x="0" y="89"/>
                      <a:pt x="0" y="89"/>
                      <a:pt x="0" y="89"/>
                    </a:cubicBezTo>
                    <a:cubicBezTo>
                      <a:pt x="0" y="71"/>
                      <a:pt x="11" y="55"/>
                      <a:pt x="28" y="49"/>
                    </a:cubicBezTo>
                    <a:cubicBezTo>
                      <a:pt x="84" y="29"/>
                      <a:pt x="84" y="29"/>
                      <a:pt x="84" y="29"/>
                    </a:cubicBezTo>
                    <a:cubicBezTo>
                      <a:pt x="84" y="0"/>
                      <a:pt x="84" y="0"/>
                      <a:pt x="84" y="0"/>
                    </a:cubicBezTo>
                    <a:cubicBezTo>
                      <a:pt x="96" y="0"/>
                      <a:pt x="96" y="0"/>
                      <a:pt x="96" y="0"/>
                    </a:cubicBezTo>
                    <a:cubicBezTo>
                      <a:pt x="96" y="33"/>
                      <a:pt x="96" y="33"/>
                      <a:pt x="96" y="33"/>
                    </a:cubicBezTo>
                    <a:cubicBezTo>
                      <a:pt x="96" y="36"/>
                      <a:pt x="94" y="38"/>
                      <a:pt x="92" y="39"/>
                    </a:cubicBezTo>
                    <a:cubicBezTo>
                      <a:pt x="32" y="61"/>
                      <a:pt x="32" y="61"/>
                      <a:pt x="32" y="61"/>
                    </a:cubicBezTo>
                    <a:cubicBezTo>
                      <a:pt x="20" y="65"/>
                      <a:pt x="12" y="76"/>
                      <a:pt x="12" y="89"/>
                    </a:cubicBezTo>
                    <a:cubicBezTo>
                      <a:pt x="12" y="111"/>
                      <a:pt x="12" y="111"/>
                      <a:pt x="12" y="111"/>
                    </a:cubicBezTo>
                    <a:cubicBezTo>
                      <a:pt x="138" y="111"/>
                      <a:pt x="138" y="111"/>
                      <a:pt x="138" y="111"/>
                    </a:cubicBezTo>
                    <a:lnTo>
                      <a:pt x="138"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1284" name="Freeform 169">
                <a:extLst>
                  <a:ext uri="{FF2B5EF4-FFF2-40B4-BE49-F238E27FC236}">
                    <a16:creationId xmlns:a16="http://schemas.microsoft.com/office/drawing/2014/main" id="{86BED5D6-039D-B487-8F44-2D4741BD0F37}"/>
                  </a:ext>
                </a:extLst>
              </p:cNvPr>
              <p:cNvSpPr>
                <a:spLocks noEditPoints="1"/>
              </p:cNvSpPr>
              <p:nvPr/>
            </p:nvSpPr>
            <p:spPr bwMode="auto">
              <a:xfrm>
                <a:off x="6811" y="3219"/>
                <a:ext cx="202" cy="234"/>
              </a:xfrm>
              <a:custGeom>
                <a:avLst/>
                <a:gdLst>
                  <a:gd name="T0" fmla="*/ 66 w 132"/>
                  <a:gd name="T1" fmla="*/ 156 h 156"/>
                  <a:gd name="T2" fmla="*/ 0 w 132"/>
                  <a:gd name="T3" fmla="*/ 78 h 156"/>
                  <a:gd name="T4" fmla="*/ 66 w 132"/>
                  <a:gd name="T5" fmla="*/ 0 h 156"/>
                  <a:gd name="T6" fmla="*/ 132 w 132"/>
                  <a:gd name="T7" fmla="*/ 78 h 156"/>
                  <a:gd name="T8" fmla="*/ 66 w 132"/>
                  <a:gd name="T9" fmla="*/ 156 h 156"/>
                  <a:gd name="T10" fmla="*/ 66 w 132"/>
                  <a:gd name="T11" fmla="*/ 12 h 156"/>
                  <a:gd name="T12" fmla="*/ 12 w 132"/>
                  <a:gd name="T13" fmla="*/ 78 h 156"/>
                  <a:gd name="T14" fmla="*/ 66 w 132"/>
                  <a:gd name="T15" fmla="*/ 144 h 156"/>
                  <a:gd name="T16" fmla="*/ 120 w 132"/>
                  <a:gd name="T17" fmla="*/ 78 h 156"/>
                  <a:gd name="T18" fmla="*/ 66 w 132"/>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56">
                    <a:moveTo>
                      <a:pt x="66" y="156"/>
                    </a:moveTo>
                    <a:cubicBezTo>
                      <a:pt x="29" y="156"/>
                      <a:pt x="0" y="121"/>
                      <a:pt x="0" y="78"/>
                    </a:cubicBezTo>
                    <a:cubicBezTo>
                      <a:pt x="0" y="35"/>
                      <a:pt x="29" y="0"/>
                      <a:pt x="66" y="0"/>
                    </a:cubicBezTo>
                    <a:cubicBezTo>
                      <a:pt x="102" y="0"/>
                      <a:pt x="132" y="35"/>
                      <a:pt x="132" y="78"/>
                    </a:cubicBezTo>
                    <a:cubicBezTo>
                      <a:pt x="132" y="121"/>
                      <a:pt x="102" y="156"/>
                      <a:pt x="66" y="156"/>
                    </a:cubicBezTo>
                    <a:close/>
                    <a:moveTo>
                      <a:pt x="66" y="12"/>
                    </a:moveTo>
                    <a:cubicBezTo>
                      <a:pt x="36" y="12"/>
                      <a:pt x="12" y="42"/>
                      <a:pt x="12" y="78"/>
                    </a:cubicBezTo>
                    <a:cubicBezTo>
                      <a:pt x="12" y="115"/>
                      <a:pt x="36" y="144"/>
                      <a:pt x="66" y="144"/>
                    </a:cubicBezTo>
                    <a:cubicBezTo>
                      <a:pt x="96" y="144"/>
                      <a:pt x="120" y="115"/>
                      <a:pt x="120" y="78"/>
                    </a:cubicBezTo>
                    <a:cubicBezTo>
                      <a:pt x="120" y="42"/>
                      <a:pt x="96"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1285" name="Freeform 171">
                <a:extLst>
                  <a:ext uri="{FF2B5EF4-FFF2-40B4-BE49-F238E27FC236}">
                    <a16:creationId xmlns:a16="http://schemas.microsoft.com/office/drawing/2014/main" id="{A24FA0CA-A90F-19D9-ACFD-0C15E4374DAC}"/>
                  </a:ext>
                </a:extLst>
              </p:cNvPr>
              <p:cNvSpPr>
                <a:spLocks noEditPoints="1"/>
              </p:cNvSpPr>
              <p:nvPr/>
            </p:nvSpPr>
            <p:spPr bwMode="auto">
              <a:xfrm>
                <a:off x="7025" y="3524"/>
                <a:ext cx="74"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8"/>
                      <a:pt x="0" y="24"/>
                    </a:cubicBezTo>
                    <a:cubicBezTo>
                      <a:pt x="0" y="11"/>
                      <a:pt x="11" y="0"/>
                      <a:pt x="24" y="0"/>
                    </a:cubicBezTo>
                    <a:cubicBezTo>
                      <a:pt x="37" y="0"/>
                      <a:pt x="48" y="11"/>
                      <a:pt x="48" y="24"/>
                    </a:cubicBezTo>
                    <a:cubicBezTo>
                      <a:pt x="48" y="38"/>
                      <a:pt x="37" y="48"/>
                      <a:pt x="24" y="48"/>
                    </a:cubicBezTo>
                    <a:close/>
                    <a:moveTo>
                      <a:pt x="24" y="12"/>
                    </a:moveTo>
                    <a:cubicBezTo>
                      <a:pt x="17" y="12"/>
                      <a:pt x="12" y="18"/>
                      <a:pt x="12" y="24"/>
                    </a:cubicBezTo>
                    <a:cubicBezTo>
                      <a:pt x="12" y="31"/>
                      <a:pt x="17" y="36"/>
                      <a:pt x="24" y="36"/>
                    </a:cubicBezTo>
                    <a:cubicBezTo>
                      <a:pt x="30" y="36"/>
                      <a:pt x="36" y="31"/>
                      <a:pt x="36" y="24"/>
                    </a:cubicBezTo>
                    <a:cubicBezTo>
                      <a:pt x="36" y="18"/>
                      <a:pt x="30"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1286" name="Freeform 172">
                <a:extLst>
                  <a:ext uri="{FF2B5EF4-FFF2-40B4-BE49-F238E27FC236}">
                    <a16:creationId xmlns:a16="http://schemas.microsoft.com/office/drawing/2014/main" id="{590216E4-9F6C-809B-DC65-C45EE36EA4F8}"/>
                  </a:ext>
                </a:extLst>
              </p:cNvPr>
              <p:cNvSpPr>
                <a:spLocks noEditPoints="1"/>
              </p:cNvSpPr>
              <p:nvPr/>
            </p:nvSpPr>
            <p:spPr bwMode="auto">
              <a:xfrm>
                <a:off x="6970" y="3471"/>
                <a:ext cx="182" cy="179"/>
              </a:xfrm>
              <a:custGeom>
                <a:avLst/>
                <a:gdLst>
                  <a:gd name="T0" fmla="*/ 46 w 119"/>
                  <a:gd name="T1" fmla="*/ 120 h 120"/>
                  <a:gd name="T2" fmla="*/ 40 w 119"/>
                  <a:gd name="T3" fmla="*/ 105 h 120"/>
                  <a:gd name="T4" fmla="*/ 22 w 119"/>
                  <a:gd name="T5" fmla="*/ 103 h 120"/>
                  <a:gd name="T6" fmla="*/ 14 w 119"/>
                  <a:gd name="T7" fmla="*/ 101 h 120"/>
                  <a:gd name="T8" fmla="*/ 1 w 119"/>
                  <a:gd name="T9" fmla="*/ 75 h 120"/>
                  <a:gd name="T10" fmla="*/ 12 w 119"/>
                  <a:gd name="T11" fmla="*/ 67 h 120"/>
                  <a:gd name="T12" fmla="*/ 12 w 119"/>
                  <a:gd name="T13" fmla="*/ 54 h 120"/>
                  <a:gd name="T14" fmla="*/ 2 w 119"/>
                  <a:gd name="T15" fmla="*/ 41 h 120"/>
                  <a:gd name="T16" fmla="*/ 17 w 119"/>
                  <a:gd name="T17" fmla="*/ 17 h 120"/>
                  <a:gd name="T18" fmla="*/ 29 w 119"/>
                  <a:gd name="T19" fmla="*/ 23 h 120"/>
                  <a:gd name="T20" fmla="*/ 40 w 119"/>
                  <a:gd name="T21" fmla="*/ 6 h 120"/>
                  <a:gd name="T22" fmla="*/ 70 w 119"/>
                  <a:gd name="T23" fmla="*/ 0 h 120"/>
                  <a:gd name="T24" fmla="*/ 76 w 119"/>
                  <a:gd name="T25" fmla="*/ 16 h 120"/>
                  <a:gd name="T26" fmla="*/ 98 w 119"/>
                  <a:gd name="T27" fmla="*/ 18 h 120"/>
                  <a:gd name="T28" fmla="*/ 118 w 119"/>
                  <a:gd name="T29" fmla="*/ 41 h 120"/>
                  <a:gd name="T30" fmla="*/ 116 w 119"/>
                  <a:gd name="T31" fmla="*/ 49 h 120"/>
                  <a:gd name="T32" fmla="*/ 108 w 119"/>
                  <a:gd name="T33" fmla="*/ 60 h 120"/>
                  <a:gd name="T34" fmla="*/ 115 w 119"/>
                  <a:gd name="T35" fmla="*/ 72 h 120"/>
                  <a:gd name="T36" fmla="*/ 118 w 119"/>
                  <a:gd name="T37" fmla="*/ 80 h 120"/>
                  <a:gd name="T38" fmla="*/ 97 w 119"/>
                  <a:gd name="T39" fmla="*/ 103 h 120"/>
                  <a:gd name="T40" fmla="*/ 76 w 119"/>
                  <a:gd name="T41" fmla="*/ 105 h 120"/>
                  <a:gd name="T42" fmla="*/ 70 w 119"/>
                  <a:gd name="T43" fmla="*/ 120 h 120"/>
                  <a:gd name="T44" fmla="*/ 64 w 119"/>
                  <a:gd name="T45" fmla="*/ 108 h 120"/>
                  <a:gd name="T46" fmla="*/ 68 w 119"/>
                  <a:gd name="T47" fmla="*/ 95 h 120"/>
                  <a:gd name="T48" fmla="*/ 91 w 119"/>
                  <a:gd name="T49" fmla="*/ 86 h 120"/>
                  <a:gd name="T50" fmla="*/ 104 w 119"/>
                  <a:gd name="T51" fmla="*/ 79 h 120"/>
                  <a:gd name="T52" fmla="*/ 95 w 119"/>
                  <a:gd name="T53" fmla="*/ 69 h 120"/>
                  <a:gd name="T54" fmla="*/ 95 w 119"/>
                  <a:gd name="T55" fmla="*/ 52 h 120"/>
                  <a:gd name="T56" fmla="*/ 104 w 119"/>
                  <a:gd name="T57" fmla="*/ 42 h 120"/>
                  <a:gd name="T58" fmla="*/ 91 w 119"/>
                  <a:gd name="T59" fmla="*/ 35 h 120"/>
                  <a:gd name="T60" fmla="*/ 68 w 119"/>
                  <a:gd name="T61" fmla="*/ 26 h 120"/>
                  <a:gd name="T62" fmla="*/ 64 w 119"/>
                  <a:gd name="T63" fmla="*/ 12 h 120"/>
                  <a:gd name="T64" fmla="*/ 52 w 119"/>
                  <a:gd name="T65" fmla="*/ 20 h 120"/>
                  <a:gd name="T66" fmla="*/ 34 w 119"/>
                  <a:gd name="T67" fmla="*/ 34 h 120"/>
                  <a:gd name="T68" fmla="*/ 21 w 119"/>
                  <a:gd name="T69" fmla="*/ 31 h 120"/>
                  <a:gd name="T70" fmla="*/ 22 w 119"/>
                  <a:gd name="T71" fmla="*/ 46 h 120"/>
                  <a:gd name="T72" fmla="*/ 24 w 119"/>
                  <a:gd name="T73" fmla="*/ 60 h 120"/>
                  <a:gd name="T74" fmla="*/ 22 w 119"/>
                  <a:gd name="T75" fmla="*/ 75 h 120"/>
                  <a:gd name="T76" fmla="*/ 21 w 119"/>
                  <a:gd name="T77" fmla="*/ 89 h 120"/>
                  <a:gd name="T78" fmla="*/ 34 w 119"/>
                  <a:gd name="T79" fmla="*/ 87 h 120"/>
                  <a:gd name="T80" fmla="*/ 52 w 119"/>
                  <a:gd name="T81" fmla="*/ 10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0" y="120"/>
                    </a:moveTo>
                    <a:cubicBezTo>
                      <a:pt x="46" y="120"/>
                      <a:pt x="46" y="120"/>
                      <a:pt x="46" y="120"/>
                    </a:cubicBezTo>
                    <a:cubicBezTo>
                      <a:pt x="43" y="120"/>
                      <a:pt x="40" y="118"/>
                      <a:pt x="40" y="114"/>
                    </a:cubicBezTo>
                    <a:cubicBezTo>
                      <a:pt x="40" y="105"/>
                      <a:pt x="40" y="105"/>
                      <a:pt x="40" y="105"/>
                    </a:cubicBezTo>
                    <a:cubicBezTo>
                      <a:pt x="36" y="103"/>
                      <a:pt x="33" y="101"/>
                      <a:pt x="29" y="98"/>
                    </a:cubicBezTo>
                    <a:cubicBezTo>
                      <a:pt x="22" y="103"/>
                      <a:pt x="22" y="103"/>
                      <a:pt x="22" y="103"/>
                    </a:cubicBezTo>
                    <a:cubicBezTo>
                      <a:pt x="21" y="104"/>
                      <a:pt x="19" y="104"/>
                      <a:pt x="18" y="104"/>
                    </a:cubicBezTo>
                    <a:cubicBezTo>
                      <a:pt x="16" y="103"/>
                      <a:pt x="15" y="102"/>
                      <a:pt x="14" y="101"/>
                    </a:cubicBezTo>
                    <a:cubicBezTo>
                      <a:pt x="2" y="80"/>
                      <a:pt x="2" y="80"/>
                      <a:pt x="2" y="80"/>
                    </a:cubicBezTo>
                    <a:cubicBezTo>
                      <a:pt x="1" y="79"/>
                      <a:pt x="1" y="77"/>
                      <a:pt x="1" y="75"/>
                    </a:cubicBezTo>
                    <a:cubicBezTo>
                      <a:pt x="2" y="74"/>
                      <a:pt x="3" y="73"/>
                      <a:pt x="4" y="72"/>
                    </a:cubicBezTo>
                    <a:cubicBezTo>
                      <a:pt x="12" y="67"/>
                      <a:pt x="12" y="67"/>
                      <a:pt x="12" y="67"/>
                    </a:cubicBezTo>
                    <a:cubicBezTo>
                      <a:pt x="12" y="65"/>
                      <a:pt x="12" y="63"/>
                      <a:pt x="12" y="60"/>
                    </a:cubicBezTo>
                    <a:cubicBezTo>
                      <a:pt x="12" y="58"/>
                      <a:pt x="12" y="56"/>
                      <a:pt x="12" y="54"/>
                    </a:cubicBezTo>
                    <a:cubicBezTo>
                      <a:pt x="4" y="49"/>
                      <a:pt x="4" y="49"/>
                      <a:pt x="4" y="49"/>
                    </a:cubicBezTo>
                    <a:cubicBezTo>
                      <a:pt x="1" y="47"/>
                      <a:pt x="0" y="44"/>
                      <a:pt x="2" y="41"/>
                    </a:cubicBezTo>
                    <a:cubicBezTo>
                      <a:pt x="13" y="20"/>
                      <a:pt x="13" y="20"/>
                      <a:pt x="13" y="20"/>
                    </a:cubicBezTo>
                    <a:cubicBezTo>
                      <a:pt x="14" y="19"/>
                      <a:pt x="16" y="18"/>
                      <a:pt x="17" y="17"/>
                    </a:cubicBezTo>
                    <a:cubicBezTo>
                      <a:pt x="19" y="17"/>
                      <a:pt x="20" y="17"/>
                      <a:pt x="22" y="18"/>
                    </a:cubicBezTo>
                    <a:cubicBezTo>
                      <a:pt x="29" y="23"/>
                      <a:pt x="29" y="23"/>
                      <a:pt x="29" y="23"/>
                    </a:cubicBezTo>
                    <a:cubicBezTo>
                      <a:pt x="33" y="20"/>
                      <a:pt x="36" y="18"/>
                      <a:pt x="40" y="16"/>
                    </a:cubicBezTo>
                    <a:cubicBezTo>
                      <a:pt x="40" y="6"/>
                      <a:pt x="40" y="6"/>
                      <a:pt x="40" y="6"/>
                    </a:cubicBezTo>
                    <a:cubicBezTo>
                      <a:pt x="40" y="3"/>
                      <a:pt x="43" y="0"/>
                      <a:pt x="46" y="0"/>
                    </a:cubicBezTo>
                    <a:cubicBezTo>
                      <a:pt x="70" y="0"/>
                      <a:pt x="70" y="0"/>
                      <a:pt x="70" y="0"/>
                    </a:cubicBezTo>
                    <a:cubicBezTo>
                      <a:pt x="73" y="0"/>
                      <a:pt x="76" y="3"/>
                      <a:pt x="76" y="6"/>
                    </a:cubicBezTo>
                    <a:cubicBezTo>
                      <a:pt x="76" y="16"/>
                      <a:pt x="76" y="16"/>
                      <a:pt x="76" y="16"/>
                    </a:cubicBezTo>
                    <a:cubicBezTo>
                      <a:pt x="79" y="17"/>
                      <a:pt x="84" y="20"/>
                      <a:pt x="88" y="23"/>
                    </a:cubicBezTo>
                    <a:cubicBezTo>
                      <a:pt x="98" y="18"/>
                      <a:pt x="98" y="18"/>
                      <a:pt x="98" y="18"/>
                    </a:cubicBezTo>
                    <a:cubicBezTo>
                      <a:pt x="101" y="16"/>
                      <a:pt x="104" y="17"/>
                      <a:pt x="106" y="20"/>
                    </a:cubicBezTo>
                    <a:cubicBezTo>
                      <a:pt x="118" y="41"/>
                      <a:pt x="118" y="41"/>
                      <a:pt x="118" y="41"/>
                    </a:cubicBezTo>
                    <a:cubicBezTo>
                      <a:pt x="119" y="42"/>
                      <a:pt x="119" y="44"/>
                      <a:pt x="118" y="45"/>
                    </a:cubicBezTo>
                    <a:cubicBezTo>
                      <a:pt x="118" y="47"/>
                      <a:pt x="117" y="48"/>
                      <a:pt x="116" y="49"/>
                    </a:cubicBezTo>
                    <a:cubicBezTo>
                      <a:pt x="107" y="54"/>
                      <a:pt x="107" y="54"/>
                      <a:pt x="107" y="54"/>
                    </a:cubicBezTo>
                    <a:cubicBezTo>
                      <a:pt x="108" y="56"/>
                      <a:pt x="108" y="58"/>
                      <a:pt x="108" y="60"/>
                    </a:cubicBezTo>
                    <a:cubicBezTo>
                      <a:pt x="108" y="63"/>
                      <a:pt x="108" y="65"/>
                      <a:pt x="107" y="67"/>
                    </a:cubicBezTo>
                    <a:cubicBezTo>
                      <a:pt x="115" y="72"/>
                      <a:pt x="115" y="72"/>
                      <a:pt x="115" y="72"/>
                    </a:cubicBezTo>
                    <a:cubicBezTo>
                      <a:pt x="117" y="73"/>
                      <a:pt x="118" y="74"/>
                      <a:pt x="118" y="76"/>
                    </a:cubicBezTo>
                    <a:cubicBezTo>
                      <a:pt x="119" y="77"/>
                      <a:pt x="118" y="79"/>
                      <a:pt x="118" y="80"/>
                    </a:cubicBezTo>
                    <a:cubicBezTo>
                      <a:pt x="105" y="101"/>
                      <a:pt x="105" y="101"/>
                      <a:pt x="105" y="101"/>
                    </a:cubicBezTo>
                    <a:cubicBezTo>
                      <a:pt x="104" y="104"/>
                      <a:pt x="100" y="105"/>
                      <a:pt x="97" y="103"/>
                    </a:cubicBezTo>
                    <a:cubicBezTo>
                      <a:pt x="88" y="98"/>
                      <a:pt x="88" y="98"/>
                      <a:pt x="88" y="98"/>
                    </a:cubicBezTo>
                    <a:cubicBezTo>
                      <a:pt x="84" y="101"/>
                      <a:pt x="79" y="103"/>
                      <a:pt x="76" y="105"/>
                    </a:cubicBezTo>
                    <a:cubicBezTo>
                      <a:pt x="76" y="114"/>
                      <a:pt x="76" y="114"/>
                      <a:pt x="76" y="114"/>
                    </a:cubicBezTo>
                    <a:cubicBezTo>
                      <a:pt x="76" y="118"/>
                      <a:pt x="73" y="120"/>
                      <a:pt x="70" y="120"/>
                    </a:cubicBezTo>
                    <a:close/>
                    <a:moveTo>
                      <a:pt x="52" y="108"/>
                    </a:moveTo>
                    <a:cubicBezTo>
                      <a:pt x="64" y="108"/>
                      <a:pt x="64" y="108"/>
                      <a:pt x="64" y="108"/>
                    </a:cubicBezTo>
                    <a:cubicBezTo>
                      <a:pt x="64" y="101"/>
                      <a:pt x="64" y="101"/>
                      <a:pt x="64" y="101"/>
                    </a:cubicBezTo>
                    <a:cubicBezTo>
                      <a:pt x="64" y="98"/>
                      <a:pt x="66" y="96"/>
                      <a:pt x="68" y="95"/>
                    </a:cubicBezTo>
                    <a:cubicBezTo>
                      <a:pt x="74" y="93"/>
                      <a:pt x="80" y="90"/>
                      <a:pt x="84" y="87"/>
                    </a:cubicBezTo>
                    <a:cubicBezTo>
                      <a:pt x="85" y="85"/>
                      <a:pt x="88" y="84"/>
                      <a:pt x="91" y="86"/>
                    </a:cubicBezTo>
                    <a:cubicBezTo>
                      <a:pt x="98" y="90"/>
                      <a:pt x="98" y="90"/>
                      <a:pt x="98" y="90"/>
                    </a:cubicBezTo>
                    <a:cubicBezTo>
                      <a:pt x="104" y="79"/>
                      <a:pt x="104" y="79"/>
                      <a:pt x="104" y="79"/>
                    </a:cubicBezTo>
                    <a:cubicBezTo>
                      <a:pt x="98" y="75"/>
                      <a:pt x="98" y="75"/>
                      <a:pt x="98" y="75"/>
                    </a:cubicBezTo>
                    <a:cubicBezTo>
                      <a:pt x="95" y="74"/>
                      <a:pt x="94" y="71"/>
                      <a:pt x="95" y="69"/>
                    </a:cubicBezTo>
                    <a:cubicBezTo>
                      <a:pt x="96" y="65"/>
                      <a:pt x="96" y="63"/>
                      <a:pt x="96" y="60"/>
                    </a:cubicBezTo>
                    <a:cubicBezTo>
                      <a:pt x="96" y="58"/>
                      <a:pt x="96" y="55"/>
                      <a:pt x="95" y="52"/>
                    </a:cubicBezTo>
                    <a:cubicBezTo>
                      <a:pt x="94" y="50"/>
                      <a:pt x="95" y="47"/>
                      <a:pt x="98" y="46"/>
                    </a:cubicBezTo>
                    <a:cubicBezTo>
                      <a:pt x="104" y="42"/>
                      <a:pt x="104" y="42"/>
                      <a:pt x="104" y="42"/>
                    </a:cubicBezTo>
                    <a:cubicBezTo>
                      <a:pt x="98" y="31"/>
                      <a:pt x="98" y="31"/>
                      <a:pt x="98" y="31"/>
                    </a:cubicBezTo>
                    <a:cubicBezTo>
                      <a:pt x="91" y="35"/>
                      <a:pt x="91" y="35"/>
                      <a:pt x="91" y="35"/>
                    </a:cubicBezTo>
                    <a:cubicBezTo>
                      <a:pt x="88" y="36"/>
                      <a:pt x="85" y="36"/>
                      <a:pt x="84" y="34"/>
                    </a:cubicBezTo>
                    <a:cubicBezTo>
                      <a:pt x="80" y="31"/>
                      <a:pt x="74" y="28"/>
                      <a:pt x="68" y="26"/>
                    </a:cubicBezTo>
                    <a:cubicBezTo>
                      <a:pt x="66" y="25"/>
                      <a:pt x="64" y="23"/>
                      <a:pt x="64" y="20"/>
                    </a:cubicBezTo>
                    <a:cubicBezTo>
                      <a:pt x="64" y="12"/>
                      <a:pt x="64" y="12"/>
                      <a:pt x="64" y="12"/>
                    </a:cubicBezTo>
                    <a:cubicBezTo>
                      <a:pt x="52" y="12"/>
                      <a:pt x="52" y="12"/>
                      <a:pt x="52" y="12"/>
                    </a:cubicBezTo>
                    <a:cubicBezTo>
                      <a:pt x="52" y="20"/>
                      <a:pt x="52" y="20"/>
                      <a:pt x="52" y="20"/>
                    </a:cubicBezTo>
                    <a:cubicBezTo>
                      <a:pt x="52" y="23"/>
                      <a:pt x="50" y="25"/>
                      <a:pt x="48" y="26"/>
                    </a:cubicBezTo>
                    <a:cubicBezTo>
                      <a:pt x="43" y="27"/>
                      <a:pt x="39" y="30"/>
                      <a:pt x="34" y="34"/>
                    </a:cubicBezTo>
                    <a:cubicBezTo>
                      <a:pt x="32" y="36"/>
                      <a:pt x="29" y="36"/>
                      <a:pt x="27" y="35"/>
                    </a:cubicBezTo>
                    <a:cubicBezTo>
                      <a:pt x="21" y="31"/>
                      <a:pt x="21" y="31"/>
                      <a:pt x="21" y="31"/>
                    </a:cubicBezTo>
                    <a:cubicBezTo>
                      <a:pt x="15" y="42"/>
                      <a:pt x="15" y="42"/>
                      <a:pt x="15" y="42"/>
                    </a:cubicBezTo>
                    <a:cubicBezTo>
                      <a:pt x="22" y="46"/>
                      <a:pt x="22" y="46"/>
                      <a:pt x="22" y="46"/>
                    </a:cubicBezTo>
                    <a:cubicBezTo>
                      <a:pt x="24" y="47"/>
                      <a:pt x="25" y="50"/>
                      <a:pt x="25" y="52"/>
                    </a:cubicBezTo>
                    <a:cubicBezTo>
                      <a:pt x="24" y="55"/>
                      <a:pt x="24" y="58"/>
                      <a:pt x="24" y="60"/>
                    </a:cubicBezTo>
                    <a:cubicBezTo>
                      <a:pt x="24" y="63"/>
                      <a:pt x="24" y="66"/>
                      <a:pt x="25" y="69"/>
                    </a:cubicBezTo>
                    <a:cubicBezTo>
                      <a:pt x="25" y="71"/>
                      <a:pt x="24" y="74"/>
                      <a:pt x="22" y="75"/>
                    </a:cubicBezTo>
                    <a:cubicBezTo>
                      <a:pt x="15" y="79"/>
                      <a:pt x="15" y="79"/>
                      <a:pt x="15" y="79"/>
                    </a:cubicBezTo>
                    <a:cubicBezTo>
                      <a:pt x="21" y="89"/>
                      <a:pt x="21" y="89"/>
                      <a:pt x="21" y="89"/>
                    </a:cubicBezTo>
                    <a:cubicBezTo>
                      <a:pt x="27" y="86"/>
                      <a:pt x="27" y="86"/>
                      <a:pt x="27" y="86"/>
                    </a:cubicBezTo>
                    <a:cubicBezTo>
                      <a:pt x="29" y="84"/>
                      <a:pt x="32" y="85"/>
                      <a:pt x="34" y="87"/>
                    </a:cubicBezTo>
                    <a:cubicBezTo>
                      <a:pt x="39" y="91"/>
                      <a:pt x="43" y="93"/>
                      <a:pt x="48" y="95"/>
                    </a:cubicBezTo>
                    <a:cubicBezTo>
                      <a:pt x="50" y="96"/>
                      <a:pt x="52" y="98"/>
                      <a:pt x="52" y="101"/>
                    </a:cubicBezTo>
                    <a:lnTo>
                      <a:pt x="52"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sp>
        <p:nvSpPr>
          <p:cNvPr id="11287" name="TextBox 24">
            <a:extLst>
              <a:ext uri="{FF2B5EF4-FFF2-40B4-BE49-F238E27FC236}">
                <a16:creationId xmlns:a16="http://schemas.microsoft.com/office/drawing/2014/main" id="{A6781FB0-295F-BB29-0C2E-29583DDC18D2}"/>
              </a:ext>
            </a:extLst>
          </p:cNvPr>
          <p:cNvSpPr txBox="1"/>
          <p:nvPr/>
        </p:nvSpPr>
        <p:spPr>
          <a:xfrm>
            <a:off x="371476" y="3502025"/>
            <a:ext cx="2155532" cy="2806700"/>
          </a:xfrm>
          <a:prstGeom prst="rect">
            <a:avLst/>
          </a:prstGeom>
          <a:noFill/>
        </p:spPr>
        <p:txBody>
          <a:bodyPr wrap="square" lIns="0" tIns="0" rIns="0" bIns="0" rtlCol="0" anchor="t">
            <a:noAutofit/>
          </a:bodyPr>
          <a:lstStyle/>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Meat and produce suppliers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Beverage suppliers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Paper and plastic suppliers (for packaging)</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Fuel suppliers</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1288" name="TextBox 24">
            <a:extLst>
              <a:ext uri="{FF2B5EF4-FFF2-40B4-BE49-F238E27FC236}">
                <a16:creationId xmlns:a16="http://schemas.microsoft.com/office/drawing/2014/main" id="{F5056F63-0701-E7DC-3F64-E6F6CF9EA75E}"/>
              </a:ext>
            </a:extLst>
          </p:cNvPr>
          <p:cNvSpPr txBox="1"/>
          <p:nvPr/>
        </p:nvSpPr>
        <p:spPr>
          <a:xfrm>
            <a:off x="2694856" y="3502025"/>
            <a:ext cx="2155532" cy="2806700"/>
          </a:xfrm>
          <a:prstGeom prst="rect">
            <a:avLst/>
          </a:prstGeom>
          <a:noFill/>
        </p:spPr>
        <p:txBody>
          <a:bodyPr wrap="square" lIns="0" tIns="0" rIns="0" bIns="0" rtlCol="0" anchor="t">
            <a:noAutofit/>
          </a:bodyPr>
          <a:lstStyle/>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Raw ingredients (meat, vegetables, spices)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Beverages (sodas, juices, etc.)</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Packaging materials (paper, plastic, napkins, etc.)</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Fuel for the truck</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1289" name="TextBox 24">
            <a:extLst>
              <a:ext uri="{FF2B5EF4-FFF2-40B4-BE49-F238E27FC236}">
                <a16:creationId xmlns:a16="http://schemas.microsoft.com/office/drawing/2014/main" id="{74BB5676-9677-B4F4-FA7B-CF1174E4D2AC}"/>
              </a:ext>
            </a:extLst>
          </p:cNvPr>
          <p:cNvSpPr txBox="1"/>
          <p:nvPr/>
        </p:nvSpPr>
        <p:spPr>
          <a:xfrm>
            <a:off x="5018236" y="3502025"/>
            <a:ext cx="2155532" cy="2806700"/>
          </a:xfrm>
          <a:prstGeom prst="rect">
            <a:avLst/>
          </a:prstGeom>
          <a:noFill/>
        </p:spPr>
        <p:txBody>
          <a:bodyPr wrap="square" lIns="0" tIns="0" rIns="0" bIns="0" rtlCol="0" anchor="t">
            <a:noAutofit/>
          </a:bodyPr>
          <a:lstStyle/>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Receive raw ingredients from suppliers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Prep and cook ingredients into tacos, burritos, and other menu items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Package the food and drinks for sale</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Sell food and drinks from the taco truck</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Collect payment from customers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Clean up and restock inventory</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1290" name="TextBox 24">
            <a:extLst>
              <a:ext uri="{FF2B5EF4-FFF2-40B4-BE49-F238E27FC236}">
                <a16:creationId xmlns:a16="http://schemas.microsoft.com/office/drawing/2014/main" id="{BA3022C5-9660-9DAA-0460-6781D5963BA8}"/>
              </a:ext>
            </a:extLst>
          </p:cNvPr>
          <p:cNvSpPr txBox="1"/>
          <p:nvPr/>
        </p:nvSpPr>
        <p:spPr>
          <a:xfrm>
            <a:off x="7341616" y="3502025"/>
            <a:ext cx="2155532" cy="2806700"/>
          </a:xfrm>
          <a:prstGeom prst="rect">
            <a:avLst/>
          </a:prstGeom>
          <a:noFill/>
        </p:spPr>
        <p:txBody>
          <a:bodyPr wrap="square" lIns="0" tIns="0" rIns="0" bIns="0" rtlCol="0" anchor="t">
            <a:noAutofit/>
          </a:bodyPr>
          <a:lstStyle/>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Tacos, burritos, and other menu items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Beverages (sodas, juices, etc.)</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Packaged food and drinks for takeout</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Cash from customer payments</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1291" name="TextBox 24">
            <a:extLst>
              <a:ext uri="{FF2B5EF4-FFF2-40B4-BE49-F238E27FC236}">
                <a16:creationId xmlns:a16="http://schemas.microsoft.com/office/drawing/2014/main" id="{719B7BF2-9FC0-D9DB-A5C4-39CA11969BF1}"/>
              </a:ext>
            </a:extLst>
          </p:cNvPr>
          <p:cNvSpPr txBox="1"/>
          <p:nvPr/>
        </p:nvSpPr>
        <p:spPr>
          <a:xfrm>
            <a:off x="9664994" y="3502025"/>
            <a:ext cx="2155532" cy="2806700"/>
          </a:xfrm>
          <a:prstGeom prst="rect">
            <a:avLst/>
          </a:prstGeom>
          <a:noFill/>
        </p:spPr>
        <p:txBody>
          <a:bodyPr wrap="square" lIns="0" tIns="0" rIns="0" bIns="0" rtlCol="0" anchor="t">
            <a:noAutofit/>
          </a:bodyPr>
          <a:lstStyle/>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Walk-up customers in the vicinity of the taco truck</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Local businesses that order catering for their employees or events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Event planners or organizers who hire the taco truck for events</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11292" name="Conector recto 11291">
            <a:extLst>
              <a:ext uri="{FF2B5EF4-FFF2-40B4-BE49-F238E27FC236}">
                <a16:creationId xmlns:a16="http://schemas.microsoft.com/office/drawing/2014/main" id="{8CB5A5E1-0DE5-C3D0-31BC-C46CACD0D8DB}"/>
              </a:ext>
            </a:extLst>
          </p:cNvPr>
          <p:cNvCxnSpPr>
            <a:cxnSpLocks/>
          </p:cNvCxnSpPr>
          <p:nvPr/>
        </p:nvCxnSpPr>
        <p:spPr>
          <a:xfrm flipV="1">
            <a:off x="2610932" y="3502025"/>
            <a:ext cx="0" cy="280670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93" name="Conector recto 11292">
            <a:extLst>
              <a:ext uri="{FF2B5EF4-FFF2-40B4-BE49-F238E27FC236}">
                <a16:creationId xmlns:a16="http://schemas.microsoft.com/office/drawing/2014/main" id="{68B232BC-4A63-C510-6615-AF9BFCBFBD3F}"/>
              </a:ext>
            </a:extLst>
          </p:cNvPr>
          <p:cNvCxnSpPr>
            <a:cxnSpLocks/>
          </p:cNvCxnSpPr>
          <p:nvPr/>
        </p:nvCxnSpPr>
        <p:spPr>
          <a:xfrm flipV="1">
            <a:off x="4934312" y="3502025"/>
            <a:ext cx="0" cy="280670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94" name="Conector recto 11293">
            <a:extLst>
              <a:ext uri="{FF2B5EF4-FFF2-40B4-BE49-F238E27FC236}">
                <a16:creationId xmlns:a16="http://schemas.microsoft.com/office/drawing/2014/main" id="{8AE62A46-05E8-39B7-82ED-43CF7C6FA6D0}"/>
              </a:ext>
            </a:extLst>
          </p:cNvPr>
          <p:cNvCxnSpPr>
            <a:cxnSpLocks/>
          </p:cNvCxnSpPr>
          <p:nvPr/>
        </p:nvCxnSpPr>
        <p:spPr>
          <a:xfrm flipV="1">
            <a:off x="7257692" y="3502025"/>
            <a:ext cx="0" cy="280670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95" name="Conector recto 11294">
            <a:extLst>
              <a:ext uri="{FF2B5EF4-FFF2-40B4-BE49-F238E27FC236}">
                <a16:creationId xmlns:a16="http://schemas.microsoft.com/office/drawing/2014/main" id="{351264E9-7691-E875-9281-80CABBA99B09}"/>
              </a:ext>
            </a:extLst>
          </p:cNvPr>
          <p:cNvCxnSpPr>
            <a:cxnSpLocks/>
          </p:cNvCxnSpPr>
          <p:nvPr/>
        </p:nvCxnSpPr>
        <p:spPr>
          <a:xfrm flipV="1">
            <a:off x="9581072" y="3502025"/>
            <a:ext cx="0" cy="280670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302" name="TextBox 24">
            <a:extLst>
              <a:ext uri="{FF2B5EF4-FFF2-40B4-BE49-F238E27FC236}">
                <a16:creationId xmlns:a16="http://schemas.microsoft.com/office/drawing/2014/main" id="{5416D872-CBFE-D36B-5749-8D98544CEC60}"/>
              </a:ext>
            </a:extLst>
          </p:cNvPr>
          <p:cNvSpPr txBox="1"/>
          <p:nvPr/>
        </p:nvSpPr>
        <p:spPr>
          <a:xfrm>
            <a:off x="371476" y="1882775"/>
            <a:ext cx="2155532" cy="215444"/>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Supplier</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1303" name="TextBox 24">
            <a:extLst>
              <a:ext uri="{FF2B5EF4-FFF2-40B4-BE49-F238E27FC236}">
                <a16:creationId xmlns:a16="http://schemas.microsoft.com/office/drawing/2014/main" id="{9120F001-E05F-CC81-74F5-072F02A36149}"/>
              </a:ext>
            </a:extLst>
          </p:cNvPr>
          <p:cNvSpPr txBox="1"/>
          <p:nvPr/>
        </p:nvSpPr>
        <p:spPr>
          <a:xfrm>
            <a:off x="2694856" y="1882775"/>
            <a:ext cx="2155532" cy="215444"/>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Inputs</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1304" name="TextBox 24">
            <a:extLst>
              <a:ext uri="{FF2B5EF4-FFF2-40B4-BE49-F238E27FC236}">
                <a16:creationId xmlns:a16="http://schemas.microsoft.com/office/drawing/2014/main" id="{186140A1-9D1C-2740-AB51-8AF0829E8476}"/>
              </a:ext>
            </a:extLst>
          </p:cNvPr>
          <p:cNvSpPr txBox="1"/>
          <p:nvPr/>
        </p:nvSpPr>
        <p:spPr>
          <a:xfrm>
            <a:off x="5018236" y="1882775"/>
            <a:ext cx="2155532" cy="215444"/>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Process</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1305" name="TextBox 24">
            <a:extLst>
              <a:ext uri="{FF2B5EF4-FFF2-40B4-BE49-F238E27FC236}">
                <a16:creationId xmlns:a16="http://schemas.microsoft.com/office/drawing/2014/main" id="{8824C94E-877E-0430-7E77-F91B907F5EE0}"/>
              </a:ext>
            </a:extLst>
          </p:cNvPr>
          <p:cNvSpPr txBox="1"/>
          <p:nvPr/>
        </p:nvSpPr>
        <p:spPr>
          <a:xfrm>
            <a:off x="7341616" y="1882775"/>
            <a:ext cx="2155532" cy="215444"/>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Outputs</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1306" name="TextBox 24">
            <a:extLst>
              <a:ext uri="{FF2B5EF4-FFF2-40B4-BE49-F238E27FC236}">
                <a16:creationId xmlns:a16="http://schemas.microsoft.com/office/drawing/2014/main" id="{6F9D4C38-D713-1F64-81EF-5D5BCB072E8D}"/>
              </a:ext>
            </a:extLst>
          </p:cNvPr>
          <p:cNvSpPr txBox="1"/>
          <p:nvPr/>
        </p:nvSpPr>
        <p:spPr>
          <a:xfrm>
            <a:off x="9664994" y="1882775"/>
            <a:ext cx="2155532" cy="215444"/>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Customers</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11310" name="Conector recto 11309">
            <a:extLst>
              <a:ext uri="{FF2B5EF4-FFF2-40B4-BE49-F238E27FC236}">
                <a16:creationId xmlns:a16="http://schemas.microsoft.com/office/drawing/2014/main" id="{26FF3E0C-CF47-75C2-DB18-9454136105F9}"/>
              </a:ext>
            </a:extLst>
          </p:cNvPr>
          <p:cNvCxnSpPr>
            <a:cxnSpLocks/>
          </p:cNvCxnSpPr>
          <p:nvPr/>
        </p:nvCxnSpPr>
        <p:spPr>
          <a:xfrm>
            <a:off x="371475" y="2289654"/>
            <a:ext cx="1144905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1312" name="Elipse 11311">
            <a:extLst>
              <a:ext uri="{FF2B5EF4-FFF2-40B4-BE49-F238E27FC236}">
                <a16:creationId xmlns:a16="http://schemas.microsoft.com/office/drawing/2014/main" id="{808B1170-C4CE-8B67-6A33-2DB2D734581F}"/>
              </a:ext>
            </a:extLst>
          </p:cNvPr>
          <p:cNvSpPr/>
          <p:nvPr/>
        </p:nvSpPr>
        <p:spPr>
          <a:xfrm>
            <a:off x="3676179" y="2193211"/>
            <a:ext cx="192886" cy="19288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11313" name="Elipse 11312">
            <a:extLst>
              <a:ext uri="{FF2B5EF4-FFF2-40B4-BE49-F238E27FC236}">
                <a16:creationId xmlns:a16="http://schemas.microsoft.com/office/drawing/2014/main" id="{40E42BAC-9C71-86A8-2D30-5C10AC2FABEF}"/>
              </a:ext>
            </a:extLst>
          </p:cNvPr>
          <p:cNvSpPr/>
          <p:nvPr/>
        </p:nvSpPr>
        <p:spPr>
          <a:xfrm>
            <a:off x="1352799" y="2193211"/>
            <a:ext cx="192886" cy="19288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11314" name="Elipse 11313">
            <a:extLst>
              <a:ext uri="{FF2B5EF4-FFF2-40B4-BE49-F238E27FC236}">
                <a16:creationId xmlns:a16="http://schemas.microsoft.com/office/drawing/2014/main" id="{B50B85B2-A942-538A-2715-FA75581F7212}"/>
              </a:ext>
            </a:extLst>
          </p:cNvPr>
          <p:cNvSpPr/>
          <p:nvPr/>
        </p:nvSpPr>
        <p:spPr>
          <a:xfrm>
            <a:off x="5999559" y="2193211"/>
            <a:ext cx="192886" cy="19288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11315" name="Elipse 11314">
            <a:extLst>
              <a:ext uri="{FF2B5EF4-FFF2-40B4-BE49-F238E27FC236}">
                <a16:creationId xmlns:a16="http://schemas.microsoft.com/office/drawing/2014/main" id="{5CE81105-EA1E-4BC4-F49D-97FBC722E5C5}"/>
              </a:ext>
            </a:extLst>
          </p:cNvPr>
          <p:cNvSpPr/>
          <p:nvPr/>
        </p:nvSpPr>
        <p:spPr>
          <a:xfrm>
            <a:off x="10646317" y="2193211"/>
            <a:ext cx="192886" cy="19288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11316" name="Elipse 11315">
            <a:extLst>
              <a:ext uri="{FF2B5EF4-FFF2-40B4-BE49-F238E27FC236}">
                <a16:creationId xmlns:a16="http://schemas.microsoft.com/office/drawing/2014/main" id="{D593AF0F-C221-47A5-44EC-9CD3822F6550}"/>
              </a:ext>
            </a:extLst>
          </p:cNvPr>
          <p:cNvSpPr/>
          <p:nvPr/>
        </p:nvSpPr>
        <p:spPr>
          <a:xfrm>
            <a:off x="8322939" y="2193211"/>
            <a:ext cx="192886" cy="19288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cxnSp>
        <p:nvCxnSpPr>
          <p:cNvPr id="11318" name="Conector recto 11317">
            <a:extLst>
              <a:ext uri="{FF2B5EF4-FFF2-40B4-BE49-F238E27FC236}">
                <a16:creationId xmlns:a16="http://schemas.microsoft.com/office/drawing/2014/main" id="{3C8102F7-7CBD-6EF2-207A-F1AB88F02E82}"/>
              </a:ext>
            </a:extLst>
          </p:cNvPr>
          <p:cNvCxnSpPr>
            <a:cxnSpLocks/>
            <a:stCxn id="11280" idx="0"/>
            <a:endCxn id="11313" idx="4"/>
          </p:cNvCxnSpPr>
          <p:nvPr/>
        </p:nvCxnSpPr>
        <p:spPr>
          <a:xfrm flipV="1">
            <a:off x="1449242" y="2386097"/>
            <a:ext cx="0" cy="18144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21" name="Conector recto 11320">
            <a:extLst>
              <a:ext uri="{FF2B5EF4-FFF2-40B4-BE49-F238E27FC236}">
                <a16:creationId xmlns:a16="http://schemas.microsoft.com/office/drawing/2014/main" id="{B7CAA4F8-0AAC-7D68-2D3A-830749DCA7CD}"/>
              </a:ext>
            </a:extLst>
          </p:cNvPr>
          <p:cNvCxnSpPr>
            <a:cxnSpLocks/>
            <a:stCxn id="11267" idx="0"/>
            <a:endCxn id="11312" idx="4"/>
          </p:cNvCxnSpPr>
          <p:nvPr/>
        </p:nvCxnSpPr>
        <p:spPr>
          <a:xfrm flipV="1">
            <a:off x="3772622" y="2386097"/>
            <a:ext cx="0" cy="18144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24" name="Conector recto 11323">
            <a:extLst>
              <a:ext uri="{FF2B5EF4-FFF2-40B4-BE49-F238E27FC236}">
                <a16:creationId xmlns:a16="http://schemas.microsoft.com/office/drawing/2014/main" id="{5EB659E0-C7F4-8C8C-DD54-7A65670C21E8}"/>
              </a:ext>
            </a:extLst>
          </p:cNvPr>
          <p:cNvCxnSpPr>
            <a:cxnSpLocks/>
            <a:stCxn id="11275" idx="0"/>
            <a:endCxn id="11314" idx="4"/>
          </p:cNvCxnSpPr>
          <p:nvPr/>
        </p:nvCxnSpPr>
        <p:spPr>
          <a:xfrm flipV="1">
            <a:off x="6096001" y="2386097"/>
            <a:ext cx="1" cy="18144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27" name="Conector recto 11326">
            <a:extLst>
              <a:ext uri="{FF2B5EF4-FFF2-40B4-BE49-F238E27FC236}">
                <a16:creationId xmlns:a16="http://schemas.microsoft.com/office/drawing/2014/main" id="{D221D81A-9950-92B8-5BF0-DFE44A60765A}"/>
              </a:ext>
            </a:extLst>
          </p:cNvPr>
          <p:cNvCxnSpPr>
            <a:cxnSpLocks/>
            <a:stCxn id="26" idx="0"/>
            <a:endCxn id="11316" idx="4"/>
          </p:cNvCxnSpPr>
          <p:nvPr/>
        </p:nvCxnSpPr>
        <p:spPr>
          <a:xfrm flipV="1">
            <a:off x="8419382" y="2386097"/>
            <a:ext cx="0" cy="18144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30" name="Conector recto 11329">
            <a:extLst>
              <a:ext uri="{FF2B5EF4-FFF2-40B4-BE49-F238E27FC236}">
                <a16:creationId xmlns:a16="http://schemas.microsoft.com/office/drawing/2014/main" id="{1B93E119-1523-AA4C-FC35-912AA667D793}"/>
              </a:ext>
            </a:extLst>
          </p:cNvPr>
          <p:cNvCxnSpPr>
            <a:cxnSpLocks/>
            <a:stCxn id="17" idx="0"/>
            <a:endCxn id="11315" idx="4"/>
          </p:cNvCxnSpPr>
          <p:nvPr/>
        </p:nvCxnSpPr>
        <p:spPr>
          <a:xfrm flipV="1">
            <a:off x="10742760" y="2386097"/>
            <a:ext cx="0" cy="18144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335" name="TextBox 24">
            <a:extLst>
              <a:ext uri="{FF2B5EF4-FFF2-40B4-BE49-F238E27FC236}">
                <a16:creationId xmlns:a16="http://schemas.microsoft.com/office/drawing/2014/main" id="{842B1BFF-4265-45EC-E0C5-E31361A5F569}"/>
              </a:ext>
            </a:extLst>
          </p:cNvPr>
          <p:cNvSpPr txBox="1"/>
          <p:nvPr/>
        </p:nvSpPr>
        <p:spPr>
          <a:xfrm>
            <a:off x="5018236" y="1524980"/>
            <a:ext cx="2155532" cy="215444"/>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Taco Truck</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2" name="Marcador de pie de página 1">
            <a:extLst>
              <a:ext uri="{FF2B5EF4-FFF2-40B4-BE49-F238E27FC236}">
                <a16:creationId xmlns:a16="http://schemas.microsoft.com/office/drawing/2014/main" id="{EDEABA12-D8D0-35EE-8904-4396D43764E2}"/>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7568910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28" name="Objeto 9227" hidden="1">
            <a:extLst>
              <a:ext uri="{FF2B5EF4-FFF2-40B4-BE49-F238E27FC236}">
                <a16:creationId xmlns:a16="http://schemas.microsoft.com/office/drawing/2014/main" id="{481DB249-FCA0-F667-4CDC-8CD1F36F588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9228" name="Objeto 9227" hidden="1">
                        <a:extLst>
                          <a:ext uri="{FF2B5EF4-FFF2-40B4-BE49-F238E27FC236}">
                            <a16:creationId xmlns:a16="http://schemas.microsoft.com/office/drawing/2014/main" id="{481DB249-FCA0-F667-4CDC-8CD1F36F588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vert="horz"/>
          <a:lstStyle/>
          <a:p>
            <a:r>
              <a:rPr lang="en-US" dirty="0"/>
              <a:t>SIPOC model — Template C</a:t>
            </a:r>
          </a:p>
        </p:txBody>
      </p:sp>
      <p:grpSp>
        <p:nvGrpSpPr>
          <p:cNvPr id="9246" name="Grupo 9245">
            <a:extLst>
              <a:ext uri="{FF2B5EF4-FFF2-40B4-BE49-F238E27FC236}">
                <a16:creationId xmlns:a16="http://schemas.microsoft.com/office/drawing/2014/main" id="{64FCC82D-46DB-7897-4F04-547F1E9D7D58}"/>
              </a:ext>
            </a:extLst>
          </p:cNvPr>
          <p:cNvGrpSpPr/>
          <p:nvPr/>
        </p:nvGrpSpPr>
        <p:grpSpPr>
          <a:xfrm>
            <a:off x="10345158" y="1519371"/>
            <a:ext cx="795204" cy="795204"/>
            <a:chOff x="10345158" y="1519371"/>
            <a:chExt cx="795204" cy="795204"/>
          </a:xfrm>
        </p:grpSpPr>
        <p:sp>
          <p:nvSpPr>
            <p:cNvPr id="9226" name="Elipse 9225">
              <a:extLst>
                <a:ext uri="{FF2B5EF4-FFF2-40B4-BE49-F238E27FC236}">
                  <a16:creationId xmlns:a16="http://schemas.microsoft.com/office/drawing/2014/main" id="{2F35F395-78B7-9DB8-39F9-9838F653630D}"/>
                </a:ext>
              </a:extLst>
            </p:cNvPr>
            <p:cNvSpPr/>
            <p:nvPr/>
          </p:nvSpPr>
          <p:spPr>
            <a:xfrm>
              <a:off x="10345158" y="1519371"/>
              <a:ext cx="795204" cy="79520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nvGrpSpPr>
            <p:cNvPr id="10" name="Group 31">
              <a:extLst>
                <a:ext uri="{FF2B5EF4-FFF2-40B4-BE49-F238E27FC236}">
                  <a16:creationId xmlns:a16="http://schemas.microsoft.com/office/drawing/2014/main" id="{9F9AE78F-9AF1-1771-7C70-1C6AED2D2193}"/>
                </a:ext>
              </a:extLst>
            </p:cNvPr>
            <p:cNvGrpSpPr>
              <a:grpSpLocks noChangeAspect="1"/>
            </p:cNvGrpSpPr>
            <p:nvPr/>
          </p:nvGrpSpPr>
          <p:grpSpPr bwMode="auto">
            <a:xfrm>
              <a:off x="10492669" y="1672566"/>
              <a:ext cx="500182" cy="488814"/>
              <a:chOff x="3619" y="663"/>
              <a:chExt cx="440" cy="430"/>
            </a:xfrm>
            <a:solidFill>
              <a:schemeClr val="tx2"/>
            </a:solidFill>
          </p:grpSpPr>
          <p:sp>
            <p:nvSpPr>
              <p:cNvPr id="11" name="Freeform 32">
                <a:extLst>
                  <a:ext uri="{FF2B5EF4-FFF2-40B4-BE49-F238E27FC236}">
                    <a16:creationId xmlns:a16="http://schemas.microsoft.com/office/drawing/2014/main" id="{401C6BE9-63B1-90FC-2271-745F181651A9}"/>
                  </a:ext>
                </a:extLst>
              </p:cNvPr>
              <p:cNvSpPr>
                <a:spLocks noEditPoints="1"/>
              </p:cNvSpPr>
              <p:nvPr/>
            </p:nvSpPr>
            <p:spPr bwMode="auto">
              <a:xfrm>
                <a:off x="3646" y="806"/>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2" name="Freeform 33">
                <a:extLst>
                  <a:ext uri="{FF2B5EF4-FFF2-40B4-BE49-F238E27FC236}">
                    <a16:creationId xmlns:a16="http://schemas.microsoft.com/office/drawing/2014/main" id="{1BC55ED2-F174-9475-8015-9F3246E0657D}"/>
                  </a:ext>
                </a:extLst>
              </p:cNvPr>
              <p:cNvSpPr>
                <a:spLocks noEditPoints="1"/>
              </p:cNvSpPr>
              <p:nvPr/>
            </p:nvSpPr>
            <p:spPr bwMode="auto">
              <a:xfrm>
                <a:off x="3619" y="914"/>
                <a:ext cx="147"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3" name="Freeform 34">
                <a:extLst>
                  <a:ext uri="{FF2B5EF4-FFF2-40B4-BE49-F238E27FC236}">
                    <a16:creationId xmlns:a16="http://schemas.microsoft.com/office/drawing/2014/main" id="{903A7EBB-3148-48CD-FD24-FA4D5D73AFC4}"/>
                  </a:ext>
                </a:extLst>
              </p:cNvPr>
              <p:cNvSpPr>
                <a:spLocks noEditPoints="1"/>
              </p:cNvSpPr>
              <p:nvPr/>
            </p:nvSpPr>
            <p:spPr bwMode="auto">
              <a:xfrm>
                <a:off x="3940" y="806"/>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4" name="Freeform 35">
                <a:extLst>
                  <a:ext uri="{FF2B5EF4-FFF2-40B4-BE49-F238E27FC236}">
                    <a16:creationId xmlns:a16="http://schemas.microsoft.com/office/drawing/2014/main" id="{B7F493D3-3962-5ABD-8EFB-80CC43738709}"/>
                  </a:ext>
                </a:extLst>
              </p:cNvPr>
              <p:cNvSpPr>
                <a:spLocks noEditPoints="1"/>
              </p:cNvSpPr>
              <p:nvPr/>
            </p:nvSpPr>
            <p:spPr bwMode="auto">
              <a:xfrm>
                <a:off x="3912" y="914"/>
                <a:ext cx="147"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5" name="Freeform 36">
                <a:extLst>
                  <a:ext uri="{FF2B5EF4-FFF2-40B4-BE49-F238E27FC236}">
                    <a16:creationId xmlns:a16="http://schemas.microsoft.com/office/drawing/2014/main" id="{3F666D3E-83BA-E78B-9906-2BE016B6349F}"/>
                  </a:ext>
                </a:extLst>
              </p:cNvPr>
              <p:cNvSpPr>
                <a:spLocks noEditPoints="1"/>
              </p:cNvSpPr>
              <p:nvPr/>
            </p:nvSpPr>
            <p:spPr bwMode="auto">
              <a:xfrm>
                <a:off x="3793" y="663"/>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6" name="Freeform 37">
                <a:extLst>
                  <a:ext uri="{FF2B5EF4-FFF2-40B4-BE49-F238E27FC236}">
                    <a16:creationId xmlns:a16="http://schemas.microsoft.com/office/drawing/2014/main" id="{2604BD15-D753-498A-6FAD-E0323504B990}"/>
                  </a:ext>
                </a:extLst>
              </p:cNvPr>
              <p:cNvSpPr>
                <a:spLocks noEditPoints="1"/>
              </p:cNvSpPr>
              <p:nvPr/>
            </p:nvSpPr>
            <p:spPr bwMode="auto">
              <a:xfrm>
                <a:off x="3766" y="771"/>
                <a:ext cx="146"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grpSp>
        <p:nvGrpSpPr>
          <p:cNvPr id="9247" name="Grupo 9246">
            <a:extLst>
              <a:ext uri="{FF2B5EF4-FFF2-40B4-BE49-F238E27FC236}">
                <a16:creationId xmlns:a16="http://schemas.microsoft.com/office/drawing/2014/main" id="{016780C6-1420-CC21-C0AF-B7DBC7AD9715}"/>
              </a:ext>
            </a:extLst>
          </p:cNvPr>
          <p:cNvGrpSpPr/>
          <p:nvPr/>
        </p:nvGrpSpPr>
        <p:grpSpPr>
          <a:xfrm>
            <a:off x="8021778" y="1519371"/>
            <a:ext cx="795204" cy="795204"/>
            <a:chOff x="8021778" y="1519371"/>
            <a:chExt cx="795204" cy="795204"/>
          </a:xfrm>
        </p:grpSpPr>
        <p:sp>
          <p:nvSpPr>
            <p:cNvPr id="9225" name="Elipse 9224">
              <a:extLst>
                <a:ext uri="{FF2B5EF4-FFF2-40B4-BE49-F238E27FC236}">
                  <a16:creationId xmlns:a16="http://schemas.microsoft.com/office/drawing/2014/main" id="{56C5A167-CFB8-F2AB-E2CD-55888750F078}"/>
                </a:ext>
              </a:extLst>
            </p:cNvPr>
            <p:cNvSpPr/>
            <p:nvPr/>
          </p:nvSpPr>
          <p:spPr>
            <a:xfrm>
              <a:off x="8021778" y="1519371"/>
              <a:ext cx="795204" cy="79520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nvGrpSpPr>
            <p:cNvPr id="17" name="Group 146">
              <a:extLst>
                <a:ext uri="{FF2B5EF4-FFF2-40B4-BE49-F238E27FC236}">
                  <a16:creationId xmlns:a16="http://schemas.microsoft.com/office/drawing/2014/main" id="{FF7B5684-59CA-FC16-6573-BFFD366702B3}"/>
                </a:ext>
              </a:extLst>
            </p:cNvPr>
            <p:cNvGrpSpPr>
              <a:grpSpLocks noChangeAspect="1"/>
            </p:cNvGrpSpPr>
            <p:nvPr/>
          </p:nvGrpSpPr>
          <p:grpSpPr bwMode="auto">
            <a:xfrm>
              <a:off x="8207410" y="1707467"/>
              <a:ext cx="423942" cy="419012"/>
              <a:chOff x="3438" y="1721"/>
              <a:chExt cx="430" cy="425"/>
            </a:xfrm>
            <a:solidFill>
              <a:schemeClr val="tx2"/>
            </a:solidFill>
          </p:grpSpPr>
          <p:sp>
            <p:nvSpPr>
              <p:cNvPr id="18" name="Freeform 147">
                <a:extLst>
                  <a:ext uri="{FF2B5EF4-FFF2-40B4-BE49-F238E27FC236}">
                    <a16:creationId xmlns:a16="http://schemas.microsoft.com/office/drawing/2014/main" id="{BCB3EA2E-812F-3D54-9767-2FB7E847DA0E}"/>
                  </a:ext>
                </a:extLst>
              </p:cNvPr>
              <p:cNvSpPr>
                <a:spLocks noEditPoints="1"/>
              </p:cNvSpPr>
              <p:nvPr/>
            </p:nvSpPr>
            <p:spPr bwMode="auto">
              <a:xfrm>
                <a:off x="3440" y="2004"/>
                <a:ext cx="426" cy="142"/>
              </a:xfrm>
              <a:custGeom>
                <a:avLst/>
                <a:gdLst>
                  <a:gd name="T0" fmla="*/ 282 w 288"/>
                  <a:gd name="T1" fmla="*/ 96 h 96"/>
                  <a:gd name="T2" fmla="*/ 6 w 288"/>
                  <a:gd name="T3" fmla="*/ 96 h 96"/>
                  <a:gd name="T4" fmla="*/ 0 w 288"/>
                  <a:gd name="T5" fmla="*/ 90 h 96"/>
                  <a:gd name="T6" fmla="*/ 0 w 288"/>
                  <a:gd name="T7" fmla="*/ 6 h 96"/>
                  <a:gd name="T8" fmla="*/ 6 w 288"/>
                  <a:gd name="T9" fmla="*/ 0 h 96"/>
                  <a:gd name="T10" fmla="*/ 96 w 288"/>
                  <a:gd name="T11" fmla="*/ 0 h 96"/>
                  <a:gd name="T12" fmla="*/ 102 w 288"/>
                  <a:gd name="T13" fmla="*/ 6 h 96"/>
                  <a:gd name="T14" fmla="*/ 102 w 288"/>
                  <a:gd name="T15" fmla="*/ 18 h 96"/>
                  <a:gd name="T16" fmla="*/ 120 w 288"/>
                  <a:gd name="T17" fmla="*/ 36 h 96"/>
                  <a:gd name="T18" fmla="*/ 174 w 288"/>
                  <a:gd name="T19" fmla="*/ 36 h 96"/>
                  <a:gd name="T20" fmla="*/ 192 w 288"/>
                  <a:gd name="T21" fmla="*/ 18 h 96"/>
                  <a:gd name="T22" fmla="*/ 192 w 288"/>
                  <a:gd name="T23" fmla="*/ 6 h 96"/>
                  <a:gd name="T24" fmla="*/ 198 w 288"/>
                  <a:gd name="T25" fmla="*/ 0 h 96"/>
                  <a:gd name="T26" fmla="*/ 282 w 288"/>
                  <a:gd name="T27" fmla="*/ 0 h 96"/>
                  <a:gd name="T28" fmla="*/ 288 w 288"/>
                  <a:gd name="T29" fmla="*/ 6 h 96"/>
                  <a:gd name="T30" fmla="*/ 288 w 288"/>
                  <a:gd name="T31" fmla="*/ 90 h 96"/>
                  <a:gd name="T32" fmla="*/ 282 w 288"/>
                  <a:gd name="T33" fmla="*/ 96 h 96"/>
                  <a:gd name="T34" fmla="*/ 12 w 288"/>
                  <a:gd name="T35" fmla="*/ 84 h 96"/>
                  <a:gd name="T36" fmla="*/ 276 w 288"/>
                  <a:gd name="T37" fmla="*/ 84 h 96"/>
                  <a:gd name="T38" fmla="*/ 276 w 288"/>
                  <a:gd name="T39" fmla="*/ 12 h 96"/>
                  <a:gd name="T40" fmla="*/ 204 w 288"/>
                  <a:gd name="T41" fmla="*/ 12 h 96"/>
                  <a:gd name="T42" fmla="*/ 204 w 288"/>
                  <a:gd name="T43" fmla="*/ 18 h 96"/>
                  <a:gd name="T44" fmla="*/ 174 w 288"/>
                  <a:gd name="T45" fmla="*/ 48 h 96"/>
                  <a:gd name="T46" fmla="*/ 120 w 288"/>
                  <a:gd name="T47" fmla="*/ 48 h 96"/>
                  <a:gd name="T48" fmla="*/ 90 w 288"/>
                  <a:gd name="T49" fmla="*/ 18 h 96"/>
                  <a:gd name="T50" fmla="*/ 90 w 288"/>
                  <a:gd name="T51" fmla="*/ 12 h 96"/>
                  <a:gd name="T52" fmla="*/ 12 w 288"/>
                  <a:gd name="T53" fmla="*/ 12 h 96"/>
                  <a:gd name="T54" fmla="*/ 12 w 288"/>
                  <a:gd name="T55"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8" h="96">
                    <a:moveTo>
                      <a:pt x="282" y="96"/>
                    </a:moveTo>
                    <a:cubicBezTo>
                      <a:pt x="6" y="96"/>
                      <a:pt x="6" y="96"/>
                      <a:pt x="6" y="96"/>
                    </a:cubicBezTo>
                    <a:cubicBezTo>
                      <a:pt x="3" y="96"/>
                      <a:pt x="0" y="94"/>
                      <a:pt x="0" y="90"/>
                    </a:cubicBezTo>
                    <a:cubicBezTo>
                      <a:pt x="0" y="6"/>
                      <a:pt x="0" y="6"/>
                      <a:pt x="0" y="6"/>
                    </a:cubicBezTo>
                    <a:cubicBezTo>
                      <a:pt x="0" y="3"/>
                      <a:pt x="3" y="0"/>
                      <a:pt x="6" y="0"/>
                    </a:cubicBezTo>
                    <a:cubicBezTo>
                      <a:pt x="96" y="0"/>
                      <a:pt x="96" y="0"/>
                      <a:pt x="96" y="0"/>
                    </a:cubicBezTo>
                    <a:cubicBezTo>
                      <a:pt x="100" y="0"/>
                      <a:pt x="102" y="3"/>
                      <a:pt x="102" y="6"/>
                    </a:cubicBezTo>
                    <a:cubicBezTo>
                      <a:pt x="102" y="18"/>
                      <a:pt x="102" y="18"/>
                      <a:pt x="102" y="18"/>
                    </a:cubicBezTo>
                    <a:cubicBezTo>
                      <a:pt x="102" y="28"/>
                      <a:pt x="110" y="36"/>
                      <a:pt x="120" y="36"/>
                    </a:cubicBezTo>
                    <a:cubicBezTo>
                      <a:pt x="174" y="36"/>
                      <a:pt x="174" y="36"/>
                      <a:pt x="174" y="36"/>
                    </a:cubicBezTo>
                    <a:cubicBezTo>
                      <a:pt x="184" y="36"/>
                      <a:pt x="192" y="28"/>
                      <a:pt x="192" y="18"/>
                    </a:cubicBezTo>
                    <a:cubicBezTo>
                      <a:pt x="192" y="6"/>
                      <a:pt x="192" y="6"/>
                      <a:pt x="192" y="6"/>
                    </a:cubicBezTo>
                    <a:cubicBezTo>
                      <a:pt x="192" y="3"/>
                      <a:pt x="195" y="0"/>
                      <a:pt x="198" y="0"/>
                    </a:cubicBezTo>
                    <a:cubicBezTo>
                      <a:pt x="282" y="0"/>
                      <a:pt x="282" y="0"/>
                      <a:pt x="282" y="0"/>
                    </a:cubicBezTo>
                    <a:cubicBezTo>
                      <a:pt x="286" y="0"/>
                      <a:pt x="288" y="3"/>
                      <a:pt x="288" y="6"/>
                    </a:cubicBezTo>
                    <a:cubicBezTo>
                      <a:pt x="288" y="90"/>
                      <a:pt x="288" y="90"/>
                      <a:pt x="288" y="90"/>
                    </a:cubicBezTo>
                    <a:cubicBezTo>
                      <a:pt x="288" y="94"/>
                      <a:pt x="286" y="96"/>
                      <a:pt x="282" y="96"/>
                    </a:cubicBezTo>
                    <a:close/>
                    <a:moveTo>
                      <a:pt x="12" y="84"/>
                    </a:moveTo>
                    <a:cubicBezTo>
                      <a:pt x="276" y="84"/>
                      <a:pt x="276" y="84"/>
                      <a:pt x="276" y="84"/>
                    </a:cubicBezTo>
                    <a:cubicBezTo>
                      <a:pt x="276" y="12"/>
                      <a:pt x="276" y="12"/>
                      <a:pt x="276" y="12"/>
                    </a:cubicBezTo>
                    <a:cubicBezTo>
                      <a:pt x="204" y="12"/>
                      <a:pt x="204" y="12"/>
                      <a:pt x="204" y="12"/>
                    </a:cubicBezTo>
                    <a:cubicBezTo>
                      <a:pt x="204" y="18"/>
                      <a:pt x="204" y="18"/>
                      <a:pt x="204" y="18"/>
                    </a:cubicBezTo>
                    <a:cubicBezTo>
                      <a:pt x="204" y="35"/>
                      <a:pt x="191" y="48"/>
                      <a:pt x="174" y="48"/>
                    </a:cubicBezTo>
                    <a:cubicBezTo>
                      <a:pt x="120" y="48"/>
                      <a:pt x="120" y="48"/>
                      <a:pt x="120" y="48"/>
                    </a:cubicBezTo>
                    <a:cubicBezTo>
                      <a:pt x="104" y="48"/>
                      <a:pt x="90" y="35"/>
                      <a:pt x="90" y="18"/>
                    </a:cubicBezTo>
                    <a:cubicBezTo>
                      <a:pt x="90" y="12"/>
                      <a:pt x="90" y="12"/>
                      <a:pt x="90"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9" name="Freeform 148">
                <a:extLst>
                  <a:ext uri="{FF2B5EF4-FFF2-40B4-BE49-F238E27FC236}">
                    <a16:creationId xmlns:a16="http://schemas.microsoft.com/office/drawing/2014/main" id="{41F48EEE-A424-E5B6-0DDD-69C16764D7FB}"/>
                  </a:ext>
                </a:extLst>
              </p:cNvPr>
              <p:cNvSpPr>
                <a:spLocks/>
              </p:cNvSpPr>
              <p:nvPr/>
            </p:nvSpPr>
            <p:spPr bwMode="auto">
              <a:xfrm>
                <a:off x="3438" y="1898"/>
                <a:ext cx="144" cy="124"/>
              </a:xfrm>
              <a:custGeom>
                <a:avLst/>
                <a:gdLst>
                  <a:gd name="T0" fmla="*/ 7 w 97"/>
                  <a:gd name="T1" fmla="*/ 84 h 84"/>
                  <a:gd name="T2" fmla="*/ 4 w 97"/>
                  <a:gd name="T3" fmla="*/ 83 h 84"/>
                  <a:gd name="T4" fmla="*/ 2 w 97"/>
                  <a:gd name="T5" fmla="*/ 75 h 84"/>
                  <a:gd name="T6" fmla="*/ 44 w 97"/>
                  <a:gd name="T7" fmla="*/ 3 h 84"/>
                  <a:gd name="T8" fmla="*/ 49 w 97"/>
                  <a:gd name="T9" fmla="*/ 0 h 84"/>
                  <a:gd name="T10" fmla="*/ 91 w 97"/>
                  <a:gd name="T11" fmla="*/ 0 h 84"/>
                  <a:gd name="T12" fmla="*/ 97 w 97"/>
                  <a:gd name="T13" fmla="*/ 6 h 84"/>
                  <a:gd name="T14" fmla="*/ 91 w 97"/>
                  <a:gd name="T15" fmla="*/ 12 h 84"/>
                  <a:gd name="T16" fmla="*/ 53 w 97"/>
                  <a:gd name="T17" fmla="*/ 12 h 84"/>
                  <a:gd name="T18" fmla="*/ 12 w 97"/>
                  <a:gd name="T19" fmla="*/ 81 h 84"/>
                  <a:gd name="T20" fmla="*/ 7 w 97"/>
                  <a:gd name="T2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7" h="84">
                    <a:moveTo>
                      <a:pt x="7" y="84"/>
                    </a:moveTo>
                    <a:cubicBezTo>
                      <a:pt x="6" y="84"/>
                      <a:pt x="5" y="84"/>
                      <a:pt x="4" y="83"/>
                    </a:cubicBezTo>
                    <a:cubicBezTo>
                      <a:pt x="1" y="82"/>
                      <a:pt x="0" y="78"/>
                      <a:pt x="2" y="75"/>
                    </a:cubicBezTo>
                    <a:cubicBezTo>
                      <a:pt x="44" y="3"/>
                      <a:pt x="44" y="3"/>
                      <a:pt x="44" y="3"/>
                    </a:cubicBezTo>
                    <a:cubicBezTo>
                      <a:pt x="45" y="1"/>
                      <a:pt x="47" y="0"/>
                      <a:pt x="49" y="0"/>
                    </a:cubicBezTo>
                    <a:cubicBezTo>
                      <a:pt x="91" y="0"/>
                      <a:pt x="91" y="0"/>
                      <a:pt x="91" y="0"/>
                    </a:cubicBezTo>
                    <a:cubicBezTo>
                      <a:pt x="95" y="0"/>
                      <a:pt x="97" y="3"/>
                      <a:pt x="97" y="6"/>
                    </a:cubicBezTo>
                    <a:cubicBezTo>
                      <a:pt x="97" y="10"/>
                      <a:pt x="95" y="12"/>
                      <a:pt x="91" y="12"/>
                    </a:cubicBezTo>
                    <a:cubicBezTo>
                      <a:pt x="53" y="12"/>
                      <a:pt x="53" y="12"/>
                      <a:pt x="53" y="12"/>
                    </a:cubicBezTo>
                    <a:cubicBezTo>
                      <a:pt x="12" y="81"/>
                      <a:pt x="12" y="81"/>
                      <a:pt x="12" y="81"/>
                    </a:cubicBezTo>
                    <a:cubicBezTo>
                      <a:pt x="11" y="83"/>
                      <a:pt x="9" y="84"/>
                      <a:pt x="7"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0" name="Freeform 149">
                <a:extLst>
                  <a:ext uri="{FF2B5EF4-FFF2-40B4-BE49-F238E27FC236}">
                    <a16:creationId xmlns:a16="http://schemas.microsoft.com/office/drawing/2014/main" id="{F3C802CB-9223-7853-178B-358378BC6A2D}"/>
                  </a:ext>
                </a:extLst>
              </p:cNvPr>
              <p:cNvSpPr>
                <a:spLocks/>
              </p:cNvSpPr>
              <p:nvPr/>
            </p:nvSpPr>
            <p:spPr bwMode="auto">
              <a:xfrm>
                <a:off x="3742" y="1898"/>
                <a:ext cx="126" cy="124"/>
              </a:xfrm>
              <a:custGeom>
                <a:avLst/>
                <a:gdLst>
                  <a:gd name="T0" fmla="*/ 78 w 85"/>
                  <a:gd name="T1" fmla="*/ 84 h 84"/>
                  <a:gd name="T2" fmla="*/ 73 w 85"/>
                  <a:gd name="T3" fmla="*/ 81 h 84"/>
                  <a:gd name="T4" fmla="*/ 33 w 85"/>
                  <a:gd name="T5" fmla="*/ 12 h 84"/>
                  <a:gd name="T6" fmla="*/ 6 w 85"/>
                  <a:gd name="T7" fmla="*/ 12 h 84"/>
                  <a:gd name="T8" fmla="*/ 0 w 85"/>
                  <a:gd name="T9" fmla="*/ 6 h 84"/>
                  <a:gd name="T10" fmla="*/ 6 w 85"/>
                  <a:gd name="T11" fmla="*/ 0 h 84"/>
                  <a:gd name="T12" fmla="*/ 36 w 85"/>
                  <a:gd name="T13" fmla="*/ 0 h 84"/>
                  <a:gd name="T14" fmla="*/ 41 w 85"/>
                  <a:gd name="T15" fmla="*/ 3 h 84"/>
                  <a:gd name="T16" fmla="*/ 83 w 85"/>
                  <a:gd name="T17" fmla="*/ 75 h 84"/>
                  <a:gd name="T18" fmla="*/ 81 w 85"/>
                  <a:gd name="T19" fmla="*/ 83 h 84"/>
                  <a:gd name="T20" fmla="*/ 78 w 85"/>
                  <a:gd name="T2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84">
                    <a:moveTo>
                      <a:pt x="78" y="84"/>
                    </a:moveTo>
                    <a:cubicBezTo>
                      <a:pt x="76" y="84"/>
                      <a:pt x="74" y="83"/>
                      <a:pt x="73" y="81"/>
                    </a:cubicBezTo>
                    <a:cubicBezTo>
                      <a:pt x="33" y="12"/>
                      <a:pt x="33" y="12"/>
                      <a:pt x="33" y="12"/>
                    </a:cubicBezTo>
                    <a:cubicBezTo>
                      <a:pt x="6" y="12"/>
                      <a:pt x="6" y="12"/>
                      <a:pt x="6" y="12"/>
                    </a:cubicBezTo>
                    <a:cubicBezTo>
                      <a:pt x="3" y="12"/>
                      <a:pt x="0" y="10"/>
                      <a:pt x="0" y="6"/>
                    </a:cubicBezTo>
                    <a:cubicBezTo>
                      <a:pt x="0" y="3"/>
                      <a:pt x="3" y="0"/>
                      <a:pt x="6" y="0"/>
                    </a:cubicBezTo>
                    <a:cubicBezTo>
                      <a:pt x="36" y="0"/>
                      <a:pt x="36" y="0"/>
                      <a:pt x="36" y="0"/>
                    </a:cubicBezTo>
                    <a:cubicBezTo>
                      <a:pt x="38" y="0"/>
                      <a:pt x="40" y="1"/>
                      <a:pt x="41" y="3"/>
                    </a:cubicBezTo>
                    <a:cubicBezTo>
                      <a:pt x="83" y="75"/>
                      <a:pt x="83" y="75"/>
                      <a:pt x="83" y="75"/>
                    </a:cubicBezTo>
                    <a:cubicBezTo>
                      <a:pt x="85" y="78"/>
                      <a:pt x="84" y="82"/>
                      <a:pt x="81" y="83"/>
                    </a:cubicBezTo>
                    <a:cubicBezTo>
                      <a:pt x="80" y="84"/>
                      <a:pt x="79"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1" name="Freeform 150">
                <a:extLst>
                  <a:ext uri="{FF2B5EF4-FFF2-40B4-BE49-F238E27FC236}">
                    <a16:creationId xmlns:a16="http://schemas.microsoft.com/office/drawing/2014/main" id="{A03A64BD-7BF3-6EE2-1944-CC5AC7C604DA}"/>
                  </a:ext>
                </a:extLst>
              </p:cNvPr>
              <p:cNvSpPr>
                <a:spLocks/>
              </p:cNvSpPr>
              <p:nvPr/>
            </p:nvSpPr>
            <p:spPr bwMode="auto">
              <a:xfrm>
                <a:off x="3653" y="1721"/>
                <a:ext cx="18" cy="213"/>
              </a:xfrm>
              <a:custGeom>
                <a:avLst/>
                <a:gdLst>
                  <a:gd name="T0" fmla="*/ 6 w 12"/>
                  <a:gd name="T1" fmla="*/ 144 h 144"/>
                  <a:gd name="T2" fmla="*/ 0 w 12"/>
                  <a:gd name="T3" fmla="*/ 138 h 144"/>
                  <a:gd name="T4" fmla="*/ 0 w 12"/>
                  <a:gd name="T5" fmla="*/ 6 h 144"/>
                  <a:gd name="T6" fmla="*/ 6 w 12"/>
                  <a:gd name="T7" fmla="*/ 0 h 144"/>
                  <a:gd name="T8" fmla="*/ 12 w 12"/>
                  <a:gd name="T9" fmla="*/ 6 h 144"/>
                  <a:gd name="T10" fmla="*/ 12 w 12"/>
                  <a:gd name="T11" fmla="*/ 138 h 144"/>
                  <a:gd name="T12" fmla="*/ 6 w 12"/>
                  <a:gd name="T13" fmla="*/ 144 h 144"/>
                </a:gdLst>
                <a:ahLst/>
                <a:cxnLst>
                  <a:cxn ang="0">
                    <a:pos x="T0" y="T1"/>
                  </a:cxn>
                  <a:cxn ang="0">
                    <a:pos x="T2" y="T3"/>
                  </a:cxn>
                  <a:cxn ang="0">
                    <a:pos x="T4" y="T5"/>
                  </a:cxn>
                  <a:cxn ang="0">
                    <a:pos x="T6" y="T7"/>
                  </a:cxn>
                  <a:cxn ang="0">
                    <a:pos x="T8" y="T9"/>
                  </a:cxn>
                  <a:cxn ang="0">
                    <a:pos x="T10" y="T11"/>
                  </a:cxn>
                  <a:cxn ang="0">
                    <a:pos x="T12" y="T13"/>
                  </a:cxn>
                </a:cxnLst>
                <a:rect l="0" t="0" r="r" b="b"/>
                <a:pathLst>
                  <a:path w="12" h="144">
                    <a:moveTo>
                      <a:pt x="6" y="144"/>
                    </a:moveTo>
                    <a:cubicBezTo>
                      <a:pt x="3" y="144"/>
                      <a:pt x="0" y="142"/>
                      <a:pt x="0" y="138"/>
                    </a:cubicBezTo>
                    <a:cubicBezTo>
                      <a:pt x="0" y="6"/>
                      <a:pt x="0" y="6"/>
                      <a:pt x="0" y="6"/>
                    </a:cubicBezTo>
                    <a:cubicBezTo>
                      <a:pt x="0" y="3"/>
                      <a:pt x="3" y="0"/>
                      <a:pt x="6" y="0"/>
                    </a:cubicBezTo>
                    <a:cubicBezTo>
                      <a:pt x="10" y="0"/>
                      <a:pt x="12" y="3"/>
                      <a:pt x="12" y="6"/>
                    </a:cubicBezTo>
                    <a:cubicBezTo>
                      <a:pt x="12" y="138"/>
                      <a:pt x="12" y="138"/>
                      <a:pt x="12" y="138"/>
                    </a:cubicBezTo>
                    <a:cubicBezTo>
                      <a:pt x="12" y="142"/>
                      <a:pt x="10" y="144"/>
                      <a:pt x="6"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2" name="Freeform 151">
                <a:extLst>
                  <a:ext uri="{FF2B5EF4-FFF2-40B4-BE49-F238E27FC236}">
                    <a16:creationId xmlns:a16="http://schemas.microsoft.com/office/drawing/2014/main" id="{2CE71F02-D03C-8795-8923-51B14F98A913}"/>
                  </a:ext>
                </a:extLst>
              </p:cNvPr>
              <p:cNvSpPr>
                <a:spLocks/>
              </p:cNvSpPr>
              <p:nvPr/>
            </p:nvSpPr>
            <p:spPr bwMode="auto">
              <a:xfrm>
                <a:off x="3582" y="1721"/>
                <a:ext cx="161" cy="90"/>
              </a:xfrm>
              <a:custGeom>
                <a:avLst/>
                <a:gdLst>
                  <a:gd name="T0" fmla="*/ 102 w 109"/>
                  <a:gd name="T1" fmla="*/ 60 h 61"/>
                  <a:gd name="T2" fmla="*/ 98 w 109"/>
                  <a:gd name="T3" fmla="*/ 58 h 61"/>
                  <a:gd name="T4" fmla="*/ 54 w 109"/>
                  <a:gd name="T5" fmla="*/ 15 h 61"/>
                  <a:gd name="T6" fmla="*/ 10 w 109"/>
                  <a:gd name="T7" fmla="*/ 58 h 61"/>
                  <a:gd name="T8" fmla="*/ 2 w 109"/>
                  <a:gd name="T9" fmla="*/ 58 h 61"/>
                  <a:gd name="T10" fmla="*/ 2 w 109"/>
                  <a:gd name="T11" fmla="*/ 50 h 61"/>
                  <a:gd name="T12" fmla="*/ 50 w 109"/>
                  <a:gd name="T13" fmla="*/ 2 h 61"/>
                  <a:gd name="T14" fmla="*/ 58 w 109"/>
                  <a:gd name="T15" fmla="*/ 2 h 61"/>
                  <a:gd name="T16" fmla="*/ 106 w 109"/>
                  <a:gd name="T17" fmla="*/ 50 h 61"/>
                  <a:gd name="T18" fmla="*/ 106 w 109"/>
                  <a:gd name="T19" fmla="*/ 58 h 61"/>
                  <a:gd name="T20" fmla="*/ 102 w 109"/>
                  <a:gd name="T21" fmla="*/ 6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61">
                    <a:moveTo>
                      <a:pt x="102" y="60"/>
                    </a:moveTo>
                    <a:cubicBezTo>
                      <a:pt x="101" y="60"/>
                      <a:pt x="99" y="60"/>
                      <a:pt x="98" y="58"/>
                    </a:cubicBezTo>
                    <a:cubicBezTo>
                      <a:pt x="54" y="15"/>
                      <a:pt x="54" y="15"/>
                      <a:pt x="54" y="15"/>
                    </a:cubicBezTo>
                    <a:cubicBezTo>
                      <a:pt x="10" y="58"/>
                      <a:pt x="10" y="58"/>
                      <a:pt x="10" y="58"/>
                    </a:cubicBezTo>
                    <a:cubicBezTo>
                      <a:pt x="8" y="61"/>
                      <a:pt x="4" y="61"/>
                      <a:pt x="2" y="58"/>
                    </a:cubicBezTo>
                    <a:cubicBezTo>
                      <a:pt x="0" y="56"/>
                      <a:pt x="0" y="52"/>
                      <a:pt x="2" y="50"/>
                    </a:cubicBezTo>
                    <a:cubicBezTo>
                      <a:pt x="50" y="2"/>
                      <a:pt x="50" y="2"/>
                      <a:pt x="50" y="2"/>
                    </a:cubicBezTo>
                    <a:cubicBezTo>
                      <a:pt x="52" y="0"/>
                      <a:pt x="56" y="0"/>
                      <a:pt x="58" y="2"/>
                    </a:cubicBezTo>
                    <a:cubicBezTo>
                      <a:pt x="106" y="50"/>
                      <a:pt x="106" y="50"/>
                      <a:pt x="106" y="50"/>
                    </a:cubicBezTo>
                    <a:cubicBezTo>
                      <a:pt x="109" y="52"/>
                      <a:pt x="109" y="56"/>
                      <a:pt x="106" y="58"/>
                    </a:cubicBezTo>
                    <a:cubicBezTo>
                      <a:pt x="105" y="60"/>
                      <a:pt x="104" y="60"/>
                      <a:pt x="102"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grpSp>
        <p:nvGrpSpPr>
          <p:cNvPr id="9249" name="Grupo 9248">
            <a:extLst>
              <a:ext uri="{FF2B5EF4-FFF2-40B4-BE49-F238E27FC236}">
                <a16:creationId xmlns:a16="http://schemas.microsoft.com/office/drawing/2014/main" id="{87A3E0D1-8455-ACE4-9650-21A77E497E29}"/>
              </a:ext>
            </a:extLst>
          </p:cNvPr>
          <p:cNvGrpSpPr/>
          <p:nvPr/>
        </p:nvGrpSpPr>
        <p:grpSpPr>
          <a:xfrm>
            <a:off x="3533036" y="1519371"/>
            <a:ext cx="795204" cy="795204"/>
            <a:chOff x="3533036" y="1519371"/>
            <a:chExt cx="795204" cy="795204"/>
          </a:xfrm>
        </p:grpSpPr>
        <p:sp>
          <p:nvSpPr>
            <p:cNvPr id="9223" name="Elipse 9222">
              <a:extLst>
                <a:ext uri="{FF2B5EF4-FFF2-40B4-BE49-F238E27FC236}">
                  <a16:creationId xmlns:a16="http://schemas.microsoft.com/office/drawing/2014/main" id="{A5BB5293-9A1E-D5D0-A0C6-5998CF5E2CCF}"/>
                </a:ext>
              </a:extLst>
            </p:cNvPr>
            <p:cNvSpPr/>
            <p:nvPr/>
          </p:nvSpPr>
          <p:spPr>
            <a:xfrm>
              <a:off x="3533036" y="1519371"/>
              <a:ext cx="795204" cy="79520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nvGrpSpPr>
            <p:cNvPr id="23" name="Group 19">
              <a:extLst>
                <a:ext uri="{FF2B5EF4-FFF2-40B4-BE49-F238E27FC236}">
                  <a16:creationId xmlns:a16="http://schemas.microsoft.com/office/drawing/2014/main" id="{2BE65B78-F079-93A4-7618-FBE75568400F}"/>
                </a:ext>
              </a:extLst>
            </p:cNvPr>
            <p:cNvGrpSpPr>
              <a:grpSpLocks noChangeAspect="1"/>
            </p:cNvGrpSpPr>
            <p:nvPr/>
          </p:nvGrpSpPr>
          <p:grpSpPr bwMode="auto">
            <a:xfrm>
              <a:off x="3720618" y="1707932"/>
              <a:ext cx="420042" cy="418082"/>
              <a:chOff x="2402" y="437"/>
              <a:chExt cx="429" cy="427"/>
            </a:xfrm>
            <a:solidFill>
              <a:schemeClr val="tx2"/>
            </a:solidFill>
          </p:grpSpPr>
          <p:sp>
            <p:nvSpPr>
              <p:cNvPr id="24" name="Freeform 20">
                <a:extLst>
                  <a:ext uri="{FF2B5EF4-FFF2-40B4-BE49-F238E27FC236}">
                    <a16:creationId xmlns:a16="http://schemas.microsoft.com/office/drawing/2014/main" id="{9FDC6761-B1E6-DA16-F3D6-C774BADD5956}"/>
                  </a:ext>
                </a:extLst>
              </p:cNvPr>
              <p:cNvSpPr>
                <a:spLocks noEditPoints="1"/>
              </p:cNvSpPr>
              <p:nvPr/>
            </p:nvSpPr>
            <p:spPr bwMode="auto">
              <a:xfrm>
                <a:off x="2403" y="721"/>
                <a:ext cx="427" cy="143"/>
              </a:xfrm>
              <a:custGeom>
                <a:avLst/>
                <a:gdLst>
                  <a:gd name="T0" fmla="*/ 282 w 288"/>
                  <a:gd name="T1" fmla="*/ 96 h 96"/>
                  <a:gd name="T2" fmla="*/ 6 w 288"/>
                  <a:gd name="T3" fmla="*/ 96 h 96"/>
                  <a:gd name="T4" fmla="*/ 0 w 288"/>
                  <a:gd name="T5" fmla="*/ 90 h 96"/>
                  <a:gd name="T6" fmla="*/ 0 w 288"/>
                  <a:gd name="T7" fmla="*/ 6 h 96"/>
                  <a:gd name="T8" fmla="*/ 6 w 288"/>
                  <a:gd name="T9" fmla="*/ 0 h 96"/>
                  <a:gd name="T10" fmla="*/ 96 w 288"/>
                  <a:gd name="T11" fmla="*/ 0 h 96"/>
                  <a:gd name="T12" fmla="*/ 102 w 288"/>
                  <a:gd name="T13" fmla="*/ 6 h 96"/>
                  <a:gd name="T14" fmla="*/ 102 w 288"/>
                  <a:gd name="T15" fmla="*/ 18 h 96"/>
                  <a:gd name="T16" fmla="*/ 120 w 288"/>
                  <a:gd name="T17" fmla="*/ 36 h 96"/>
                  <a:gd name="T18" fmla="*/ 174 w 288"/>
                  <a:gd name="T19" fmla="*/ 36 h 96"/>
                  <a:gd name="T20" fmla="*/ 192 w 288"/>
                  <a:gd name="T21" fmla="*/ 18 h 96"/>
                  <a:gd name="T22" fmla="*/ 192 w 288"/>
                  <a:gd name="T23" fmla="*/ 6 h 96"/>
                  <a:gd name="T24" fmla="*/ 198 w 288"/>
                  <a:gd name="T25" fmla="*/ 0 h 96"/>
                  <a:gd name="T26" fmla="*/ 282 w 288"/>
                  <a:gd name="T27" fmla="*/ 0 h 96"/>
                  <a:gd name="T28" fmla="*/ 288 w 288"/>
                  <a:gd name="T29" fmla="*/ 6 h 96"/>
                  <a:gd name="T30" fmla="*/ 288 w 288"/>
                  <a:gd name="T31" fmla="*/ 90 h 96"/>
                  <a:gd name="T32" fmla="*/ 282 w 288"/>
                  <a:gd name="T33" fmla="*/ 96 h 96"/>
                  <a:gd name="T34" fmla="*/ 12 w 288"/>
                  <a:gd name="T35" fmla="*/ 84 h 96"/>
                  <a:gd name="T36" fmla="*/ 276 w 288"/>
                  <a:gd name="T37" fmla="*/ 84 h 96"/>
                  <a:gd name="T38" fmla="*/ 276 w 288"/>
                  <a:gd name="T39" fmla="*/ 12 h 96"/>
                  <a:gd name="T40" fmla="*/ 204 w 288"/>
                  <a:gd name="T41" fmla="*/ 12 h 96"/>
                  <a:gd name="T42" fmla="*/ 204 w 288"/>
                  <a:gd name="T43" fmla="*/ 18 h 96"/>
                  <a:gd name="T44" fmla="*/ 174 w 288"/>
                  <a:gd name="T45" fmla="*/ 48 h 96"/>
                  <a:gd name="T46" fmla="*/ 120 w 288"/>
                  <a:gd name="T47" fmla="*/ 48 h 96"/>
                  <a:gd name="T48" fmla="*/ 90 w 288"/>
                  <a:gd name="T49" fmla="*/ 18 h 96"/>
                  <a:gd name="T50" fmla="*/ 90 w 288"/>
                  <a:gd name="T51" fmla="*/ 12 h 96"/>
                  <a:gd name="T52" fmla="*/ 12 w 288"/>
                  <a:gd name="T53" fmla="*/ 12 h 96"/>
                  <a:gd name="T54" fmla="*/ 12 w 288"/>
                  <a:gd name="T55" fmla="*/ 8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8" h="96">
                    <a:moveTo>
                      <a:pt x="282" y="96"/>
                    </a:moveTo>
                    <a:cubicBezTo>
                      <a:pt x="6" y="96"/>
                      <a:pt x="6" y="96"/>
                      <a:pt x="6" y="96"/>
                    </a:cubicBezTo>
                    <a:cubicBezTo>
                      <a:pt x="3" y="96"/>
                      <a:pt x="0" y="93"/>
                      <a:pt x="0" y="90"/>
                    </a:cubicBezTo>
                    <a:cubicBezTo>
                      <a:pt x="0" y="6"/>
                      <a:pt x="0" y="6"/>
                      <a:pt x="0" y="6"/>
                    </a:cubicBezTo>
                    <a:cubicBezTo>
                      <a:pt x="0" y="3"/>
                      <a:pt x="3" y="0"/>
                      <a:pt x="6" y="0"/>
                    </a:cubicBezTo>
                    <a:cubicBezTo>
                      <a:pt x="96" y="0"/>
                      <a:pt x="96" y="0"/>
                      <a:pt x="96" y="0"/>
                    </a:cubicBezTo>
                    <a:cubicBezTo>
                      <a:pt x="99" y="0"/>
                      <a:pt x="102" y="3"/>
                      <a:pt x="102" y="6"/>
                    </a:cubicBezTo>
                    <a:cubicBezTo>
                      <a:pt x="102" y="18"/>
                      <a:pt x="102" y="18"/>
                      <a:pt x="102" y="18"/>
                    </a:cubicBezTo>
                    <a:cubicBezTo>
                      <a:pt x="102" y="28"/>
                      <a:pt x="110" y="36"/>
                      <a:pt x="120" y="36"/>
                    </a:cubicBezTo>
                    <a:cubicBezTo>
                      <a:pt x="174" y="36"/>
                      <a:pt x="174" y="36"/>
                      <a:pt x="174" y="36"/>
                    </a:cubicBezTo>
                    <a:cubicBezTo>
                      <a:pt x="184" y="36"/>
                      <a:pt x="192" y="28"/>
                      <a:pt x="192" y="18"/>
                    </a:cubicBezTo>
                    <a:cubicBezTo>
                      <a:pt x="192" y="6"/>
                      <a:pt x="192" y="6"/>
                      <a:pt x="192" y="6"/>
                    </a:cubicBezTo>
                    <a:cubicBezTo>
                      <a:pt x="192" y="3"/>
                      <a:pt x="195" y="0"/>
                      <a:pt x="198" y="0"/>
                    </a:cubicBezTo>
                    <a:cubicBezTo>
                      <a:pt x="282" y="0"/>
                      <a:pt x="282" y="0"/>
                      <a:pt x="282" y="0"/>
                    </a:cubicBezTo>
                    <a:cubicBezTo>
                      <a:pt x="285" y="0"/>
                      <a:pt x="288" y="3"/>
                      <a:pt x="288" y="6"/>
                    </a:cubicBezTo>
                    <a:cubicBezTo>
                      <a:pt x="288" y="90"/>
                      <a:pt x="288" y="90"/>
                      <a:pt x="288" y="90"/>
                    </a:cubicBezTo>
                    <a:cubicBezTo>
                      <a:pt x="288" y="93"/>
                      <a:pt x="285" y="96"/>
                      <a:pt x="282" y="96"/>
                    </a:cubicBezTo>
                    <a:close/>
                    <a:moveTo>
                      <a:pt x="12" y="84"/>
                    </a:moveTo>
                    <a:cubicBezTo>
                      <a:pt x="276" y="84"/>
                      <a:pt x="276" y="84"/>
                      <a:pt x="276" y="84"/>
                    </a:cubicBezTo>
                    <a:cubicBezTo>
                      <a:pt x="276" y="12"/>
                      <a:pt x="276" y="12"/>
                      <a:pt x="276" y="12"/>
                    </a:cubicBezTo>
                    <a:cubicBezTo>
                      <a:pt x="204" y="12"/>
                      <a:pt x="204" y="12"/>
                      <a:pt x="204" y="12"/>
                    </a:cubicBezTo>
                    <a:cubicBezTo>
                      <a:pt x="204" y="18"/>
                      <a:pt x="204" y="18"/>
                      <a:pt x="204" y="18"/>
                    </a:cubicBezTo>
                    <a:cubicBezTo>
                      <a:pt x="204" y="35"/>
                      <a:pt x="190" y="48"/>
                      <a:pt x="174" y="48"/>
                    </a:cubicBezTo>
                    <a:cubicBezTo>
                      <a:pt x="120" y="48"/>
                      <a:pt x="120" y="48"/>
                      <a:pt x="120" y="48"/>
                    </a:cubicBezTo>
                    <a:cubicBezTo>
                      <a:pt x="103" y="48"/>
                      <a:pt x="90" y="35"/>
                      <a:pt x="90" y="18"/>
                    </a:cubicBezTo>
                    <a:cubicBezTo>
                      <a:pt x="90" y="12"/>
                      <a:pt x="90" y="12"/>
                      <a:pt x="90" y="12"/>
                    </a:cubicBezTo>
                    <a:cubicBezTo>
                      <a:pt x="12" y="12"/>
                      <a:pt x="12" y="12"/>
                      <a:pt x="12" y="12"/>
                    </a:cubicBezTo>
                    <a:lnTo>
                      <a:pt x="12"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5" name="Freeform 21">
                <a:extLst>
                  <a:ext uri="{FF2B5EF4-FFF2-40B4-BE49-F238E27FC236}">
                    <a16:creationId xmlns:a16="http://schemas.microsoft.com/office/drawing/2014/main" id="{788AB7E9-1137-731B-C0BC-5ED9099659FB}"/>
                  </a:ext>
                </a:extLst>
              </p:cNvPr>
              <p:cNvSpPr>
                <a:spLocks/>
              </p:cNvSpPr>
              <p:nvPr/>
            </p:nvSpPr>
            <p:spPr bwMode="auto">
              <a:xfrm>
                <a:off x="2402" y="615"/>
                <a:ext cx="126" cy="124"/>
              </a:xfrm>
              <a:custGeom>
                <a:avLst/>
                <a:gdLst>
                  <a:gd name="T0" fmla="*/ 7 w 85"/>
                  <a:gd name="T1" fmla="*/ 84 h 84"/>
                  <a:gd name="T2" fmla="*/ 4 w 85"/>
                  <a:gd name="T3" fmla="*/ 83 h 84"/>
                  <a:gd name="T4" fmla="*/ 2 w 85"/>
                  <a:gd name="T5" fmla="*/ 75 h 84"/>
                  <a:gd name="T6" fmla="*/ 44 w 85"/>
                  <a:gd name="T7" fmla="*/ 3 h 84"/>
                  <a:gd name="T8" fmla="*/ 49 w 85"/>
                  <a:gd name="T9" fmla="*/ 0 h 84"/>
                  <a:gd name="T10" fmla="*/ 79 w 85"/>
                  <a:gd name="T11" fmla="*/ 0 h 84"/>
                  <a:gd name="T12" fmla="*/ 85 w 85"/>
                  <a:gd name="T13" fmla="*/ 6 h 84"/>
                  <a:gd name="T14" fmla="*/ 79 w 85"/>
                  <a:gd name="T15" fmla="*/ 12 h 84"/>
                  <a:gd name="T16" fmla="*/ 52 w 85"/>
                  <a:gd name="T17" fmla="*/ 12 h 84"/>
                  <a:gd name="T18" fmla="*/ 12 w 85"/>
                  <a:gd name="T19" fmla="*/ 81 h 84"/>
                  <a:gd name="T20" fmla="*/ 7 w 85"/>
                  <a:gd name="T2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84">
                    <a:moveTo>
                      <a:pt x="7" y="84"/>
                    </a:moveTo>
                    <a:cubicBezTo>
                      <a:pt x="6" y="84"/>
                      <a:pt x="5" y="84"/>
                      <a:pt x="4" y="83"/>
                    </a:cubicBezTo>
                    <a:cubicBezTo>
                      <a:pt x="1" y="82"/>
                      <a:pt x="0" y="78"/>
                      <a:pt x="2" y="75"/>
                    </a:cubicBezTo>
                    <a:cubicBezTo>
                      <a:pt x="44" y="3"/>
                      <a:pt x="44" y="3"/>
                      <a:pt x="44" y="3"/>
                    </a:cubicBezTo>
                    <a:cubicBezTo>
                      <a:pt x="45" y="1"/>
                      <a:pt x="47" y="0"/>
                      <a:pt x="49" y="0"/>
                    </a:cubicBezTo>
                    <a:cubicBezTo>
                      <a:pt x="79" y="0"/>
                      <a:pt x="79" y="0"/>
                      <a:pt x="79" y="0"/>
                    </a:cubicBezTo>
                    <a:cubicBezTo>
                      <a:pt x="82" y="0"/>
                      <a:pt x="85" y="3"/>
                      <a:pt x="85" y="6"/>
                    </a:cubicBezTo>
                    <a:cubicBezTo>
                      <a:pt x="85" y="9"/>
                      <a:pt x="82" y="12"/>
                      <a:pt x="79" y="12"/>
                    </a:cubicBezTo>
                    <a:cubicBezTo>
                      <a:pt x="52" y="12"/>
                      <a:pt x="52" y="12"/>
                      <a:pt x="52" y="12"/>
                    </a:cubicBezTo>
                    <a:cubicBezTo>
                      <a:pt x="12" y="81"/>
                      <a:pt x="12" y="81"/>
                      <a:pt x="12" y="81"/>
                    </a:cubicBezTo>
                    <a:cubicBezTo>
                      <a:pt x="11" y="83"/>
                      <a:pt x="9" y="84"/>
                      <a:pt x="7"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6" name="Freeform 22">
                <a:extLst>
                  <a:ext uri="{FF2B5EF4-FFF2-40B4-BE49-F238E27FC236}">
                    <a16:creationId xmlns:a16="http://schemas.microsoft.com/office/drawing/2014/main" id="{1980D43D-F160-230A-0AF3-A63E7A079627}"/>
                  </a:ext>
                </a:extLst>
              </p:cNvPr>
              <p:cNvSpPr>
                <a:spLocks/>
              </p:cNvSpPr>
              <p:nvPr/>
            </p:nvSpPr>
            <p:spPr bwMode="auto">
              <a:xfrm>
                <a:off x="2696" y="615"/>
                <a:ext cx="135" cy="124"/>
              </a:xfrm>
              <a:custGeom>
                <a:avLst/>
                <a:gdLst>
                  <a:gd name="T0" fmla="*/ 84 w 91"/>
                  <a:gd name="T1" fmla="*/ 84 h 84"/>
                  <a:gd name="T2" fmla="*/ 79 w 91"/>
                  <a:gd name="T3" fmla="*/ 81 h 84"/>
                  <a:gd name="T4" fmla="*/ 38 w 91"/>
                  <a:gd name="T5" fmla="*/ 12 h 84"/>
                  <a:gd name="T6" fmla="*/ 6 w 91"/>
                  <a:gd name="T7" fmla="*/ 12 h 84"/>
                  <a:gd name="T8" fmla="*/ 0 w 91"/>
                  <a:gd name="T9" fmla="*/ 6 h 84"/>
                  <a:gd name="T10" fmla="*/ 6 w 91"/>
                  <a:gd name="T11" fmla="*/ 0 h 84"/>
                  <a:gd name="T12" fmla="*/ 42 w 91"/>
                  <a:gd name="T13" fmla="*/ 0 h 84"/>
                  <a:gd name="T14" fmla="*/ 47 w 91"/>
                  <a:gd name="T15" fmla="*/ 3 h 84"/>
                  <a:gd name="T16" fmla="*/ 89 w 91"/>
                  <a:gd name="T17" fmla="*/ 75 h 84"/>
                  <a:gd name="T18" fmla="*/ 87 w 91"/>
                  <a:gd name="T19" fmla="*/ 83 h 84"/>
                  <a:gd name="T20" fmla="*/ 84 w 91"/>
                  <a:gd name="T2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84">
                    <a:moveTo>
                      <a:pt x="84" y="84"/>
                    </a:moveTo>
                    <a:cubicBezTo>
                      <a:pt x="82" y="84"/>
                      <a:pt x="80" y="83"/>
                      <a:pt x="79" y="81"/>
                    </a:cubicBezTo>
                    <a:cubicBezTo>
                      <a:pt x="38" y="12"/>
                      <a:pt x="38" y="12"/>
                      <a:pt x="38" y="12"/>
                    </a:cubicBezTo>
                    <a:cubicBezTo>
                      <a:pt x="6" y="12"/>
                      <a:pt x="6" y="12"/>
                      <a:pt x="6" y="12"/>
                    </a:cubicBezTo>
                    <a:cubicBezTo>
                      <a:pt x="3" y="12"/>
                      <a:pt x="0" y="9"/>
                      <a:pt x="0" y="6"/>
                    </a:cubicBezTo>
                    <a:cubicBezTo>
                      <a:pt x="0" y="3"/>
                      <a:pt x="3" y="0"/>
                      <a:pt x="6" y="0"/>
                    </a:cubicBezTo>
                    <a:cubicBezTo>
                      <a:pt x="42" y="0"/>
                      <a:pt x="42" y="0"/>
                      <a:pt x="42" y="0"/>
                    </a:cubicBezTo>
                    <a:cubicBezTo>
                      <a:pt x="44" y="0"/>
                      <a:pt x="46" y="1"/>
                      <a:pt x="47" y="3"/>
                    </a:cubicBezTo>
                    <a:cubicBezTo>
                      <a:pt x="89" y="75"/>
                      <a:pt x="89" y="75"/>
                      <a:pt x="89" y="75"/>
                    </a:cubicBezTo>
                    <a:cubicBezTo>
                      <a:pt x="91" y="78"/>
                      <a:pt x="90" y="82"/>
                      <a:pt x="87" y="83"/>
                    </a:cubicBezTo>
                    <a:cubicBezTo>
                      <a:pt x="86" y="84"/>
                      <a:pt x="85" y="84"/>
                      <a:pt x="8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7" name="Freeform 23">
                <a:extLst>
                  <a:ext uri="{FF2B5EF4-FFF2-40B4-BE49-F238E27FC236}">
                    <a16:creationId xmlns:a16="http://schemas.microsoft.com/office/drawing/2014/main" id="{D1456FCA-B43F-0C8D-811B-0A75A0E60940}"/>
                  </a:ext>
                </a:extLst>
              </p:cNvPr>
              <p:cNvSpPr>
                <a:spLocks/>
              </p:cNvSpPr>
              <p:nvPr/>
            </p:nvSpPr>
            <p:spPr bwMode="auto">
              <a:xfrm>
                <a:off x="2599" y="437"/>
                <a:ext cx="18" cy="213"/>
              </a:xfrm>
              <a:custGeom>
                <a:avLst/>
                <a:gdLst>
                  <a:gd name="T0" fmla="*/ 6 w 12"/>
                  <a:gd name="T1" fmla="*/ 144 h 144"/>
                  <a:gd name="T2" fmla="*/ 0 w 12"/>
                  <a:gd name="T3" fmla="*/ 138 h 144"/>
                  <a:gd name="T4" fmla="*/ 0 w 12"/>
                  <a:gd name="T5" fmla="*/ 6 h 144"/>
                  <a:gd name="T6" fmla="*/ 6 w 12"/>
                  <a:gd name="T7" fmla="*/ 0 h 144"/>
                  <a:gd name="T8" fmla="*/ 12 w 12"/>
                  <a:gd name="T9" fmla="*/ 6 h 144"/>
                  <a:gd name="T10" fmla="*/ 12 w 12"/>
                  <a:gd name="T11" fmla="*/ 138 h 144"/>
                  <a:gd name="T12" fmla="*/ 6 w 12"/>
                  <a:gd name="T13" fmla="*/ 144 h 144"/>
                </a:gdLst>
                <a:ahLst/>
                <a:cxnLst>
                  <a:cxn ang="0">
                    <a:pos x="T0" y="T1"/>
                  </a:cxn>
                  <a:cxn ang="0">
                    <a:pos x="T2" y="T3"/>
                  </a:cxn>
                  <a:cxn ang="0">
                    <a:pos x="T4" y="T5"/>
                  </a:cxn>
                  <a:cxn ang="0">
                    <a:pos x="T6" y="T7"/>
                  </a:cxn>
                  <a:cxn ang="0">
                    <a:pos x="T8" y="T9"/>
                  </a:cxn>
                  <a:cxn ang="0">
                    <a:pos x="T10" y="T11"/>
                  </a:cxn>
                  <a:cxn ang="0">
                    <a:pos x="T12" y="T13"/>
                  </a:cxn>
                </a:cxnLst>
                <a:rect l="0" t="0" r="r" b="b"/>
                <a:pathLst>
                  <a:path w="12" h="144">
                    <a:moveTo>
                      <a:pt x="6" y="144"/>
                    </a:moveTo>
                    <a:cubicBezTo>
                      <a:pt x="3" y="144"/>
                      <a:pt x="0" y="141"/>
                      <a:pt x="0" y="138"/>
                    </a:cubicBezTo>
                    <a:cubicBezTo>
                      <a:pt x="0" y="6"/>
                      <a:pt x="0" y="6"/>
                      <a:pt x="0" y="6"/>
                    </a:cubicBezTo>
                    <a:cubicBezTo>
                      <a:pt x="0" y="3"/>
                      <a:pt x="3" y="0"/>
                      <a:pt x="6" y="0"/>
                    </a:cubicBezTo>
                    <a:cubicBezTo>
                      <a:pt x="9" y="0"/>
                      <a:pt x="12" y="3"/>
                      <a:pt x="12" y="6"/>
                    </a:cubicBezTo>
                    <a:cubicBezTo>
                      <a:pt x="12" y="138"/>
                      <a:pt x="12" y="138"/>
                      <a:pt x="12" y="138"/>
                    </a:cubicBezTo>
                    <a:cubicBezTo>
                      <a:pt x="12" y="141"/>
                      <a:pt x="9" y="144"/>
                      <a:pt x="6"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8" name="Freeform 24">
                <a:extLst>
                  <a:ext uri="{FF2B5EF4-FFF2-40B4-BE49-F238E27FC236}">
                    <a16:creationId xmlns:a16="http://schemas.microsoft.com/office/drawing/2014/main" id="{870F4AC9-904F-F2FD-0425-23D04FBB7E72}"/>
                  </a:ext>
                </a:extLst>
              </p:cNvPr>
              <p:cNvSpPr>
                <a:spLocks/>
              </p:cNvSpPr>
              <p:nvPr/>
            </p:nvSpPr>
            <p:spPr bwMode="auto">
              <a:xfrm>
                <a:off x="2526" y="560"/>
                <a:ext cx="162" cy="90"/>
              </a:xfrm>
              <a:custGeom>
                <a:avLst/>
                <a:gdLst>
                  <a:gd name="T0" fmla="*/ 55 w 109"/>
                  <a:gd name="T1" fmla="*/ 61 h 61"/>
                  <a:gd name="T2" fmla="*/ 51 w 109"/>
                  <a:gd name="T3" fmla="*/ 59 h 61"/>
                  <a:gd name="T4" fmla="*/ 3 w 109"/>
                  <a:gd name="T5" fmla="*/ 11 h 61"/>
                  <a:gd name="T6" fmla="*/ 3 w 109"/>
                  <a:gd name="T7" fmla="*/ 3 h 61"/>
                  <a:gd name="T8" fmla="*/ 11 w 109"/>
                  <a:gd name="T9" fmla="*/ 3 h 61"/>
                  <a:gd name="T10" fmla="*/ 55 w 109"/>
                  <a:gd name="T11" fmla="*/ 47 h 61"/>
                  <a:gd name="T12" fmla="*/ 99 w 109"/>
                  <a:gd name="T13" fmla="*/ 3 h 61"/>
                  <a:gd name="T14" fmla="*/ 107 w 109"/>
                  <a:gd name="T15" fmla="*/ 3 h 61"/>
                  <a:gd name="T16" fmla="*/ 107 w 109"/>
                  <a:gd name="T17" fmla="*/ 11 h 61"/>
                  <a:gd name="T18" fmla="*/ 59 w 109"/>
                  <a:gd name="T19" fmla="*/ 59 h 61"/>
                  <a:gd name="T20" fmla="*/ 55 w 109"/>
                  <a:gd name="T21" fmla="*/ 6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61">
                    <a:moveTo>
                      <a:pt x="55" y="61"/>
                    </a:moveTo>
                    <a:cubicBezTo>
                      <a:pt x="53" y="61"/>
                      <a:pt x="52" y="60"/>
                      <a:pt x="51" y="59"/>
                    </a:cubicBezTo>
                    <a:cubicBezTo>
                      <a:pt x="3" y="11"/>
                      <a:pt x="3" y="11"/>
                      <a:pt x="3" y="11"/>
                    </a:cubicBezTo>
                    <a:cubicBezTo>
                      <a:pt x="0" y="9"/>
                      <a:pt x="0" y="5"/>
                      <a:pt x="3" y="3"/>
                    </a:cubicBezTo>
                    <a:cubicBezTo>
                      <a:pt x="5" y="0"/>
                      <a:pt x="9" y="0"/>
                      <a:pt x="11" y="3"/>
                    </a:cubicBezTo>
                    <a:cubicBezTo>
                      <a:pt x="55" y="47"/>
                      <a:pt x="55" y="47"/>
                      <a:pt x="55" y="47"/>
                    </a:cubicBezTo>
                    <a:cubicBezTo>
                      <a:pt x="99" y="3"/>
                      <a:pt x="99" y="3"/>
                      <a:pt x="99" y="3"/>
                    </a:cubicBezTo>
                    <a:cubicBezTo>
                      <a:pt x="101" y="0"/>
                      <a:pt x="105" y="0"/>
                      <a:pt x="107" y="3"/>
                    </a:cubicBezTo>
                    <a:cubicBezTo>
                      <a:pt x="109" y="5"/>
                      <a:pt x="109" y="9"/>
                      <a:pt x="107" y="11"/>
                    </a:cubicBezTo>
                    <a:cubicBezTo>
                      <a:pt x="59" y="59"/>
                      <a:pt x="59" y="59"/>
                      <a:pt x="59" y="59"/>
                    </a:cubicBezTo>
                    <a:cubicBezTo>
                      <a:pt x="58" y="60"/>
                      <a:pt x="56" y="61"/>
                      <a:pt x="55"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grpSp>
        <p:nvGrpSpPr>
          <p:cNvPr id="9248" name="Grupo 9247">
            <a:extLst>
              <a:ext uri="{FF2B5EF4-FFF2-40B4-BE49-F238E27FC236}">
                <a16:creationId xmlns:a16="http://schemas.microsoft.com/office/drawing/2014/main" id="{15E04AF0-5D8D-415B-F3A0-51688EB7C388}"/>
              </a:ext>
            </a:extLst>
          </p:cNvPr>
          <p:cNvGrpSpPr/>
          <p:nvPr/>
        </p:nvGrpSpPr>
        <p:grpSpPr>
          <a:xfrm>
            <a:off x="5698399" y="1519371"/>
            <a:ext cx="795204" cy="795204"/>
            <a:chOff x="5698399" y="1519371"/>
            <a:chExt cx="795204" cy="795204"/>
          </a:xfrm>
        </p:grpSpPr>
        <p:sp>
          <p:nvSpPr>
            <p:cNvPr id="9224" name="Elipse 9223">
              <a:extLst>
                <a:ext uri="{FF2B5EF4-FFF2-40B4-BE49-F238E27FC236}">
                  <a16:creationId xmlns:a16="http://schemas.microsoft.com/office/drawing/2014/main" id="{0CF60551-0D28-764A-CFCB-F6F78A757BC3}"/>
                </a:ext>
              </a:extLst>
            </p:cNvPr>
            <p:cNvSpPr/>
            <p:nvPr/>
          </p:nvSpPr>
          <p:spPr>
            <a:xfrm>
              <a:off x="5698399" y="1519371"/>
              <a:ext cx="795204" cy="79520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nvGrpSpPr>
            <p:cNvPr id="29" name="Group 28">
              <a:extLst>
                <a:ext uri="{FF2B5EF4-FFF2-40B4-BE49-F238E27FC236}">
                  <a16:creationId xmlns:a16="http://schemas.microsoft.com/office/drawing/2014/main" id="{B4245858-42D1-9189-7DF8-7B61896E04F2}"/>
                </a:ext>
              </a:extLst>
            </p:cNvPr>
            <p:cNvGrpSpPr>
              <a:grpSpLocks noChangeAspect="1"/>
            </p:cNvGrpSpPr>
            <p:nvPr/>
          </p:nvGrpSpPr>
          <p:grpSpPr bwMode="auto">
            <a:xfrm>
              <a:off x="5887178" y="1708150"/>
              <a:ext cx="417648" cy="417646"/>
              <a:chOff x="2402" y="439"/>
              <a:chExt cx="426" cy="426"/>
            </a:xfrm>
            <a:solidFill>
              <a:schemeClr val="tx2"/>
            </a:solidFill>
          </p:grpSpPr>
          <p:sp>
            <p:nvSpPr>
              <p:cNvPr id="30" name="Freeform 29">
                <a:extLst>
                  <a:ext uri="{FF2B5EF4-FFF2-40B4-BE49-F238E27FC236}">
                    <a16:creationId xmlns:a16="http://schemas.microsoft.com/office/drawing/2014/main" id="{0E537C32-3859-864A-27A4-C97627858CED}"/>
                  </a:ext>
                </a:extLst>
              </p:cNvPr>
              <p:cNvSpPr>
                <a:spLocks noEditPoints="1"/>
              </p:cNvSpPr>
              <p:nvPr/>
            </p:nvSpPr>
            <p:spPr bwMode="auto">
              <a:xfrm>
                <a:off x="2402" y="439"/>
                <a:ext cx="426"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2 w 288"/>
                  <a:gd name="T33" fmla="*/ 59 h 288"/>
                  <a:gd name="T34" fmla="*/ 262 w 288"/>
                  <a:gd name="T35" fmla="*/ 67 h 288"/>
                  <a:gd name="T36" fmla="*/ 247 w 288"/>
                  <a:gd name="T37" fmla="*/ 120 h 288"/>
                  <a:gd name="T38" fmla="*/ 288 w 288"/>
                  <a:gd name="T39" fmla="*/ 126 h 288"/>
                  <a:gd name="T40" fmla="*/ 282 w 288"/>
                  <a:gd name="T41" fmla="*/ 168 h 288"/>
                  <a:gd name="T42" fmla="*/ 238 w 288"/>
                  <a:gd name="T43" fmla="*/ 196 h 288"/>
                  <a:gd name="T44" fmla="*/ 262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6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6 w 288"/>
                  <a:gd name="T81" fmla="*/ 61 h 288"/>
                  <a:gd name="T82" fmla="*/ 38 w 288"/>
                  <a:gd name="T83" fmla="*/ 63 h 288"/>
                  <a:gd name="T84" fmla="*/ 62 w 288"/>
                  <a:gd name="T85" fmla="*/ 94 h 288"/>
                  <a:gd name="T86" fmla="*/ 45 w 288"/>
                  <a:gd name="T87" fmla="*/ 132 h 288"/>
                  <a:gd name="T88" fmla="*/ 12 w 288"/>
                  <a:gd name="T89" fmla="*/ 156 h 288"/>
                  <a:gd name="T90" fmla="*/ 50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2"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5" y="188"/>
                      <a:pt x="42" y="177"/>
                      <a:pt x="40" y="168"/>
                    </a:cubicBezTo>
                    <a:cubicBezTo>
                      <a:pt x="6" y="168"/>
                      <a:pt x="6" y="168"/>
                      <a:pt x="6" y="168"/>
                    </a:cubicBezTo>
                    <a:cubicBezTo>
                      <a:pt x="2" y="168"/>
                      <a:pt x="0" y="165"/>
                      <a:pt x="0" y="162"/>
                    </a:cubicBezTo>
                    <a:cubicBezTo>
                      <a:pt x="0" y="126"/>
                      <a:pt x="0" y="126"/>
                      <a:pt x="0" y="126"/>
                    </a:cubicBezTo>
                    <a:cubicBezTo>
                      <a:pt x="0" y="122"/>
                      <a:pt x="2" y="120"/>
                      <a:pt x="6" y="120"/>
                    </a:cubicBezTo>
                    <a:cubicBezTo>
                      <a:pt x="40" y="120"/>
                      <a:pt x="40" y="120"/>
                      <a:pt x="40" y="120"/>
                    </a:cubicBezTo>
                    <a:cubicBezTo>
                      <a:pt x="42" y="110"/>
                      <a:pt x="45"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2"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2" y="23"/>
                      <a:pt x="226" y="23"/>
                      <a:pt x="228" y="25"/>
                    </a:cubicBezTo>
                    <a:cubicBezTo>
                      <a:pt x="262" y="59"/>
                      <a:pt x="262" y="59"/>
                      <a:pt x="262" y="59"/>
                    </a:cubicBezTo>
                    <a:cubicBezTo>
                      <a:pt x="264" y="60"/>
                      <a:pt x="264" y="61"/>
                      <a:pt x="264" y="63"/>
                    </a:cubicBezTo>
                    <a:cubicBezTo>
                      <a:pt x="264" y="65"/>
                      <a:pt x="264" y="66"/>
                      <a:pt x="262" y="67"/>
                    </a:cubicBezTo>
                    <a:cubicBezTo>
                      <a:pt x="238" y="92"/>
                      <a:pt x="238" y="92"/>
                      <a:pt x="238" y="92"/>
                    </a:cubicBezTo>
                    <a:cubicBezTo>
                      <a:pt x="242" y="100"/>
                      <a:pt x="245" y="110"/>
                      <a:pt x="247"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7" y="168"/>
                      <a:pt x="247" y="168"/>
                      <a:pt x="247" y="168"/>
                    </a:cubicBezTo>
                    <a:cubicBezTo>
                      <a:pt x="245" y="177"/>
                      <a:pt x="242" y="188"/>
                      <a:pt x="238" y="196"/>
                    </a:cubicBezTo>
                    <a:cubicBezTo>
                      <a:pt x="262" y="220"/>
                      <a:pt x="262" y="220"/>
                      <a:pt x="262" y="220"/>
                    </a:cubicBezTo>
                    <a:cubicBezTo>
                      <a:pt x="265" y="222"/>
                      <a:pt x="265" y="226"/>
                      <a:pt x="262" y="229"/>
                    </a:cubicBezTo>
                    <a:cubicBezTo>
                      <a:pt x="228" y="262"/>
                      <a:pt x="228" y="262"/>
                      <a:pt x="228" y="262"/>
                    </a:cubicBezTo>
                    <a:cubicBezTo>
                      <a:pt x="226" y="265"/>
                      <a:pt x="222"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6" y="201"/>
                      <a:pt x="226" y="201"/>
                      <a:pt x="226" y="201"/>
                    </a:cubicBezTo>
                    <a:cubicBezTo>
                      <a:pt x="224"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7" y="130"/>
                      <a:pt x="237" y="127"/>
                    </a:cubicBezTo>
                    <a:cubicBezTo>
                      <a:pt x="235" y="120"/>
                      <a:pt x="231" y="103"/>
                      <a:pt x="226" y="94"/>
                    </a:cubicBezTo>
                    <a:cubicBezTo>
                      <a:pt x="224" y="91"/>
                      <a:pt x="224" y="88"/>
                      <a:pt x="226"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5" y="56"/>
                      <a:pt x="167" y="52"/>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20" y="52"/>
                      <a:pt x="103" y="56"/>
                      <a:pt x="94" y="62"/>
                    </a:cubicBezTo>
                    <a:cubicBezTo>
                      <a:pt x="91" y="63"/>
                      <a:pt x="88" y="63"/>
                      <a:pt x="86" y="61"/>
                    </a:cubicBezTo>
                    <a:cubicBezTo>
                      <a:pt x="63" y="38"/>
                      <a:pt x="63" y="38"/>
                      <a:pt x="63" y="38"/>
                    </a:cubicBezTo>
                    <a:cubicBezTo>
                      <a:pt x="38" y="63"/>
                      <a:pt x="38" y="63"/>
                      <a:pt x="38" y="63"/>
                    </a:cubicBezTo>
                    <a:cubicBezTo>
                      <a:pt x="61" y="86"/>
                      <a:pt x="61" y="86"/>
                      <a:pt x="61" y="86"/>
                    </a:cubicBezTo>
                    <a:cubicBezTo>
                      <a:pt x="63" y="88"/>
                      <a:pt x="63" y="91"/>
                      <a:pt x="62" y="94"/>
                    </a:cubicBezTo>
                    <a:cubicBezTo>
                      <a:pt x="56" y="103"/>
                      <a:pt x="52" y="120"/>
                      <a:pt x="50" y="127"/>
                    </a:cubicBezTo>
                    <a:cubicBezTo>
                      <a:pt x="50" y="130"/>
                      <a:pt x="47" y="132"/>
                      <a:pt x="45" y="132"/>
                    </a:cubicBezTo>
                    <a:cubicBezTo>
                      <a:pt x="12" y="132"/>
                      <a:pt x="12" y="132"/>
                      <a:pt x="12" y="132"/>
                    </a:cubicBezTo>
                    <a:cubicBezTo>
                      <a:pt x="12" y="156"/>
                      <a:pt x="12" y="156"/>
                      <a:pt x="12" y="156"/>
                    </a:cubicBezTo>
                    <a:cubicBezTo>
                      <a:pt x="45" y="156"/>
                      <a:pt x="45" y="156"/>
                      <a:pt x="45" y="156"/>
                    </a:cubicBezTo>
                    <a:cubicBezTo>
                      <a:pt x="47" y="156"/>
                      <a:pt x="50" y="158"/>
                      <a:pt x="50" y="160"/>
                    </a:cubicBezTo>
                    <a:cubicBezTo>
                      <a:pt x="52" y="167"/>
                      <a:pt x="56" y="185"/>
                      <a:pt x="62" y="194"/>
                    </a:cubicBezTo>
                    <a:cubicBezTo>
                      <a:pt x="63" y="196"/>
                      <a:pt x="63" y="199"/>
                      <a:pt x="61" y="201"/>
                    </a:cubicBezTo>
                    <a:cubicBezTo>
                      <a:pt x="38" y="224"/>
                      <a:pt x="38" y="224"/>
                      <a:pt x="38" y="224"/>
                    </a:cubicBezTo>
                    <a:cubicBezTo>
                      <a:pt x="63" y="250"/>
                      <a:pt x="63" y="250"/>
                      <a:pt x="63" y="250"/>
                    </a:cubicBezTo>
                    <a:cubicBezTo>
                      <a:pt x="86" y="226"/>
                      <a:pt x="86" y="226"/>
                      <a:pt x="86" y="226"/>
                    </a:cubicBezTo>
                    <a:cubicBezTo>
                      <a:pt x="88" y="224"/>
                      <a:pt x="91" y="224"/>
                      <a:pt x="94" y="226"/>
                    </a:cubicBezTo>
                    <a:cubicBezTo>
                      <a:pt x="103" y="231"/>
                      <a:pt x="120"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1" name="Freeform 30">
                <a:extLst>
                  <a:ext uri="{FF2B5EF4-FFF2-40B4-BE49-F238E27FC236}">
                    <a16:creationId xmlns:a16="http://schemas.microsoft.com/office/drawing/2014/main" id="{5C0CF053-DE23-51F7-4B44-87C3D8050548}"/>
                  </a:ext>
                </a:extLst>
              </p:cNvPr>
              <p:cNvSpPr>
                <a:spLocks noEditPoints="1"/>
              </p:cNvSpPr>
              <p:nvPr/>
            </p:nvSpPr>
            <p:spPr bwMode="auto">
              <a:xfrm>
                <a:off x="2526" y="563"/>
                <a:ext cx="178" cy="178"/>
              </a:xfrm>
              <a:custGeom>
                <a:avLst/>
                <a:gdLst>
                  <a:gd name="T0" fmla="*/ 60 w 120"/>
                  <a:gd name="T1" fmla="*/ 120 h 120"/>
                  <a:gd name="T2" fmla="*/ 0 w 120"/>
                  <a:gd name="T3" fmla="*/ 60 h 120"/>
                  <a:gd name="T4" fmla="*/ 60 w 120"/>
                  <a:gd name="T5" fmla="*/ 0 h 120"/>
                  <a:gd name="T6" fmla="*/ 120 w 120"/>
                  <a:gd name="T7" fmla="*/ 60 h 120"/>
                  <a:gd name="T8" fmla="*/ 60 w 120"/>
                  <a:gd name="T9" fmla="*/ 120 h 120"/>
                  <a:gd name="T10" fmla="*/ 60 w 120"/>
                  <a:gd name="T11" fmla="*/ 12 h 120"/>
                  <a:gd name="T12" fmla="*/ 12 w 120"/>
                  <a:gd name="T13" fmla="*/ 60 h 120"/>
                  <a:gd name="T14" fmla="*/ 60 w 120"/>
                  <a:gd name="T15" fmla="*/ 108 h 120"/>
                  <a:gd name="T16" fmla="*/ 108 w 120"/>
                  <a:gd name="T17" fmla="*/ 60 h 120"/>
                  <a:gd name="T18" fmla="*/ 60 w 120"/>
                  <a:gd name="T19" fmla="*/ 1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 h="120">
                    <a:moveTo>
                      <a:pt x="60" y="120"/>
                    </a:moveTo>
                    <a:cubicBezTo>
                      <a:pt x="27" y="120"/>
                      <a:pt x="0" y="93"/>
                      <a:pt x="0" y="60"/>
                    </a:cubicBezTo>
                    <a:cubicBezTo>
                      <a:pt x="0" y="27"/>
                      <a:pt x="27" y="0"/>
                      <a:pt x="60" y="0"/>
                    </a:cubicBezTo>
                    <a:cubicBezTo>
                      <a:pt x="93" y="0"/>
                      <a:pt x="120" y="27"/>
                      <a:pt x="120" y="60"/>
                    </a:cubicBezTo>
                    <a:cubicBezTo>
                      <a:pt x="120" y="93"/>
                      <a:pt x="93" y="120"/>
                      <a:pt x="60" y="120"/>
                    </a:cubicBezTo>
                    <a:close/>
                    <a:moveTo>
                      <a:pt x="60" y="12"/>
                    </a:moveTo>
                    <a:cubicBezTo>
                      <a:pt x="33" y="12"/>
                      <a:pt x="12" y="33"/>
                      <a:pt x="12" y="60"/>
                    </a:cubicBezTo>
                    <a:cubicBezTo>
                      <a:pt x="12" y="86"/>
                      <a:pt x="33" y="108"/>
                      <a:pt x="60" y="108"/>
                    </a:cubicBezTo>
                    <a:cubicBezTo>
                      <a:pt x="86" y="108"/>
                      <a:pt x="108" y="86"/>
                      <a:pt x="108" y="60"/>
                    </a:cubicBezTo>
                    <a:cubicBezTo>
                      <a:pt x="108" y="33"/>
                      <a:pt x="86" y="12"/>
                      <a:pt x="6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grpSp>
        <p:nvGrpSpPr>
          <p:cNvPr id="9250" name="Grupo 9249">
            <a:extLst>
              <a:ext uri="{FF2B5EF4-FFF2-40B4-BE49-F238E27FC236}">
                <a16:creationId xmlns:a16="http://schemas.microsoft.com/office/drawing/2014/main" id="{AF981980-EE18-6802-7480-2D04110FDB1F}"/>
              </a:ext>
            </a:extLst>
          </p:cNvPr>
          <p:cNvGrpSpPr/>
          <p:nvPr/>
        </p:nvGrpSpPr>
        <p:grpSpPr>
          <a:xfrm>
            <a:off x="1051640" y="1519371"/>
            <a:ext cx="795204" cy="795204"/>
            <a:chOff x="1051640" y="1519371"/>
            <a:chExt cx="795204" cy="795204"/>
          </a:xfrm>
        </p:grpSpPr>
        <p:sp>
          <p:nvSpPr>
            <p:cNvPr id="9" name="Elipse 8">
              <a:extLst>
                <a:ext uri="{FF2B5EF4-FFF2-40B4-BE49-F238E27FC236}">
                  <a16:creationId xmlns:a16="http://schemas.microsoft.com/office/drawing/2014/main" id="{C93D31DF-30D8-AD40-7436-0D0E735240EF}"/>
                </a:ext>
              </a:extLst>
            </p:cNvPr>
            <p:cNvSpPr/>
            <p:nvPr/>
          </p:nvSpPr>
          <p:spPr>
            <a:xfrm>
              <a:off x="1051640" y="1519371"/>
              <a:ext cx="795204" cy="795204"/>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grpSp>
          <p:nvGrpSpPr>
            <p:cNvPr id="9216" name="Group 166">
              <a:extLst>
                <a:ext uri="{FF2B5EF4-FFF2-40B4-BE49-F238E27FC236}">
                  <a16:creationId xmlns:a16="http://schemas.microsoft.com/office/drawing/2014/main" id="{368C2900-14F4-30EE-11C5-03FE91EA4ECD}"/>
                </a:ext>
              </a:extLst>
            </p:cNvPr>
            <p:cNvGrpSpPr>
              <a:grpSpLocks noChangeAspect="1"/>
            </p:cNvGrpSpPr>
            <p:nvPr/>
          </p:nvGrpSpPr>
          <p:grpSpPr bwMode="auto">
            <a:xfrm>
              <a:off x="1229023" y="1693119"/>
              <a:ext cx="440438" cy="447708"/>
              <a:chOff x="6728" y="3219"/>
              <a:chExt cx="424" cy="431"/>
            </a:xfrm>
            <a:solidFill>
              <a:schemeClr val="tx2"/>
            </a:solidFill>
          </p:grpSpPr>
          <p:sp>
            <p:nvSpPr>
              <p:cNvPr id="9217" name="Rectangle 167">
                <a:extLst>
                  <a:ext uri="{FF2B5EF4-FFF2-40B4-BE49-F238E27FC236}">
                    <a16:creationId xmlns:a16="http://schemas.microsoft.com/office/drawing/2014/main" id="{B2E7C479-1493-5698-EA5C-7F084B26CBF2}"/>
                  </a:ext>
                </a:extLst>
              </p:cNvPr>
              <p:cNvSpPr>
                <a:spLocks noChangeArrowheads="1"/>
              </p:cNvSpPr>
              <p:nvPr/>
            </p:nvSpPr>
            <p:spPr bwMode="auto">
              <a:xfrm>
                <a:off x="6949" y="3430"/>
                <a:ext cx="18" cy="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9219" name="Freeform 168">
                <a:extLst>
                  <a:ext uri="{FF2B5EF4-FFF2-40B4-BE49-F238E27FC236}">
                    <a16:creationId xmlns:a16="http://schemas.microsoft.com/office/drawing/2014/main" id="{F6CE1AEE-32ED-E6AC-52BF-417DA4BEB649}"/>
                  </a:ext>
                </a:extLst>
              </p:cNvPr>
              <p:cNvSpPr>
                <a:spLocks/>
              </p:cNvSpPr>
              <p:nvPr/>
            </p:nvSpPr>
            <p:spPr bwMode="auto">
              <a:xfrm>
                <a:off x="6728" y="3430"/>
                <a:ext cx="211" cy="184"/>
              </a:xfrm>
              <a:custGeom>
                <a:avLst/>
                <a:gdLst>
                  <a:gd name="T0" fmla="*/ 138 w 138"/>
                  <a:gd name="T1" fmla="*/ 123 h 123"/>
                  <a:gd name="T2" fmla="*/ 6 w 138"/>
                  <a:gd name="T3" fmla="*/ 123 h 123"/>
                  <a:gd name="T4" fmla="*/ 0 w 138"/>
                  <a:gd name="T5" fmla="*/ 117 h 123"/>
                  <a:gd name="T6" fmla="*/ 0 w 138"/>
                  <a:gd name="T7" fmla="*/ 89 h 123"/>
                  <a:gd name="T8" fmla="*/ 28 w 138"/>
                  <a:gd name="T9" fmla="*/ 49 h 123"/>
                  <a:gd name="T10" fmla="*/ 84 w 138"/>
                  <a:gd name="T11" fmla="*/ 29 h 123"/>
                  <a:gd name="T12" fmla="*/ 84 w 138"/>
                  <a:gd name="T13" fmla="*/ 0 h 123"/>
                  <a:gd name="T14" fmla="*/ 96 w 138"/>
                  <a:gd name="T15" fmla="*/ 0 h 123"/>
                  <a:gd name="T16" fmla="*/ 96 w 138"/>
                  <a:gd name="T17" fmla="*/ 33 h 123"/>
                  <a:gd name="T18" fmla="*/ 92 w 138"/>
                  <a:gd name="T19" fmla="*/ 39 h 123"/>
                  <a:gd name="T20" fmla="*/ 32 w 138"/>
                  <a:gd name="T21" fmla="*/ 61 h 123"/>
                  <a:gd name="T22" fmla="*/ 12 w 138"/>
                  <a:gd name="T23" fmla="*/ 89 h 123"/>
                  <a:gd name="T24" fmla="*/ 12 w 138"/>
                  <a:gd name="T25" fmla="*/ 111 h 123"/>
                  <a:gd name="T26" fmla="*/ 138 w 138"/>
                  <a:gd name="T27" fmla="*/ 111 h 123"/>
                  <a:gd name="T28" fmla="*/ 138 w 138"/>
                  <a:gd name="T29"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8" h="123">
                    <a:moveTo>
                      <a:pt x="138" y="123"/>
                    </a:moveTo>
                    <a:cubicBezTo>
                      <a:pt x="6" y="123"/>
                      <a:pt x="6" y="123"/>
                      <a:pt x="6" y="123"/>
                    </a:cubicBezTo>
                    <a:cubicBezTo>
                      <a:pt x="3" y="123"/>
                      <a:pt x="0" y="121"/>
                      <a:pt x="0" y="117"/>
                    </a:cubicBezTo>
                    <a:cubicBezTo>
                      <a:pt x="0" y="89"/>
                      <a:pt x="0" y="89"/>
                      <a:pt x="0" y="89"/>
                    </a:cubicBezTo>
                    <a:cubicBezTo>
                      <a:pt x="0" y="71"/>
                      <a:pt x="11" y="55"/>
                      <a:pt x="28" y="49"/>
                    </a:cubicBezTo>
                    <a:cubicBezTo>
                      <a:pt x="84" y="29"/>
                      <a:pt x="84" y="29"/>
                      <a:pt x="84" y="29"/>
                    </a:cubicBezTo>
                    <a:cubicBezTo>
                      <a:pt x="84" y="0"/>
                      <a:pt x="84" y="0"/>
                      <a:pt x="84" y="0"/>
                    </a:cubicBezTo>
                    <a:cubicBezTo>
                      <a:pt x="96" y="0"/>
                      <a:pt x="96" y="0"/>
                      <a:pt x="96" y="0"/>
                    </a:cubicBezTo>
                    <a:cubicBezTo>
                      <a:pt x="96" y="33"/>
                      <a:pt x="96" y="33"/>
                      <a:pt x="96" y="33"/>
                    </a:cubicBezTo>
                    <a:cubicBezTo>
                      <a:pt x="96" y="36"/>
                      <a:pt x="94" y="38"/>
                      <a:pt x="92" y="39"/>
                    </a:cubicBezTo>
                    <a:cubicBezTo>
                      <a:pt x="32" y="61"/>
                      <a:pt x="32" y="61"/>
                      <a:pt x="32" y="61"/>
                    </a:cubicBezTo>
                    <a:cubicBezTo>
                      <a:pt x="20" y="65"/>
                      <a:pt x="12" y="76"/>
                      <a:pt x="12" y="89"/>
                    </a:cubicBezTo>
                    <a:cubicBezTo>
                      <a:pt x="12" y="111"/>
                      <a:pt x="12" y="111"/>
                      <a:pt x="12" y="111"/>
                    </a:cubicBezTo>
                    <a:cubicBezTo>
                      <a:pt x="138" y="111"/>
                      <a:pt x="138" y="111"/>
                      <a:pt x="138" y="111"/>
                    </a:cubicBezTo>
                    <a:lnTo>
                      <a:pt x="138"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9220" name="Freeform 169">
                <a:extLst>
                  <a:ext uri="{FF2B5EF4-FFF2-40B4-BE49-F238E27FC236}">
                    <a16:creationId xmlns:a16="http://schemas.microsoft.com/office/drawing/2014/main" id="{19F4B894-607A-DD0D-14DF-C75A65B97A55}"/>
                  </a:ext>
                </a:extLst>
              </p:cNvPr>
              <p:cNvSpPr>
                <a:spLocks noEditPoints="1"/>
              </p:cNvSpPr>
              <p:nvPr/>
            </p:nvSpPr>
            <p:spPr bwMode="auto">
              <a:xfrm>
                <a:off x="6811" y="3219"/>
                <a:ext cx="202" cy="234"/>
              </a:xfrm>
              <a:custGeom>
                <a:avLst/>
                <a:gdLst>
                  <a:gd name="T0" fmla="*/ 66 w 132"/>
                  <a:gd name="T1" fmla="*/ 156 h 156"/>
                  <a:gd name="T2" fmla="*/ 0 w 132"/>
                  <a:gd name="T3" fmla="*/ 78 h 156"/>
                  <a:gd name="T4" fmla="*/ 66 w 132"/>
                  <a:gd name="T5" fmla="*/ 0 h 156"/>
                  <a:gd name="T6" fmla="*/ 132 w 132"/>
                  <a:gd name="T7" fmla="*/ 78 h 156"/>
                  <a:gd name="T8" fmla="*/ 66 w 132"/>
                  <a:gd name="T9" fmla="*/ 156 h 156"/>
                  <a:gd name="T10" fmla="*/ 66 w 132"/>
                  <a:gd name="T11" fmla="*/ 12 h 156"/>
                  <a:gd name="T12" fmla="*/ 12 w 132"/>
                  <a:gd name="T13" fmla="*/ 78 h 156"/>
                  <a:gd name="T14" fmla="*/ 66 w 132"/>
                  <a:gd name="T15" fmla="*/ 144 h 156"/>
                  <a:gd name="T16" fmla="*/ 120 w 132"/>
                  <a:gd name="T17" fmla="*/ 78 h 156"/>
                  <a:gd name="T18" fmla="*/ 66 w 132"/>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56">
                    <a:moveTo>
                      <a:pt x="66" y="156"/>
                    </a:moveTo>
                    <a:cubicBezTo>
                      <a:pt x="29" y="156"/>
                      <a:pt x="0" y="121"/>
                      <a:pt x="0" y="78"/>
                    </a:cubicBezTo>
                    <a:cubicBezTo>
                      <a:pt x="0" y="35"/>
                      <a:pt x="29" y="0"/>
                      <a:pt x="66" y="0"/>
                    </a:cubicBezTo>
                    <a:cubicBezTo>
                      <a:pt x="102" y="0"/>
                      <a:pt x="132" y="35"/>
                      <a:pt x="132" y="78"/>
                    </a:cubicBezTo>
                    <a:cubicBezTo>
                      <a:pt x="132" y="121"/>
                      <a:pt x="102" y="156"/>
                      <a:pt x="66" y="156"/>
                    </a:cubicBezTo>
                    <a:close/>
                    <a:moveTo>
                      <a:pt x="66" y="12"/>
                    </a:moveTo>
                    <a:cubicBezTo>
                      <a:pt x="36" y="12"/>
                      <a:pt x="12" y="42"/>
                      <a:pt x="12" y="78"/>
                    </a:cubicBezTo>
                    <a:cubicBezTo>
                      <a:pt x="12" y="115"/>
                      <a:pt x="36" y="144"/>
                      <a:pt x="66" y="144"/>
                    </a:cubicBezTo>
                    <a:cubicBezTo>
                      <a:pt x="96" y="144"/>
                      <a:pt x="120" y="115"/>
                      <a:pt x="120" y="78"/>
                    </a:cubicBezTo>
                    <a:cubicBezTo>
                      <a:pt x="120" y="42"/>
                      <a:pt x="96"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9221" name="Freeform 171">
                <a:extLst>
                  <a:ext uri="{FF2B5EF4-FFF2-40B4-BE49-F238E27FC236}">
                    <a16:creationId xmlns:a16="http://schemas.microsoft.com/office/drawing/2014/main" id="{00FF6F77-5288-F984-A6A8-54A0C93F4288}"/>
                  </a:ext>
                </a:extLst>
              </p:cNvPr>
              <p:cNvSpPr>
                <a:spLocks noEditPoints="1"/>
              </p:cNvSpPr>
              <p:nvPr/>
            </p:nvSpPr>
            <p:spPr bwMode="auto">
              <a:xfrm>
                <a:off x="7025" y="3524"/>
                <a:ext cx="74"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8"/>
                      <a:pt x="0" y="24"/>
                    </a:cubicBezTo>
                    <a:cubicBezTo>
                      <a:pt x="0" y="11"/>
                      <a:pt x="11" y="0"/>
                      <a:pt x="24" y="0"/>
                    </a:cubicBezTo>
                    <a:cubicBezTo>
                      <a:pt x="37" y="0"/>
                      <a:pt x="48" y="11"/>
                      <a:pt x="48" y="24"/>
                    </a:cubicBezTo>
                    <a:cubicBezTo>
                      <a:pt x="48" y="38"/>
                      <a:pt x="37" y="48"/>
                      <a:pt x="24" y="48"/>
                    </a:cubicBezTo>
                    <a:close/>
                    <a:moveTo>
                      <a:pt x="24" y="12"/>
                    </a:moveTo>
                    <a:cubicBezTo>
                      <a:pt x="17" y="12"/>
                      <a:pt x="12" y="18"/>
                      <a:pt x="12" y="24"/>
                    </a:cubicBezTo>
                    <a:cubicBezTo>
                      <a:pt x="12" y="31"/>
                      <a:pt x="17" y="36"/>
                      <a:pt x="24" y="36"/>
                    </a:cubicBezTo>
                    <a:cubicBezTo>
                      <a:pt x="30" y="36"/>
                      <a:pt x="36" y="31"/>
                      <a:pt x="36" y="24"/>
                    </a:cubicBezTo>
                    <a:cubicBezTo>
                      <a:pt x="36" y="18"/>
                      <a:pt x="30"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9222" name="Freeform 172">
                <a:extLst>
                  <a:ext uri="{FF2B5EF4-FFF2-40B4-BE49-F238E27FC236}">
                    <a16:creationId xmlns:a16="http://schemas.microsoft.com/office/drawing/2014/main" id="{BEA602DC-9E39-D60A-AAD6-09135A70208D}"/>
                  </a:ext>
                </a:extLst>
              </p:cNvPr>
              <p:cNvSpPr>
                <a:spLocks noEditPoints="1"/>
              </p:cNvSpPr>
              <p:nvPr/>
            </p:nvSpPr>
            <p:spPr bwMode="auto">
              <a:xfrm>
                <a:off x="6970" y="3471"/>
                <a:ext cx="182" cy="179"/>
              </a:xfrm>
              <a:custGeom>
                <a:avLst/>
                <a:gdLst>
                  <a:gd name="T0" fmla="*/ 46 w 119"/>
                  <a:gd name="T1" fmla="*/ 120 h 120"/>
                  <a:gd name="T2" fmla="*/ 40 w 119"/>
                  <a:gd name="T3" fmla="*/ 105 h 120"/>
                  <a:gd name="T4" fmla="*/ 22 w 119"/>
                  <a:gd name="T5" fmla="*/ 103 h 120"/>
                  <a:gd name="T6" fmla="*/ 14 w 119"/>
                  <a:gd name="T7" fmla="*/ 101 h 120"/>
                  <a:gd name="T8" fmla="*/ 1 w 119"/>
                  <a:gd name="T9" fmla="*/ 75 h 120"/>
                  <a:gd name="T10" fmla="*/ 12 w 119"/>
                  <a:gd name="T11" fmla="*/ 67 h 120"/>
                  <a:gd name="T12" fmla="*/ 12 w 119"/>
                  <a:gd name="T13" fmla="*/ 54 h 120"/>
                  <a:gd name="T14" fmla="*/ 2 w 119"/>
                  <a:gd name="T15" fmla="*/ 41 h 120"/>
                  <a:gd name="T16" fmla="*/ 17 w 119"/>
                  <a:gd name="T17" fmla="*/ 17 h 120"/>
                  <a:gd name="T18" fmla="*/ 29 w 119"/>
                  <a:gd name="T19" fmla="*/ 23 h 120"/>
                  <a:gd name="T20" fmla="*/ 40 w 119"/>
                  <a:gd name="T21" fmla="*/ 6 h 120"/>
                  <a:gd name="T22" fmla="*/ 70 w 119"/>
                  <a:gd name="T23" fmla="*/ 0 h 120"/>
                  <a:gd name="T24" fmla="*/ 76 w 119"/>
                  <a:gd name="T25" fmla="*/ 16 h 120"/>
                  <a:gd name="T26" fmla="*/ 98 w 119"/>
                  <a:gd name="T27" fmla="*/ 18 h 120"/>
                  <a:gd name="T28" fmla="*/ 118 w 119"/>
                  <a:gd name="T29" fmla="*/ 41 h 120"/>
                  <a:gd name="T30" fmla="*/ 116 w 119"/>
                  <a:gd name="T31" fmla="*/ 49 h 120"/>
                  <a:gd name="T32" fmla="*/ 108 w 119"/>
                  <a:gd name="T33" fmla="*/ 60 h 120"/>
                  <a:gd name="T34" fmla="*/ 115 w 119"/>
                  <a:gd name="T35" fmla="*/ 72 h 120"/>
                  <a:gd name="T36" fmla="*/ 118 w 119"/>
                  <a:gd name="T37" fmla="*/ 80 h 120"/>
                  <a:gd name="T38" fmla="*/ 97 w 119"/>
                  <a:gd name="T39" fmla="*/ 103 h 120"/>
                  <a:gd name="T40" fmla="*/ 76 w 119"/>
                  <a:gd name="T41" fmla="*/ 105 h 120"/>
                  <a:gd name="T42" fmla="*/ 70 w 119"/>
                  <a:gd name="T43" fmla="*/ 120 h 120"/>
                  <a:gd name="T44" fmla="*/ 64 w 119"/>
                  <a:gd name="T45" fmla="*/ 108 h 120"/>
                  <a:gd name="T46" fmla="*/ 68 w 119"/>
                  <a:gd name="T47" fmla="*/ 95 h 120"/>
                  <a:gd name="T48" fmla="*/ 91 w 119"/>
                  <a:gd name="T49" fmla="*/ 86 h 120"/>
                  <a:gd name="T50" fmla="*/ 104 w 119"/>
                  <a:gd name="T51" fmla="*/ 79 h 120"/>
                  <a:gd name="T52" fmla="*/ 95 w 119"/>
                  <a:gd name="T53" fmla="*/ 69 h 120"/>
                  <a:gd name="T54" fmla="*/ 95 w 119"/>
                  <a:gd name="T55" fmla="*/ 52 h 120"/>
                  <a:gd name="T56" fmla="*/ 104 w 119"/>
                  <a:gd name="T57" fmla="*/ 42 h 120"/>
                  <a:gd name="T58" fmla="*/ 91 w 119"/>
                  <a:gd name="T59" fmla="*/ 35 h 120"/>
                  <a:gd name="T60" fmla="*/ 68 w 119"/>
                  <a:gd name="T61" fmla="*/ 26 h 120"/>
                  <a:gd name="T62" fmla="*/ 64 w 119"/>
                  <a:gd name="T63" fmla="*/ 12 h 120"/>
                  <a:gd name="T64" fmla="*/ 52 w 119"/>
                  <a:gd name="T65" fmla="*/ 20 h 120"/>
                  <a:gd name="T66" fmla="*/ 34 w 119"/>
                  <a:gd name="T67" fmla="*/ 34 h 120"/>
                  <a:gd name="T68" fmla="*/ 21 w 119"/>
                  <a:gd name="T69" fmla="*/ 31 h 120"/>
                  <a:gd name="T70" fmla="*/ 22 w 119"/>
                  <a:gd name="T71" fmla="*/ 46 h 120"/>
                  <a:gd name="T72" fmla="*/ 24 w 119"/>
                  <a:gd name="T73" fmla="*/ 60 h 120"/>
                  <a:gd name="T74" fmla="*/ 22 w 119"/>
                  <a:gd name="T75" fmla="*/ 75 h 120"/>
                  <a:gd name="T76" fmla="*/ 21 w 119"/>
                  <a:gd name="T77" fmla="*/ 89 h 120"/>
                  <a:gd name="T78" fmla="*/ 34 w 119"/>
                  <a:gd name="T79" fmla="*/ 87 h 120"/>
                  <a:gd name="T80" fmla="*/ 52 w 119"/>
                  <a:gd name="T81" fmla="*/ 10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0" y="120"/>
                    </a:moveTo>
                    <a:cubicBezTo>
                      <a:pt x="46" y="120"/>
                      <a:pt x="46" y="120"/>
                      <a:pt x="46" y="120"/>
                    </a:cubicBezTo>
                    <a:cubicBezTo>
                      <a:pt x="43" y="120"/>
                      <a:pt x="40" y="118"/>
                      <a:pt x="40" y="114"/>
                    </a:cubicBezTo>
                    <a:cubicBezTo>
                      <a:pt x="40" y="105"/>
                      <a:pt x="40" y="105"/>
                      <a:pt x="40" y="105"/>
                    </a:cubicBezTo>
                    <a:cubicBezTo>
                      <a:pt x="36" y="103"/>
                      <a:pt x="33" y="101"/>
                      <a:pt x="29" y="98"/>
                    </a:cubicBezTo>
                    <a:cubicBezTo>
                      <a:pt x="22" y="103"/>
                      <a:pt x="22" y="103"/>
                      <a:pt x="22" y="103"/>
                    </a:cubicBezTo>
                    <a:cubicBezTo>
                      <a:pt x="21" y="104"/>
                      <a:pt x="19" y="104"/>
                      <a:pt x="18" y="104"/>
                    </a:cubicBezTo>
                    <a:cubicBezTo>
                      <a:pt x="16" y="103"/>
                      <a:pt x="15" y="102"/>
                      <a:pt x="14" y="101"/>
                    </a:cubicBezTo>
                    <a:cubicBezTo>
                      <a:pt x="2" y="80"/>
                      <a:pt x="2" y="80"/>
                      <a:pt x="2" y="80"/>
                    </a:cubicBezTo>
                    <a:cubicBezTo>
                      <a:pt x="1" y="79"/>
                      <a:pt x="1" y="77"/>
                      <a:pt x="1" y="75"/>
                    </a:cubicBezTo>
                    <a:cubicBezTo>
                      <a:pt x="2" y="74"/>
                      <a:pt x="3" y="73"/>
                      <a:pt x="4" y="72"/>
                    </a:cubicBezTo>
                    <a:cubicBezTo>
                      <a:pt x="12" y="67"/>
                      <a:pt x="12" y="67"/>
                      <a:pt x="12" y="67"/>
                    </a:cubicBezTo>
                    <a:cubicBezTo>
                      <a:pt x="12" y="65"/>
                      <a:pt x="12" y="63"/>
                      <a:pt x="12" y="60"/>
                    </a:cubicBezTo>
                    <a:cubicBezTo>
                      <a:pt x="12" y="58"/>
                      <a:pt x="12" y="56"/>
                      <a:pt x="12" y="54"/>
                    </a:cubicBezTo>
                    <a:cubicBezTo>
                      <a:pt x="4" y="49"/>
                      <a:pt x="4" y="49"/>
                      <a:pt x="4" y="49"/>
                    </a:cubicBezTo>
                    <a:cubicBezTo>
                      <a:pt x="1" y="47"/>
                      <a:pt x="0" y="44"/>
                      <a:pt x="2" y="41"/>
                    </a:cubicBezTo>
                    <a:cubicBezTo>
                      <a:pt x="13" y="20"/>
                      <a:pt x="13" y="20"/>
                      <a:pt x="13" y="20"/>
                    </a:cubicBezTo>
                    <a:cubicBezTo>
                      <a:pt x="14" y="19"/>
                      <a:pt x="16" y="18"/>
                      <a:pt x="17" y="17"/>
                    </a:cubicBezTo>
                    <a:cubicBezTo>
                      <a:pt x="19" y="17"/>
                      <a:pt x="20" y="17"/>
                      <a:pt x="22" y="18"/>
                    </a:cubicBezTo>
                    <a:cubicBezTo>
                      <a:pt x="29" y="23"/>
                      <a:pt x="29" y="23"/>
                      <a:pt x="29" y="23"/>
                    </a:cubicBezTo>
                    <a:cubicBezTo>
                      <a:pt x="33" y="20"/>
                      <a:pt x="36" y="18"/>
                      <a:pt x="40" y="16"/>
                    </a:cubicBezTo>
                    <a:cubicBezTo>
                      <a:pt x="40" y="6"/>
                      <a:pt x="40" y="6"/>
                      <a:pt x="40" y="6"/>
                    </a:cubicBezTo>
                    <a:cubicBezTo>
                      <a:pt x="40" y="3"/>
                      <a:pt x="43" y="0"/>
                      <a:pt x="46" y="0"/>
                    </a:cubicBezTo>
                    <a:cubicBezTo>
                      <a:pt x="70" y="0"/>
                      <a:pt x="70" y="0"/>
                      <a:pt x="70" y="0"/>
                    </a:cubicBezTo>
                    <a:cubicBezTo>
                      <a:pt x="73" y="0"/>
                      <a:pt x="76" y="3"/>
                      <a:pt x="76" y="6"/>
                    </a:cubicBezTo>
                    <a:cubicBezTo>
                      <a:pt x="76" y="16"/>
                      <a:pt x="76" y="16"/>
                      <a:pt x="76" y="16"/>
                    </a:cubicBezTo>
                    <a:cubicBezTo>
                      <a:pt x="79" y="17"/>
                      <a:pt x="84" y="20"/>
                      <a:pt x="88" y="23"/>
                    </a:cubicBezTo>
                    <a:cubicBezTo>
                      <a:pt x="98" y="18"/>
                      <a:pt x="98" y="18"/>
                      <a:pt x="98" y="18"/>
                    </a:cubicBezTo>
                    <a:cubicBezTo>
                      <a:pt x="101" y="16"/>
                      <a:pt x="104" y="17"/>
                      <a:pt x="106" y="20"/>
                    </a:cubicBezTo>
                    <a:cubicBezTo>
                      <a:pt x="118" y="41"/>
                      <a:pt x="118" y="41"/>
                      <a:pt x="118" y="41"/>
                    </a:cubicBezTo>
                    <a:cubicBezTo>
                      <a:pt x="119" y="42"/>
                      <a:pt x="119" y="44"/>
                      <a:pt x="118" y="45"/>
                    </a:cubicBezTo>
                    <a:cubicBezTo>
                      <a:pt x="118" y="47"/>
                      <a:pt x="117" y="48"/>
                      <a:pt x="116" y="49"/>
                    </a:cubicBezTo>
                    <a:cubicBezTo>
                      <a:pt x="107" y="54"/>
                      <a:pt x="107" y="54"/>
                      <a:pt x="107" y="54"/>
                    </a:cubicBezTo>
                    <a:cubicBezTo>
                      <a:pt x="108" y="56"/>
                      <a:pt x="108" y="58"/>
                      <a:pt x="108" y="60"/>
                    </a:cubicBezTo>
                    <a:cubicBezTo>
                      <a:pt x="108" y="63"/>
                      <a:pt x="108" y="65"/>
                      <a:pt x="107" y="67"/>
                    </a:cubicBezTo>
                    <a:cubicBezTo>
                      <a:pt x="115" y="72"/>
                      <a:pt x="115" y="72"/>
                      <a:pt x="115" y="72"/>
                    </a:cubicBezTo>
                    <a:cubicBezTo>
                      <a:pt x="117" y="73"/>
                      <a:pt x="118" y="74"/>
                      <a:pt x="118" y="76"/>
                    </a:cubicBezTo>
                    <a:cubicBezTo>
                      <a:pt x="119" y="77"/>
                      <a:pt x="118" y="79"/>
                      <a:pt x="118" y="80"/>
                    </a:cubicBezTo>
                    <a:cubicBezTo>
                      <a:pt x="105" y="101"/>
                      <a:pt x="105" y="101"/>
                      <a:pt x="105" y="101"/>
                    </a:cubicBezTo>
                    <a:cubicBezTo>
                      <a:pt x="104" y="104"/>
                      <a:pt x="100" y="105"/>
                      <a:pt x="97" y="103"/>
                    </a:cubicBezTo>
                    <a:cubicBezTo>
                      <a:pt x="88" y="98"/>
                      <a:pt x="88" y="98"/>
                      <a:pt x="88" y="98"/>
                    </a:cubicBezTo>
                    <a:cubicBezTo>
                      <a:pt x="84" y="101"/>
                      <a:pt x="79" y="103"/>
                      <a:pt x="76" y="105"/>
                    </a:cubicBezTo>
                    <a:cubicBezTo>
                      <a:pt x="76" y="114"/>
                      <a:pt x="76" y="114"/>
                      <a:pt x="76" y="114"/>
                    </a:cubicBezTo>
                    <a:cubicBezTo>
                      <a:pt x="76" y="118"/>
                      <a:pt x="73" y="120"/>
                      <a:pt x="70" y="120"/>
                    </a:cubicBezTo>
                    <a:close/>
                    <a:moveTo>
                      <a:pt x="52" y="108"/>
                    </a:moveTo>
                    <a:cubicBezTo>
                      <a:pt x="64" y="108"/>
                      <a:pt x="64" y="108"/>
                      <a:pt x="64" y="108"/>
                    </a:cubicBezTo>
                    <a:cubicBezTo>
                      <a:pt x="64" y="101"/>
                      <a:pt x="64" y="101"/>
                      <a:pt x="64" y="101"/>
                    </a:cubicBezTo>
                    <a:cubicBezTo>
                      <a:pt x="64" y="98"/>
                      <a:pt x="66" y="96"/>
                      <a:pt x="68" y="95"/>
                    </a:cubicBezTo>
                    <a:cubicBezTo>
                      <a:pt x="74" y="93"/>
                      <a:pt x="80" y="90"/>
                      <a:pt x="84" y="87"/>
                    </a:cubicBezTo>
                    <a:cubicBezTo>
                      <a:pt x="85" y="85"/>
                      <a:pt x="88" y="84"/>
                      <a:pt x="91" y="86"/>
                    </a:cubicBezTo>
                    <a:cubicBezTo>
                      <a:pt x="98" y="90"/>
                      <a:pt x="98" y="90"/>
                      <a:pt x="98" y="90"/>
                    </a:cubicBezTo>
                    <a:cubicBezTo>
                      <a:pt x="104" y="79"/>
                      <a:pt x="104" y="79"/>
                      <a:pt x="104" y="79"/>
                    </a:cubicBezTo>
                    <a:cubicBezTo>
                      <a:pt x="98" y="75"/>
                      <a:pt x="98" y="75"/>
                      <a:pt x="98" y="75"/>
                    </a:cubicBezTo>
                    <a:cubicBezTo>
                      <a:pt x="95" y="74"/>
                      <a:pt x="94" y="71"/>
                      <a:pt x="95" y="69"/>
                    </a:cubicBezTo>
                    <a:cubicBezTo>
                      <a:pt x="96" y="65"/>
                      <a:pt x="96" y="63"/>
                      <a:pt x="96" y="60"/>
                    </a:cubicBezTo>
                    <a:cubicBezTo>
                      <a:pt x="96" y="58"/>
                      <a:pt x="96" y="55"/>
                      <a:pt x="95" y="52"/>
                    </a:cubicBezTo>
                    <a:cubicBezTo>
                      <a:pt x="94" y="50"/>
                      <a:pt x="95" y="47"/>
                      <a:pt x="98" y="46"/>
                    </a:cubicBezTo>
                    <a:cubicBezTo>
                      <a:pt x="104" y="42"/>
                      <a:pt x="104" y="42"/>
                      <a:pt x="104" y="42"/>
                    </a:cubicBezTo>
                    <a:cubicBezTo>
                      <a:pt x="98" y="31"/>
                      <a:pt x="98" y="31"/>
                      <a:pt x="98" y="31"/>
                    </a:cubicBezTo>
                    <a:cubicBezTo>
                      <a:pt x="91" y="35"/>
                      <a:pt x="91" y="35"/>
                      <a:pt x="91" y="35"/>
                    </a:cubicBezTo>
                    <a:cubicBezTo>
                      <a:pt x="88" y="36"/>
                      <a:pt x="85" y="36"/>
                      <a:pt x="84" y="34"/>
                    </a:cubicBezTo>
                    <a:cubicBezTo>
                      <a:pt x="80" y="31"/>
                      <a:pt x="74" y="28"/>
                      <a:pt x="68" y="26"/>
                    </a:cubicBezTo>
                    <a:cubicBezTo>
                      <a:pt x="66" y="25"/>
                      <a:pt x="64" y="23"/>
                      <a:pt x="64" y="20"/>
                    </a:cubicBezTo>
                    <a:cubicBezTo>
                      <a:pt x="64" y="12"/>
                      <a:pt x="64" y="12"/>
                      <a:pt x="64" y="12"/>
                    </a:cubicBezTo>
                    <a:cubicBezTo>
                      <a:pt x="52" y="12"/>
                      <a:pt x="52" y="12"/>
                      <a:pt x="52" y="12"/>
                    </a:cubicBezTo>
                    <a:cubicBezTo>
                      <a:pt x="52" y="20"/>
                      <a:pt x="52" y="20"/>
                      <a:pt x="52" y="20"/>
                    </a:cubicBezTo>
                    <a:cubicBezTo>
                      <a:pt x="52" y="23"/>
                      <a:pt x="50" y="25"/>
                      <a:pt x="48" y="26"/>
                    </a:cubicBezTo>
                    <a:cubicBezTo>
                      <a:pt x="43" y="27"/>
                      <a:pt x="39" y="30"/>
                      <a:pt x="34" y="34"/>
                    </a:cubicBezTo>
                    <a:cubicBezTo>
                      <a:pt x="32" y="36"/>
                      <a:pt x="29" y="36"/>
                      <a:pt x="27" y="35"/>
                    </a:cubicBezTo>
                    <a:cubicBezTo>
                      <a:pt x="21" y="31"/>
                      <a:pt x="21" y="31"/>
                      <a:pt x="21" y="31"/>
                    </a:cubicBezTo>
                    <a:cubicBezTo>
                      <a:pt x="15" y="42"/>
                      <a:pt x="15" y="42"/>
                      <a:pt x="15" y="42"/>
                    </a:cubicBezTo>
                    <a:cubicBezTo>
                      <a:pt x="22" y="46"/>
                      <a:pt x="22" y="46"/>
                      <a:pt x="22" y="46"/>
                    </a:cubicBezTo>
                    <a:cubicBezTo>
                      <a:pt x="24" y="47"/>
                      <a:pt x="25" y="50"/>
                      <a:pt x="25" y="52"/>
                    </a:cubicBezTo>
                    <a:cubicBezTo>
                      <a:pt x="24" y="55"/>
                      <a:pt x="24" y="58"/>
                      <a:pt x="24" y="60"/>
                    </a:cubicBezTo>
                    <a:cubicBezTo>
                      <a:pt x="24" y="63"/>
                      <a:pt x="24" y="66"/>
                      <a:pt x="25" y="69"/>
                    </a:cubicBezTo>
                    <a:cubicBezTo>
                      <a:pt x="25" y="71"/>
                      <a:pt x="24" y="74"/>
                      <a:pt x="22" y="75"/>
                    </a:cubicBezTo>
                    <a:cubicBezTo>
                      <a:pt x="15" y="79"/>
                      <a:pt x="15" y="79"/>
                      <a:pt x="15" y="79"/>
                    </a:cubicBezTo>
                    <a:cubicBezTo>
                      <a:pt x="21" y="89"/>
                      <a:pt x="21" y="89"/>
                      <a:pt x="21" y="89"/>
                    </a:cubicBezTo>
                    <a:cubicBezTo>
                      <a:pt x="27" y="86"/>
                      <a:pt x="27" y="86"/>
                      <a:pt x="27" y="86"/>
                    </a:cubicBezTo>
                    <a:cubicBezTo>
                      <a:pt x="29" y="84"/>
                      <a:pt x="32" y="85"/>
                      <a:pt x="34" y="87"/>
                    </a:cubicBezTo>
                    <a:cubicBezTo>
                      <a:pt x="39" y="91"/>
                      <a:pt x="43" y="93"/>
                      <a:pt x="48" y="95"/>
                    </a:cubicBezTo>
                    <a:cubicBezTo>
                      <a:pt x="50" y="96"/>
                      <a:pt x="52" y="98"/>
                      <a:pt x="52" y="101"/>
                    </a:cubicBezTo>
                    <a:lnTo>
                      <a:pt x="52"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sp>
        <p:nvSpPr>
          <p:cNvPr id="2" name="TextBox 24">
            <a:extLst>
              <a:ext uri="{FF2B5EF4-FFF2-40B4-BE49-F238E27FC236}">
                <a16:creationId xmlns:a16="http://schemas.microsoft.com/office/drawing/2014/main" id="{0BA1E044-E982-D597-39A9-85BBCFDBBE1B}"/>
              </a:ext>
            </a:extLst>
          </p:cNvPr>
          <p:cNvSpPr txBox="1"/>
          <p:nvPr/>
        </p:nvSpPr>
        <p:spPr>
          <a:xfrm>
            <a:off x="371476" y="2880360"/>
            <a:ext cx="2155532" cy="3428364"/>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Supplier</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 name="TextBox 24">
            <a:extLst>
              <a:ext uri="{FF2B5EF4-FFF2-40B4-BE49-F238E27FC236}">
                <a16:creationId xmlns:a16="http://schemas.microsoft.com/office/drawing/2014/main" id="{B7BF6EC4-DCED-1942-8A50-178F0CD42315}"/>
              </a:ext>
            </a:extLst>
          </p:cNvPr>
          <p:cNvSpPr txBox="1"/>
          <p:nvPr/>
        </p:nvSpPr>
        <p:spPr>
          <a:xfrm>
            <a:off x="2694856" y="2880360"/>
            <a:ext cx="2155532" cy="3428364"/>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Inputs</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5" name="TextBox 24">
            <a:extLst>
              <a:ext uri="{FF2B5EF4-FFF2-40B4-BE49-F238E27FC236}">
                <a16:creationId xmlns:a16="http://schemas.microsoft.com/office/drawing/2014/main" id="{DCB2AC3D-6500-5AC5-3D3B-C24359166F60}"/>
              </a:ext>
            </a:extLst>
          </p:cNvPr>
          <p:cNvSpPr txBox="1"/>
          <p:nvPr/>
        </p:nvSpPr>
        <p:spPr>
          <a:xfrm>
            <a:off x="5018236" y="2880360"/>
            <a:ext cx="2155532" cy="3428364"/>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Process</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6" name="TextBox 24">
            <a:extLst>
              <a:ext uri="{FF2B5EF4-FFF2-40B4-BE49-F238E27FC236}">
                <a16:creationId xmlns:a16="http://schemas.microsoft.com/office/drawing/2014/main" id="{1BD8A85A-20B5-B685-FD60-4DA9AC9D5020}"/>
              </a:ext>
            </a:extLst>
          </p:cNvPr>
          <p:cNvSpPr txBox="1"/>
          <p:nvPr/>
        </p:nvSpPr>
        <p:spPr>
          <a:xfrm>
            <a:off x="7341616" y="2880360"/>
            <a:ext cx="2155532" cy="3428364"/>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Outputs</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7" name="TextBox 24">
            <a:extLst>
              <a:ext uri="{FF2B5EF4-FFF2-40B4-BE49-F238E27FC236}">
                <a16:creationId xmlns:a16="http://schemas.microsoft.com/office/drawing/2014/main" id="{55B39897-0266-CCAB-8BD4-9364E7E8E3E5}"/>
              </a:ext>
            </a:extLst>
          </p:cNvPr>
          <p:cNvSpPr txBox="1"/>
          <p:nvPr/>
        </p:nvSpPr>
        <p:spPr>
          <a:xfrm>
            <a:off x="9664994" y="2880360"/>
            <a:ext cx="2155532" cy="3428364"/>
          </a:xfrm>
          <a:prstGeom prst="rect">
            <a:avLst/>
          </a:prstGeom>
          <a:noFill/>
        </p:spPr>
        <p:txBody>
          <a:bodyPr wrap="square" lIns="0" tIns="0" rIns="0" bIns="0" rtlCol="0" anchor="t">
            <a:noAutofit/>
          </a:bodyPr>
          <a:lstStyle/>
          <a:p>
            <a:pPr marL="0" marR="0" lvl="0" indent="0" defTabSz="914400" rtl="0" eaLnBrk="1" fontAlgn="auto" latinLnBrk="0" hangingPunct="1">
              <a:lnSpc>
                <a:spcPct val="100000"/>
              </a:lnSpc>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Customers</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9230" name="Conector recto 9229">
            <a:extLst>
              <a:ext uri="{FF2B5EF4-FFF2-40B4-BE49-F238E27FC236}">
                <a16:creationId xmlns:a16="http://schemas.microsoft.com/office/drawing/2014/main" id="{469E2E3E-E2C4-9FDE-EE9E-13CF06DF1BED}"/>
              </a:ext>
            </a:extLst>
          </p:cNvPr>
          <p:cNvCxnSpPr>
            <a:cxnSpLocks/>
          </p:cNvCxnSpPr>
          <p:nvPr/>
        </p:nvCxnSpPr>
        <p:spPr>
          <a:xfrm flipV="1">
            <a:off x="2610932" y="2880360"/>
            <a:ext cx="0" cy="342836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32" name="Conector recto 9231">
            <a:extLst>
              <a:ext uri="{FF2B5EF4-FFF2-40B4-BE49-F238E27FC236}">
                <a16:creationId xmlns:a16="http://schemas.microsoft.com/office/drawing/2014/main" id="{B97C65A1-1192-3784-24CC-7285F38854CF}"/>
              </a:ext>
            </a:extLst>
          </p:cNvPr>
          <p:cNvCxnSpPr>
            <a:cxnSpLocks/>
          </p:cNvCxnSpPr>
          <p:nvPr/>
        </p:nvCxnSpPr>
        <p:spPr>
          <a:xfrm flipV="1">
            <a:off x="4934312" y="2880360"/>
            <a:ext cx="0" cy="342836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33" name="Conector recto 9232">
            <a:extLst>
              <a:ext uri="{FF2B5EF4-FFF2-40B4-BE49-F238E27FC236}">
                <a16:creationId xmlns:a16="http://schemas.microsoft.com/office/drawing/2014/main" id="{FC45690C-CECC-0262-049D-C5E1219C7DDD}"/>
              </a:ext>
            </a:extLst>
          </p:cNvPr>
          <p:cNvCxnSpPr>
            <a:cxnSpLocks/>
          </p:cNvCxnSpPr>
          <p:nvPr/>
        </p:nvCxnSpPr>
        <p:spPr>
          <a:xfrm flipV="1">
            <a:off x="7257692" y="2880360"/>
            <a:ext cx="0" cy="342836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34" name="Conector recto 9233">
            <a:extLst>
              <a:ext uri="{FF2B5EF4-FFF2-40B4-BE49-F238E27FC236}">
                <a16:creationId xmlns:a16="http://schemas.microsoft.com/office/drawing/2014/main" id="{B1658D0A-520D-E230-A014-2A8B727B2732}"/>
              </a:ext>
            </a:extLst>
          </p:cNvPr>
          <p:cNvCxnSpPr>
            <a:cxnSpLocks/>
          </p:cNvCxnSpPr>
          <p:nvPr/>
        </p:nvCxnSpPr>
        <p:spPr>
          <a:xfrm flipV="1">
            <a:off x="9581072" y="2880360"/>
            <a:ext cx="0" cy="342836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241" name="Rectángulo 9240">
            <a:extLst>
              <a:ext uri="{FF2B5EF4-FFF2-40B4-BE49-F238E27FC236}">
                <a16:creationId xmlns:a16="http://schemas.microsoft.com/office/drawing/2014/main" id="{F0CE5A87-7768-64D4-F5FB-5291B1A38B64}"/>
              </a:ext>
            </a:extLst>
          </p:cNvPr>
          <p:cNvSpPr/>
          <p:nvPr/>
        </p:nvSpPr>
        <p:spPr>
          <a:xfrm>
            <a:off x="371476" y="2395920"/>
            <a:ext cx="385383" cy="3853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t>S</a:t>
            </a:r>
          </a:p>
        </p:txBody>
      </p:sp>
      <p:sp>
        <p:nvSpPr>
          <p:cNvPr id="9242" name="Rectángulo 9241">
            <a:extLst>
              <a:ext uri="{FF2B5EF4-FFF2-40B4-BE49-F238E27FC236}">
                <a16:creationId xmlns:a16="http://schemas.microsoft.com/office/drawing/2014/main" id="{9F815297-4501-63A3-7679-8723243D4515}"/>
              </a:ext>
            </a:extLst>
          </p:cNvPr>
          <p:cNvSpPr/>
          <p:nvPr/>
        </p:nvSpPr>
        <p:spPr>
          <a:xfrm>
            <a:off x="2694856" y="2395920"/>
            <a:ext cx="385383" cy="3853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t>I</a:t>
            </a:r>
          </a:p>
        </p:txBody>
      </p:sp>
      <p:sp>
        <p:nvSpPr>
          <p:cNvPr id="9243" name="Rectángulo 9242">
            <a:extLst>
              <a:ext uri="{FF2B5EF4-FFF2-40B4-BE49-F238E27FC236}">
                <a16:creationId xmlns:a16="http://schemas.microsoft.com/office/drawing/2014/main" id="{EBB054AD-E835-2EE6-DB0B-7749D2BFC8D5}"/>
              </a:ext>
            </a:extLst>
          </p:cNvPr>
          <p:cNvSpPr/>
          <p:nvPr/>
        </p:nvSpPr>
        <p:spPr>
          <a:xfrm>
            <a:off x="5018236" y="2395920"/>
            <a:ext cx="385383" cy="3853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t>P</a:t>
            </a:r>
          </a:p>
        </p:txBody>
      </p:sp>
      <p:sp>
        <p:nvSpPr>
          <p:cNvPr id="9244" name="Rectángulo 9243">
            <a:extLst>
              <a:ext uri="{FF2B5EF4-FFF2-40B4-BE49-F238E27FC236}">
                <a16:creationId xmlns:a16="http://schemas.microsoft.com/office/drawing/2014/main" id="{26A881FE-D28D-A230-6C89-E43807887FB5}"/>
              </a:ext>
            </a:extLst>
          </p:cNvPr>
          <p:cNvSpPr/>
          <p:nvPr/>
        </p:nvSpPr>
        <p:spPr>
          <a:xfrm>
            <a:off x="7341616" y="2395920"/>
            <a:ext cx="385383" cy="3853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t>O</a:t>
            </a:r>
          </a:p>
        </p:txBody>
      </p:sp>
      <p:sp>
        <p:nvSpPr>
          <p:cNvPr id="9245" name="Rectángulo 9244">
            <a:extLst>
              <a:ext uri="{FF2B5EF4-FFF2-40B4-BE49-F238E27FC236}">
                <a16:creationId xmlns:a16="http://schemas.microsoft.com/office/drawing/2014/main" id="{C38D7092-7A5A-34AA-B7CE-0955538B6FB9}"/>
              </a:ext>
            </a:extLst>
          </p:cNvPr>
          <p:cNvSpPr/>
          <p:nvPr/>
        </p:nvSpPr>
        <p:spPr>
          <a:xfrm>
            <a:off x="9664994" y="2395920"/>
            <a:ext cx="385383" cy="3853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t>C</a:t>
            </a:r>
          </a:p>
        </p:txBody>
      </p:sp>
      <p:sp>
        <p:nvSpPr>
          <p:cNvPr id="8" name="Marcador de pie de página 7">
            <a:extLst>
              <a:ext uri="{FF2B5EF4-FFF2-40B4-BE49-F238E27FC236}">
                <a16:creationId xmlns:a16="http://schemas.microsoft.com/office/drawing/2014/main" id="{6F1D4B30-E7A6-C5C8-D2F7-8E879C3B80B4}"/>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11718393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PESTEL Analysis</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105372345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AECDD5F6-28EB-4C39-FB98-C141AE02DD55}"/>
              </a:ext>
            </a:extLst>
          </p:cNvPr>
          <p:cNvGraphicFramePr>
            <a:graphicFrameLocks noChangeAspect="1"/>
          </p:cNvGraphicFramePr>
          <p:nvPr>
            <p:custDataLst>
              <p:tags r:id="rId1"/>
            </p:custDataLst>
            <p:extLst>
              <p:ext uri="{D42A27DB-BD31-4B8C-83A1-F6EECF244321}">
                <p14:modId xmlns:p14="http://schemas.microsoft.com/office/powerpoint/2010/main" val="36016687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76525D22-79BF-6EBD-2A61-668FA85EA6C2}"/>
              </a:ext>
            </a:extLst>
          </p:cNvPr>
          <p:cNvSpPr>
            <a:spLocks noGrp="1"/>
          </p:cNvSpPr>
          <p:nvPr>
            <p:ph type="title"/>
          </p:nvPr>
        </p:nvSpPr>
        <p:spPr/>
        <p:txBody>
          <a:bodyPr vert="horz"/>
          <a:lstStyle/>
          <a:p>
            <a:r>
              <a:rPr lang="en-US" dirty="0"/>
              <a:t>PESTEL Analysis — Overview</a:t>
            </a:r>
          </a:p>
        </p:txBody>
      </p:sp>
      <p:sp>
        <p:nvSpPr>
          <p:cNvPr id="3" name="Marcador de texto 2">
            <a:extLst>
              <a:ext uri="{FF2B5EF4-FFF2-40B4-BE49-F238E27FC236}">
                <a16:creationId xmlns:a16="http://schemas.microsoft.com/office/drawing/2014/main" id="{3B521D1B-50EC-9EC4-81F0-3FED1AE19DA5}"/>
              </a:ext>
            </a:extLst>
          </p:cNvPr>
          <p:cNvSpPr>
            <a:spLocks noGrp="1"/>
          </p:cNvSpPr>
          <p:nvPr>
            <p:ph type="body" sz="quarter" idx="18"/>
          </p:nvPr>
        </p:nvSpPr>
        <p:spPr/>
        <p:txBody>
          <a:bodyPr/>
          <a:lstStyle/>
          <a:p>
            <a:r>
              <a:rPr lang="en-US" dirty="0"/>
              <a:t>The PESTEL analysis is believed to have originated in the 1960s and 1970s when researchers and analysts began to recognize the importance of considering external factors such as political, economic, social, technological, environmental, and legal factors in business decision-making.</a:t>
            </a:r>
          </a:p>
        </p:txBody>
      </p:sp>
      <p:sp>
        <p:nvSpPr>
          <p:cNvPr id="4" name="Marcador de texto 3">
            <a:extLst>
              <a:ext uri="{FF2B5EF4-FFF2-40B4-BE49-F238E27FC236}">
                <a16:creationId xmlns:a16="http://schemas.microsoft.com/office/drawing/2014/main" id="{20186500-4EF0-57D9-49EA-B93BBDA8908C}"/>
              </a:ext>
            </a:extLst>
          </p:cNvPr>
          <p:cNvSpPr>
            <a:spLocks noGrp="1"/>
          </p:cNvSpPr>
          <p:nvPr>
            <p:ph type="body" sz="quarter" idx="19"/>
          </p:nvPr>
        </p:nvSpPr>
        <p:spPr/>
        <p:txBody>
          <a:bodyPr/>
          <a:lstStyle/>
          <a:p>
            <a:pPr marL="0" indent="0">
              <a:buFont typeface="Arial" panose="020B0604020202020204" pitchFamily="34" charset="0"/>
              <a:buNone/>
            </a:pPr>
            <a:r>
              <a:rPr lang="en-US" dirty="0"/>
              <a:t>PESTEL Analysis is a strategic framework used by organizations to assess the external macro-environmental factors that could impact their business operations. PESTEL stands for these six factors:</a:t>
            </a:r>
          </a:p>
          <a:p>
            <a:r>
              <a:rPr lang="en-US" b="1" dirty="0"/>
              <a:t>Political: </a:t>
            </a:r>
            <a:r>
              <a:rPr lang="en-US" dirty="0"/>
              <a:t>These factors refer to the government policies and regulations that can impact a business.</a:t>
            </a:r>
          </a:p>
          <a:p>
            <a:r>
              <a:rPr lang="en-US" b="1" dirty="0"/>
              <a:t>Economic: </a:t>
            </a:r>
            <a:r>
              <a:rPr lang="en-US" dirty="0"/>
              <a:t>These factors refer to the overall economic conditions that can impact a business. </a:t>
            </a:r>
          </a:p>
          <a:p>
            <a:r>
              <a:rPr lang="en-US" b="1" dirty="0"/>
              <a:t>Social: </a:t>
            </a:r>
            <a:r>
              <a:rPr lang="en-US" dirty="0"/>
              <a:t>These factors refer to the societal and cultural trends that can impact a business. </a:t>
            </a:r>
          </a:p>
          <a:p>
            <a:r>
              <a:rPr lang="en-US" b="1" dirty="0"/>
              <a:t>Technological: </a:t>
            </a:r>
            <a:r>
              <a:rPr lang="en-US" dirty="0"/>
              <a:t>These factors refer to the technological developments and innovations that can impact a business. </a:t>
            </a:r>
          </a:p>
          <a:p>
            <a:r>
              <a:rPr lang="en-US" b="1" dirty="0"/>
              <a:t>Environmental: </a:t>
            </a:r>
            <a:r>
              <a:rPr lang="en-US" dirty="0"/>
              <a:t>These factors refer to the natural environment and how it can impact a business. </a:t>
            </a:r>
          </a:p>
          <a:p>
            <a:r>
              <a:rPr lang="en-US" b="1" dirty="0"/>
              <a:t>Legal: </a:t>
            </a:r>
            <a:r>
              <a:rPr lang="en-US" dirty="0"/>
              <a:t>These factors refer to the laws and regulations that can impact a business.</a:t>
            </a:r>
          </a:p>
        </p:txBody>
      </p:sp>
      <p:sp>
        <p:nvSpPr>
          <p:cNvPr id="5" name="Marcador de texto 4">
            <a:extLst>
              <a:ext uri="{FF2B5EF4-FFF2-40B4-BE49-F238E27FC236}">
                <a16:creationId xmlns:a16="http://schemas.microsoft.com/office/drawing/2014/main" id="{BCCA6092-3D96-828D-4332-00D50A279B01}"/>
              </a:ext>
            </a:extLst>
          </p:cNvPr>
          <p:cNvSpPr>
            <a:spLocks noGrp="1"/>
          </p:cNvSpPr>
          <p:nvPr>
            <p:ph type="body" sz="quarter" idx="20"/>
          </p:nvPr>
        </p:nvSpPr>
        <p:spPr/>
        <p:txBody>
          <a:bodyPr/>
          <a:lstStyle/>
          <a:p>
            <a:r>
              <a:rPr lang="en-US" b="1" dirty="0"/>
              <a:t>Market entry strategy: </a:t>
            </a:r>
            <a:r>
              <a:rPr lang="en-US" dirty="0"/>
              <a:t>Assess the political, economic, social, technological, environmental, and legal factors in the target market. This would help the company identify potential risks and opportunities and develop a strategy for entering the new market.</a:t>
            </a:r>
          </a:p>
          <a:p>
            <a:r>
              <a:rPr lang="en-US" b="1" dirty="0"/>
              <a:t>Risk assessment: </a:t>
            </a:r>
            <a:r>
              <a:rPr lang="en-US" dirty="0"/>
              <a:t>Identify external factors that could impact their business. This would help the company develop a risk management plan and mitigate potential risks.</a:t>
            </a:r>
          </a:p>
          <a:p>
            <a:r>
              <a:rPr lang="en-US" b="1" dirty="0"/>
              <a:t>Scenario planning: </a:t>
            </a:r>
            <a:r>
              <a:rPr lang="en-US" dirty="0"/>
              <a:t>Assess how external factors could impact their business over the next 5-10 years. This would help the company develop different scenarios and contingency plans to prepare for potential future changes in the external environment.</a:t>
            </a:r>
          </a:p>
          <a:p>
            <a:r>
              <a:rPr lang="en-US" b="1" dirty="0"/>
              <a:t>Mergers and acquisitions: </a:t>
            </a:r>
            <a:r>
              <a:rPr lang="en-US" dirty="0"/>
              <a:t>Assess the external environment of the target company. This would help the acquiring company identify potential risks and opportunities and develop a strategy for integrating the two companies.</a:t>
            </a:r>
          </a:p>
        </p:txBody>
      </p:sp>
      <p:sp>
        <p:nvSpPr>
          <p:cNvPr id="11" name="Marcador de pie de página 10">
            <a:extLst>
              <a:ext uri="{FF2B5EF4-FFF2-40B4-BE49-F238E27FC236}">
                <a16:creationId xmlns:a16="http://schemas.microsoft.com/office/drawing/2014/main" id="{E24F19F0-E2AD-8E49-2E64-7BDB578965A3}"/>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401358334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to 7" hidden="1">
            <a:extLst>
              <a:ext uri="{FF2B5EF4-FFF2-40B4-BE49-F238E27FC236}">
                <a16:creationId xmlns:a16="http://schemas.microsoft.com/office/drawing/2014/main" id="{C82DE044-6DD4-1DD9-DA9D-55A0F740930A}"/>
              </a:ext>
            </a:extLst>
          </p:cNvPr>
          <p:cNvGraphicFramePr>
            <a:graphicFrameLocks noChangeAspect="1"/>
          </p:cNvGraphicFramePr>
          <p:nvPr>
            <p:custDataLst>
              <p:tags r:id="rId1"/>
            </p:custDataLst>
            <p:extLst>
              <p:ext uri="{D42A27DB-BD31-4B8C-83A1-F6EECF244321}">
                <p14:modId xmlns:p14="http://schemas.microsoft.com/office/powerpoint/2010/main" val="22364284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vert="horz"/>
          <a:lstStyle/>
          <a:p>
            <a:r>
              <a:rPr lang="en-US" dirty="0"/>
              <a:t>PESTEL Analysis — Template A</a:t>
            </a:r>
          </a:p>
        </p:txBody>
      </p:sp>
      <p:graphicFrame>
        <p:nvGraphicFramePr>
          <p:cNvPr id="4" name="Tabla 4">
            <a:extLst>
              <a:ext uri="{FF2B5EF4-FFF2-40B4-BE49-F238E27FC236}">
                <a16:creationId xmlns:a16="http://schemas.microsoft.com/office/drawing/2014/main" id="{3F4008BD-9106-EEF5-229D-4E37EB43E94B}"/>
              </a:ext>
            </a:extLst>
          </p:cNvPr>
          <p:cNvGraphicFramePr>
            <a:graphicFrameLocks noGrp="1"/>
          </p:cNvGraphicFramePr>
          <p:nvPr>
            <p:extLst>
              <p:ext uri="{D42A27DB-BD31-4B8C-83A1-F6EECF244321}">
                <p14:modId xmlns:p14="http://schemas.microsoft.com/office/powerpoint/2010/main" val="661477764"/>
              </p:ext>
            </p:extLst>
          </p:nvPr>
        </p:nvGraphicFramePr>
        <p:xfrm>
          <a:off x="398687" y="1152525"/>
          <a:ext cx="11421838" cy="5156196"/>
        </p:xfrm>
        <a:graphic>
          <a:graphicData uri="http://schemas.openxmlformats.org/drawingml/2006/table">
            <a:tbl>
              <a:tblPr firstRow="1" bandRow="1">
                <a:tableStyleId>{5C22544A-7EE6-4342-B048-85BDC9FD1C3A}</a:tableStyleId>
              </a:tblPr>
              <a:tblGrid>
                <a:gridCol w="922113">
                  <a:extLst>
                    <a:ext uri="{9D8B030D-6E8A-4147-A177-3AD203B41FA5}">
                      <a16:colId xmlns:a16="http://schemas.microsoft.com/office/drawing/2014/main" val="2333216020"/>
                    </a:ext>
                  </a:extLst>
                </a:gridCol>
                <a:gridCol w="1602282">
                  <a:extLst>
                    <a:ext uri="{9D8B030D-6E8A-4147-A177-3AD203B41FA5}">
                      <a16:colId xmlns:a16="http://schemas.microsoft.com/office/drawing/2014/main" val="3710560"/>
                    </a:ext>
                  </a:extLst>
                </a:gridCol>
                <a:gridCol w="8897443">
                  <a:extLst>
                    <a:ext uri="{9D8B030D-6E8A-4147-A177-3AD203B41FA5}">
                      <a16:colId xmlns:a16="http://schemas.microsoft.com/office/drawing/2014/main" val="2954588548"/>
                    </a:ext>
                  </a:extLst>
                </a:gridCol>
              </a:tblGrid>
              <a:tr h="859366">
                <a:tc>
                  <a:txBody>
                    <a:bodyPr/>
                    <a:lstStyle/>
                    <a:p>
                      <a:pPr algn="ctr"/>
                      <a:r>
                        <a:rPr lang="en-US" sz="2400" b="1" dirty="0">
                          <a:solidFill>
                            <a:schemeClr val="bg1"/>
                          </a:solidFill>
                        </a:rPr>
                        <a:t>P</a:t>
                      </a:r>
                    </a:p>
                  </a:txBody>
                  <a:tcPr marL="36000" marR="36000" marT="36000" marB="36000" anchor="ctr">
                    <a:lnL w="12700" cmpd="sng">
                      <a:noFill/>
                    </a:lnL>
                    <a:lnR w="12700" cmpd="sng">
                      <a:noFill/>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400" dirty="0">
                          <a:solidFill>
                            <a:schemeClr val="tx2"/>
                          </a:solidFill>
                        </a:rPr>
                        <a:t>Political</a:t>
                      </a:r>
                    </a:p>
                  </a:txBody>
                  <a:tcPr marL="72000" marR="36000" marT="36000" marB="36000">
                    <a:lnL w="12700" cmpd="sng">
                      <a:noFill/>
                    </a:lnL>
                    <a:lnR w="12700" cmpd="sng">
                      <a:noFill/>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7800" indent="-177800">
                        <a:buFont typeface="Arial" panose="020B0604020202020204" pitchFamily="34" charset="0"/>
                        <a:buChar char="•"/>
                      </a:pPr>
                      <a:r>
                        <a:rPr lang="en-US" sz="1100" b="0" dirty="0">
                          <a:solidFill>
                            <a:schemeClr val="tx1"/>
                          </a:solidFill>
                        </a:rPr>
                        <a:t>Text</a:t>
                      </a:r>
                    </a:p>
                  </a:txBody>
                  <a:tcPr marL="72000" marR="36000" marT="36000" marB="36000">
                    <a:lnL w="12700" cmpd="sng">
                      <a:noFill/>
                    </a:lnL>
                    <a:lnR w="12700" cmpd="sng">
                      <a:noFill/>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1029431"/>
                  </a:ext>
                </a:extLst>
              </a:tr>
              <a:tr h="859366">
                <a:tc>
                  <a:txBody>
                    <a:bodyPr/>
                    <a:lstStyle/>
                    <a:p>
                      <a:pPr algn="ctr"/>
                      <a:r>
                        <a:rPr lang="en-US" sz="2400" b="1" dirty="0">
                          <a:solidFill>
                            <a:schemeClr val="bg1"/>
                          </a:solidFill>
                        </a:rPr>
                        <a:t>E</a:t>
                      </a:r>
                    </a:p>
                  </a:txBody>
                  <a:tcPr marL="36000" marR="36000" marT="36000" marB="3600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400" b="1" dirty="0">
                          <a:solidFill>
                            <a:schemeClr val="tx2"/>
                          </a:solidFill>
                        </a:rPr>
                        <a:t>Economic</a:t>
                      </a:r>
                    </a:p>
                  </a:txBody>
                  <a:tcPr marL="72000" marR="36000" marT="36000" marB="36000">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7800" marR="0" lvl="0" indent="-177800" algn="l" defTabSz="91421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Text</a:t>
                      </a:r>
                    </a:p>
                  </a:txBody>
                  <a:tcPr marL="72000" marR="36000" marT="36000" marB="36000">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727384"/>
                  </a:ext>
                </a:extLst>
              </a:tr>
              <a:tr h="859366">
                <a:tc>
                  <a:txBody>
                    <a:bodyPr/>
                    <a:lstStyle/>
                    <a:p>
                      <a:pPr algn="ctr"/>
                      <a:r>
                        <a:rPr lang="en-US" sz="2400" b="1" dirty="0">
                          <a:solidFill>
                            <a:schemeClr val="bg1"/>
                          </a:solidFill>
                        </a:rPr>
                        <a:t>S</a:t>
                      </a:r>
                    </a:p>
                  </a:txBody>
                  <a:tcPr marL="36000" marR="36000" marT="36000" marB="3600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400" b="1" dirty="0">
                          <a:solidFill>
                            <a:schemeClr val="tx2"/>
                          </a:solidFill>
                        </a:rPr>
                        <a:t>Social</a:t>
                      </a:r>
                    </a:p>
                  </a:txBody>
                  <a:tcPr marL="72000" marR="36000" marT="36000" marB="36000">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7800" marR="0" lvl="0" indent="-177800" algn="l" defTabSz="91421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Text</a:t>
                      </a:r>
                    </a:p>
                  </a:txBody>
                  <a:tcPr marL="72000" marR="36000" marT="36000" marB="36000">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134485"/>
                  </a:ext>
                </a:extLst>
              </a:tr>
              <a:tr h="859366">
                <a:tc>
                  <a:txBody>
                    <a:bodyPr/>
                    <a:lstStyle/>
                    <a:p>
                      <a:pPr algn="ctr"/>
                      <a:r>
                        <a:rPr lang="en-US" sz="2400" b="1" dirty="0">
                          <a:solidFill>
                            <a:schemeClr val="bg1"/>
                          </a:solidFill>
                        </a:rPr>
                        <a:t>T</a:t>
                      </a:r>
                    </a:p>
                  </a:txBody>
                  <a:tcPr marL="36000" marR="36000" marT="36000" marB="3600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400" b="1" dirty="0">
                          <a:solidFill>
                            <a:schemeClr val="tx2"/>
                          </a:solidFill>
                        </a:rPr>
                        <a:t>Technological</a:t>
                      </a:r>
                    </a:p>
                  </a:txBody>
                  <a:tcPr marL="72000" marR="36000" marT="36000" marB="36000">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7800" marR="0" lvl="0" indent="-177800" algn="l" defTabSz="91421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Text</a:t>
                      </a:r>
                    </a:p>
                  </a:txBody>
                  <a:tcPr marL="72000" marR="36000" marT="36000" marB="36000">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30900508"/>
                  </a:ext>
                </a:extLst>
              </a:tr>
              <a:tr h="859366">
                <a:tc>
                  <a:txBody>
                    <a:bodyPr/>
                    <a:lstStyle/>
                    <a:p>
                      <a:pPr algn="ctr"/>
                      <a:r>
                        <a:rPr lang="en-US" sz="2400" b="1" dirty="0">
                          <a:solidFill>
                            <a:schemeClr val="bg1"/>
                          </a:solidFill>
                        </a:rPr>
                        <a:t>L</a:t>
                      </a:r>
                    </a:p>
                  </a:txBody>
                  <a:tcPr marL="36000" marR="36000" marT="36000" marB="3600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400" b="1" dirty="0">
                          <a:solidFill>
                            <a:schemeClr val="tx2"/>
                          </a:solidFill>
                        </a:rPr>
                        <a:t>Legal</a:t>
                      </a:r>
                    </a:p>
                  </a:txBody>
                  <a:tcPr marL="72000" marR="36000" marT="36000" marB="36000">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7800" marR="0" lvl="0" indent="-177800" algn="l" defTabSz="91421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Text</a:t>
                      </a:r>
                    </a:p>
                  </a:txBody>
                  <a:tcPr marL="72000" marR="36000" marT="36000" marB="36000">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3359613"/>
                  </a:ext>
                </a:extLst>
              </a:tr>
              <a:tr h="859366">
                <a:tc>
                  <a:txBody>
                    <a:bodyPr/>
                    <a:lstStyle/>
                    <a:p>
                      <a:pPr algn="ctr"/>
                      <a:r>
                        <a:rPr lang="en-US" sz="2400" b="1" dirty="0">
                          <a:solidFill>
                            <a:schemeClr val="bg1"/>
                          </a:solidFill>
                        </a:rPr>
                        <a:t>E</a:t>
                      </a:r>
                    </a:p>
                  </a:txBody>
                  <a:tcPr marL="36000" marR="36000" marT="36000" marB="36000" anchor="ctr">
                    <a:lnL w="12700" cmpd="sng">
                      <a:noFill/>
                    </a:lnL>
                    <a:lnR w="12700" cmpd="sng">
                      <a:noFill/>
                    </a:lnR>
                    <a:lnT w="1270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2"/>
                    </a:solidFill>
                  </a:tcPr>
                </a:tc>
                <a:tc>
                  <a:txBody>
                    <a:bodyPr/>
                    <a:lstStyle/>
                    <a:p>
                      <a:r>
                        <a:rPr lang="en-US" sz="1400" b="1" dirty="0">
                          <a:solidFill>
                            <a:schemeClr val="tx2"/>
                          </a:solidFill>
                        </a:rPr>
                        <a:t>Environmental</a:t>
                      </a:r>
                    </a:p>
                  </a:txBody>
                  <a:tcPr marL="72000" marR="36000" marT="36000" marB="36000">
                    <a:lnL w="12700" cmpd="sng">
                      <a:noFill/>
                    </a:lnL>
                    <a:lnR w="12700" cmpd="sng">
                      <a:noFill/>
                    </a:lnR>
                    <a:lnT w="1270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177800" marR="0" lvl="0" indent="-177800" algn="l" defTabSz="91421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Verdana"/>
                          <a:ea typeface="+mn-ea"/>
                          <a:cs typeface="+mn-cs"/>
                        </a:rPr>
                        <a:t>Text</a:t>
                      </a:r>
                    </a:p>
                  </a:txBody>
                  <a:tcPr marL="72000" marR="36000" marT="36000" marB="36000">
                    <a:lnL w="12700" cmpd="sng">
                      <a:noFill/>
                    </a:lnL>
                    <a:lnR w="12700" cmpd="sng">
                      <a:noFill/>
                    </a:lnR>
                    <a:lnT w="1270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1673216"/>
                  </a:ext>
                </a:extLst>
              </a:tr>
            </a:tbl>
          </a:graphicData>
        </a:graphic>
      </p:graphicFrame>
      <p:sp>
        <p:nvSpPr>
          <p:cNvPr id="5" name="Marcador de pie de página 4">
            <a:extLst>
              <a:ext uri="{FF2B5EF4-FFF2-40B4-BE49-F238E27FC236}">
                <a16:creationId xmlns:a16="http://schemas.microsoft.com/office/drawing/2014/main" id="{E2CA7D47-6E83-943A-1D7B-4AF241862440}"/>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74290415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Objeto 17" hidden="1">
            <a:extLst>
              <a:ext uri="{FF2B5EF4-FFF2-40B4-BE49-F238E27FC236}">
                <a16:creationId xmlns:a16="http://schemas.microsoft.com/office/drawing/2014/main" id="{983671EB-D69C-D6EC-9B56-4A81DB786992}"/>
              </a:ext>
            </a:extLst>
          </p:cNvPr>
          <p:cNvGraphicFramePr>
            <a:graphicFrameLocks noChangeAspect="1"/>
          </p:cNvGraphicFramePr>
          <p:nvPr>
            <p:custDataLst>
              <p:tags r:id="rId1"/>
            </p:custDataLst>
            <p:extLst>
              <p:ext uri="{D42A27DB-BD31-4B8C-83A1-F6EECF244321}">
                <p14:modId xmlns:p14="http://schemas.microsoft.com/office/powerpoint/2010/main" val="24252692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Rectángulo 18">
            <a:extLst>
              <a:ext uri="{FF2B5EF4-FFF2-40B4-BE49-F238E27FC236}">
                <a16:creationId xmlns:a16="http://schemas.microsoft.com/office/drawing/2014/main" id="{74B3EDFA-DB9E-55C3-4718-1C47EF4E530B}"/>
              </a:ext>
            </a:extLst>
          </p:cNvPr>
          <p:cNvSpPr/>
          <p:nvPr/>
        </p:nvSpPr>
        <p:spPr>
          <a:xfrm>
            <a:off x="409335" y="2248759"/>
            <a:ext cx="11411189" cy="6301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2800" b="1" dirty="0"/>
          </a:p>
        </p:txBody>
      </p:sp>
      <p:sp>
        <p:nvSpPr>
          <p:cNvPr id="20" name="Rectángulo 19">
            <a:extLst>
              <a:ext uri="{FF2B5EF4-FFF2-40B4-BE49-F238E27FC236}">
                <a16:creationId xmlns:a16="http://schemas.microsoft.com/office/drawing/2014/main" id="{31619A12-9FE2-0814-DEEE-E0040D844616}"/>
              </a:ext>
            </a:extLst>
          </p:cNvPr>
          <p:cNvSpPr/>
          <p:nvPr/>
        </p:nvSpPr>
        <p:spPr>
          <a:xfrm>
            <a:off x="409335" y="2934718"/>
            <a:ext cx="11411189" cy="6301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2800" b="1" dirty="0"/>
          </a:p>
        </p:txBody>
      </p:sp>
      <p:sp>
        <p:nvSpPr>
          <p:cNvPr id="21" name="Rectángulo 20">
            <a:extLst>
              <a:ext uri="{FF2B5EF4-FFF2-40B4-BE49-F238E27FC236}">
                <a16:creationId xmlns:a16="http://schemas.microsoft.com/office/drawing/2014/main" id="{676A7D0F-434F-2E9B-AD06-C5A5952DC163}"/>
              </a:ext>
            </a:extLst>
          </p:cNvPr>
          <p:cNvSpPr/>
          <p:nvPr/>
        </p:nvSpPr>
        <p:spPr>
          <a:xfrm>
            <a:off x="409335" y="3620677"/>
            <a:ext cx="11411189" cy="6301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2800" b="1" dirty="0"/>
          </a:p>
        </p:txBody>
      </p:sp>
      <p:sp>
        <p:nvSpPr>
          <p:cNvPr id="22" name="Rectángulo 21">
            <a:extLst>
              <a:ext uri="{FF2B5EF4-FFF2-40B4-BE49-F238E27FC236}">
                <a16:creationId xmlns:a16="http://schemas.microsoft.com/office/drawing/2014/main" id="{D10CB880-E91F-F40F-4CDF-6DE3B08080BA}"/>
              </a:ext>
            </a:extLst>
          </p:cNvPr>
          <p:cNvSpPr/>
          <p:nvPr/>
        </p:nvSpPr>
        <p:spPr>
          <a:xfrm>
            <a:off x="409335" y="4306636"/>
            <a:ext cx="11411189" cy="6301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2800" b="1" dirty="0"/>
          </a:p>
        </p:txBody>
      </p:sp>
      <p:sp>
        <p:nvSpPr>
          <p:cNvPr id="23" name="Rectángulo 22">
            <a:extLst>
              <a:ext uri="{FF2B5EF4-FFF2-40B4-BE49-F238E27FC236}">
                <a16:creationId xmlns:a16="http://schemas.microsoft.com/office/drawing/2014/main" id="{42948094-7C40-0D7E-4F47-FA7ADA7CB82F}"/>
              </a:ext>
            </a:extLst>
          </p:cNvPr>
          <p:cNvSpPr/>
          <p:nvPr/>
        </p:nvSpPr>
        <p:spPr>
          <a:xfrm>
            <a:off x="409335" y="4992595"/>
            <a:ext cx="11411189" cy="6301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2800" b="1" dirty="0"/>
          </a:p>
        </p:txBody>
      </p:sp>
      <p:sp>
        <p:nvSpPr>
          <p:cNvPr id="24" name="Rectángulo 23">
            <a:extLst>
              <a:ext uri="{FF2B5EF4-FFF2-40B4-BE49-F238E27FC236}">
                <a16:creationId xmlns:a16="http://schemas.microsoft.com/office/drawing/2014/main" id="{4EEA8C2C-F97C-8894-392C-1612CB3C2AD1}"/>
              </a:ext>
            </a:extLst>
          </p:cNvPr>
          <p:cNvSpPr/>
          <p:nvPr/>
        </p:nvSpPr>
        <p:spPr>
          <a:xfrm>
            <a:off x="409335" y="5678553"/>
            <a:ext cx="11411189" cy="6301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2800" b="1" dirty="0"/>
          </a:p>
        </p:txBody>
      </p:sp>
      <p:cxnSp>
        <p:nvCxnSpPr>
          <p:cNvPr id="4097" name="Conector recto 4096">
            <a:extLst>
              <a:ext uri="{FF2B5EF4-FFF2-40B4-BE49-F238E27FC236}">
                <a16:creationId xmlns:a16="http://schemas.microsoft.com/office/drawing/2014/main" id="{881F3B35-864D-5B45-EB7A-33D4B52B2C6C}"/>
              </a:ext>
            </a:extLst>
          </p:cNvPr>
          <p:cNvCxnSpPr>
            <a:cxnSpLocks/>
          </p:cNvCxnSpPr>
          <p:nvPr/>
        </p:nvCxnSpPr>
        <p:spPr>
          <a:xfrm flipV="1">
            <a:off x="10548261" y="2248759"/>
            <a:ext cx="0" cy="4059966"/>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99" name="Conector recto 4098">
            <a:extLst>
              <a:ext uri="{FF2B5EF4-FFF2-40B4-BE49-F238E27FC236}">
                <a16:creationId xmlns:a16="http://schemas.microsoft.com/office/drawing/2014/main" id="{6B9E67A4-62ED-EBD1-6147-5D5BBBC19375}"/>
              </a:ext>
            </a:extLst>
          </p:cNvPr>
          <p:cNvCxnSpPr>
            <a:cxnSpLocks/>
          </p:cNvCxnSpPr>
          <p:nvPr/>
        </p:nvCxnSpPr>
        <p:spPr>
          <a:xfrm flipV="1">
            <a:off x="9275997" y="2248759"/>
            <a:ext cx="0" cy="4059966"/>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00" name="Conector recto 4099">
            <a:extLst>
              <a:ext uri="{FF2B5EF4-FFF2-40B4-BE49-F238E27FC236}">
                <a16:creationId xmlns:a16="http://schemas.microsoft.com/office/drawing/2014/main" id="{0B4845E7-AC31-508E-10EA-BFD84290CC72}"/>
              </a:ext>
            </a:extLst>
          </p:cNvPr>
          <p:cNvCxnSpPr>
            <a:cxnSpLocks/>
          </p:cNvCxnSpPr>
          <p:nvPr/>
        </p:nvCxnSpPr>
        <p:spPr>
          <a:xfrm flipV="1">
            <a:off x="8003732" y="2248759"/>
            <a:ext cx="0" cy="4059966"/>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01" name="Conector recto 4100">
            <a:extLst>
              <a:ext uri="{FF2B5EF4-FFF2-40B4-BE49-F238E27FC236}">
                <a16:creationId xmlns:a16="http://schemas.microsoft.com/office/drawing/2014/main" id="{42399E4F-82AC-C3E9-F6B3-D4A99B56AB64}"/>
              </a:ext>
            </a:extLst>
          </p:cNvPr>
          <p:cNvCxnSpPr>
            <a:cxnSpLocks/>
          </p:cNvCxnSpPr>
          <p:nvPr/>
        </p:nvCxnSpPr>
        <p:spPr>
          <a:xfrm flipV="1">
            <a:off x="4207255" y="2248759"/>
            <a:ext cx="0" cy="4059966"/>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02" name="Conector recto 4101">
            <a:extLst>
              <a:ext uri="{FF2B5EF4-FFF2-40B4-BE49-F238E27FC236}">
                <a16:creationId xmlns:a16="http://schemas.microsoft.com/office/drawing/2014/main" id="{02F48B53-F67E-DD77-7ED9-E494C8E22686}"/>
              </a:ext>
            </a:extLst>
          </p:cNvPr>
          <p:cNvCxnSpPr>
            <a:cxnSpLocks/>
          </p:cNvCxnSpPr>
          <p:nvPr/>
        </p:nvCxnSpPr>
        <p:spPr>
          <a:xfrm flipV="1">
            <a:off x="2941281" y="2248759"/>
            <a:ext cx="0" cy="4059966"/>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03" name="Conector recto 4102">
            <a:extLst>
              <a:ext uri="{FF2B5EF4-FFF2-40B4-BE49-F238E27FC236}">
                <a16:creationId xmlns:a16="http://schemas.microsoft.com/office/drawing/2014/main" id="{DFE20246-7653-3C75-1AFA-EDEC2A808445}"/>
              </a:ext>
            </a:extLst>
          </p:cNvPr>
          <p:cNvCxnSpPr>
            <a:cxnSpLocks/>
          </p:cNvCxnSpPr>
          <p:nvPr/>
        </p:nvCxnSpPr>
        <p:spPr>
          <a:xfrm flipV="1">
            <a:off x="1675308" y="2248759"/>
            <a:ext cx="0" cy="4059966"/>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vert="horz"/>
          <a:lstStyle/>
          <a:p>
            <a:r>
              <a:rPr lang="en-US" dirty="0"/>
              <a:t>PESTEL Analysis — Template B</a:t>
            </a:r>
          </a:p>
        </p:txBody>
      </p:sp>
      <p:grpSp>
        <p:nvGrpSpPr>
          <p:cNvPr id="9" name="Group 76">
            <a:extLst>
              <a:ext uri="{FF2B5EF4-FFF2-40B4-BE49-F238E27FC236}">
                <a16:creationId xmlns:a16="http://schemas.microsoft.com/office/drawing/2014/main" id="{C728F669-EF3B-B504-0939-5206405275F5}"/>
              </a:ext>
            </a:extLst>
          </p:cNvPr>
          <p:cNvGrpSpPr>
            <a:grpSpLocks noChangeAspect="1"/>
          </p:cNvGrpSpPr>
          <p:nvPr/>
        </p:nvGrpSpPr>
        <p:grpSpPr bwMode="auto">
          <a:xfrm>
            <a:off x="11003697" y="1521202"/>
            <a:ext cx="367680" cy="366778"/>
            <a:chOff x="1364" y="1730"/>
            <a:chExt cx="408" cy="407"/>
          </a:xfrm>
          <a:solidFill>
            <a:srgbClr val="00B050"/>
          </a:solidFill>
        </p:grpSpPr>
        <p:sp>
          <p:nvSpPr>
            <p:cNvPr id="10" name="Freeform 77">
              <a:extLst>
                <a:ext uri="{FF2B5EF4-FFF2-40B4-BE49-F238E27FC236}">
                  <a16:creationId xmlns:a16="http://schemas.microsoft.com/office/drawing/2014/main" id="{C789332B-54DC-3A94-CE88-0BEC16AEAD15}"/>
                </a:ext>
              </a:extLst>
            </p:cNvPr>
            <p:cNvSpPr>
              <a:spLocks noEditPoints="1"/>
            </p:cNvSpPr>
            <p:nvPr/>
          </p:nvSpPr>
          <p:spPr bwMode="auto">
            <a:xfrm>
              <a:off x="1364" y="1730"/>
              <a:ext cx="408" cy="407"/>
            </a:xfrm>
            <a:custGeom>
              <a:avLst/>
              <a:gdLst>
                <a:gd name="T0" fmla="*/ 138 w 276"/>
                <a:gd name="T1" fmla="*/ 276 h 276"/>
                <a:gd name="T2" fmla="*/ 0 w 276"/>
                <a:gd name="T3" fmla="*/ 138 h 276"/>
                <a:gd name="T4" fmla="*/ 138 w 276"/>
                <a:gd name="T5" fmla="*/ 0 h 276"/>
                <a:gd name="T6" fmla="*/ 276 w 276"/>
                <a:gd name="T7" fmla="*/ 138 h 276"/>
                <a:gd name="T8" fmla="*/ 138 w 276"/>
                <a:gd name="T9" fmla="*/ 276 h 276"/>
                <a:gd name="T10" fmla="*/ 138 w 276"/>
                <a:gd name="T11" fmla="*/ 12 h 276"/>
                <a:gd name="T12" fmla="*/ 12 w 276"/>
                <a:gd name="T13" fmla="*/ 138 h 276"/>
                <a:gd name="T14" fmla="*/ 138 w 276"/>
                <a:gd name="T15" fmla="*/ 264 h 276"/>
                <a:gd name="T16" fmla="*/ 264 w 276"/>
                <a:gd name="T17" fmla="*/ 138 h 276"/>
                <a:gd name="T18" fmla="*/ 138 w 276"/>
                <a:gd name="T19" fmla="*/ 12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6" h="276">
                  <a:moveTo>
                    <a:pt x="138" y="276"/>
                  </a:moveTo>
                  <a:cubicBezTo>
                    <a:pt x="62" y="276"/>
                    <a:pt x="0" y="214"/>
                    <a:pt x="0" y="138"/>
                  </a:cubicBezTo>
                  <a:cubicBezTo>
                    <a:pt x="0" y="62"/>
                    <a:pt x="62" y="0"/>
                    <a:pt x="138" y="0"/>
                  </a:cubicBezTo>
                  <a:cubicBezTo>
                    <a:pt x="214" y="0"/>
                    <a:pt x="276" y="62"/>
                    <a:pt x="276" y="138"/>
                  </a:cubicBezTo>
                  <a:cubicBezTo>
                    <a:pt x="276" y="214"/>
                    <a:pt x="214" y="276"/>
                    <a:pt x="138" y="276"/>
                  </a:cubicBezTo>
                  <a:close/>
                  <a:moveTo>
                    <a:pt x="138" y="12"/>
                  </a:moveTo>
                  <a:cubicBezTo>
                    <a:pt x="69" y="12"/>
                    <a:pt x="12" y="69"/>
                    <a:pt x="12" y="138"/>
                  </a:cubicBezTo>
                  <a:cubicBezTo>
                    <a:pt x="12" y="208"/>
                    <a:pt x="69" y="264"/>
                    <a:pt x="138" y="264"/>
                  </a:cubicBezTo>
                  <a:cubicBezTo>
                    <a:pt x="208" y="264"/>
                    <a:pt x="264" y="208"/>
                    <a:pt x="264" y="138"/>
                  </a:cubicBezTo>
                  <a:cubicBezTo>
                    <a:pt x="264" y="69"/>
                    <a:pt x="208" y="12"/>
                    <a:pt x="1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1" name="Freeform 78">
              <a:extLst>
                <a:ext uri="{FF2B5EF4-FFF2-40B4-BE49-F238E27FC236}">
                  <a16:creationId xmlns:a16="http://schemas.microsoft.com/office/drawing/2014/main" id="{B9859173-88E7-674E-82F7-520A00F8A8A3}"/>
                </a:ext>
              </a:extLst>
            </p:cNvPr>
            <p:cNvSpPr>
              <a:spLocks/>
            </p:cNvSpPr>
            <p:nvPr/>
          </p:nvSpPr>
          <p:spPr bwMode="auto">
            <a:xfrm>
              <a:off x="1559" y="1818"/>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4"/>
                    <a:pt x="0" y="150"/>
                  </a:cubicBezTo>
                  <a:cubicBezTo>
                    <a:pt x="0" y="6"/>
                    <a:pt x="0" y="6"/>
                    <a:pt x="0" y="6"/>
                  </a:cubicBezTo>
                  <a:cubicBezTo>
                    <a:pt x="0" y="3"/>
                    <a:pt x="3" y="0"/>
                    <a:pt x="6" y="0"/>
                  </a:cubicBezTo>
                  <a:cubicBezTo>
                    <a:pt x="10" y="0"/>
                    <a:pt x="12" y="3"/>
                    <a:pt x="12" y="6"/>
                  </a:cubicBezTo>
                  <a:cubicBezTo>
                    <a:pt x="12" y="150"/>
                    <a:pt x="12" y="150"/>
                    <a:pt x="12" y="150"/>
                  </a:cubicBezTo>
                  <a:cubicBezTo>
                    <a:pt x="12" y="154"/>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2" name="Freeform 79">
              <a:extLst>
                <a:ext uri="{FF2B5EF4-FFF2-40B4-BE49-F238E27FC236}">
                  <a16:creationId xmlns:a16="http://schemas.microsoft.com/office/drawing/2014/main" id="{5FCD93CB-417E-4510-C3E9-EADCDA71CF27}"/>
                </a:ext>
              </a:extLst>
            </p:cNvPr>
            <p:cNvSpPr>
              <a:spLocks/>
            </p:cNvSpPr>
            <p:nvPr/>
          </p:nvSpPr>
          <p:spPr bwMode="auto">
            <a:xfrm>
              <a:off x="1453" y="1925"/>
              <a:ext cx="230" cy="17"/>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4" y="0"/>
                    <a:pt x="156" y="3"/>
                    <a:pt x="156" y="6"/>
                  </a:cubicBezTo>
                  <a:cubicBezTo>
                    <a:pt x="156" y="10"/>
                    <a:pt x="154" y="12"/>
                    <a:pt x="15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nvGrpSpPr>
          <p:cNvPr id="13" name="Group 101">
            <a:extLst>
              <a:ext uri="{FF2B5EF4-FFF2-40B4-BE49-F238E27FC236}">
                <a16:creationId xmlns:a16="http://schemas.microsoft.com/office/drawing/2014/main" id="{E5A5DAC6-0155-67B4-F8BD-B8697E6E1B6F}"/>
              </a:ext>
            </a:extLst>
          </p:cNvPr>
          <p:cNvGrpSpPr>
            <a:grpSpLocks noChangeAspect="1"/>
          </p:cNvGrpSpPr>
          <p:nvPr/>
        </p:nvGrpSpPr>
        <p:grpSpPr bwMode="auto">
          <a:xfrm>
            <a:off x="857653" y="1520825"/>
            <a:ext cx="369340" cy="367534"/>
            <a:chOff x="5514" y="1730"/>
            <a:chExt cx="409" cy="407"/>
          </a:xfrm>
          <a:solidFill>
            <a:srgbClr val="C00000"/>
          </a:solidFill>
        </p:grpSpPr>
        <p:sp>
          <p:nvSpPr>
            <p:cNvPr id="14" name="Freeform 102">
              <a:extLst>
                <a:ext uri="{FF2B5EF4-FFF2-40B4-BE49-F238E27FC236}">
                  <a16:creationId xmlns:a16="http://schemas.microsoft.com/office/drawing/2014/main" id="{2F8C0CED-F0C7-E826-4195-7C86FD98E1BB}"/>
                </a:ext>
              </a:extLst>
            </p:cNvPr>
            <p:cNvSpPr>
              <a:spLocks noEditPoints="1"/>
            </p:cNvSpPr>
            <p:nvPr/>
          </p:nvSpPr>
          <p:spPr bwMode="auto">
            <a:xfrm>
              <a:off x="5514" y="1730"/>
              <a:ext cx="409" cy="407"/>
            </a:xfrm>
            <a:custGeom>
              <a:avLst/>
              <a:gdLst>
                <a:gd name="T0" fmla="*/ 138 w 276"/>
                <a:gd name="T1" fmla="*/ 276 h 276"/>
                <a:gd name="T2" fmla="*/ 0 w 276"/>
                <a:gd name="T3" fmla="*/ 138 h 276"/>
                <a:gd name="T4" fmla="*/ 138 w 276"/>
                <a:gd name="T5" fmla="*/ 0 h 276"/>
                <a:gd name="T6" fmla="*/ 276 w 276"/>
                <a:gd name="T7" fmla="*/ 138 h 276"/>
                <a:gd name="T8" fmla="*/ 138 w 276"/>
                <a:gd name="T9" fmla="*/ 276 h 276"/>
                <a:gd name="T10" fmla="*/ 138 w 276"/>
                <a:gd name="T11" fmla="*/ 12 h 276"/>
                <a:gd name="T12" fmla="*/ 12 w 276"/>
                <a:gd name="T13" fmla="*/ 138 h 276"/>
                <a:gd name="T14" fmla="*/ 138 w 276"/>
                <a:gd name="T15" fmla="*/ 264 h 276"/>
                <a:gd name="T16" fmla="*/ 264 w 276"/>
                <a:gd name="T17" fmla="*/ 138 h 276"/>
                <a:gd name="T18" fmla="*/ 138 w 276"/>
                <a:gd name="T19" fmla="*/ 12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6" h="276">
                  <a:moveTo>
                    <a:pt x="138" y="276"/>
                  </a:moveTo>
                  <a:cubicBezTo>
                    <a:pt x="62" y="276"/>
                    <a:pt x="0" y="214"/>
                    <a:pt x="0" y="138"/>
                  </a:cubicBezTo>
                  <a:cubicBezTo>
                    <a:pt x="0" y="62"/>
                    <a:pt x="62" y="0"/>
                    <a:pt x="138" y="0"/>
                  </a:cubicBezTo>
                  <a:cubicBezTo>
                    <a:pt x="214" y="0"/>
                    <a:pt x="276" y="62"/>
                    <a:pt x="276" y="138"/>
                  </a:cubicBezTo>
                  <a:cubicBezTo>
                    <a:pt x="276" y="214"/>
                    <a:pt x="214" y="276"/>
                    <a:pt x="138" y="276"/>
                  </a:cubicBezTo>
                  <a:close/>
                  <a:moveTo>
                    <a:pt x="138" y="12"/>
                  </a:moveTo>
                  <a:cubicBezTo>
                    <a:pt x="69" y="12"/>
                    <a:pt x="12" y="69"/>
                    <a:pt x="12" y="138"/>
                  </a:cubicBezTo>
                  <a:cubicBezTo>
                    <a:pt x="12" y="208"/>
                    <a:pt x="69" y="264"/>
                    <a:pt x="138" y="264"/>
                  </a:cubicBezTo>
                  <a:cubicBezTo>
                    <a:pt x="208" y="264"/>
                    <a:pt x="264" y="208"/>
                    <a:pt x="264" y="138"/>
                  </a:cubicBezTo>
                  <a:cubicBezTo>
                    <a:pt x="264" y="69"/>
                    <a:pt x="208" y="12"/>
                    <a:pt x="13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5" name="Freeform 103">
              <a:extLst>
                <a:ext uri="{FF2B5EF4-FFF2-40B4-BE49-F238E27FC236}">
                  <a16:creationId xmlns:a16="http://schemas.microsoft.com/office/drawing/2014/main" id="{935E301A-F04A-40CE-3DA5-831CF1AA79CB}"/>
                </a:ext>
              </a:extLst>
            </p:cNvPr>
            <p:cNvSpPr>
              <a:spLocks/>
            </p:cNvSpPr>
            <p:nvPr/>
          </p:nvSpPr>
          <p:spPr bwMode="auto">
            <a:xfrm>
              <a:off x="5603" y="1925"/>
              <a:ext cx="231" cy="17"/>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sp>
        <p:nvSpPr>
          <p:cNvPr id="2" name="Rectángulo 1">
            <a:extLst>
              <a:ext uri="{FF2B5EF4-FFF2-40B4-BE49-F238E27FC236}">
                <a16:creationId xmlns:a16="http://schemas.microsoft.com/office/drawing/2014/main" id="{9A18774A-8392-FBB0-A01A-0E1759F9E2E5}"/>
              </a:ext>
            </a:extLst>
          </p:cNvPr>
          <p:cNvSpPr/>
          <p:nvPr/>
        </p:nvSpPr>
        <p:spPr>
          <a:xfrm>
            <a:off x="5473226" y="2248759"/>
            <a:ext cx="1258241" cy="6301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2800" b="1" dirty="0"/>
              <a:t>P</a:t>
            </a:r>
          </a:p>
          <a:p>
            <a:pPr algn="ctr"/>
            <a:r>
              <a:rPr lang="en-US" sz="1000" dirty="0"/>
              <a:t>Political</a:t>
            </a:r>
          </a:p>
        </p:txBody>
      </p:sp>
      <p:sp>
        <p:nvSpPr>
          <p:cNvPr id="4" name="Rectángulo 3">
            <a:extLst>
              <a:ext uri="{FF2B5EF4-FFF2-40B4-BE49-F238E27FC236}">
                <a16:creationId xmlns:a16="http://schemas.microsoft.com/office/drawing/2014/main" id="{FE1EC804-30D8-0E53-8606-2DB9EE7F12EB}"/>
              </a:ext>
            </a:extLst>
          </p:cNvPr>
          <p:cNvSpPr/>
          <p:nvPr/>
        </p:nvSpPr>
        <p:spPr>
          <a:xfrm>
            <a:off x="5473226" y="2934718"/>
            <a:ext cx="1258241" cy="6301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2800" b="1" dirty="0"/>
              <a:t>E</a:t>
            </a:r>
          </a:p>
          <a:p>
            <a:pPr algn="ctr"/>
            <a:r>
              <a:rPr lang="en-US" sz="1000" dirty="0"/>
              <a:t>Economic</a:t>
            </a:r>
          </a:p>
        </p:txBody>
      </p:sp>
      <p:sp>
        <p:nvSpPr>
          <p:cNvPr id="5" name="Rectángulo 4">
            <a:extLst>
              <a:ext uri="{FF2B5EF4-FFF2-40B4-BE49-F238E27FC236}">
                <a16:creationId xmlns:a16="http://schemas.microsoft.com/office/drawing/2014/main" id="{E40E5B06-0A25-B35C-3CE9-C3644860F78F}"/>
              </a:ext>
            </a:extLst>
          </p:cNvPr>
          <p:cNvSpPr/>
          <p:nvPr/>
        </p:nvSpPr>
        <p:spPr>
          <a:xfrm>
            <a:off x="5473226" y="3620677"/>
            <a:ext cx="1258241" cy="6301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2800" b="1" dirty="0"/>
              <a:t>S</a:t>
            </a:r>
          </a:p>
          <a:p>
            <a:pPr algn="ctr"/>
            <a:r>
              <a:rPr lang="en-US" sz="1000" dirty="0"/>
              <a:t>Social</a:t>
            </a:r>
          </a:p>
        </p:txBody>
      </p:sp>
      <p:sp>
        <p:nvSpPr>
          <p:cNvPr id="6" name="Rectángulo 5">
            <a:extLst>
              <a:ext uri="{FF2B5EF4-FFF2-40B4-BE49-F238E27FC236}">
                <a16:creationId xmlns:a16="http://schemas.microsoft.com/office/drawing/2014/main" id="{4FEFE5EA-5909-5C3D-2384-DE8206D2513C}"/>
              </a:ext>
            </a:extLst>
          </p:cNvPr>
          <p:cNvSpPr/>
          <p:nvPr/>
        </p:nvSpPr>
        <p:spPr>
          <a:xfrm>
            <a:off x="5473226" y="4306636"/>
            <a:ext cx="1258241" cy="6301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2800" b="1" dirty="0"/>
              <a:t>T</a:t>
            </a:r>
          </a:p>
          <a:p>
            <a:pPr algn="ctr"/>
            <a:r>
              <a:rPr lang="en-US" sz="1000" dirty="0"/>
              <a:t>Technological</a:t>
            </a:r>
          </a:p>
        </p:txBody>
      </p:sp>
      <p:sp>
        <p:nvSpPr>
          <p:cNvPr id="7" name="Rectángulo 6">
            <a:extLst>
              <a:ext uri="{FF2B5EF4-FFF2-40B4-BE49-F238E27FC236}">
                <a16:creationId xmlns:a16="http://schemas.microsoft.com/office/drawing/2014/main" id="{8D586120-586B-4338-2171-C206410286C0}"/>
              </a:ext>
            </a:extLst>
          </p:cNvPr>
          <p:cNvSpPr/>
          <p:nvPr/>
        </p:nvSpPr>
        <p:spPr>
          <a:xfrm>
            <a:off x="5473226" y="4992595"/>
            <a:ext cx="1258241" cy="6301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2800" b="1" dirty="0"/>
              <a:t>L</a:t>
            </a:r>
          </a:p>
          <a:p>
            <a:pPr algn="ctr"/>
            <a:r>
              <a:rPr lang="en-US" sz="1000" dirty="0"/>
              <a:t>Legal</a:t>
            </a:r>
          </a:p>
        </p:txBody>
      </p:sp>
      <p:sp>
        <p:nvSpPr>
          <p:cNvPr id="8" name="Rectángulo 7">
            <a:extLst>
              <a:ext uri="{FF2B5EF4-FFF2-40B4-BE49-F238E27FC236}">
                <a16:creationId xmlns:a16="http://schemas.microsoft.com/office/drawing/2014/main" id="{8CF8E2EA-CCA9-18B4-436A-9C27EEAD5456}"/>
              </a:ext>
            </a:extLst>
          </p:cNvPr>
          <p:cNvSpPr/>
          <p:nvPr/>
        </p:nvSpPr>
        <p:spPr>
          <a:xfrm>
            <a:off x="5473226" y="5678553"/>
            <a:ext cx="1258241" cy="6301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r>
              <a:rPr lang="en-US" sz="2800" b="1" dirty="0"/>
              <a:t>E</a:t>
            </a:r>
          </a:p>
          <a:p>
            <a:pPr algn="ctr"/>
            <a:r>
              <a:rPr lang="en-US" sz="1000" dirty="0"/>
              <a:t>Environmental</a:t>
            </a:r>
          </a:p>
        </p:txBody>
      </p:sp>
      <p:sp>
        <p:nvSpPr>
          <p:cNvPr id="26" name="TextBox 24">
            <a:extLst>
              <a:ext uri="{FF2B5EF4-FFF2-40B4-BE49-F238E27FC236}">
                <a16:creationId xmlns:a16="http://schemas.microsoft.com/office/drawing/2014/main" id="{6CAE23F4-7E60-E713-42E2-4F7201751CBB}"/>
              </a:ext>
            </a:extLst>
          </p:cNvPr>
          <p:cNvSpPr txBox="1"/>
          <p:nvPr/>
        </p:nvSpPr>
        <p:spPr>
          <a:xfrm>
            <a:off x="409337" y="2001510"/>
            <a:ext cx="1265973" cy="184666"/>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US" sz="1200"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High</a:t>
            </a:r>
            <a:endParaRPr kumimoji="0" lang="en-US" sz="1200"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04" name="TextBox 24">
            <a:extLst>
              <a:ext uri="{FF2B5EF4-FFF2-40B4-BE49-F238E27FC236}">
                <a16:creationId xmlns:a16="http://schemas.microsoft.com/office/drawing/2014/main" id="{296ECADD-8FF5-5692-5142-F0B486C612CD}"/>
              </a:ext>
            </a:extLst>
          </p:cNvPr>
          <p:cNvSpPr txBox="1"/>
          <p:nvPr/>
        </p:nvSpPr>
        <p:spPr>
          <a:xfrm>
            <a:off x="1675308" y="2001510"/>
            <a:ext cx="1265973" cy="184666"/>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US" sz="1200"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Medium</a:t>
            </a:r>
            <a:endParaRPr kumimoji="0" lang="en-US" sz="1200"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05" name="TextBox 24">
            <a:extLst>
              <a:ext uri="{FF2B5EF4-FFF2-40B4-BE49-F238E27FC236}">
                <a16:creationId xmlns:a16="http://schemas.microsoft.com/office/drawing/2014/main" id="{69CCA90B-9D37-E083-B79C-B134B0E24C87}"/>
              </a:ext>
            </a:extLst>
          </p:cNvPr>
          <p:cNvSpPr txBox="1"/>
          <p:nvPr/>
        </p:nvSpPr>
        <p:spPr>
          <a:xfrm>
            <a:off x="2941281" y="2001510"/>
            <a:ext cx="1265973" cy="184666"/>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US" sz="1200"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Low</a:t>
            </a:r>
            <a:endParaRPr kumimoji="0" lang="en-US" sz="1200"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07" name="TextBox 24">
            <a:extLst>
              <a:ext uri="{FF2B5EF4-FFF2-40B4-BE49-F238E27FC236}">
                <a16:creationId xmlns:a16="http://schemas.microsoft.com/office/drawing/2014/main" id="{5A8A65DC-E833-667B-43CF-BBBF3BAD5206}"/>
              </a:ext>
            </a:extLst>
          </p:cNvPr>
          <p:cNvSpPr txBox="1"/>
          <p:nvPr/>
        </p:nvSpPr>
        <p:spPr>
          <a:xfrm>
            <a:off x="10554551" y="2001510"/>
            <a:ext cx="1265973" cy="184666"/>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US" sz="1200" dirty="0">
                <a:solidFill>
                  <a:schemeClr val="tx2"/>
                </a:solidFill>
                <a:latin typeface="Verdana"/>
                <a:ea typeface="Verdana" panose="020B0604030504040204" pitchFamily="34" charset="0"/>
                <a:cs typeface="Verdana" panose="020B0604030504040204" pitchFamily="34" charset="0"/>
                <a:sym typeface="Verdana" panose="020B0604030504040204" pitchFamily="34" charset="0"/>
              </a:rPr>
              <a:t>High</a:t>
            </a:r>
            <a:endParaRPr kumimoji="0" lang="en-US" sz="1200"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08" name="TextBox 24">
            <a:extLst>
              <a:ext uri="{FF2B5EF4-FFF2-40B4-BE49-F238E27FC236}">
                <a16:creationId xmlns:a16="http://schemas.microsoft.com/office/drawing/2014/main" id="{FA18D383-DCF8-846C-2BB5-AAC93A7AB4C3}"/>
              </a:ext>
            </a:extLst>
          </p:cNvPr>
          <p:cNvSpPr txBox="1"/>
          <p:nvPr/>
        </p:nvSpPr>
        <p:spPr>
          <a:xfrm>
            <a:off x="9282288" y="2001510"/>
            <a:ext cx="1265973" cy="184666"/>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US" sz="1200" dirty="0">
                <a:solidFill>
                  <a:schemeClr val="tx2"/>
                </a:solidFill>
                <a:latin typeface="Verdana"/>
                <a:ea typeface="Verdana" panose="020B0604030504040204" pitchFamily="34" charset="0"/>
                <a:cs typeface="Verdana" panose="020B0604030504040204" pitchFamily="34" charset="0"/>
                <a:sym typeface="Verdana" panose="020B0604030504040204" pitchFamily="34" charset="0"/>
              </a:rPr>
              <a:t>Medium</a:t>
            </a:r>
            <a:endParaRPr kumimoji="0" lang="en-US" sz="1200"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09" name="TextBox 24">
            <a:extLst>
              <a:ext uri="{FF2B5EF4-FFF2-40B4-BE49-F238E27FC236}">
                <a16:creationId xmlns:a16="http://schemas.microsoft.com/office/drawing/2014/main" id="{E860E74C-25A9-8778-A88A-6594D45DC310}"/>
              </a:ext>
            </a:extLst>
          </p:cNvPr>
          <p:cNvSpPr txBox="1"/>
          <p:nvPr/>
        </p:nvSpPr>
        <p:spPr>
          <a:xfrm>
            <a:off x="8010023" y="2001510"/>
            <a:ext cx="1265973" cy="184666"/>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US" sz="1200" dirty="0">
                <a:solidFill>
                  <a:schemeClr val="tx2"/>
                </a:solidFill>
                <a:latin typeface="Verdana"/>
                <a:ea typeface="Verdana" panose="020B0604030504040204" pitchFamily="34" charset="0"/>
                <a:cs typeface="Verdana" panose="020B0604030504040204" pitchFamily="34" charset="0"/>
                <a:sym typeface="Verdana" panose="020B0604030504040204" pitchFamily="34" charset="0"/>
              </a:rPr>
              <a:t>Low</a:t>
            </a:r>
            <a:endParaRPr kumimoji="0" lang="en-US" sz="1200"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4111" name="Conector recto 4110">
            <a:extLst>
              <a:ext uri="{FF2B5EF4-FFF2-40B4-BE49-F238E27FC236}">
                <a16:creationId xmlns:a16="http://schemas.microsoft.com/office/drawing/2014/main" id="{55BC5F77-5019-D9CB-7401-05A873FC6C8B}"/>
              </a:ext>
            </a:extLst>
          </p:cNvPr>
          <p:cNvCxnSpPr>
            <a:cxnSpLocks/>
          </p:cNvCxnSpPr>
          <p:nvPr/>
        </p:nvCxnSpPr>
        <p:spPr>
          <a:xfrm>
            <a:off x="3574268" y="2759076"/>
            <a:ext cx="1636034"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4114" name="Conector recto 4113">
            <a:extLst>
              <a:ext uri="{FF2B5EF4-FFF2-40B4-BE49-F238E27FC236}">
                <a16:creationId xmlns:a16="http://schemas.microsoft.com/office/drawing/2014/main" id="{C548A0E4-DC22-35A2-A704-6E0106EECB3D}"/>
              </a:ext>
            </a:extLst>
          </p:cNvPr>
          <p:cNvCxnSpPr>
            <a:cxnSpLocks/>
          </p:cNvCxnSpPr>
          <p:nvPr/>
        </p:nvCxnSpPr>
        <p:spPr>
          <a:xfrm>
            <a:off x="1013021" y="3166268"/>
            <a:ext cx="4197281"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4116" name="Conector recto 4115">
            <a:extLst>
              <a:ext uri="{FF2B5EF4-FFF2-40B4-BE49-F238E27FC236}">
                <a16:creationId xmlns:a16="http://schemas.microsoft.com/office/drawing/2014/main" id="{B011630B-D864-E5D7-2A58-7443D4ED0FE3}"/>
              </a:ext>
            </a:extLst>
          </p:cNvPr>
          <p:cNvCxnSpPr>
            <a:cxnSpLocks/>
          </p:cNvCxnSpPr>
          <p:nvPr/>
        </p:nvCxnSpPr>
        <p:spPr>
          <a:xfrm>
            <a:off x="2277490" y="3433762"/>
            <a:ext cx="2932812"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4118" name="Conector recto 4117">
            <a:extLst>
              <a:ext uri="{FF2B5EF4-FFF2-40B4-BE49-F238E27FC236}">
                <a16:creationId xmlns:a16="http://schemas.microsoft.com/office/drawing/2014/main" id="{EE36B4F6-6681-F082-14FC-D3447BC7F75E}"/>
              </a:ext>
            </a:extLst>
          </p:cNvPr>
          <p:cNvCxnSpPr>
            <a:cxnSpLocks/>
          </p:cNvCxnSpPr>
          <p:nvPr/>
        </p:nvCxnSpPr>
        <p:spPr>
          <a:xfrm>
            <a:off x="1042323" y="4791870"/>
            <a:ext cx="4167979"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4120" name="Conector recto 4119">
            <a:extLst>
              <a:ext uri="{FF2B5EF4-FFF2-40B4-BE49-F238E27FC236}">
                <a16:creationId xmlns:a16="http://schemas.microsoft.com/office/drawing/2014/main" id="{1B926A49-63B6-F6B2-176F-0F23FD82BB5D}"/>
              </a:ext>
            </a:extLst>
          </p:cNvPr>
          <p:cNvCxnSpPr>
            <a:cxnSpLocks/>
          </p:cNvCxnSpPr>
          <p:nvPr/>
        </p:nvCxnSpPr>
        <p:spPr>
          <a:xfrm>
            <a:off x="2277490" y="5499896"/>
            <a:ext cx="2932812"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4122" name="Conector recto 4121">
            <a:extLst>
              <a:ext uri="{FF2B5EF4-FFF2-40B4-BE49-F238E27FC236}">
                <a16:creationId xmlns:a16="http://schemas.microsoft.com/office/drawing/2014/main" id="{C0EBD174-E43C-8017-098E-9E317359C42B}"/>
              </a:ext>
            </a:extLst>
          </p:cNvPr>
          <p:cNvCxnSpPr>
            <a:cxnSpLocks/>
          </p:cNvCxnSpPr>
          <p:nvPr/>
        </p:nvCxnSpPr>
        <p:spPr>
          <a:xfrm>
            <a:off x="2277490" y="6132118"/>
            <a:ext cx="2932812"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4123" name="Conector recto 4122">
            <a:extLst>
              <a:ext uri="{FF2B5EF4-FFF2-40B4-BE49-F238E27FC236}">
                <a16:creationId xmlns:a16="http://schemas.microsoft.com/office/drawing/2014/main" id="{31459E90-68C4-0A0A-C412-B1C18589E7CE}"/>
              </a:ext>
            </a:extLst>
          </p:cNvPr>
          <p:cNvCxnSpPr>
            <a:cxnSpLocks/>
          </p:cNvCxnSpPr>
          <p:nvPr/>
        </p:nvCxnSpPr>
        <p:spPr>
          <a:xfrm flipH="1">
            <a:off x="6970058" y="2759076"/>
            <a:ext cx="4217480"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4124" name="Conector recto 4123">
            <a:extLst>
              <a:ext uri="{FF2B5EF4-FFF2-40B4-BE49-F238E27FC236}">
                <a16:creationId xmlns:a16="http://schemas.microsoft.com/office/drawing/2014/main" id="{2B29C5EF-69B0-E46E-13A3-194C98F8498B}"/>
              </a:ext>
            </a:extLst>
          </p:cNvPr>
          <p:cNvCxnSpPr>
            <a:cxnSpLocks/>
          </p:cNvCxnSpPr>
          <p:nvPr/>
        </p:nvCxnSpPr>
        <p:spPr>
          <a:xfrm flipH="1" flipV="1">
            <a:off x="6970058" y="2480471"/>
            <a:ext cx="1636034"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4126" name="Conector recto 4125">
            <a:extLst>
              <a:ext uri="{FF2B5EF4-FFF2-40B4-BE49-F238E27FC236}">
                <a16:creationId xmlns:a16="http://schemas.microsoft.com/office/drawing/2014/main" id="{FDBD1567-CF81-0181-8D53-F5AC68DC15A6}"/>
              </a:ext>
            </a:extLst>
          </p:cNvPr>
          <p:cNvCxnSpPr>
            <a:cxnSpLocks/>
          </p:cNvCxnSpPr>
          <p:nvPr/>
        </p:nvCxnSpPr>
        <p:spPr>
          <a:xfrm flipH="1">
            <a:off x="6970058" y="3166268"/>
            <a:ext cx="2945217"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4128" name="Conector recto 4127">
            <a:extLst>
              <a:ext uri="{FF2B5EF4-FFF2-40B4-BE49-F238E27FC236}">
                <a16:creationId xmlns:a16="http://schemas.microsoft.com/office/drawing/2014/main" id="{F35CF4C8-D70A-5CF7-4BF2-C4EB488DB680}"/>
              </a:ext>
            </a:extLst>
          </p:cNvPr>
          <p:cNvCxnSpPr>
            <a:cxnSpLocks/>
          </p:cNvCxnSpPr>
          <p:nvPr/>
        </p:nvCxnSpPr>
        <p:spPr>
          <a:xfrm flipH="1">
            <a:off x="6970058" y="3835399"/>
            <a:ext cx="4217480"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4130" name="Conector recto 4129">
            <a:extLst>
              <a:ext uri="{FF2B5EF4-FFF2-40B4-BE49-F238E27FC236}">
                <a16:creationId xmlns:a16="http://schemas.microsoft.com/office/drawing/2014/main" id="{3F57A3DB-CD8A-3C5D-8628-A14EB2D36A14}"/>
              </a:ext>
            </a:extLst>
          </p:cNvPr>
          <p:cNvCxnSpPr>
            <a:cxnSpLocks/>
          </p:cNvCxnSpPr>
          <p:nvPr/>
        </p:nvCxnSpPr>
        <p:spPr>
          <a:xfrm flipH="1">
            <a:off x="6970058" y="4104482"/>
            <a:ext cx="2945217"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4132" name="Conector recto 4131">
            <a:extLst>
              <a:ext uri="{FF2B5EF4-FFF2-40B4-BE49-F238E27FC236}">
                <a16:creationId xmlns:a16="http://schemas.microsoft.com/office/drawing/2014/main" id="{27B79755-726D-F201-67E9-6647C4A971C2}"/>
              </a:ext>
            </a:extLst>
          </p:cNvPr>
          <p:cNvCxnSpPr>
            <a:cxnSpLocks/>
          </p:cNvCxnSpPr>
          <p:nvPr/>
        </p:nvCxnSpPr>
        <p:spPr>
          <a:xfrm flipH="1">
            <a:off x="6970058" y="4791870"/>
            <a:ext cx="4217480"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4134" name="Conector recto 4133">
            <a:extLst>
              <a:ext uri="{FF2B5EF4-FFF2-40B4-BE49-F238E27FC236}">
                <a16:creationId xmlns:a16="http://schemas.microsoft.com/office/drawing/2014/main" id="{82C26139-BDDC-527A-B788-5FC7AAA669C5}"/>
              </a:ext>
            </a:extLst>
          </p:cNvPr>
          <p:cNvCxnSpPr>
            <a:cxnSpLocks/>
          </p:cNvCxnSpPr>
          <p:nvPr/>
        </p:nvCxnSpPr>
        <p:spPr>
          <a:xfrm flipH="1">
            <a:off x="6970058" y="5499896"/>
            <a:ext cx="2945217"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4136" name="Conector recto 4135">
            <a:extLst>
              <a:ext uri="{FF2B5EF4-FFF2-40B4-BE49-F238E27FC236}">
                <a16:creationId xmlns:a16="http://schemas.microsoft.com/office/drawing/2014/main" id="{D0813308-2055-08C6-0811-95BC4AE7B5B4}"/>
              </a:ext>
            </a:extLst>
          </p:cNvPr>
          <p:cNvCxnSpPr>
            <a:cxnSpLocks/>
          </p:cNvCxnSpPr>
          <p:nvPr/>
        </p:nvCxnSpPr>
        <p:spPr>
          <a:xfrm flipH="1">
            <a:off x="6970058" y="6132118"/>
            <a:ext cx="4249301"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4138" name="Conector recto 4137">
            <a:extLst>
              <a:ext uri="{FF2B5EF4-FFF2-40B4-BE49-F238E27FC236}">
                <a16:creationId xmlns:a16="http://schemas.microsoft.com/office/drawing/2014/main" id="{69EF704C-C946-8B93-5076-99A8BED6C5FC}"/>
              </a:ext>
            </a:extLst>
          </p:cNvPr>
          <p:cNvCxnSpPr>
            <a:cxnSpLocks/>
          </p:cNvCxnSpPr>
          <p:nvPr/>
        </p:nvCxnSpPr>
        <p:spPr>
          <a:xfrm>
            <a:off x="1339850" y="1704591"/>
            <a:ext cx="9547225" cy="0"/>
          </a:xfrm>
          <a:prstGeom prst="line">
            <a:avLst/>
          </a:prstGeom>
          <a:noFill/>
          <a:ln w="28575">
            <a:gradFill flip="none" rotWithShape="1">
              <a:gsLst>
                <a:gs pos="0">
                  <a:srgbClr val="C00000"/>
                </a:gs>
                <a:gs pos="100000">
                  <a:srgbClr val="00B050"/>
                </a:gs>
              </a:gsLst>
              <a:lin ang="0" scaled="1"/>
              <a:tileRect/>
            </a:gra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4142" name="TextBox 24">
            <a:extLst>
              <a:ext uri="{FF2B5EF4-FFF2-40B4-BE49-F238E27FC236}">
                <a16:creationId xmlns:a16="http://schemas.microsoft.com/office/drawing/2014/main" id="{D6FC20E9-8AC7-EEAA-69E4-16578A8517B0}"/>
              </a:ext>
            </a:extLst>
          </p:cNvPr>
          <p:cNvSpPr txBox="1"/>
          <p:nvPr/>
        </p:nvSpPr>
        <p:spPr>
          <a:xfrm>
            <a:off x="6970058" y="2274842"/>
            <a:ext cx="1542246" cy="205629"/>
          </a:xfrm>
          <a:prstGeom prst="rect">
            <a:avLst/>
          </a:prstGeom>
          <a:noFill/>
        </p:spPr>
        <p:txBody>
          <a:bodyPr wrap="square" lIns="0" tIns="0" rIns="0" bIns="36000" rtlCol="0" anchor="b">
            <a:spAutoFit/>
          </a:bodyPr>
          <a:lstStyle/>
          <a:p>
            <a:pPr marL="0" marR="0" lvl="0" indent="0" defTabSz="914400" rtl="0" eaLnBrk="1" fontAlgn="auto" latinLnBrk="0" hangingPunct="1">
              <a:lnSpc>
                <a:spcPct val="100000"/>
              </a:lnSpc>
              <a:spcBef>
                <a:spcPts val="600"/>
              </a:spcBef>
              <a:spcAft>
                <a:spcPts val="0"/>
              </a:spcAft>
              <a:buClrTx/>
              <a:buSzTx/>
              <a:buFontTx/>
              <a:buNone/>
              <a:tabLst/>
              <a:defRPr/>
            </a:pPr>
            <a:r>
              <a:rPr lang="en-US" sz="1050" dirty="0">
                <a:latin typeface="Verdana"/>
                <a:ea typeface="Verdana" panose="020B0604030504040204" pitchFamily="34" charset="0"/>
                <a:cs typeface="Verdana" panose="020B0604030504040204" pitchFamily="34" charset="0"/>
                <a:sym typeface="Verdana" panose="020B0604030504040204" pitchFamily="34" charset="0"/>
              </a:rPr>
              <a:t>EU election</a:t>
            </a:r>
            <a:endParaRPr kumimoji="0" lang="en-US" sz="105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43" name="TextBox 24">
            <a:extLst>
              <a:ext uri="{FF2B5EF4-FFF2-40B4-BE49-F238E27FC236}">
                <a16:creationId xmlns:a16="http://schemas.microsoft.com/office/drawing/2014/main" id="{3EDC38BF-0936-D02D-4078-AEA38AFB1FD9}"/>
              </a:ext>
            </a:extLst>
          </p:cNvPr>
          <p:cNvSpPr txBox="1"/>
          <p:nvPr/>
        </p:nvSpPr>
        <p:spPr>
          <a:xfrm>
            <a:off x="6970058" y="2553447"/>
            <a:ext cx="1542246" cy="205629"/>
          </a:xfrm>
          <a:prstGeom prst="rect">
            <a:avLst/>
          </a:prstGeom>
          <a:noFill/>
        </p:spPr>
        <p:txBody>
          <a:bodyPr wrap="square" lIns="0" tIns="0" rIns="0" bIns="36000" rtlCol="0" anchor="b">
            <a:spAutoFit/>
          </a:bodyPr>
          <a:lstStyle/>
          <a:p>
            <a:pPr marL="0" marR="0" lvl="0" indent="0" defTabSz="914400" rtl="0" eaLnBrk="1" fontAlgn="auto" latinLnBrk="0" hangingPunct="1">
              <a:lnSpc>
                <a:spcPct val="100000"/>
              </a:lnSpc>
              <a:spcBef>
                <a:spcPts val="600"/>
              </a:spcBef>
              <a:spcAft>
                <a:spcPts val="0"/>
              </a:spcAft>
              <a:buClrTx/>
              <a:buSzTx/>
              <a:buFontTx/>
              <a:buNone/>
              <a:tabLst/>
              <a:defRPr/>
            </a:pPr>
            <a:r>
              <a:rPr lang="en-US" sz="1050" dirty="0">
                <a:latin typeface="Verdana"/>
                <a:ea typeface="Verdana" panose="020B0604030504040204" pitchFamily="34" charset="0"/>
                <a:cs typeface="Verdana" panose="020B0604030504040204" pitchFamily="34" charset="0"/>
                <a:sym typeface="Verdana" panose="020B0604030504040204" pitchFamily="34" charset="0"/>
              </a:rPr>
              <a:t>US election</a:t>
            </a:r>
            <a:endParaRPr kumimoji="0" lang="en-US" sz="105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44" name="TextBox 24">
            <a:extLst>
              <a:ext uri="{FF2B5EF4-FFF2-40B4-BE49-F238E27FC236}">
                <a16:creationId xmlns:a16="http://schemas.microsoft.com/office/drawing/2014/main" id="{0116C426-CE9E-3335-9B52-6D511E2E1EB8}"/>
              </a:ext>
            </a:extLst>
          </p:cNvPr>
          <p:cNvSpPr txBox="1"/>
          <p:nvPr/>
        </p:nvSpPr>
        <p:spPr>
          <a:xfrm>
            <a:off x="6970058" y="2981602"/>
            <a:ext cx="1542246" cy="161583"/>
          </a:xfrm>
          <a:prstGeom prst="rect">
            <a:avLst/>
          </a:prstGeom>
          <a:noFill/>
        </p:spPr>
        <p:txBody>
          <a:bodyPr wrap="square" lIns="0" tIns="0" rIns="0" bIns="0" rtlCol="0" anchor="t">
            <a:spAutoFit/>
          </a:bodyPr>
          <a:lstStyle/>
          <a:p>
            <a:pPr marL="0" marR="0" lvl="0" indent="0" defTabSz="914400" rtl="0" eaLnBrk="1" fontAlgn="auto" latinLnBrk="0" hangingPunct="1">
              <a:lnSpc>
                <a:spcPct val="100000"/>
              </a:lnSpc>
              <a:spcBef>
                <a:spcPts val="600"/>
              </a:spcBef>
              <a:spcAft>
                <a:spcPts val="0"/>
              </a:spcAft>
              <a:buClrTx/>
              <a:buSzTx/>
              <a:buFontTx/>
              <a:buNone/>
              <a:tabLst/>
              <a:defRPr/>
            </a:pPr>
            <a:r>
              <a:rPr lang="en-US" sz="1050" dirty="0">
                <a:latin typeface="Verdana"/>
                <a:ea typeface="Verdana" panose="020B0604030504040204" pitchFamily="34" charset="0"/>
                <a:cs typeface="Verdana" panose="020B0604030504040204" pitchFamily="34" charset="0"/>
                <a:sym typeface="Verdana" panose="020B0604030504040204" pitchFamily="34" charset="0"/>
              </a:rPr>
              <a:t>Austerity</a:t>
            </a:r>
            <a:endParaRPr kumimoji="0" lang="en-US" sz="105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45" name="TextBox 24">
            <a:extLst>
              <a:ext uri="{FF2B5EF4-FFF2-40B4-BE49-F238E27FC236}">
                <a16:creationId xmlns:a16="http://schemas.microsoft.com/office/drawing/2014/main" id="{C0939771-ABD2-A429-3EE9-A79790C7F8AD}"/>
              </a:ext>
            </a:extLst>
          </p:cNvPr>
          <p:cNvSpPr txBox="1"/>
          <p:nvPr/>
        </p:nvSpPr>
        <p:spPr>
          <a:xfrm>
            <a:off x="6970058" y="3629770"/>
            <a:ext cx="1898965" cy="205629"/>
          </a:xfrm>
          <a:prstGeom prst="rect">
            <a:avLst/>
          </a:prstGeom>
          <a:noFill/>
        </p:spPr>
        <p:txBody>
          <a:bodyPr wrap="square" lIns="0" tIns="0" rIns="0" bIns="36000" rtlCol="0" anchor="b">
            <a:spAutoFit/>
          </a:bodyPr>
          <a:lstStyle/>
          <a:p>
            <a:pPr marL="0" marR="0" lvl="0" indent="0" defTabSz="914400" rtl="0" eaLnBrk="1" fontAlgn="auto" latinLnBrk="0" hangingPunct="1">
              <a:lnSpc>
                <a:spcPct val="100000"/>
              </a:lnSpc>
              <a:spcBef>
                <a:spcPts val="600"/>
              </a:spcBef>
              <a:spcAft>
                <a:spcPts val="0"/>
              </a:spcAft>
              <a:buClrTx/>
              <a:buSzTx/>
              <a:buFontTx/>
              <a:buNone/>
              <a:tabLst/>
              <a:defRPr/>
            </a:pPr>
            <a:r>
              <a:rPr lang="en-US" sz="1050" dirty="0">
                <a:latin typeface="Verdana"/>
                <a:ea typeface="Verdana" panose="020B0604030504040204" pitchFamily="34" charset="0"/>
                <a:cs typeface="Verdana" panose="020B0604030504040204" pitchFamily="34" charset="0"/>
                <a:sym typeface="Verdana" panose="020B0604030504040204" pitchFamily="34" charset="0"/>
              </a:rPr>
              <a:t>Health interest</a:t>
            </a:r>
            <a:endParaRPr kumimoji="0" lang="en-US" sz="105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46" name="TextBox 24">
            <a:extLst>
              <a:ext uri="{FF2B5EF4-FFF2-40B4-BE49-F238E27FC236}">
                <a16:creationId xmlns:a16="http://schemas.microsoft.com/office/drawing/2014/main" id="{709FF553-109D-5D80-0D6A-EEF8FA1A4C7D}"/>
              </a:ext>
            </a:extLst>
          </p:cNvPr>
          <p:cNvSpPr txBox="1"/>
          <p:nvPr/>
        </p:nvSpPr>
        <p:spPr>
          <a:xfrm>
            <a:off x="6970058" y="3898853"/>
            <a:ext cx="2246829" cy="205629"/>
          </a:xfrm>
          <a:prstGeom prst="rect">
            <a:avLst/>
          </a:prstGeom>
          <a:noFill/>
        </p:spPr>
        <p:txBody>
          <a:bodyPr wrap="square" lIns="0" tIns="0" rIns="0" bIns="36000" rtlCol="0" anchor="b">
            <a:spAutoFit/>
          </a:bodyPr>
          <a:lstStyle/>
          <a:p>
            <a:pPr marL="0" marR="0" lvl="0" indent="0" defTabSz="914400" rtl="0" eaLnBrk="1" fontAlgn="auto" latinLnBrk="0" hangingPunct="1">
              <a:lnSpc>
                <a:spcPct val="100000"/>
              </a:lnSpc>
              <a:spcBef>
                <a:spcPts val="600"/>
              </a:spcBef>
              <a:spcAft>
                <a:spcPts val="0"/>
              </a:spcAft>
              <a:buClrTx/>
              <a:buSzTx/>
              <a:buFontTx/>
              <a:buNone/>
              <a:tabLst/>
              <a:defRPr/>
            </a:pPr>
            <a:r>
              <a:rPr lang="en-US" sz="1050" dirty="0">
                <a:latin typeface="Verdana"/>
                <a:ea typeface="Verdana" panose="020B0604030504040204" pitchFamily="34" charset="0"/>
                <a:cs typeface="Verdana" panose="020B0604030504040204" pitchFamily="34" charset="0"/>
                <a:sym typeface="Verdana" panose="020B0604030504040204" pitchFamily="34" charset="0"/>
              </a:rPr>
              <a:t>Celebrity interest</a:t>
            </a:r>
            <a:endParaRPr kumimoji="0" lang="en-US" sz="105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47" name="TextBox 24">
            <a:extLst>
              <a:ext uri="{FF2B5EF4-FFF2-40B4-BE49-F238E27FC236}">
                <a16:creationId xmlns:a16="http://schemas.microsoft.com/office/drawing/2014/main" id="{37255D31-202F-433A-3D81-CEFDAA117BF0}"/>
              </a:ext>
            </a:extLst>
          </p:cNvPr>
          <p:cNvSpPr txBox="1"/>
          <p:nvPr/>
        </p:nvSpPr>
        <p:spPr>
          <a:xfrm>
            <a:off x="6970058" y="4586241"/>
            <a:ext cx="3790188" cy="205629"/>
          </a:xfrm>
          <a:prstGeom prst="rect">
            <a:avLst/>
          </a:prstGeom>
          <a:noFill/>
        </p:spPr>
        <p:txBody>
          <a:bodyPr wrap="square" lIns="0" tIns="0" rIns="0" bIns="36000" rtlCol="0" anchor="b">
            <a:spAutoFit/>
          </a:bodyPr>
          <a:lstStyle/>
          <a:p>
            <a:pPr marL="0" marR="0" lvl="0" indent="0" defTabSz="914400" rtl="0" eaLnBrk="1" fontAlgn="auto" latinLnBrk="0" hangingPunct="1">
              <a:lnSpc>
                <a:spcPct val="100000"/>
              </a:lnSpc>
              <a:spcBef>
                <a:spcPts val="600"/>
              </a:spcBef>
              <a:spcAft>
                <a:spcPts val="0"/>
              </a:spcAft>
              <a:buClrTx/>
              <a:buSzTx/>
              <a:buFontTx/>
              <a:buNone/>
              <a:tabLst/>
              <a:defRPr/>
            </a:pPr>
            <a:r>
              <a:rPr lang="en-US" sz="1050" dirty="0">
                <a:latin typeface="Verdana"/>
                <a:ea typeface="Verdana" panose="020B0604030504040204" pitchFamily="34" charset="0"/>
                <a:cs typeface="Verdana" panose="020B0604030504040204" pitchFamily="34" charset="0"/>
                <a:sym typeface="Verdana" panose="020B0604030504040204" pitchFamily="34" charset="0"/>
              </a:rPr>
              <a:t>New high-bandwidth services</a:t>
            </a:r>
            <a:endParaRPr kumimoji="0" lang="en-US" sz="105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48" name="TextBox 24">
            <a:extLst>
              <a:ext uri="{FF2B5EF4-FFF2-40B4-BE49-F238E27FC236}">
                <a16:creationId xmlns:a16="http://schemas.microsoft.com/office/drawing/2014/main" id="{5D2C5DF2-3AEE-E3C5-8FB2-F34826B045AD}"/>
              </a:ext>
            </a:extLst>
          </p:cNvPr>
          <p:cNvSpPr txBox="1"/>
          <p:nvPr/>
        </p:nvSpPr>
        <p:spPr>
          <a:xfrm>
            <a:off x="6970058" y="5294267"/>
            <a:ext cx="2246829" cy="205629"/>
          </a:xfrm>
          <a:prstGeom prst="rect">
            <a:avLst/>
          </a:prstGeom>
          <a:noFill/>
        </p:spPr>
        <p:txBody>
          <a:bodyPr wrap="square" lIns="0" tIns="0" rIns="0" bIns="36000" rtlCol="0" anchor="b">
            <a:spAutoFit/>
          </a:bodyPr>
          <a:lstStyle/>
          <a:p>
            <a:pPr marL="0" marR="0" lvl="0" indent="0" defTabSz="914400" rtl="0" eaLnBrk="1" fontAlgn="auto" latinLnBrk="0" hangingPunct="1">
              <a:lnSpc>
                <a:spcPct val="100000"/>
              </a:lnSpc>
              <a:spcBef>
                <a:spcPts val="600"/>
              </a:spcBef>
              <a:spcAft>
                <a:spcPts val="0"/>
              </a:spcAft>
              <a:buClrTx/>
              <a:buSzTx/>
              <a:buFontTx/>
              <a:buNone/>
              <a:tabLst/>
              <a:defRPr/>
            </a:pPr>
            <a:r>
              <a:rPr lang="en-US" sz="1050" dirty="0">
                <a:latin typeface="Verdana"/>
                <a:ea typeface="Verdana" panose="020B0604030504040204" pitchFamily="34" charset="0"/>
                <a:cs typeface="Verdana" panose="020B0604030504040204" pitchFamily="34" charset="0"/>
                <a:sym typeface="Verdana" panose="020B0604030504040204" pitchFamily="34" charset="0"/>
              </a:rPr>
              <a:t>Litigation risk</a:t>
            </a:r>
            <a:endParaRPr kumimoji="0" lang="en-US" sz="105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49" name="TextBox 24">
            <a:extLst>
              <a:ext uri="{FF2B5EF4-FFF2-40B4-BE49-F238E27FC236}">
                <a16:creationId xmlns:a16="http://schemas.microsoft.com/office/drawing/2014/main" id="{36B9574E-1A78-B340-44CD-688F3B40D670}"/>
              </a:ext>
            </a:extLst>
          </p:cNvPr>
          <p:cNvSpPr txBox="1"/>
          <p:nvPr/>
        </p:nvSpPr>
        <p:spPr>
          <a:xfrm>
            <a:off x="6970058" y="5926489"/>
            <a:ext cx="2901081" cy="205629"/>
          </a:xfrm>
          <a:prstGeom prst="rect">
            <a:avLst/>
          </a:prstGeom>
          <a:noFill/>
        </p:spPr>
        <p:txBody>
          <a:bodyPr wrap="square" lIns="0" tIns="0" rIns="0" bIns="36000" rtlCol="0" anchor="b">
            <a:spAutoFit/>
          </a:bodyPr>
          <a:lstStyle/>
          <a:p>
            <a:pPr marL="0" marR="0" lvl="0" indent="0" defTabSz="914400" rtl="0" eaLnBrk="1" fontAlgn="auto" latinLnBrk="0" hangingPunct="1">
              <a:lnSpc>
                <a:spcPct val="100000"/>
              </a:lnSpc>
              <a:spcBef>
                <a:spcPts val="600"/>
              </a:spcBef>
              <a:spcAft>
                <a:spcPts val="0"/>
              </a:spcAft>
              <a:buClrTx/>
              <a:buSzTx/>
              <a:buFontTx/>
              <a:buNone/>
              <a:tabLst/>
              <a:defRPr/>
            </a:pPr>
            <a:r>
              <a:rPr lang="en-US" sz="1050" dirty="0">
                <a:latin typeface="Verdana"/>
                <a:ea typeface="Verdana" panose="020B0604030504040204" pitchFamily="34" charset="0"/>
                <a:cs typeface="Verdana" panose="020B0604030504040204" pitchFamily="34" charset="0"/>
                <a:sym typeface="Verdana" panose="020B0604030504040204" pitchFamily="34" charset="0"/>
              </a:rPr>
              <a:t>Switch to clean energy</a:t>
            </a:r>
            <a:endParaRPr kumimoji="0" lang="en-US" sz="105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50" name="TextBox 24">
            <a:extLst>
              <a:ext uri="{FF2B5EF4-FFF2-40B4-BE49-F238E27FC236}">
                <a16:creationId xmlns:a16="http://schemas.microsoft.com/office/drawing/2014/main" id="{69CBFDDB-4D5F-34D9-FCDA-F96BF6FF782E}"/>
              </a:ext>
            </a:extLst>
          </p:cNvPr>
          <p:cNvSpPr txBox="1"/>
          <p:nvPr/>
        </p:nvSpPr>
        <p:spPr>
          <a:xfrm>
            <a:off x="3000393" y="2553447"/>
            <a:ext cx="2209908" cy="205629"/>
          </a:xfrm>
          <a:prstGeom prst="rect">
            <a:avLst/>
          </a:prstGeom>
          <a:noFill/>
        </p:spPr>
        <p:txBody>
          <a:bodyPr wrap="square" lIns="0" tIns="0" rIns="0" bIns="36000" rtlCol="0" anchor="b">
            <a:sp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lang="en-US" sz="1050" dirty="0">
                <a:latin typeface="Verdana"/>
                <a:ea typeface="Verdana" panose="020B0604030504040204" pitchFamily="34" charset="0"/>
                <a:cs typeface="Verdana" panose="020B0604030504040204" pitchFamily="34" charset="0"/>
                <a:sym typeface="Verdana" panose="020B0604030504040204" pitchFamily="34" charset="0"/>
              </a:rPr>
              <a:t>Conflict</a:t>
            </a:r>
            <a:endParaRPr kumimoji="0" lang="en-US" sz="105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51" name="TextBox 24">
            <a:extLst>
              <a:ext uri="{FF2B5EF4-FFF2-40B4-BE49-F238E27FC236}">
                <a16:creationId xmlns:a16="http://schemas.microsoft.com/office/drawing/2014/main" id="{BE0886C0-E425-1E14-95B9-63A374E0640D}"/>
              </a:ext>
            </a:extLst>
          </p:cNvPr>
          <p:cNvSpPr txBox="1"/>
          <p:nvPr/>
        </p:nvSpPr>
        <p:spPr>
          <a:xfrm>
            <a:off x="3000393" y="2960639"/>
            <a:ext cx="2209908" cy="205629"/>
          </a:xfrm>
          <a:prstGeom prst="rect">
            <a:avLst/>
          </a:prstGeom>
          <a:noFill/>
        </p:spPr>
        <p:txBody>
          <a:bodyPr wrap="square" lIns="0" tIns="0" rIns="0" bIns="36000" rtlCol="0" anchor="b">
            <a:sp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lang="en-US" sz="1050" dirty="0">
                <a:latin typeface="Verdana"/>
                <a:ea typeface="Verdana" panose="020B0604030504040204" pitchFamily="34" charset="0"/>
                <a:cs typeface="Verdana" panose="020B0604030504040204" pitchFamily="34" charset="0"/>
                <a:sym typeface="Verdana" panose="020B0604030504040204" pitchFamily="34" charset="0"/>
              </a:rPr>
              <a:t>Interest rate rise</a:t>
            </a:r>
            <a:endParaRPr kumimoji="0" lang="en-US" sz="105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52" name="TextBox 24">
            <a:extLst>
              <a:ext uri="{FF2B5EF4-FFF2-40B4-BE49-F238E27FC236}">
                <a16:creationId xmlns:a16="http://schemas.microsoft.com/office/drawing/2014/main" id="{C8A142EC-9183-D7A8-A064-4682D5D88A7B}"/>
              </a:ext>
            </a:extLst>
          </p:cNvPr>
          <p:cNvSpPr txBox="1"/>
          <p:nvPr/>
        </p:nvSpPr>
        <p:spPr>
          <a:xfrm>
            <a:off x="1791834" y="3228133"/>
            <a:ext cx="3418469" cy="205629"/>
          </a:xfrm>
          <a:prstGeom prst="rect">
            <a:avLst/>
          </a:prstGeom>
          <a:noFill/>
        </p:spPr>
        <p:txBody>
          <a:bodyPr wrap="square" lIns="0" tIns="0" rIns="0" bIns="36000" rtlCol="0" anchor="b">
            <a:sp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lang="en-US" sz="1050" dirty="0">
                <a:latin typeface="Verdana"/>
                <a:ea typeface="Verdana" panose="020B0604030504040204" pitchFamily="34" charset="0"/>
                <a:cs typeface="Verdana" panose="020B0604030504040204" pitchFamily="34" charset="0"/>
                <a:sym typeface="Verdana" panose="020B0604030504040204" pitchFamily="34" charset="0"/>
              </a:rPr>
              <a:t>Expectation for free service</a:t>
            </a:r>
            <a:endParaRPr kumimoji="0" lang="en-US" sz="105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53" name="TextBox 24">
            <a:extLst>
              <a:ext uri="{FF2B5EF4-FFF2-40B4-BE49-F238E27FC236}">
                <a16:creationId xmlns:a16="http://schemas.microsoft.com/office/drawing/2014/main" id="{3B7DA20C-3B4A-B8CF-1707-0F6B67847939}"/>
              </a:ext>
            </a:extLst>
          </p:cNvPr>
          <p:cNvSpPr txBox="1"/>
          <p:nvPr/>
        </p:nvSpPr>
        <p:spPr>
          <a:xfrm>
            <a:off x="1791834" y="4586241"/>
            <a:ext cx="3418469" cy="205629"/>
          </a:xfrm>
          <a:prstGeom prst="rect">
            <a:avLst/>
          </a:prstGeom>
          <a:noFill/>
        </p:spPr>
        <p:txBody>
          <a:bodyPr wrap="square" lIns="0" tIns="0" rIns="0" bIns="36000" rtlCol="0" anchor="b">
            <a:sp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lang="en-US" sz="1050" dirty="0">
                <a:latin typeface="Verdana"/>
                <a:ea typeface="Verdana" panose="020B0604030504040204" pitchFamily="34" charset="0"/>
                <a:cs typeface="Verdana" panose="020B0604030504040204" pitchFamily="34" charset="0"/>
                <a:sym typeface="Verdana" panose="020B0604030504040204" pitchFamily="34" charset="0"/>
              </a:rPr>
              <a:t>Legacy platform expiration</a:t>
            </a:r>
            <a:endParaRPr kumimoji="0" lang="en-US" sz="105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54" name="TextBox 24">
            <a:extLst>
              <a:ext uri="{FF2B5EF4-FFF2-40B4-BE49-F238E27FC236}">
                <a16:creationId xmlns:a16="http://schemas.microsoft.com/office/drawing/2014/main" id="{70F88DA4-8EAB-B419-38DB-8A03FF3BAE38}"/>
              </a:ext>
            </a:extLst>
          </p:cNvPr>
          <p:cNvSpPr txBox="1"/>
          <p:nvPr/>
        </p:nvSpPr>
        <p:spPr>
          <a:xfrm>
            <a:off x="1791834" y="5294267"/>
            <a:ext cx="3418469" cy="205629"/>
          </a:xfrm>
          <a:prstGeom prst="rect">
            <a:avLst/>
          </a:prstGeom>
          <a:noFill/>
        </p:spPr>
        <p:txBody>
          <a:bodyPr wrap="square" lIns="0" tIns="0" rIns="0" bIns="36000" rtlCol="0" anchor="b">
            <a:sp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lang="en-US" sz="1050" dirty="0">
                <a:latin typeface="Verdana"/>
                <a:ea typeface="Verdana" panose="020B0604030504040204" pitchFamily="34" charset="0"/>
                <a:cs typeface="Verdana" panose="020B0604030504040204" pitchFamily="34" charset="0"/>
                <a:sym typeface="Verdana" panose="020B0604030504040204" pitchFamily="34" charset="0"/>
              </a:rPr>
              <a:t>New import laws</a:t>
            </a:r>
            <a:endParaRPr kumimoji="0" lang="en-US" sz="105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155" name="TextBox 24">
            <a:extLst>
              <a:ext uri="{FF2B5EF4-FFF2-40B4-BE49-F238E27FC236}">
                <a16:creationId xmlns:a16="http://schemas.microsoft.com/office/drawing/2014/main" id="{21CA7881-1B38-311E-3B35-923A377E1587}"/>
              </a:ext>
            </a:extLst>
          </p:cNvPr>
          <p:cNvSpPr txBox="1"/>
          <p:nvPr/>
        </p:nvSpPr>
        <p:spPr>
          <a:xfrm>
            <a:off x="1791834" y="5926489"/>
            <a:ext cx="3418469" cy="205629"/>
          </a:xfrm>
          <a:prstGeom prst="rect">
            <a:avLst/>
          </a:prstGeom>
          <a:noFill/>
        </p:spPr>
        <p:txBody>
          <a:bodyPr wrap="square" lIns="0" tIns="0" rIns="0" bIns="36000" rtlCol="0" anchor="b">
            <a:sp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lang="en-US" sz="1050" dirty="0">
                <a:latin typeface="Verdana"/>
                <a:ea typeface="Verdana" panose="020B0604030504040204" pitchFamily="34" charset="0"/>
                <a:cs typeface="Verdana" panose="020B0604030504040204" pitchFamily="34" charset="0"/>
                <a:sym typeface="Verdana" panose="020B0604030504040204" pitchFamily="34" charset="0"/>
              </a:rPr>
              <a:t>Recycled material in demand</a:t>
            </a:r>
            <a:endParaRPr kumimoji="0" lang="en-US" sz="105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6" name="TextBox 24">
            <a:extLst>
              <a:ext uri="{FF2B5EF4-FFF2-40B4-BE49-F238E27FC236}">
                <a16:creationId xmlns:a16="http://schemas.microsoft.com/office/drawing/2014/main" id="{882F40B9-F238-3963-83EE-5C3076D89AED}"/>
              </a:ext>
            </a:extLst>
          </p:cNvPr>
          <p:cNvSpPr txBox="1"/>
          <p:nvPr/>
        </p:nvSpPr>
        <p:spPr>
          <a:xfrm>
            <a:off x="5613394" y="1596869"/>
            <a:ext cx="977906" cy="215444"/>
          </a:xfrm>
          <a:prstGeom prst="rect">
            <a:avLst/>
          </a:prstGeom>
          <a:solidFill>
            <a:schemeClr val="bg1"/>
          </a:solidFill>
        </p:spPr>
        <p:txBody>
          <a:bodyPr wrap="square" lIns="0" tIns="0" rIns="0" bIns="0" rtlCol="0" anchor="t">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US" sz="1400" b="1" dirty="0">
                <a:solidFill>
                  <a:srgbClr val="16207B"/>
                </a:solidFill>
                <a:latin typeface="Verdana"/>
                <a:ea typeface="Verdana" panose="020B0604030504040204" pitchFamily="34" charset="0"/>
                <a:cs typeface="Verdana" panose="020B0604030504040204" pitchFamily="34" charset="0"/>
                <a:sym typeface="Verdana" panose="020B0604030504040204" pitchFamily="34" charset="0"/>
              </a:rPr>
              <a:t>Impact</a:t>
            </a:r>
            <a:endParaRPr kumimoji="0" lang="en-US" sz="14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7" name="Marcador de pie de página 16">
            <a:extLst>
              <a:ext uri="{FF2B5EF4-FFF2-40B4-BE49-F238E27FC236}">
                <a16:creationId xmlns:a16="http://schemas.microsoft.com/office/drawing/2014/main" id="{D8256F93-1D99-F49E-DD43-8AB968B2BB75}"/>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1098124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err="1">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Lafley</a:t>
            </a: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 Strategy</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387952900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3A726CEB-F6E0-4292-7531-C1698008CA7B}"/>
              </a:ext>
            </a:extLst>
          </p:cNvPr>
          <p:cNvGraphicFramePr>
            <a:graphicFrameLocks noChangeAspect="1"/>
          </p:cNvGraphicFramePr>
          <p:nvPr>
            <p:custDataLst>
              <p:tags r:id="rId1"/>
            </p:custDataLst>
            <p:extLst>
              <p:ext uri="{D42A27DB-BD31-4B8C-83A1-F6EECF244321}">
                <p14:modId xmlns:p14="http://schemas.microsoft.com/office/powerpoint/2010/main" val="30205250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6DDA8DE9-0BB9-6488-C8E6-3F7600B90E0A}"/>
              </a:ext>
            </a:extLst>
          </p:cNvPr>
          <p:cNvSpPr>
            <a:spLocks noGrp="1"/>
          </p:cNvSpPr>
          <p:nvPr>
            <p:ph type="title"/>
          </p:nvPr>
        </p:nvSpPr>
        <p:spPr/>
        <p:txBody>
          <a:bodyPr vert="horz"/>
          <a:lstStyle/>
          <a:p>
            <a:r>
              <a:rPr lang="en-US" dirty="0" err="1"/>
              <a:t>Lafley</a:t>
            </a:r>
            <a:r>
              <a:rPr lang="en-US" dirty="0"/>
              <a:t> Strategy — Overview</a:t>
            </a:r>
          </a:p>
        </p:txBody>
      </p:sp>
      <p:sp>
        <p:nvSpPr>
          <p:cNvPr id="3" name="Marcador de texto 2">
            <a:extLst>
              <a:ext uri="{FF2B5EF4-FFF2-40B4-BE49-F238E27FC236}">
                <a16:creationId xmlns:a16="http://schemas.microsoft.com/office/drawing/2014/main" id="{517D8210-7360-51A1-F0D6-7141BB28808D}"/>
              </a:ext>
            </a:extLst>
          </p:cNvPr>
          <p:cNvSpPr>
            <a:spLocks noGrp="1"/>
          </p:cNvSpPr>
          <p:nvPr>
            <p:ph type="body" sz="quarter" idx="18"/>
          </p:nvPr>
        </p:nvSpPr>
        <p:spPr/>
        <p:txBody>
          <a:bodyPr/>
          <a:lstStyle/>
          <a:p>
            <a:r>
              <a:rPr lang="en-US" dirty="0"/>
              <a:t>The </a:t>
            </a:r>
            <a:r>
              <a:rPr lang="en-US" dirty="0" err="1"/>
              <a:t>Lafley</a:t>
            </a:r>
            <a:r>
              <a:rPr lang="en-US" dirty="0"/>
              <a:t> strategy is a business framework developed by A.G. </a:t>
            </a:r>
            <a:r>
              <a:rPr lang="en-US" dirty="0" err="1"/>
              <a:t>Lafley</a:t>
            </a:r>
            <a:r>
              <a:rPr lang="en-US" dirty="0"/>
              <a:t>, the former CEO of Procter &amp; Gamble. He outlined the strategy in his 2008 book </a:t>
            </a:r>
            <a:r>
              <a:rPr lang="en-US" i="1" dirty="0"/>
              <a:t>The Game-Changer: How You Can Drive Revenue and Profit Growth with Innovation</a:t>
            </a:r>
            <a:r>
              <a:rPr lang="en-US" dirty="0"/>
              <a:t>.</a:t>
            </a:r>
          </a:p>
        </p:txBody>
      </p:sp>
      <p:sp>
        <p:nvSpPr>
          <p:cNvPr id="4" name="Marcador de texto 3">
            <a:extLst>
              <a:ext uri="{FF2B5EF4-FFF2-40B4-BE49-F238E27FC236}">
                <a16:creationId xmlns:a16="http://schemas.microsoft.com/office/drawing/2014/main" id="{CE69E16B-BE45-8635-F838-569616DF2468}"/>
              </a:ext>
            </a:extLst>
          </p:cNvPr>
          <p:cNvSpPr>
            <a:spLocks noGrp="1"/>
          </p:cNvSpPr>
          <p:nvPr>
            <p:ph type="body" sz="quarter" idx="19"/>
          </p:nvPr>
        </p:nvSpPr>
        <p:spPr/>
        <p:txBody>
          <a:bodyPr/>
          <a:lstStyle/>
          <a:p>
            <a:pPr marL="0" indent="0">
              <a:buFont typeface="Arial" panose="020B0604020202020204" pitchFamily="34" charset="0"/>
              <a:buNone/>
            </a:pPr>
            <a:r>
              <a:rPr lang="en-US" dirty="0"/>
              <a:t>The </a:t>
            </a:r>
            <a:r>
              <a:rPr lang="en-US" dirty="0" err="1"/>
              <a:t>Lafley</a:t>
            </a:r>
            <a:r>
              <a:rPr lang="en-US" dirty="0"/>
              <a:t> strategy is a strategic approach to product innovation and brand management that focuses on four key elements:</a:t>
            </a:r>
          </a:p>
          <a:p>
            <a:r>
              <a:rPr lang="en-US" b="1" dirty="0"/>
              <a:t>Consumer Understanding: </a:t>
            </a:r>
            <a:r>
              <a:rPr lang="en-US" dirty="0"/>
              <a:t>Companies must conduct extensive research to gain insights into their target audience and develop products that meet those needs.</a:t>
            </a:r>
          </a:p>
          <a:p>
            <a:r>
              <a:rPr lang="en-US" b="1" dirty="0"/>
              <a:t>Brand Building: </a:t>
            </a:r>
            <a:r>
              <a:rPr lang="en-US" dirty="0"/>
              <a:t>A strong brand identity that resonates with consumers. This involves creating a clear and consistent brand message across all marketing channels and ensuring that the brand remains relevant over time.</a:t>
            </a:r>
          </a:p>
          <a:p>
            <a:r>
              <a:rPr lang="en-US" b="1" dirty="0"/>
              <a:t>Innovation: </a:t>
            </a:r>
            <a:r>
              <a:rPr lang="en-US" dirty="0"/>
              <a:t>Develop new and unique products that meet consumer needs and stay ahead of the competition. This requires a culture of experimentation and a willingness to take risks.</a:t>
            </a:r>
          </a:p>
          <a:p>
            <a:r>
              <a:rPr lang="en-US" b="1" dirty="0"/>
              <a:t>Go-to-Market Strategy: </a:t>
            </a:r>
            <a:r>
              <a:rPr lang="en-US" dirty="0"/>
              <a:t>Effectively reach consumers and drives sales. This involves careful planning and execution of marketing and distribution channels.</a:t>
            </a:r>
          </a:p>
        </p:txBody>
      </p:sp>
      <p:sp>
        <p:nvSpPr>
          <p:cNvPr id="5" name="Marcador de texto 4">
            <a:extLst>
              <a:ext uri="{FF2B5EF4-FFF2-40B4-BE49-F238E27FC236}">
                <a16:creationId xmlns:a16="http://schemas.microsoft.com/office/drawing/2014/main" id="{A6B04077-2769-D0F5-1195-60507DFC5102}"/>
              </a:ext>
            </a:extLst>
          </p:cNvPr>
          <p:cNvSpPr>
            <a:spLocks noGrp="1"/>
          </p:cNvSpPr>
          <p:nvPr>
            <p:ph type="body" sz="quarter" idx="20"/>
          </p:nvPr>
        </p:nvSpPr>
        <p:spPr/>
        <p:txBody>
          <a:bodyPr/>
          <a:lstStyle/>
          <a:p>
            <a:r>
              <a:rPr lang="en-US" b="1" dirty="0"/>
              <a:t>New product development: </a:t>
            </a:r>
            <a:r>
              <a:rPr lang="en-US" dirty="0"/>
              <a:t>Ensure that the products meet consumer needs, have a strong brand identity, and are effectively launched in the market.</a:t>
            </a:r>
          </a:p>
          <a:p>
            <a:r>
              <a:rPr lang="en-US" b="1" dirty="0"/>
              <a:t>Brand management: </a:t>
            </a:r>
            <a:r>
              <a:rPr lang="en-US" dirty="0"/>
              <a:t>A structured approach to developing a brand identity that resonates with consumers and stays relevant over time.</a:t>
            </a:r>
          </a:p>
          <a:p>
            <a:r>
              <a:rPr lang="en-US" b="1" dirty="0"/>
              <a:t>Market expansion: </a:t>
            </a:r>
            <a:r>
              <a:rPr lang="en-US" dirty="0"/>
              <a:t>Develop a go-to-market strategy that effectively reaches the target audience and drives sales.</a:t>
            </a:r>
          </a:p>
          <a:p>
            <a:r>
              <a:rPr lang="en-US" b="1" dirty="0"/>
              <a:t>Turnaround situations: </a:t>
            </a:r>
            <a:r>
              <a:rPr lang="en-US" dirty="0"/>
              <a:t>Identify areas where innovation and brand management can drive growth and turn the company around.</a:t>
            </a:r>
          </a:p>
          <a:p>
            <a:r>
              <a:rPr lang="en-US" b="1" dirty="0"/>
              <a:t>Mergers and acquisitions: </a:t>
            </a:r>
            <a:r>
              <a:rPr lang="en-US" dirty="0"/>
              <a:t>Assess the potential of the target company's products and brand, and to develop a plan for integrating the two companies' strategies.</a:t>
            </a:r>
          </a:p>
        </p:txBody>
      </p:sp>
      <p:sp>
        <p:nvSpPr>
          <p:cNvPr id="11" name="Marcador de pie de página 10">
            <a:extLst>
              <a:ext uri="{FF2B5EF4-FFF2-40B4-BE49-F238E27FC236}">
                <a16:creationId xmlns:a16="http://schemas.microsoft.com/office/drawing/2014/main" id="{AFED7A09-E7E6-0AAF-CE6B-4D2F74119441}"/>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6816347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Objeto 28" hidden="1">
            <a:extLst>
              <a:ext uri="{FF2B5EF4-FFF2-40B4-BE49-F238E27FC236}">
                <a16:creationId xmlns:a16="http://schemas.microsoft.com/office/drawing/2014/main" id="{24DB6369-8492-E3D4-C3B4-D2E0E85F1F5F}"/>
              </a:ext>
            </a:extLst>
          </p:cNvPr>
          <p:cNvGraphicFramePr>
            <a:graphicFrameLocks noChangeAspect="1"/>
          </p:cNvGraphicFramePr>
          <p:nvPr>
            <p:custDataLst>
              <p:tags r:id="rId1"/>
            </p:custDataLst>
            <p:extLst>
              <p:ext uri="{D42A27DB-BD31-4B8C-83A1-F6EECF244321}">
                <p14:modId xmlns:p14="http://schemas.microsoft.com/office/powerpoint/2010/main" val="22161328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vert="horz"/>
          <a:lstStyle/>
          <a:p>
            <a:r>
              <a:rPr lang="en-US" dirty="0" err="1"/>
              <a:t>Lafley</a:t>
            </a:r>
            <a:r>
              <a:rPr lang="en-US" dirty="0"/>
              <a:t> Strategy — Template A</a:t>
            </a:r>
          </a:p>
        </p:txBody>
      </p:sp>
      <p:sp>
        <p:nvSpPr>
          <p:cNvPr id="2" name="TextBox 24">
            <a:extLst>
              <a:ext uri="{FF2B5EF4-FFF2-40B4-BE49-F238E27FC236}">
                <a16:creationId xmlns:a16="http://schemas.microsoft.com/office/drawing/2014/main" id="{F30D5A80-063F-0615-B862-2FC638CC0B1D}"/>
              </a:ext>
            </a:extLst>
          </p:cNvPr>
          <p:cNvSpPr txBox="1"/>
          <p:nvPr/>
        </p:nvSpPr>
        <p:spPr>
          <a:xfrm>
            <a:off x="384175" y="1520825"/>
            <a:ext cx="2221860" cy="894715"/>
          </a:xfrm>
          <a:prstGeom prst="rect">
            <a:avLst/>
          </a:prstGeom>
          <a:solidFill>
            <a:schemeClr val="tx2"/>
          </a:solidFill>
        </p:spPr>
        <p:txBody>
          <a:bodyPr wrap="square" lIns="72000" tIns="36000" rIns="36000" bIns="36000" rtlCol="0" anchor="ctr">
            <a:noAutofit/>
          </a:bodyPr>
          <a:lstStyle/>
          <a:p>
            <a:pPr marR="0" lvl="0" algn="ctr" defTabSz="914400" rtl="0" eaLnBrk="1" fontAlgn="auto" latinLnBrk="0" hangingPunct="1">
              <a:lnSpc>
                <a:spcPct val="100000"/>
              </a:lnSpc>
              <a:spcBef>
                <a:spcPts val="300"/>
              </a:spcBef>
              <a:spcAft>
                <a:spcPts val="0"/>
              </a:spcAft>
              <a:buClrTx/>
              <a:buSzTx/>
              <a:tabLst/>
              <a:defRPr/>
            </a:pPr>
            <a:r>
              <a:rPr lang="en-US" sz="1400" b="1" dirty="0">
                <a:solidFill>
                  <a:schemeClr val="bg1"/>
                </a:solidFill>
                <a:latin typeface="Verdana"/>
                <a:ea typeface="Verdana" panose="020B0604030504040204" pitchFamily="34" charset="0"/>
                <a:cs typeface="Verdana" panose="020B0604030504040204" pitchFamily="34" charset="0"/>
                <a:sym typeface="Verdana" panose="020B0604030504040204" pitchFamily="34" charset="0"/>
              </a:rPr>
              <a:t>What is our winning aspiration?</a:t>
            </a:r>
            <a:endPar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 name="TextBox 24">
            <a:extLst>
              <a:ext uri="{FF2B5EF4-FFF2-40B4-BE49-F238E27FC236}">
                <a16:creationId xmlns:a16="http://schemas.microsoft.com/office/drawing/2014/main" id="{BDBC6C86-9B8E-AAE9-822A-FEA0F45A932F}"/>
              </a:ext>
            </a:extLst>
          </p:cNvPr>
          <p:cNvSpPr txBox="1"/>
          <p:nvPr/>
        </p:nvSpPr>
        <p:spPr>
          <a:xfrm>
            <a:off x="2683828" y="2494121"/>
            <a:ext cx="2221860" cy="894715"/>
          </a:xfrm>
          <a:prstGeom prst="rect">
            <a:avLst/>
          </a:prstGeom>
          <a:solidFill>
            <a:schemeClr val="tx2"/>
          </a:solidFill>
        </p:spPr>
        <p:txBody>
          <a:bodyPr wrap="square" lIns="72000" tIns="36000" rIns="36000" bIns="36000" rtlCol="0" anchor="ctr">
            <a:noAutofit/>
          </a:bodyPr>
          <a:lstStyle/>
          <a:p>
            <a:pPr marR="0" lvl="0" algn="ctr" defTabSz="914400" rtl="0" eaLnBrk="1" fontAlgn="auto" latinLnBrk="0" hangingPunct="1">
              <a:lnSpc>
                <a:spcPct val="100000"/>
              </a:lnSpc>
              <a:spcBef>
                <a:spcPts val="300"/>
              </a:spcBef>
              <a:spcAft>
                <a:spcPts val="0"/>
              </a:spcAft>
              <a:buClrTx/>
              <a:buSzTx/>
              <a:tabLst/>
              <a:defRPr/>
            </a:pPr>
            <a:r>
              <a:rPr lang="en-US" sz="1400" b="1" dirty="0">
                <a:solidFill>
                  <a:schemeClr val="bg1"/>
                </a:solidFill>
                <a:latin typeface="Verdana"/>
                <a:ea typeface="Verdana" panose="020B0604030504040204" pitchFamily="34" charset="0"/>
                <a:cs typeface="Verdana" panose="020B0604030504040204" pitchFamily="34" charset="0"/>
                <a:sym typeface="Verdana" panose="020B0604030504040204" pitchFamily="34" charset="0"/>
              </a:rPr>
              <a:t>Where will we play?</a:t>
            </a:r>
            <a:endPar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5" name="TextBox 24">
            <a:extLst>
              <a:ext uri="{FF2B5EF4-FFF2-40B4-BE49-F238E27FC236}">
                <a16:creationId xmlns:a16="http://schemas.microsoft.com/office/drawing/2014/main" id="{818127A0-485E-F22D-DE3F-5EDF1680943E}"/>
              </a:ext>
            </a:extLst>
          </p:cNvPr>
          <p:cNvSpPr txBox="1"/>
          <p:nvPr/>
        </p:nvSpPr>
        <p:spPr>
          <a:xfrm>
            <a:off x="4983482" y="3467417"/>
            <a:ext cx="2221860" cy="894715"/>
          </a:xfrm>
          <a:prstGeom prst="rect">
            <a:avLst/>
          </a:prstGeom>
          <a:solidFill>
            <a:schemeClr val="tx2"/>
          </a:solidFill>
        </p:spPr>
        <p:txBody>
          <a:bodyPr wrap="square" lIns="72000" tIns="36000" rIns="36000" bIns="36000" rtlCol="0" anchor="ctr">
            <a:noAutofit/>
          </a:bodyPr>
          <a:lstStyle/>
          <a:p>
            <a:pPr marR="0" lvl="0" algn="ctr" defTabSz="914400" rtl="0" eaLnBrk="1" fontAlgn="auto" latinLnBrk="0" hangingPunct="1">
              <a:lnSpc>
                <a:spcPct val="100000"/>
              </a:lnSpc>
              <a:spcBef>
                <a:spcPts val="300"/>
              </a:spcBef>
              <a:spcAft>
                <a:spcPts val="0"/>
              </a:spcAft>
              <a:buClrTx/>
              <a:buSzTx/>
              <a:tabLst/>
              <a:defRPr/>
            </a:pPr>
            <a:r>
              <a:rPr lang="en-US" sz="1400" b="1" dirty="0">
                <a:solidFill>
                  <a:schemeClr val="bg1"/>
                </a:solidFill>
                <a:latin typeface="Verdana"/>
                <a:ea typeface="Verdana" panose="020B0604030504040204" pitchFamily="34" charset="0"/>
                <a:cs typeface="Verdana" panose="020B0604030504040204" pitchFamily="34" charset="0"/>
                <a:sym typeface="Verdana" panose="020B0604030504040204" pitchFamily="34" charset="0"/>
              </a:rPr>
              <a:t>How will we win?</a:t>
            </a:r>
            <a:endPar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6" name="TextBox 24">
            <a:extLst>
              <a:ext uri="{FF2B5EF4-FFF2-40B4-BE49-F238E27FC236}">
                <a16:creationId xmlns:a16="http://schemas.microsoft.com/office/drawing/2014/main" id="{0E435D40-A5D6-E02A-36BD-8E3B8B7FCBBC}"/>
              </a:ext>
            </a:extLst>
          </p:cNvPr>
          <p:cNvSpPr txBox="1"/>
          <p:nvPr/>
        </p:nvSpPr>
        <p:spPr>
          <a:xfrm>
            <a:off x="7283135" y="4440713"/>
            <a:ext cx="2221860" cy="894715"/>
          </a:xfrm>
          <a:prstGeom prst="rect">
            <a:avLst/>
          </a:prstGeom>
          <a:solidFill>
            <a:schemeClr val="tx2"/>
          </a:solidFill>
        </p:spPr>
        <p:txBody>
          <a:bodyPr wrap="square" lIns="72000" tIns="36000" rIns="36000" bIns="36000" rtlCol="0" anchor="ctr">
            <a:noAutofit/>
          </a:bodyPr>
          <a:lstStyle/>
          <a:p>
            <a:pPr marR="0" lvl="0" algn="ctr" defTabSz="914400" rtl="0" eaLnBrk="1" fontAlgn="auto" latinLnBrk="0" hangingPunct="1">
              <a:lnSpc>
                <a:spcPct val="100000"/>
              </a:lnSpc>
              <a:spcBef>
                <a:spcPts val="300"/>
              </a:spcBef>
              <a:spcAft>
                <a:spcPts val="0"/>
              </a:spcAft>
              <a:buClrTx/>
              <a:buSzTx/>
              <a:tabLst/>
              <a:defRPr/>
            </a:pPr>
            <a:r>
              <a:rPr lang="en-US" sz="1400" b="1" dirty="0">
                <a:solidFill>
                  <a:schemeClr val="bg1"/>
                </a:solidFill>
                <a:latin typeface="Verdana"/>
                <a:ea typeface="Verdana" panose="020B0604030504040204" pitchFamily="34" charset="0"/>
                <a:cs typeface="Verdana" panose="020B0604030504040204" pitchFamily="34" charset="0"/>
                <a:sym typeface="Verdana" panose="020B0604030504040204" pitchFamily="34" charset="0"/>
              </a:rPr>
              <a:t>What capabilities must be in place?</a:t>
            </a:r>
            <a:endPar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7" name="TextBox 24">
            <a:extLst>
              <a:ext uri="{FF2B5EF4-FFF2-40B4-BE49-F238E27FC236}">
                <a16:creationId xmlns:a16="http://schemas.microsoft.com/office/drawing/2014/main" id="{82593055-1F27-2E1D-EEA9-CA869F9E0626}"/>
              </a:ext>
            </a:extLst>
          </p:cNvPr>
          <p:cNvSpPr txBox="1"/>
          <p:nvPr/>
        </p:nvSpPr>
        <p:spPr>
          <a:xfrm>
            <a:off x="9582789" y="5414010"/>
            <a:ext cx="2221860" cy="894715"/>
          </a:xfrm>
          <a:prstGeom prst="rect">
            <a:avLst/>
          </a:prstGeom>
          <a:solidFill>
            <a:schemeClr val="tx2"/>
          </a:solidFill>
        </p:spPr>
        <p:txBody>
          <a:bodyPr wrap="square" lIns="72000" tIns="36000" rIns="36000" bIns="36000" rtlCol="0" anchor="ctr">
            <a:noAutofit/>
          </a:bodyPr>
          <a:lstStyle/>
          <a:p>
            <a:pPr marR="0" lvl="0" algn="ctr" defTabSz="914400" rtl="0" eaLnBrk="1" fontAlgn="auto" latinLnBrk="0" hangingPunct="1">
              <a:lnSpc>
                <a:spcPct val="100000"/>
              </a:lnSpc>
              <a:spcBef>
                <a:spcPts val="300"/>
              </a:spcBef>
              <a:spcAft>
                <a:spcPts val="0"/>
              </a:spcAft>
              <a:buClrTx/>
              <a:buSzTx/>
              <a:tabLst/>
              <a:defRPr/>
            </a:pPr>
            <a:r>
              <a:rPr lang="en-US" sz="1400" b="1" dirty="0">
                <a:solidFill>
                  <a:schemeClr val="bg1"/>
                </a:solidFill>
                <a:latin typeface="Verdana"/>
                <a:ea typeface="Verdana" panose="020B0604030504040204" pitchFamily="34" charset="0"/>
                <a:cs typeface="Verdana" panose="020B0604030504040204" pitchFamily="34" charset="0"/>
                <a:sym typeface="Verdana" panose="020B0604030504040204" pitchFamily="34" charset="0"/>
              </a:rPr>
              <a:t>What management systems are required?</a:t>
            </a:r>
            <a:endPar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8" name="TextBox 24">
            <a:extLst>
              <a:ext uri="{FF2B5EF4-FFF2-40B4-BE49-F238E27FC236}">
                <a16:creationId xmlns:a16="http://schemas.microsoft.com/office/drawing/2014/main" id="{F76C5DAA-0970-40D9-F3EA-57AEE761E8FB}"/>
              </a:ext>
            </a:extLst>
          </p:cNvPr>
          <p:cNvSpPr txBox="1"/>
          <p:nvPr/>
        </p:nvSpPr>
        <p:spPr>
          <a:xfrm>
            <a:off x="384175" y="3073047"/>
            <a:ext cx="2210276" cy="553998"/>
          </a:xfrm>
          <a:prstGeom prst="rect">
            <a:avLst/>
          </a:prstGeom>
          <a:noFill/>
        </p:spPr>
        <p:txBody>
          <a:bodyPr wrap="square" lIns="0" tIns="0" rIns="0" bIns="0" rtlCol="0" anchor="t">
            <a:spAutoFit/>
          </a:bodyPr>
          <a:lstStyle/>
          <a:p>
            <a:pPr marR="0" lvl="0" defTabSz="914400" rtl="0" eaLnBrk="1" fontAlgn="auto" latinLnBrk="0" hangingPunct="1">
              <a:lnSpc>
                <a:spcPct val="100000"/>
              </a:lnSpc>
              <a:spcAft>
                <a:spcPts val="0"/>
              </a:spcAft>
              <a:buClrTx/>
              <a:buSzTx/>
              <a:tabLst/>
              <a:defRPr/>
            </a:pPr>
            <a:r>
              <a:rPr lang="en-US" sz="1200" b="1" dirty="0">
                <a:latin typeface="Verdana"/>
                <a:ea typeface="Verdana" panose="020B0604030504040204" pitchFamily="34" charset="0"/>
                <a:cs typeface="Verdana" panose="020B0604030504040204" pitchFamily="34" charset="0"/>
                <a:sym typeface="Verdana" panose="020B0604030504040204" pitchFamily="34" charset="0"/>
              </a:rPr>
              <a:t>The purpose of the enterprise:</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Our guiding aspirations</a:t>
            </a:r>
          </a:p>
        </p:txBody>
      </p:sp>
      <p:sp>
        <p:nvSpPr>
          <p:cNvPr id="9" name="TextBox 24">
            <a:extLst>
              <a:ext uri="{FF2B5EF4-FFF2-40B4-BE49-F238E27FC236}">
                <a16:creationId xmlns:a16="http://schemas.microsoft.com/office/drawing/2014/main" id="{0E663BF9-DE2C-886C-2BB4-437E88650DA1}"/>
              </a:ext>
            </a:extLst>
          </p:cNvPr>
          <p:cNvSpPr txBox="1"/>
          <p:nvPr/>
        </p:nvSpPr>
        <p:spPr>
          <a:xfrm>
            <a:off x="4173377" y="1652111"/>
            <a:ext cx="3988122" cy="738664"/>
          </a:xfrm>
          <a:prstGeom prst="rect">
            <a:avLst/>
          </a:prstGeom>
          <a:noFill/>
        </p:spPr>
        <p:txBody>
          <a:bodyPr wrap="square" lIns="0" tIns="0" rIns="0" bIns="0" rtlCol="0" anchor="t">
            <a:spAutoFit/>
          </a:bodyPr>
          <a:lstStyle/>
          <a:p>
            <a:pPr marR="0" lvl="0" defTabSz="914400" rtl="0" eaLnBrk="1" fontAlgn="auto" latinLnBrk="0" hangingPunct="1">
              <a:lnSpc>
                <a:spcPct val="100000"/>
              </a:lnSpc>
              <a:spcAft>
                <a:spcPts val="0"/>
              </a:spcAft>
              <a:buClrTx/>
              <a:buSzTx/>
              <a:tabLst/>
              <a:defRPr/>
            </a:pPr>
            <a:r>
              <a:rPr lang="en-US" sz="1200" b="1" dirty="0">
                <a:latin typeface="Verdana"/>
                <a:ea typeface="Verdana" panose="020B0604030504040204" pitchFamily="34" charset="0"/>
                <a:cs typeface="Verdana" panose="020B0604030504040204" pitchFamily="34" charset="0"/>
                <a:sym typeface="Verdana" panose="020B0604030504040204" pitchFamily="34" charset="0"/>
              </a:rPr>
              <a:t>The right playing field:</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Where we will compete: our geographies, product categories, consumer segments, channels, </a:t>
            </a:r>
            <a:r>
              <a:rPr lang="en-US" sz="1200" dirty="0">
                <a:latin typeface="Verdana"/>
                <a:ea typeface="Verdana" panose="020B0604030504040204" pitchFamily="34" charset="0"/>
                <a:cs typeface="Verdana" panose="020B0604030504040204" pitchFamily="34" charset="0"/>
                <a:sym typeface="Verdana" panose="020B0604030504040204" pitchFamily="34" charset="0"/>
              </a:rPr>
              <a:t>vertical stages of production</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0" name="TextBox 24">
            <a:extLst>
              <a:ext uri="{FF2B5EF4-FFF2-40B4-BE49-F238E27FC236}">
                <a16:creationId xmlns:a16="http://schemas.microsoft.com/office/drawing/2014/main" id="{59FCC689-E488-B1BF-37A8-39E655D167F3}"/>
              </a:ext>
            </a:extLst>
          </p:cNvPr>
          <p:cNvSpPr txBox="1"/>
          <p:nvPr/>
        </p:nvSpPr>
        <p:spPr>
          <a:xfrm>
            <a:off x="8633081" y="3563983"/>
            <a:ext cx="2210276" cy="738664"/>
          </a:xfrm>
          <a:prstGeom prst="rect">
            <a:avLst/>
          </a:prstGeom>
          <a:noFill/>
        </p:spPr>
        <p:txBody>
          <a:bodyPr wrap="square" lIns="0" tIns="0" rIns="0" bIns="0" rtlCol="0" anchor="t">
            <a:spAutoFit/>
          </a:bodyPr>
          <a:lstStyle/>
          <a:p>
            <a:pPr marR="0" lvl="0" defTabSz="914400" rtl="0" eaLnBrk="1" fontAlgn="auto" latinLnBrk="0" hangingPunct="1">
              <a:lnSpc>
                <a:spcPct val="100000"/>
              </a:lnSpc>
              <a:spcAft>
                <a:spcPts val="0"/>
              </a:spcAft>
              <a:buClrTx/>
              <a:buSzTx/>
              <a:tabLst/>
              <a:defRPr/>
            </a:pPr>
            <a:r>
              <a:rPr lang="en-US" sz="1200" b="1" dirty="0">
                <a:latin typeface="Verdana"/>
                <a:ea typeface="Verdana" panose="020B0604030504040204" pitchFamily="34" charset="0"/>
                <a:cs typeface="Verdana" panose="020B0604030504040204" pitchFamily="34" charset="0"/>
                <a:sym typeface="Verdana" panose="020B0604030504040204" pitchFamily="34" charset="0"/>
              </a:rPr>
              <a:t>The set of capabilities required to win:</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Our reinforcing activities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Our specific configuration</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1" name="TextBox 24">
            <a:extLst>
              <a:ext uri="{FF2B5EF4-FFF2-40B4-BE49-F238E27FC236}">
                <a16:creationId xmlns:a16="http://schemas.microsoft.com/office/drawing/2014/main" id="{41050329-314D-4239-4166-434340C7F19A}"/>
              </a:ext>
            </a:extLst>
          </p:cNvPr>
          <p:cNvSpPr txBox="1"/>
          <p:nvPr/>
        </p:nvSpPr>
        <p:spPr>
          <a:xfrm>
            <a:off x="2653698" y="4018121"/>
            <a:ext cx="2210276" cy="738664"/>
          </a:xfrm>
          <a:prstGeom prst="rect">
            <a:avLst/>
          </a:prstGeom>
          <a:noFill/>
        </p:spPr>
        <p:txBody>
          <a:bodyPr wrap="square" lIns="0" tIns="0" rIns="0" bIns="0" rtlCol="0" anchor="t">
            <a:spAutoFit/>
          </a:bodyPr>
          <a:lstStyle/>
          <a:p>
            <a:pPr marR="0" lvl="0" defTabSz="914400" rtl="0" eaLnBrk="1" fontAlgn="auto" latinLnBrk="0" hangingPunct="1">
              <a:lnSpc>
                <a:spcPct val="100000"/>
              </a:lnSpc>
              <a:spcAft>
                <a:spcPts val="0"/>
              </a:spcAft>
              <a:buClrTx/>
              <a:buSzTx/>
              <a:tabLst/>
              <a:defRPr/>
            </a:pPr>
            <a:r>
              <a:rPr lang="en-US" sz="1200" b="1" dirty="0">
                <a:latin typeface="Verdana"/>
                <a:ea typeface="Verdana" panose="020B0604030504040204" pitchFamily="34" charset="0"/>
                <a:cs typeface="Verdana" panose="020B0604030504040204" pitchFamily="34" charset="0"/>
                <a:sym typeface="Verdana" panose="020B0604030504040204" pitchFamily="34" charset="0"/>
              </a:rPr>
              <a:t>The unique right to win:</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Our value proposition</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Our competitive advantage</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2" name="TextBox 24">
            <a:extLst>
              <a:ext uri="{FF2B5EF4-FFF2-40B4-BE49-F238E27FC236}">
                <a16:creationId xmlns:a16="http://schemas.microsoft.com/office/drawing/2014/main" id="{595193D2-9BA2-86CF-3D13-A215083C19FD}"/>
              </a:ext>
            </a:extLst>
          </p:cNvPr>
          <p:cNvSpPr txBox="1"/>
          <p:nvPr/>
        </p:nvSpPr>
        <p:spPr>
          <a:xfrm>
            <a:off x="5014020" y="5584368"/>
            <a:ext cx="3091771" cy="553998"/>
          </a:xfrm>
          <a:prstGeom prst="rect">
            <a:avLst/>
          </a:prstGeom>
          <a:noFill/>
        </p:spPr>
        <p:txBody>
          <a:bodyPr wrap="square" lIns="0" tIns="0" rIns="0" bIns="0" rtlCol="0" anchor="t">
            <a:spAutoFit/>
          </a:bodyPr>
          <a:lstStyle/>
          <a:p>
            <a:pPr marR="0" lvl="0" defTabSz="914400" rtl="0" eaLnBrk="1" fontAlgn="auto" latinLnBrk="0" hangingPunct="1">
              <a:lnSpc>
                <a:spcPct val="100000"/>
              </a:lnSpc>
              <a:spcAft>
                <a:spcPts val="0"/>
              </a:spcAft>
              <a:buClrTx/>
              <a:buSzTx/>
              <a:tabLst/>
              <a:defRPr/>
            </a:pPr>
            <a:r>
              <a:rPr lang="en-US" sz="1200" b="1" dirty="0">
                <a:latin typeface="Verdana"/>
                <a:ea typeface="Verdana" panose="020B0604030504040204" pitchFamily="34" charset="0"/>
                <a:cs typeface="Verdana" panose="020B0604030504040204" pitchFamily="34" charset="0"/>
                <a:sym typeface="Verdana" panose="020B0604030504040204" pitchFamily="34" charset="0"/>
              </a:rPr>
              <a:t>The support systems:</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Systems, structures and measures required to support our choices</a:t>
            </a:r>
          </a:p>
        </p:txBody>
      </p:sp>
      <p:cxnSp>
        <p:nvCxnSpPr>
          <p:cNvPr id="14" name="Conector: angular 13">
            <a:extLst>
              <a:ext uri="{FF2B5EF4-FFF2-40B4-BE49-F238E27FC236}">
                <a16:creationId xmlns:a16="http://schemas.microsoft.com/office/drawing/2014/main" id="{F32B5691-09B3-DCD0-E556-D3056FCC9053}"/>
              </a:ext>
            </a:extLst>
          </p:cNvPr>
          <p:cNvCxnSpPr>
            <a:cxnSpLocks/>
            <a:stCxn id="2" idx="3"/>
            <a:endCxn id="4" idx="0"/>
          </p:cNvCxnSpPr>
          <p:nvPr/>
        </p:nvCxnSpPr>
        <p:spPr>
          <a:xfrm>
            <a:off x="2606035" y="1968183"/>
            <a:ext cx="1188723" cy="525938"/>
          </a:xfrm>
          <a:prstGeom prst="bentConnector2">
            <a:avLst/>
          </a:prstGeom>
          <a:ln w="28575">
            <a:solidFill>
              <a:schemeClr val="tx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7" name="Conector: angular 16">
            <a:extLst>
              <a:ext uri="{FF2B5EF4-FFF2-40B4-BE49-F238E27FC236}">
                <a16:creationId xmlns:a16="http://schemas.microsoft.com/office/drawing/2014/main" id="{8EA68CA2-89B5-04BF-88E8-154E61268A5B}"/>
              </a:ext>
            </a:extLst>
          </p:cNvPr>
          <p:cNvCxnSpPr>
            <a:cxnSpLocks/>
            <a:stCxn id="4" idx="3"/>
            <a:endCxn id="5" idx="0"/>
          </p:cNvCxnSpPr>
          <p:nvPr/>
        </p:nvCxnSpPr>
        <p:spPr>
          <a:xfrm>
            <a:off x="4905688" y="2941479"/>
            <a:ext cx="1188724" cy="525938"/>
          </a:xfrm>
          <a:prstGeom prst="bentConnector2">
            <a:avLst/>
          </a:prstGeom>
          <a:ln w="28575">
            <a:solidFill>
              <a:schemeClr val="tx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0" name="Conector: angular 19">
            <a:extLst>
              <a:ext uri="{FF2B5EF4-FFF2-40B4-BE49-F238E27FC236}">
                <a16:creationId xmlns:a16="http://schemas.microsoft.com/office/drawing/2014/main" id="{2A61062D-E008-F3DB-ED43-D3C4143F5115}"/>
              </a:ext>
            </a:extLst>
          </p:cNvPr>
          <p:cNvCxnSpPr>
            <a:cxnSpLocks/>
            <a:stCxn id="5" idx="3"/>
            <a:endCxn id="6" idx="0"/>
          </p:cNvCxnSpPr>
          <p:nvPr/>
        </p:nvCxnSpPr>
        <p:spPr>
          <a:xfrm>
            <a:off x="7205342" y="3914775"/>
            <a:ext cx="1188723" cy="525938"/>
          </a:xfrm>
          <a:prstGeom prst="bentConnector2">
            <a:avLst/>
          </a:prstGeom>
          <a:ln w="28575">
            <a:solidFill>
              <a:schemeClr val="tx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4" name="Conector: angular 23">
            <a:extLst>
              <a:ext uri="{FF2B5EF4-FFF2-40B4-BE49-F238E27FC236}">
                <a16:creationId xmlns:a16="http://schemas.microsoft.com/office/drawing/2014/main" id="{05E08E3A-DE86-3ED7-47FD-0095B355F457}"/>
              </a:ext>
            </a:extLst>
          </p:cNvPr>
          <p:cNvCxnSpPr>
            <a:cxnSpLocks/>
            <a:stCxn id="6" idx="3"/>
            <a:endCxn id="7" idx="0"/>
          </p:cNvCxnSpPr>
          <p:nvPr/>
        </p:nvCxnSpPr>
        <p:spPr>
          <a:xfrm>
            <a:off x="9504995" y="4888071"/>
            <a:ext cx="1188724" cy="525939"/>
          </a:xfrm>
          <a:prstGeom prst="bentConnector2">
            <a:avLst/>
          </a:prstGeom>
          <a:ln w="28575">
            <a:solidFill>
              <a:schemeClr val="tx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7176" name="Conector: angular 7175">
            <a:extLst>
              <a:ext uri="{FF2B5EF4-FFF2-40B4-BE49-F238E27FC236}">
                <a16:creationId xmlns:a16="http://schemas.microsoft.com/office/drawing/2014/main" id="{84866620-AEF7-EF2C-742A-B127A31DF272}"/>
              </a:ext>
            </a:extLst>
          </p:cNvPr>
          <p:cNvCxnSpPr>
            <a:cxnSpLocks/>
            <a:stCxn id="4" idx="1"/>
            <a:endCxn id="2" idx="2"/>
          </p:cNvCxnSpPr>
          <p:nvPr/>
        </p:nvCxnSpPr>
        <p:spPr>
          <a:xfrm rot="10800000">
            <a:off x="1495106" y="2415541"/>
            <a:ext cx="1188723" cy="525939"/>
          </a:xfrm>
          <a:prstGeom prst="bentConnector2">
            <a:avLst/>
          </a:prstGeom>
          <a:ln w="28575">
            <a:solidFill>
              <a:schemeClr val="bg1">
                <a:lumMod val="75000"/>
              </a:schemeClr>
            </a:solidFill>
            <a:prstDash val="sysDash"/>
            <a:tailEnd type="arrow" w="med" len="sm"/>
          </a:ln>
        </p:spPr>
        <p:style>
          <a:lnRef idx="1">
            <a:schemeClr val="accent1"/>
          </a:lnRef>
          <a:fillRef idx="0">
            <a:schemeClr val="accent1"/>
          </a:fillRef>
          <a:effectRef idx="0">
            <a:schemeClr val="accent1"/>
          </a:effectRef>
          <a:fontRef idx="minor">
            <a:schemeClr val="tx1"/>
          </a:fontRef>
        </p:style>
      </p:cxnSp>
      <p:cxnSp>
        <p:nvCxnSpPr>
          <p:cNvPr id="7180" name="Conector: angular 7179">
            <a:extLst>
              <a:ext uri="{FF2B5EF4-FFF2-40B4-BE49-F238E27FC236}">
                <a16:creationId xmlns:a16="http://schemas.microsoft.com/office/drawing/2014/main" id="{202A3BEA-F041-33AC-5B4B-1813DB8BE3EC}"/>
              </a:ext>
            </a:extLst>
          </p:cNvPr>
          <p:cNvCxnSpPr>
            <a:cxnSpLocks/>
            <a:stCxn id="7" idx="1"/>
            <a:endCxn id="6" idx="2"/>
          </p:cNvCxnSpPr>
          <p:nvPr/>
        </p:nvCxnSpPr>
        <p:spPr>
          <a:xfrm rot="10800000">
            <a:off x="8394065" y="5335428"/>
            <a:ext cx="1188724" cy="525940"/>
          </a:xfrm>
          <a:prstGeom prst="bentConnector2">
            <a:avLst/>
          </a:prstGeom>
          <a:ln w="28575">
            <a:solidFill>
              <a:schemeClr val="bg1">
                <a:lumMod val="75000"/>
              </a:schemeClr>
            </a:solidFill>
            <a:prstDash val="sysDash"/>
            <a:tailEnd type="arrow" w="med" len="sm"/>
          </a:ln>
        </p:spPr>
        <p:style>
          <a:lnRef idx="1">
            <a:schemeClr val="accent1"/>
          </a:lnRef>
          <a:fillRef idx="0">
            <a:schemeClr val="accent1"/>
          </a:fillRef>
          <a:effectRef idx="0">
            <a:schemeClr val="accent1"/>
          </a:effectRef>
          <a:fontRef idx="minor">
            <a:schemeClr val="tx1"/>
          </a:fontRef>
        </p:style>
      </p:cxnSp>
      <p:cxnSp>
        <p:nvCxnSpPr>
          <p:cNvPr id="7183" name="Conector: angular 7182">
            <a:extLst>
              <a:ext uri="{FF2B5EF4-FFF2-40B4-BE49-F238E27FC236}">
                <a16:creationId xmlns:a16="http://schemas.microsoft.com/office/drawing/2014/main" id="{BCF94D9D-97F9-AA73-D756-03B9EB19E6BB}"/>
              </a:ext>
            </a:extLst>
          </p:cNvPr>
          <p:cNvCxnSpPr>
            <a:cxnSpLocks/>
            <a:stCxn id="6" idx="1"/>
            <a:endCxn id="5" idx="2"/>
          </p:cNvCxnSpPr>
          <p:nvPr/>
        </p:nvCxnSpPr>
        <p:spPr>
          <a:xfrm rot="10800000">
            <a:off x="6094413" y="4362133"/>
            <a:ext cx="1188723" cy="525939"/>
          </a:xfrm>
          <a:prstGeom prst="bentConnector2">
            <a:avLst/>
          </a:prstGeom>
          <a:ln w="28575">
            <a:solidFill>
              <a:schemeClr val="bg1">
                <a:lumMod val="75000"/>
              </a:schemeClr>
            </a:solidFill>
            <a:prstDash val="sysDash"/>
            <a:tailEnd type="arrow" w="med" len="sm"/>
          </a:ln>
        </p:spPr>
        <p:style>
          <a:lnRef idx="1">
            <a:schemeClr val="accent1"/>
          </a:lnRef>
          <a:fillRef idx="0">
            <a:schemeClr val="accent1"/>
          </a:fillRef>
          <a:effectRef idx="0">
            <a:schemeClr val="accent1"/>
          </a:effectRef>
          <a:fontRef idx="minor">
            <a:schemeClr val="tx1"/>
          </a:fontRef>
        </p:style>
      </p:cxnSp>
      <p:cxnSp>
        <p:nvCxnSpPr>
          <p:cNvPr id="7186" name="Conector: angular 7185">
            <a:extLst>
              <a:ext uri="{FF2B5EF4-FFF2-40B4-BE49-F238E27FC236}">
                <a16:creationId xmlns:a16="http://schemas.microsoft.com/office/drawing/2014/main" id="{A1A04A75-EFDB-5F34-31E4-D9D545619635}"/>
              </a:ext>
            </a:extLst>
          </p:cNvPr>
          <p:cNvCxnSpPr>
            <a:cxnSpLocks/>
            <a:stCxn id="5" idx="1"/>
            <a:endCxn id="4" idx="2"/>
          </p:cNvCxnSpPr>
          <p:nvPr/>
        </p:nvCxnSpPr>
        <p:spPr>
          <a:xfrm rot="10800000">
            <a:off x="3794758" y="3388837"/>
            <a:ext cx="1188724" cy="525939"/>
          </a:xfrm>
          <a:prstGeom prst="bentConnector2">
            <a:avLst/>
          </a:prstGeom>
          <a:ln w="28575">
            <a:solidFill>
              <a:schemeClr val="bg1">
                <a:lumMod val="75000"/>
              </a:schemeClr>
            </a:solidFill>
            <a:prstDash val="sysDash"/>
            <a:tailEnd type="arrow" w="med" len="sm"/>
          </a:ln>
        </p:spPr>
        <p:style>
          <a:lnRef idx="1">
            <a:schemeClr val="accent1"/>
          </a:lnRef>
          <a:fillRef idx="0">
            <a:schemeClr val="accent1"/>
          </a:fillRef>
          <a:effectRef idx="0">
            <a:schemeClr val="accent1"/>
          </a:effectRef>
          <a:fontRef idx="minor">
            <a:schemeClr val="tx1"/>
          </a:fontRef>
        </p:style>
      </p:cxnSp>
      <p:sp>
        <p:nvSpPr>
          <p:cNvPr id="13" name="Marcador de pie de página 12">
            <a:extLst>
              <a:ext uri="{FF2B5EF4-FFF2-40B4-BE49-F238E27FC236}">
                <a16:creationId xmlns:a16="http://schemas.microsoft.com/office/drawing/2014/main" id="{13378ABB-B539-47C6-BA84-28250B569AB2}"/>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855194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Objeto 28" hidden="1">
            <a:extLst>
              <a:ext uri="{FF2B5EF4-FFF2-40B4-BE49-F238E27FC236}">
                <a16:creationId xmlns:a16="http://schemas.microsoft.com/office/drawing/2014/main" id="{24DB6369-8492-E3D4-C3B4-D2E0E85F1F5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29" name="Objeto 28" hidden="1">
                        <a:extLst>
                          <a:ext uri="{FF2B5EF4-FFF2-40B4-BE49-F238E27FC236}">
                            <a16:creationId xmlns:a16="http://schemas.microsoft.com/office/drawing/2014/main" id="{24DB6369-8492-E3D4-C3B4-D2E0E85F1F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vert="horz"/>
          <a:lstStyle/>
          <a:p>
            <a:r>
              <a:rPr lang="en-US" dirty="0" err="1"/>
              <a:t>Lafley</a:t>
            </a:r>
            <a:r>
              <a:rPr lang="en-US" dirty="0"/>
              <a:t> Strategy — Template B</a:t>
            </a:r>
          </a:p>
        </p:txBody>
      </p:sp>
      <p:sp>
        <p:nvSpPr>
          <p:cNvPr id="2" name="TextBox 24">
            <a:extLst>
              <a:ext uri="{FF2B5EF4-FFF2-40B4-BE49-F238E27FC236}">
                <a16:creationId xmlns:a16="http://schemas.microsoft.com/office/drawing/2014/main" id="{F30D5A80-063F-0615-B862-2FC638CC0B1D}"/>
              </a:ext>
            </a:extLst>
          </p:cNvPr>
          <p:cNvSpPr txBox="1"/>
          <p:nvPr/>
        </p:nvSpPr>
        <p:spPr>
          <a:xfrm>
            <a:off x="384175" y="1520825"/>
            <a:ext cx="2221860" cy="894715"/>
          </a:xfrm>
          <a:prstGeom prst="rect">
            <a:avLst/>
          </a:prstGeom>
          <a:solidFill>
            <a:schemeClr val="tx2"/>
          </a:solidFill>
        </p:spPr>
        <p:txBody>
          <a:bodyPr wrap="square" lIns="72000" tIns="36000" rIns="36000" bIns="36000" rtlCol="0" anchor="ctr">
            <a:noAutofit/>
          </a:bodyPr>
          <a:lstStyle/>
          <a:p>
            <a:pPr marR="0" lvl="0" algn="ctr" defTabSz="914400" rtl="0" eaLnBrk="1" fontAlgn="auto" latinLnBrk="0" hangingPunct="1">
              <a:lnSpc>
                <a:spcPct val="100000"/>
              </a:lnSpc>
              <a:spcBef>
                <a:spcPts val="300"/>
              </a:spcBef>
              <a:spcAft>
                <a:spcPts val="0"/>
              </a:spcAft>
              <a:buClrTx/>
              <a:buSzTx/>
              <a:tabLst/>
              <a:defRPr/>
            </a:pPr>
            <a:r>
              <a:rPr lang="en-US" sz="1400" b="1" dirty="0">
                <a:solidFill>
                  <a:schemeClr val="bg1"/>
                </a:solidFill>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4" name="TextBox 24">
            <a:extLst>
              <a:ext uri="{FF2B5EF4-FFF2-40B4-BE49-F238E27FC236}">
                <a16:creationId xmlns:a16="http://schemas.microsoft.com/office/drawing/2014/main" id="{BDBC6C86-9B8E-AAE9-822A-FEA0F45A932F}"/>
              </a:ext>
            </a:extLst>
          </p:cNvPr>
          <p:cNvSpPr txBox="1"/>
          <p:nvPr/>
        </p:nvSpPr>
        <p:spPr>
          <a:xfrm>
            <a:off x="2683828" y="2494121"/>
            <a:ext cx="2221860" cy="894715"/>
          </a:xfrm>
          <a:prstGeom prst="rect">
            <a:avLst/>
          </a:prstGeom>
          <a:solidFill>
            <a:schemeClr val="tx2"/>
          </a:solidFill>
        </p:spPr>
        <p:txBody>
          <a:bodyPr wrap="square" lIns="72000" tIns="36000" rIns="36000" bIns="36000" rtlCol="0" anchor="ctr">
            <a:noAutofit/>
          </a:bodyPr>
          <a:lstStyle/>
          <a:p>
            <a:pPr marR="0" lvl="0" algn="ctr" defTabSz="914400" rtl="0" eaLnBrk="1" fontAlgn="auto" latinLnBrk="0" hangingPunct="1">
              <a:lnSpc>
                <a:spcPct val="100000"/>
              </a:lnSpc>
              <a:spcBef>
                <a:spcPts val="300"/>
              </a:spcBef>
              <a:spcAft>
                <a:spcPts val="0"/>
              </a:spcAft>
              <a:buClrTx/>
              <a:buSzTx/>
              <a:tabLst/>
              <a:defRPr/>
            </a:pPr>
            <a:r>
              <a:rPr lang="en-US" sz="1400" b="1" dirty="0">
                <a:solidFill>
                  <a:schemeClr val="bg1"/>
                </a:solidFill>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5" name="TextBox 24">
            <a:extLst>
              <a:ext uri="{FF2B5EF4-FFF2-40B4-BE49-F238E27FC236}">
                <a16:creationId xmlns:a16="http://schemas.microsoft.com/office/drawing/2014/main" id="{818127A0-485E-F22D-DE3F-5EDF1680943E}"/>
              </a:ext>
            </a:extLst>
          </p:cNvPr>
          <p:cNvSpPr txBox="1"/>
          <p:nvPr/>
        </p:nvSpPr>
        <p:spPr>
          <a:xfrm>
            <a:off x="4983482" y="3467417"/>
            <a:ext cx="2221860" cy="894715"/>
          </a:xfrm>
          <a:prstGeom prst="rect">
            <a:avLst/>
          </a:prstGeom>
          <a:solidFill>
            <a:schemeClr val="tx2"/>
          </a:solidFill>
        </p:spPr>
        <p:txBody>
          <a:bodyPr wrap="square" lIns="72000" tIns="36000" rIns="36000" bIns="36000" rtlCol="0" anchor="ctr">
            <a:noAutofit/>
          </a:bodyPr>
          <a:lstStyle/>
          <a:p>
            <a:pPr marR="0" lvl="0" algn="ctr" defTabSz="914400" rtl="0" eaLnBrk="1" fontAlgn="auto" latinLnBrk="0" hangingPunct="1">
              <a:lnSpc>
                <a:spcPct val="100000"/>
              </a:lnSpc>
              <a:spcBef>
                <a:spcPts val="300"/>
              </a:spcBef>
              <a:spcAft>
                <a:spcPts val="0"/>
              </a:spcAft>
              <a:buClrTx/>
              <a:buSzTx/>
              <a:tabLst/>
              <a:defRPr/>
            </a:pPr>
            <a:r>
              <a:rPr lang="en-US" sz="1400" b="1" dirty="0">
                <a:solidFill>
                  <a:schemeClr val="bg1"/>
                </a:solidFill>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6" name="TextBox 24">
            <a:extLst>
              <a:ext uri="{FF2B5EF4-FFF2-40B4-BE49-F238E27FC236}">
                <a16:creationId xmlns:a16="http://schemas.microsoft.com/office/drawing/2014/main" id="{0E435D40-A5D6-E02A-36BD-8E3B8B7FCBBC}"/>
              </a:ext>
            </a:extLst>
          </p:cNvPr>
          <p:cNvSpPr txBox="1"/>
          <p:nvPr/>
        </p:nvSpPr>
        <p:spPr>
          <a:xfrm>
            <a:off x="7283135" y="4440713"/>
            <a:ext cx="2221860" cy="894715"/>
          </a:xfrm>
          <a:prstGeom prst="rect">
            <a:avLst/>
          </a:prstGeom>
          <a:solidFill>
            <a:schemeClr val="tx2"/>
          </a:solidFill>
        </p:spPr>
        <p:txBody>
          <a:bodyPr wrap="square" lIns="72000" tIns="36000" rIns="36000" bIns="36000" rtlCol="0" anchor="ctr">
            <a:noAutofit/>
          </a:bodyPr>
          <a:lstStyle/>
          <a:p>
            <a:pPr marR="0" lvl="0" algn="ctr" defTabSz="914400" rtl="0" eaLnBrk="1" fontAlgn="auto" latinLnBrk="0" hangingPunct="1">
              <a:lnSpc>
                <a:spcPct val="100000"/>
              </a:lnSpc>
              <a:spcBef>
                <a:spcPts val="300"/>
              </a:spcBef>
              <a:spcAft>
                <a:spcPts val="0"/>
              </a:spcAft>
              <a:buClrTx/>
              <a:buSzTx/>
              <a:tabLst/>
              <a:defRPr/>
            </a:pPr>
            <a:r>
              <a:rPr lang="en-US" sz="1400" b="1" dirty="0">
                <a:solidFill>
                  <a:schemeClr val="bg1"/>
                </a:solidFill>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7" name="TextBox 24">
            <a:extLst>
              <a:ext uri="{FF2B5EF4-FFF2-40B4-BE49-F238E27FC236}">
                <a16:creationId xmlns:a16="http://schemas.microsoft.com/office/drawing/2014/main" id="{82593055-1F27-2E1D-EEA9-CA869F9E0626}"/>
              </a:ext>
            </a:extLst>
          </p:cNvPr>
          <p:cNvSpPr txBox="1"/>
          <p:nvPr/>
        </p:nvSpPr>
        <p:spPr>
          <a:xfrm>
            <a:off x="9582789" y="5414010"/>
            <a:ext cx="2221860" cy="894715"/>
          </a:xfrm>
          <a:prstGeom prst="rect">
            <a:avLst/>
          </a:prstGeom>
          <a:solidFill>
            <a:schemeClr val="tx2"/>
          </a:solidFill>
        </p:spPr>
        <p:txBody>
          <a:bodyPr wrap="square" lIns="72000" tIns="36000" rIns="36000" bIns="36000" rtlCol="0" anchor="ctr">
            <a:noAutofit/>
          </a:bodyPr>
          <a:lstStyle/>
          <a:p>
            <a:pPr marR="0" lvl="0" algn="ctr" defTabSz="914400" rtl="0" eaLnBrk="1" fontAlgn="auto" latinLnBrk="0" hangingPunct="1">
              <a:lnSpc>
                <a:spcPct val="100000"/>
              </a:lnSpc>
              <a:spcBef>
                <a:spcPts val="300"/>
              </a:spcBef>
              <a:spcAft>
                <a:spcPts val="0"/>
              </a:spcAft>
              <a:buClrTx/>
              <a:buSzTx/>
              <a:tabLst/>
              <a:defRPr/>
            </a:pPr>
            <a:r>
              <a:rPr lang="en-US" sz="1400" b="1" dirty="0">
                <a:solidFill>
                  <a:schemeClr val="bg1"/>
                </a:solidFill>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400" b="1" i="0" u="none" strike="noStrike" kern="1200" cap="none" spc="0" normalizeH="0" baseline="0" noProof="0" dirty="0">
              <a:ln>
                <a:noFill/>
              </a:ln>
              <a:solidFill>
                <a:schemeClr val="bg1"/>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8" name="TextBox 24">
            <a:extLst>
              <a:ext uri="{FF2B5EF4-FFF2-40B4-BE49-F238E27FC236}">
                <a16:creationId xmlns:a16="http://schemas.microsoft.com/office/drawing/2014/main" id="{F76C5DAA-0970-40D9-F3EA-57AEE761E8FB}"/>
              </a:ext>
            </a:extLst>
          </p:cNvPr>
          <p:cNvSpPr txBox="1"/>
          <p:nvPr/>
        </p:nvSpPr>
        <p:spPr>
          <a:xfrm>
            <a:off x="384175" y="3073047"/>
            <a:ext cx="2210276" cy="369332"/>
          </a:xfrm>
          <a:prstGeom prst="rect">
            <a:avLst/>
          </a:prstGeom>
          <a:noFill/>
        </p:spPr>
        <p:txBody>
          <a:bodyPr wrap="square" lIns="0" tIns="0" rIns="0" bIns="0" rtlCol="0" anchor="t">
            <a:spAutoFit/>
          </a:bodyPr>
          <a:lstStyle/>
          <a:p>
            <a:pPr marR="0" lvl="0" defTabSz="914400" rtl="0" eaLnBrk="1" fontAlgn="auto" latinLnBrk="0" hangingPunct="1">
              <a:lnSpc>
                <a:spcPct val="100000"/>
              </a:lnSpc>
              <a:spcAft>
                <a:spcPts val="0"/>
              </a:spcAft>
              <a:buClrTx/>
              <a:buSzTx/>
              <a:tabLst/>
              <a:defRPr/>
            </a:pPr>
            <a:r>
              <a:rPr lang="en-US" sz="1200" b="1" dirty="0">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9" name="TextBox 24">
            <a:extLst>
              <a:ext uri="{FF2B5EF4-FFF2-40B4-BE49-F238E27FC236}">
                <a16:creationId xmlns:a16="http://schemas.microsoft.com/office/drawing/2014/main" id="{0E663BF9-DE2C-886C-2BB4-437E88650DA1}"/>
              </a:ext>
            </a:extLst>
          </p:cNvPr>
          <p:cNvSpPr txBox="1"/>
          <p:nvPr/>
        </p:nvSpPr>
        <p:spPr>
          <a:xfrm>
            <a:off x="4173377" y="1652111"/>
            <a:ext cx="3988122" cy="369332"/>
          </a:xfrm>
          <a:prstGeom prst="rect">
            <a:avLst/>
          </a:prstGeom>
          <a:noFill/>
        </p:spPr>
        <p:txBody>
          <a:bodyPr wrap="square" lIns="0" tIns="0" rIns="0" bIns="0" rtlCol="0" anchor="t">
            <a:spAutoFit/>
          </a:bodyPr>
          <a:lstStyle/>
          <a:p>
            <a:pPr marR="0" lvl="0" defTabSz="914400" rtl="0" eaLnBrk="1" fontAlgn="auto" latinLnBrk="0" hangingPunct="1">
              <a:lnSpc>
                <a:spcPct val="100000"/>
              </a:lnSpc>
              <a:spcAft>
                <a:spcPts val="0"/>
              </a:spcAft>
              <a:buClrTx/>
              <a:buSzTx/>
              <a:tabLst/>
              <a:defRPr/>
            </a:pPr>
            <a:r>
              <a:rPr lang="en-US" sz="1200" b="1" dirty="0">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10" name="TextBox 24">
            <a:extLst>
              <a:ext uri="{FF2B5EF4-FFF2-40B4-BE49-F238E27FC236}">
                <a16:creationId xmlns:a16="http://schemas.microsoft.com/office/drawing/2014/main" id="{59FCC689-E488-B1BF-37A8-39E655D167F3}"/>
              </a:ext>
            </a:extLst>
          </p:cNvPr>
          <p:cNvSpPr txBox="1"/>
          <p:nvPr/>
        </p:nvSpPr>
        <p:spPr>
          <a:xfrm>
            <a:off x="8633081" y="3563983"/>
            <a:ext cx="2210276" cy="369332"/>
          </a:xfrm>
          <a:prstGeom prst="rect">
            <a:avLst/>
          </a:prstGeom>
          <a:noFill/>
        </p:spPr>
        <p:txBody>
          <a:bodyPr wrap="square" lIns="0" tIns="0" rIns="0" bIns="0" rtlCol="0" anchor="t">
            <a:spAutoFit/>
          </a:bodyPr>
          <a:lstStyle/>
          <a:p>
            <a:pPr marR="0" lvl="0" defTabSz="914400" rtl="0" eaLnBrk="1" fontAlgn="auto" latinLnBrk="0" hangingPunct="1">
              <a:lnSpc>
                <a:spcPct val="100000"/>
              </a:lnSpc>
              <a:spcAft>
                <a:spcPts val="0"/>
              </a:spcAft>
              <a:buClrTx/>
              <a:buSzTx/>
              <a:tabLst/>
              <a:defRPr/>
            </a:pPr>
            <a:r>
              <a:rPr lang="en-US" sz="1200" b="1" dirty="0">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11" name="TextBox 24">
            <a:extLst>
              <a:ext uri="{FF2B5EF4-FFF2-40B4-BE49-F238E27FC236}">
                <a16:creationId xmlns:a16="http://schemas.microsoft.com/office/drawing/2014/main" id="{41050329-314D-4239-4166-434340C7F19A}"/>
              </a:ext>
            </a:extLst>
          </p:cNvPr>
          <p:cNvSpPr txBox="1"/>
          <p:nvPr/>
        </p:nvSpPr>
        <p:spPr>
          <a:xfrm>
            <a:off x="2653698" y="4018121"/>
            <a:ext cx="2210276" cy="369332"/>
          </a:xfrm>
          <a:prstGeom prst="rect">
            <a:avLst/>
          </a:prstGeom>
          <a:noFill/>
        </p:spPr>
        <p:txBody>
          <a:bodyPr wrap="square" lIns="0" tIns="0" rIns="0" bIns="0" rtlCol="0" anchor="t">
            <a:spAutoFit/>
          </a:bodyPr>
          <a:lstStyle/>
          <a:p>
            <a:pPr marR="0" lvl="0" defTabSz="914400" rtl="0" eaLnBrk="1" fontAlgn="auto" latinLnBrk="0" hangingPunct="1">
              <a:lnSpc>
                <a:spcPct val="100000"/>
              </a:lnSpc>
              <a:spcAft>
                <a:spcPts val="0"/>
              </a:spcAft>
              <a:buClrTx/>
              <a:buSzTx/>
              <a:tabLst/>
              <a:defRPr/>
            </a:pPr>
            <a:r>
              <a:rPr lang="en-US" sz="1200" b="1" dirty="0">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12" name="TextBox 24">
            <a:extLst>
              <a:ext uri="{FF2B5EF4-FFF2-40B4-BE49-F238E27FC236}">
                <a16:creationId xmlns:a16="http://schemas.microsoft.com/office/drawing/2014/main" id="{595193D2-9BA2-86CF-3D13-A215083C19FD}"/>
              </a:ext>
            </a:extLst>
          </p:cNvPr>
          <p:cNvSpPr txBox="1"/>
          <p:nvPr/>
        </p:nvSpPr>
        <p:spPr>
          <a:xfrm>
            <a:off x="5014020" y="5584368"/>
            <a:ext cx="3091771" cy="369332"/>
          </a:xfrm>
          <a:prstGeom prst="rect">
            <a:avLst/>
          </a:prstGeom>
          <a:noFill/>
        </p:spPr>
        <p:txBody>
          <a:bodyPr wrap="square" lIns="0" tIns="0" rIns="0" bIns="0" rtlCol="0" anchor="t">
            <a:spAutoFit/>
          </a:bodyPr>
          <a:lstStyle/>
          <a:p>
            <a:pPr marR="0" lvl="0" defTabSz="914400" rtl="0" eaLnBrk="1" fontAlgn="auto" latinLnBrk="0" hangingPunct="1">
              <a:lnSpc>
                <a:spcPct val="100000"/>
              </a:lnSpc>
              <a:spcAft>
                <a:spcPts val="0"/>
              </a:spcAft>
              <a:buClrTx/>
              <a:buSzTx/>
              <a:tabLst/>
              <a:defRPr/>
            </a:pPr>
            <a:r>
              <a:rPr lang="en-US" sz="1200" b="1" dirty="0">
                <a:latin typeface="Verdana"/>
                <a:ea typeface="Verdana" panose="020B0604030504040204" pitchFamily="34" charset="0"/>
                <a:cs typeface="Verdana" panose="020B0604030504040204" pitchFamily="34" charset="0"/>
                <a:sym typeface="Verdana" panose="020B0604030504040204" pitchFamily="34" charset="0"/>
              </a:rPr>
              <a:t>XXX</a:t>
            </a:r>
          </a:p>
          <a:p>
            <a:pPr marL="171450" marR="0" lvl="0" indent="-171450"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cxnSp>
        <p:nvCxnSpPr>
          <p:cNvPr id="14" name="Conector: angular 13">
            <a:extLst>
              <a:ext uri="{FF2B5EF4-FFF2-40B4-BE49-F238E27FC236}">
                <a16:creationId xmlns:a16="http://schemas.microsoft.com/office/drawing/2014/main" id="{F32B5691-09B3-DCD0-E556-D3056FCC9053}"/>
              </a:ext>
            </a:extLst>
          </p:cNvPr>
          <p:cNvCxnSpPr>
            <a:cxnSpLocks/>
            <a:stCxn id="2" idx="3"/>
            <a:endCxn id="4" idx="0"/>
          </p:cNvCxnSpPr>
          <p:nvPr/>
        </p:nvCxnSpPr>
        <p:spPr>
          <a:xfrm>
            <a:off x="2606035" y="1968183"/>
            <a:ext cx="1188723" cy="525938"/>
          </a:xfrm>
          <a:prstGeom prst="bentConnector2">
            <a:avLst/>
          </a:prstGeom>
          <a:ln w="28575">
            <a:solidFill>
              <a:schemeClr val="tx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7" name="Conector: angular 16">
            <a:extLst>
              <a:ext uri="{FF2B5EF4-FFF2-40B4-BE49-F238E27FC236}">
                <a16:creationId xmlns:a16="http://schemas.microsoft.com/office/drawing/2014/main" id="{8EA68CA2-89B5-04BF-88E8-154E61268A5B}"/>
              </a:ext>
            </a:extLst>
          </p:cNvPr>
          <p:cNvCxnSpPr>
            <a:cxnSpLocks/>
            <a:stCxn id="4" idx="3"/>
            <a:endCxn id="5" idx="0"/>
          </p:cNvCxnSpPr>
          <p:nvPr/>
        </p:nvCxnSpPr>
        <p:spPr>
          <a:xfrm>
            <a:off x="4905688" y="2941479"/>
            <a:ext cx="1188724" cy="525938"/>
          </a:xfrm>
          <a:prstGeom prst="bentConnector2">
            <a:avLst/>
          </a:prstGeom>
          <a:ln w="28575">
            <a:solidFill>
              <a:schemeClr val="tx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0" name="Conector: angular 19">
            <a:extLst>
              <a:ext uri="{FF2B5EF4-FFF2-40B4-BE49-F238E27FC236}">
                <a16:creationId xmlns:a16="http://schemas.microsoft.com/office/drawing/2014/main" id="{2A61062D-E008-F3DB-ED43-D3C4143F5115}"/>
              </a:ext>
            </a:extLst>
          </p:cNvPr>
          <p:cNvCxnSpPr>
            <a:cxnSpLocks/>
            <a:stCxn id="5" idx="3"/>
            <a:endCxn id="6" idx="0"/>
          </p:cNvCxnSpPr>
          <p:nvPr/>
        </p:nvCxnSpPr>
        <p:spPr>
          <a:xfrm>
            <a:off x="7205342" y="3914775"/>
            <a:ext cx="1188723" cy="525938"/>
          </a:xfrm>
          <a:prstGeom prst="bentConnector2">
            <a:avLst/>
          </a:prstGeom>
          <a:ln w="28575">
            <a:solidFill>
              <a:schemeClr val="tx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4" name="Conector: angular 23">
            <a:extLst>
              <a:ext uri="{FF2B5EF4-FFF2-40B4-BE49-F238E27FC236}">
                <a16:creationId xmlns:a16="http://schemas.microsoft.com/office/drawing/2014/main" id="{05E08E3A-DE86-3ED7-47FD-0095B355F457}"/>
              </a:ext>
            </a:extLst>
          </p:cNvPr>
          <p:cNvCxnSpPr>
            <a:cxnSpLocks/>
            <a:stCxn id="6" idx="3"/>
            <a:endCxn id="7" idx="0"/>
          </p:cNvCxnSpPr>
          <p:nvPr/>
        </p:nvCxnSpPr>
        <p:spPr>
          <a:xfrm>
            <a:off x="9504995" y="4888071"/>
            <a:ext cx="1188724" cy="525939"/>
          </a:xfrm>
          <a:prstGeom prst="bentConnector2">
            <a:avLst/>
          </a:prstGeom>
          <a:ln w="28575">
            <a:solidFill>
              <a:schemeClr val="tx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7176" name="Conector: angular 7175">
            <a:extLst>
              <a:ext uri="{FF2B5EF4-FFF2-40B4-BE49-F238E27FC236}">
                <a16:creationId xmlns:a16="http://schemas.microsoft.com/office/drawing/2014/main" id="{84866620-AEF7-EF2C-742A-B127A31DF272}"/>
              </a:ext>
            </a:extLst>
          </p:cNvPr>
          <p:cNvCxnSpPr>
            <a:cxnSpLocks/>
            <a:stCxn id="4" idx="1"/>
            <a:endCxn id="2" idx="2"/>
          </p:cNvCxnSpPr>
          <p:nvPr/>
        </p:nvCxnSpPr>
        <p:spPr>
          <a:xfrm rot="10800000">
            <a:off x="1495106" y="2415541"/>
            <a:ext cx="1188723" cy="525939"/>
          </a:xfrm>
          <a:prstGeom prst="bentConnector2">
            <a:avLst/>
          </a:prstGeom>
          <a:ln w="28575">
            <a:solidFill>
              <a:schemeClr val="bg1">
                <a:lumMod val="75000"/>
              </a:schemeClr>
            </a:solidFill>
            <a:prstDash val="sysDash"/>
            <a:tailEnd type="arrow" w="med" len="sm"/>
          </a:ln>
        </p:spPr>
        <p:style>
          <a:lnRef idx="1">
            <a:schemeClr val="accent1"/>
          </a:lnRef>
          <a:fillRef idx="0">
            <a:schemeClr val="accent1"/>
          </a:fillRef>
          <a:effectRef idx="0">
            <a:schemeClr val="accent1"/>
          </a:effectRef>
          <a:fontRef idx="minor">
            <a:schemeClr val="tx1"/>
          </a:fontRef>
        </p:style>
      </p:cxnSp>
      <p:cxnSp>
        <p:nvCxnSpPr>
          <p:cNvPr id="7180" name="Conector: angular 7179">
            <a:extLst>
              <a:ext uri="{FF2B5EF4-FFF2-40B4-BE49-F238E27FC236}">
                <a16:creationId xmlns:a16="http://schemas.microsoft.com/office/drawing/2014/main" id="{202A3BEA-F041-33AC-5B4B-1813DB8BE3EC}"/>
              </a:ext>
            </a:extLst>
          </p:cNvPr>
          <p:cNvCxnSpPr>
            <a:cxnSpLocks/>
            <a:stCxn id="7" idx="1"/>
            <a:endCxn id="6" idx="2"/>
          </p:cNvCxnSpPr>
          <p:nvPr/>
        </p:nvCxnSpPr>
        <p:spPr>
          <a:xfrm rot="10800000">
            <a:off x="8394065" y="5335428"/>
            <a:ext cx="1188724" cy="525940"/>
          </a:xfrm>
          <a:prstGeom prst="bentConnector2">
            <a:avLst/>
          </a:prstGeom>
          <a:ln w="28575">
            <a:solidFill>
              <a:schemeClr val="bg1">
                <a:lumMod val="75000"/>
              </a:schemeClr>
            </a:solidFill>
            <a:prstDash val="sysDash"/>
            <a:tailEnd type="arrow" w="med" len="sm"/>
          </a:ln>
        </p:spPr>
        <p:style>
          <a:lnRef idx="1">
            <a:schemeClr val="accent1"/>
          </a:lnRef>
          <a:fillRef idx="0">
            <a:schemeClr val="accent1"/>
          </a:fillRef>
          <a:effectRef idx="0">
            <a:schemeClr val="accent1"/>
          </a:effectRef>
          <a:fontRef idx="minor">
            <a:schemeClr val="tx1"/>
          </a:fontRef>
        </p:style>
      </p:cxnSp>
      <p:cxnSp>
        <p:nvCxnSpPr>
          <p:cNvPr id="7183" name="Conector: angular 7182">
            <a:extLst>
              <a:ext uri="{FF2B5EF4-FFF2-40B4-BE49-F238E27FC236}">
                <a16:creationId xmlns:a16="http://schemas.microsoft.com/office/drawing/2014/main" id="{BCF94D9D-97F9-AA73-D756-03B9EB19E6BB}"/>
              </a:ext>
            </a:extLst>
          </p:cNvPr>
          <p:cNvCxnSpPr>
            <a:cxnSpLocks/>
            <a:stCxn id="6" idx="1"/>
            <a:endCxn id="5" idx="2"/>
          </p:cNvCxnSpPr>
          <p:nvPr/>
        </p:nvCxnSpPr>
        <p:spPr>
          <a:xfrm rot="10800000">
            <a:off x="6094413" y="4362133"/>
            <a:ext cx="1188723" cy="525939"/>
          </a:xfrm>
          <a:prstGeom prst="bentConnector2">
            <a:avLst/>
          </a:prstGeom>
          <a:ln w="28575">
            <a:solidFill>
              <a:schemeClr val="bg1">
                <a:lumMod val="75000"/>
              </a:schemeClr>
            </a:solidFill>
            <a:prstDash val="sysDash"/>
            <a:tailEnd type="arrow" w="med" len="sm"/>
          </a:ln>
        </p:spPr>
        <p:style>
          <a:lnRef idx="1">
            <a:schemeClr val="accent1"/>
          </a:lnRef>
          <a:fillRef idx="0">
            <a:schemeClr val="accent1"/>
          </a:fillRef>
          <a:effectRef idx="0">
            <a:schemeClr val="accent1"/>
          </a:effectRef>
          <a:fontRef idx="minor">
            <a:schemeClr val="tx1"/>
          </a:fontRef>
        </p:style>
      </p:cxnSp>
      <p:cxnSp>
        <p:nvCxnSpPr>
          <p:cNvPr id="7186" name="Conector: angular 7185">
            <a:extLst>
              <a:ext uri="{FF2B5EF4-FFF2-40B4-BE49-F238E27FC236}">
                <a16:creationId xmlns:a16="http://schemas.microsoft.com/office/drawing/2014/main" id="{A1A04A75-EFDB-5F34-31E4-D9D545619635}"/>
              </a:ext>
            </a:extLst>
          </p:cNvPr>
          <p:cNvCxnSpPr>
            <a:cxnSpLocks/>
            <a:stCxn id="5" idx="1"/>
            <a:endCxn id="4" idx="2"/>
          </p:cNvCxnSpPr>
          <p:nvPr/>
        </p:nvCxnSpPr>
        <p:spPr>
          <a:xfrm rot="10800000">
            <a:off x="3794758" y="3388837"/>
            <a:ext cx="1188724" cy="525939"/>
          </a:xfrm>
          <a:prstGeom prst="bentConnector2">
            <a:avLst/>
          </a:prstGeom>
          <a:ln w="28575">
            <a:solidFill>
              <a:schemeClr val="bg1">
                <a:lumMod val="75000"/>
              </a:schemeClr>
            </a:solidFill>
            <a:prstDash val="sysDash"/>
            <a:tailEnd type="arrow" w="med" len="sm"/>
          </a:ln>
        </p:spPr>
        <p:style>
          <a:lnRef idx="1">
            <a:schemeClr val="accent1"/>
          </a:lnRef>
          <a:fillRef idx="0">
            <a:schemeClr val="accent1"/>
          </a:fillRef>
          <a:effectRef idx="0">
            <a:schemeClr val="accent1"/>
          </a:effectRef>
          <a:fontRef idx="minor">
            <a:schemeClr val="tx1"/>
          </a:fontRef>
        </p:style>
      </p:cxnSp>
      <p:sp>
        <p:nvSpPr>
          <p:cNvPr id="13" name="Marcador de pie de página 12">
            <a:extLst>
              <a:ext uri="{FF2B5EF4-FFF2-40B4-BE49-F238E27FC236}">
                <a16:creationId xmlns:a16="http://schemas.microsoft.com/office/drawing/2014/main" id="{B68C9FE9-4931-1CA0-E321-C3BA54F3FBBD}"/>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38655936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Three Horizons</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147461276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ED95C515-841F-3451-0178-7F620394B410}"/>
              </a:ext>
            </a:extLst>
          </p:cNvPr>
          <p:cNvGraphicFramePr>
            <a:graphicFrameLocks noChangeAspect="1"/>
          </p:cNvGraphicFramePr>
          <p:nvPr>
            <p:custDataLst>
              <p:tags r:id="rId1"/>
            </p:custDataLst>
            <p:extLst>
              <p:ext uri="{D42A27DB-BD31-4B8C-83A1-F6EECF244321}">
                <p14:modId xmlns:p14="http://schemas.microsoft.com/office/powerpoint/2010/main" val="113535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1C9A27A9-4238-61C2-FF6A-62C7ACDDF814}"/>
              </a:ext>
            </a:extLst>
          </p:cNvPr>
          <p:cNvSpPr>
            <a:spLocks noGrp="1"/>
          </p:cNvSpPr>
          <p:nvPr>
            <p:ph type="title"/>
          </p:nvPr>
        </p:nvSpPr>
        <p:spPr/>
        <p:txBody>
          <a:bodyPr vert="horz"/>
          <a:lstStyle/>
          <a:p>
            <a:r>
              <a:rPr lang="en-US" dirty="0"/>
              <a:t>Three Horizons — Overview</a:t>
            </a:r>
          </a:p>
        </p:txBody>
      </p:sp>
      <p:sp>
        <p:nvSpPr>
          <p:cNvPr id="3" name="Marcador de texto 2">
            <a:extLst>
              <a:ext uri="{FF2B5EF4-FFF2-40B4-BE49-F238E27FC236}">
                <a16:creationId xmlns:a16="http://schemas.microsoft.com/office/drawing/2014/main" id="{14C82161-6303-A1A2-11A7-A5897A2D30CB}"/>
              </a:ext>
            </a:extLst>
          </p:cNvPr>
          <p:cNvSpPr>
            <a:spLocks noGrp="1"/>
          </p:cNvSpPr>
          <p:nvPr>
            <p:ph type="body" sz="quarter" idx="18"/>
          </p:nvPr>
        </p:nvSpPr>
        <p:spPr/>
        <p:txBody>
          <a:bodyPr/>
          <a:lstStyle/>
          <a:p>
            <a:r>
              <a:rPr lang="en-US" dirty="0"/>
              <a:t>The Three Horizons framework was developed by McKinsey &amp; Company in the late 1990s. It was first introduced in a McKinsey Quarterly article titled "Enduring Ideas: The Three Horizons of Growth" by </a:t>
            </a:r>
            <a:r>
              <a:rPr lang="en-US" dirty="0" err="1"/>
              <a:t>Baghai</a:t>
            </a:r>
            <a:r>
              <a:rPr lang="en-US" dirty="0"/>
              <a:t>, Coley, and White in 1999.</a:t>
            </a:r>
          </a:p>
        </p:txBody>
      </p:sp>
      <p:sp>
        <p:nvSpPr>
          <p:cNvPr id="4" name="Marcador de texto 3">
            <a:extLst>
              <a:ext uri="{FF2B5EF4-FFF2-40B4-BE49-F238E27FC236}">
                <a16:creationId xmlns:a16="http://schemas.microsoft.com/office/drawing/2014/main" id="{4D4411B8-478A-C821-8824-D3883A8BA3D6}"/>
              </a:ext>
            </a:extLst>
          </p:cNvPr>
          <p:cNvSpPr>
            <a:spLocks noGrp="1"/>
          </p:cNvSpPr>
          <p:nvPr>
            <p:ph type="body" sz="quarter" idx="19"/>
          </p:nvPr>
        </p:nvSpPr>
        <p:spPr/>
        <p:txBody>
          <a:bodyPr/>
          <a:lstStyle/>
          <a:p>
            <a:pPr marL="0" indent="0">
              <a:buFont typeface="Arial" panose="020B0604020202020204" pitchFamily="34" charset="0"/>
              <a:buNone/>
            </a:pPr>
            <a:r>
              <a:rPr lang="en-US" dirty="0"/>
              <a:t>Three Horizons framework helps organizations think about their innovation and growth strategies over the short-, medium-, and long-term. The framework is based on the metaphor of "three horizons," which represent different stages of innovation and growth:</a:t>
            </a:r>
          </a:p>
          <a:p>
            <a:r>
              <a:rPr lang="en-US" b="1" dirty="0"/>
              <a:t>Horizon 1: </a:t>
            </a:r>
            <a:r>
              <a:rPr lang="en-US" dirty="0"/>
              <a:t>Core business activities that generate the majority of the company's revenue and profits in the short-term (typically 1-2 years). These are the existing products, services, and business models that the company is currently offering and are essential for its survival.</a:t>
            </a:r>
          </a:p>
          <a:p>
            <a:r>
              <a:rPr lang="en-US" b="1" dirty="0"/>
              <a:t>Horizon 2: </a:t>
            </a:r>
            <a:r>
              <a:rPr lang="en-US" dirty="0"/>
              <a:t>Emerging business activities that have the potential to generate significant revenue and profits in the medium-term (2-5 years). These are new products, services, or business models that are still in development, but have the potential to become significant sources of revenue and profits in the future.</a:t>
            </a:r>
          </a:p>
          <a:p>
            <a:r>
              <a:rPr lang="en-US" b="1" dirty="0"/>
              <a:t>Horizon 3: </a:t>
            </a:r>
            <a:r>
              <a:rPr lang="en-US" dirty="0"/>
              <a:t>New business activities that are in the exploration stage and have the potential to generate significant revenue and profits in the long-term (5-10 years or more). These are entirely new and untested ideas that are still in the ideation stage and require significant investment in research and development.</a:t>
            </a:r>
          </a:p>
        </p:txBody>
      </p:sp>
      <p:sp>
        <p:nvSpPr>
          <p:cNvPr id="5" name="Marcador de texto 4">
            <a:extLst>
              <a:ext uri="{FF2B5EF4-FFF2-40B4-BE49-F238E27FC236}">
                <a16:creationId xmlns:a16="http://schemas.microsoft.com/office/drawing/2014/main" id="{C3CA179B-D820-04FB-6E32-553895819299}"/>
              </a:ext>
            </a:extLst>
          </p:cNvPr>
          <p:cNvSpPr>
            <a:spLocks noGrp="1"/>
          </p:cNvSpPr>
          <p:nvPr>
            <p:ph type="body" sz="quarter" idx="20"/>
          </p:nvPr>
        </p:nvSpPr>
        <p:spPr/>
        <p:txBody>
          <a:bodyPr/>
          <a:lstStyle/>
          <a:p>
            <a:r>
              <a:rPr lang="en-US" b="1" dirty="0"/>
              <a:t>Corporate strategy development: </a:t>
            </a:r>
            <a:r>
              <a:rPr lang="en-US" dirty="0"/>
              <a:t>Balance short-term and long-term goals by identifying and prioritizing opportunities in all three horizons to ensure a diverse range of products, services, and business models to stay competitive and grow over the long-term.</a:t>
            </a:r>
          </a:p>
          <a:p>
            <a:r>
              <a:rPr lang="en-US" b="1" dirty="0"/>
              <a:t>New product development: </a:t>
            </a:r>
            <a:r>
              <a:rPr lang="en-US" dirty="0"/>
              <a:t>Balance risk and return. Identify and prioritize ideas in all three horizons to ensure a mix of low-risk, high-reward ideas in Horizon 1 and high-risk, high-reward ideas in Horizon 3.</a:t>
            </a:r>
          </a:p>
          <a:p>
            <a:r>
              <a:rPr lang="en-US" b="1" dirty="0"/>
              <a:t>Mergers and acquisitions: </a:t>
            </a:r>
            <a:r>
              <a:rPr lang="en-US" dirty="0"/>
              <a:t>Identify potential acquisition targets that can help growth in all three horizons. Evaluate potential targets based on the current portfolio and growth potential in each horizon.</a:t>
            </a:r>
          </a:p>
        </p:txBody>
      </p:sp>
      <p:sp>
        <p:nvSpPr>
          <p:cNvPr id="11" name="Marcador de pie de página 10">
            <a:extLst>
              <a:ext uri="{FF2B5EF4-FFF2-40B4-BE49-F238E27FC236}">
                <a16:creationId xmlns:a16="http://schemas.microsoft.com/office/drawing/2014/main" id="{FF5F7E69-7310-4DE9-D224-D52C6D05F3DF}"/>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04269149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o 8" hidden="1">
            <a:extLst>
              <a:ext uri="{FF2B5EF4-FFF2-40B4-BE49-F238E27FC236}">
                <a16:creationId xmlns:a16="http://schemas.microsoft.com/office/drawing/2014/main" id="{98F30C71-CC86-7B35-2E2F-E92EB27A4E55}"/>
              </a:ext>
            </a:extLst>
          </p:cNvPr>
          <p:cNvGraphicFramePr>
            <a:graphicFrameLocks noChangeAspect="1"/>
          </p:cNvGraphicFramePr>
          <p:nvPr>
            <p:custDataLst>
              <p:tags r:id="rId1"/>
            </p:custDataLst>
            <p:extLst>
              <p:ext uri="{D42A27DB-BD31-4B8C-83A1-F6EECF244321}">
                <p14:modId xmlns:p14="http://schemas.microsoft.com/office/powerpoint/2010/main" val="510107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vert="horz"/>
          <a:lstStyle/>
          <a:p>
            <a:r>
              <a:rPr lang="en-US" dirty="0"/>
              <a:t>Three Horizons — Template</a:t>
            </a:r>
          </a:p>
        </p:txBody>
      </p:sp>
      <p:sp>
        <p:nvSpPr>
          <p:cNvPr id="6" name="TextBox 25">
            <a:extLst>
              <a:ext uri="{FF2B5EF4-FFF2-40B4-BE49-F238E27FC236}">
                <a16:creationId xmlns:a16="http://schemas.microsoft.com/office/drawing/2014/main" id="{85141D88-E56C-3B4B-9B17-F0EA1AB0AAC6}"/>
              </a:ext>
            </a:extLst>
          </p:cNvPr>
          <p:cNvSpPr txBox="1"/>
          <p:nvPr/>
        </p:nvSpPr>
        <p:spPr>
          <a:xfrm rot="16200000">
            <a:off x="-160770" y="3399814"/>
            <a:ext cx="1368829" cy="278943"/>
          </a:xfrm>
          <a:prstGeom prst="rect">
            <a:avLst/>
          </a:prstGeom>
          <a:solidFill>
            <a:schemeClr val="bg1"/>
          </a:solid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Value</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4" name="Conector recto 3">
            <a:extLst>
              <a:ext uri="{FF2B5EF4-FFF2-40B4-BE49-F238E27FC236}">
                <a16:creationId xmlns:a16="http://schemas.microsoft.com/office/drawing/2014/main" id="{26EB811B-8F5E-F18A-B4EA-DBC5998E8F9B}"/>
              </a:ext>
            </a:extLst>
          </p:cNvPr>
          <p:cNvCxnSpPr>
            <a:cxnSpLocks/>
          </p:cNvCxnSpPr>
          <p:nvPr/>
        </p:nvCxnSpPr>
        <p:spPr>
          <a:xfrm>
            <a:off x="754744" y="5926048"/>
            <a:ext cx="11065780" cy="0"/>
          </a:xfrm>
          <a:prstGeom prst="line">
            <a:avLst/>
          </a:prstGeom>
          <a:noFill/>
          <a:ln w="28575">
            <a:solidFill>
              <a:schemeClr val="tx2"/>
            </a:solidFill>
            <a:tailEnd type="arrow" w="med" len="sm"/>
          </a:ln>
        </p:spPr>
        <p:style>
          <a:lnRef idx="1">
            <a:schemeClr val="accent1"/>
          </a:lnRef>
          <a:fillRef idx="0">
            <a:schemeClr val="accent1"/>
          </a:fillRef>
          <a:effectRef idx="0">
            <a:schemeClr val="accent1"/>
          </a:effectRef>
          <a:fontRef idx="minor">
            <a:schemeClr val="tx1"/>
          </a:fontRef>
        </p:style>
      </p:cxnSp>
      <p:sp>
        <p:nvSpPr>
          <p:cNvPr id="5" name="TextBox 25">
            <a:extLst>
              <a:ext uri="{FF2B5EF4-FFF2-40B4-BE49-F238E27FC236}">
                <a16:creationId xmlns:a16="http://schemas.microsoft.com/office/drawing/2014/main" id="{052D12BE-4341-50D2-C1AE-9577F384F883}"/>
              </a:ext>
            </a:extLst>
          </p:cNvPr>
          <p:cNvSpPr txBox="1"/>
          <p:nvPr/>
        </p:nvSpPr>
        <p:spPr>
          <a:xfrm>
            <a:off x="5421119" y="6096362"/>
            <a:ext cx="1733028" cy="212363"/>
          </a:xfrm>
          <a:prstGeom prst="rect">
            <a:avLst/>
          </a:prstGeom>
          <a:solidFill>
            <a:schemeClr val="bg1"/>
          </a:solid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Time</a:t>
            </a:r>
            <a:endPar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2" name="Conector recto 1">
            <a:extLst>
              <a:ext uri="{FF2B5EF4-FFF2-40B4-BE49-F238E27FC236}">
                <a16:creationId xmlns:a16="http://schemas.microsoft.com/office/drawing/2014/main" id="{B916C808-0510-9427-87C4-7CF2FBF072FA}"/>
              </a:ext>
            </a:extLst>
          </p:cNvPr>
          <p:cNvCxnSpPr>
            <a:cxnSpLocks/>
          </p:cNvCxnSpPr>
          <p:nvPr/>
        </p:nvCxnSpPr>
        <p:spPr>
          <a:xfrm flipV="1">
            <a:off x="754744" y="1152525"/>
            <a:ext cx="0" cy="4773523"/>
          </a:xfrm>
          <a:prstGeom prst="line">
            <a:avLst/>
          </a:prstGeom>
          <a:noFill/>
          <a:ln w="28575">
            <a:solidFill>
              <a:schemeClr val="tx2"/>
            </a:solidFill>
            <a:tailEnd type="arrow" w="med" len="sm"/>
          </a:ln>
        </p:spPr>
        <p:style>
          <a:lnRef idx="1">
            <a:schemeClr val="accent1"/>
          </a:lnRef>
          <a:fillRef idx="0">
            <a:schemeClr val="accent1"/>
          </a:fillRef>
          <a:effectRef idx="0">
            <a:schemeClr val="accent1"/>
          </a:effectRef>
          <a:fontRef idx="minor">
            <a:schemeClr val="tx1"/>
          </a:fontRef>
        </p:style>
      </p:cxnSp>
      <p:sp>
        <p:nvSpPr>
          <p:cNvPr id="12" name="TextBox 25">
            <a:extLst>
              <a:ext uri="{FF2B5EF4-FFF2-40B4-BE49-F238E27FC236}">
                <a16:creationId xmlns:a16="http://schemas.microsoft.com/office/drawing/2014/main" id="{9169E6F1-A663-CABB-0D43-1338A4C72995}"/>
              </a:ext>
            </a:extLst>
          </p:cNvPr>
          <p:cNvSpPr txBox="1"/>
          <p:nvPr/>
        </p:nvSpPr>
        <p:spPr>
          <a:xfrm>
            <a:off x="754743" y="4461842"/>
            <a:ext cx="3688567" cy="553998"/>
          </a:xfrm>
          <a:prstGeom prst="rect">
            <a:avLst/>
          </a:prstGeom>
          <a:noFill/>
        </p:spPr>
        <p:txBody>
          <a:bodyPr wrap="square" lIns="72000" tIns="0" rIns="72000" bIns="0" rtlCol="0" anchor="t">
            <a:spAutoFit/>
          </a:bodyPr>
          <a:lstStyle/>
          <a:p>
            <a:pPr marR="0" lvl="0" algn="ctr"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Horizon 1</a:t>
            </a:r>
          </a:p>
          <a:p>
            <a:pPr marR="0" lvl="0" algn="ctr" defTabSz="914400" rtl="0" eaLnBrk="1" fontAlgn="auto" latinLnBrk="0" hangingPunct="1">
              <a:lnSpc>
                <a:spcPct val="100000"/>
              </a:lnSpc>
              <a:spcAft>
                <a:spcPts val="0"/>
              </a:spcAft>
              <a:buClrTx/>
              <a:buSzTx/>
              <a:tabLst/>
              <a:defRPr/>
            </a:pPr>
            <a:r>
              <a:rPr lang="en-US" sz="1200" b="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Maintain and defend core business</a:t>
            </a:r>
          </a:p>
          <a:p>
            <a:pPr marR="0" lvl="0" algn="ctr" defTabSz="914400" rtl="0" eaLnBrk="1" fontAlgn="auto" latinLnBrk="0" hangingPunct="1">
              <a:lnSpc>
                <a:spcPct val="100000"/>
              </a:lnSpc>
              <a:spcAft>
                <a:spcPts val="0"/>
              </a:spcAft>
              <a:buClrTx/>
              <a:buSzTx/>
              <a:tabLst/>
              <a:defRPr/>
            </a:pPr>
            <a:r>
              <a:rPr kumimoji="0" lang="en-US" sz="1200" i="1"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1-3 years</a:t>
            </a:r>
            <a:endParaRPr kumimoji="0" lang="en-US" sz="1200" b="0" i="1"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grpSp>
        <p:nvGrpSpPr>
          <p:cNvPr id="10245" name="Grupo 10244">
            <a:extLst>
              <a:ext uri="{FF2B5EF4-FFF2-40B4-BE49-F238E27FC236}">
                <a16:creationId xmlns:a16="http://schemas.microsoft.com/office/drawing/2014/main" id="{B8B9BC4C-81F9-AC9E-9AAF-9E68C2B6E6ED}"/>
              </a:ext>
            </a:extLst>
          </p:cNvPr>
          <p:cNvGrpSpPr/>
          <p:nvPr/>
        </p:nvGrpSpPr>
        <p:grpSpPr>
          <a:xfrm>
            <a:off x="4443338" y="1794682"/>
            <a:ext cx="3688594" cy="4131365"/>
            <a:chOff x="3211381" y="1754549"/>
            <a:chExt cx="2371950" cy="4150951"/>
          </a:xfrm>
        </p:grpSpPr>
        <p:cxnSp>
          <p:nvCxnSpPr>
            <p:cNvPr id="14" name="Conector recto 13">
              <a:extLst>
                <a:ext uri="{FF2B5EF4-FFF2-40B4-BE49-F238E27FC236}">
                  <a16:creationId xmlns:a16="http://schemas.microsoft.com/office/drawing/2014/main" id="{9E244827-E78C-CD4C-2508-0A2E6D73FBF0}"/>
                </a:ext>
              </a:extLst>
            </p:cNvPr>
            <p:cNvCxnSpPr>
              <a:cxnSpLocks/>
            </p:cNvCxnSpPr>
            <p:nvPr/>
          </p:nvCxnSpPr>
          <p:spPr>
            <a:xfrm flipV="1">
              <a:off x="3211381" y="1754549"/>
              <a:ext cx="0" cy="4150951"/>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5D25CB1A-2BB4-10EA-C1D5-195456D5630F}"/>
                </a:ext>
              </a:extLst>
            </p:cNvPr>
            <p:cNvCxnSpPr>
              <a:cxnSpLocks/>
            </p:cNvCxnSpPr>
            <p:nvPr/>
          </p:nvCxnSpPr>
          <p:spPr>
            <a:xfrm flipV="1">
              <a:off x="5583331" y="1754549"/>
              <a:ext cx="0" cy="4150951"/>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8" name="TextBox 25">
            <a:extLst>
              <a:ext uri="{FF2B5EF4-FFF2-40B4-BE49-F238E27FC236}">
                <a16:creationId xmlns:a16="http://schemas.microsoft.com/office/drawing/2014/main" id="{38FFBEE6-F77C-A1E0-3529-1290EA6564BC}"/>
              </a:ext>
            </a:extLst>
          </p:cNvPr>
          <p:cNvSpPr txBox="1"/>
          <p:nvPr/>
        </p:nvSpPr>
        <p:spPr>
          <a:xfrm>
            <a:off x="4443365" y="3609704"/>
            <a:ext cx="3688567" cy="553998"/>
          </a:xfrm>
          <a:prstGeom prst="rect">
            <a:avLst/>
          </a:prstGeom>
          <a:noFill/>
        </p:spPr>
        <p:txBody>
          <a:bodyPr wrap="square" lIns="72000" tIns="0" rIns="72000" bIns="0" rtlCol="0" anchor="t">
            <a:spAutoFit/>
          </a:bodyPr>
          <a:lstStyle/>
          <a:p>
            <a:pPr marR="0" lvl="0" algn="ctr"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Horizon 2</a:t>
            </a:r>
          </a:p>
          <a:p>
            <a:pPr marR="0" lvl="0" algn="ctr" defTabSz="914400" rtl="0" eaLnBrk="1" fontAlgn="auto" latinLnBrk="0" hangingPunct="1">
              <a:lnSpc>
                <a:spcPct val="100000"/>
              </a:lnSpc>
              <a:spcAft>
                <a:spcPts val="0"/>
              </a:spcAft>
              <a:buClrTx/>
              <a:buSzTx/>
              <a:tabLst/>
              <a:defRPr/>
            </a:pPr>
            <a:r>
              <a:rPr lang="en-US" sz="1200" b="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Foster emerging</a:t>
            </a:r>
          </a:p>
          <a:p>
            <a:pPr marR="0" lvl="0" algn="ctr" defTabSz="914400" rtl="0" eaLnBrk="1" fontAlgn="auto" latinLnBrk="0" hangingPunct="1">
              <a:lnSpc>
                <a:spcPct val="100000"/>
              </a:lnSpc>
              <a:spcAft>
                <a:spcPts val="0"/>
              </a:spcAft>
              <a:buClrTx/>
              <a:buSzTx/>
              <a:tabLst/>
              <a:defRPr/>
            </a:pPr>
            <a:r>
              <a:rPr lang="en-US" sz="1200" i="1"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3</a:t>
            </a:r>
            <a:r>
              <a:rPr kumimoji="0" lang="en-US" sz="1200" i="1"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-5 years</a:t>
            </a:r>
            <a:endParaRPr kumimoji="0" lang="en-US" sz="1200" b="0" i="1"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9" name="TextBox 25">
            <a:extLst>
              <a:ext uri="{FF2B5EF4-FFF2-40B4-BE49-F238E27FC236}">
                <a16:creationId xmlns:a16="http://schemas.microsoft.com/office/drawing/2014/main" id="{5296F93B-BB8B-A3FF-28CE-3BE48F19D0F3}"/>
              </a:ext>
            </a:extLst>
          </p:cNvPr>
          <p:cNvSpPr txBox="1"/>
          <p:nvPr/>
        </p:nvSpPr>
        <p:spPr>
          <a:xfrm>
            <a:off x="8131957" y="2647258"/>
            <a:ext cx="3688567" cy="553998"/>
          </a:xfrm>
          <a:prstGeom prst="rect">
            <a:avLst/>
          </a:prstGeom>
          <a:noFill/>
        </p:spPr>
        <p:txBody>
          <a:bodyPr wrap="square" lIns="72000" tIns="0" rIns="72000" bIns="0" rtlCol="0" anchor="t">
            <a:spAutoFit/>
          </a:bodyPr>
          <a:lstStyle/>
          <a:p>
            <a:pPr marR="0" lvl="0" algn="ctr" defTabSz="914400" rtl="0" eaLnBrk="1" fontAlgn="auto" latinLnBrk="0" hangingPunct="1">
              <a:lnSpc>
                <a:spcPct val="100000"/>
              </a:lnSpc>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Horizon 3</a:t>
            </a:r>
          </a:p>
          <a:p>
            <a:pPr marR="0" lvl="0" algn="ctr" defTabSz="914400" rtl="0" eaLnBrk="1" fontAlgn="auto" latinLnBrk="0" hangingPunct="1">
              <a:lnSpc>
                <a:spcPct val="100000"/>
              </a:lnSpc>
              <a:spcAft>
                <a:spcPts val="0"/>
              </a:spcAft>
              <a:buClrTx/>
              <a:buSzTx/>
              <a:tabLst/>
              <a:defRPr/>
            </a:pPr>
            <a:r>
              <a:rPr lang="en-US" sz="1200" b="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Seed future business (es)</a:t>
            </a:r>
          </a:p>
          <a:p>
            <a:pPr marR="0" lvl="0" algn="ctr" defTabSz="914400" rtl="0" eaLnBrk="1" fontAlgn="auto" latinLnBrk="0" hangingPunct="1">
              <a:lnSpc>
                <a:spcPct val="100000"/>
              </a:lnSpc>
              <a:spcAft>
                <a:spcPts val="0"/>
              </a:spcAft>
              <a:buClrTx/>
              <a:buSzTx/>
              <a:tabLst/>
              <a:defRPr/>
            </a:pPr>
            <a:r>
              <a:rPr lang="en-US" sz="1200" i="1"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&gt;</a:t>
            </a:r>
            <a:r>
              <a:rPr kumimoji="0" lang="en-US" sz="1200" i="1"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5 years</a:t>
            </a:r>
            <a:endParaRPr kumimoji="0" lang="en-US" sz="1200" b="0" i="1"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24" name="Arco 23">
            <a:extLst>
              <a:ext uri="{FF2B5EF4-FFF2-40B4-BE49-F238E27FC236}">
                <a16:creationId xmlns:a16="http://schemas.microsoft.com/office/drawing/2014/main" id="{B6CE4D4B-528C-5967-BACF-B8493558EA55}"/>
              </a:ext>
            </a:extLst>
          </p:cNvPr>
          <p:cNvSpPr/>
          <p:nvPr/>
        </p:nvSpPr>
        <p:spPr>
          <a:xfrm>
            <a:off x="993667" y="4093858"/>
            <a:ext cx="6817257" cy="1242887"/>
          </a:xfrm>
          <a:prstGeom prst="arc">
            <a:avLst>
              <a:gd name="adj1" fmla="val 10785616"/>
              <a:gd name="adj2" fmla="val 16173199"/>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Arco 24">
            <a:extLst>
              <a:ext uri="{FF2B5EF4-FFF2-40B4-BE49-F238E27FC236}">
                <a16:creationId xmlns:a16="http://schemas.microsoft.com/office/drawing/2014/main" id="{AFC63A38-1B66-96D2-C058-4EE6FD101EBA}"/>
              </a:ext>
            </a:extLst>
          </p:cNvPr>
          <p:cNvSpPr/>
          <p:nvPr/>
        </p:nvSpPr>
        <p:spPr>
          <a:xfrm>
            <a:off x="4551933" y="3223326"/>
            <a:ext cx="6817257" cy="1242887"/>
          </a:xfrm>
          <a:prstGeom prst="arc">
            <a:avLst>
              <a:gd name="adj1" fmla="val 10785616"/>
              <a:gd name="adj2" fmla="val 16173199"/>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Conector recto 28">
            <a:extLst>
              <a:ext uri="{FF2B5EF4-FFF2-40B4-BE49-F238E27FC236}">
                <a16:creationId xmlns:a16="http://schemas.microsoft.com/office/drawing/2014/main" id="{D7103777-F04F-D682-5485-8A0E1F5D452D}"/>
              </a:ext>
            </a:extLst>
          </p:cNvPr>
          <p:cNvCxnSpPr>
            <a:cxnSpLocks/>
          </p:cNvCxnSpPr>
          <p:nvPr/>
        </p:nvCxnSpPr>
        <p:spPr>
          <a:xfrm>
            <a:off x="754744" y="1694388"/>
            <a:ext cx="11065780" cy="0"/>
          </a:xfrm>
          <a:prstGeom prst="line">
            <a:avLst/>
          </a:prstGeom>
          <a:noFill/>
          <a:ln w="28575">
            <a:solidFill>
              <a:schemeClr val="bg1">
                <a:lumMod val="75000"/>
              </a:schemeClr>
            </a:solidFill>
            <a:tailEnd type="arrow" w="med" len="sm"/>
          </a:ln>
        </p:spPr>
        <p:style>
          <a:lnRef idx="1">
            <a:schemeClr val="accent1"/>
          </a:lnRef>
          <a:fillRef idx="0">
            <a:schemeClr val="accent1"/>
          </a:fillRef>
          <a:effectRef idx="0">
            <a:schemeClr val="accent1"/>
          </a:effectRef>
          <a:fontRef idx="minor">
            <a:schemeClr val="tx1"/>
          </a:fontRef>
        </p:style>
      </p:cxnSp>
      <p:sp>
        <p:nvSpPr>
          <p:cNvPr id="30" name="TextBox 25">
            <a:extLst>
              <a:ext uri="{FF2B5EF4-FFF2-40B4-BE49-F238E27FC236}">
                <a16:creationId xmlns:a16="http://schemas.microsoft.com/office/drawing/2014/main" id="{F08786B5-CDDB-670C-A176-36BDDD01E8E4}"/>
              </a:ext>
            </a:extLst>
          </p:cNvPr>
          <p:cNvSpPr txBox="1"/>
          <p:nvPr/>
        </p:nvSpPr>
        <p:spPr>
          <a:xfrm>
            <a:off x="2140180" y="1588206"/>
            <a:ext cx="917696" cy="212363"/>
          </a:xfrm>
          <a:prstGeom prst="rect">
            <a:avLst/>
          </a:prstGeom>
          <a:solidFill>
            <a:schemeClr val="bg1"/>
          </a:solidFill>
        </p:spPr>
        <p:txBody>
          <a:bodyPr wrap="square" lIns="72000" tIns="0" rIns="7200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Now</a:t>
            </a:r>
            <a:endParaRPr kumimoji="0" lang="en-US" sz="1200" b="0" i="1"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31" name="TextBox 25">
            <a:extLst>
              <a:ext uri="{FF2B5EF4-FFF2-40B4-BE49-F238E27FC236}">
                <a16:creationId xmlns:a16="http://schemas.microsoft.com/office/drawing/2014/main" id="{E751F10F-B500-FFF8-722E-72CD064AC7BC}"/>
              </a:ext>
            </a:extLst>
          </p:cNvPr>
          <p:cNvSpPr txBox="1"/>
          <p:nvPr/>
        </p:nvSpPr>
        <p:spPr>
          <a:xfrm>
            <a:off x="5828802" y="1588206"/>
            <a:ext cx="917696" cy="212363"/>
          </a:xfrm>
          <a:prstGeom prst="rect">
            <a:avLst/>
          </a:prstGeom>
          <a:solidFill>
            <a:schemeClr val="bg1"/>
          </a:solidFill>
        </p:spPr>
        <p:txBody>
          <a:bodyPr wrap="square" lIns="72000" tIns="0" rIns="7200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New</a:t>
            </a:r>
            <a:endParaRPr kumimoji="0" lang="en-US" sz="1200" b="0" i="1"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0240" name="TextBox 25">
            <a:extLst>
              <a:ext uri="{FF2B5EF4-FFF2-40B4-BE49-F238E27FC236}">
                <a16:creationId xmlns:a16="http://schemas.microsoft.com/office/drawing/2014/main" id="{6C7F8F96-0A2D-30BD-6423-911000AAF04E}"/>
              </a:ext>
            </a:extLst>
          </p:cNvPr>
          <p:cNvSpPr txBox="1"/>
          <p:nvPr/>
        </p:nvSpPr>
        <p:spPr>
          <a:xfrm>
            <a:off x="9517393" y="1588206"/>
            <a:ext cx="917696" cy="212363"/>
          </a:xfrm>
          <a:prstGeom prst="rect">
            <a:avLst/>
          </a:prstGeom>
          <a:solidFill>
            <a:schemeClr val="bg1"/>
          </a:solidFill>
        </p:spPr>
        <p:txBody>
          <a:bodyPr wrap="square" lIns="72000" tIns="0" rIns="7200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2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Next</a:t>
            </a:r>
            <a:endParaRPr kumimoji="0" lang="en-US" sz="1200" b="0" i="1"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1" name="Arco 10">
            <a:extLst>
              <a:ext uri="{FF2B5EF4-FFF2-40B4-BE49-F238E27FC236}">
                <a16:creationId xmlns:a16="http://schemas.microsoft.com/office/drawing/2014/main" id="{2224FCBD-2CDA-593D-517B-E89223D9A288}"/>
              </a:ext>
            </a:extLst>
          </p:cNvPr>
          <p:cNvSpPr/>
          <p:nvPr/>
        </p:nvSpPr>
        <p:spPr>
          <a:xfrm>
            <a:off x="8267592" y="2290732"/>
            <a:ext cx="6817257" cy="1242887"/>
          </a:xfrm>
          <a:prstGeom prst="arc">
            <a:avLst>
              <a:gd name="adj1" fmla="val 10785616"/>
              <a:gd name="adj2" fmla="val 16173199"/>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Marcador de pie de página 12">
            <a:extLst>
              <a:ext uri="{FF2B5EF4-FFF2-40B4-BE49-F238E27FC236}">
                <a16:creationId xmlns:a16="http://schemas.microsoft.com/office/drawing/2014/main" id="{446620BC-97AA-0FAF-792D-C18B5AFE6D16}"/>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50754397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367170"/>
            <a:ext cx="12192000" cy="2123658"/>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Seven Degrees of Freedom for Growth</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218858576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9CC8B451-1985-2884-4645-DB1F0BE036DC}"/>
              </a:ext>
            </a:extLst>
          </p:cNvPr>
          <p:cNvGraphicFramePr>
            <a:graphicFrameLocks noChangeAspect="1"/>
          </p:cNvGraphicFramePr>
          <p:nvPr>
            <p:custDataLst>
              <p:tags r:id="rId1"/>
            </p:custDataLst>
            <p:extLst>
              <p:ext uri="{D42A27DB-BD31-4B8C-83A1-F6EECF244321}">
                <p14:modId xmlns:p14="http://schemas.microsoft.com/office/powerpoint/2010/main" val="24048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CD7C9D8C-93CB-36EF-0CB6-A40B3ECE695B}"/>
              </a:ext>
            </a:extLst>
          </p:cNvPr>
          <p:cNvSpPr>
            <a:spLocks noGrp="1"/>
          </p:cNvSpPr>
          <p:nvPr>
            <p:ph type="title"/>
          </p:nvPr>
        </p:nvSpPr>
        <p:spPr/>
        <p:txBody>
          <a:bodyPr vert="horz"/>
          <a:lstStyle/>
          <a:p>
            <a:r>
              <a:rPr lang="en-US" dirty="0"/>
              <a:t>Seven Degrees of Freedom for Growth — Overview</a:t>
            </a:r>
          </a:p>
        </p:txBody>
      </p:sp>
      <p:sp>
        <p:nvSpPr>
          <p:cNvPr id="3" name="Marcador de texto 2">
            <a:extLst>
              <a:ext uri="{FF2B5EF4-FFF2-40B4-BE49-F238E27FC236}">
                <a16:creationId xmlns:a16="http://schemas.microsoft.com/office/drawing/2014/main" id="{1C7A1D06-D05E-BDA2-A2BC-331898842EBC}"/>
              </a:ext>
            </a:extLst>
          </p:cNvPr>
          <p:cNvSpPr>
            <a:spLocks noGrp="1"/>
          </p:cNvSpPr>
          <p:nvPr>
            <p:ph type="body" sz="quarter" idx="18"/>
          </p:nvPr>
        </p:nvSpPr>
        <p:spPr/>
        <p:txBody>
          <a:bodyPr/>
          <a:lstStyle/>
          <a:p>
            <a:r>
              <a:rPr lang="en-US" dirty="0"/>
              <a:t>The Seven Degrees of Freedom for Growth framework was developed by McKinsey &amp; Company, a leading management consulting firm. The framework was first introduced in a 2010 article published in the McKinsey Quarterly titled "The seven degrees of freedom for growth" by Chris Bradley, Martin Hirt, and Sven Smit.</a:t>
            </a:r>
          </a:p>
        </p:txBody>
      </p:sp>
      <p:sp>
        <p:nvSpPr>
          <p:cNvPr id="4" name="Marcador de texto 3">
            <a:extLst>
              <a:ext uri="{FF2B5EF4-FFF2-40B4-BE49-F238E27FC236}">
                <a16:creationId xmlns:a16="http://schemas.microsoft.com/office/drawing/2014/main" id="{1163FB5C-74FD-2EC5-6C62-A523ED68CC8A}"/>
              </a:ext>
            </a:extLst>
          </p:cNvPr>
          <p:cNvSpPr>
            <a:spLocks noGrp="1"/>
          </p:cNvSpPr>
          <p:nvPr>
            <p:ph type="body" sz="quarter" idx="19"/>
          </p:nvPr>
        </p:nvSpPr>
        <p:spPr>
          <a:xfrm>
            <a:off x="2206668" y="1828800"/>
            <a:ext cx="9753103" cy="2303273"/>
          </a:xfrm>
        </p:spPr>
        <p:txBody>
          <a:bodyPr/>
          <a:lstStyle/>
          <a:p>
            <a:pPr marL="0" indent="0">
              <a:buFont typeface="Arial" panose="020B0604020202020204" pitchFamily="34" charset="0"/>
              <a:buNone/>
            </a:pPr>
            <a:r>
              <a:rPr lang="en-US" dirty="0"/>
              <a:t>The framework is based on the idea that there are seven key "degrees of freedom" that companies can leverage to achieve growth:</a:t>
            </a:r>
          </a:p>
          <a:p>
            <a:r>
              <a:rPr lang="en-US" b="1" dirty="0"/>
              <a:t>Customer base expansion: </a:t>
            </a:r>
            <a:r>
              <a:rPr lang="en-US" dirty="0"/>
              <a:t>This involves expanding the company's customer base by reaching new geographies or segments.</a:t>
            </a:r>
          </a:p>
          <a:p>
            <a:r>
              <a:rPr lang="en-US" b="1" dirty="0"/>
              <a:t>Product &amp; service innovation: </a:t>
            </a:r>
            <a:r>
              <a:rPr lang="en-US" dirty="0"/>
              <a:t>This involves developing new or improved products and services that meet customer needs and preferences.</a:t>
            </a:r>
          </a:p>
          <a:p>
            <a:r>
              <a:rPr lang="en-US" b="1" dirty="0"/>
              <a:t>Pricing strategy: </a:t>
            </a:r>
            <a:r>
              <a:rPr lang="en-US" dirty="0"/>
              <a:t>This involves optimizing the pricing of existing products and services to improve profitability and drive growth.</a:t>
            </a:r>
          </a:p>
          <a:p>
            <a:r>
              <a:rPr lang="en-US" b="1" dirty="0"/>
              <a:t>Sales &amp; distribution channels: </a:t>
            </a:r>
            <a:r>
              <a:rPr lang="en-US" dirty="0"/>
              <a:t>This involves identifying and leveraging new sales and distribution channels to reach more customers.</a:t>
            </a:r>
          </a:p>
          <a:p>
            <a:r>
              <a:rPr lang="en-US" b="1" dirty="0"/>
              <a:t>Customer engagement: </a:t>
            </a:r>
            <a:r>
              <a:rPr lang="en-US" dirty="0"/>
              <a:t>This involves improving the customer experience and engagement to drive loyalty and repeat business.</a:t>
            </a:r>
          </a:p>
          <a:p>
            <a:r>
              <a:rPr lang="en-US" b="1" dirty="0"/>
              <a:t>Mergers &amp; acquisitions: </a:t>
            </a:r>
            <a:r>
              <a:rPr lang="en-US" dirty="0"/>
              <a:t>This involves acquiring or merging with other companies to expand capabilities, enter new markets, or achieve other strategic objectives.</a:t>
            </a:r>
          </a:p>
          <a:p>
            <a:r>
              <a:rPr lang="en-US" b="1" dirty="0"/>
              <a:t>Geographic expansion: </a:t>
            </a:r>
            <a:r>
              <a:rPr lang="en-US" dirty="0"/>
              <a:t>This involves expanding the company's presence in new geographies to access new markets and customers.</a:t>
            </a:r>
          </a:p>
        </p:txBody>
      </p:sp>
      <p:sp>
        <p:nvSpPr>
          <p:cNvPr id="5" name="Marcador de texto 4">
            <a:extLst>
              <a:ext uri="{FF2B5EF4-FFF2-40B4-BE49-F238E27FC236}">
                <a16:creationId xmlns:a16="http://schemas.microsoft.com/office/drawing/2014/main" id="{84C57E01-4816-4241-0C3D-0EE92325599B}"/>
              </a:ext>
            </a:extLst>
          </p:cNvPr>
          <p:cNvSpPr>
            <a:spLocks noGrp="1"/>
          </p:cNvSpPr>
          <p:nvPr>
            <p:ph type="body" sz="quarter" idx="20"/>
          </p:nvPr>
        </p:nvSpPr>
        <p:spPr/>
        <p:txBody>
          <a:bodyPr/>
          <a:lstStyle/>
          <a:p>
            <a:r>
              <a:rPr lang="en-US" b="1" dirty="0"/>
              <a:t>Corporate strategy development: </a:t>
            </a:r>
            <a:r>
              <a:rPr lang="en-US" dirty="0"/>
              <a:t>Identify and prioritize the most effective growth strategies for their business. Assess current capabilities and market position and identify the most promising opportunities to drive growth.</a:t>
            </a:r>
          </a:p>
          <a:p>
            <a:r>
              <a:rPr lang="en-US" b="1" dirty="0"/>
              <a:t>New product development: </a:t>
            </a:r>
            <a:r>
              <a:rPr lang="en-US" dirty="0"/>
              <a:t>Identify the most effective ways to innovate and differentiate products. Assess customer needs and preferences to identify the most promising areas for product innovation.</a:t>
            </a:r>
          </a:p>
          <a:p>
            <a:r>
              <a:rPr lang="en-US" b="1" dirty="0"/>
              <a:t>Market entry strategy: </a:t>
            </a:r>
            <a:r>
              <a:rPr lang="en-US" dirty="0"/>
              <a:t>Identify the most effective ways to penetrate the market and achieve growth. Assess the competitive landscape, customer needs and preferences, and identify the most promising sales and distribution channels.</a:t>
            </a:r>
          </a:p>
        </p:txBody>
      </p:sp>
      <p:sp>
        <p:nvSpPr>
          <p:cNvPr id="11" name="Marcador de pie de página 10">
            <a:extLst>
              <a:ext uri="{FF2B5EF4-FFF2-40B4-BE49-F238E27FC236}">
                <a16:creationId xmlns:a16="http://schemas.microsoft.com/office/drawing/2014/main" id="{E5E6BABF-010F-8494-1E78-E03B38A24BAA}"/>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7041710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a:lstStyle/>
          <a:p>
            <a:r>
              <a:rPr lang="en-US" dirty="0"/>
              <a:t>Seven Degrees of Freedom for Growth — Template</a:t>
            </a:r>
          </a:p>
        </p:txBody>
      </p:sp>
      <p:graphicFrame>
        <p:nvGraphicFramePr>
          <p:cNvPr id="2" name="Tabla 3">
            <a:extLst>
              <a:ext uri="{FF2B5EF4-FFF2-40B4-BE49-F238E27FC236}">
                <a16:creationId xmlns:a16="http://schemas.microsoft.com/office/drawing/2014/main" id="{1A15C02A-5B85-B510-490B-2E479F50D98C}"/>
              </a:ext>
            </a:extLst>
          </p:cNvPr>
          <p:cNvGraphicFramePr>
            <a:graphicFrameLocks noGrp="1"/>
          </p:cNvGraphicFramePr>
          <p:nvPr>
            <p:extLst>
              <p:ext uri="{D42A27DB-BD31-4B8C-83A1-F6EECF244321}">
                <p14:modId xmlns:p14="http://schemas.microsoft.com/office/powerpoint/2010/main" val="392736893"/>
              </p:ext>
            </p:extLst>
          </p:nvPr>
        </p:nvGraphicFramePr>
        <p:xfrm>
          <a:off x="384174" y="1520825"/>
          <a:ext cx="11420474" cy="4787902"/>
        </p:xfrm>
        <a:graphic>
          <a:graphicData uri="http://schemas.openxmlformats.org/drawingml/2006/table">
            <a:tbl>
              <a:tblPr firstRow="1" bandRow="1">
                <a:tableStyleId>{5C22544A-7EE6-4342-B048-85BDC9FD1C3A}</a:tableStyleId>
              </a:tblPr>
              <a:tblGrid>
                <a:gridCol w="733426">
                  <a:extLst>
                    <a:ext uri="{9D8B030D-6E8A-4147-A177-3AD203B41FA5}">
                      <a16:colId xmlns:a16="http://schemas.microsoft.com/office/drawing/2014/main" val="3529416909"/>
                    </a:ext>
                  </a:extLst>
                </a:gridCol>
                <a:gridCol w="2247900">
                  <a:extLst>
                    <a:ext uri="{9D8B030D-6E8A-4147-A177-3AD203B41FA5}">
                      <a16:colId xmlns:a16="http://schemas.microsoft.com/office/drawing/2014/main" val="1462606667"/>
                    </a:ext>
                  </a:extLst>
                </a:gridCol>
                <a:gridCol w="8439148">
                  <a:extLst>
                    <a:ext uri="{9D8B030D-6E8A-4147-A177-3AD203B41FA5}">
                      <a16:colId xmlns:a16="http://schemas.microsoft.com/office/drawing/2014/main" val="2188744960"/>
                    </a:ext>
                  </a:extLst>
                </a:gridCol>
              </a:tblGrid>
              <a:tr h="683986">
                <a:tc>
                  <a:txBody>
                    <a:bodyPr/>
                    <a:lstStyle/>
                    <a:p>
                      <a:pPr algn="ctr"/>
                      <a:r>
                        <a:rPr lang="en-US" sz="2400" b="1" dirty="0">
                          <a:solidFill>
                            <a:schemeClr val="bg1"/>
                          </a:solidFill>
                        </a:rPr>
                        <a:t>1</a:t>
                      </a:r>
                    </a:p>
                  </a:txBody>
                  <a:tcPr marL="36000" marR="36000" marT="36000" marB="36000" anchor="ctr">
                    <a:lnB w="12700" cap="flat" cmpd="sng" algn="ctr">
                      <a:solidFill>
                        <a:schemeClr val="bg1">
                          <a:lumMod val="75000"/>
                        </a:schemeClr>
                      </a:solidFill>
                      <a:prstDash val="solid"/>
                      <a:round/>
                      <a:headEnd type="none" w="med" len="med"/>
                      <a:tailEnd type="none" w="med" len="med"/>
                    </a:lnB>
                    <a:solidFill>
                      <a:schemeClr val="tx2"/>
                    </a:solidFill>
                  </a:tcPr>
                </a:tc>
                <a:tc>
                  <a:txBody>
                    <a:bodyPr/>
                    <a:lstStyle/>
                    <a:p>
                      <a:r>
                        <a:rPr lang="en-US" sz="1200" b="1" dirty="0">
                          <a:solidFill>
                            <a:schemeClr val="tx2"/>
                          </a:solidFill>
                        </a:rPr>
                        <a:t>Selling existing products to existing customers </a:t>
                      </a:r>
                    </a:p>
                  </a:txBody>
                  <a:tcPr marL="36000" marR="36000" marT="36000" marB="36000">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b="0" dirty="0">
                          <a:solidFill>
                            <a:schemeClr val="tx1"/>
                          </a:solidFill>
                        </a:rPr>
                        <a:t>Text</a:t>
                      </a:r>
                    </a:p>
                  </a:txBody>
                  <a:tcPr marL="36000" marR="36000" marT="36000" marB="36000">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85143948"/>
                  </a:ext>
                </a:extLst>
              </a:tr>
              <a:tr h="683986">
                <a:tc>
                  <a:txBody>
                    <a:bodyPr/>
                    <a:lstStyle/>
                    <a:p>
                      <a:pPr algn="ctr"/>
                      <a:r>
                        <a:rPr lang="en-US" sz="2400" b="1" dirty="0">
                          <a:solidFill>
                            <a:schemeClr val="bg1"/>
                          </a:solidFill>
                        </a:rPr>
                        <a:t>2</a:t>
                      </a:r>
                    </a:p>
                  </a:txBody>
                  <a:tcPr marL="36000" marR="36000" marT="36000" marB="36000"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a:txBody>
                    <a:bodyPr/>
                    <a:lstStyle/>
                    <a:p>
                      <a:r>
                        <a:rPr lang="en-US" sz="1200" b="1" dirty="0">
                          <a:solidFill>
                            <a:schemeClr val="tx2"/>
                          </a:solidFill>
                        </a:rPr>
                        <a:t>Acquiring new customers in existing markets </a:t>
                      </a:r>
                    </a:p>
                  </a:txBody>
                  <a:tcPr marL="36000" marR="36000" marT="36000" marB="3600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91421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Text</a:t>
                      </a:r>
                    </a:p>
                  </a:txBody>
                  <a:tcPr marL="36000" marR="36000" marT="36000" marB="3600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9939495"/>
                  </a:ext>
                </a:extLst>
              </a:tr>
              <a:tr h="683986">
                <a:tc>
                  <a:txBody>
                    <a:bodyPr/>
                    <a:lstStyle/>
                    <a:p>
                      <a:pPr algn="ctr"/>
                      <a:r>
                        <a:rPr lang="en-US" sz="2400" b="1" dirty="0">
                          <a:solidFill>
                            <a:schemeClr val="bg1"/>
                          </a:solidFill>
                        </a:rPr>
                        <a:t>3</a:t>
                      </a:r>
                    </a:p>
                  </a:txBody>
                  <a:tcPr marL="36000" marR="36000" marT="36000" marB="36000"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a:txBody>
                    <a:bodyPr/>
                    <a:lstStyle/>
                    <a:p>
                      <a:r>
                        <a:rPr lang="en-US" sz="1200" b="1" dirty="0">
                          <a:solidFill>
                            <a:schemeClr val="tx2"/>
                          </a:solidFill>
                        </a:rPr>
                        <a:t>Creating New Products and Services </a:t>
                      </a:r>
                    </a:p>
                  </a:txBody>
                  <a:tcPr marL="36000" marR="36000" marT="36000" marB="3600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91421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Text</a:t>
                      </a:r>
                    </a:p>
                  </a:txBody>
                  <a:tcPr marL="36000" marR="36000" marT="36000" marB="3600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38247882"/>
                  </a:ext>
                </a:extLst>
              </a:tr>
              <a:tr h="683986">
                <a:tc>
                  <a:txBody>
                    <a:bodyPr/>
                    <a:lstStyle/>
                    <a:p>
                      <a:pPr algn="ctr"/>
                      <a:r>
                        <a:rPr lang="en-US" sz="2400" b="1" dirty="0">
                          <a:solidFill>
                            <a:schemeClr val="bg1"/>
                          </a:solidFill>
                        </a:rPr>
                        <a:t>4</a:t>
                      </a:r>
                    </a:p>
                  </a:txBody>
                  <a:tcPr marL="36000" marR="36000" marT="36000" marB="36000"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a:txBody>
                    <a:bodyPr/>
                    <a:lstStyle/>
                    <a:p>
                      <a:r>
                        <a:rPr lang="en-US" sz="1200" b="1" dirty="0">
                          <a:solidFill>
                            <a:schemeClr val="tx2"/>
                          </a:solidFill>
                        </a:rPr>
                        <a:t>Developing New Value-Delivery Approaches </a:t>
                      </a:r>
                    </a:p>
                  </a:txBody>
                  <a:tcPr marL="36000" marR="36000" marT="36000" marB="3600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91421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Text</a:t>
                      </a:r>
                    </a:p>
                  </a:txBody>
                  <a:tcPr marL="36000" marR="36000" marT="36000" marB="3600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65728261"/>
                  </a:ext>
                </a:extLst>
              </a:tr>
              <a:tr h="683986">
                <a:tc>
                  <a:txBody>
                    <a:bodyPr/>
                    <a:lstStyle/>
                    <a:p>
                      <a:pPr algn="ctr"/>
                      <a:r>
                        <a:rPr lang="en-US" sz="2400" b="1" dirty="0">
                          <a:solidFill>
                            <a:schemeClr val="bg1"/>
                          </a:solidFill>
                        </a:rPr>
                        <a:t>5</a:t>
                      </a:r>
                    </a:p>
                  </a:txBody>
                  <a:tcPr marL="36000" marR="36000" marT="36000" marB="36000"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a:txBody>
                    <a:bodyPr/>
                    <a:lstStyle/>
                    <a:p>
                      <a:r>
                        <a:rPr lang="en-US" sz="1200" b="1" dirty="0">
                          <a:solidFill>
                            <a:schemeClr val="tx2"/>
                          </a:solidFill>
                        </a:rPr>
                        <a:t>Moving Into New Geographies </a:t>
                      </a:r>
                    </a:p>
                  </a:txBody>
                  <a:tcPr marL="36000" marR="36000" marT="36000" marB="3600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91421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Text</a:t>
                      </a:r>
                    </a:p>
                  </a:txBody>
                  <a:tcPr marL="36000" marR="36000" marT="36000" marB="3600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4333803"/>
                  </a:ext>
                </a:extLst>
              </a:tr>
              <a:tr h="683986">
                <a:tc>
                  <a:txBody>
                    <a:bodyPr/>
                    <a:lstStyle/>
                    <a:p>
                      <a:pPr algn="ctr"/>
                      <a:r>
                        <a:rPr lang="en-US" sz="2400" b="1" dirty="0">
                          <a:solidFill>
                            <a:schemeClr val="bg1"/>
                          </a:solidFill>
                        </a:rPr>
                        <a:t>6</a:t>
                      </a:r>
                    </a:p>
                  </a:txBody>
                  <a:tcPr marL="36000" marR="36000" marT="36000" marB="36000"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a:txBody>
                    <a:bodyPr/>
                    <a:lstStyle/>
                    <a:p>
                      <a:r>
                        <a:rPr lang="en-US" sz="1200" b="1" dirty="0">
                          <a:solidFill>
                            <a:schemeClr val="tx2"/>
                          </a:solidFill>
                        </a:rPr>
                        <a:t>Creating a New Industry Structure </a:t>
                      </a:r>
                    </a:p>
                  </a:txBody>
                  <a:tcPr marL="36000" marR="36000" marT="36000" marB="3600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91421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a:ea typeface="+mn-ea"/>
                          <a:cs typeface="+mn-cs"/>
                        </a:rPr>
                        <a:t>Text</a:t>
                      </a:r>
                    </a:p>
                  </a:txBody>
                  <a:tcPr marL="36000" marR="36000" marT="36000" marB="36000">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98621642"/>
                  </a:ext>
                </a:extLst>
              </a:tr>
              <a:tr h="683986">
                <a:tc>
                  <a:txBody>
                    <a:bodyPr/>
                    <a:lstStyle/>
                    <a:p>
                      <a:pPr algn="ctr"/>
                      <a:r>
                        <a:rPr lang="en-US" sz="2400" b="1" dirty="0">
                          <a:solidFill>
                            <a:schemeClr val="bg1"/>
                          </a:solidFill>
                        </a:rPr>
                        <a:t>7</a:t>
                      </a:r>
                    </a:p>
                  </a:txBody>
                  <a:tcPr marL="36000" marR="36000" marT="36000" marB="36000" anchor="ctr">
                    <a:lnT w="12700" cap="flat" cmpd="sng" algn="ctr">
                      <a:solidFill>
                        <a:schemeClr val="bg1">
                          <a:lumMod val="75000"/>
                        </a:schemeClr>
                      </a:solidFill>
                      <a:prstDash val="solid"/>
                      <a:round/>
                      <a:headEnd type="none" w="med" len="med"/>
                      <a:tailEnd type="none" w="med" len="med"/>
                    </a:lnT>
                    <a:solidFill>
                      <a:schemeClr val="tx2"/>
                    </a:solidFill>
                  </a:tcPr>
                </a:tc>
                <a:tc>
                  <a:txBody>
                    <a:bodyPr/>
                    <a:lstStyle/>
                    <a:p>
                      <a:r>
                        <a:rPr lang="en-US" sz="1200" b="1" dirty="0">
                          <a:solidFill>
                            <a:schemeClr val="tx2"/>
                          </a:solidFill>
                        </a:rPr>
                        <a:t>Opening up New Competitive Arenas </a:t>
                      </a:r>
                    </a:p>
                  </a:txBody>
                  <a:tcPr marL="36000" marR="36000" marT="36000" marB="36000">
                    <a:lnT w="12700" cap="flat" cmpd="sng" algn="ctr">
                      <a:solidFill>
                        <a:schemeClr val="bg1">
                          <a:lumMod val="75000"/>
                        </a:schemeClr>
                      </a:solidFill>
                      <a:prstDash val="solid"/>
                      <a:round/>
                      <a:headEnd type="none" w="med" len="med"/>
                      <a:tailEnd type="none" w="med" len="med"/>
                    </a:lnT>
                    <a:solidFill>
                      <a:schemeClr val="bg1">
                        <a:lumMod val="95000"/>
                      </a:schemeClr>
                    </a:solidFill>
                  </a:tcPr>
                </a:tc>
                <a:tc>
                  <a:txBody>
                    <a:bodyPr/>
                    <a:lstStyle/>
                    <a:p>
                      <a:pPr marL="171450" marR="0" lvl="0" indent="-171450" algn="l" defTabSz="9142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tx1"/>
                          </a:solidFill>
                        </a:rPr>
                        <a:t>Text</a:t>
                      </a:r>
                    </a:p>
                  </a:txBody>
                  <a:tcPr marL="36000" marR="36000" marT="36000" marB="36000">
                    <a:lnT w="12700"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433270759"/>
                  </a:ext>
                </a:extLst>
              </a:tr>
            </a:tbl>
          </a:graphicData>
        </a:graphic>
      </p:graphicFrame>
      <p:sp>
        <p:nvSpPr>
          <p:cNvPr id="6" name="Marcador de pie de página 5">
            <a:extLst>
              <a:ext uri="{FF2B5EF4-FFF2-40B4-BE49-F238E27FC236}">
                <a16:creationId xmlns:a16="http://schemas.microsoft.com/office/drawing/2014/main" id="{0662CF1B-2AE7-FBCA-563C-C8B626F633DF}"/>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45212466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367170"/>
            <a:ext cx="12192000" cy="2123658"/>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Porter's Generic Strategies</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85880256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EAB22C5A-9D4C-6711-2C57-852B67F84FA5}"/>
              </a:ext>
            </a:extLst>
          </p:cNvPr>
          <p:cNvGraphicFramePr>
            <a:graphicFrameLocks noChangeAspect="1"/>
          </p:cNvGraphicFramePr>
          <p:nvPr>
            <p:custDataLst>
              <p:tags r:id="rId1"/>
            </p:custDataLst>
            <p:extLst>
              <p:ext uri="{D42A27DB-BD31-4B8C-83A1-F6EECF244321}">
                <p14:modId xmlns:p14="http://schemas.microsoft.com/office/powerpoint/2010/main" val="1927445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240DE05A-9AB7-F95F-893E-3956B857AB67}"/>
              </a:ext>
            </a:extLst>
          </p:cNvPr>
          <p:cNvSpPr>
            <a:spLocks noGrp="1"/>
          </p:cNvSpPr>
          <p:nvPr>
            <p:ph type="title"/>
          </p:nvPr>
        </p:nvSpPr>
        <p:spPr/>
        <p:txBody>
          <a:bodyPr vert="horz"/>
          <a:lstStyle/>
          <a:p>
            <a:r>
              <a:rPr lang="en-US" dirty="0"/>
              <a:t>Porter's Generic Strategies — Overview</a:t>
            </a:r>
          </a:p>
        </p:txBody>
      </p:sp>
      <p:sp>
        <p:nvSpPr>
          <p:cNvPr id="3" name="Marcador de texto 2">
            <a:extLst>
              <a:ext uri="{FF2B5EF4-FFF2-40B4-BE49-F238E27FC236}">
                <a16:creationId xmlns:a16="http://schemas.microsoft.com/office/drawing/2014/main" id="{625335F7-C1EB-2659-C40E-669E908BED4B}"/>
              </a:ext>
            </a:extLst>
          </p:cNvPr>
          <p:cNvSpPr>
            <a:spLocks noGrp="1"/>
          </p:cNvSpPr>
          <p:nvPr>
            <p:ph type="body" sz="quarter" idx="18"/>
          </p:nvPr>
        </p:nvSpPr>
        <p:spPr/>
        <p:txBody>
          <a:bodyPr/>
          <a:lstStyle/>
          <a:p>
            <a:r>
              <a:rPr lang="en-US" dirty="0"/>
              <a:t>Porter's Generic Strategies is a framework developed by Harvard Business School professor Michael Porter and first introduced by Michael Porter in his 1980 book </a:t>
            </a:r>
            <a:r>
              <a:rPr lang="en-US" i="1" dirty="0"/>
              <a:t>Competitive Strategy: Techniques for Analyzing Industries and Competitors</a:t>
            </a:r>
            <a:r>
              <a:rPr lang="en-US" dirty="0"/>
              <a:t>.</a:t>
            </a:r>
          </a:p>
        </p:txBody>
      </p:sp>
      <p:sp>
        <p:nvSpPr>
          <p:cNvPr id="4" name="Marcador de texto 3">
            <a:extLst>
              <a:ext uri="{FF2B5EF4-FFF2-40B4-BE49-F238E27FC236}">
                <a16:creationId xmlns:a16="http://schemas.microsoft.com/office/drawing/2014/main" id="{57BAB4C5-BB98-44A9-D956-B85C5A3ED0CC}"/>
              </a:ext>
            </a:extLst>
          </p:cNvPr>
          <p:cNvSpPr>
            <a:spLocks noGrp="1"/>
          </p:cNvSpPr>
          <p:nvPr>
            <p:ph type="body" sz="quarter" idx="19"/>
          </p:nvPr>
        </p:nvSpPr>
        <p:spPr/>
        <p:txBody>
          <a:bodyPr/>
          <a:lstStyle/>
          <a:p>
            <a:pPr marL="0" indent="0">
              <a:buFont typeface="Arial" panose="020B0604020202020204" pitchFamily="34" charset="0"/>
              <a:buNone/>
            </a:pPr>
            <a:r>
              <a:rPr lang="en-US" dirty="0"/>
              <a:t>The framework describes three generic strategies that businesses can use to gain competitive advantage and achieve long-term profitability in their industry. These strategies are:</a:t>
            </a:r>
          </a:p>
          <a:p>
            <a:r>
              <a:rPr lang="en-US" b="1" dirty="0"/>
              <a:t>Cost Leadership: </a:t>
            </a:r>
            <a:r>
              <a:rPr lang="en-US" dirty="0"/>
              <a:t>A focus on reducing costs in order to offer products or services at a lower price than competitors. The goal is to become the low-cost provider in the industry while maintaining an acceptable level of quality. This strategy is particularly effective in price-sensitive markets, where customers are primarily concerned with getting the best deal.</a:t>
            </a:r>
          </a:p>
          <a:p>
            <a:r>
              <a:rPr lang="en-US" b="1" dirty="0"/>
              <a:t>Differentiation: </a:t>
            </a:r>
            <a:r>
              <a:rPr lang="en-US" dirty="0"/>
              <a:t>Differentiate products or services from competitors in ways that are valued by customers. The goal is to create a unique selling proposition that sets the company apart from its competitors and allows it to charge a premium price. This strategy is particularly effective in markets where customers are willing to pay more for products or services that offer unique features, quality, or performance.</a:t>
            </a:r>
          </a:p>
          <a:p>
            <a:r>
              <a:rPr lang="en-US" b="1" dirty="0"/>
              <a:t>Focus: </a:t>
            </a:r>
            <a:r>
              <a:rPr lang="en-US" dirty="0"/>
              <a:t>Target a specific segment of the market and tailor products or services to meet the needs of that segment. The goal is to become the leading provider of products or services to a narrow market segment. This strategy is particularly effective in markets where there are specific customer needs that are not being met by larger competitors.</a:t>
            </a:r>
          </a:p>
        </p:txBody>
      </p:sp>
      <p:sp>
        <p:nvSpPr>
          <p:cNvPr id="5" name="Marcador de texto 4">
            <a:extLst>
              <a:ext uri="{FF2B5EF4-FFF2-40B4-BE49-F238E27FC236}">
                <a16:creationId xmlns:a16="http://schemas.microsoft.com/office/drawing/2014/main" id="{1ED23617-4CEE-5EF7-82ED-03A1DB6950B9}"/>
              </a:ext>
            </a:extLst>
          </p:cNvPr>
          <p:cNvSpPr>
            <a:spLocks noGrp="1"/>
          </p:cNvSpPr>
          <p:nvPr>
            <p:ph type="body" sz="quarter" idx="20"/>
          </p:nvPr>
        </p:nvSpPr>
        <p:spPr/>
        <p:txBody>
          <a:bodyPr/>
          <a:lstStyle/>
          <a:p>
            <a:r>
              <a:rPr lang="en-US" b="1" dirty="0"/>
              <a:t>Market Entry Strategy: </a:t>
            </a:r>
            <a:r>
              <a:rPr lang="en-US" dirty="0"/>
              <a:t>Identify the most effective strategy based on the competitive dynamics of the target market. For example, if the market is highly price-sensitive, the company may need to focus on a cost leadership strategy to gain market share.</a:t>
            </a:r>
          </a:p>
          <a:p>
            <a:r>
              <a:rPr lang="en-US" b="1" dirty="0"/>
              <a:t>Competitive Analysis: </a:t>
            </a:r>
            <a:r>
              <a:rPr lang="en-US" dirty="0"/>
              <a:t>Assess competitive position and identify ways to differentiate from the competitors. Develop a strategy that leverages its unique strengths and capabilities. For example, if the company has a strong brand and reputation for quality, it may need to focus on a differentiation strategy to maintain its market position.</a:t>
            </a:r>
          </a:p>
          <a:p>
            <a:r>
              <a:rPr lang="en-US" b="1" dirty="0"/>
              <a:t>Business Unit Strategy: </a:t>
            </a:r>
            <a:r>
              <a:rPr lang="en-US" dirty="0"/>
              <a:t>Develop a strategy for each unit that aligns with the overall corporate strategy. Identify competitive position in the market and develop a strategy that leverages unique strengths and capabilities. For example, if one business unit operates in a niche market, it may need to focus on a focus strategy to maintain its market position.</a:t>
            </a:r>
          </a:p>
        </p:txBody>
      </p:sp>
      <p:sp>
        <p:nvSpPr>
          <p:cNvPr id="11" name="Marcador de pie de página 10">
            <a:extLst>
              <a:ext uri="{FF2B5EF4-FFF2-40B4-BE49-F238E27FC236}">
                <a16:creationId xmlns:a16="http://schemas.microsoft.com/office/drawing/2014/main" id="{0454681B-331C-ED33-6275-32C1EF8B8F15}"/>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424483190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Objeto 22" hidden="1">
            <a:extLst>
              <a:ext uri="{FF2B5EF4-FFF2-40B4-BE49-F238E27FC236}">
                <a16:creationId xmlns:a16="http://schemas.microsoft.com/office/drawing/2014/main" id="{E28DB5DA-8943-841E-F430-1E269010C7CB}"/>
              </a:ext>
            </a:extLst>
          </p:cNvPr>
          <p:cNvGraphicFramePr>
            <a:graphicFrameLocks noChangeAspect="1"/>
          </p:cNvGraphicFramePr>
          <p:nvPr>
            <p:custDataLst>
              <p:tags r:id="rId1"/>
            </p:custDataLst>
            <p:extLst>
              <p:ext uri="{D42A27DB-BD31-4B8C-83A1-F6EECF244321}">
                <p14:modId xmlns:p14="http://schemas.microsoft.com/office/powerpoint/2010/main" val="34859373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vert="horz"/>
          <a:lstStyle/>
          <a:p>
            <a:r>
              <a:rPr lang="en-US" dirty="0"/>
              <a:t>Porter's Generic Strategies — Template A</a:t>
            </a:r>
          </a:p>
        </p:txBody>
      </p:sp>
      <p:sp>
        <p:nvSpPr>
          <p:cNvPr id="17" name="TextBox 25">
            <a:extLst>
              <a:ext uri="{FF2B5EF4-FFF2-40B4-BE49-F238E27FC236}">
                <a16:creationId xmlns:a16="http://schemas.microsoft.com/office/drawing/2014/main" id="{143328E9-AB65-AE9D-579E-012F02EB73FE}"/>
              </a:ext>
            </a:extLst>
          </p:cNvPr>
          <p:cNvSpPr txBox="1"/>
          <p:nvPr/>
        </p:nvSpPr>
        <p:spPr>
          <a:xfrm rot="16200000">
            <a:off x="68618" y="2928337"/>
            <a:ext cx="2174769" cy="215444"/>
          </a:xfrm>
          <a:prstGeom prst="rect">
            <a:avLst/>
          </a:prstGeom>
          <a:no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Entire</a:t>
            </a:r>
          </a:p>
        </p:txBody>
      </p:sp>
      <p:sp>
        <p:nvSpPr>
          <p:cNvPr id="24" name="TextBox 25">
            <a:extLst>
              <a:ext uri="{FF2B5EF4-FFF2-40B4-BE49-F238E27FC236}">
                <a16:creationId xmlns:a16="http://schemas.microsoft.com/office/drawing/2014/main" id="{B8A1ADE7-1D67-B4C1-B394-E3FAC6A0AA98}"/>
              </a:ext>
            </a:extLst>
          </p:cNvPr>
          <p:cNvSpPr txBox="1"/>
          <p:nvPr/>
        </p:nvSpPr>
        <p:spPr>
          <a:xfrm rot="16200000">
            <a:off x="68618" y="5103107"/>
            <a:ext cx="2174769" cy="215444"/>
          </a:xfrm>
          <a:prstGeom prst="rect">
            <a:avLst/>
          </a:prstGeom>
          <a:no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 segment</a:t>
            </a:r>
          </a:p>
        </p:txBody>
      </p:sp>
      <p:sp>
        <p:nvSpPr>
          <p:cNvPr id="25" name="TextBox 25">
            <a:extLst>
              <a:ext uri="{FF2B5EF4-FFF2-40B4-BE49-F238E27FC236}">
                <a16:creationId xmlns:a16="http://schemas.microsoft.com/office/drawing/2014/main" id="{ADDE7C0A-04F6-E51B-4107-4249AB8EAEAE}"/>
              </a:ext>
            </a:extLst>
          </p:cNvPr>
          <p:cNvSpPr txBox="1"/>
          <p:nvPr/>
        </p:nvSpPr>
        <p:spPr>
          <a:xfrm rot="16200000">
            <a:off x="-1555917" y="3888765"/>
            <a:ext cx="4349541" cy="469359"/>
          </a:xfrm>
          <a:prstGeom prst="rect">
            <a:avLst/>
          </a:prstGeom>
          <a:no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Market scope</a:t>
            </a:r>
          </a:p>
          <a:p>
            <a:pPr marR="0" lvl="0" algn="ctr" defTabSz="914400" rtl="0" eaLnBrk="1" fontAlgn="auto" latinLnBrk="0" hangingPunct="1">
              <a:lnSpc>
                <a:spcPct val="100000"/>
              </a:lnSpc>
              <a:spcBef>
                <a:spcPts val="300"/>
              </a:spcBef>
              <a:spcAft>
                <a:spcPts val="0"/>
              </a:spcAft>
              <a:buClrTx/>
              <a:buSzTx/>
              <a:tabLst/>
              <a:defRPr/>
            </a:pPr>
            <a:r>
              <a:rPr lang="en-US" sz="14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What part of the market is being targeted?</a:t>
            </a:r>
            <a:endParaRPr kumimoji="0" lang="en-US" sz="14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8" name="TextBox 24">
            <a:extLst>
              <a:ext uri="{FF2B5EF4-FFF2-40B4-BE49-F238E27FC236}">
                <a16:creationId xmlns:a16="http://schemas.microsoft.com/office/drawing/2014/main" id="{5455D2EF-456F-E319-B081-363A2BE9D61B}"/>
              </a:ext>
            </a:extLst>
          </p:cNvPr>
          <p:cNvSpPr txBox="1"/>
          <p:nvPr/>
        </p:nvSpPr>
        <p:spPr>
          <a:xfrm>
            <a:off x="1458472" y="1681818"/>
            <a:ext cx="5140528" cy="231070"/>
          </a:xfrm>
          <a:prstGeom prst="rect">
            <a:avLst/>
          </a:prstGeom>
          <a:noFill/>
        </p:spPr>
        <p:txBody>
          <a:bodyPr wrap="square" lIns="0" tIns="36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Costs</a:t>
            </a:r>
          </a:p>
        </p:txBody>
      </p:sp>
      <p:sp>
        <p:nvSpPr>
          <p:cNvPr id="9" name="TextBox 24">
            <a:extLst>
              <a:ext uri="{FF2B5EF4-FFF2-40B4-BE49-F238E27FC236}">
                <a16:creationId xmlns:a16="http://schemas.microsoft.com/office/drawing/2014/main" id="{A5EDA730-3F97-444D-6FEB-8C63267487D6}"/>
              </a:ext>
            </a:extLst>
          </p:cNvPr>
          <p:cNvSpPr txBox="1"/>
          <p:nvPr/>
        </p:nvSpPr>
        <p:spPr>
          <a:xfrm>
            <a:off x="6599002" y="1681818"/>
            <a:ext cx="5221523" cy="236168"/>
          </a:xfrm>
          <a:prstGeom prst="rect">
            <a:avLst/>
          </a:prstGeom>
          <a:noFill/>
        </p:spPr>
        <p:txBody>
          <a:bodyPr wrap="square" lIns="0" tIns="36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Differentiation</a:t>
            </a:r>
          </a:p>
        </p:txBody>
      </p:sp>
      <p:sp>
        <p:nvSpPr>
          <p:cNvPr id="18" name="Rectángulo 17">
            <a:extLst>
              <a:ext uri="{FF2B5EF4-FFF2-40B4-BE49-F238E27FC236}">
                <a16:creationId xmlns:a16="http://schemas.microsoft.com/office/drawing/2014/main" id="{B80E8445-3B41-7AFE-5557-81AD220A77B4}"/>
              </a:ext>
            </a:extLst>
          </p:cNvPr>
          <p:cNvSpPr/>
          <p:nvPr/>
        </p:nvSpPr>
        <p:spPr>
          <a:xfrm>
            <a:off x="1458474" y="1948674"/>
            <a:ext cx="5221523" cy="21747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sz="1400" dirty="0" err="1"/>
          </a:p>
        </p:txBody>
      </p:sp>
      <p:sp>
        <p:nvSpPr>
          <p:cNvPr id="19" name="Rectángulo 18">
            <a:extLst>
              <a:ext uri="{FF2B5EF4-FFF2-40B4-BE49-F238E27FC236}">
                <a16:creationId xmlns:a16="http://schemas.microsoft.com/office/drawing/2014/main" id="{26F13012-4C82-2127-C4BF-AFA78657BF52}"/>
              </a:ext>
            </a:extLst>
          </p:cNvPr>
          <p:cNvSpPr/>
          <p:nvPr/>
        </p:nvSpPr>
        <p:spPr>
          <a:xfrm>
            <a:off x="6599002" y="1948674"/>
            <a:ext cx="5221523" cy="21747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sz="1400" dirty="0" err="1"/>
          </a:p>
        </p:txBody>
      </p:sp>
      <p:sp>
        <p:nvSpPr>
          <p:cNvPr id="20" name="Rectángulo 19">
            <a:extLst>
              <a:ext uri="{FF2B5EF4-FFF2-40B4-BE49-F238E27FC236}">
                <a16:creationId xmlns:a16="http://schemas.microsoft.com/office/drawing/2014/main" id="{90FC9CB3-D974-5363-5F36-860162DFEF94}"/>
              </a:ext>
            </a:extLst>
          </p:cNvPr>
          <p:cNvSpPr/>
          <p:nvPr/>
        </p:nvSpPr>
        <p:spPr>
          <a:xfrm>
            <a:off x="1458474" y="4123444"/>
            <a:ext cx="5221523" cy="21747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sz="1400" dirty="0" err="1"/>
          </a:p>
        </p:txBody>
      </p:sp>
      <p:sp>
        <p:nvSpPr>
          <p:cNvPr id="21" name="Rectángulo 20">
            <a:extLst>
              <a:ext uri="{FF2B5EF4-FFF2-40B4-BE49-F238E27FC236}">
                <a16:creationId xmlns:a16="http://schemas.microsoft.com/office/drawing/2014/main" id="{F08E0B43-E7FF-2D49-497C-B40BBD1B53C6}"/>
              </a:ext>
            </a:extLst>
          </p:cNvPr>
          <p:cNvSpPr/>
          <p:nvPr/>
        </p:nvSpPr>
        <p:spPr>
          <a:xfrm>
            <a:off x="6599002" y="4123444"/>
            <a:ext cx="5221523" cy="21747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sz="1400" dirty="0" err="1"/>
          </a:p>
        </p:txBody>
      </p:sp>
      <p:sp>
        <p:nvSpPr>
          <p:cNvPr id="10" name="TextBox 24">
            <a:extLst>
              <a:ext uri="{FF2B5EF4-FFF2-40B4-BE49-F238E27FC236}">
                <a16:creationId xmlns:a16="http://schemas.microsoft.com/office/drawing/2014/main" id="{1E031E22-FB33-8D14-F0AD-49E2F5E8919F}"/>
              </a:ext>
            </a:extLst>
          </p:cNvPr>
          <p:cNvSpPr txBox="1"/>
          <p:nvPr/>
        </p:nvSpPr>
        <p:spPr>
          <a:xfrm>
            <a:off x="1458472" y="4123444"/>
            <a:ext cx="5140528" cy="257369"/>
          </a:xfrm>
          <a:prstGeom prst="rect">
            <a:avLst/>
          </a:prstGeom>
          <a:noFill/>
        </p:spPr>
        <p:txBody>
          <a:bodyPr wrap="square" lIns="0" tIns="72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Cost focus</a:t>
            </a:r>
          </a:p>
        </p:txBody>
      </p:sp>
      <p:sp>
        <p:nvSpPr>
          <p:cNvPr id="11" name="TextBox 24">
            <a:extLst>
              <a:ext uri="{FF2B5EF4-FFF2-40B4-BE49-F238E27FC236}">
                <a16:creationId xmlns:a16="http://schemas.microsoft.com/office/drawing/2014/main" id="{284EE7F9-9BE2-21B8-2F15-1FAABF021A4A}"/>
              </a:ext>
            </a:extLst>
          </p:cNvPr>
          <p:cNvSpPr txBox="1"/>
          <p:nvPr/>
        </p:nvSpPr>
        <p:spPr>
          <a:xfrm>
            <a:off x="6599002" y="4123444"/>
            <a:ext cx="5221523" cy="257369"/>
          </a:xfrm>
          <a:prstGeom prst="rect">
            <a:avLst/>
          </a:prstGeom>
          <a:noFill/>
        </p:spPr>
        <p:txBody>
          <a:bodyPr wrap="square" lIns="0" tIns="72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Differentiation focus</a:t>
            </a:r>
          </a:p>
        </p:txBody>
      </p:sp>
      <p:sp>
        <p:nvSpPr>
          <p:cNvPr id="29" name="TextBox 24">
            <a:extLst>
              <a:ext uri="{FF2B5EF4-FFF2-40B4-BE49-F238E27FC236}">
                <a16:creationId xmlns:a16="http://schemas.microsoft.com/office/drawing/2014/main" id="{FFBC1FF2-043B-871B-0818-00BA20409198}"/>
              </a:ext>
            </a:extLst>
          </p:cNvPr>
          <p:cNvSpPr txBox="1"/>
          <p:nvPr/>
        </p:nvSpPr>
        <p:spPr>
          <a:xfrm>
            <a:off x="1458472" y="1948674"/>
            <a:ext cx="5140528" cy="257369"/>
          </a:xfrm>
          <a:prstGeom prst="rect">
            <a:avLst/>
          </a:prstGeom>
          <a:noFill/>
        </p:spPr>
        <p:txBody>
          <a:bodyPr wrap="square" lIns="0" tIns="72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Cost leadership</a:t>
            </a:r>
          </a:p>
        </p:txBody>
      </p:sp>
      <p:sp>
        <p:nvSpPr>
          <p:cNvPr id="30" name="TextBox 24">
            <a:extLst>
              <a:ext uri="{FF2B5EF4-FFF2-40B4-BE49-F238E27FC236}">
                <a16:creationId xmlns:a16="http://schemas.microsoft.com/office/drawing/2014/main" id="{1CC683AE-273F-E314-2833-C5FF8E77CAA0}"/>
              </a:ext>
            </a:extLst>
          </p:cNvPr>
          <p:cNvSpPr txBox="1"/>
          <p:nvPr/>
        </p:nvSpPr>
        <p:spPr>
          <a:xfrm>
            <a:off x="6599002" y="1948674"/>
            <a:ext cx="5221523" cy="257369"/>
          </a:xfrm>
          <a:prstGeom prst="rect">
            <a:avLst/>
          </a:prstGeom>
          <a:noFill/>
        </p:spPr>
        <p:txBody>
          <a:bodyPr wrap="square" lIns="0" tIns="72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Differentiation</a:t>
            </a:r>
          </a:p>
        </p:txBody>
      </p:sp>
      <p:sp>
        <p:nvSpPr>
          <p:cNvPr id="31" name="TextBox 24">
            <a:extLst>
              <a:ext uri="{FF2B5EF4-FFF2-40B4-BE49-F238E27FC236}">
                <a16:creationId xmlns:a16="http://schemas.microsoft.com/office/drawing/2014/main" id="{9FCB8386-2450-DE8A-5728-3D13571F0E81}"/>
              </a:ext>
            </a:extLst>
          </p:cNvPr>
          <p:cNvSpPr txBox="1"/>
          <p:nvPr/>
        </p:nvSpPr>
        <p:spPr>
          <a:xfrm>
            <a:off x="1458472" y="2405165"/>
            <a:ext cx="5140528" cy="772257"/>
          </a:xfrm>
          <a:prstGeom prst="rect">
            <a:avLst/>
          </a:prstGeom>
          <a:noFill/>
        </p:spPr>
        <p:txBody>
          <a:bodyPr wrap="square" lIns="36000" tIns="0" rIns="3600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Strategy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Be the most competitive company in cost in the entire market</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4336" name="TextBox 24">
            <a:extLst>
              <a:ext uri="{FF2B5EF4-FFF2-40B4-BE49-F238E27FC236}">
                <a16:creationId xmlns:a16="http://schemas.microsoft.com/office/drawing/2014/main" id="{D2695F5C-921F-6A8D-0566-85CB3DB6CF4A}"/>
              </a:ext>
            </a:extLst>
          </p:cNvPr>
          <p:cNvSpPr txBox="1"/>
          <p:nvPr/>
        </p:nvSpPr>
        <p:spPr>
          <a:xfrm>
            <a:off x="6599002" y="2405165"/>
            <a:ext cx="5221523" cy="965322"/>
          </a:xfrm>
          <a:prstGeom prst="rect">
            <a:avLst/>
          </a:prstGeom>
          <a:noFill/>
        </p:spPr>
        <p:txBody>
          <a:bodyPr wrap="square" lIns="36000" tIns="0" rIns="3600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Differentiation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Be a distinctive company, recognized for its uniqueness, quality or personality</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4337" name="TextBox 24">
            <a:extLst>
              <a:ext uri="{FF2B5EF4-FFF2-40B4-BE49-F238E27FC236}">
                <a16:creationId xmlns:a16="http://schemas.microsoft.com/office/drawing/2014/main" id="{B89CAF5E-AEAD-F933-4056-49D15946DC78}"/>
              </a:ext>
            </a:extLst>
          </p:cNvPr>
          <p:cNvSpPr txBox="1"/>
          <p:nvPr/>
        </p:nvSpPr>
        <p:spPr>
          <a:xfrm>
            <a:off x="1458472" y="4586152"/>
            <a:ext cx="5140528" cy="772257"/>
          </a:xfrm>
          <a:prstGeom prst="rect">
            <a:avLst/>
          </a:prstGeom>
          <a:noFill/>
        </p:spPr>
        <p:txBody>
          <a:bodyPr wrap="square" lIns="36000" tIns="0" rIns="3600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Strategy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Be very competitive in cost in a particular product or niche</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4339" name="TextBox 24">
            <a:extLst>
              <a:ext uri="{FF2B5EF4-FFF2-40B4-BE49-F238E27FC236}">
                <a16:creationId xmlns:a16="http://schemas.microsoft.com/office/drawing/2014/main" id="{87B3B2FF-703D-CE0D-FB34-C23A954339AE}"/>
              </a:ext>
            </a:extLst>
          </p:cNvPr>
          <p:cNvSpPr txBox="1"/>
          <p:nvPr/>
        </p:nvSpPr>
        <p:spPr>
          <a:xfrm>
            <a:off x="6599002" y="4586152"/>
            <a:ext cx="5221523" cy="579193"/>
          </a:xfrm>
          <a:prstGeom prst="rect">
            <a:avLst/>
          </a:prstGeom>
          <a:noFill/>
        </p:spPr>
        <p:txBody>
          <a:bodyPr wrap="square" lIns="36000" tIns="0" rIns="3600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Differentiation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Verdana"/>
                <a:ea typeface="Verdana" panose="020B0604030504040204" pitchFamily="34" charset="0"/>
                <a:cs typeface="Verdana" panose="020B0604030504040204" pitchFamily="34" charset="0"/>
                <a:sym typeface="Verdana" panose="020B0604030504040204" pitchFamily="34" charset="0"/>
              </a:rPr>
              <a:t>Have a differentiated product or market niche</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5" name="Conector recto 4">
            <a:extLst>
              <a:ext uri="{FF2B5EF4-FFF2-40B4-BE49-F238E27FC236}">
                <a16:creationId xmlns:a16="http://schemas.microsoft.com/office/drawing/2014/main" id="{CBC6D21C-BA4D-CBFE-99A8-2C7E0F0CF62A}"/>
              </a:ext>
            </a:extLst>
          </p:cNvPr>
          <p:cNvCxnSpPr>
            <a:cxnSpLocks/>
          </p:cNvCxnSpPr>
          <p:nvPr/>
        </p:nvCxnSpPr>
        <p:spPr>
          <a:xfrm flipH="1">
            <a:off x="1458472" y="4123444"/>
            <a:ext cx="1036205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40" name="Conector recto 14339">
            <a:extLst>
              <a:ext uri="{FF2B5EF4-FFF2-40B4-BE49-F238E27FC236}">
                <a16:creationId xmlns:a16="http://schemas.microsoft.com/office/drawing/2014/main" id="{1810ED6A-E48C-E16A-2A79-7B7EDB1C381B}"/>
              </a:ext>
            </a:extLst>
          </p:cNvPr>
          <p:cNvCxnSpPr>
            <a:cxnSpLocks/>
          </p:cNvCxnSpPr>
          <p:nvPr/>
        </p:nvCxnSpPr>
        <p:spPr>
          <a:xfrm rot="5400000" flipH="1">
            <a:off x="4441099" y="4140311"/>
            <a:ext cx="4315806"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341" name="TextBox 25">
            <a:extLst>
              <a:ext uri="{FF2B5EF4-FFF2-40B4-BE49-F238E27FC236}">
                <a16:creationId xmlns:a16="http://schemas.microsoft.com/office/drawing/2014/main" id="{B69981F6-F0B6-7145-AB12-B4FD3B53E655}"/>
              </a:ext>
            </a:extLst>
          </p:cNvPr>
          <p:cNvSpPr txBox="1"/>
          <p:nvPr/>
        </p:nvSpPr>
        <p:spPr>
          <a:xfrm>
            <a:off x="1458474" y="1152525"/>
            <a:ext cx="10362051" cy="469359"/>
          </a:xfrm>
          <a:prstGeom prst="rect">
            <a:avLst/>
          </a:prstGeom>
          <a:noFill/>
        </p:spPr>
        <p:txBody>
          <a:bodyPr wrap="square" lIns="0" tIns="0" rIns="0" bIns="0" rtlCol="0" anchor="t">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Competitive advantage</a:t>
            </a:r>
          </a:p>
          <a:p>
            <a:pPr marR="0" lvl="0" algn="ctr" defTabSz="914400" rtl="0" eaLnBrk="1" fontAlgn="auto" latinLnBrk="0" hangingPunct="1">
              <a:lnSpc>
                <a:spcPct val="100000"/>
              </a:lnSpc>
              <a:spcBef>
                <a:spcPts val="300"/>
              </a:spcBef>
              <a:spcAft>
                <a:spcPts val="0"/>
              </a:spcAft>
              <a:buClrTx/>
              <a:buSzTx/>
              <a:tabLst/>
              <a:defRPr/>
            </a:pPr>
            <a:r>
              <a:rPr lang="en-US" sz="1400" dirty="0">
                <a:solidFill>
                  <a:srgbClr val="000000"/>
                </a:solidFill>
                <a:latin typeface="Verdana"/>
                <a:ea typeface="Verdana" panose="020B0604030504040204" pitchFamily="34" charset="0"/>
                <a:cs typeface="Verdana" panose="020B0604030504040204" pitchFamily="34" charset="0"/>
                <a:sym typeface="Verdana" panose="020B0604030504040204" pitchFamily="34" charset="0"/>
              </a:rPr>
              <a:t>What makes the company “strong”</a:t>
            </a:r>
            <a:endParaRPr kumimoji="0" lang="en-US" sz="14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5" name="Marcador de pie de página 14">
            <a:extLst>
              <a:ext uri="{FF2B5EF4-FFF2-40B4-BE49-F238E27FC236}">
                <a16:creationId xmlns:a16="http://schemas.microsoft.com/office/drawing/2014/main" id="{8CDCADED-6890-D4C1-C2C3-B01076D8FA99}"/>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79152864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Objeto 22" hidden="1">
            <a:extLst>
              <a:ext uri="{FF2B5EF4-FFF2-40B4-BE49-F238E27FC236}">
                <a16:creationId xmlns:a16="http://schemas.microsoft.com/office/drawing/2014/main" id="{E28DB5DA-8943-841E-F430-1E269010C7CB}"/>
              </a:ext>
            </a:extLst>
          </p:cNvPr>
          <p:cNvGraphicFramePr>
            <a:graphicFrameLocks noChangeAspect="1"/>
          </p:cNvGraphicFramePr>
          <p:nvPr>
            <p:custDataLst>
              <p:tags r:id="rId1"/>
            </p:custDataLst>
            <p:extLst>
              <p:ext uri="{D42A27DB-BD31-4B8C-83A1-F6EECF244321}">
                <p14:modId xmlns:p14="http://schemas.microsoft.com/office/powerpoint/2010/main" val="8853956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23" name="Objeto 22" hidden="1">
                        <a:extLst>
                          <a:ext uri="{FF2B5EF4-FFF2-40B4-BE49-F238E27FC236}">
                            <a16:creationId xmlns:a16="http://schemas.microsoft.com/office/drawing/2014/main" id="{E28DB5DA-8943-841E-F430-1E269010C7C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vert="horz"/>
          <a:lstStyle/>
          <a:p>
            <a:r>
              <a:rPr lang="en-US" dirty="0"/>
              <a:t>Porter's Generic Strategies — Template B</a:t>
            </a:r>
          </a:p>
        </p:txBody>
      </p:sp>
      <p:sp>
        <p:nvSpPr>
          <p:cNvPr id="17" name="TextBox 25">
            <a:extLst>
              <a:ext uri="{FF2B5EF4-FFF2-40B4-BE49-F238E27FC236}">
                <a16:creationId xmlns:a16="http://schemas.microsoft.com/office/drawing/2014/main" id="{143328E9-AB65-AE9D-579E-012F02EB73FE}"/>
              </a:ext>
            </a:extLst>
          </p:cNvPr>
          <p:cNvSpPr txBox="1"/>
          <p:nvPr/>
        </p:nvSpPr>
        <p:spPr>
          <a:xfrm rot="16200000">
            <a:off x="68618" y="2928337"/>
            <a:ext cx="2174769" cy="215444"/>
          </a:xfrm>
          <a:prstGeom prst="rect">
            <a:avLst/>
          </a:prstGeom>
          <a:no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24" name="TextBox 25">
            <a:extLst>
              <a:ext uri="{FF2B5EF4-FFF2-40B4-BE49-F238E27FC236}">
                <a16:creationId xmlns:a16="http://schemas.microsoft.com/office/drawing/2014/main" id="{B8A1ADE7-1D67-B4C1-B394-E3FAC6A0AA98}"/>
              </a:ext>
            </a:extLst>
          </p:cNvPr>
          <p:cNvSpPr txBox="1"/>
          <p:nvPr/>
        </p:nvSpPr>
        <p:spPr>
          <a:xfrm rot="16200000">
            <a:off x="68618" y="5103107"/>
            <a:ext cx="2174769" cy="215444"/>
          </a:xfrm>
          <a:prstGeom prst="rect">
            <a:avLst/>
          </a:prstGeom>
          <a:no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25" name="TextBox 25">
            <a:extLst>
              <a:ext uri="{FF2B5EF4-FFF2-40B4-BE49-F238E27FC236}">
                <a16:creationId xmlns:a16="http://schemas.microsoft.com/office/drawing/2014/main" id="{ADDE7C0A-04F6-E51B-4107-4249AB8EAEAE}"/>
              </a:ext>
            </a:extLst>
          </p:cNvPr>
          <p:cNvSpPr txBox="1"/>
          <p:nvPr/>
        </p:nvSpPr>
        <p:spPr>
          <a:xfrm rot="16200000">
            <a:off x="-1555917" y="4015722"/>
            <a:ext cx="4349541" cy="215444"/>
          </a:xfrm>
          <a:prstGeom prst="rect">
            <a:avLst/>
          </a:prstGeom>
          <a:noFill/>
        </p:spPr>
        <p:txBody>
          <a:bodyPr wrap="square" lIns="0" tIns="0" rIns="0" bIns="0" rtlCol="0" anchor="ctr">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4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8" name="TextBox 24">
            <a:extLst>
              <a:ext uri="{FF2B5EF4-FFF2-40B4-BE49-F238E27FC236}">
                <a16:creationId xmlns:a16="http://schemas.microsoft.com/office/drawing/2014/main" id="{5455D2EF-456F-E319-B081-363A2BE9D61B}"/>
              </a:ext>
            </a:extLst>
          </p:cNvPr>
          <p:cNvSpPr txBox="1"/>
          <p:nvPr/>
        </p:nvSpPr>
        <p:spPr>
          <a:xfrm>
            <a:off x="1458472" y="1681818"/>
            <a:ext cx="5140528" cy="221018"/>
          </a:xfrm>
          <a:prstGeom prst="rect">
            <a:avLst/>
          </a:prstGeom>
          <a:noFill/>
        </p:spPr>
        <p:txBody>
          <a:bodyPr wrap="square" lIns="0" tIns="36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9" name="TextBox 24">
            <a:extLst>
              <a:ext uri="{FF2B5EF4-FFF2-40B4-BE49-F238E27FC236}">
                <a16:creationId xmlns:a16="http://schemas.microsoft.com/office/drawing/2014/main" id="{A5EDA730-3F97-444D-6FEB-8C63267487D6}"/>
              </a:ext>
            </a:extLst>
          </p:cNvPr>
          <p:cNvSpPr txBox="1"/>
          <p:nvPr/>
        </p:nvSpPr>
        <p:spPr>
          <a:xfrm>
            <a:off x="6599002" y="1681818"/>
            <a:ext cx="5221523" cy="221018"/>
          </a:xfrm>
          <a:prstGeom prst="rect">
            <a:avLst/>
          </a:prstGeom>
          <a:noFill/>
        </p:spPr>
        <p:txBody>
          <a:bodyPr wrap="square" lIns="0" tIns="36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207B"/>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18" name="Rectángulo 17">
            <a:extLst>
              <a:ext uri="{FF2B5EF4-FFF2-40B4-BE49-F238E27FC236}">
                <a16:creationId xmlns:a16="http://schemas.microsoft.com/office/drawing/2014/main" id="{B80E8445-3B41-7AFE-5557-81AD220A77B4}"/>
              </a:ext>
            </a:extLst>
          </p:cNvPr>
          <p:cNvSpPr/>
          <p:nvPr/>
        </p:nvSpPr>
        <p:spPr>
          <a:xfrm>
            <a:off x="1458474" y="1948674"/>
            <a:ext cx="5221523" cy="21747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sz="1400" dirty="0" err="1"/>
          </a:p>
        </p:txBody>
      </p:sp>
      <p:sp>
        <p:nvSpPr>
          <p:cNvPr id="19" name="Rectángulo 18">
            <a:extLst>
              <a:ext uri="{FF2B5EF4-FFF2-40B4-BE49-F238E27FC236}">
                <a16:creationId xmlns:a16="http://schemas.microsoft.com/office/drawing/2014/main" id="{26F13012-4C82-2127-C4BF-AFA78657BF52}"/>
              </a:ext>
            </a:extLst>
          </p:cNvPr>
          <p:cNvSpPr/>
          <p:nvPr/>
        </p:nvSpPr>
        <p:spPr>
          <a:xfrm>
            <a:off x="6599002" y="1948674"/>
            <a:ext cx="5221523" cy="21747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sz="1400" dirty="0" err="1"/>
          </a:p>
        </p:txBody>
      </p:sp>
      <p:sp>
        <p:nvSpPr>
          <p:cNvPr id="20" name="Rectángulo 19">
            <a:extLst>
              <a:ext uri="{FF2B5EF4-FFF2-40B4-BE49-F238E27FC236}">
                <a16:creationId xmlns:a16="http://schemas.microsoft.com/office/drawing/2014/main" id="{90FC9CB3-D974-5363-5F36-860162DFEF94}"/>
              </a:ext>
            </a:extLst>
          </p:cNvPr>
          <p:cNvSpPr/>
          <p:nvPr/>
        </p:nvSpPr>
        <p:spPr>
          <a:xfrm>
            <a:off x="1458474" y="4123444"/>
            <a:ext cx="5221523" cy="21747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sz="1400" dirty="0" err="1"/>
          </a:p>
        </p:txBody>
      </p:sp>
      <p:sp>
        <p:nvSpPr>
          <p:cNvPr id="21" name="Rectángulo 20">
            <a:extLst>
              <a:ext uri="{FF2B5EF4-FFF2-40B4-BE49-F238E27FC236}">
                <a16:creationId xmlns:a16="http://schemas.microsoft.com/office/drawing/2014/main" id="{F08E0B43-E7FF-2D49-497C-B40BBD1B53C6}"/>
              </a:ext>
            </a:extLst>
          </p:cNvPr>
          <p:cNvSpPr/>
          <p:nvPr/>
        </p:nvSpPr>
        <p:spPr>
          <a:xfrm>
            <a:off x="6599002" y="4123444"/>
            <a:ext cx="5221523" cy="21747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sz="1400" dirty="0" err="1"/>
          </a:p>
        </p:txBody>
      </p:sp>
      <p:sp>
        <p:nvSpPr>
          <p:cNvPr id="10" name="TextBox 24">
            <a:extLst>
              <a:ext uri="{FF2B5EF4-FFF2-40B4-BE49-F238E27FC236}">
                <a16:creationId xmlns:a16="http://schemas.microsoft.com/office/drawing/2014/main" id="{1E031E22-FB33-8D14-F0AD-49E2F5E8919F}"/>
              </a:ext>
            </a:extLst>
          </p:cNvPr>
          <p:cNvSpPr txBox="1"/>
          <p:nvPr/>
        </p:nvSpPr>
        <p:spPr>
          <a:xfrm>
            <a:off x="1458472" y="4123444"/>
            <a:ext cx="5140528" cy="257369"/>
          </a:xfrm>
          <a:prstGeom prst="rect">
            <a:avLst/>
          </a:prstGeom>
          <a:noFill/>
        </p:spPr>
        <p:txBody>
          <a:bodyPr wrap="square" lIns="0" tIns="72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11" name="TextBox 24">
            <a:extLst>
              <a:ext uri="{FF2B5EF4-FFF2-40B4-BE49-F238E27FC236}">
                <a16:creationId xmlns:a16="http://schemas.microsoft.com/office/drawing/2014/main" id="{284EE7F9-9BE2-21B8-2F15-1FAABF021A4A}"/>
              </a:ext>
            </a:extLst>
          </p:cNvPr>
          <p:cNvSpPr txBox="1"/>
          <p:nvPr/>
        </p:nvSpPr>
        <p:spPr>
          <a:xfrm>
            <a:off x="6599002" y="4123444"/>
            <a:ext cx="5221523" cy="257369"/>
          </a:xfrm>
          <a:prstGeom prst="rect">
            <a:avLst/>
          </a:prstGeom>
          <a:noFill/>
        </p:spPr>
        <p:txBody>
          <a:bodyPr wrap="square" lIns="0" tIns="72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29" name="TextBox 24">
            <a:extLst>
              <a:ext uri="{FF2B5EF4-FFF2-40B4-BE49-F238E27FC236}">
                <a16:creationId xmlns:a16="http://schemas.microsoft.com/office/drawing/2014/main" id="{FFBC1FF2-043B-871B-0818-00BA20409198}"/>
              </a:ext>
            </a:extLst>
          </p:cNvPr>
          <p:cNvSpPr txBox="1"/>
          <p:nvPr/>
        </p:nvSpPr>
        <p:spPr>
          <a:xfrm>
            <a:off x="1458472" y="1948674"/>
            <a:ext cx="5140528" cy="257369"/>
          </a:xfrm>
          <a:prstGeom prst="rect">
            <a:avLst/>
          </a:prstGeom>
          <a:noFill/>
        </p:spPr>
        <p:txBody>
          <a:bodyPr wrap="square" lIns="0" tIns="72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30" name="TextBox 24">
            <a:extLst>
              <a:ext uri="{FF2B5EF4-FFF2-40B4-BE49-F238E27FC236}">
                <a16:creationId xmlns:a16="http://schemas.microsoft.com/office/drawing/2014/main" id="{1CC683AE-273F-E314-2833-C5FF8E77CAA0}"/>
              </a:ext>
            </a:extLst>
          </p:cNvPr>
          <p:cNvSpPr txBox="1"/>
          <p:nvPr/>
        </p:nvSpPr>
        <p:spPr>
          <a:xfrm>
            <a:off x="6599002" y="1948674"/>
            <a:ext cx="5221523" cy="257369"/>
          </a:xfrm>
          <a:prstGeom prst="rect">
            <a:avLst/>
          </a:prstGeom>
          <a:noFill/>
        </p:spPr>
        <p:txBody>
          <a:bodyPr wrap="square" lIns="0" tIns="7200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2"/>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p>
        </p:txBody>
      </p:sp>
      <p:sp>
        <p:nvSpPr>
          <p:cNvPr id="31" name="TextBox 24">
            <a:extLst>
              <a:ext uri="{FF2B5EF4-FFF2-40B4-BE49-F238E27FC236}">
                <a16:creationId xmlns:a16="http://schemas.microsoft.com/office/drawing/2014/main" id="{9FCB8386-2450-DE8A-5728-3D13571F0E81}"/>
              </a:ext>
            </a:extLst>
          </p:cNvPr>
          <p:cNvSpPr txBox="1"/>
          <p:nvPr/>
        </p:nvSpPr>
        <p:spPr>
          <a:xfrm>
            <a:off x="1458472" y="2405165"/>
            <a:ext cx="5140528" cy="184666"/>
          </a:xfrm>
          <a:prstGeom prst="rect">
            <a:avLst/>
          </a:prstGeom>
          <a:noFill/>
        </p:spPr>
        <p:txBody>
          <a:bodyPr wrap="square" lIns="36000" tIns="0" rIns="3600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4336" name="TextBox 24">
            <a:extLst>
              <a:ext uri="{FF2B5EF4-FFF2-40B4-BE49-F238E27FC236}">
                <a16:creationId xmlns:a16="http://schemas.microsoft.com/office/drawing/2014/main" id="{D2695F5C-921F-6A8D-0566-85CB3DB6CF4A}"/>
              </a:ext>
            </a:extLst>
          </p:cNvPr>
          <p:cNvSpPr txBox="1"/>
          <p:nvPr/>
        </p:nvSpPr>
        <p:spPr>
          <a:xfrm>
            <a:off x="6599002" y="2405165"/>
            <a:ext cx="5221523" cy="184666"/>
          </a:xfrm>
          <a:prstGeom prst="rect">
            <a:avLst/>
          </a:prstGeom>
          <a:noFill/>
        </p:spPr>
        <p:txBody>
          <a:bodyPr wrap="square" lIns="36000" tIns="0" rIns="3600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4337" name="TextBox 24">
            <a:extLst>
              <a:ext uri="{FF2B5EF4-FFF2-40B4-BE49-F238E27FC236}">
                <a16:creationId xmlns:a16="http://schemas.microsoft.com/office/drawing/2014/main" id="{B89CAF5E-AEAD-F933-4056-49D15946DC78}"/>
              </a:ext>
            </a:extLst>
          </p:cNvPr>
          <p:cNvSpPr txBox="1"/>
          <p:nvPr/>
        </p:nvSpPr>
        <p:spPr>
          <a:xfrm>
            <a:off x="1458472" y="4586152"/>
            <a:ext cx="5140528" cy="184666"/>
          </a:xfrm>
          <a:prstGeom prst="rect">
            <a:avLst/>
          </a:prstGeom>
          <a:noFill/>
        </p:spPr>
        <p:txBody>
          <a:bodyPr wrap="square" lIns="36000" tIns="0" rIns="3600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14339" name="TextBox 24">
            <a:extLst>
              <a:ext uri="{FF2B5EF4-FFF2-40B4-BE49-F238E27FC236}">
                <a16:creationId xmlns:a16="http://schemas.microsoft.com/office/drawing/2014/main" id="{87B3B2FF-703D-CE0D-FB34-C23A954339AE}"/>
              </a:ext>
            </a:extLst>
          </p:cNvPr>
          <p:cNvSpPr txBox="1"/>
          <p:nvPr/>
        </p:nvSpPr>
        <p:spPr>
          <a:xfrm>
            <a:off x="6599002" y="4586152"/>
            <a:ext cx="5221523" cy="184666"/>
          </a:xfrm>
          <a:prstGeom prst="rect">
            <a:avLst/>
          </a:prstGeom>
          <a:noFill/>
        </p:spPr>
        <p:txBody>
          <a:bodyPr wrap="square" lIns="36000" tIns="0" rIns="3600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200" i="0" u="none" strike="noStrike" kern="1200" cap="none" spc="0" normalizeH="0" baseline="0" noProof="0" dirty="0">
              <a:ln>
                <a:noFill/>
              </a:ln>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cxnSp>
        <p:nvCxnSpPr>
          <p:cNvPr id="5" name="Conector recto 4">
            <a:extLst>
              <a:ext uri="{FF2B5EF4-FFF2-40B4-BE49-F238E27FC236}">
                <a16:creationId xmlns:a16="http://schemas.microsoft.com/office/drawing/2014/main" id="{CBC6D21C-BA4D-CBFE-99A8-2C7E0F0CF62A}"/>
              </a:ext>
            </a:extLst>
          </p:cNvPr>
          <p:cNvCxnSpPr>
            <a:cxnSpLocks/>
          </p:cNvCxnSpPr>
          <p:nvPr/>
        </p:nvCxnSpPr>
        <p:spPr>
          <a:xfrm flipH="1">
            <a:off x="1458472" y="4123444"/>
            <a:ext cx="10362053"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40" name="Conector recto 14339">
            <a:extLst>
              <a:ext uri="{FF2B5EF4-FFF2-40B4-BE49-F238E27FC236}">
                <a16:creationId xmlns:a16="http://schemas.microsoft.com/office/drawing/2014/main" id="{1810ED6A-E48C-E16A-2A79-7B7EDB1C381B}"/>
              </a:ext>
            </a:extLst>
          </p:cNvPr>
          <p:cNvCxnSpPr>
            <a:cxnSpLocks/>
          </p:cNvCxnSpPr>
          <p:nvPr/>
        </p:nvCxnSpPr>
        <p:spPr>
          <a:xfrm rot="5400000" flipH="1">
            <a:off x="4441099" y="4140311"/>
            <a:ext cx="4315806"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341" name="TextBox 25">
            <a:extLst>
              <a:ext uri="{FF2B5EF4-FFF2-40B4-BE49-F238E27FC236}">
                <a16:creationId xmlns:a16="http://schemas.microsoft.com/office/drawing/2014/main" id="{B69981F6-F0B6-7145-AB12-B4FD3B53E655}"/>
              </a:ext>
            </a:extLst>
          </p:cNvPr>
          <p:cNvSpPr txBox="1"/>
          <p:nvPr/>
        </p:nvSpPr>
        <p:spPr>
          <a:xfrm>
            <a:off x="1458474" y="1152525"/>
            <a:ext cx="10362051" cy="215444"/>
          </a:xfrm>
          <a:prstGeom prst="rect">
            <a:avLst/>
          </a:prstGeom>
          <a:noFill/>
        </p:spPr>
        <p:txBody>
          <a:bodyPr wrap="square" lIns="0" tIns="0" rIns="0" bIns="0" rtlCol="0" anchor="t">
            <a:spAutoFit/>
          </a:bodyPr>
          <a:lstStyle/>
          <a:p>
            <a:pPr marR="0" lvl="0" algn="ctr" defTabSz="914400" rtl="0" eaLnBrk="1" fontAlgn="auto" latinLnBrk="0" hangingPunct="1">
              <a:lnSpc>
                <a:spcPct val="100000"/>
              </a:lnSpc>
              <a:spcBef>
                <a:spcPts val="300"/>
              </a:spcBef>
              <a:spcAft>
                <a:spcPts val="0"/>
              </a:spcAft>
              <a:buClrTx/>
              <a:buSzTx/>
              <a:tabLst/>
              <a:defRPr/>
            </a:pPr>
            <a:r>
              <a:rPr kumimoji="0" lang="en-US" sz="1400" b="1"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XXX</a:t>
            </a:r>
            <a:endParaRPr kumimoji="0" lang="en-US" sz="140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endParaRPr>
          </a:p>
        </p:txBody>
      </p:sp>
      <p:sp>
        <p:nvSpPr>
          <p:cNvPr id="7" name="Marcador de pie de página 6">
            <a:extLst>
              <a:ext uri="{FF2B5EF4-FFF2-40B4-BE49-F238E27FC236}">
                <a16:creationId xmlns:a16="http://schemas.microsoft.com/office/drawing/2014/main" id="{A2A968A3-6428-43E1-107C-80F0F8642DE3}"/>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9327121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to 29" hidden="1">
            <a:extLst>
              <a:ext uri="{FF2B5EF4-FFF2-40B4-BE49-F238E27FC236}">
                <a16:creationId xmlns:a16="http://schemas.microsoft.com/office/drawing/2014/main" id="{39E36B68-A248-FA7F-BFF8-7BAA431CBB6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30" name="Objeto 29" hidden="1">
                        <a:extLst>
                          <a:ext uri="{FF2B5EF4-FFF2-40B4-BE49-F238E27FC236}">
                            <a16:creationId xmlns:a16="http://schemas.microsoft.com/office/drawing/2014/main" id="{39E36B68-A248-FA7F-BFF8-7BAA431CBB6D}"/>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2" name="TextBox 50">
            <a:extLst>
              <a:ext uri="{FF2B5EF4-FFF2-40B4-BE49-F238E27FC236}">
                <a16:creationId xmlns:a16="http://schemas.microsoft.com/office/drawing/2014/main" id="{4F073E1E-A369-0BAA-CC5E-4105BBFFB8EE}"/>
              </a:ext>
            </a:extLst>
          </p:cNvPr>
          <p:cNvSpPr txBox="1"/>
          <p:nvPr/>
        </p:nvSpPr>
        <p:spPr>
          <a:xfrm>
            <a:off x="0" y="2875001"/>
            <a:ext cx="12192000" cy="1107996"/>
          </a:xfrm>
          <a:prstGeom prst="rect">
            <a:avLst/>
          </a:prstGeom>
          <a:noFill/>
        </p:spPr>
        <p:txBody>
          <a:bodyPr wrap="square" rtlCol="0" anchor="ctr">
            <a:spAutoFit/>
          </a:bodyPr>
          <a:lstStyle/>
          <a:p>
            <a:pPr algn="ctr"/>
            <a:r>
              <a:rPr lang="en-US" sz="6600" b="1" dirty="0">
                <a:solidFill>
                  <a:schemeClr val="bg1"/>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Galbraith Star Model</a:t>
            </a:r>
          </a:p>
        </p:txBody>
      </p:sp>
      <p:pic>
        <p:nvPicPr>
          <p:cNvPr id="11" name="Picture 10" descr="Text, icon&#10;&#10;Description automatically generated with medium confidence">
            <a:extLst>
              <a:ext uri="{FF2B5EF4-FFF2-40B4-BE49-F238E27FC236}">
                <a16:creationId xmlns:a16="http://schemas.microsoft.com/office/drawing/2014/main" id="{68FD4B86-5C4E-9207-2FE8-BEE8D5A55236}"/>
              </a:ext>
            </a:extLst>
          </p:cNvPr>
          <p:cNvPicPr>
            <a:picLocks noChangeAspect="1"/>
          </p:cNvPicPr>
          <p:nvPr/>
        </p:nvPicPr>
        <p:blipFill>
          <a:blip r:embed="rId6"/>
          <a:stretch>
            <a:fillRect/>
          </a:stretch>
        </p:blipFill>
        <p:spPr>
          <a:xfrm>
            <a:off x="334241" y="576696"/>
            <a:ext cx="1620555" cy="1620555"/>
          </a:xfrm>
          <a:prstGeom prst="rect">
            <a:avLst/>
          </a:prstGeom>
        </p:spPr>
      </p:pic>
    </p:spTree>
    <p:extLst>
      <p:ext uri="{BB962C8B-B14F-4D97-AF65-F5344CB8AC3E}">
        <p14:creationId xmlns:p14="http://schemas.microsoft.com/office/powerpoint/2010/main" val="395523247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9D5F98BD-A47D-A375-7622-065C67056EC9}"/>
              </a:ext>
            </a:extLst>
          </p:cNvPr>
          <p:cNvGraphicFramePr>
            <a:graphicFrameLocks noChangeAspect="1"/>
          </p:cNvGraphicFramePr>
          <p:nvPr>
            <p:custDataLst>
              <p:tags r:id="rId1"/>
            </p:custDataLst>
            <p:extLst>
              <p:ext uri="{D42A27DB-BD31-4B8C-83A1-F6EECF244321}">
                <p14:modId xmlns:p14="http://schemas.microsoft.com/office/powerpoint/2010/main" val="1480152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ítulo 1">
            <a:extLst>
              <a:ext uri="{FF2B5EF4-FFF2-40B4-BE49-F238E27FC236}">
                <a16:creationId xmlns:a16="http://schemas.microsoft.com/office/drawing/2014/main" id="{14E22A82-D3B1-4160-3FD7-F4CB4C0BA025}"/>
              </a:ext>
            </a:extLst>
          </p:cNvPr>
          <p:cNvSpPr>
            <a:spLocks noGrp="1"/>
          </p:cNvSpPr>
          <p:nvPr>
            <p:ph type="title"/>
          </p:nvPr>
        </p:nvSpPr>
        <p:spPr/>
        <p:txBody>
          <a:bodyPr vert="horz"/>
          <a:lstStyle/>
          <a:p>
            <a:r>
              <a:rPr lang="en-US" dirty="0"/>
              <a:t>Galbraith Star Model — Overview</a:t>
            </a:r>
          </a:p>
        </p:txBody>
      </p:sp>
      <p:sp>
        <p:nvSpPr>
          <p:cNvPr id="3" name="Marcador de texto 2">
            <a:extLst>
              <a:ext uri="{FF2B5EF4-FFF2-40B4-BE49-F238E27FC236}">
                <a16:creationId xmlns:a16="http://schemas.microsoft.com/office/drawing/2014/main" id="{546A8421-1CE5-37C4-F7A6-605381BC1ABF}"/>
              </a:ext>
            </a:extLst>
          </p:cNvPr>
          <p:cNvSpPr>
            <a:spLocks noGrp="1"/>
          </p:cNvSpPr>
          <p:nvPr>
            <p:ph type="body" sz="quarter" idx="18"/>
          </p:nvPr>
        </p:nvSpPr>
        <p:spPr/>
        <p:txBody>
          <a:bodyPr/>
          <a:lstStyle/>
          <a:p>
            <a:r>
              <a:rPr lang="en-US" dirty="0"/>
              <a:t>The Galbraith Star Model was developed by Jay R. Galbraith, a professor and consultant in the field of organizational design and development and first introduced in his 1973 book </a:t>
            </a:r>
            <a:r>
              <a:rPr lang="en-US" i="1" dirty="0"/>
              <a:t>Designing Organizations: An Executive Guide to Strategy, Structure, and Process.</a:t>
            </a:r>
            <a:endParaRPr lang="en-US" dirty="0"/>
          </a:p>
        </p:txBody>
      </p:sp>
      <p:sp>
        <p:nvSpPr>
          <p:cNvPr id="4" name="Marcador de texto 3">
            <a:extLst>
              <a:ext uri="{FF2B5EF4-FFF2-40B4-BE49-F238E27FC236}">
                <a16:creationId xmlns:a16="http://schemas.microsoft.com/office/drawing/2014/main" id="{ADCC87B2-9947-C449-3959-DE823F8E1DA2}"/>
              </a:ext>
            </a:extLst>
          </p:cNvPr>
          <p:cNvSpPr>
            <a:spLocks noGrp="1"/>
          </p:cNvSpPr>
          <p:nvPr>
            <p:ph type="body" sz="quarter" idx="19"/>
          </p:nvPr>
        </p:nvSpPr>
        <p:spPr/>
        <p:txBody>
          <a:bodyPr/>
          <a:lstStyle/>
          <a:p>
            <a:pPr marL="0" indent="0">
              <a:buFont typeface="Arial" panose="020B0604020202020204" pitchFamily="34" charset="0"/>
              <a:buNone/>
            </a:pPr>
            <a:r>
              <a:rPr lang="en-US" dirty="0"/>
              <a:t>The Galbraith Star Model consists of five interconnected factors essential for designing an effective organizational structure:</a:t>
            </a:r>
          </a:p>
          <a:p>
            <a:r>
              <a:rPr lang="en-US" b="1" dirty="0"/>
              <a:t>Strategy: </a:t>
            </a:r>
            <a:r>
              <a:rPr lang="en-US" dirty="0"/>
              <a:t>This refers to the organization's mission, goals, and objectives. The strategy defines what the organization is trying to achieve and the direction it wants to take.</a:t>
            </a:r>
          </a:p>
          <a:p>
            <a:r>
              <a:rPr lang="en-US" b="1" dirty="0"/>
              <a:t>Structure: </a:t>
            </a:r>
            <a:r>
              <a:rPr lang="en-US" dirty="0"/>
              <a:t>This refers to the organization's hierarchy and reporting lines, and how it is divided into departments or units. The structure should be designed to support the organization's strategy and goals.</a:t>
            </a:r>
          </a:p>
          <a:p>
            <a:r>
              <a:rPr lang="en-US" b="1" dirty="0"/>
              <a:t>Processes: </a:t>
            </a:r>
            <a:r>
              <a:rPr lang="en-US" dirty="0"/>
              <a:t>This refers to the way work is carried out within the organization, including the workflows, procedures, and systems used to manage and execute tasks. Processes should be designed to be efficient and effective, supporting the organization's goals and strategy.</a:t>
            </a:r>
          </a:p>
          <a:p>
            <a:r>
              <a:rPr lang="en-US" b="1" dirty="0"/>
              <a:t>Rewards: </a:t>
            </a:r>
            <a:r>
              <a:rPr lang="en-US" dirty="0"/>
              <a:t>This refers to the way the organization motivates and incentivizes its employees to achieve its goals. Rewards can include compensation, benefits, recognition, and other forms of recognition and appreciation.  </a:t>
            </a:r>
          </a:p>
          <a:p>
            <a:r>
              <a:rPr lang="en-US" b="1" dirty="0"/>
              <a:t>People: </a:t>
            </a:r>
            <a:r>
              <a:rPr lang="en-US" dirty="0"/>
              <a:t>This refers to the organization's workforce, including their skills, capabilities, and experience. The organization must ensure it has the right people in the right positions to achieve its goals and support its strategy.</a:t>
            </a:r>
          </a:p>
        </p:txBody>
      </p:sp>
      <p:sp>
        <p:nvSpPr>
          <p:cNvPr id="5" name="Marcador de texto 4">
            <a:extLst>
              <a:ext uri="{FF2B5EF4-FFF2-40B4-BE49-F238E27FC236}">
                <a16:creationId xmlns:a16="http://schemas.microsoft.com/office/drawing/2014/main" id="{4578CE77-4C39-3962-DF3B-C5567E3B7FD2}"/>
              </a:ext>
            </a:extLst>
          </p:cNvPr>
          <p:cNvSpPr>
            <a:spLocks noGrp="1"/>
          </p:cNvSpPr>
          <p:nvPr>
            <p:ph type="body" sz="quarter" idx="20"/>
          </p:nvPr>
        </p:nvSpPr>
        <p:spPr/>
        <p:txBody>
          <a:bodyPr/>
          <a:lstStyle/>
          <a:p>
            <a:r>
              <a:rPr lang="en-US" b="1" dirty="0"/>
              <a:t>Organizational design: </a:t>
            </a:r>
            <a:r>
              <a:rPr lang="en-US" dirty="0"/>
              <a:t>By analyzing the five factors of the model, we can help the client design a structure that is aligned with their strategy, has efficient processes, and rewards their employees effectively.</a:t>
            </a:r>
          </a:p>
          <a:p>
            <a:r>
              <a:rPr lang="en-US" b="1" dirty="0"/>
              <a:t>Strategy execution: </a:t>
            </a:r>
            <a:r>
              <a:rPr lang="en-US" dirty="0"/>
              <a:t>By ensuring that the strategy, structure, processes, rewards, and people are all aligned, we can help the client execute their strategy more effectively and achieve their goals.</a:t>
            </a:r>
          </a:p>
          <a:p>
            <a:r>
              <a:rPr lang="en-US" b="1" dirty="0"/>
              <a:t>Performance improvement: </a:t>
            </a:r>
            <a:r>
              <a:rPr lang="en-US" dirty="0"/>
              <a:t>By optimizing the five factors of the model, we can help the client improve their performance and achieve their goals.</a:t>
            </a:r>
          </a:p>
          <a:p>
            <a:r>
              <a:rPr lang="en-US" b="1" dirty="0"/>
              <a:t>Merger or acquisition integration: </a:t>
            </a:r>
            <a:r>
              <a:rPr lang="en-US" dirty="0"/>
              <a:t>By aligning the five factors of the model across the two organizations, we can help the client integrate their operations and achieve their strategic objectives.</a:t>
            </a:r>
          </a:p>
        </p:txBody>
      </p:sp>
      <p:sp>
        <p:nvSpPr>
          <p:cNvPr id="11" name="Marcador de pie de página 10">
            <a:extLst>
              <a:ext uri="{FF2B5EF4-FFF2-40B4-BE49-F238E27FC236}">
                <a16:creationId xmlns:a16="http://schemas.microsoft.com/office/drawing/2014/main" id="{77280915-68E0-4504-0E29-0CB80A84ECFE}"/>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06669922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487" name="Objeto 16486" hidden="1">
            <a:extLst>
              <a:ext uri="{FF2B5EF4-FFF2-40B4-BE49-F238E27FC236}">
                <a16:creationId xmlns:a16="http://schemas.microsoft.com/office/drawing/2014/main" id="{9BEBFEB3-9BA5-EEAB-D5F3-EEA1DB856FA9}"/>
              </a:ext>
            </a:extLst>
          </p:cNvPr>
          <p:cNvGraphicFramePr>
            <a:graphicFrameLocks noChangeAspect="1"/>
          </p:cNvGraphicFramePr>
          <p:nvPr>
            <p:custDataLst>
              <p:tags r:id="rId1"/>
            </p:custDataLst>
            <p:extLst>
              <p:ext uri="{D42A27DB-BD31-4B8C-83A1-F6EECF244321}">
                <p14:modId xmlns:p14="http://schemas.microsoft.com/office/powerpoint/2010/main" val="17574540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17" imgH="318" progId="TCLayout.ActiveDocument.1">
                  <p:embed/>
                </p:oleObj>
              </mc:Choice>
              <mc:Fallback>
                <p:oleObj name="Diapositiva de think-cell" r:id="rId3" imgW="317" imgH="31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490" name="Pentágono 16489">
            <a:extLst>
              <a:ext uri="{FF2B5EF4-FFF2-40B4-BE49-F238E27FC236}">
                <a16:creationId xmlns:a16="http://schemas.microsoft.com/office/drawing/2014/main" id="{1E9BBECD-8162-8FE8-29FE-698FADE2F0DD}"/>
              </a:ext>
            </a:extLst>
          </p:cNvPr>
          <p:cNvSpPr/>
          <p:nvPr/>
        </p:nvSpPr>
        <p:spPr>
          <a:xfrm>
            <a:off x="4279167" y="2097935"/>
            <a:ext cx="3633668" cy="3633680"/>
          </a:xfrm>
          <a:prstGeom prst="pentagon">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sp>
        <p:nvSpPr>
          <p:cNvPr id="16492" name="Pentágono 16491">
            <a:extLst>
              <a:ext uri="{FF2B5EF4-FFF2-40B4-BE49-F238E27FC236}">
                <a16:creationId xmlns:a16="http://schemas.microsoft.com/office/drawing/2014/main" id="{50CA7911-BF95-3BD5-B02D-35845177AB99}"/>
              </a:ext>
            </a:extLst>
          </p:cNvPr>
          <p:cNvSpPr/>
          <p:nvPr/>
        </p:nvSpPr>
        <p:spPr>
          <a:xfrm rot="10800000">
            <a:off x="5402037" y="3485874"/>
            <a:ext cx="1387930" cy="1387934"/>
          </a:xfrm>
          <a:prstGeom prst="pent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cxnSp>
        <p:nvCxnSpPr>
          <p:cNvPr id="16471" name="Conector recto 16470">
            <a:extLst>
              <a:ext uri="{FF2B5EF4-FFF2-40B4-BE49-F238E27FC236}">
                <a16:creationId xmlns:a16="http://schemas.microsoft.com/office/drawing/2014/main" id="{BDB3DF6C-C461-1D9F-27E6-7FF102E597E2}"/>
              </a:ext>
            </a:extLst>
          </p:cNvPr>
          <p:cNvCxnSpPr>
            <a:cxnSpLocks/>
          </p:cNvCxnSpPr>
          <p:nvPr/>
        </p:nvCxnSpPr>
        <p:spPr>
          <a:xfrm flipH="1" flipV="1">
            <a:off x="6096000" y="2097936"/>
            <a:ext cx="1122866" cy="3633669"/>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CF5A6160-BB28-4B8E-C4A6-E0EDB41C8FF2}"/>
              </a:ext>
            </a:extLst>
          </p:cNvPr>
          <p:cNvSpPr>
            <a:spLocks noGrp="1"/>
          </p:cNvSpPr>
          <p:nvPr>
            <p:ph type="title"/>
          </p:nvPr>
        </p:nvSpPr>
        <p:spPr>
          <a:xfrm>
            <a:off x="384174" y="381000"/>
            <a:ext cx="11420475" cy="485775"/>
          </a:xfrm>
        </p:spPr>
        <p:txBody>
          <a:bodyPr vert="horz"/>
          <a:lstStyle/>
          <a:p>
            <a:r>
              <a:rPr lang="en-US" dirty="0"/>
              <a:t>Galbraith Star Model — Template</a:t>
            </a:r>
          </a:p>
        </p:txBody>
      </p:sp>
      <p:sp>
        <p:nvSpPr>
          <p:cNvPr id="16416" name="TextBox 25">
            <a:extLst>
              <a:ext uri="{FF2B5EF4-FFF2-40B4-BE49-F238E27FC236}">
                <a16:creationId xmlns:a16="http://schemas.microsoft.com/office/drawing/2014/main" id="{911B6A74-AD8D-AD9E-4808-7166C6B2400D}"/>
              </a:ext>
            </a:extLst>
          </p:cNvPr>
          <p:cNvSpPr txBox="1"/>
          <p:nvPr/>
        </p:nvSpPr>
        <p:spPr>
          <a:xfrm>
            <a:off x="6796289" y="1822286"/>
            <a:ext cx="3450500" cy="369332"/>
          </a:xfrm>
          <a:prstGeom prst="rect">
            <a:avLst/>
          </a:prstGeom>
          <a:noFill/>
          <a:ln w="19050">
            <a:noFill/>
          </a:ln>
        </p:spPr>
        <p:txBody>
          <a:bodyPr wrap="square" lIns="0" tIns="0" rIns="0" bIns="0" rtlCol="0" anchor="t">
            <a:spAutoFit/>
          </a:bodyPr>
          <a:lstStyle/>
          <a:p>
            <a:pPr>
              <a:spcBef>
                <a:spcPts val="300"/>
              </a:spcBef>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Lorem ipsum dolor sit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amet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consectetur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adipiscing</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t>
            </a:r>
          </a:p>
        </p:txBody>
      </p:sp>
      <p:cxnSp>
        <p:nvCxnSpPr>
          <p:cNvPr id="16445" name="Conector recto 16444">
            <a:extLst>
              <a:ext uri="{FF2B5EF4-FFF2-40B4-BE49-F238E27FC236}">
                <a16:creationId xmlns:a16="http://schemas.microsoft.com/office/drawing/2014/main" id="{BD48D7A9-3688-A6DB-DCD0-F9CD7E4B8905}"/>
              </a:ext>
            </a:extLst>
          </p:cNvPr>
          <p:cNvCxnSpPr>
            <a:cxnSpLocks/>
          </p:cNvCxnSpPr>
          <p:nvPr/>
        </p:nvCxnSpPr>
        <p:spPr>
          <a:xfrm>
            <a:off x="4973134" y="5731615"/>
            <a:ext cx="2244802"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46" name="Conector recto 16445">
            <a:extLst>
              <a:ext uri="{FF2B5EF4-FFF2-40B4-BE49-F238E27FC236}">
                <a16:creationId xmlns:a16="http://schemas.microsoft.com/office/drawing/2014/main" id="{6B61517C-765B-0617-CFD5-D67997F0668C}"/>
              </a:ext>
            </a:extLst>
          </p:cNvPr>
          <p:cNvCxnSpPr>
            <a:cxnSpLocks/>
          </p:cNvCxnSpPr>
          <p:nvPr/>
        </p:nvCxnSpPr>
        <p:spPr>
          <a:xfrm flipV="1">
            <a:off x="4279165" y="2097936"/>
            <a:ext cx="1816835" cy="1387938"/>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50" name="Conector recto 16449">
            <a:extLst>
              <a:ext uri="{FF2B5EF4-FFF2-40B4-BE49-F238E27FC236}">
                <a16:creationId xmlns:a16="http://schemas.microsoft.com/office/drawing/2014/main" id="{38EB3BBB-5F7B-F0FE-591C-4296E44EF0BC}"/>
              </a:ext>
            </a:extLst>
          </p:cNvPr>
          <p:cNvCxnSpPr>
            <a:cxnSpLocks/>
          </p:cNvCxnSpPr>
          <p:nvPr/>
        </p:nvCxnSpPr>
        <p:spPr>
          <a:xfrm flipH="1" flipV="1">
            <a:off x="6096000" y="2097936"/>
            <a:ext cx="1816835" cy="1387938"/>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54" name="Conector recto 16453">
            <a:extLst>
              <a:ext uri="{FF2B5EF4-FFF2-40B4-BE49-F238E27FC236}">
                <a16:creationId xmlns:a16="http://schemas.microsoft.com/office/drawing/2014/main" id="{8DE51A5B-A7E5-F5C1-05C5-DBADCAAB9945}"/>
              </a:ext>
            </a:extLst>
          </p:cNvPr>
          <p:cNvCxnSpPr>
            <a:cxnSpLocks/>
          </p:cNvCxnSpPr>
          <p:nvPr/>
        </p:nvCxnSpPr>
        <p:spPr>
          <a:xfrm flipH="1">
            <a:off x="7218866" y="3485874"/>
            <a:ext cx="693969" cy="2245731"/>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60" name="Conector recto 16459">
            <a:extLst>
              <a:ext uri="{FF2B5EF4-FFF2-40B4-BE49-F238E27FC236}">
                <a16:creationId xmlns:a16="http://schemas.microsoft.com/office/drawing/2014/main" id="{2CB1A558-0503-6A5C-126B-3271A586E865}"/>
              </a:ext>
            </a:extLst>
          </p:cNvPr>
          <p:cNvCxnSpPr>
            <a:cxnSpLocks/>
          </p:cNvCxnSpPr>
          <p:nvPr/>
        </p:nvCxnSpPr>
        <p:spPr>
          <a:xfrm>
            <a:off x="4279165" y="3485874"/>
            <a:ext cx="693969" cy="2245731"/>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66" name="Conector recto 16465">
            <a:extLst>
              <a:ext uri="{FF2B5EF4-FFF2-40B4-BE49-F238E27FC236}">
                <a16:creationId xmlns:a16="http://schemas.microsoft.com/office/drawing/2014/main" id="{46C18BEC-66AD-51D0-0F82-03BF73285CEA}"/>
              </a:ext>
            </a:extLst>
          </p:cNvPr>
          <p:cNvCxnSpPr>
            <a:cxnSpLocks/>
          </p:cNvCxnSpPr>
          <p:nvPr/>
        </p:nvCxnSpPr>
        <p:spPr>
          <a:xfrm flipV="1">
            <a:off x="4973134" y="2097936"/>
            <a:ext cx="1122866" cy="3633669"/>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75" name="Conector recto 16474">
            <a:extLst>
              <a:ext uri="{FF2B5EF4-FFF2-40B4-BE49-F238E27FC236}">
                <a16:creationId xmlns:a16="http://schemas.microsoft.com/office/drawing/2014/main" id="{E82BB1C8-51C0-C925-9FE1-F2149C8072DA}"/>
              </a:ext>
            </a:extLst>
          </p:cNvPr>
          <p:cNvCxnSpPr>
            <a:cxnSpLocks/>
          </p:cNvCxnSpPr>
          <p:nvPr/>
        </p:nvCxnSpPr>
        <p:spPr>
          <a:xfrm>
            <a:off x="4279165" y="3485874"/>
            <a:ext cx="363367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80" name="Conector recto 16479">
            <a:extLst>
              <a:ext uri="{FF2B5EF4-FFF2-40B4-BE49-F238E27FC236}">
                <a16:creationId xmlns:a16="http://schemas.microsoft.com/office/drawing/2014/main" id="{BCA5EEFB-5FF5-7E91-4D6C-364CE52AECAA}"/>
              </a:ext>
            </a:extLst>
          </p:cNvPr>
          <p:cNvCxnSpPr>
            <a:cxnSpLocks/>
          </p:cNvCxnSpPr>
          <p:nvPr/>
        </p:nvCxnSpPr>
        <p:spPr>
          <a:xfrm>
            <a:off x="4279165" y="3485874"/>
            <a:ext cx="2939701" cy="2245731"/>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83" name="Conector recto 16482">
            <a:extLst>
              <a:ext uri="{FF2B5EF4-FFF2-40B4-BE49-F238E27FC236}">
                <a16:creationId xmlns:a16="http://schemas.microsoft.com/office/drawing/2014/main" id="{4D30B74D-A8EE-892E-4468-61CA005E1F8E}"/>
              </a:ext>
            </a:extLst>
          </p:cNvPr>
          <p:cNvCxnSpPr>
            <a:cxnSpLocks/>
          </p:cNvCxnSpPr>
          <p:nvPr/>
        </p:nvCxnSpPr>
        <p:spPr>
          <a:xfrm flipV="1">
            <a:off x="4973134" y="3485874"/>
            <a:ext cx="2939701" cy="2245731"/>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426" name="Elipse 16425">
            <a:extLst>
              <a:ext uri="{FF2B5EF4-FFF2-40B4-BE49-F238E27FC236}">
                <a16:creationId xmlns:a16="http://schemas.microsoft.com/office/drawing/2014/main" id="{7AFC4624-4828-400D-3C46-3EE76B77A15D}"/>
              </a:ext>
            </a:extLst>
          </p:cNvPr>
          <p:cNvSpPr/>
          <p:nvPr/>
        </p:nvSpPr>
        <p:spPr>
          <a:xfrm>
            <a:off x="5517301" y="1520825"/>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dirty="0">
                <a:solidFill>
                  <a:schemeClr val="tx2"/>
                </a:solidFill>
              </a:rPr>
              <a:t>Strategy</a:t>
            </a:r>
          </a:p>
        </p:txBody>
      </p:sp>
      <p:sp>
        <p:nvSpPr>
          <p:cNvPr id="16430" name="Elipse 16429">
            <a:extLst>
              <a:ext uri="{FF2B5EF4-FFF2-40B4-BE49-F238E27FC236}">
                <a16:creationId xmlns:a16="http://schemas.microsoft.com/office/drawing/2014/main" id="{2209C21C-3AC2-FE1D-AC45-6B00D505C19D}"/>
              </a:ext>
            </a:extLst>
          </p:cNvPr>
          <p:cNvSpPr/>
          <p:nvPr/>
        </p:nvSpPr>
        <p:spPr>
          <a:xfrm>
            <a:off x="7335728" y="2909039"/>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dirty="0">
                <a:solidFill>
                  <a:schemeClr val="tx2"/>
                </a:solidFill>
              </a:rPr>
              <a:t>Structure</a:t>
            </a:r>
          </a:p>
        </p:txBody>
      </p:sp>
      <p:sp>
        <p:nvSpPr>
          <p:cNvPr id="16434" name="Elipse 16433">
            <a:extLst>
              <a:ext uri="{FF2B5EF4-FFF2-40B4-BE49-F238E27FC236}">
                <a16:creationId xmlns:a16="http://schemas.microsoft.com/office/drawing/2014/main" id="{5539556B-B997-18D2-850D-6EA0E4F644E3}"/>
              </a:ext>
            </a:extLst>
          </p:cNvPr>
          <p:cNvSpPr/>
          <p:nvPr/>
        </p:nvSpPr>
        <p:spPr>
          <a:xfrm>
            <a:off x="3705274" y="2909039"/>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dirty="0">
                <a:solidFill>
                  <a:schemeClr val="tx2"/>
                </a:solidFill>
              </a:rPr>
              <a:t>People</a:t>
            </a:r>
          </a:p>
        </p:txBody>
      </p:sp>
      <p:sp>
        <p:nvSpPr>
          <p:cNvPr id="16443" name="Elipse 16442">
            <a:extLst>
              <a:ext uri="{FF2B5EF4-FFF2-40B4-BE49-F238E27FC236}">
                <a16:creationId xmlns:a16="http://schemas.microsoft.com/office/drawing/2014/main" id="{BBE06FAC-9653-AB9D-BA78-3DA5907ADCA3}"/>
              </a:ext>
            </a:extLst>
          </p:cNvPr>
          <p:cNvSpPr/>
          <p:nvPr/>
        </p:nvSpPr>
        <p:spPr>
          <a:xfrm>
            <a:off x="6640826" y="5154504"/>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dirty="0">
                <a:solidFill>
                  <a:schemeClr val="tx2"/>
                </a:solidFill>
              </a:rPr>
              <a:t>Process</a:t>
            </a:r>
          </a:p>
        </p:txBody>
      </p:sp>
      <p:sp>
        <p:nvSpPr>
          <p:cNvPr id="16440" name="Elipse 16439">
            <a:extLst>
              <a:ext uri="{FF2B5EF4-FFF2-40B4-BE49-F238E27FC236}">
                <a16:creationId xmlns:a16="http://schemas.microsoft.com/office/drawing/2014/main" id="{EF8AAEF3-C213-369C-C9D1-4516367AD6F5}"/>
              </a:ext>
            </a:extLst>
          </p:cNvPr>
          <p:cNvSpPr/>
          <p:nvPr/>
        </p:nvSpPr>
        <p:spPr>
          <a:xfrm>
            <a:off x="4396953" y="5154504"/>
            <a:ext cx="1154221" cy="1154221"/>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b"/>
          <a:lstStyle/>
          <a:p>
            <a:pPr algn="ctr"/>
            <a:r>
              <a:rPr lang="en-US" sz="1200" b="1" dirty="0">
                <a:solidFill>
                  <a:schemeClr val="tx2"/>
                </a:solidFill>
              </a:rPr>
              <a:t>Rewards</a:t>
            </a:r>
          </a:p>
        </p:txBody>
      </p:sp>
      <p:sp>
        <p:nvSpPr>
          <p:cNvPr id="16488" name="Rectángulo 16487">
            <a:extLst>
              <a:ext uri="{FF2B5EF4-FFF2-40B4-BE49-F238E27FC236}">
                <a16:creationId xmlns:a16="http://schemas.microsoft.com/office/drawing/2014/main" id="{CB23446E-0B6F-42FC-61EB-8A1E059F8C0A}"/>
              </a:ext>
            </a:extLst>
          </p:cNvPr>
          <p:cNvSpPr/>
          <p:nvPr/>
        </p:nvSpPr>
        <p:spPr>
          <a:xfrm>
            <a:off x="5640086" y="3852704"/>
            <a:ext cx="911830"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en-US" sz="1600" b="1" dirty="0">
                <a:solidFill>
                  <a:schemeClr val="tx2"/>
                </a:solidFill>
              </a:rPr>
              <a:t>Star </a:t>
            </a:r>
            <a:br>
              <a:rPr lang="en-US" sz="1600" b="1" dirty="0">
                <a:solidFill>
                  <a:schemeClr val="tx2"/>
                </a:solidFill>
              </a:rPr>
            </a:br>
            <a:r>
              <a:rPr lang="en-US" sz="1600" b="1" dirty="0">
                <a:solidFill>
                  <a:schemeClr val="tx2"/>
                </a:solidFill>
              </a:rPr>
              <a:t>model</a:t>
            </a:r>
          </a:p>
        </p:txBody>
      </p:sp>
      <p:sp>
        <p:nvSpPr>
          <p:cNvPr id="16412" name="Freeform 29">
            <a:extLst>
              <a:ext uri="{FF2B5EF4-FFF2-40B4-BE49-F238E27FC236}">
                <a16:creationId xmlns:a16="http://schemas.microsoft.com/office/drawing/2014/main" id="{FBFB77F1-8553-FB3C-4A2E-2F2DB8934EBF}"/>
              </a:ext>
            </a:extLst>
          </p:cNvPr>
          <p:cNvSpPr>
            <a:spLocks noEditPoints="1"/>
          </p:cNvSpPr>
          <p:nvPr/>
        </p:nvSpPr>
        <p:spPr bwMode="auto">
          <a:xfrm>
            <a:off x="5900666" y="1627892"/>
            <a:ext cx="387491" cy="520987"/>
          </a:xfrm>
          <a:custGeom>
            <a:avLst/>
            <a:gdLst>
              <a:gd name="T0" fmla="*/ 211 w 214"/>
              <a:gd name="T1" fmla="*/ 90 h 295"/>
              <a:gd name="T2" fmla="*/ 185 w 214"/>
              <a:gd name="T3" fmla="*/ 73 h 295"/>
              <a:gd name="T4" fmla="*/ 170 w 214"/>
              <a:gd name="T5" fmla="*/ 46 h 295"/>
              <a:gd name="T6" fmla="*/ 129 w 214"/>
              <a:gd name="T7" fmla="*/ 6 h 295"/>
              <a:gd name="T8" fmla="*/ 123 w 214"/>
              <a:gd name="T9" fmla="*/ 0 h 295"/>
              <a:gd name="T10" fmla="*/ 99 w 214"/>
              <a:gd name="T11" fmla="*/ 14 h 295"/>
              <a:gd name="T12" fmla="*/ 81 w 214"/>
              <a:gd name="T13" fmla="*/ 27 h 295"/>
              <a:gd name="T14" fmla="*/ 38 w 214"/>
              <a:gd name="T15" fmla="*/ 67 h 295"/>
              <a:gd name="T16" fmla="*/ 18 w 214"/>
              <a:gd name="T17" fmla="*/ 116 h 295"/>
              <a:gd name="T18" fmla="*/ 16 w 214"/>
              <a:gd name="T19" fmla="*/ 154 h 295"/>
              <a:gd name="T20" fmla="*/ 23 w 214"/>
              <a:gd name="T21" fmla="*/ 206 h 295"/>
              <a:gd name="T22" fmla="*/ 17 w 214"/>
              <a:gd name="T23" fmla="*/ 212 h 295"/>
              <a:gd name="T24" fmla="*/ 0 w 214"/>
              <a:gd name="T25" fmla="*/ 251 h 295"/>
              <a:gd name="T26" fmla="*/ 6 w 214"/>
              <a:gd name="T27" fmla="*/ 295 h 295"/>
              <a:gd name="T28" fmla="*/ 197 w 214"/>
              <a:gd name="T29" fmla="*/ 289 h 295"/>
              <a:gd name="T30" fmla="*/ 182 w 214"/>
              <a:gd name="T31" fmla="*/ 213 h 295"/>
              <a:gd name="T32" fmla="*/ 175 w 214"/>
              <a:gd name="T33" fmla="*/ 206 h 295"/>
              <a:gd name="T34" fmla="*/ 174 w 214"/>
              <a:gd name="T35" fmla="*/ 205 h 295"/>
              <a:gd name="T36" fmla="*/ 167 w 214"/>
              <a:gd name="T37" fmla="*/ 183 h 295"/>
              <a:gd name="T38" fmla="*/ 132 w 214"/>
              <a:gd name="T39" fmla="*/ 116 h 295"/>
              <a:gd name="T40" fmla="*/ 170 w 214"/>
              <a:gd name="T41" fmla="*/ 126 h 295"/>
              <a:gd name="T42" fmla="*/ 193 w 214"/>
              <a:gd name="T43" fmla="*/ 131 h 295"/>
              <a:gd name="T44" fmla="*/ 213 w 214"/>
              <a:gd name="T45" fmla="*/ 97 h 295"/>
              <a:gd name="T46" fmla="*/ 185 w 214"/>
              <a:gd name="T47" fmla="*/ 243 h 295"/>
              <a:gd name="T48" fmla="*/ 186 w 214"/>
              <a:gd name="T49" fmla="*/ 284 h 295"/>
              <a:gd name="T50" fmla="*/ 12 w 214"/>
              <a:gd name="T51" fmla="*/ 251 h 295"/>
              <a:gd name="T52" fmla="*/ 13 w 214"/>
              <a:gd name="T53" fmla="*/ 242 h 295"/>
              <a:gd name="T54" fmla="*/ 104 w 214"/>
              <a:gd name="T55" fmla="*/ 242 h 295"/>
              <a:gd name="T56" fmla="*/ 104 w 214"/>
              <a:gd name="T57" fmla="*/ 242 h 295"/>
              <a:gd name="T58" fmla="*/ 171 w 214"/>
              <a:gd name="T59" fmla="*/ 219 h 295"/>
              <a:gd name="T60" fmla="*/ 173 w 214"/>
              <a:gd name="T61" fmla="*/ 220 h 295"/>
              <a:gd name="T62" fmla="*/ 180 w 214"/>
              <a:gd name="T63" fmla="*/ 231 h 295"/>
              <a:gd name="T64" fmla="*/ 104 w 214"/>
              <a:gd name="T65" fmla="*/ 231 h 295"/>
              <a:gd name="T66" fmla="*/ 104 w 214"/>
              <a:gd name="T67" fmla="*/ 231 h 295"/>
              <a:gd name="T68" fmla="*/ 18 w 214"/>
              <a:gd name="T69" fmla="*/ 231 h 295"/>
              <a:gd name="T70" fmla="*/ 25 w 214"/>
              <a:gd name="T71" fmla="*/ 220 h 295"/>
              <a:gd name="T72" fmla="*/ 26 w 214"/>
              <a:gd name="T73" fmla="*/ 219 h 295"/>
              <a:gd name="T74" fmla="*/ 166 w 214"/>
              <a:gd name="T75" fmla="*/ 214 h 295"/>
              <a:gd name="T76" fmla="*/ 191 w 214"/>
              <a:gd name="T77" fmla="*/ 118 h 295"/>
              <a:gd name="T78" fmla="*/ 180 w 214"/>
              <a:gd name="T79" fmla="*/ 116 h 295"/>
              <a:gd name="T80" fmla="*/ 122 w 214"/>
              <a:gd name="T81" fmla="*/ 100 h 295"/>
              <a:gd name="T82" fmla="*/ 112 w 214"/>
              <a:gd name="T83" fmla="*/ 106 h 295"/>
              <a:gd name="T84" fmla="*/ 162 w 214"/>
              <a:gd name="T85" fmla="*/ 202 h 295"/>
              <a:gd name="T86" fmla="*/ 33 w 214"/>
              <a:gd name="T87" fmla="*/ 202 h 295"/>
              <a:gd name="T88" fmla="*/ 27 w 214"/>
              <a:gd name="T89" fmla="*/ 153 h 295"/>
              <a:gd name="T90" fmla="*/ 31 w 214"/>
              <a:gd name="T91" fmla="*/ 113 h 295"/>
              <a:gd name="T92" fmla="*/ 49 w 214"/>
              <a:gd name="T93" fmla="*/ 72 h 295"/>
              <a:gd name="T94" fmla="*/ 109 w 214"/>
              <a:gd name="T95" fmla="*/ 21 h 295"/>
              <a:gd name="T96" fmla="*/ 117 w 214"/>
              <a:gd name="T97" fmla="*/ 16 h 295"/>
              <a:gd name="T98" fmla="*/ 120 w 214"/>
              <a:gd name="T99" fmla="*/ 40 h 295"/>
              <a:gd name="T100" fmla="*/ 176 w 214"/>
              <a:gd name="T101" fmla="*/ 79 h 295"/>
              <a:gd name="T102" fmla="*/ 200 w 214"/>
              <a:gd name="T103" fmla="*/ 97 h 295"/>
              <a:gd name="T104" fmla="*/ 191 w 214"/>
              <a:gd name="T105" fmla="*/ 11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4" h="295">
                <a:moveTo>
                  <a:pt x="213" y="97"/>
                </a:moveTo>
                <a:cubicBezTo>
                  <a:pt x="214" y="94"/>
                  <a:pt x="213" y="91"/>
                  <a:pt x="211" y="90"/>
                </a:cubicBezTo>
                <a:cubicBezTo>
                  <a:pt x="185" y="73"/>
                  <a:pt x="185" y="73"/>
                  <a:pt x="185" y="73"/>
                </a:cubicBezTo>
                <a:cubicBezTo>
                  <a:pt x="185" y="73"/>
                  <a:pt x="185" y="73"/>
                  <a:pt x="185" y="73"/>
                </a:cubicBezTo>
                <a:cubicBezTo>
                  <a:pt x="174" y="49"/>
                  <a:pt x="174" y="49"/>
                  <a:pt x="174" y="49"/>
                </a:cubicBezTo>
                <a:cubicBezTo>
                  <a:pt x="173" y="47"/>
                  <a:pt x="172" y="46"/>
                  <a:pt x="170" y="46"/>
                </a:cubicBezTo>
                <a:cubicBezTo>
                  <a:pt x="128" y="31"/>
                  <a:pt x="128" y="31"/>
                  <a:pt x="128" y="31"/>
                </a:cubicBezTo>
                <a:cubicBezTo>
                  <a:pt x="129" y="6"/>
                  <a:pt x="129" y="6"/>
                  <a:pt x="129" y="6"/>
                </a:cubicBezTo>
                <a:cubicBezTo>
                  <a:pt x="129" y="4"/>
                  <a:pt x="128" y="2"/>
                  <a:pt x="126" y="1"/>
                </a:cubicBezTo>
                <a:cubicBezTo>
                  <a:pt x="125" y="0"/>
                  <a:pt x="124" y="0"/>
                  <a:pt x="123" y="0"/>
                </a:cubicBezTo>
                <a:cubicBezTo>
                  <a:pt x="122" y="0"/>
                  <a:pt x="121" y="0"/>
                  <a:pt x="120" y="1"/>
                </a:cubicBezTo>
                <a:cubicBezTo>
                  <a:pt x="119" y="2"/>
                  <a:pt x="110" y="7"/>
                  <a:pt x="99" y="14"/>
                </a:cubicBezTo>
                <a:cubicBezTo>
                  <a:pt x="95" y="17"/>
                  <a:pt x="92" y="19"/>
                  <a:pt x="88" y="22"/>
                </a:cubicBezTo>
                <a:cubicBezTo>
                  <a:pt x="86" y="23"/>
                  <a:pt x="84" y="25"/>
                  <a:pt x="81" y="27"/>
                </a:cubicBezTo>
                <a:cubicBezTo>
                  <a:pt x="70" y="35"/>
                  <a:pt x="61" y="42"/>
                  <a:pt x="54" y="49"/>
                </a:cubicBezTo>
                <a:cubicBezTo>
                  <a:pt x="46" y="56"/>
                  <a:pt x="41" y="62"/>
                  <a:pt x="38" y="67"/>
                </a:cubicBezTo>
                <a:cubicBezTo>
                  <a:pt x="37" y="69"/>
                  <a:pt x="36" y="71"/>
                  <a:pt x="35" y="73"/>
                </a:cubicBezTo>
                <a:cubicBezTo>
                  <a:pt x="29" y="86"/>
                  <a:pt x="22" y="99"/>
                  <a:pt x="18" y="116"/>
                </a:cubicBezTo>
                <a:cubicBezTo>
                  <a:pt x="17" y="120"/>
                  <a:pt x="17" y="124"/>
                  <a:pt x="16" y="128"/>
                </a:cubicBezTo>
                <a:cubicBezTo>
                  <a:pt x="15" y="137"/>
                  <a:pt x="15" y="145"/>
                  <a:pt x="16" y="154"/>
                </a:cubicBezTo>
                <a:cubicBezTo>
                  <a:pt x="18" y="182"/>
                  <a:pt x="21" y="199"/>
                  <a:pt x="22" y="206"/>
                </a:cubicBezTo>
                <a:cubicBezTo>
                  <a:pt x="23" y="206"/>
                  <a:pt x="23" y="206"/>
                  <a:pt x="23" y="206"/>
                </a:cubicBezTo>
                <a:cubicBezTo>
                  <a:pt x="22" y="206"/>
                  <a:pt x="22" y="206"/>
                  <a:pt x="22" y="206"/>
                </a:cubicBezTo>
                <a:cubicBezTo>
                  <a:pt x="20" y="208"/>
                  <a:pt x="19" y="210"/>
                  <a:pt x="17" y="212"/>
                </a:cubicBezTo>
                <a:cubicBezTo>
                  <a:pt x="16" y="213"/>
                  <a:pt x="16" y="213"/>
                  <a:pt x="16" y="213"/>
                </a:cubicBezTo>
                <a:cubicBezTo>
                  <a:pt x="9" y="222"/>
                  <a:pt x="0" y="236"/>
                  <a:pt x="0" y="251"/>
                </a:cubicBezTo>
                <a:cubicBezTo>
                  <a:pt x="0" y="289"/>
                  <a:pt x="0" y="289"/>
                  <a:pt x="0" y="289"/>
                </a:cubicBezTo>
                <a:cubicBezTo>
                  <a:pt x="0" y="293"/>
                  <a:pt x="3" y="295"/>
                  <a:pt x="6" y="295"/>
                </a:cubicBezTo>
                <a:cubicBezTo>
                  <a:pt x="192" y="295"/>
                  <a:pt x="192" y="295"/>
                  <a:pt x="192" y="295"/>
                </a:cubicBezTo>
                <a:cubicBezTo>
                  <a:pt x="195" y="295"/>
                  <a:pt x="197" y="293"/>
                  <a:pt x="197" y="289"/>
                </a:cubicBezTo>
                <a:cubicBezTo>
                  <a:pt x="197" y="251"/>
                  <a:pt x="197" y="251"/>
                  <a:pt x="197" y="251"/>
                </a:cubicBezTo>
                <a:cubicBezTo>
                  <a:pt x="197" y="236"/>
                  <a:pt x="189" y="222"/>
                  <a:pt x="182" y="213"/>
                </a:cubicBezTo>
                <a:cubicBezTo>
                  <a:pt x="181" y="213"/>
                  <a:pt x="181" y="213"/>
                  <a:pt x="181" y="212"/>
                </a:cubicBezTo>
                <a:cubicBezTo>
                  <a:pt x="179" y="210"/>
                  <a:pt x="177" y="208"/>
                  <a:pt x="175" y="206"/>
                </a:cubicBezTo>
                <a:cubicBezTo>
                  <a:pt x="175" y="206"/>
                  <a:pt x="175" y="206"/>
                  <a:pt x="174" y="205"/>
                </a:cubicBezTo>
                <a:cubicBezTo>
                  <a:pt x="174" y="205"/>
                  <a:pt x="174" y="205"/>
                  <a:pt x="174" y="205"/>
                </a:cubicBezTo>
                <a:cubicBezTo>
                  <a:pt x="174" y="205"/>
                  <a:pt x="174" y="205"/>
                  <a:pt x="174" y="205"/>
                </a:cubicBezTo>
                <a:cubicBezTo>
                  <a:pt x="173" y="199"/>
                  <a:pt x="171" y="191"/>
                  <a:pt x="167" y="183"/>
                </a:cubicBezTo>
                <a:cubicBezTo>
                  <a:pt x="158" y="160"/>
                  <a:pt x="144" y="135"/>
                  <a:pt x="133" y="117"/>
                </a:cubicBezTo>
                <a:cubicBezTo>
                  <a:pt x="132" y="116"/>
                  <a:pt x="132" y="116"/>
                  <a:pt x="132" y="116"/>
                </a:cubicBezTo>
                <a:cubicBezTo>
                  <a:pt x="134" y="116"/>
                  <a:pt x="134" y="116"/>
                  <a:pt x="134" y="116"/>
                </a:cubicBezTo>
                <a:cubicBezTo>
                  <a:pt x="143" y="119"/>
                  <a:pt x="155" y="122"/>
                  <a:pt x="170" y="126"/>
                </a:cubicBezTo>
                <a:cubicBezTo>
                  <a:pt x="174" y="126"/>
                  <a:pt x="178" y="127"/>
                  <a:pt x="182" y="128"/>
                </a:cubicBezTo>
                <a:cubicBezTo>
                  <a:pt x="186" y="129"/>
                  <a:pt x="190" y="130"/>
                  <a:pt x="193" y="131"/>
                </a:cubicBezTo>
                <a:cubicBezTo>
                  <a:pt x="196" y="131"/>
                  <a:pt x="199" y="130"/>
                  <a:pt x="200" y="127"/>
                </a:cubicBezTo>
                <a:lnTo>
                  <a:pt x="213" y="97"/>
                </a:lnTo>
                <a:close/>
                <a:moveTo>
                  <a:pt x="185" y="242"/>
                </a:moveTo>
                <a:cubicBezTo>
                  <a:pt x="185" y="243"/>
                  <a:pt x="185" y="243"/>
                  <a:pt x="185" y="243"/>
                </a:cubicBezTo>
                <a:cubicBezTo>
                  <a:pt x="186" y="246"/>
                  <a:pt x="186" y="248"/>
                  <a:pt x="186" y="251"/>
                </a:cubicBezTo>
                <a:cubicBezTo>
                  <a:pt x="186" y="284"/>
                  <a:pt x="186" y="284"/>
                  <a:pt x="186" y="284"/>
                </a:cubicBezTo>
                <a:cubicBezTo>
                  <a:pt x="12" y="284"/>
                  <a:pt x="12" y="284"/>
                  <a:pt x="12" y="284"/>
                </a:cubicBezTo>
                <a:cubicBezTo>
                  <a:pt x="12" y="251"/>
                  <a:pt x="12" y="251"/>
                  <a:pt x="12" y="251"/>
                </a:cubicBezTo>
                <a:cubicBezTo>
                  <a:pt x="12" y="248"/>
                  <a:pt x="12" y="246"/>
                  <a:pt x="13" y="243"/>
                </a:cubicBezTo>
                <a:cubicBezTo>
                  <a:pt x="13" y="242"/>
                  <a:pt x="13" y="242"/>
                  <a:pt x="13" y="242"/>
                </a:cubicBezTo>
                <a:cubicBezTo>
                  <a:pt x="104" y="242"/>
                  <a:pt x="104" y="242"/>
                  <a:pt x="104" y="242"/>
                </a:cubicBezTo>
                <a:cubicBezTo>
                  <a:pt x="104" y="242"/>
                  <a:pt x="104" y="242"/>
                  <a:pt x="104" y="242"/>
                </a:cubicBezTo>
                <a:cubicBezTo>
                  <a:pt x="104" y="242"/>
                  <a:pt x="104" y="242"/>
                  <a:pt x="104" y="242"/>
                </a:cubicBezTo>
                <a:cubicBezTo>
                  <a:pt x="104" y="242"/>
                  <a:pt x="104" y="242"/>
                  <a:pt x="104" y="242"/>
                </a:cubicBezTo>
                <a:lnTo>
                  <a:pt x="185" y="242"/>
                </a:lnTo>
                <a:close/>
                <a:moveTo>
                  <a:pt x="171" y="219"/>
                </a:moveTo>
                <a:cubicBezTo>
                  <a:pt x="172" y="220"/>
                  <a:pt x="172" y="220"/>
                  <a:pt x="172" y="220"/>
                </a:cubicBezTo>
                <a:cubicBezTo>
                  <a:pt x="173" y="220"/>
                  <a:pt x="173" y="220"/>
                  <a:pt x="173" y="220"/>
                </a:cubicBezTo>
                <a:cubicBezTo>
                  <a:pt x="175" y="223"/>
                  <a:pt x="177" y="226"/>
                  <a:pt x="179" y="230"/>
                </a:cubicBezTo>
                <a:cubicBezTo>
                  <a:pt x="180" y="231"/>
                  <a:pt x="180" y="231"/>
                  <a:pt x="180" y="231"/>
                </a:cubicBezTo>
                <a:cubicBezTo>
                  <a:pt x="104" y="231"/>
                  <a:pt x="104" y="231"/>
                  <a:pt x="104" y="231"/>
                </a:cubicBezTo>
                <a:cubicBezTo>
                  <a:pt x="104" y="231"/>
                  <a:pt x="104" y="231"/>
                  <a:pt x="104" y="231"/>
                </a:cubicBezTo>
                <a:cubicBezTo>
                  <a:pt x="104" y="231"/>
                  <a:pt x="104" y="231"/>
                  <a:pt x="104" y="231"/>
                </a:cubicBezTo>
                <a:cubicBezTo>
                  <a:pt x="104" y="231"/>
                  <a:pt x="104" y="231"/>
                  <a:pt x="104" y="231"/>
                </a:cubicBezTo>
                <a:cubicBezTo>
                  <a:pt x="104" y="231"/>
                  <a:pt x="104" y="231"/>
                  <a:pt x="104" y="231"/>
                </a:cubicBezTo>
                <a:cubicBezTo>
                  <a:pt x="18" y="231"/>
                  <a:pt x="18" y="231"/>
                  <a:pt x="18" y="231"/>
                </a:cubicBezTo>
                <a:cubicBezTo>
                  <a:pt x="19" y="230"/>
                  <a:pt x="19" y="230"/>
                  <a:pt x="19" y="230"/>
                </a:cubicBezTo>
                <a:cubicBezTo>
                  <a:pt x="20" y="226"/>
                  <a:pt x="23" y="223"/>
                  <a:pt x="25" y="220"/>
                </a:cubicBezTo>
                <a:cubicBezTo>
                  <a:pt x="25" y="220"/>
                  <a:pt x="25" y="220"/>
                  <a:pt x="25" y="220"/>
                </a:cubicBezTo>
                <a:cubicBezTo>
                  <a:pt x="26" y="220"/>
                  <a:pt x="26" y="220"/>
                  <a:pt x="26" y="219"/>
                </a:cubicBezTo>
                <a:cubicBezTo>
                  <a:pt x="31" y="214"/>
                  <a:pt x="31" y="214"/>
                  <a:pt x="31" y="214"/>
                </a:cubicBezTo>
                <a:cubicBezTo>
                  <a:pt x="166" y="214"/>
                  <a:pt x="166" y="214"/>
                  <a:pt x="166" y="214"/>
                </a:cubicBezTo>
                <a:lnTo>
                  <a:pt x="171" y="219"/>
                </a:lnTo>
                <a:close/>
                <a:moveTo>
                  <a:pt x="191" y="118"/>
                </a:moveTo>
                <a:cubicBezTo>
                  <a:pt x="191" y="118"/>
                  <a:pt x="191" y="118"/>
                  <a:pt x="191" y="118"/>
                </a:cubicBezTo>
                <a:cubicBezTo>
                  <a:pt x="187" y="118"/>
                  <a:pt x="183" y="117"/>
                  <a:pt x="180" y="116"/>
                </a:cubicBezTo>
                <a:cubicBezTo>
                  <a:pt x="175" y="115"/>
                  <a:pt x="171" y="114"/>
                  <a:pt x="167" y="113"/>
                </a:cubicBezTo>
                <a:cubicBezTo>
                  <a:pt x="142" y="108"/>
                  <a:pt x="125" y="103"/>
                  <a:pt x="122" y="100"/>
                </a:cubicBezTo>
                <a:cubicBezTo>
                  <a:pt x="120" y="98"/>
                  <a:pt x="116" y="97"/>
                  <a:pt x="114" y="99"/>
                </a:cubicBezTo>
                <a:cubicBezTo>
                  <a:pt x="111" y="100"/>
                  <a:pt x="111" y="104"/>
                  <a:pt x="112" y="106"/>
                </a:cubicBezTo>
                <a:cubicBezTo>
                  <a:pt x="114" y="109"/>
                  <a:pt x="152" y="167"/>
                  <a:pt x="162" y="202"/>
                </a:cubicBezTo>
                <a:cubicBezTo>
                  <a:pt x="162" y="202"/>
                  <a:pt x="162" y="202"/>
                  <a:pt x="162" y="202"/>
                </a:cubicBezTo>
                <a:cubicBezTo>
                  <a:pt x="33" y="202"/>
                  <a:pt x="33" y="202"/>
                  <a:pt x="33" y="202"/>
                </a:cubicBezTo>
                <a:cubicBezTo>
                  <a:pt x="33" y="202"/>
                  <a:pt x="33" y="202"/>
                  <a:pt x="33" y="202"/>
                </a:cubicBezTo>
                <a:cubicBezTo>
                  <a:pt x="32" y="198"/>
                  <a:pt x="31" y="192"/>
                  <a:pt x="30" y="183"/>
                </a:cubicBezTo>
                <a:cubicBezTo>
                  <a:pt x="29" y="174"/>
                  <a:pt x="28" y="164"/>
                  <a:pt x="27" y="153"/>
                </a:cubicBezTo>
                <a:cubicBezTo>
                  <a:pt x="26" y="144"/>
                  <a:pt x="27" y="135"/>
                  <a:pt x="28" y="126"/>
                </a:cubicBezTo>
                <a:cubicBezTo>
                  <a:pt x="29" y="122"/>
                  <a:pt x="30" y="117"/>
                  <a:pt x="31" y="113"/>
                </a:cubicBezTo>
                <a:cubicBezTo>
                  <a:pt x="35" y="100"/>
                  <a:pt x="40" y="89"/>
                  <a:pt x="45" y="79"/>
                </a:cubicBezTo>
                <a:cubicBezTo>
                  <a:pt x="46" y="77"/>
                  <a:pt x="48" y="74"/>
                  <a:pt x="49" y="72"/>
                </a:cubicBezTo>
                <a:cubicBezTo>
                  <a:pt x="54" y="61"/>
                  <a:pt x="79" y="42"/>
                  <a:pt x="99" y="28"/>
                </a:cubicBezTo>
                <a:cubicBezTo>
                  <a:pt x="102" y="26"/>
                  <a:pt x="106" y="24"/>
                  <a:pt x="109" y="21"/>
                </a:cubicBezTo>
                <a:cubicBezTo>
                  <a:pt x="112" y="20"/>
                  <a:pt x="114" y="18"/>
                  <a:pt x="116" y="17"/>
                </a:cubicBezTo>
                <a:cubicBezTo>
                  <a:pt x="117" y="16"/>
                  <a:pt x="117" y="16"/>
                  <a:pt x="117" y="16"/>
                </a:cubicBezTo>
                <a:cubicBezTo>
                  <a:pt x="116" y="35"/>
                  <a:pt x="116" y="35"/>
                  <a:pt x="116" y="35"/>
                </a:cubicBezTo>
                <a:cubicBezTo>
                  <a:pt x="116" y="37"/>
                  <a:pt x="118" y="39"/>
                  <a:pt x="120" y="40"/>
                </a:cubicBezTo>
                <a:cubicBezTo>
                  <a:pt x="164" y="56"/>
                  <a:pt x="164" y="56"/>
                  <a:pt x="164" y="56"/>
                </a:cubicBezTo>
                <a:cubicBezTo>
                  <a:pt x="176" y="79"/>
                  <a:pt x="176" y="79"/>
                  <a:pt x="176" y="79"/>
                </a:cubicBezTo>
                <a:cubicBezTo>
                  <a:pt x="176" y="80"/>
                  <a:pt x="177" y="81"/>
                  <a:pt x="178" y="82"/>
                </a:cubicBezTo>
                <a:cubicBezTo>
                  <a:pt x="200" y="97"/>
                  <a:pt x="200" y="97"/>
                  <a:pt x="200" y="97"/>
                </a:cubicBezTo>
                <a:cubicBezTo>
                  <a:pt x="200" y="97"/>
                  <a:pt x="200" y="97"/>
                  <a:pt x="200" y="97"/>
                </a:cubicBezTo>
                <a:lnTo>
                  <a:pt x="191" y="118"/>
                </a:lnTo>
                <a:close/>
              </a:path>
            </a:pathLst>
          </a:custGeom>
          <a:solidFill>
            <a:schemeClr val="tx2"/>
          </a:solidFill>
          <a:ln>
            <a:noFill/>
          </a:ln>
        </p:spPr>
        <p:txBody>
          <a:bodyPr vert="horz" wrap="square" lIns="91419" tIns="45709" rIns="91419" bIns="45709" numCol="1" anchor="t" anchorCtr="0" compatLnSpc="1">
            <a:prstTxWarp prst="textNoShape">
              <a:avLst/>
            </a:prstTxWarp>
          </a:bodyPr>
          <a:lstStyle/>
          <a:p>
            <a:endParaRPr lang="en-US" dirty="0"/>
          </a:p>
        </p:txBody>
      </p:sp>
      <p:grpSp>
        <p:nvGrpSpPr>
          <p:cNvPr id="23" name="Group 146">
            <a:extLst>
              <a:ext uri="{FF2B5EF4-FFF2-40B4-BE49-F238E27FC236}">
                <a16:creationId xmlns:a16="http://schemas.microsoft.com/office/drawing/2014/main" id="{1D4D72C4-CD33-F6D4-AFF0-BBECA52BBAD0}"/>
              </a:ext>
            </a:extLst>
          </p:cNvPr>
          <p:cNvGrpSpPr>
            <a:grpSpLocks noChangeAspect="1"/>
          </p:cNvGrpSpPr>
          <p:nvPr/>
        </p:nvGrpSpPr>
        <p:grpSpPr bwMode="auto">
          <a:xfrm>
            <a:off x="7670262" y="3034717"/>
            <a:ext cx="485152" cy="502815"/>
            <a:chOff x="6545" y="1716"/>
            <a:chExt cx="412" cy="427"/>
          </a:xfrm>
          <a:solidFill>
            <a:schemeClr val="tx2"/>
          </a:solidFill>
        </p:grpSpPr>
        <p:sp>
          <p:nvSpPr>
            <p:cNvPr id="24" name="Freeform 147">
              <a:extLst>
                <a:ext uri="{FF2B5EF4-FFF2-40B4-BE49-F238E27FC236}">
                  <a16:creationId xmlns:a16="http://schemas.microsoft.com/office/drawing/2014/main" id="{4AD77514-B8D4-2CB4-2CE9-C2E945F297FA}"/>
                </a:ext>
              </a:extLst>
            </p:cNvPr>
            <p:cNvSpPr>
              <a:spLocks noEditPoints="1"/>
            </p:cNvSpPr>
            <p:nvPr/>
          </p:nvSpPr>
          <p:spPr bwMode="auto">
            <a:xfrm>
              <a:off x="6671" y="1743"/>
              <a:ext cx="195" cy="169"/>
            </a:xfrm>
            <a:custGeom>
              <a:avLst/>
              <a:gdLst>
                <a:gd name="T0" fmla="*/ 66 w 132"/>
                <a:gd name="T1" fmla="*/ 114 h 114"/>
                <a:gd name="T2" fmla="*/ 64 w 132"/>
                <a:gd name="T3" fmla="*/ 114 h 114"/>
                <a:gd name="T4" fmla="*/ 4 w 132"/>
                <a:gd name="T5" fmla="*/ 90 h 114"/>
                <a:gd name="T6" fmla="*/ 0 w 132"/>
                <a:gd name="T7" fmla="*/ 84 h 114"/>
                <a:gd name="T8" fmla="*/ 0 w 132"/>
                <a:gd name="T9" fmla="*/ 6 h 114"/>
                <a:gd name="T10" fmla="*/ 3 w 132"/>
                <a:gd name="T11" fmla="*/ 1 h 114"/>
                <a:gd name="T12" fmla="*/ 8 w 132"/>
                <a:gd name="T13" fmla="*/ 0 h 114"/>
                <a:gd name="T14" fmla="*/ 66 w 132"/>
                <a:gd name="T15" fmla="*/ 18 h 114"/>
                <a:gd name="T16" fmla="*/ 125 w 132"/>
                <a:gd name="T17" fmla="*/ 0 h 114"/>
                <a:gd name="T18" fmla="*/ 130 w 132"/>
                <a:gd name="T19" fmla="*/ 1 h 114"/>
                <a:gd name="T20" fmla="*/ 132 w 132"/>
                <a:gd name="T21" fmla="*/ 6 h 114"/>
                <a:gd name="T22" fmla="*/ 132 w 132"/>
                <a:gd name="T23" fmla="*/ 84 h 114"/>
                <a:gd name="T24" fmla="*/ 128 w 132"/>
                <a:gd name="T25" fmla="*/ 90 h 114"/>
                <a:gd name="T26" fmla="*/ 68 w 132"/>
                <a:gd name="T27" fmla="*/ 114 h 114"/>
                <a:gd name="T28" fmla="*/ 66 w 132"/>
                <a:gd name="T29" fmla="*/ 114 h 114"/>
                <a:gd name="T30" fmla="*/ 12 w 132"/>
                <a:gd name="T31" fmla="*/ 80 h 114"/>
                <a:gd name="T32" fmla="*/ 66 w 132"/>
                <a:gd name="T33" fmla="*/ 102 h 114"/>
                <a:gd name="T34" fmla="*/ 120 w 132"/>
                <a:gd name="T35" fmla="*/ 80 h 114"/>
                <a:gd name="T36" fmla="*/ 120 w 132"/>
                <a:gd name="T37" fmla="*/ 14 h 114"/>
                <a:gd name="T38" fmla="*/ 68 w 132"/>
                <a:gd name="T39" fmla="*/ 30 h 114"/>
                <a:gd name="T40" fmla="*/ 65 w 132"/>
                <a:gd name="T41" fmla="*/ 30 h 114"/>
                <a:gd name="T42" fmla="*/ 12 w 132"/>
                <a:gd name="T43" fmla="*/ 14 h 114"/>
                <a:gd name="T44" fmla="*/ 12 w 132"/>
                <a:gd name="T45" fmla="*/ 8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2" h="114">
                  <a:moveTo>
                    <a:pt x="66" y="114"/>
                  </a:moveTo>
                  <a:cubicBezTo>
                    <a:pt x="65" y="114"/>
                    <a:pt x="65" y="114"/>
                    <a:pt x="64" y="114"/>
                  </a:cubicBezTo>
                  <a:cubicBezTo>
                    <a:pt x="4" y="90"/>
                    <a:pt x="4" y="90"/>
                    <a:pt x="4" y="90"/>
                  </a:cubicBezTo>
                  <a:cubicBezTo>
                    <a:pt x="2" y="89"/>
                    <a:pt x="0" y="86"/>
                    <a:pt x="0" y="84"/>
                  </a:cubicBezTo>
                  <a:cubicBezTo>
                    <a:pt x="0" y="6"/>
                    <a:pt x="0" y="6"/>
                    <a:pt x="0" y="6"/>
                  </a:cubicBezTo>
                  <a:cubicBezTo>
                    <a:pt x="0" y="4"/>
                    <a:pt x="1" y="2"/>
                    <a:pt x="3" y="1"/>
                  </a:cubicBezTo>
                  <a:cubicBezTo>
                    <a:pt x="4" y="0"/>
                    <a:pt x="6" y="0"/>
                    <a:pt x="8" y="0"/>
                  </a:cubicBezTo>
                  <a:cubicBezTo>
                    <a:pt x="66" y="18"/>
                    <a:pt x="66" y="18"/>
                    <a:pt x="66" y="18"/>
                  </a:cubicBezTo>
                  <a:cubicBezTo>
                    <a:pt x="125" y="0"/>
                    <a:pt x="125" y="0"/>
                    <a:pt x="125" y="0"/>
                  </a:cubicBezTo>
                  <a:cubicBezTo>
                    <a:pt x="126" y="0"/>
                    <a:pt x="128" y="0"/>
                    <a:pt x="130" y="1"/>
                  </a:cubicBezTo>
                  <a:cubicBezTo>
                    <a:pt x="131" y="2"/>
                    <a:pt x="132" y="4"/>
                    <a:pt x="132" y="6"/>
                  </a:cubicBezTo>
                  <a:cubicBezTo>
                    <a:pt x="132" y="84"/>
                    <a:pt x="132" y="84"/>
                    <a:pt x="132" y="84"/>
                  </a:cubicBezTo>
                  <a:cubicBezTo>
                    <a:pt x="132" y="86"/>
                    <a:pt x="131" y="89"/>
                    <a:pt x="128" y="90"/>
                  </a:cubicBezTo>
                  <a:cubicBezTo>
                    <a:pt x="68" y="114"/>
                    <a:pt x="68" y="114"/>
                    <a:pt x="68" y="114"/>
                  </a:cubicBezTo>
                  <a:cubicBezTo>
                    <a:pt x="68" y="114"/>
                    <a:pt x="67" y="114"/>
                    <a:pt x="66" y="114"/>
                  </a:cubicBezTo>
                  <a:close/>
                  <a:moveTo>
                    <a:pt x="12" y="80"/>
                  </a:moveTo>
                  <a:cubicBezTo>
                    <a:pt x="66" y="102"/>
                    <a:pt x="66" y="102"/>
                    <a:pt x="66" y="102"/>
                  </a:cubicBezTo>
                  <a:cubicBezTo>
                    <a:pt x="120" y="80"/>
                    <a:pt x="120" y="80"/>
                    <a:pt x="120" y="80"/>
                  </a:cubicBezTo>
                  <a:cubicBezTo>
                    <a:pt x="120" y="14"/>
                    <a:pt x="120" y="14"/>
                    <a:pt x="120" y="14"/>
                  </a:cubicBezTo>
                  <a:cubicBezTo>
                    <a:pt x="68" y="30"/>
                    <a:pt x="68" y="30"/>
                    <a:pt x="68" y="30"/>
                  </a:cubicBezTo>
                  <a:cubicBezTo>
                    <a:pt x="67" y="30"/>
                    <a:pt x="66" y="30"/>
                    <a:pt x="65" y="30"/>
                  </a:cubicBezTo>
                  <a:cubicBezTo>
                    <a:pt x="12" y="14"/>
                    <a:pt x="12" y="14"/>
                    <a:pt x="12" y="14"/>
                  </a:cubicBezTo>
                  <a:lnTo>
                    <a:pt x="12"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5" name="Freeform 148">
              <a:extLst>
                <a:ext uri="{FF2B5EF4-FFF2-40B4-BE49-F238E27FC236}">
                  <a16:creationId xmlns:a16="http://schemas.microsoft.com/office/drawing/2014/main" id="{7D9F9657-194D-A4B6-D315-033BA546A1C9}"/>
                </a:ext>
              </a:extLst>
            </p:cNvPr>
            <p:cNvSpPr>
              <a:spLocks/>
            </p:cNvSpPr>
            <p:nvPr/>
          </p:nvSpPr>
          <p:spPr bwMode="auto">
            <a:xfrm>
              <a:off x="6671" y="1716"/>
              <a:ext cx="197" cy="46"/>
            </a:xfrm>
            <a:custGeom>
              <a:avLst/>
              <a:gdLst>
                <a:gd name="T0" fmla="*/ 126 w 133"/>
                <a:gd name="T1" fmla="*/ 30 h 31"/>
                <a:gd name="T2" fmla="*/ 125 w 133"/>
                <a:gd name="T3" fmla="*/ 30 h 31"/>
                <a:gd name="T4" fmla="*/ 66 w 133"/>
                <a:gd name="T5" fmla="*/ 12 h 31"/>
                <a:gd name="T6" fmla="*/ 8 w 133"/>
                <a:gd name="T7" fmla="*/ 30 h 31"/>
                <a:gd name="T8" fmla="*/ 0 w 133"/>
                <a:gd name="T9" fmla="*/ 26 h 31"/>
                <a:gd name="T10" fmla="*/ 5 w 133"/>
                <a:gd name="T11" fmla="*/ 18 h 31"/>
                <a:gd name="T12" fmla="*/ 65 w 133"/>
                <a:gd name="T13" fmla="*/ 0 h 31"/>
                <a:gd name="T14" fmla="*/ 68 w 133"/>
                <a:gd name="T15" fmla="*/ 0 h 31"/>
                <a:gd name="T16" fmla="*/ 128 w 133"/>
                <a:gd name="T17" fmla="*/ 18 h 31"/>
                <a:gd name="T18" fmla="*/ 132 w 133"/>
                <a:gd name="T19" fmla="*/ 26 h 31"/>
                <a:gd name="T20" fmla="*/ 126 w 133"/>
                <a:gd name="T21"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31">
                  <a:moveTo>
                    <a:pt x="126" y="30"/>
                  </a:moveTo>
                  <a:cubicBezTo>
                    <a:pt x="126" y="30"/>
                    <a:pt x="125" y="30"/>
                    <a:pt x="125" y="30"/>
                  </a:cubicBezTo>
                  <a:cubicBezTo>
                    <a:pt x="66" y="12"/>
                    <a:pt x="66" y="12"/>
                    <a:pt x="66" y="12"/>
                  </a:cubicBezTo>
                  <a:cubicBezTo>
                    <a:pt x="8" y="30"/>
                    <a:pt x="8" y="30"/>
                    <a:pt x="8" y="30"/>
                  </a:cubicBezTo>
                  <a:cubicBezTo>
                    <a:pt x="5" y="31"/>
                    <a:pt x="1" y="29"/>
                    <a:pt x="0" y="26"/>
                  </a:cubicBezTo>
                  <a:cubicBezTo>
                    <a:pt x="0" y="23"/>
                    <a:pt x="1" y="19"/>
                    <a:pt x="5" y="18"/>
                  </a:cubicBezTo>
                  <a:cubicBezTo>
                    <a:pt x="65" y="0"/>
                    <a:pt x="65" y="0"/>
                    <a:pt x="65" y="0"/>
                  </a:cubicBezTo>
                  <a:cubicBezTo>
                    <a:pt x="66" y="0"/>
                    <a:pt x="67" y="0"/>
                    <a:pt x="68" y="0"/>
                  </a:cubicBezTo>
                  <a:cubicBezTo>
                    <a:pt x="128" y="18"/>
                    <a:pt x="128" y="18"/>
                    <a:pt x="128" y="18"/>
                  </a:cubicBezTo>
                  <a:cubicBezTo>
                    <a:pt x="131" y="19"/>
                    <a:pt x="133" y="23"/>
                    <a:pt x="132" y="26"/>
                  </a:cubicBezTo>
                  <a:cubicBezTo>
                    <a:pt x="131" y="28"/>
                    <a:pt x="129" y="30"/>
                    <a:pt x="1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6" name="Freeform 149">
              <a:extLst>
                <a:ext uri="{FF2B5EF4-FFF2-40B4-BE49-F238E27FC236}">
                  <a16:creationId xmlns:a16="http://schemas.microsoft.com/office/drawing/2014/main" id="{CF408B22-43A7-858D-A43C-E55489A8B2AF}"/>
                </a:ext>
              </a:extLst>
            </p:cNvPr>
            <p:cNvSpPr>
              <a:spLocks/>
            </p:cNvSpPr>
            <p:nvPr/>
          </p:nvSpPr>
          <p:spPr bwMode="auto">
            <a:xfrm>
              <a:off x="6760" y="1770"/>
              <a:ext cx="18" cy="142"/>
            </a:xfrm>
            <a:custGeom>
              <a:avLst/>
              <a:gdLst>
                <a:gd name="T0" fmla="*/ 6 w 12"/>
                <a:gd name="T1" fmla="*/ 96 h 96"/>
                <a:gd name="T2" fmla="*/ 0 w 12"/>
                <a:gd name="T3" fmla="*/ 90 h 96"/>
                <a:gd name="T4" fmla="*/ 0 w 12"/>
                <a:gd name="T5" fmla="*/ 6 h 96"/>
                <a:gd name="T6" fmla="*/ 6 w 12"/>
                <a:gd name="T7" fmla="*/ 0 h 96"/>
                <a:gd name="T8" fmla="*/ 12 w 12"/>
                <a:gd name="T9" fmla="*/ 6 h 96"/>
                <a:gd name="T10" fmla="*/ 12 w 12"/>
                <a:gd name="T11" fmla="*/ 90 h 96"/>
                <a:gd name="T12" fmla="*/ 6 w 12"/>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12" h="96">
                  <a:moveTo>
                    <a:pt x="6" y="96"/>
                  </a:moveTo>
                  <a:cubicBezTo>
                    <a:pt x="3" y="96"/>
                    <a:pt x="0" y="93"/>
                    <a:pt x="0" y="90"/>
                  </a:cubicBezTo>
                  <a:cubicBezTo>
                    <a:pt x="0" y="6"/>
                    <a:pt x="0" y="6"/>
                    <a:pt x="0" y="6"/>
                  </a:cubicBezTo>
                  <a:cubicBezTo>
                    <a:pt x="0" y="2"/>
                    <a:pt x="3" y="0"/>
                    <a:pt x="6" y="0"/>
                  </a:cubicBezTo>
                  <a:cubicBezTo>
                    <a:pt x="10" y="0"/>
                    <a:pt x="12" y="2"/>
                    <a:pt x="12" y="6"/>
                  </a:cubicBezTo>
                  <a:cubicBezTo>
                    <a:pt x="12" y="90"/>
                    <a:pt x="12" y="90"/>
                    <a:pt x="12" y="90"/>
                  </a:cubicBezTo>
                  <a:cubicBezTo>
                    <a:pt x="12" y="93"/>
                    <a:pt x="10" y="96"/>
                    <a:pt x="6"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7" name="Freeform 150">
              <a:extLst>
                <a:ext uri="{FF2B5EF4-FFF2-40B4-BE49-F238E27FC236}">
                  <a16:creationId xmlns:a16="http://schemas.microsoft.com/office/drawing/2014/main" id="{30786AC4-990F-C1DB-152A-CE66004EF485}"/>
                </a:ext>
              </a:extLst>
            </p:cNvPr>
            <p:cNvSpPr>
              <a:spLocks noEditPoints="1"/>
            </p:cNvSpPr>
            <p:nvPr/>
          </p:nvSpPr>
          <p:spPr bwMode="auto">
            <a:xfrm>
              <a:off x="6795" y="1929"/>
              <a:ext cx="160" cy="134"/>
            </a:xfrm>
            <a:custGeom>
              <a:avLst/>
              <a:gdLst>
                <a:gd name="T0" fmla="*/ 54 w 108"/>
                <a:gd name="T1" fmla="*/ 90 h 90"/>
                <a:gd name="T2" fmla="*/ 52 w 108"/>
                <a:gd name="T3" fmla="*/ 89 h 90"/>
                <a:gd name="T4" fmla="*/ 4 w 108"/>
                <a:gd name="T5" fmla="*/ 65 h 90"/>
                <a:gd name="T6" fmla="*/ 0 w 108"/>
                <a:gd name="T7" fmla="*/ 60 h 90"/>
                <a:gd name="T8" fmla="*/ 0 w 108"/>
                <a:gd name="T9" fmla="*/ 6 h 90"/>
                <a:gd name="T10" fmla="*/ 3 w 108"/>
                <a:gd name="T11" fmla="*/ 1 h 90"/>
                <a:gd name="T12" fmla="*/ 8 w 108"/>
                <a:gd name="T13" fmla="*/ 0 h 90"/>
                <a:gd name="T14" fmla="*/ 54 w 108"/>
                <a:gd name="T15" fmla="*/ 18 h 90"/>
                <a:gd name="T16" fmla="*/ 100 w 108"/>
                <a:gd name="T17" fmla="*/ 0 h 90"/>
                <a:gd name="T18" fmla="*/ 106 w 108"/>
                <a:gd name="T19" fmla="*/ 1 h 90"/>
                <a:gd name="T20" fmla="*/ 108 w 108"/>
                <a:gd name="T21" fmla="*/ 6 h 90"/>
                <a:gd name="T22" fmla="*/ 108 w 108"/>
                <a:gd name="T23" fmla="*/ 60 h 90"/>
                <a:gd name="T24" fmla="*/ 105 w 108"/>
                <a:gd name="T25" fmla="*/ 65 h 90"/>
                <a:gd name="T26" fmla="*/ 57 w 108"/>
                <a:gd name="T27" fmla="*/ 89 h 90"/>
                <a:gd name="T28" fmla="*/ 54 w 108"/>
                <a:gd name="T29" fmla="*/ 90 h 90"/>
                <a:gd name="T30" fmla="*/ 12 w 108"/>
                <a:gd name="T31" fmla="*/ 56 h 90"/>
                <a:gd name="T32" fmla="*/ 54 w 108"/>
                <a:gd name="T33" fmla="*/ 77 h 90"/>
                <a:gd name="T34" fmla="*/ 96 w 108"/>
                <a:gd name="T35" fmla="*/ 56 h 90"/>
                <a:gd name="T36" fmla="*/ 96 w 108"/>
                <a:gd name="T37" fmla="*/ 15 h 90"/>
                <a:gd name="T38" fmla="*/ 56 w 108"/>
                <a:gd name="T39" fmla="*/ 30 h 90"/>
                <a:gd name="T40" fmla="*/ 52 w 108"/>
                <a:gd name="T41" fmla="*/ 30 h 90"/>
                <a:gd name="T42" fmla="*/ 12 w 108"/>
                <a:gd name="T43" fmla="*/ 15 h 90"/>
                <a:gd name="T44" fmla="*/ 12 w 108"/>
                <a:gd name="T45" fmla="*/ 5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8" h="90">
                  <a:moveTo>
                    <a:pt x="54" y="90"/>
                  </a:moveTo>
                  <a:cubicBezTo>
                    <a:pt x="53" y="90"/>
                    <a:pt x="52" y="90"/>
                    <a:pt x="52" y="89"/>
                  </a:cubicBezTo>
                  <a:cubicBezTo>
                    <a:pt x="4" y="65"/>
                    <a:pt x="4" y="65"/>
                    <a:pt x="4" y="65"/>
                  </a:cubicBezTo>
                  <a:cubicBezTo>
                    <a:pt x="2" y="64"/>
                    <a:pt x="0" y="62"/>
                    <a:pt x="0" y="60"/>
                  </a:cubicBezTo>
                  <a:cubicBezTo>
                    <a:pt x="0" y="6"/>
                    <a:pt x="0" y="6"/>
                    <a:pt x="0" y="6"/>
                  </a:cubicBezTo>
                  <a:cubicBezTo>
                    <a:pt x="0" y="4"/>
                    <a:pt x="1" y="2"/>
                    <a:pt x="3" y="1"/>
                  </a:cubicBezTo>
                  <a:cubicBezTo>
                    <a:pt x="4" y="0"/>
                    <a:pt x="7" y="0"/>
                    <a:pt x="8" y="0"/>
                  </a:cubicBezTo>
                  <a:cubicBezTo>
                    <a:pt x="54" y="18"/>
                    <a:pt x="54" y="18"/>
                    <a:pt x="54" y="18"/>
                  </a:cubicBezTo>
                  <a:cubicBezTo>
                    <a:pt x="100" y="0"/>
                    <a:pt x="100" y="0"/>
                    <a:pt x="100" y="0"/>
                  </a:cubicBezTo>
                  <a:cubicBezTo>
                    <a:pt x="102" y="0"/>
                    <a:pt x="104" y="0"/>
                    <a:pt x="106" y="1"/>
                  </a:cubicBezTo>
                  <a:cubicBezTo>
                    <a:pt x="107" y="2"/>
                    <a:pt x="108" y="4"/>
                    <a:pt x="108" y="6"/>
                  </a:cubicBezTo>
                  <a:cubicBezTo>
                    <a:pt x="108" y="60"/>
                    <a:pt x="108" y="60"/>
                    <a:pt x="108" y="60"/>
                  </a:cubicBezTo>
                  <a:cubicBezTo>
                    <a:pt x="108" y="62"/>
                    <a:pt x="107" y="64"/>
                    <a:pt x="105" y="65"/>
                  </a:cubicBezTo>
                  <a:cubicBezTo>
                    <a:pt x="57" y="89"/>
                    <a:pt x="57" y="89"/>
                    <a:pt x="57" y="89"/>
                  </a:cubicBezTo>
                  <a:cubicBezTo>
                    <a:pt x="56" y="90"/>
                    <a:pt x="55" y="90"/>
                    <a:pt x="54" y="90"/>
                  </a:cubicBezTo>
                  <a:close/>
                  <a:moveTo>
                    <a:pt x="12" y="56"/>
                  </a:moveTo>
                  <a:cubicBezTo>
                    <a:pt x="54" y="77"/>
                    <a:pt x="54" y="77"/>
                    <a:pt x="54" y="77"/>
                  </a:cubicBezTo>
                  <a:cubicBezTo>
                    <a:pt x="96" y="56"/>
                    <a:pt x="96" y="56"/>
                    <a:pt x="96" y="56"/>
                  </a:cubicBezTo>
                  <a:cubicBezTo>
                    <a:pt x="96" y="15"/>
                    <a:pt x="96" y="15"/>
                    <a:pt x="96" y="15"/>
                  </a:cubicBezTo>
                  <a:cubicBezTo>
                    <a:pt x="56" y="30"/>
                    <a:pt x="56" y="30"/>
                    <a:pt x="56" y="30"/>
                  </a:cubicBezTo>
                  <a:cubicBezTo>
                    <a:pt x="55" y="30"/>
                    <a:pt x="53" y="30"/>
                    <a:pt x="52" y="30"/>
                  </a:cubicBezTo>
                  <a:cubicBezTo>
                    <a:pt x="12" y="15"/>
                    <a:pt x="12" y="15"/>
                    <a:pt x="12" y="15"/>
                  </a:cubicBezTo>
                  <a:lnTo>
                    <a:pt x="12"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8" name="Freeform 151">
              <a:extLst>
                <a:ext uri="{FF2B5EF4-FFF2-40B4-BE49-F238E27FC236}">
                  <a16:creationId xmlns:a16="http://schemas.microsoft.com/office/drawing/2014/main" id="{3CEA6BFC-C92D-50EB-FEDD-D042FA43BE59}"/>
                </a:ext>
              </a:extLst>
            </p:cNvPr>
            <p:cNvSpPr>
              <a:spLocks/>
            </p:cNvSpPr>
            <p:nvPr/>
          </p:nvSpPr>
          <p:spPr bwMode="auto">
            <a:xfrm>
              <a:off x="6794" y="1903"/>
              <a:ext cx="163" cy="46"/>
            </a:xfrm>
            <a:custGeom>
              <a:avLst/>
              <a:gdLst>
                <a:gd name="T0" fmla="*/ 103 w 110"/>
                <a:gd name="T1" fmla="*/ 30 h 31"/>
                <a:gd name="T2" fmla="*/ 101 w 110"/>
                <a:gd name="T3" fmla="*/ 30 h 31"/>
                <a:gd name="T4" fmla="*/ 55 w 110"/>
                <a:gd name="T5" fmla="*/ 12 h 31"/>
                <a:gd name="T6" fmla="*/ 9 w 110"/>
                <a:gd name="T7" fmla="*/ 30 h 31"/>
                <a:gd name="T8" fmla="*/ 2 w 110"/>
                <a:gd name="T9" fmla="*/ 26 h 31"/>
                <a:gd name="T10" fmla="*/ 5 w 110"/>
                <a:gd name="T11" fmla="*/ 18 h 31"/>
                <a:gd name="T12" fmla="*/ 53 w 110"/>
                <a:gd name="T13" fmla="*/ 0 h 31"/>
                <a:gd name="T14" fmla="*/ 57 w 110"/>
                <a:gd name="T15" fmla="*/ 0 h 31"/>
                <a:gd name="T16" fmla="*/ 105 w 110"/>
                <a:gd name="T17" fmla="*/ 18 h 31"/>
                <a:gd name="T18" fmla="*/ 109 w 110"/>
                <a:gd name="T19" fmla="*/ 26 h 31"/>
                <a:gd name="T20" fmla="*/ 103 w 110"/>
                <a:gd name="T21"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31">
                  <a:moveTo>
                    <a:pt x="103" y="30"/>
                  </a:moveTo>
                  <a:cubicBezTo>
                    <a:pt x="103" y="30"/>
                    <a:pt x="102" y="30"/>
                    <a:pt x="101" y="30"/>
                  </a:cubicBezTo>
                  <a:cubicBezTo>
                    <a:pt x="55" y="12"/>
                    <a:pt x="55" y="12"/>
                    <a:pt x="55" y="12"/>
                  </a:cubicBezTo>
                  <a:cubicBezTo>
                    <a:pt x="9" y="30"/>
                    <a:pt x="9" y="30"/>
                    <a:pt x="9" y="30"/>
                  </a:cubicBezTo>
                  <a:cubicBezTo>
                    <a:pt x="6" y="31"/>
                    <a:pt x="3" y="29"/>
                    <a:pt x="2" y="26"/>
                  </a:cubicBezTo>
                  <a:cubicBezTo>
                    <a:pt x="0" y="23"/>
                    <a:pt x="2" y="20"/>
                    <a:pt x="5" y="18"/>
                  </a:cubicBezTo>
                  <a:cubicBezTo>
                    <a:pt x="53" y="0"/>
                    <a:pt x="53" y="0"/>
                    <a:pt x="53" y="0"/>
                  </a:cubicBezTo>
                  <a:cubicBezTo>
                    <a:pt x="54" y="0"/>
                    <a:pt x="56" y="0"/>
                    <a:pt x="57" y="0"/>
                  </a:cubicBezTo>
                  <a:cubicBezTo>
                    <a:pt x="105" y="18"/>
                    <a:pt x="105" y="18"/>
                    <a:pt x="105" y="18"/>
                  </a:cubicBezTo>
                  <a:cubicBezTo>
                    <a:pt x="108" y="20"/>
                    <a:pt x="110" y="23"/>
                    <a:pt x="109" y="26"/>
                  </a:cubicBezTo>
                  <a:cubicBezTo>
                    <a:pt x="108" y="29"/>
                    <a:pt x="106" y="30"/>
                    <a:pt x="103"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29" name="Freeform 152">
              <a:extLst>
                <a:ext uri="{FF2B5EF4-FFF2-40B4-BE49-F238E27FC236}">
                  <a16:creationId xmlns:a16="http://schemas.microsoft.com/office/drawing/2014/main" id="{44D029D3-6128-A77F-A8E9-F553A432CF2D}"/>
                </a:ext>
              </a:extLst>
            </p:cNvPr>
            <p:cNvSpPr>
              <a:spLocks/>
            </p:cNvSpPr>
            <p:nvPr/>
          </p:nvSpPr>
          <p:spPr bwMode="auto">
            <a:xfrm>
              <a:off x="6866" y="1956"/>
              <a:ext cx="18" cy="107"/>
            </a:xfrm>
            <a:custGeom>
              <a:avLst/>
              <a:gdLst>
                <a:gd name="T0" fmla="*/ 6 w 12"/>
                <a:gd name="T1" fmla="*/ 72 h 72"/>
                <a:gd name="T2" fmla="*/ 0 w 12"/>
                <a:gd name="T3" fmla="*/ 66 h 72"/>
                <a:gd name="T4" fmla="*/ 0 w 12"/>
                <a:gd name="T5" fmla="*/ 6 h 72"/>
                <a:gd name="T6" fmla="*/ 6 w 12"/>
                <a:gd name="T7" fmla="*/ 0 h 72"/>
                <a:gd name="T8" fmla="*/ 12 w 12"/>
                <a:gd name="T9" fmla="*/ 6 h 72"/>
                <a:gd name="T10" fmla="*/ 12 w 12"/>
                <a:gd name="T11" fmla="*/ 66 h 72"/>
                <a:gd name="T12" fmla="*/ 6 w 12"/>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2" h="72">
                  <a:moveTo>
                    <a:pt x="6" y="72"/>
                  </a:moveTo>
                  <a:cubicBezTo>
                    <a:pt x="3" y="72"/>
                    <a:pt x="0" y="69"/>
                    <a:pt x="0" y="66"/>
                  </a:cubicBezTo>
                  <a:cubicBezTo>
                    <a:pt x="0" y="6"/>
                    <a:pt x="0" y="6"/>
                    <a:pt x="0" y="6"/>
                  </a:cubicBezTo>
                  <a:cubicBezTo>
                    <a:pt x="0" y="2"/>
                    <a:pt x="3" y="0"/>
                    <a:pt x="6" y="0"/>
                  </a:cubicBezTo>
                  <a:cubicBezTo>
                    <a:pt x="10" y="0"/>
                    <a:pt x="12" y="2"/>
                    <a:pt x="12" y="6"/>
                  </a:cubicBezTo>
                  <a:cubicBezTo>
                    <a:pt x="12" y="66"/>
                    <a:pt x="12" y="66"/>
                    <a:pt x="12" y="66"/>
                  </a:cubicBezTo>
                  <a:cubicBezTo>
                    <a:pt x="12" y="69"/>
                    <a:pt x="10"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0" name="Freeform 153">
              <a:extLst>
                <a:ext uri="{FF2B5EF4-FFF2-40B4-BE49-F238E27FC236}">
                  <a16:creationId xmlns:a16="http://schemas.microsoft.com/office/drawing/2014/main" id="{F41065D9-504E-7446-C7A9-E5AB4D9CDD09}"/>
                </a:ext>
              </a:extLst>
            </p:cNvPr>
            <p:cNvSpPr>
              <a:spLocks noEditPoints="1"/>
            </p:cNvSpPr>
            <p:nvPr/>
          </p:nvSpPr>
          <p:spPr bwMode="auto">
            <a:xfrm>
              <a:off x="6547" y="1947"/>
              <a:ext cx="231" cy="196"/>
            </a:xfrm>
            <a:custGeom>
              <a:avLst/>
              <a:gdLst>
                <a:gd name="T0" fmla="*/ 78 w 156"/>
                <a:gd name="T1" fmla="*/ 132 h 132"/>
                <a:gd name="T2" fmla="*/ 76 w 156"/>
                <a:gd name="T3" fmla="*/ 132 h 132"/>
                <a:gd name="T4" fmla="*/ 4 w 156"/>
                <a:gd name="T5" fmla="*/ 108 h 132"/>
                <a:gd name="T6" fmla="*/ 0 w 156"/>
                <a:gd name="T7" fmla="*/ 102 h 132"/>
                <a:gd name="T8" fmla="*/ 0 w 156"/>
                <a:gd name="T9" fmla="*/ 6 h 132"/>
                <a:gd name="T10" fmla="*/ 3 w 156"/>
                <a:gd name="T11" fmla="*/ 1 h 132"/>
                <a:gd name="T12" fmla="*/ 8 w 156"/>
                <a:gd name="T13" fmla="*/ 0 h 132"/>
                <a:gd name="T14" fmla="*/ 78 w 156"/>
                <a:gd name="T15" fmla="*/ 24 h 132"/>
                <a:gd name="T16" fmla="*/ 148 w 156"/>
                <a:gd name="T17" fmla="*/ 0 h 132"/>
                <a:gd name="T18" fmla="*/ 154 w 156"/>
                <a:gd name="T19" fmla="*/ 1 h 132"/>
                <a:gd name="T20" fmla="*/ 156 w 156"/>
                <a:gd name="T21" fmla="*/ 6 h 132"/>
                <a:gd name="T22" fmla="*/ 156 w 156"/>
                <a:gd name="T23" fmla="*/ 102 h 132"/>
                <a:gd name="T24" fmla="*/ 152 w 156"/>
                <a:gd name="T25" fmla="*/ 108 h 132"/>
                <a:gd name="T26" fmla="*/ 80 w 156"/>
                <a:gd name="T27" fmla="*/ 132 h 132"/>
                <a:gd name="T28" fmla="*/ 78 w 156"/>
                <a:gd name="T29" fmla="*/ 132 h 132"/>
                <a:gd name="T30" fmla="*/ 12 w 156"/>
                <a:gd name="T31" fmla="*/ 98 h 132"/>
                <a:gd name="T32" fmla="*/ 78 w 156"/>
                <a:gd name="T33" fmla="*/ 120 h 132"/>
                <a:gd name="T34" fmla="*/ 144 w 156"/>
                <a:gd name="T35" fmla="*/ 98 h 132"/>
                <a:gd name="T36" fmla="*/ 144 w 156"/>
                <a:gd name="T37" fmla="*/ 14 h 132"/>
                <a:gd name="T38" fmla="*/ 80 w 156"/>
                <a:gd name="T39" fmla="*/ 36 h 132"/>
                <a:gd name="T40" fmla="*/ 76 w 156"/>
                <a:gd name="T41" fmla="*/ 36 h 132"/>
                <a:gd name="T42" fmla="*/ 12 w 156"/>
                <a:gd name="T43" fmla="*/ 14 h 132"/>
                <a:gd name="T44" fmla="*/ 12 w 156"/>
                <a:gd name="T45" fmla="*/ 98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6" h="132">
                  <a:moveTo>
                    <a:pt x="78" y="132"/>
                  </a:moveTo>
                  <a:cubicBezTo>
                    <a:pt x="78" y="132"/>
                    <a:pt x="77" y="132"/>
                    <a:pt x="76" y="132"/>
                  </a:cubicBezTo>
                  <a:cubicBezTo>
                    <a:pt x="4" y="108"/>
                    <a:pt x="4" y="108"/>
                    <a:pt x="4" y="108"/>
                  </a:cubicBezTo>
                  <a:cubicBezTo>
                    <a:pt x="2" y="107"/>
                    <a:pt x="0" y="105"/>
                    <a:pt x="0" y="102"/>
                  </a:cubicBezTo>
                  <a:cubicBezTo>
                    <a:pt x="0" y="6"/>
                    <a:pt x="0" y="6"/>
                    <a:pt x="0" y="6"/>
                  </a:cubicBezTo>
                  <a:cubicBezTo>
                    <a:pt x="0" y="4"/>
                    <a:pt x="1" y="2"/>
                    <a:pt x="3" y="1"/>
                  </a:cubicBezTo>
                  <a:cubicBezTo>
                    <a:pt x="4" y="0"/>
                    <a:pt x="6" y="0"/>
                    <a:pt x="8" y="0"/>
                  </a:cubicBezTo>
                  <a:cubicBezTo>
                    <a:pt x="78" y="24"/>
                    <a:pt x="78" y="24"/>
                    <a:pt x="78" y="24"/>
                  </a:cubicBezTo>
                  <a:cubicBezTo>
                    <a:pt x="148" y="0"/>
                    <a:pt x="148" y="0"/>
                    <a:pt x="148" y="0"/>
                  </a:cubicBezTo>
                  <a:cubicBezTo>
                    <a:pt x="150" y="0"/>
                    <a:pt x="152" y="0"/>
                    <a:pt x="154" y="1"/>
                  </a:cubicBezTo>
                  <a:cubicBezTo>
                    <a:pt x="155" y="2"/>
                    <a:pt x="156" y="4"/>
                    <a:pt x="156" y="6"/>
                  </a:cubicBezTo>
                  <a:cubicBezTo>
                    <a:pt x="156" y="102"/>
                    <a:pt x="156" y="102"/>
                    <a:pt x="156" y="102"/>
                  </a:cubicBezTo>
                  <a:cubicBezTo>
                    <a:pt x="156" y="105"/>
                    <a:pt x="155" y="107"/>
                    <a:pt x="152" y="108"/>
                  </a:cubicBezTo>
                  <a:cubicBezTo>
                    <a:pt x="80" y="132"/>
                    <a:pt x="80" y="132"/>
                    <a:pt x="80" y="132"/>
                  </a:cubicBezTo>
                  <a:cubicBezTo>
                    <a:pt x="80" y="132"/>
                    <a:pt x="79" y="132"/>
                    <a:pt x="78" y="132"/>
                  </a:cubicBezTo>
                  <a:close/>
                  <a:moveTo>
                    <a:pt x="12" y="98"/>
                  </a:moveTo>
                  <a:cubicBezTo>
                    <a:pt x="78" y="120"/>
                    <a:pt x="78" y="120"/>
                    <a:pt x="78" y="120"/>
                  </a:cubicBezTo>
                  <a:cubicBezTo>
                    <a:pt x="144" y="98"/>
                    <a:pt x="144" y="98"/>
                    <a:pt x="144" y="98"/>
                  </a:cubicBezTo>
                  <a:cubicBezTo>
                    <a:pt x="144" y="14"/>
                    <a:pt x="144" y="14"/>
                    <a:pt x="144" y="14"/>
                  </a:cubicBezTo>
                  <a:cubicBezTo>
                    <a:pt x="80" y="36"/>
                    <a:pt x="80" y="36"/>
                    <a:pt x="80" y="36"/>
                  </a:cubicBezTo>
                  <a:cubicBezTo>
                    <a:pt x="79" y="36"/>
                    <a:pt x="78" y="36"/>
                    <a:pt x="76" y="36"/>
                  </a:cubicBezTo>
                  <a:cubicBezTo>
                    <a:pt x="12" y="14"/>
                    <a:pt x="12" y="14"/>
                    <a:pt x="12" y="14"/>
                  </a:cubicBezTo>
                  <a:lnTo>
                    <a:pt x="12"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31" name="Freeform 154">
              <a:extLst>
                <a:ext uri="{FF2B5EF4-FFF2-40B4-BE49-F238E27FC236}">
                  <a16:creationId xmlns:a16="http://schemas.microsoft.com/office/drawing/2014/main" id="{B91B1782-236F-106F-24F6-BD6E33B1A251}"/>
                </a:ext>
              </a:extLst>
            </p:cNvPr>
            <p:cNvSpPr>
              <a:spLocks/>
            </p:cNvSpPr>
            <p:nvPr/>
          </p:nvSpPr>
          <p:spPr bwMode="auto">
            <a:xfrm>
              <a:off x="6545" y="1912"/>
              <a:ext cx="234" cy="54"/>
            </a:xfrm>
            <a:custGeom>
              <a:avLst/>
              <a:gdLst>
                <a:gd name="T0" fmla="*/ 151 w 158"/>
                <a:gd name="T1" fmla="*/ 36 h 37"/>
                <a:gd name="T2" fmla="*/ 149 w 158"/>
                <a:gd name="T3" fmla="*/ 36 h 37"/>
                <a:gd name="T4" fmla="*/ 79 w 158"/>
                <a:gd name="T5" fmla="*/ 12 h 37"/>
                <a:gd name="T6" fmla="*/ 9 w 158"/>
                <a:gd name="T7" fmla="*/ 36 h 37"/>
                <a:gd name="T8" fmla="*/ 2 w 158"/>
                <a:gd name="T9" fmla="*/ 32 h 37"/>
                <a:gd name="T10" fmla="*/ 5 w 158"/>
                <a:gd name="T11" fmla="*/ 24 h 37"/>
                <a:gd name="T12" fmla="*/ 77 w 158"/>
                <a:gd name="T13" fmla="*/ 0 h 37"/>
                <a:gd name="T14" fmla="*/ 81 w 158"/>
                <a:gd name="T15" fmla="*/ 0 h 37"/>
                <a:gd name="T16" fmla="*/ 153 w 158"/>
                <a:gd name="T17" fmla="*/ 24 h 37"/>
                <a:gd name="T18" fmla="*/ 157 w 158"/>
                <a:gd name="T19" fmla="*/ 32 h 37"/>
                <a:gd name="T20" fmla="*/ 151 w 158"/>
                <a:gd name="T21"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8" h="37">
                  <a:moveTo>
                    <a:pt x="151" y="36"/>
                  </a:moveTo>
                  <a:cubicBezTo>
                    <a:pt x="151" y="36"/>
                    <a:pt x="150" y="36"/>
                    <a:pt x="149" y="36"/>
                  </a:cubicBezTo>
                  <a:cubicBezTo>
                    <a:pt x="79" y="12"/>
                    <a:pt x="79" y="12"/>
                    <a:pt x="79" y="12"/>
                  </a:cubicBezTo>
                  <a:cubicBezTo>
                    <a:pt x="9" y="36"/>
                    <a:pt x="9" y="36"/>
                    <a:pt x="9" y="36"/>
                  </a:cubicBezTo>
                  <a:cubicBezTo>
                    <a:pt x="6" y="37"/>
                    <a:pt x="3" y="35"/>
                    <a:pt x="2" y="32"/>
                  </a:cubicBezTo>
                  <a:cubicBezTo>
                    <a:pt x="0" y="29"/>
                    <a:pt x="2" y="25"/>
                    <a:pt x="5" y="24"/>
                  </a:cubicBezTo>
                  <a:cubicBezTo>
                    <a:pt x="77" y="0"/>
                    <a:pt x="77" y="0"/>
                    <a:pt x="77" y="0"/>
                  </a:cubicBezTo>
                  <a:cubicBezTo>
                    <a:pt x="79" y="0"/>
                    <a:pt x="80" y="0"/>
                    <a:pt x="81" y="0"/>
                  </a:cubicBezTo>
                  <a:cubicBezTo>
                    <a:pt x="153" y="24"/>
                    <a:pt x="153" y="24"/>
                    <a:pt x="153" y="24"/>
                  </a:cubicBezTo>
                  <a:cubicBezTo>
                    <a:pt x="156" y="25"/>
                    <a:pt x="158" y="29"/>
                    <a:pt x="157" y="32"/>
                  </a:cubicBezTo>
                  <a:cubicBezTo>
                    <a:pt x="156" y="34"/>
                    <a:pt x="154" y="36"/>
                    <a:pt x="151"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6384" name="Freeform 155">
              <a:extLst>
                <a:ext uri="{FF2B5EF4-FFF2-40B4-BE49-F238E27FC236}">
                  <a16:creationId xmlns:a16="http://schemas.microsoft.com/office/drawing/2014/main" id="{15B32BFF-46C5-C59B-1DC8-36C342B94421}"/>
                </a:ext>
              </a:extLst>
            </p:cNvPr>
            <p:cNvSpPr>
              <a:spLocks/>
            </p:cNvSpPr>
            <p:nvPr/>
          </p:nvSpPr>
          <p:spPr bwMode="auto">
            <a:xfrm>
              <a:off x="6653" y="1983"/>
              <a:ext cx="18" cy="160"/>
            </a:xfrm>
            <a:custGeom>
              <a:avLst/>
              <a:gdLst>
                <a:gd name="T0" fmla="*/ 6 w 12"/>
                <a:gd name="T1" fmla="*/ 108 h 108"/>
                <a:gd name="T2" fmla="*/ 0 w 12"/>
                <a:gd name="T3" fmla="*/ 102 h 108"/>
                <a:gd name="T4" fmla="*/ 0 w 12"/>
                <a:gd name="T5" fmla="*/ 6 h 108"/>
                <a:gd name="T6" fmla="*/ 6 w 12"/>
                <a:gd name="T7" fmla="*/ 0 h 108"/>
                <a:gd name="T8" fmla="*/ 12 w 12"/>
                <a:gd name="T9" fmla="*/ 6 h 108"/>
                <a:gd name="T10" fmla="*/ 12 w 12"/>
                <a:gd name="T11" fmla="*/ 102 h 108"/>
                <a:gd name="T12" fmla="*/ 6 w 12"/>
                <a:gd name="T13" fmla="*/ 108 h 108"/>
              </a:gdLst>
              <a:ahLst/>
              <a:cxnLst>
                <a:cxn ang="0">
                  <a:pos x="T0" y="T1"/>
                </a:cxn>
                <a:cxn ang="0">
                  <a:pos x="T2" y="T3"/>
                </a:cxn>
                <a:cxn ang="0">
                  <a:pos x="T4" y="T5"/>
                </a:cxn>
                <a:cxn ang="0">
                  <a:pos x="T6" y="T7"/>
                </a:cxn>
                <a:cxn ang="0">
                  <a:pos x="T8" y="T9"/>
                </a:cxn>
                <a:cxn ang="0">
                  <a:pos x="T10" y="T11"/>
                </a:cxn>
                <a:cxn ang="0">
                  <a:pos x="T12" y="T13"/>
                </a:cxn>
              </a:cxnLst>
              <a:rect l="0" t="0" r="r" b="b"/>
              <a:pathLst>
                <a:path w="12" h="108">
                  <a:moveTo>
                    <a:pt x="6" y="108"/>
                  </a:moveTo>
                  <a:cubicBezTo>
                    <a:pt x="3" y="108"/>
                    <a:pt x="0" y="105"/>
                    <a:pt x="0" y="102"/>
                  </a:cubicBezTo>
                  <a:cubicBezTo>
                    <a:pt x="0" y="6"/>
                    <a:pt x="0" y="6"/>
                    <a:pt x="0" y="6"/>
                  </a:cubicBezTo>
                  <a:cubicBezTo>
                    <a:pt x="0" y="2"/>
                    <a:pt x="3" y="0"/>
                    <a:pt x="6" y="0"/>
                  </a:cubicBezTo>
                  <a:cubicBezTo>
                    <a:pt x="10" y="0"/>
                    <a:pt x="12" y="2"/>
                    <a:pt x="12" y="6"/>
                  </a:cubicBezTo>
                  <a:cubicBezTo>
                    <a:pt x="12" y="102"/>
                    <a:pt x="12" y="102"/>
                    <a:pt x="12" y="102"/>
                  </a:cubicBezTo>
                  <a:cubicBezTo>
                    <a:pt x="12" y="105"/>
                    <a:pt x="10" y="108"/>
                    <a:pt x="6"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nvGrpSpPr>
          <p:cNvPr id="16385" name="Group 38">
            <a:extLst>
              <a:ext uri="{FF2B5EF4-FFF2-40B4-BE49-F238E27FC236}">
                <a16:creationId xmlns:a16="http://schemas.microsoft.com/office/drawing/2014/main" id="{B78D7063-35D7-9E9E-5223-C73DB8EC84D4}"/>
              </a:ext>
            </a:extLst>
          </p:cNvPr>
          <p:cNvGrpSpPr>
            <a:grpSpLocks noChangeAspect="1"/>
          </p:cNvGrpSpPr>
          <p:nvPr/>
        </p:nvGrpSpPr>
        <p:grpSpPr bwMode="auto">
          <a:xfrm>
            <a:off x="6953352" y="5307617"/>
            <a:ext cx="529168" cy="543194"/>
            <a:chOff x="4482" y="439"/>
            <a:chExt cx="415" cy="426"/>
          </a:xfrm>
          <a:solidFill>
            <a:schemeClr val="tx2"/>
          </a:solidFill>
        </p:grpSpPr>
        <p:sp>
          <p:nvSpPr>
            <p:cNvPr id="16387" name="Freeform 39">
              <a:extLst>
                <a:ext uri="{FF2B5EF4-FFF2-40B4-BE49-F238E27FC236}">
                  <a16:creationId xmlns:a16="http://schemas.microsoft.com/office/drawing/2014/main" id="{58B53B89-A486-69DF-C4F6-FCE2C981D316}"/>
                </a:ext>
              </a:extLst>
            </p:cNvPr>
            <p:cNvSpPr>
              <a:spLocks noEditPoints="1"/>
            </p:cNvSpPr>
            <p:nvPr/>
          </p:nvSpPr>
          <p:spPr bwMode="auto">
            <a:xfrm>
              <a:off x="4651" y="439"/>
              <a:ext cx="246" cy="249"/>
            </a:xfrm>
            <a:custGeom>
              <a:avLst/>
              <a:gdLst>
                <a:gd name="T0" fmla="*/ 66 w 166"/>
                <a:gd name="T1" fmla="*/ 168 h 168"/>
                <a:gd name="T2" fmla="*/ 60 w 166"/>
                <a:gd name="T3" fmla="*/ 146 h 168"/>
                <a:gd name="T4" fmla="*/ 27 w 166"/>
                <a:gd name="T5" fmla="*/ 143 h 168"/>
                <a:gd name="T6" fmla="*/ 1 w 166"/>
                <a:gd name="T7" fmla="*/ 110 h 168"/>
                <a:gd name="T8" fmla="*/ 3 w 166"/>
                <a:gd name="T9" fmla="*/ 102 h 168"/>
                <a:gd name="T10" fmla="*/ 18 w 166"/>
                <a:gd name="T11" fmla="*/ 74 h 168"/>
                <a:gd name="T12" fmla="*/ 1 w 166"/>
                <a:gd name="T13" fmla="*/ 62 h 168"/>
                <a:gd name="T14" fmla="*/ 20 w 166"/>
                <a:gd name="T15" fmla="*/ 26 h 168"/>
                <a:gd name="T16" fmla="*/ 42 w 166"/>
                <a:gd name="T17" fmla="*/ 32 h 168"/>
                <a:gd name="T18" fmla="*/ 60 w 166"/>
                <a:gd name="T19" fmla="*/ 6 h 168"/>
                <a:gd name="T20" fmla="*/ 102 w 166"/>
                <a:gd name="T21" fmla="*/ 0 h 168"/>
                <a:gd name="T22" fmla="*/ 108 w 166"/>
                <a:gd name="T23" fmla="*/ 23 h 168"/>
                <a:gd name="T24" fmla="*/ 139 w 166"/>
                <a:gd name="T25" fmla="*/ 24 h 168"/>
                <a:gd name="T26" fmla="*/ 147 w 166"/>
                <a:gd name="T27" fmla="*/ 26 h 168"/>
                <a:gd name="T28" fmla="*/ 165 w 166"/>
                <a:gd name="T29" fmla="*/ 62 h 168"/>
                <a:gd name="T30" fmla="*/ 148 w 166"/>
                <a:gd name="T31" fmla="*/ 74 h 168"/>
                <a:gd name="T32" fmla="*/ 163 w 166"/>
                <a:gd name="T33" fmla="*/ 102 h 168"/>
                <a:gd name="T34" fmla="*/ 165 w 166"/>
                <a:gd name="T35" fmla="*/ 110 h 168"/>
                <a:gd name="T36" fmla="*/ 143 w 166"/>
                <a:gd name="T37" fmla="*/ 144 h 168"/>
                <a:gd name="T38" fmla="*/ 125 w 166"/>
                <a:gd name="T39" fmla="*/ 135 h 168"/>
                <a:gd name="T40" fmla="*/ 108 w 166"/>
                <a:gd name="T41" fmla="*/ 162 h 168"/>
                <a:gd name="T42" fmla="*/ 72 w 166"/>
                <a:gd name="T43" fmla="*/ 156 h 168"/>
                <a:gd name="T44" fmla="*/ 96 w 166"/>
                <a:gd name="T45" fmla="*/ 141 h 168"/>
                <a:gd name="T46" fmla="*/ 120 w 166"/>
                <a:gd name="T47" fmla="*/ 123 h 168"/>
                <a:gd name="T48" fmla="*/ 139 w 166"/>
                <a:gd name="T49" fmla="*/ 130 h 168"/>
                <a:gd name="T50" fmla="*/ 139 w 166"/>
                <a:gd name="T51" fmla="*/ 102 h 168"/>
                <a:gd name="T52" fmla="*/ 136 w 166"/>
                <a:gd name="T53" fmla="*/ 72 h 168"/>
                <a:gd name="T54" fmla="*/ 151 w 166"/>
                <a:gd name="T55" fmla="*/ 58 h 168"/>
                <a:gd name="T56" fmla="*/ 127 w 166"/>
                <a:gd name="T57" fmla="*/ 45 h 168"/>
                <a:gd name="T58" fmla="*/ 100 w 166"/>
                <a:gd name="T59" fmla="*/ 32 h 168"/>
                <a:gd name="T60" fmla="*/ 96 w 166"/>
                <a:gd name="T61" fmla="*/ 12 h 168"/>
                <a:gd name="T62" fmla="*/ 72 w 166"/>
                <a:gd name="T63" fmla="*/ 26 h 168"/>
                <a:gd name="T64" fmla="*/ 48 w 166"/>
                <a:gd name="T65" fmla="*/ 44 h 168"/>
                <a:gd name="T66" fmla="*/ 27 w 166"/>
                <a:gd name="T67" fmla="*/ 37 h 168"/>
                <a:gd name="T68" fmla="*/ 28 w 166"/>
                <a:gd name="T69" fmla="*/ 65 h 168"/>
                <a:gd name="T70" fmla="*/ 30 w 166"/>
                <a:gd name="T71" fmla="*/ 95 h 168"/>
                <a:gd name="T72" fmla="*/ 15 w 166"/>
                <a:gd name="T73" fmla="*/ 109 h 168"/>
                <a:gd name="T74" fmla="*/ 40 w 166"/>
                <a:gd name="T75" fmla="*/ 123 h 168"/>
                <a:gd name="T76" fmla="*/ 68 w 166"/>
                <a:gd name="T77" fmla="*/ 135 h 168"/>
                <a:gd name="T78" fmla="*/ 72 w 166"/>
                <a:gd name="T7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6" h="168">
                  <a:moveTo>
                    <a:pt x="102" y="168"/>
                  </a:moveTo>
                  <a:cubicBezTo>
                    <a:pt x="66" y="168"/>
                    <a:pt x="66" y="168"/>
                    <a:pt x="66" y="168"/>
                  </a:cubicBezTo>
                  <a:cubicBezTo>
                    <a:pt x="63" y="168"/>
                    <a:pt x="60" y="165"/>
                    <a:pt x="60" y="162"/>
                  </a:cubicBezTo>
                  <a:cubicBezTo>
                    <a:pt x="60" y="146"/>
                    <a:pt x="60" y="146"/>
                    <a:pt x="60" y="146"/>
                  </a:cubicBezTo>
                  <a:cubicBezTo>
                    <a:pt x="52" y="143"/>
                    <a:pt x="47" y="139"/>
                    <a:pt x="42" y="135"/>
                  </a:cubicBezTo>
                  <a:cubicBezTo>
                    <a:pt x="27" y="143"/>
                    <a:pt x="27" y="143"/>
                    <a:pt x="27" y="143"/>
                  </a:cubicBezTo>
                  <a:cubicBezTo>
                    <a:pt x="25" y="145"/>
                    <a:pt x="21" y="144"/>
                    <a:pt x="19" y="141"/>
                  </a:cubicBezTo>
                  <a:cubicBezTo>
                    <a:pt x="1" y="110"/>
                    <a:pt x="1" y="110"/>
                    <a:pt x="1" y="110"/>
                  </a:cubicBezTo>
                  <a:cubicBezTo>
                    <a:pt x="1" y="109"/>
                    <a:pt x="0" y="107"/>
                    <a:pt x="1" y="106"/>
                  </a:cubicBezTo>
                  <a:cubicBezTo>
                    <a:pt x="1" y="104"/>
                    <a:pt x="2" y="103"/>
                    <a:pt x="3" y="102"/>
                  </a:cubicBezTo>
                  <a:cubicBezTo>
                    <a:pt x="18" y="94"/>
                    <a:pt x="18" y="94"/>
                    <a:pt x="18" y="94"/>
                  </a:cubicBezTo>
                  <a:cubicBezTo>
                    <a:pt x="17" y="87"/>
                    <a:pt x="17" y="80"/>
                    <a:pt x="18" y="74"/>
                  </a:cubicBezTo>
                  <a:cubicBezTo>
                    <a:pt x="4" y="65"/>
                    <a:pt x="4" y="65"/>
                    <a:pt x="4" y="65"/>
                  </a:cubicBezTo>
                  <a:cubicBezTo>
                    <a:pt x="2" y="65"/>
                    <a:pt x="1" y="63"/>
                    <a:pt x="1" y="62"/>
                  </a:cubicBezTo>
                  <a:cubicBezTo>
                    <a:pt x="0" y="60"/>
                    <a:pt x="1" y="59"/>
                    <a:pt x="1" y="57"/>
                  </a:cubicBezTo>
                  <a:cubicBezTo>
                    <a:pt x="20" y="26"/>
                    <a:pt x="20" y="26"/>
                    <a:pt x="20" y="26"/>
                  </a:cubicBezTo>
                  <a:cubicBezTo>
                    <a:pt x="21" y="23"/>
                    <a:pt x="25" y="22"/>
                    <a:pt x="28" y="24"/>
                  </a:cubicBezTo>
                  <a:cubicBezTo>
                    <a:pt x="42" y="32"/>
                    <a:pt x="42" y="32"/>
                    <a:pt x="42" y="32"/>
                  </a:cubicBezTo>
                  <a:cubicBezTo>
                    <a:pt x="47" y="28"/>
                    <a:pt x="52" y="24"/>
                    <a:pt x="60" y="22"/>
                  </a:cubicBezTo>
                  <a:cubicBezTo>
                    <a:pt x="60" y="6"/>
                    <a:pt x="60" y="6"/>
                    <a:pt x="60" y="6"/>
                  </a:cubicBezTo>
                  <a:cubicBezTo>
                    <a:pt x="60" y="2"/>
                    <a:pt x="63" y="0"/>
                    <a:pt x="66" y="0"/>
                  </a:cubicBezTo>
                  <a:cubicBezTo>
                    <a:pt x="102" y="0"/>
                    <a:pt x="102" y="0"/>
                    <a:pt x="102" y="0"/>
                  </a:cubicBezTo>
                  <a:cubicBezTo>
                    <a:pt x="106" y="0"/>
                    <a:pt x="108" y="2"/>
                    <a:pt x="108" y="6"/>
                  </a:cubicBezTo>
                  <a:cubicBezTo>
                    <a:pt x="108" y="23"/>
                    <a:pt x="108" y="23"/>
                    <a:pt x="108" y="23"/>
                  </a:cubicBezTo>
                  <a:cubicBezTo>
                    <a:pt x="115" y="26"/>
                    <a:pt x="121" y="29"/>
                    <a:pt x="125" y="32"/>
                  </a:cubicBezTo>
                  <a:cubicBezTo>
                    <a:pt x="139" y="24"/>
                    <a:pt x="139" y="24"/>
                    <a:pt x="139" y="24"/>
                  </a:cubicBezTo>
                  <a:cubicBezTo>
                    <a:pt x="140" y="23"/>
                    <a:pt x="142" y="23"/>
                    <a:pt x="143" y="23"/>
                  </a:cubicBezTo>
                  <a:cubicBezTo>
                    <a:pt x="145" y="24"/>
                    <a:pt x="146" y="25"/>
                    <a:pt x="147" y="26"/>
                  </a:cubicBezTo>
                  <a:cubicBezTo>
                    <a:pt x="165" y="57"/>
                    <a:pt x="165" y="57"/>
                    <a:pt x="165" y="57"/>
                  </a:cubicBezTo>
                  <a:cubicBezTo>
                    <a:pt x="166" y="59"/>
                    <a:pt x="166" y="60"/>
                    <a:pt x="165" y="62"/>
                  </a:cubicBezTo>
                  <a:cubicBezTo>
                    <a:pt x="165" y="63"/>
                    <a:pt x="164" y="65"/>
                    <a:pt x="163" y="65"/>
                  </a:cubicBezTo>
                  <a:cubicBezTo>
                    <a:pt x="148" y="74"/>
                    <a:pt x="148" y="74"/>
                    <a:pt x="148" y="74"/>
                  </a:cubicBezTo>
                  <a:cubicBezTo>
                    <a:pt x="149" y="80"/>
                    <a:pt x="149" y="87"/>
                    <a:pt x="148" y="94"/>
                  </a:cubicBezTo>
                  <a:cubicBezTo>
                    <a:pt x="163" y="102"/>
                    <a:pt x="163" y="102"/>
                    <a:pt x="163" y="102"/>
                  </a:cubicBezTo>
                  <a:cubicBezTo>
                    <a:pt x="164" y="103"/>
                    <a:pt x="165" y="104"/>
                    <a:pt x="165" y="106"/>
                  </a:cubicBezTo>
                  <a:cubicBezTo>
                    <a:pt x="166" y="107"/>
                    <a:pt x="166" y="109"/>
                    <a:pt x="165" y="110"/>
                  </a:cubicBezTo>
                  <a:cubicBezTo>
                    <a:pt x="147" y="141"/>
                    <a:pt x="147" y="141"/>
                    <a:pt x="147" y="141"/>
                  </a:cubicBezTo>
                  <a:cubicBezTo>
                    <a:pt x="146" y="143"/>
                    <a:pt x="145" y="144"/>
                    <a:pt x="143" y="144"/>
                  </a:cubicBezTo>
                  <a:cubicBezTo>
                    <a:pt x="142" y="144"/>
                    <a:pt x="140" y="144"/>
                    <a:pt x="139" y="143"/>
                  </a:cubicBezTo>
                  <a:cubicBezTo>
                    <a:pt x="125" y="135"/>
                    <a:pt x="125" y="135"/>
                    <a:pt x="125" y="135"/>
                  </a:cubicBezTo>
                  <a:cubicBezTo>
                    <a:pt x="121" y="138"/>
                    <a:pt x="115" y="142"/>
                    <a:pt x="108" y="145"/>
                  </a:cubicBezTo>
                  <a:cubicBezTo>
                    <a:pt x="108" y="162"/>
                    <a:pt x="108" y="162"/>
                    <a:pt x="108" y="162"/>
                  </a:cubicBezTo>
                  <a:cubicBezTo>
                    <a:pt x="108" y="165"/>
                    <a:pt x="106" y="168"/>
                    <a:pt x="102" y="168"/>
                  </a:cubicBezTo>
                  <a:close/>
                  <a:moveTo>
                    <a:pt x="72" y="156"/>
                  </a:moveTo>
                  <a:cubicBezTo>
                    <a:pt x="96" y="156"/>
                    <a:pt x="96" y="156"/>
                    <a:pt x="96" y="156"/>
                  </a:cubicBezTo>
                  <a:cubicBezTo>
                    <a:pt x="96" y="141"/>
                    <a:pt x="96" y="141"/>
                    <a:pt x="96" y="141"/>
                  </a:cubicBezTo>
                  <a:cubicBezTo>
                    <a:pt x="96" y="139"/>
                    <a:pt x="98" y="136"/>
                    <a:pt x="100" y="135"/>
                  </a:cubicBezTo>
                  <a:cubicBezTo>
                    <a:pt x="109" y="131"/>
                    <a:pt x="116" y="127"/>
                    <a:pt x="120" y="123"/>
                  </a:cubicBezTo>
                  <a:cubicBezTo>
                    <a:pt x="122" y="122"/>
                    <a:pt x="125" y="121"/>
                    <a:pt x="127" y="123"/>
                  </a:cubicBezTo>
                  <a:cubicBezTo>
                    <a:pt x="139" y="130"/>
                    <a:pt x="139" y="130"/>
                    <a:pt x="139" y="130"/>
                  </a:cubicBezTo>
                  <a:cubicBezTo>
                    <a:pt x="151" y="109"/>
                    <a:pt x="151" y="109"/>
                    <a:pt x="151" y="109"/>
                  </a:cubicBezTo>
                  <a:cubicBezTo>
                    <a:pt x="139" y="102"/>
                    <a:pt x="139" y="102"/>
                    <a:pt x="139" y="102"/>
                  </a:cubicBezTo>
                  <a:cubicBezTo>
                    <a:pt x="136" y="101"/>
                    <a:pt x="135" y="98"/>
                    <a:pt x="136" y="95"/>
                  </a:cubicBezTo>
                  <a:cubicBezTo>
                    <a:pt x="137" y="87"/>
                    <a:pt x="137" y="80"/>
                    <a:pt x="136" y="72"/>
                  </a:cubicBezTo>
                  <a:cubicBezTo>
                    <a:pt x="135" y="69"/>
                    <a:pt x="136" y="67"/>
                    <a:pt x="139" y="65"/>
                  </a:cubicBezTo>
                  <a:cubicBezTo>
                    <a:pt x="151" y="58"/>
                    <a:pt x="151" y="58"/>
                    <a:pt x="151" y="58"/>
                  </a:cubicBezTo>
                  <a:cubicBezTo>
                    <a:pt x="139" y="37"/>
                    <a:pt x="139" y="37"/>
                    <a:pt x="139" y="37"/>
                  </a:cubicBezTo>
                  <a:cubicBezTo>
                    <a:pt x="127" y="45"/>
                    <a:pt x="127" y="45"/>
                    <a:pt x="127" y="45"/>
                  </a:cubicBezTo>
                  <a:cubicBezTo>
                    <a:pt x="125" y="46"/>
                    <a:pt x="122" y="46"/>
                    <a:pt x="120" y="44"/>
                  </a:cubicBezTo>
                  <a:cubicBezTo>
                    <a:pt x="116" y="40"/>
                    <a:pt x="109" y="36"/>
                    <a:pt x="100" y="32"/>
                  </a:cubicBezTo>
                  <a:cubicBezTo>
                    <a:pt x="98" y="31"/>
                    <a:pt x="96" y="29"/>
                    <a:pt x="96" y="26"/>
                  </a:cubicBezTo>
                  <a:cubicBezTo>
                    <a:pt x="96" y="12"/>
                    <a:pt x="96" y="12"/>
                    <a:pt x="96" y="12"/>
                  </a:cubicBezTo>
                  <a:cubicBezTo>
                    <a:pt x="72" y="12"/>
                    <a:pt x="72" y="12"/>
                    <a:pt x="72" y="12"/>
                  </a:cubicBezTo>
                  <a:cubicBezTo>
                    <a:pt x="72" y="26"/>
                    <a:pt x="72" y="26"/>
                    <a:pt x="72" y="26"/>
                  </a:cubicBezTo>
                  <a:cubicBezTo>
                    <a:pt x="72" y="29"/>
                    <a:pt x="71" y="32"/>
                    <a:pt x="68" y="32"/>
                  </a:cubicBezTo>
                  <a:cubicBezTo>
                    <a:pt x="57" y="35"/>
                    <a:pt x="54" y="38"/>
                    <a:pt x="48" y="44"/>
                  </a:cubicBezTo>
                  <a:cubicBezTo>
                    <a:pt x="46" y="45"/>
                    <a:pt x="43" y="46"/>
                    <a:pt x="40" y="45"/>
                  </a:cubicBezTo>
                  <a:cubicBezTo>
                    <a:pt x="27" y="37"/>
                    <a:pt x="27" y="37"/>
                    <a:pt x="27" y="37"/>
                  </a:cubicBezTo>
                  <a:cubicBezTo>
                    <a:pt x="15" y="58"/>
                    <a:pt x="15" y="58"/>
                    <a:pt x="15" y="58"/>
                  </a:cubicBezTo>
                  <a:cubicBezTo>
                    <a:pt x="28" y="65"/>
                    <a:pt x="28" y="65"/>
                    <a:pt x="28" y="65"/>
                  </a:cubicBezTo>
                  <a:cubicBezTo>
                    <a:pt x="30" y="67"/>
                    <a:pt x="31" y="69"/>
                    <a:pt x="30" y="72"/>
                  </a:cubicBezTo>
                  <a:cubicBezTo>
                    <a:pt x="29" y="80"/>
                    <a:pt x="29" y="88"/>
                    <a:pt x="30" y="95"/>
                  </a:cubicBezTo>
                  <a:cubicBezTo>
                    <a:pt x="31" y="98"/>
                    <a:pt x="30" y="101"/>
                    <a:pt x="28" y="102"/>
                  </a:cubicBezTo>
                  <a:cubicBezTo>
                    <a:pt x="15" y="109"/>
                    <a:pt x="15" y="109"/>
                    <a:pt x="15" y="109"/>
                  </a:cubicBezTo>
                  <a:cubicBezTo>
                    <a:pt x="27" y="130"/>
                    <a:pt x="27" y="130"/>
                    <a:pt x="27" y="130"/>
                  </a:cubicBezTo>
                  <a:cubicBezTo>
                    <a:pt x="40" y="123"/>
                    <a:pt x="40" y="123"/>
                    <a:pt x="40" y="123"/>
                  </a:cubicBezTo>
                  <a:cubicBezTo>
                    <a:pt x="43" y="121"/>
                    <a:pt x="45" y="122"/>
                    <a:pt x="47" y="123"/>
                  </a:cubicBezTo>
                  <a:cubicBezTo>
                    <a:pt x="54" y="129"/>
                    <a:pt x="57" y="133"/>
                    <a:pt x="68" y="135"/>
                  </a:cubicBezTo>
                  <a:cubicBezTo>
                    <a:pt x="71" y="136"/>
                    <a:pt x="72" y="138"/>
                    <a:pt x="72" y="141"/>
                  </a:cubicBezTo>
                  <a:lnTo>
                    <a:pt x="7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6388" name="Freeform 40">
              <a:extLst>
                <a:ext uri="{FF2B5EF4-FFF2-40B4-BE49-F238E27FC236}">
                  <a16:creationId xmlns:a16="http://schemas.microsoft.com/office/drawing/2014/main" id="{0BAE379B-2EEE-6965-D5AE-7FD6373B7E9C}"/>
                </a:ext>
              </a:extLst>
            </p:cNvPr>
            <p:cNvSpPr>
              <a:spLocks noEditPoints="1"/>
            </p:cNvSpPr>
            <p:nvPr/>
          </p:nvSpPr>
          <p:spPr bwMode="auto">
            <a:xfrm>
              <a:off x="4729" y="519"/>
              <a:ext cx="89" cy="89"/>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6389" name="Freeform 41">
              <a:extLst>
                <a:ext uri="{FF2B5EF4-FFF2-40B4-BE49-F238E27FC236}">
                  <a16:creationId xmlns:a16="http://schemas.microsoft.com/office/drawing/2014/main" id="{8879D0D5-5DC4-0F0D-8A60-870AB9DE077F}"/>
                </a:ext>
              </a:extLst>
            </p:cNvPr>
            <p:cNvSpPr>
              <a:spLocks noEditPoints="1"/>
            </p:cNvSpPr>
            <p:nvPr/>
          </p:nvSpPr>
          <p:spPr bwMode="auto">
            <a:xfrm>
              <a:off x="4482" y="617"/>
              <a:ext cx="246" cy="248"/>
            </a:xfrm>
            <a:custGeom>
              <a:avLst/>
              <a:gdLst>
                <a:gd name="T0" fmla="*/ 66 w 166"/>
                <a:gd name="T1" fmla="*/ 168 h 168"/>
                <a:gd name="T2" fmla="*/ 60 w 166"/>
                <a:gd name="T3" fmla="*/ 146 h 168"/>
                <a:gd name="T4" fmla="*/ 27 w 166"/>
                <a:gd name="T5" fmla="*/ 143 h 168"/>
                <a:gd name="T6" fmla="*/ 1 w 166"/>
                <a:gd name="T7" fmla="*/ 110 h 168"/>
                <a:gd name="T8" fmla="*/ 3 w 166"/>
                <a:gd name="T9" fmla="*/ 102 h 168"/>
                <a:gd name="T10" fmla="*/ 18 w 166"/>
                <a:gd name="T11" fmla="*/ 74 h 168"/>
                <a:gd name="T12" fmla="*/ 1 w 166"/>
                <a:gd name="T13" fmla="*/ 62 h 168"/>
                <a:gd name="T14" fmla="*/ 20 w 166"/>
                <a:gd name="T15" fmla="*/ 26 h 168"/>
                <a:gd name="T16" fmla="*/ 42 w 166"/>
                <a:gd name="T17" fmla="*/ 32 h 168"/>
                <a:gd name="T18" fmla="*/ 60 w 166"/>
                <a:gd name="T19" fmla="*/ 6 h 168"/>
                <a:gd name="T20" fmla="*/ 102 w 166"/>
                <a:gd name="T21" fmla="*/ 0 h 168"/>
                <a:gd name="T22" fmla="*/ 108 w 166"/>
                <a:gd name="T23" fmla="*/ 23 h 168"/>
                <a:gd name="T24" fmla="*/ 138 w 166"/>
                <a:gd name="T25" fmla="*/ 24 h 168"/>
                <a:gd name="T26" fmla="*/ 147 w 166"/>
                <a:gd name="T27" fmla="*/ 26 h 168"/>
                <a:gd name="T28" fmla="*/ 165 w 166"/>
                <a:gd name="T29" fmla="*/ 62 h 168"/>
                <a:gd name="T30" fmla="*/ 148 w 166"/>
                <a:gd name="T31" fmla="*/ 74 h 168"/>
                <a:gd name="T32" fmla="*/ 163 w 166"/>
                <a:gd name="T33" fmla="*/ 102 h 168"/>
                <a:gd name="T34" fmla="*/ 165 w 166"/>
                <a:gd name="T35" fmla="*/ 110 h 168"/>
                <a:gd name="T36" fmla="*/ 143 w 166"/>
                <a:gd name="T37" fmla="*/ 144 h 168"/>
                <a:gd name="T38" fmla="*/ 125 w 166"/>
                <a:gd name="T39" fmla="*/ 135 h 168"/>
                <a:gd name="T40" fmla="*/ 108 w 166"/>
                <a:gd name="T41" fmla="*/ 162 h 168"/>
                <a:gd name="T42" fmla="*/ 72 w 166"/>
                <a:gd name="T43" fmla="*/ 156 h 168"/>
                <a:gd name="T44" fmla="*/ 96 w 166"/>
                <a:gd name="T45" fmla="*/ 141 h 168"/>
                <a:gd name="T46" fmla="*/ 120 w 166"/>
                <a:gd name="T47" fmla="*/ 123 h 168"/>
                <a:gd name="T48" fmla="*/ 139 w 166"/>
                <a:gd name="T49" fmla="*/ 130 h 168"/>
                <a:gd name="T50" fmla="*/ 139 w 166"/>
                <a:gd name="T51" fmla="*/ 102 h 168"/>
                <a:gd name="T52" fmla="*/ 136 w 166"/>
                <a:gd name="T53" fmla="*/ 72 h 168"/>
                <a:gd name="T54" fmla="*/ 151 w 166"/>
                <a:gd name="T55" fmla="*/ 58 h 168"/>
                <a:gd name="T56" fmla="*/ 127 w 166"/>
                <a:gd name="T57" fmla="*/ 45 h 168"/>
                <a:gd name="T58" fmla="*/ 100 w 166"/>
                <a:gd name="T59" fmla="*/ 32 h 168"/>
                <a:gd name="T60" fmla="*/ 96 w 166"/>
                <a:gd name="T61" fmla="*/ 12 h 168"/>
                <a:gd name="T62" fmla="*/ 72 w 166"/>
                <a:gd name="T63" fmla="*/ 26 h 168"/>
                <a:gd name="T64" fmla="*/ 48 w 166"/>
                <a:gd name="T65" fmla="*/ 44 h 168"/>
                <a:gd name="T66" fmla="*/ 27 w 166"/>
                <a:gd name="T67" fmla="*/ 37 h 168"/>
                <a:gd name="T68" fmla="*/ 28 w 166"/>
                <a:gd name="T69" fmla="*/ 65 h 168"/>
                <a:gd name="T70" fmla="*/ 30 w 166"/>
                <a:gd name="T71" fmla="*/ 95 h 168"/>
                <a:gd name="T72" fmla="*/ 15 w 166"/>
                <a:gd name="T73" fmla="*/ 109 h 168"/>
                <a:gd name="T74" fmla="*/ 40 w 166"/>
                <a:gd name="T75" fmla="*/ 123 h 168"/>
                <a:gd name="T76" fmla="*/ 68 w 166"/>
                <a:gd name="T77" fmla="*/ 135 h 168"/>
                <a:gd name="T78" fmla="*/ 72 w 166"/>
                <a:gd name="T7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6" h="168">
                  <a:moveTo>
                    <a:pt x="102" y="168"/>
                  </a:moveTo>
                  <a:cubicBezTo>
                    <a:pt x="66" y="168"/>
                    <a:pt x="66" y="168"/>
                    <a:pt x="66" y="168"/>
                  </a:cubicBezTo>
                  <a:cubicBezTo>
                    <a:pt x="63" y="168"/>
                    <a:pt x="60" y="165"/>
                    <a:pt x="60" y="162"/>
                  </a:cubicBezTo>
                  <a:cubicBezTo>
                    <a:pt x="60" y="146"/>
                    <a:pt x="60" y="146"/>
                    <a:pt x="60" y="146"/>
                  </a:cubicBezTo>
                  <a:cubicBezTo>
                    <a:pt x="52" y="143"/>
                    <a:pt x="47" y="139"/>
                    <a:pt x="42" y="135"/>
                  </a:cubicBezTo>
                  <a:cubicBezTo>
                    <a:pt x="27" y="143"/>
                    <a:pt x="27" y="143"/>
                    <a:pt x="27" y="143"/>
                  </a:cubicBezTo>
                  <a:cubicBezTo>
                    <a:pt x="25" y="145"/>
                    <a:pt x="21" y="144"/>
                    <a:pt x="19" y="141"/>
                  </a:cubicBezTo>
                  <a:cubicBezTo>
                    <a:pt x="1" y="110"/>
                    <a:pt x="1" y="110"/>
                    <a:pt x="1" y="110"/>
                  </a:cubicBezTo>
                  <a:cubicBezTo>
                    <a:pt x="0" y="109"/>
                    <a:pt x="0" y="107"/>
                    <a:pt x="1" y="106"/>
                  </a:cubicBezTo>
                  <a:cubicBezTo>
                    <a:pt x="1" y="104"/>
                    <a:pt x="2" y="103"/>
                    <a:pt x="3" y="102"/>
                  </a:cubicBezTo>
                  <a:cubicBezTo>
                    <a:pt x="18" y="94"/>
                    <a:pt x="18" y="94"/>
                    <a:pt x="18" y="94"/>
                  </a:cubicBezTo>
                  <a:cubicBezTo>
                    <a:pt x="17" y="87"/>
                    <a:pt x="17" y="80"/>
                    <a:pt x="18" y="74"/>
                  </a:cubicBezTo>
                  <a:cubicBezTo>
                    <a:pt x="4" y="65"/>
                    <a:pt x="4" y="65"/>
                    <a:pt x="4" y="65"/>
                  </a:cubicBezTo>
                  <a:cubicBezTo>
                    <a:pt x="2" y="65"/>
                    <a:pt x="1" y="63"/>
                    <a:pt x="1" y="62"/>
                  </a:cubicBezTo>
                  <a:cubicBezTo>
                    <a:pt x="0" y="60"/>
                    <a:pt x="1" y="59"/>
                    <a:pt x="1" y="57"/>
                  </a:cubicBezTo>
                  <a:cubicBezTo>
                    <a:pt x="20" y="26"/>
                    <a:pt x="20" y="26"/>
                    <a:pt x="20" y="26"/>
                  </a:cubicBezTo>
                  <a:cubicBezTo>
                    <a:pt x="21" y="23"/>
                    <a:pt x="25" y="22"/>
                    <a:pt x="28" y="24"/>
                  </a:cubicBezTo>
                  <a:cubicBezTo>
                    <a:pt x="42" y="32"/>
                    <a:pt x="42" y="32"/>
                    <a:pt x="42" y="32"/>
                  </a:cubicBezTo>
                  <a:cubicBezTo>
                    <a:pt x="47" y="28"/>
                    <a:pt x="52" y="24"/>
                    <a:pt x="60" y="22"/>
                  </a:cubicBezTo>
                  <a:cubicBezTo>
                    <a:pt x="60" y="6"/>
                    <a:pt x="60" y="6"/>
                    <a:pt x="60" y="6"/>
                  </a:cubicBezTo>
                  <a:cubicBezTo>
                    <a:pt x="60" y="2"/>
                    <a:pt x="63" y="0"/>
                    <a:pt x="66" y="0"/>
                  </a:cubicBezTo>
                  <a:cubicBezTo>
                    <a:pt x="102" y="0"/>
                    <a:pt x="102" y="0"/>
                    <a:pt x="102" y="0"/>
                  </a:cubicBezTo>
                  <a:cubicBezTo>
                    <a:pt x="106" y="0"/>
                    <a:pt x="108" y="2"/>
                    <a:pt x="108" y="6"/>
                  </a:cubicBezTo>
                  <a:cubicBezTo>
                    <a:pt x="108" y="23"/>
                    <a:pt x="108" y="23"/>
                    <a:pt x="108" y="23"/>
                  </a:cubicBezTo>
                  <a:cubicBezTo>
                    <a:pt x="115" y="26"/>
                    <a:pt x="121" y="29"/>
                    <a:pt x="125" y="32"/>
                  </a:cubicBezTo>
                  <a:cubicBezTo>
                    <a:pt x="138" y="24"/>
                    <a:pt x="138" y="24"/>
                    <a:pt x="138" y="24"/>
                  </a:cubicBezTo>
                  <a:cubicBezTo>
                    <a:pt x="140" y="23"/>
                    <a:pt x="142" y="23"/>
                    <a:pt x="143" y="23"/>
                  </a:cubicBezTo>
                  <a:cubicBezTo>
                    <a:pt x="145" y="24"/>
                    <a:pt x="146" y="25"/>
                    <a:pt x="147" y="26"/>
                  </a:cubicBezTo>
                  <a:cubicBezTo>
                    <a:pt x="165" y="57"/>
                    <a:pt x="165" y="57"/>
                    <a:pt x="165" y="57"/>
                  </a:cubicBezTo>
                  <a:cubicBezTo>
                    <a:pt x="166" y="59"/>
                    <a:pt x="166" y="60"/>
                    <a:pt x="165" y="62"/>
                  </a:cubicBezTo>
                  <a:cubicBezTo>
                    <a:pt x="165" y="63"/>
                    <a:pt x="164" y="65"/>
                    <a:pt x="163" y="65"/>
                  </a:cubicBezTo>
                  <a:cubicBezTo>
                    <a:pt x="148" y="74"/>
                    <a:pt x="148" y="74"/>
                    <a:pt x="148" y="74"/>
                  </a:cubicBezTo>
                  <a:cubicBezTo>
                    <a:pt x="149" y="80"/>
                    <a:pt x="149" y="87"/>
                    <a:pt x="148" y="94"/>
                  </a:cubicBezTo>
                  <a:cubicBezTo>
                    <a:pt x="163" y="102"/>
                    <a:pt x="163" y="102"/>
                    <a:pt x="163" y="102"/>
                  </a:cubicBezTo>
                  <a:cubicBezTo>
                    <a:pt x="164" y="103"/>
                    <a:pt x="165" y="104"/>
                    <a:pt x="165" y="106"/>
                  </a:cubicBezTo>
                  <a:cubicBezTo>
                    <a:pt x="166" y="107"/>
                    <a:pt x="166" y="109"/>
                    <a:pt x="165" y="110"/>
                  </a:cubicBezTo>
                  <a:cubicBezTo>
                    <a:pt x="147" y="141"/>
                    <a:pt x="147" y="141"/>
                    <a:pt x="147" y="141"/>
                  </a:cubicBezTo>
                  <a:cubicBezTo>
                    <a:pt x="146" y="143"/>
                    <a:pt x="145" y="144"/>
                    <a:pt x="143" y="144"/>
                  </a:cubicBezTo>
                  <a:cubicBezTo>
                    <a:pt x="142" y="144"/>
                    <a:pt x="140" y="144"/>
                    <a:pt x="138" y="143"/>
                  </a:cubicBezTo>
                  <a:cubicBezTo>
                    <a:pt x="125" y="135"/>
                    <a:pt x="125" y="135"/>
                    <a:pt x="125" y="135"/>
                  </a:cubicBezTo>
                  <a:cubicBezTo>
                    <a:pt x="121" y="138"/>
                    <a:pt x="115" y="142"/>
                    <a:pt x="108" y="145"/>
                  </a:cubicBezTo>
                  <a:cubicBezTo>
                    <a:pt x="108" y="162"/>
                    <a:pt x="108" y="162"/>
                    <a:pt x="108" y="162"/>
                  </a:cubicBezTo>
                  <a:cubicBezTo>
                    <a:pt x="108" y="165"/>
                    <a:pt x="106" y="168"/>
                    <a:pt x="102" y="168"/>
                  </a:cubicBezTo>
                  <a:close/>
                  <a:moveTo>
                    <a:pt x="72" y="156"/>
                  </a:moveTo>
                  <a:cubicBezTo>
                    <a:pt x="96" y="156"/>
                    <a:pt x="96" y="156"/>
                    <a:pt x="96" y="156"/>
                  </a:cubicBezTo>
                  <a:cubicBezTo>
                    <a:pt x="96" y="141"/>
                    <a:pt x="96" y="141"/>
                    <a:pt x="96" y="141"/>
                  </a:cubicBezTo>
                  <a:cubicBezTo>
                    <a:pt x="96" y="139"/>
                    <a:pt x="98" y="136"/>
                    <a:pt x="100" y="135"/>
                  </a:cubicBezTo>
                  <a:cubicBezTo>
                    <a:pt x="109" y="131"/>
                    <a:pt x="116" y="127"/>
                    <a:pt x="120" y="123"/>
                  </a:cubicBezTo>
                  <a:cubicBezTo>
                    <a:pt x="122" y="122"/>
                    <a:pt x="125" y="121"/>
                    <a:pt x="127" y="123"/>
                  </a:cubicBezTo>
                  <a:cubicBezTo>
                    <a:pt x="139" y="130"/>
                    <a:pt x="139" y="130"/>
                    <a:pt x="139" y="130"/>
                  </a:cubicBezTo>
                  <a:cubicBezTo>
                    <a:pt x="151" y="109"/>
                    <a:pt x="151" y="109"/>
                    <a:pt x="151" y="109"/>
                  </a:cubicBezTo>
                  <a:cubicBezTo>
                    <a:pt x="139" y="102"/>
                    <a:pt x="139" y="102"/>
                    <a:pt x="139" y="102"/>
                  </a:cubicBezTo>
                  <a:cubicBezTo>
                    <a:pt x="136" y="101"/>
                    <a:pt x="135" y="98"/>
                    <a:pt x="136" y="95"/>
                  </a:cubicBezTo>
                  <a:cubicBezTo>
                    <a:pt x="137" y="87"/>
                    <a:pt x="137" y="80"/>
                    <a:pt x="136" y="72"/>
                  </a:cubicBezTo>
                  <a:cubicBezTo>
                    <a:pt x="135" y="69"/>
                    <a:pt x="136" y="67"/>
                    <a:pt x="139" y="65"/>
                  </a:cubicBezTo>
                  <a:cubicBezTo>
                    <a:pt x="151" y="58"/>
                    <a:pt x="151" y="58"/>
                    <a:pt x="151" y="58"/>
                  </a:cubicBezTo>
                  <a:cubicBezTo>
                    <a:pt x="139" y="37"/>
                    <a:pt x="139" y="37"/>
                    <a:pt x="139" y="37"/>
                  </a:cubicBezTo>
                  <a:cubicBezTo>
                    <a:pt x="127" y="45"/>
                    <a:pt x="127" y="45"/>
                    <a:pt x="127" y="45"/>
                  </a:cubicBezTo>
                  <a:cubicBezTo>
                    <a:pt x="125" y="46"/>
                    <a:pt x="122" y="46"/>
                    <a:pt x="120" y="44"/>
                  </a:cubicBezTo>
                  <a:cubicBezTo>
                    <a:pt x="116" y="40"/>
                    <a:pt x="109" y="36"/>
                    <a:pt x="100" y="32"/>
                  </a:cubicBezTo>
                  <a:cubicBezTo>
                    <a:pt x="98" y="31"/>
                    <a:pt x="96" y="29"/>
                    <a:pt x="96" y="26"/>
                  </a:cubicBezTo>
                  <a:cubicBezTo>
                    <a:pt x="96" y="12"/>
                    <a:pt x="96" y="12"/>
                    <a:pt x="96" y="12"/>
                  </a:cubicBezTo>
                  <a:cubicBezTo>
                    <a:pt x="72" y="12"/>
                    <a:pt x="72" y="12"/>
                    <a:pt x="72" y="12"/>
                  </a:cubicBezTo>
                  <a:cubicBezTo>
                    <a:pt x="72" y="26"/>
                    <a:pt x="72" y="26"/>
                    <a:pt x="72" y="26"/>
                  </a:cubicBezTo>
                  <a:cubicBezTo>
                    <a:pt x="72" y="29"/>
                    <a:pt x="71" y="32"/>
                    <a:pt x="68" y="32"/>
                  </a:cubicBezTo>
                  <a:cubicBezTo>
                    <a:pt x="58" y="35"/>
                    <a:pt x="54" y="38"/>
                    <a:pt x="48" y="44"/>
                  </a:cubicBezTo>
                  <a:cubicBezTo>
                    <a:pt x="46" y="45"/>
                    <a:pt x="43" y="46"/>
                    <a:pt x="40" y="45"/>
                  </a:cubicBezTo>
                  <a:cubicBezTo>
                    <a:pt x="27" y="37"/>
                    <a:pt x="27" y="37"/>
                    <a:pt x="27" y="37"/>
                  </a:cubicBezTo>
                  <a:cubicBezTo>
                    <a:pt x="15" y="58"/>
                    <a:pt x="15" y="58"/>
                    <a:pt x="15" y="58"/>
                  </a:cubicBezTo>
                  <a:cubicBezTo>
                    <a:pt x="28" y="65"/>
                    <a:pt x="28" y="65"/>
                    <a:pt x="28" y="65"/>
                  </a:cubicBezTo>
                  <a:cubicBezTo>
                    <a:pt x="30" y="67"/>
                    <a:pt x="31" y="69"/>
                    <a:pt x="30" y="72"/>
                  </a:cubicBezTo>
                  <a:cubicBezTo>
                    <a:pt x="29" y="80"/>
                    <a:pt x="29" y="88"/>
                    <a:pt x="30" y="95"/>
                  </a:cubicBezTo>
                  <a:cubicBezTo>
                    <a:pt x="31" y="98"/>
                    <a:pt x="30" y="101"/>
                    <a:pt x="28" y="102"/>
                  </a:cubicBezTo>
                  <a:cubicBezTo>
                    <a:pt x="15" y="109"/>
                    <a:pt x="15" y="109"/>
                    <a:pt x="15" y="109"/>
                  </a:cubicBezTo>
                  <a:cubicBezTo>
                    <a:pt x="27" y="130"/>
                    <a:pt x="27" y="130"/>
                    <a:pt x="27" y="130"/>
                  </a:cubicBezTo>
                  <a:cubicBezTo>
                    <a:pt x="40" y="123"/>
                    <a:pt x="40" y="123"/>
                    <a:pt x="40" y="123"/>
                  </a:cubicBezTo>
                  <a:cubicBezTo>
                    <a:pt x="43" y="121"/>
                    <a:pt x="45" y="122"/>
                    <a:pt x="47" y="123"/>
                  </a:cubicBezTo>
                  <a:cubicBezTo>
                    <a:pt x="54" y="129"/>
                    <a:pt x="57" y="133"/>
                    <a:pt x="68" y="135"/>
                  </a:cubicBezTo>
                  <a:cubicBezTo>
                    <a:pt x="71" y="136"/>
                    <a:pt x="72" y="138"/>
                    <a:pt x="72" y="141"/>
                  </a:cubicBezTo>
                  <a:lnTo>
                    <a:pt x="7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6390" name="Freeform 42">
              <a:extLst>
                <a:ext uri="{FF2B5EF4-FFF2-40B4-BE49-F238E27FC236}">
                  <a16:creationId xmlns:a16="http://schemas.microsoft.com/office/drawing/2014/main" id="{64E8C7B7-AD74-EA9C-B842-115576A32154}"/>
                </a:ext>
              </a:extLst>
            </p:cNvPr>
            <p:cNvSpPr>
              <a:spLocks noEditPoints="1"/>
            </p:cNvSpPr>
            <p:nvPr/>
          </p:nvSpPr>
          <p:spPr bwMode="auto">
            <a:xfrm>
              <a:off x="4561" y="696"/>
              <a:ext cx="88" cy="89"/>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grpSp>
        <p:nvGrpSpPr>
          <p:cNvPr id="16392" name="Group 31">
            <a:extLst>
              <a:ext uri="{FF2B5EF4-FFF2-40B4-BE49-F238E27FC236}">
                <a16:creationId xmlns:a16="http://schemas.microsoft.com/office/drawing/2014/main" id="{0CA5C12A-A85E-6E0E-1D1B-294338FBFD92}"/>
              </a:ext>
            </a:extLst>
          </p:cNvPr>
          <p:cNvGrpSpPr>
            <a:grpSpLocks noChangeAspect="1"/>
          </p:cNvGrpSpPr>
          <p:nvPr/>
        </p:nvGrpSpPr>
        <p:grpSpPr bwMode="auto">
          <a:xfrm>
            <a:off x="3994024" y="3004318"/>
            <a:ext cx="576720" cy="563612"/>
            <a:chOff x="3619" y="663"/>
            <a:chExt cx="440" cy="430"/>
          </a:xfrm>
          <a:solidFill>
            <a:schemeClr val="tx2"/>
          </a:solidFill>
        </p:grpSpPr>
        <p:sp>
          <p:nvSpPr>
            <p:cNvPr id="16393" name="Freeform 32">
              <a:extLst>
                <a:ext uri="{FF2B5EF4-FFF2-40B4-BE49-F238E27FC236}">
                  <a16:creationId xmlns:a16="http://schemas.microsoft.com/office/drawing/2014/main" id="{DAABC731-D801-C69D-BADD-33B00D266CC7}"/>
                </a:ext>
              </a:extLst>
            </p:cNvPr>
            <p:cNvSpPr>
              <a:spLocks noEditPoints="1"/>
            </p:cNvSpPr>
            <p:nvPr/>
          </p:nvSpPr>
          <p:spPr bwMode="auto">
            <a:xfrm>
              <a:off x="3646" y="806"/>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6394" name="Freeform 33">
              <a:extLst>
                <a:ext uri="{FF2B5EF4-FFF2-40B4-BE49-F238E27FC236}">
                  <a16:creationId xmlns:a16="http://schemas.microsoft.com/office/drawing/2014/main" id="{750922B0-0842-7ED2-EFC9-A8104760E897}"/>
                </a:ext>
              </a:extLst>
            </p:cNvPr>
            <p:cNvSpPr>
              <a:spLocks noEditPoints="1"/>
            </p:cNvSpPr>
            <p:nvPr/>
          </p:nvSpPr>
          <p:spPr bwMode="auto">
            <a:xfrm>
              <a:off x="3619" y="914"/>
              <a:ext cx="147"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6395" name="Freeform 34">
              <a:extLst>
                <a:ext uri="{FF2B5EF4-FFF2-40B4-BE49-F238E27FC236}">
                  <a16:creationId xmlns:a16="http://schemas.microsoft.com/office/drawing/2014/main" id="{5A9B1D07-C1B3-C4F9-793F-7A95C436C8BE}"/>
                </a:ext>
              </a:extLst>
            </p:cNvPr>
            <p:cNvSpPr>
              <a:spLocks noEditPoints="1"/>
            </p:cNvSpPr>
            <p:nvPr/>
          </p:nvSpPr>
          <p:spPr bwMode="auto">
            <a:xfrm>
              <a:off x="3940" y="806"/>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6396" name="Freeform 35">
              <a:extLst>
                <a:ext uri="{FF2B5EF4-FFF2-40B4-BE49-F238E27FC236}">
                  <a16:creationId xmlns:a16="http://schemas.microsoft.com/office/drawing/2014/main" id="{43357C03-A35F-EABA-FA6D-87F5B461C622}"/>
                </a:ext>
              </a:extLst>
            </p:cNvPr>
            <p:cNvSpPr>
              <a:spLocks noEditPoints="1"/>
            </p:cNvSpPr>
            <p:nvPr/>
          </p:nvSpPr>
          <p:spPr bwMode="auto">
            <a:xfrm>
              <a:off x="3912" y="914"/>
              <a:ext cx="147"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6397" name="Freeform 36">
              <a:extLst>
                <a:ext uri="{FF2B5EF4-FFF2-40B4-BE49-F238E27FC236}">
                  <a16:creationId xmlns:a16="http://schemas.microsoft.com/office/drawing/2014/main" id="{A6CAF113-E80F-54F7-C6F7-AD1845C04CF5}"/>
                </a:ext>
              </a:extLst>
            </p:cNvPr>
            <p:cNvSpPr>
              <a:spLocks noEditPoints="1"/>
            </p:cNvSpPr>
            <p:nvPr/>
          </p:nvSpPr>
          <p:spPr bwMode="auto">
            <a:xfrm>
              <a:off x="3793" y="663"/>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16398" name="Freeform 37">
              <a:extLst>
                <a:ext uri="{FF2B5EF4-FFF2-40B4-BE49-F238E27FC236}">
                  <a16:creationId xmlns:a16="http://schemas.microsoft.com/office/drawing/2014/main" id="{FF765296-7D99-B0D6-F0D0-38EC910C6C8D}"/>
                </a:ext>
              </a:extLst>
            </p:cNvPr>
            <p:cNvSpPr>
              <a:spLocks noEditPoints="1"/>
            </p:cNvSpPr>
            <p:nvPr/>
          </p:nvSpPr>
          <p:spPr bwMode="auto">
            <a:xfrm>
              <a:off x="3766" y="771"/>
              <a:ext cx="146" cy="179"/>
            </a:xfrm>
            <a:custGeom>
              <a:avLst/>
              <a:gdLst>
                <a:gd name="T0" fmla="*/ 66 w 96"/>
                <a:gd name="T1" fmla="*/ 120 h 120"/>
                <a:gd name="T2" fmla="*/ 30 w 96"/>
                <a:gd name="T3" fmla="*/ 120 h 120"/>
                <a:gd name="T4" fmla="*/ 24 w 96"/>
                <a:gd name="T5" fmla="*/ 114 h 120"/>
                <a:gd name="T6" fmla="*/ 24 w 96"/>
                <a:gd name="T7" fmla="*/ 69 h 120"/>
                <a:gd name="T8" fmla="*/ 0 w 96"/>
                <a:gd name="T9" fmla="*/ 6 h 120"/>
                <a:gd name="T10" fmla="*/ 6 w 96"/>
                <a:gd name="T11" fmla="*/ 0 h 120"/>
                <a:gd name="T12" fmla="*/ 90 w 96"/>
                <a:gd name="T13" fmla="*/ 0 h 120"/>
                <a:gd name="T14" fmla="*/ 96 w 96"/>
                <a:gd name="T15" fmla="*/ 6 h 120"/>
                <a:gd name="T16" fmla="*/ 72 w 96"/>
                <a:gd name="T17" fmla="*/ 69 h 120"/>
                <a:gd name="T18" fmla="*/ 72 w 96"/>
                <a:gd name="T19" fmla="*/ 114 h 120"/>
                <a:gd name="T20" fmla="*/ 66 w 96"/>
                <a:gd name="T21" fmla="*/ 120 h 120"/>
                <a:gd name="T22" fmla="*/ 36 w 96"/>
                <a:gd name="T23" fmla="*/ 108 h 120"/>
                <a:gd name="T24" fmla="*/ 60 w 96"/>
                <a:gd name="T25" fmla="*/ 108 h 120"/>
                <a:gd name="T26" fmla="*/ 60 w 96"/>
                <a:gd name="T27" fmla="*/ 65 h 120"/>
                <a:gd name="T28" fmla="*/ 64 w 96"/>
                <a:gd name="T29" fmla="*/ 59 h 120"/>
                <a:gd name="T30" fmla="*/ 84 w 96"/>
                <a:gd name="T31" fmla="*/ 12 h 120"/>
                <a:gd name="T32" fmla="*/ 12 w 96"/>
                <a:gd name="T33" fmla="*/ 12 h 120"/>
                <a:gd name="T34" fmla="*/ 31 w 96"/>
                <a:gd name="T35" fmla="*/ 59 h 120"/>
                <a:gd name="T36" fmla="*/ 36 w 96"/>
                <a:gd name="T37" fmla="*/ 65 h 120"/>
                <a:gd name="T38" fmla="*/ 36 w 96"/>
                <a:gd name="T39"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6" h="120">
                  <a:moveTo>
                    <a:pt x="66" y="120"/>
                  </a:moveTo>
                  <a:cubicBezTo>
                    <a:pt x="30" y="120"/>
                    <a:pt x="30" y="120"/>
                    <a:pt x="30" y="120"/>
                  </a:cubicBezTo>
                  <a:cubicBezTo>
                    <a:pt x="27" y="120"/>
                    <a:pt x="24" y="117"/>
                    <a:pt x="24" y="114"/>
                  </a:cubicBezTo>
                  <a:cubicBezTo>
                    <a:pt x="24" y="69"/>
                    <a:pt x="24" y="69"/>
                    <a:pt x="24" y="69"/>
                  </a:cubicBezTo>
                  <a:cubicBezTo>
                    <a:pt x="2" y="61"/>
                    <a:pt x="0" y="34"/>
                    <a:pt x="0" y="6"/>
                  </a:cubicBezTo>
                  <a:cubicBezTo>
                    <a:pt x="0" y="2"/>
                    <a:pt x="3" y="0"/>
                    <a:pt x="6" y="0"/>
                  </a:cubicBezTo>
                  <a:cubicBezTo>
                    <a:pt x="90" y="0"/>
                    <a:pt x="90" y="0"/>
                    <a:pt x="90" y="0"/>
                  </a:cubicBezTo>
                  <a:cubicBezTo>
                    <a:pt x="93" y="0"/>
                    <a:pt x="96" y="2"/>
                    <a:pt x="96" y="6"/>
                  </a:cubicBezTo>
                  <a:cubicBezTo>
                    <a:pt x="96" y="34"/>
                    <a:pt x="94" y="61"/>
                    <a:pt x="72" y="69"/>
                  </a:cubicBezTo>
                  <a:cubicBezTo>
                    <a:pt x="72" y="114"/>
                    <a:pt x="72" y="114"/>
                    <a:pt x="72" y="114"/>
                  </a:cubicBezTo>
                  <a:cubicBezTo>
                    <a:pt x="72" y="117"/>
                    <a:pt x="69" y="120"/>
                    <a:pt x="66" y="120"/>
                  </a:cubicBezTo>
                  <a:close/>
                  <a:moveTo>
                    <a:pt x="36" y="108"/>
                  </a:moveTo>
                  <a:cubicBezTo>
                    <a:pt x="60" y="108"/>
                    <a:pt x="60" y="108"/>
                    <a:pt x="60" y="108"/>
                  </a:cubicBezTo>
                  <a:cubicBezTo>
                    <a:pt x="60" y="65"/>
                    <a:pt x="60" y="65"/>
                    <a:pt x="60" y="65"/>
                  </a:cubicBezTo>
                  <a:cubicBezTo>
                    <a:pt x="60" y="62"/>
                    <a:pt x="62" y="60"/>
                    <a:pt x="64" y="59"/>
                  </a:cubicBezTo>
                  <a:cubicBezTo>
                    <a:pt x="80" y="55"/>
                    <a:pt x="83" y="39"/>
                    <a:pt x="84" y="12"/>
                  </a:cubicBezTo>
                  <a:cubicBezTo>
                    <a:pt x="12" y="12"/>
                    <a:pt x="12" y="12"/>
                    <a:pt x="12" y="12"/>
                  </a:cubicBezTo>
                  <a:cubicBezTo>
                    <a:pt x="12" y="39"/>
                    <a:pt x="16" y="55"/>
                    <a:pt x="31" y="59"/>
                  </a:cubicBezTo>
                  <a:cubicBezTo>
                    <a:pt x="34" y="60"/>
                    <a:pt x="36" y="62"/>
                    <a:pt x="36" y="65"/>
                  </a:cubicBezTo>
                  <a:lnTo>
                    <a:pt x="36"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16493" name="Group 51">
            <a:extLst>
              <a:ext uri="{FF2B5EF4-FFF2-40B4-BE49-F238E27FC236}">
                <a16:creationId xmlns:a16="http://schemas.microsoft.com/office/drawing/2014/main" id="{4C34767C-531B-BBFA-4994-777244741A06}"/>
              </a:ext>
            </a:extLst>
          </p:cNvPr>
          <p:cNvGrpSpPr>
            <a:grpSpLocks noChangeAspect="1"/>
          </p:cNvGrpSpPr>
          <p:nvPr/>
        </p:nvGrpSpPr>
        <p:grpSpPr bwMode="auto">
          <a:xfrm>
            <a:off x="4731915" y="5327617"/>
            <a:ext cx="484296" cy="503194"/>
            <a:chOff x="357" y="1722"/>
            <a:chExt cx="410" cy="426"/>
          </a:xfrm>
          <a:solidFill>
            <a:schemeClr val="tx2"/>
          </a:solidFill>
        </p:grpSpPr>
        <p:sp>
          <p:nvSpPr>
            <p:cNvPr id="16494" name="Freeform 52">
              <a:extLst>
                <a:ext uri="{FF2B5EF4-FFF2-40B4-BE49-F238E27FC236}">
                  <a16:creationId xmlns:a16="http://schemas.microsoft.com/office/drawing/2014/main" id="{360B4CC7-C8DD-581C-4F70-A10FE2D42921}"/>
                </a:ext>
              </a:extLst>
            </p:cNvPr>
            <p:cNvSpPr>
              <a:spLocks noEditPoints="1"/>
            </p:cNvSpPr>
            <p:nvPr/>
          </p:nvSpPr>
          <p:spPr bwMode="auto">
            <a:xfrm>
              <a:off x="420" y="1864"/>
              <a:ext cx="285" cy="284"/>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4"/>
                    <a:pt x="43" y="0"/>
                    <a:pt x="96" y="0"/>
                  </a:cubicBezTo>
                  <a:cubicBezTo>
                    <a:pt x="149" y="0"/>
                    <a:pt x="192" y="44"/>
                    <a:pt x="192" y="96"/>
                  </a:cubicBezTo>
                  <a:cubicBezTo>
                    <a:pt x="192" y="149"/>
                    <a:pt x="149" y="192"/>
                    <a:pt x="96" y="192"/>
                  </a:cubicBezTo>
                  <a:close/>
                  <a:moveTo>
                    <a:pt x="96" y="12"/>
                  </a:moveTo>
                  <a:cubicBezTo>
                    <a:pt x="50" y="12"/>
                    <a:pt x="12" y="50"/>
                    <a:pt x="12" y="96"/>
                  </a:cubicBezTo>
                  <a:cubicBezTo>
                    <a:pt x="12" y="143"/>
                    <a:pt x="50" y="180"/>
                    <a:pt x="96" y="180"/>
                  </a:cubicBezTo>
                  <a:cubicBezTo>
                    <a:pt x="142" y="180"/>
                    <a:pt x="180" y="143"/>
                    <a:pt x="180" y="96"/>
                  </a:cubicBezTo>
                  <a:cubicBezTo>
                    <a:pt x="180" y="50"/>
                    <a:pt x="142"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6495" name="Freeform 53">
              <a:extLst>
                <a:ext uri="{FF2B5EF4-FFF2-40B4-BE49-F238E27FC236}">
                  <a16:creationId xmlns:a16="http://schemas.microsoft.com/office/drawing/2014/main" id="{CD9D4E32-6B19-A3B0-C2E5-766480E92CC3}"/>
                </a:ext>
              </a:extLst>
            </p:cNvPr>
            <p:cNvSpPr>
              <a:spLocks noEditPoints="1"/>
            </p:cNvSpPr>
            <p:nvPr/>
          </p:nvSpPr>
          <p:spPr bwMode="auto">
            <a:xfrm>
              <a:off x="474" y="1917"/>
              <a:ext cx="179" cy="171"/>
            </a:xfrm>
            <a:custGeom>
              <a:avLst/>
              <a:gdLst>
                <a:gd name="T0" fmla="*/ 96 w 121"/>
                <a:gd name="T1" fmla="*/ 114 h 115"/>
                <a:gd name="T2" fmla="*/ 93 w 121"/>
                <a:gd name="T3" fmla="*/ 114 h 115"/>
                <a:gd name="T4" fmla="*/ 60 w 121"/>
                <a:gd name="T5" fmla="*/ 93 h 115"/>
                <a:gd name="T6" fmla="*/ 27 w 121"/>
                <a:gd name="T7" fmla="*/ 114 h 115"/>
                <a:gd name="T8" fmla="*/ 20 w 121"/>
                <a:gd name="T9" fmla="*/ 113 h 115"/>
                <a:gd name="T10" fmla="*/ 18 w 121"/>
                <a:gd name="T11" fmla="*/ 107 h 115"/>
                <a:gd name="T12" fmla="*/ 29 w 121"/>
                <a:gd name="T13" fmla="*/ 69 h 115"/>
                <a:gd name="T14" fmla="*/ 2 w 121"/>
                <a:gd name="T15" fmla="*/ 47 h 115"/>
                <a:gd name="T16" fmla="*/ 0 w 121"/>
                <a:gd name="T17" fmla="*/ 40 h 115"/>
                <a:gd name="T18" fmla="*/ 6 w 121"/>
                <a:gd name="T19" fmla="*/ 36 h 115"/>
                <a:gd name="T20" fmla="*/ 38 w 121"/>
                <a:gd name="T21" fmla="*/ 36 h 115"/>
                <a:gd name="T22" fmla="*/ 55 w 121"/>
                <a:gd name="T23" fmla="*/ 4 h 115"/>
                <a:gd name="T24" fmla="*/ 60 w 121"/>
                <a:gd name="T25" fmla="*/ 0 h 115"/>
                <a:gd name="T26" fmla="*/ 65 w 121"/>
                <a:gd name="T27" fmla="*/ 4 h 115"/>
                <a:gd name="T28" fmla="*/ 82 w 121"/>
                <a:gd name="T29" fmla="*/ 36 h 115"/>
                <a:gd name="T30" fmla="*/ 114 w 121"/>
                <a:gd name="T31" fmla="*/ 36 h 115"/>
                <a:gd name="T32" fmla="*/ 120 w 121"/>
                <a:gd name="T33" fmla="*/ 40 h 115"/>
                <a:gd name="T34" fmla="*/ 118 w 121"/>
                <a:gd name="T35" fmla="*/ 47 h 115"/>
                <a:gd name="T36" fmla="*/ 91 w 121"/>
                <a:gd name="T37" fmla="*/ 69 h 115"/>
                <a:gd name="T38" fmla="*/ 102 w 121"/>
                <a:gd name="T39" fmla="*/ 107 h 115"/>
                <a:gd name="T40" fmla="*/ 100 w 121"/>
                <a:gd name="T41" fmla="*/ 113 h 115"/>
                <a:gd name="T42" fmla="*/ 96 w 121"/>
                <a:gd name="T43" fmla="*/ 114 h 115"/>
                <a:gd name="T44" fmla="*/ 60 w 121"/>
                <a:gd name="T45" fmla="*/ 80 h 115"/>
                <a:gd name="T46" fmla="*/ 63 w 121"/>
                <a:gd name="T47" fmla="*/ 81 h 115"/>
                <a:gd name="T48" fmla="*/ 86 w 121"/>
                <a:gd name="T49" fmla="*/ 95 h 115"/>
                <a:gd name="T50" fmla="*/ 78 w 121"/>
                <a:gd name="T51" fmla="*/ 68 h 115"/>
                <a:gd name="T52" fmla="*/ 80 w 121"/>
                <a:gd name="T53" fmla="*/ 62 h 115"/>
                <a:gd name="T54" fmla="*/ 97 w 121"/>
                <a:gd name="T55" fmla="*/ 48 h 115"/>
                <a:gd name="T56" fmla="*/ 78 w 121"/>
                <a:gd name="T57" fmla="*/ 48 h 115"/>
                <a:gd name="T58" fmla="*/ 73 w 121"/>
                <a:gd name="T59" fmla="*/ 45 h 115"/>
                <a:gd name="T60" fmla="*/ 60 w 121"/>
                <a:gd name="T61" fmla="*/ 20 h 115"/>
                <a:gd name="T62" fmla="*/ 47 w 121"/>
                <a:gd name="T63" fmla="*/ 45 h 115"/>
                <a:gd name="T64" fmla="*/ 42 w 121"/>
                <a:gd name="T65" fmla="*/ 48 h 115"/>
                <a:gd name="T66" fmla="*/ 23 w 121"/>
                <a:gd name="T67" fmla="*/ 48 h 115"/>
                <a:gd name="T68" fmla="*/ 40 w 121"/>
                <a:gd name="T69" fmla="*/ 62 h 115"/>
                <a:gd name="T70" fmla="*/ 42 w 121"/>
                <a:gd name="T71" fmla="*/ 68 h 115"/>
                <a:gd name="T72" fmla="*/ 34 w 121"/>
                <a:gd name="T73" fmla="*/ 95 h 115"/>
                <a:gd name="T74" fmla="*/ 57 w 121"/>
                <a:gd name="T75" fmla="*/ 81 h 115"/>
                <a:gd name="T76" fmla="*/ 60 w 121"/>
                <a:gd name="T77" fmla="*/ 8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1" h="115">
                  <a:moveTo>
                    <a:pt x="96" y="114"/>
                  </a:moveTo>
                  <a:cubicBezTo>
                    <a:pt x="95" y="114"/>
                    <a:pt x="94" y="114"/>
                    <a:pt x="93" y="114"/>
                  </a:cubicBezTo>
                  <a:cubicBezTo>
                    <a:pt x="60" y="93"/>
                    <a:pt x="60" y="93"/>
                    <a:pt x="60" y="93"/>
                  </a:cubicBezTo>
                  <a:cubicBezTo>
                    <a:pt x="27" y="114"/>
                    <a:pt x="27" y="114"/>
                    <a:pt x="27" y="114"/>
                  </a:cubicBezTo>
                  <a:cubicBezTo>
                    <a:pt x="25" y="115"/>
                    <a:pt x="22" y="115"/>
                    <a:pt x="20" y="113"/>
                  </a:cubicBezTo>
                  <a:cubicBezTo>
                    <a:pt x="19" y="112"/>
                    <a:pt x="18" y="109"/>
                    <a:pt x="18" y="107"/>
                  </a:cubicBezTo>
                  <a:cubicBezTo>
                    <a:pt x="29" y="69"/>
                    <a:pt x="29" y="69"/>
                    <a:pt x="29" y="69"/>
                  </a:cubicBezTo>
                  <a:cubicBezTo>
                    <a:pt x="2" y="47"/>
                    <a:pt x="2" y="47"/>
                    <a:pt x="2" y="47"/>
                  </a:cubicBezTo>
                  <a:cubicBezTo>
                    <a:pt x="0" y="46"/>
                    <a:pt x="0" y="43"/>
                    <a:pt x="0" y="40"/>
                  </a:cubicBezTo>
                  <a:cubicBezTo>
                    <a:pt x="1" y="38"/>
                    <a:pt x="4" y="36"/>
                    <a:pt x="6" y="36"/>
                  </a:cubicBezTo>
                  <a:cubicBezTo>
                    <a:pt x="38" y="36"/>
                    <a:pt x="38" y="36"/>
                    <a:pt x="38" y="36"/>
                  </a:cubicBezTo>
                  <a:cubicBezTo>
                    <a:pt x="55" y="4"/>
                    <a:pt x="55" y="4"/>
                    <a:pt x="55" y="4"/>
                  </a:cubicBezTo>
                  <a:cubicBezTo>
                    <a:pt x="56" y="2"/>
                    <a:pt x="58" y="0"/>
                    <a:pt x="60" y="0"/>
                  </a:cubicBezTo>
                  <a:cubicBezTo>
                    <a:pt x="62" y="0"/>
                    <a:pt x="64" y="2"/>
                    <a:pt x="65" y="4"/>
                  </a:cubicBezTo>
                  <a:cubicBezTo>
                    <a:pt x="82" y="36"/>
                    <a:pt x="82" y="36"/>
                    <a:pt x="82" y="36"/>
                  </a:cubicBezTo>
                  <a:cubicBezTo>
                    <a:pt x="114" y="36"/>
                    <a:pt x="114" y="36"/>
                    <a:pt x="114" y="36"/>
                  </a:cubicBezTo>
                  <a:cubicBezTo>
                    <a:pt x="117" y="36"/>
                    <a:pt x="119" y="38"/>
                    <a:pt x="120" y="40"/>
                  </a:cubicBezTo>
                  <a:cubicBezTo>
                    <a:pt x="121" y="43"/>
                    <a:pt x="120" y="46"/>
                    <a:pt x="118" y="47"/>
                  </a:cubicBezTo>
                  <a:cubicBezTo>
                    <a:pt x="91" y="69"/>
                    <a:pt x="91" y="69"/>
                    <a:pt x="91" y="69"/>
                  </a:cubicBezTo>
                  <a:cubicBezTo>
                    <a:pt x="102" y="107"/>
                    <a:pt x="102" y="107"/>
                    <a:pt x="102" y="107"/>
                  </a:cubicBezTo>
                  <a:cubicBezTo>
                    <a:pt x="103" y="109"/>
                    <a:pt x="102" y="112"/>
                    <a:pt x="100" y="113"/>
                  </a:cubicBezTo>
                  <a:cubicBezTo>
                    <a:pt x="99" y="114"/>
                    <a:pt x="97" y="114"/>
                    <a:pt x="96" y="114"/>
                  </a:cubicBezTo>
                  <a:close/>
                  <a:moveTo>
                    <a:pt x="60" y="80"/>
                  </a:moveTo>
                  <a:cubicBezTo>
                    <a:pt x="61" y="80"/>
                    <a:pt x="62" y="80"/>
                    <a:pt x="63" y="81"/>
                  </a:cubicBezTo>
                  <a:cubicBezTo>
                    <a:pt x="86" y="95"/>
                    <a:pt x="86" y="95"/>
                    <a:pt x="86" y="95"/>
                  </a:cubicBezTo>
                  <a:cubicBezTo>
                    <a:pt x="78" y="68"/>
                    <a:pt x="78" y="68"/>
                    <a:pt x="78" y="68"/>
                  </a:cubicBezTo>
                  <a:cubicBezTo>
                    <a:pt x="78" y="66"/>
                    <a:pt x="78" y="63"/>
                    <a:pt x="80" y="62"/>
                  </a:cubicBezTo>
                  <a:cubicBezTo>
                    <a:pt x="97" y="48"/>
                    <a:pt x="97" y="48"/>
                    <a:pt x="97" y="48"/>
                  </a:cubicBezTo>
                  <a:cubicBezTo>
                    <a:pt x="78" y="48"/>
                    <a:pt x="78" y="48"/>
                    <a:pt x="78" y="48"/>
                  </a:cubicBezTo>
                  <a:cubicBezTo>
                    <a:pt x="76" y="48"/>
                    <a:pt x="74" y="47"/>
                    <a:pt x="73" y="45"/>
                  </a:cubicBezTo>
                  <a:cubicBezTo>
                    <a:pt x="60" y="20"/>
                    <a:pt x="60" y="20"/>
                    <a:pt x="60" y="20"/>
                  </a:cubicBezTo>
                  <a:cubicBezTo>
                    <a:pt x="47" y="45"/>
                    <a:pt x="47" y="45"/>
                    <a:pt x="47" y="45"/>
                  </a:cubicBezTo>
                  <a:cubicBezTo>
                    <a:pt x="46" y="47"/>
                    <a:pt x="44" y="48"/>
                    <a:pt x="42" y="48"/>
                  </a:cubicBezTo>
                  <a:cubicBezTo>
                    <a:pt x="23" y="48"/>
                    <a:pt x="23" y="48"/>
                    <a:pt x="23" y="48"/>
                  </a:cubicBezTo>
                  <a:cubicBezTo>
                    <a:pt x="40" y="62"/>
                    <a:pt x="40" y="62"/>
                    <a:pt x="40" y="62"/>
                  </a:cubicBezTo>
                  <a:cubicBezTo>
                    <a:pt x="42" y="63"/>
                    <a:pt x="43" y="66"/>
                    <a:pt x="42" y="68"/>
                  </a:cubicBezTo>
                  <a:cubicBezTo>
                    <a:pt x="34" y="95"/>
                    <a:pt x="34" y="95"/>
                    <a:pt x="34" y="95"/>
                  </a:cubicBezTo>
                  <a:cubicBezTo>
                    <a:pt x="57" y="81"/>
                    <a:pt x="57" y="81"/>
                    <a:pt x="57" y="81"/>
                  </a:cubicBezTo>
                  <a:cubicBezTo>
                    <a:pt x="58" y="80"/>
                    <a:pt x="59" y="80"/>
                    <a:pt x="60"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6496" name="Freeform 54">
              <a:extLst>
                <a:ext uri="{FF2B5EF4-FFF2-40B4-BE49-F238E27FC236}">
                  <a16:creationId xmlns:a16="http://schemas.microsoft.com/office/drawing/2014/main" id="{9BB95CE5-2B1D-27C9-92DE-01E34D21E1DD}"/>
                </a:ext>
              </a:extLst>
            </p:cNvPr>
            <p:cNvSpPr>
              <a:spLocks/>
            </p:cNvSpPr>
            <p:nvPr/>
          </p:nvSpPr>
          <p:spPr bwMode="auto">
            <a:xfrm>
              <a:off x="608" y="1722"/>
              <a:ext cx="114" cy="142"/>
            </a:xfrm>
            <a:custGeom>
              <a:avLst/>
              <a:gdLst>
                <a:gd name="T0" fmla="*/ 31 w 77"/>
                <a:gd name="T1" fmla="*/ 96 h 96"/>
                <a:gd name="T2" fmla="*/ 29 w 77"/>
                <a:gd name="T3" fmla="*/ 96 h 96"/>
                <a:gd name="T4" fmla="*/ 26 w 77"/>
                <a:gd name="T5" fmla="*/ 88 h 96"/>
                <a:gd name="T6" fmla="*/ 62 w 77"/>
                <a:gd name="T7" fmla="*/ 12 h 96"/>
                <a:gd name="T8" fmla="*/ 45 w 77"/>
                <a:gd name="T9" fmla="*/ 12 h 96"/>
                <a:gd name="T10" fmla="*/ 12 w 77"/>
                <a:gd name="T11" fmla="*/ 81 h 96"/>
                <a:gd name="T12" fmla="*/ 4 w 77"/>
                <a:gd name="T13" fmla="*/ 84 h 96"/>
                <a:gd name="T14" fmla="*/ 1 w 77"/>
                <a:gd name="T15" fmla="*/ 76 h 96"/>
                <a:gd name="T16" fmla="*/ 36 w 77"/>
                <a:gd name="T17" fmla="*/ 4 h 96"/>
                <a:gd name="T18" fmla="*/ 41 w 77"/>
                <a:gd name="T19" fmla="*/ 0 h 96"/>
                <a:gd name="T20" fmla="*/ 71 w 77"/>
                <a:gd name="T21" fmla="*/ 0 h 96"/>
                <a:gd name="T22" fmla="*/ 76 w 77"/>
                <a:gd name="T23" fmla="*/ 3 h 96"/>
                <a:gd name="T24" fmla="*/ 77 w 77"/>
                <a:gd name="T25" fmla="*/ 9 h 96"/>
                <a:gd name="T26" fmla="*/ 37 w 77"/>
                <a:gd name="T27" fmla="*/ 93 h 96"/>
                <a:gd name="T28" fmla="*/ 31 w 77"/>
                <a:gd name="T29"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7" h="96">
                  <a:moveTo>
                    <a:pt x="31" y="96"/>
                  </a:moveTo>
                  <a:cubicBezTo>
                    <a:pt x="31" y="96"/>
                    <a:pt x="30" y="96"/>
                    <a:pt x="29" y="96"/>
                  </a:cubicBezTo>
                  <a:cubicBezTo>
                    <a:pt x="26" y="94"/>
                    <a:pt x="25" y="91"/>
                    <a:pt x="26" y="88"/>
                  </a:cubicBezTo>
                  <a:cubicBezTo>
                    <a:pt x="62" y="12"/>
                    <a:pt x="62" y="12"/>
                    <a:pt x="62" y="12"/>
                  </a:cubicBezTo>
                  <a:cubicBezTo>
                    <a:pt x="45" y="12"/>
                    <a:pt x="45" y="12"/>
                    <a:pt x="45" y="12"/>
                  </a:cubicBezTo>
                  <a:cubicBezTo>
                    <a:pt x="12" y="81"/>
                    <a:pt x="12" y="81"/>
                    <a:pt x="12" y="81"/>
                  </a:cubicBezTo>
                  <a:cubicBezTo>
                    <a:pt x="11" y="84"/>
                    <a:pt x="7" y="85"/>
                    <a:pt x="4" y="84"/>
                  </a:cubicBezTo>
                  <a:cubicBezTo>
                    <a:pt x="1" y="83"/>
                    <a:pt x="0" y="79"/>
                    <a:pt x="1" y="76"/>
                  </a:cubicBezTo>
                  <a:cubicBezTo>
                    <a:pt x="36" y="4"/>
                    <a:pt x="36" y="4"/>
                    <a:pt x="36" y="4"/>
                  </a:cubicBezTo>
                  <a:cubicBezTo>
                    <a:pt x="37" y="2"/>
                    <a:pt x="39" y="0"/>
                    <a:pt x="41" y="0"/>
                  </a:cubicBezTo>
                  <a:cubicBezTo>
                    <a:pt x="71" y="0"/>
                    <a:pt x="71" y="0"/>
                    <a:pt x="71" y="0"/>
                  </a:cubicBezTo>
                  <a:cubicBezTo>
                    <a:pt x="73" y="0"/>
                    <a:pt x="75" y="1"/>
                    <a:pt x="76" y="3"/>
                  </a:cubicBezTo>
                  <a:cubicBezTo>
                    <a:pt x="77" y="5"/>
                    <a:pt x="77" y="7"/>
                    <a:pt x="77" y="9"/>
                  </a:cubicBezTo>
                  <a:cubicBezTo>
                    <a:pt x="37" y="93"/>
                    <a:pt x="37" y="93"/>
                    <a:pt x="37" y="93"/>
                  </a:cubicBezTo>
                  <a:cubicBezTo>
                    <a:pt x="36" y="95"/>
                    <a:pt x="34" y="96"/>
                    <a:pt x="31"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6497" name="Freeform 55">
              <a:extLst>
                <a:ext uri="{FF2B5EF4-FFF2-40B4-BE49-F238E27FC236}">
                  <a16:creationId xmlns:a16="http://schemas.microsoft.com/office/drawing/2014/main" id="{768DAB54-AA32-F775-FF80-9818914C67DF}"/>
                </a:ext>
              </a:extLst>
            </p:cNvPr>
            <p:cNvSpPr>
              <a:spLocks/>
            </p:cNvSpPr>
            <p:nvPr/>
          </p:nvSpPr>
          <p:spPr bwMode="auto">
            <a:xfrm>
              <a:off x="645" y="1722"/>
              <a:ext cx="122" cy="167"/>
            </a:xfrm>
            <a:custGeom>
              <a:avLst/>
              <a:gdLst>
                <a:gd name="T0" fmla="*/ 28 w 82"/>
                <a:gd name="T1" fmla="*/ 113 h 113"/>
                <a:gd name="T2" fmla="*/ 25 w 82"/>
                <a:gd name="T3" fmla="*/ 112 h 113"/>
                <a:gd name="T4" fmla="*/ 23 w 82"/>
                <a:gd name="T5" fmla="*/ 104 h 113"/>
                <a:gd name="T6" fmla="*/ 67 w 82"/>
                <a:gd name="T7" fmla="*/ 12 h 113"/>
                <a:gd name="T8" fmla="*/ 50 w 82"/>
                <a:gd name="T9" fmla="*/ 12 h 113"/>
                <a:gd name="T10" fmla="*/ 12 w 82"/>
                <a:gd name="T11" fmla="*/ 93 h 113"/>
                <a:gd name="T12" fmla="*/ 4 w 82"/>
                <a:gd name="T13" fmla="*/ 96 h 113"/>
                <a:gd name="T14" fmla="*/ 1 w 82"/>
                <a:gd name="T15" fmla="*/ 88 h 113"/>
                <a:gd name="T16" fmla="*/ 41 w 82"/>
                <a:gd name="T17" fmla="*/ 4 h 113"/>
                <a:gd name="T18" fmla="*/ 46 w 82"/>
                <a:gd name="T19" fmla="*/ 0 h 113"/>
                <a:gd name="T20" fmla="*/ 76 w 82"/>
                <a:gd name="T21" fmla="*/ 0 h 113"/>
                <a:gd name="T22" fmla="*/ 81 w 82"/>
                <a:gd name="T23" fmla="*/ 3 h 113"/>
                <a:gd name="T24" fmla="*/ 82 w 82"/>
                <a:gd name="T25" fmla="*/ 9 h 113"/>
                <a:gd name="T26" fmla="*/ 33 w 82"/>
                <a:gd name="T27" fmla="*/ 109 h 113"/>
                <a:gd name="T28" fmla="*/ 28 w 82"/>
                <a:gd name="T2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 h="113">
                  <a:moveTo>
                    <a:pt x="28" y="113"/>
                  </a:moveTo>
                  <a:cubicBezTo>
                    <a:pt x="27" y="113"/>
                    <a:pt x="26" y="113"/>
                    <a:pt x="25" y="112"/>
                  </a:cubicBezTo>
                  <a:cubicBezTo>
                    <a:pt x="22" y="111"/>
                    <a:pt x="21" y="107"/>
                    <a:pt x="23" y="104"/>
                  </a:cubicBezTo>
                  <a:cubicBezTo>
                    <a:pt x="67" y="12"/>
                    <a:pt x="67" y="12"/>
                    <a:pt x="67" y="12"/>
                  </a:cubicBezTo>
                  <a:cubicBezTo>
                    <a:pt x="50" y="12"/>
                    <a:pt x="50" y="12"/>
                    <a:pt x="50" y="12"/>
                  </a:cubicBezTo>
                  <a:cubicBezTo>
                    <a:pt x="12" y="93"/>
                    <a:pt x="12" y="93"/>
                    <a:pt x="12" y="93"/>
                  </a:cubicBezTo>
                  <a:cubicBezTo>
                    <a:pt x="10" y="96"/>
                    <a:pt x="7" y="97"/>
                    <a:pt x="4" y="96"/>
                  </a:cubicBezTo>
                  <a:cubicBezTo>
                    <a:pt x="1" y="94"/>
                    <a:pt x="0" y="91"/>
                    <a:pt x="1" y="88"/>
                  </a:cubicBezTo>
                  <a:cubicBezTo>
                    <a:pt x="41" y="4"/>
                    <a:pt x="41" y="4"/>
                    <a:pt x="41" y="4"/>
                  </a:cubicBezTo>
                  <a:cubicBezTo>
                    <a:pt x="42" y="2"/>
                    <a:pt x="44" y="0"/>
                    <a:pt x="46" y="0"/>
                  </a:cubicBezTo>
                  <a:cubicBezTo>
                    <a:pt x="76" y="0"/>
                    <a:pt x="76" y="0"/>
                    <a:pt x="76" y="0"/>
                  </a:cubicBezTo>
                  <a:cubicBezTo>
                    <a:pt x="78" y="0"/>
                    <a:pt x="80" y="1"/>
                    <a:pt x="81" y="3"/>
                  </a:cubicBezTo>
                  <a:cubicBezTo>
                    <a:pt x="82" y="5"/>
                    <a:pt x="82" y="7"/>
                    <a:pt x="82" y="9"/>
                  </a:cubicBezTo>
                  <a:cubicBezTo>
                    <a:pt x="33" y="109"/>
                    <a:pt x="33" y="109"/>
                    <a:pt x="33" y="109"/>
                  </a:cubicBezTo>
                  <a:cubicBezTo>
                    <a:pt x="32" y="111"/>
                    <a:pt x="30" y="113"/>
                    <a:pt x="28"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6498" name="Freeform 56">
              <a:extLst>
                <a:ext uri="{FF2B5EF4-FFF2-40B4-BE49-F238E27FC236}">
                  <a16:creationId xmlns:a16="http://schemas.microsoft.com/office/drawing/2014/main" id="{A194CC73-2E1F-7F4F-08B6-67979B4D4D73}"/>
                </a:ext>
              </a:extLst>
            </p:cNvPr>
            <p:cNvSpPr>
              <a:spLocks/>
            </p:cNvSpPr>
            <p:nvPr/>
          </p:nvSpPr>
          <p:spPr bwMode="auto">
            <a:xfrm>
              <a:off x="401" y="1722"/>
              <a:ext cx="116" cy="142"/>
            </a:xfrm>
            <a:custGeom>
              <a:avLst/>
              <a:gdLst>
                <a:gd name="T0" fmla="*/ 46 w 78"/>
                <a:gd name="T1" fmla="*/ 96 h 96"/>
                <a:gd name="T2" fmla="*/ 41 w 78"/>
                <a:gd name="T3" fmla="*/ 93 h 96"/>
                <a:gd name="T4" fmla="*/ 1 w 78"/>
                <a:gd name="T5" fmla="*/ 9 h 96"/>
                <a:gd name="T6" fmla="*/ 2 w 78"/>
                <a:gd name="T7" fmla="*/ 3 h 96"/>
                <a:gd name="T8" fmla="*/ 7 w 78"/>
                <a:gd name="T9" fmla="*/ 0 h 96"/>
                <a:gd name="T10" fmla="*/ 37 w 78"/>
                <a:gd name="T11" fmla="*/ 0 h 96"/>
                <a:gd name="T12" fmla="*/ 42 w 78"/>
                <a:gd name="T13" fmla="*/ 4 h 96"/>
                <a:gd name="T14" fmla="*/ 76 w 78"/>
                <a:gd name="T15" fmla="*/ 76 h 96"/>
                <a:gd name="T16" fmla="*/ 74 w 78"/>
                <a:gd name="T17" fmla="*/ 84 h 96"/>
                <a:gd name="T18" fmla="*/ 66 w 78"/>
                <a:gd name="T19" fmla="*/ 81 h 96"/>
                <a:gd name="T20" fmla="*/ 33 w 78"/>
                <a:gd name="T21" fmla="*/ 12 h 96"/>
                <a:gd name="T22" fmla="*/ 16 w 78"/>
                <a:gd name="T23" fmla="*/ 12 h 96"/>
                <a:gd name="T24" fmla="*/ 52 w 78"/>
                <a:gd name="T25" fmla="*/ 88 h 96"/>
                <a:gd name="T26" fmla="*/ 49 w 78"/>
                <a:gd name="T27" fmla="*/ 96 h 96"/>
                <a:gd name="T28" fmla="*/ 46 w 78"/>
                <a:gd name="T29"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8" h="96">
                  <a:moveTo>
                    <a:pt x="46" y="96"/>
                  </a:moveTo>
                  <a:cubicBezTo>
                    <a:pt x="44" y="96"/>
                    <a:pt x="42" y="95"/>
                    <a:pt x="41" y="93"/>
                  </a:cubicBezTo>
                  <a:cubicBezTo>
                    <a:pt x="1" y="9"/>
                    <a:pt x="1" y="9"/>
                    <a:pt x="1" y="9"/>
                  </a:cubicBezTo>
                  <a:cubicBezTo>
                    <a:pt x="0" y="7"/>
                    <a:pt x="0" y="5"/>
                    <a:pt x="2" y="3"/>
                  </a:cubicBezTo>
                  <a:cubicBezTo>
                    <a:pt x="3" y="1"/>
                    <a:pt x="5" y="0"/>
                    <a:pt x="7" y="0"/>
                  </a:cubicBezTo>
                  <a:cubicBezTo>
                    <a:pt x="37" y="0"/>
                    <a:pt x="37" y="0"/>
                    <a:pt x="37" y="0"/>
                  </a:cubicBezTo>
                  <a:cubicBezTo>
                    <a:pt x="39" y="0"/>
                    <a:pt x="41" y="2"/>
                    <a:pt x="42" y="4"/>
                  </a:cubicBezTo>
                  <a:cubicBezTo>
                    <a:pt x="76" y="76"/>
                    <a:pt x="76" y="76"/>
                    <a:pt x="76" y="76"/>
                  </a:cubicBezTo>
                  <a:cubicBezTo>
                    <a:pt x="78" y="79"/>
                    <a:pt x="77" y="83"/>
                    <a:pt x="74" y="84"/>
                  </a:cubicBezTo>
                  <a:cubicBezTo>
                    <a:pt x="71" y="85"/>
                    <a:pt x="67" y="84"/>
                    <a:pt x="66" y="81"/>
                  </a:cubicBezTo>
                  <a:cubicBezTo>
                    <a:pt x="33" y="12"/>
                    <a:pt x="33" y="12"/>
                    <a:pt x="33" y="12"/>
                  </a:cubicBezTo>
                  <a:cubicBezTo>
                    <a:pt x="16" y="12"/>
                    <a:pt x="16" y="12"/>
                    <a:pt x="16" y="12"/>
                  </a:cubicBezTo>
                  <a:cubicBezTo>
                    <a:pt x="52" y="88"/>
                    <a:pt x="52" y="88"/>
                    <a:pt x="52" y="88"/>
                  </a:cubicBezTo>
                  <a:cubicBezTo>
                    <a:pt x="53" y="91"/>
                    <a:pt x="52" y="94"/>
                    <a:pt x="49" y="96"/>
                  </a:cubicBezTo>
                  <a:cubicBezTo>
                    <a:pt x="48" y="96"/>
                    <a:pt x="47" y="96"/>
                    <a:pt x="46"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sp>
          <p:nvSpPr>
            <p:cNvPr id="16499" name="Freeform 57">
              <a:extLst>
                <a:ext uri="{FF2B5EF4-FFF2-40B4-BE49-F238E27FC236}">
                  <a16:creationId xmlns:a16="http://schemas.microsoft.com/office/drawing/2014/main" id="{69FAE234-CAE2-E72A-339E-98B452C4851A}"/>
                </a:ext>
              </a:extLst>
            </p:cNvPr>
            <p:cNvSpPr>
              <a:spLocks/>
            </p:cNvSpPr>
            <p:nvPr/>
          </p:nvSpPr>
          <p:spPr bwMode="auto">
            <a:xfrm>
              <a:off x="357" y="1722"/>
              <a:ext cx="123" cy="167"/>
            </a:xfrm>
            <a:custGeom>
              <a:avLst/>
              <a:gdLst>
                <a:gd name="T0" fmla="*/ 55 w 83"/>
                <a:gd name="T1" fmla="*/ 113 h 113"/>
                <a:gd name="T2" fmla="*/ 49 w 83"/>
                <a:gd name="T3" fmla="*/ 109 h 113"/>
                <a:gd name="T4" fmla="*/ 1 w 83"/>
                <a:gd name="T5" fmla="*/ 9 h 113"/>
                <a:gd name="T6" fmla="*/ 2 w 83"/>
                <a:gd name="T7" fmla="*/ 3 h 113"/>
                <a:gd name="T8" fmla="*/ 7 w 83"/>
                <a:gd name="T9" fmla="*/ 0 h 113"/>
                <a:gd name="T10" fmla="*/ 37 w 83"/>
                <a:gd name="T11" fmla="*/ 0 h 113"/>
                <a:gd name="T12" fmla="*/ 42 w 83"/>
                <a:gd name="T13" fmla="*/ 4 h 113"/>
                <a:gd name="T14" fmla="*/ 82 w 83"/>
                <a:gd name="T15" fmla="*/ 88 h 113"/>
                <a:gd name="T16" fmla="*/ 79 w 83"/>
                <a:gd name="T17" fmla="*/ 96 h 113"/>
                <a:gd name="T18" fmla="*/ 71 w 83"/>
                <a:gd name="T19" fmla="*/ 93 h 113"/>
                <a:gd name="T20" fmla="*/ 33 w 83"/>
                <a:gd name="T21" fmla="*/ 12 h 113"/>
                <a:gd name="T22" fmla="*/ 16 w 83"/>
                <a:gd name="T23" fmla="*/ 12 h 113"/>
                <a:gd name="T24" fmla="*/ 60 w 83"/>
                <a:gd name="T25" fmla="*/ 104 h 113"/>
                <a:gd name="T26" fmla="*/ 57 w 83"/>
                <a:gd name="T27" fmla="*/ 112 h 113"/>
                <a:gd name="T28" fmla="*/ 55 w 83"/>
                <a:gd name="T2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3" h="113">
                  <a:moveTo>
                    <a:pt x="55" y="113"/>
                  </a:moveTo>
                  <a:cubicBezTo>
                    <a:pt x="52" y="113"/>
                    <a:pt x="50" y="111"/>
                    <a:pt x="49" y="109"/>
                  </a:cubicBezTo>
                  <a:cubicBezTo>
                    <a:pt x="1" y="9"/>
                    <a:pt x="1" y="9"/>
                    <a:pt x="1" y="9"/>
                  </a:cubicBezTo>
                  <a:cubicBezTo>
                    <a:pt x="0" y="7"/>
                    <a:pt x="0" y="5"/>
                    <a:pt x="2" y="3"/>
                  </a:cubicBezTo>
                  <a:cubicBezTo>
                    <a:pt x="3" y="1"/>
                    <a:pt x="5" y="0"/>
                    <a:pt x="7" y="0"/>
                  </a:cubicBezTo>
                  <a:cubicBezTo>
                    <a:pt x="37" y="0"/>
                    <a:pt x="37" y="0"/>
                    <a:pt x="37" y="0"/>
                  </a:cubicBezTo>
                  <a:cubicBezTo>
                    <a:pt x="39" y="0"/>
                    <a:pt x="41" y="2"/>
                    <a:pt x="42" y="4"/>
                  </a:cubicBezTo>
                  <a:cubicBezTo>
                    <a:pt x="82" y="88"/>
                    <a:pt x="82" y="88"/>
                    <a:pt x="82" y="88"/>
                  </a:cubicBezTo>
                  <a:cubicBezTo>
                    <a:pt x="83" y="91"/>
                    <a:pt x="82" y="94"/>
                    <a:pt x="79" y="96"/>
                  </a:cubicBezTo>
                  <a:cubicBezTo>
                    <a:pt x="76" y="97"/>
                    <a:pt x="72" y="96"/>
                    <a:pt x="71" y="93"/>
                  </a:cubicBezTo>
                  <a:cubicBezTo>
                    <a:pt x="33" y="12"/>
                    <a:pt x="33" y="12"/>
                    <a:pt x="33" y="12"/>
                  </a:cubicBezTo>
                  <a:cubicBezTo>
                    <a:pt x="16" y="12"/>
                    <a:pt x="16" y="12"/>
                    <a:pt x="16" y="12"/>
                  </a:cubicBezTo>
                  <a:cubicBezTo>
                    <a:pt x="60" y="104"/>
                    <a:pt x="60" y="104"/>
                    <a:pt x="60" y="104"/>
                  </a:cubicBezTo>
                  <a:cubicBezTo>
                    <a:pt x="62" y="107"/>
                    <a:pt x="60" y="111"/>
                    <a:pt x="57" y="112"/>
                  </a:cubicBezTo>
                  <a:cubicBezTo>
                    <a:pt x="56" y="113"/>
                    <a:pt x="56" y="113"/>
                    <a:pt x="55"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AU" dirty="0"/>
            </a:p>
          </p:txBody>
        </p:sp>
      </p:grpSp>
      <p:sp>
        <p:nvSpPr>
          <p:cNvPr id="16500" name="TextBox 25">
            <a:extLst>
              <a:ext uri="{FF2B5EF4-FFF2-40B4-BE49-F238E27FC236}">
                <a16:creationId xmlns:a16="http://schemas.microsoft.com/office/drawing/2014/main" id="{C6E99E87-1F06-8692-93D9-1E9B2793016A}"/>
              </a:ext>
            </a:extLst>
          </p:cNvPr>
          <p:cNvSpPr txBox="1"/>
          <p:nvPr/>
        </p:nvSpPr>
        <p:spPr>
          <a:xfrm>
            <a:off x="8685834" y="3301483"/>
            <a:ext cx="3450500" cy="369332"/>
          </a:xfrm>
          <a:prstGeom prst="rect">
            <a:avLst/>
          </a:prstGeom>
          <a:noFill/>
          <a:ln w="19050">
            <a:noFill/>
          </a:ln>
        </p:spPr>
        <p:txBody>
          <a:bodyPr wrap="square" lIns="0" tIns="0" rIns="0" bIns="0" rtlCol="0" anchor="t">
            <a:spAutoFit/>
          </a:bodyPr>
          <a:lstStyle/>
          <a:p>
            <a:pPr>
              <a:spcBef>
                <a:spcPts val="300"/>
              </a:spcBef>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Lorem ipsum dolor sit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amet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consectetur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adipiscing</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t>
            </a:r>
          </a:p>
        </p:txBody>
      </p:sp>
      <p:sp>
        <p:nvSpPr>
          <p:cNvPr id="16501" name="TextBox 25">
            <a:extLst>
              <a:ext uri="{FF2B5EF4-FFF2-40B4-BE49-F238E27FC236}">
                <a16:creationId xmlns:a16="http://schemas.microsoft.com/office/drawing/2014/main" id="{11ED1463-1034-B8AD-6F38-8994BE0D3703}"/>
              </a:ext>
            </a:extLst>
          </p:cNvPr>
          <p:cNvSpPr txBox="1"/>
          <p:nvPr/>
        </p:nvSpPr>
        <p:spPr>
          <a:xfrm>
            <a:off x="7939041" y="5546948"/>
            <a:ext cx="3450500" cy="369332"/>
          </a:xfrm>
          <a:prstGeom prst="rect">
            <a:avLst/>
          </a:prstGeom>
          <a:noFill/>
          <a:ln w="19050">
            <a:noFill/>
          </a:ln>
        </p:spPr>
        <p:txBody>
          <a:bodyPr wrap="square" lIns="0" tIns="0" rIns="0" bIns="0" rtlCol="0" anchor="t">
            <a:spAutoFit/>
          </a:bodyPr>
          <a:lstStyle/>
          <a:p>
            <a:pPr>
              <a:spcBef>
                <a:spcPts val="300"/>
              </a:spcBef>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Lorem ipsum dolor sit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amet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consectetur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adipiscing</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t>
            </a:r>
          </a:p>
        </p:txBody>
      </p:sp>
      <p:sp>
        <p:nvSpPr>
          <p:cNvPr id="16502" name="TextBox 25">
            <a:extLst>
              <a:ext uri="{FF2B5EF4-FFF2-40B4-BE49-F238E27FC236}">
                <a16:creationId xmlns:a16="http://schemas.microsoft.com/office/drawing/2014/main" id="{0A086DE8-BAFB-E48D-D5A6-2244A27EBCE9}"/>
              </a:ext>
            </a:extLst>
          </p:cNvPr>
          <p:cNvSpPr txBox="1"/>
          <p:nvPr/>
        </p:nvSpPr>
        <p:spPr>
          <a:xfrm>
            <a:off x="836473" y="5546948"/>
            <a:ext cx="3450500" cy="369332"/>
          </a:xfrm>
          <a:prstGeom prst="rect">
            <a:avLst/>
          </a:prstGeom>
          <a:noFill/>
          <a:ln w="19050">
            <a:noFill/>
          </a:ln>
        </p:spPr>
        <p:txBody>
          <a:bodyPr wrap="square" lIns="0" tIns="0" rIns="0" bIns="0" rtlCol="0" anchor="t">
            <a:spAutoFit/>
          </a:bodyPr>
          <a:lstStyle/>
          <a:p>
            <a:pPr>
              <a:spcBef>
                <a:spcPts val="300"/>
              </a:spcBef>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Lorem ipsum dolor sit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amet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consectetur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adipiscing</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t>
            </a:r>
          </a:p>
        </p:txBody>
      </p:sp>
      <p:sp>
        <p:nvSpPr>
          <p:cNvPr id="16503" name="TextBox 25">
            <a:extLst>
              <a:ext uri="{FF2B5EF4-FFF2-40B4-BE49-F238E27FC236}">
                <a16:creationId xmlns:a16="http://schemas.microsoft.com/office/drawing/2014/main" id="{2E00D8E9-7882-B121-FED0-CB5313B804AB}"/>
              </a:ext>
            </a:extLst>
          </p:cNvPr>
          <p:cNvSpPr txBox="1"/>
          <p:nvPr/>
        </p:nvSpPr>
        <p:spPr>
          <a:xfrm>
            <a:off x="836472" y="3301483"/>
            <a:ext cx="2718815" cy="369332"/>
          </a:xfrm>
          <a:prstGeom prst="rect">
            <a:avLst/>
          </a:prstGeom>
          <a:noFill/>
          <a:ln w="19050">
            <a:noFill/>
          </a:ln>
        </p:spPr>
        <p:txBody>
          <a:bodyPr wrap="square" lIns="0" tIns="0" rIns="0" bIns="0" rtlCol="0" anchor="t">
            <a:spAutoFit/>
          </a:bodyPr>
          <a:lstStyle/>
          <a:p>
            <a:pPr marR="0" lvl="0" defTabSz="914400" rtl="0" eaLnBrk="1" fontAlgn="auto" latinLnBrk="0" hangingPunct="1">
              <a:lnSpc>
                <a:spcPct val="100000"/>
              </a:lnSpc>
              <a:spcBef>
                <a:spcPts val="300"/>
              </a:spcBef>
              <a:spcAft>
                <a:spcPts val="0"/>
              </a:spcAft>
              <a:buClrTx/>
              <a:buSzTx/>
              <a:tabLst/>
              <a:defRPr/>
            </a:pP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Lorem ipsum dolor sit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amet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consectetur</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adipiscing</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 </a:t>
            </a:r>
            <a:r>
              <a:rPr kumimoji="0" lang="en-US" sz="1200" b="0" i="0" u="none" strike="noStrike" kern="1200" cap="none" spc="0" normalizeH="0" baseline="0" noProof="0" dirty="0" err="1">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elit</a:t>
            </a:r>
            <a:r>
              <a:rPr kumimoji="0" lang="en-US" sz="1200" b="0" i="0" u="none" strike="noStrike" kern="1200" cap="none" spc="0" normalizeH="0" baseline="0" noProof="0" dirty="0">
                <a:ln>
                  <a:noFill/>
                </a:ln>
                <a:solidFill>
                  <a:srgbClr val="000000"/>
                </a:solidFill>
                <a:effectLst/>
                <a:uLnTx/>
                <a:uFillTx/>
                <a:latin typeface="Verdana"/>
                <a:ea typeface="Verdana" panose="020B0604030504040204" pitchFamily="34" charset="0"/>
                <a:cs typeface="Verdana" panose="020B0604030504040204" pitchFamily="34" charset="0"/>
                <a:sym typeface="Verdana" panose="020B0604030504040204" pitchFamily="34" charset="0"/>
              </a:rPr>
              <a:t>.</a:t>
            </a:r>
          </a:p>
        </p:txBody>
      </p:sp>
      <p:sp>
        <p:nvSpPr>
          <p:cNvPr id="2" name="Marcador de pie de página 1">
            <a:extLst>
              <a:ext uri="{FF2B5EF4-FFF2-40B4-BE49-F238E27FC236}">
                <a16:creationId xmlns:a16="http://schemas.microsoft.com/office/drawing/2014/main" id="{AD6E4438-34A7-D385-ADC8-8831F90C5735}"/>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349164307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D6E1F8B7-BD61-4F51-2514-3EB300B6BD0A}"/>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7" name="Objeto 6" hidden="1">
                        <a:extLst>
                          <a:ext uri="{FF2B5EF4-FFF2-40B4-BE49-F238E27FC236}">
                            <a16:creationId xmlns:a16="http://schemas.microsoft.com/office/drawing/2014/main" id="{D6E1F8B7-BD61-4F51-2514-3EB300B6BD0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Marcador de texto 4">
            <a:extLst>
              <a:ext uri="{FF2B5EF4-FFF2-40B4-BE49-F238E27FC236}">
                <a16:creationId xmlns:a16="http://schemas.microsoft.com/office/drawing/2014/main" id="{C71C7F2A-91A5-9142-AC6C-E43A61111DF1}"/>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 name="Text Placeholder 6">
            <a:extLst>
              <a:ext uri="{FF2B5EF4-FFF2-40B4-BE49-F238E27FC236}">
                <a16:creationId xmlns:a16="http://schemas.microsoft.com/office/drawing/2014/main" id="{A6C55719-142A-B351-E71A-E3BBF9E6B52C}"/>
              </a:ext>
            </a:extLst>
          </p:cNvPr>
          <p:cNvSpPr txBox="1">
            <a:spLocks/>
          </p:cNvSpPr>
          <p:nvPr/>
        </p:nvSpPr>
        <p:spPr>
          <a:xfrm>
            <a:off x="387348" y="1520825"/>
            <a:ext cx="2035629" cy="971549"/>
          </a:xfrm>
          <a:prstGeom prst="rect">
            <a:avLst/>
          </a:prstGeom>
          <a:solidFill>
            <a:schemeClr val="bg1">
              <a:lumMod val="95000"/>
            </a:schemeClr>
          </a:solidFill>
          <a:effectLst/>
        </p:spPr>
        <p:txBody>
          <a:bodyPr lIns="216000" rIns="89988" bIns="180000" anchor="b"/>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0" marR="0" lvl="0" indent="0" algn="l" defTabSz="22855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8" name="Rectangle 89">
            <a:extLst>
              <a:ext uri="{FF2B5EF4-FFF2-40B4-BE49-F238E27FC236}">
                <a16:creationId xmlns:a16="http://schemas.microsoft.com/office/drawing/2014/main" id="{C8EF09DA-634A-1851-7CE8-C80750B1E3FD}"/>
              </a:ext>
            </a:extLst>
          </p:cNvPr>
          <p:cNvSpPr/>
          <p:nvPr/>
        </p:nvSpPr>
        <p:spPr>
          <a:xfrm>
            <a:off x="2670522" y="1521368"/>
            <a:ext cx="1884697" cy="970463"/>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45714"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A1A49"/>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0" name="Rectangle 9">
            <a:extLst>
              <a:ext uri="{FF2B5EF4-FFF2-40B4-BE49-F238E27FC236}">
                <a16:creationId xmlns:a16="http://schemas.microsoft.com/office/drawing/2014/main" id="{C05832F4-F11E-CDB5-EA36-227045D65950}"/>
              </a:ext>
            </a:extLst>
          </p:cNvPr>
          <p:cNvSpPr/>
          <p:nvPr/>
        </p:nvSpPr>
        <p:spPr>
          <a:xfrm>
            <a:off x="4802763" y="1521368"/>
            <a:ext cx="1884697" cy="970463"/>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marL="0" marR="0" lvl="0" indent="0" algn="l" defTabSz="914263"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dirty="0" err="1">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1" name="Rectangle 55">
            <a:extLst>
              <a:ext uri="{FF2B5EF4-FFF2-40B4-BE49-F238E27FC236}">
                <a16:creationId xmlns:a16="http://schemas.microsoft.com/office/drawing/2014/main" id="{5A09694C-115C-527E-153F-ED8CF4B17BA0}"/>
              </a:ext>
            </a:extLst>
          </p:cNvPr>
          <p:cNvSpPr/>
          <p:nvPr/>
        </p:nvSpPr>
        <p:spPr>
          <a:xfrm>
            <a:off x="384174" y="3835149"/>
            <a:ext cx="575585" cy="588786"/>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01</a:t>
            </a:r>
          </a:p>
        </p:txBody>
      </p:sp>
      <p:sp>
        <p:nvSpPr>
          <p:cNvPr id="14" name="Rectangle 55">
            <a:extLst>
              <a:ext uri="{FF2B5EF4-FFF2-40B4-BE49-F238E27FC236}">
                <a16:creationId xmlns:a16="http://schemas.microsoft.com/office/drawing/2014/main" id="{AC7F97EC-9D67-4FE2-017C-9E7E285243BF}"/>
              </a:ext>
            </a:extLst>
          </p:cNvPr>
          <p:cNvSpPr/>
          <p:nvPr/>
        </p:nvSpPr>
        <p:spPr>
          <a:xfrm>
            <a:off x="1189717" y="3835149"/>
            <a:ext cx="575585" cy="588786"/>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02</a:t>
            </a:r>
          </a:p>
        </p:txBody>
      </p:sp>
      <p:sp>
        <p:nvSpPr>
          <p:cNvPr id="15" name="Rectangle 55">
            <a:extLst>
              <a:ext uri="{FF2B5EF4-FFF2-40B4-BE49-F238E27FC236}">
                <a16:creationId xmlns:a16="http://schemas.microsoft.com/office/drawing/2014/main" id="{E85DAB1D-6717-28EC-0856-FE25D2F303D7}"/>
              </a:ext>
            </a:extLst>
          </p:cNvPr>
          <p:cNvSpPr/>
          <p:nvPr/>
        </p:nvSpPr>
        <p:spPr>
          <a:xfrm>
            <a:off x="1995260" y="3835149"/>
            <a:ext cx="575585" cy="588786"/>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03</a:t>
            </a:r>
          </a:p>
        </p:txBody>
      </p:sp>
      <p:sp>
        <p:nvSpPr>
          <p:cNvPr id="16" name="Rectangle 55">
            <a:extLst>
              <a:ext uri="{FF2B5EF4-FFF2-40B4-BE49-F238E27FC236}">
                <a16:creationId xmlns:a16="http://schemas.microsoft.com/office/drawing/2014/main" id="{99375E7E-7135-6AB5-2D2F-3E8314C923AC}"/>
              </a:ext>
            </a:extLst>
          </p:cNvPr>
          <p:cNvSpPr/>
          <p:nvPr/>
        </p:nvSpPr>
        <p:spPr>
          <a:xfrm>
            <a:off x="384174" y="4777544"/>
            <a:ext cx="575585" cy="588786"/>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01</a:t>
            </a:r>
          </a:p>
        </p:txBody>
      </p:sp>
      <p:sp>
        <p:nvSpPr>
          <p:cNvPr id="17" name="Rectangle 55">
            <a:extLst>
              <a:ext uri="{FF2B5EF4-FFF2-40B4-BE49-F238E27FC236}">
                <a16:creationId xmlns:a16="http://schemas.microsoft.com/office/drawing/2014/main" id="{5F17E281-D8D3-B203-E8FD-B31B781BBAD0}"/>
              </a:ext>
            </a:extLst>
          </p:cNvPr>
          <p:cNvSpPr/>
          <p:nvPr/>
        </p:nvSpPr>
        <p:spPr>
          <a:xfrm>
            <a:off x="1189717" y="4777544"/>
            <a:ext cx="575585" cy="588786"/>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02</a:t>
            </a:r>
          </a:p>
        </p:txBody>
      </p:sp>
      <p:sp>
        <p:nvSpPr>
          <p:cNvPr id="18" name="Rectangle 55">
            <a:extLst>
              <a:ext uri="{FF2B5EF4-FFF2-40B4-BE49-F238E27FC236}">
                <a16:creationId xmlns:a16="http://schemas.microsoft.com/office/drawing/2014/main" id="{D730E27C-35D0-0996-2E03-3AC235383F6F}"/>
              </a:ext>
            </a:extLst>
          </p:cNvPr>
          <p:cNvSpPr/>
          <p:nvPr/>
        </p:nvSpPr>
        <p:spPr>
          <a:xfrm>
            <a:off x="1995260" y="4777544"/>
            <a:ext cx="575585" cy="588786"/>
          </a:xfrm>
          <a:prstGeom prst="rect">
            <a:avLst/>
          </a:prstGeom>
          <a:gradFill>
            <a:gsLst>
              <a:gs pos="0">
                <a:schemeClr val="tx2"/>
              </a:gs>
              <a:gs pos="99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03</a:t>
            </a:r>
          </a:p>
        </p:txBody>
      </p:sp>
      <p:sp>
        <p:nvSpPr>
          <p:cNvPr id="19" name="Rectangle 55">
            <a:extLst>
              <a:ext uri="{FF2B5EF4-FFF2-40B4-BE49-F238E27FC236}">
                <a16:creationId xmlns:a16="http://schemas.microsoft.com/office/drawing/2014/main" id="{CDBF32CB-E3A5-6781-6EBC-5AD6618E8069}"/>
              </a:ext>
            </a:extLst>
          </p:cNvPr>
          <p:cNvSpPr/>
          <p:nvPr/>
        </p:nvSpPr>
        <p:spPr>
          <a:xfrm>
            <a:off x="373288" y="5719939"/>
            <a:ext cx="575585" cy="588786"/>
          </a:xfrm>
          <a:prstGeom prst="rect">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01</a:t>
            </a:r>
          </a:p>
        </p:txBody>
      </p:sp>
      <p:sp>
        <p:nvSpPr>
          <p:cNvPr id="20" name="Rectangle 55">
            <a:extLst>
              <a:ext uri="{FF2B5EF4-FFF2-40B4-BE49-F238E27FC236}">
                <a16:creationId xmlns:a16="http://schemas.microsoft.com/office/drawing/2014/main" id="{63F9F9CF-D7A1-C4FB-600C-65CBE3FB3F64}"/>
              </a:ext>
            </a:extLst>
          </p:cNvPr>
          <p:cNvSpPr/>
          <p:nvPr/>
        </p:nvSpPr>
        <p:spPr>
          <a:xfrm>
            <a:off x="1178831" y="5719939"/>
            <a:ext cx="575585" cy="588786"/>
          </a:xfrm>
          <a:prstGeom prst="rect">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02</a:t>
            </a:r>
          </a:p>
        </p:txBody>
      </p:sp>
      <p:sp>
        <p:nvSpPr>
          <p:cNvPr id="21" name="Rectangle 55">
            <a:extLst>
              <a:ext uri="{FF2B5EF4-FFF2-40B4-BE49-F238E27FC236}">
                <a16:creationId xmlns:a16="http://schemas.microsoft.com/office/drawing/2014/main" id="{473E2A9D-A105-C01A-BE15-7D1DF37BEF79}"/>
              </a:ext>
            </a:extLst>
          </p:cNvPr>
          <p:cNvSpPr/>
          <p:nvPr/>
        </p:nvSpPr>
        <p:spPr>
          <a:xfrm>
            <a:off x="1984374" y="5719939"/>
            <a:ext cx="575585" cy="588786"/>
          </a:xfrm>
          <a:prstGeom prst="rect">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03</a:t>
            </a:r>
          </a:p>
        </p:txBody>
      </p:sp>
      <p:grpSp>
        <p:nvGrpSpPr>
          <p:cNvPr id="22" name="Grupo 42">
            <a:extLst>
              <a:ext uri="{FF2B5EF4-FFF2-40B4-BE49-F238E27FC236}">
                <a16:creationId xmlns:a16="http://schemas.microsoft.com/office/drawing/2014/main" id="{7BE6CCEB-5F3D-03A5-EEB8-C1B0FA192754}"/>
              </a:ext>
            </a:extLst>
          </p:cNvPr>
          <p:cNvGrpSpPr/>
          <p:nvPr/>
        </p:nvGrpSpPr>
        <p:grpSpPr>
          <a:xfrm>
            <a:off x="3241258" y="3910940"/>
            <a:ext cx="739910" cy="874955"/>
            <a:chOff x="3657318" y="2960019"/>
            <a:chExt cx="428407" cy="506598"/>
          </a:xfrm>
        </p:grpSpPr>
        <p:grpSp>
          <p:nvGrpSpPr>
            <p:cNvPr id="23" name="Grupo 43">
              <a:extLst>
                <a:ext uri="{FF2B5EF4-FFF2-40B4-BE49-F238E27FC236}">
                  <a16:creationId xmlns:a16="http://schemas.microsoft.com/office/drawing/2014/main" id="{8A83912D-82A6-C3AE-596E-2E83CEAC9C47}"/>
                </a:ext>
              </a:extLst>
            </p:cNvPr>
            <p:cNvGrpSpPr/>
            <p:nvPr/>
          </p:nvGrpSpPr>
          <p:grpSpPr>
            <a:xfrm>
              <a:off x="3828604" y="2960019"/>
              <a:ext cx="257121" cy="506598"/>
              <a:chOff x="2468880" y="3319199"/>
              <a:chExt cx="257121" cy="506598"/>
            </a:xfrm>
          </p:grpSpPr>
          <p:cxnSp>
            <p:nvCxnSpPr>
              <p:cNvPr id="25" name="Conector recto 45">
                <a:extLst>
                  <a:ext uri="{FF2B5EF4-FFF2-40B4-BE49-F238E27FC236}">
                    <a16:creationId xmlns:a16="http://schemas.microsoft.com/office/drawing/2014/main" id="{A5904D53-56F0-302C-3F86-EE887001BCE9}"/>
                  </a:ext>
                </a:extLst>
              </p:cNvPr>
              <p:cNvCxnSpPr/>
              <p:nvPr/>
            </p:nvCxnSpPr>
            <p:spPr>
              <a:xfrm>
                <a:off x="2468880" y="3319199"/>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ector recto 46">
                <a:extLst>
                  <a:ext uri="{FF2B5EF4-FFF2-40B4-BE49-F238E27FC236}">
                    <a16:creationId xmlns:a16="http://schemas.microsoft.com/office/drawing/2014/main" id="{03F68EEB-9331-4010-10DB-C8C592C4595B}"/>
                  </a:ext>
                </a:extLst>
              </p:cNvPr>
              <p:cNvCxnSpPr>
                <a:cxnSpLocks/>
              </p:cNvCxnSpPr>
              <p:nvPr/>
            </p:nvCxnSpPr>
            <p:spPr>
              <a:xfrm flipH="1">
                <a:off x="2468880" y="3568676"/>
                <a:ext cx="257121" cy="25712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 name="Conector recto 44">
              <a:extLst>
                <a:ext uri="{FF2B5EF4-FFF2-40B4-BE49-F238E27FC236}">
                  <a16:creationId xmlns:a16="http://schemas.microsoft.com/office/drawing/2014/main" id="{DCA54BBC-9EC5-B168-2ACE-63524E4ABBFC}"/>
                </a:ext>
              </a:extLst>
            </p:cNvPr>
            <p:cNvCxnSpPr>
              <a:cxnSpLocks/>
            </p:cNvCxnSpPr>
            <p:nvPr/>
          </p:nvCxnSpPr>
          <p:spPr>
            <a:xfrm>
              <a:off x="3657318" y="3213306"/>
              <a:ext cx="41481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79E3F5E0-0FED-E692-7C1F-B5C5B8B644BE}"/>
              </a:ext>
            </a:extLst>
          </p:cNvPr>
          <p:cNvSpPr/>
          <p:nvPr/>
        </p:nvSpPr>
        <p:spPr>
          <a:xfrm>
            <a:off x="7148740" y="1521368"/>
            <a:ext cx="1070484" cy="970463"/>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marL="0" marR="0" lvl="0" indent="0" algn="l" defTabSz="914263"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dirty="0" err="1">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8" name="Rectangle 27">
            <a:extLst>
              <a:ext uri="{FF2B5EF4-FFF2-40B4-BE49-F238E27FC236}">
                <a16:creationId xmlns:a16="http://schemas.microsoft.com/office/drawing/2014/main" id="{21583CDB-F8A9-5E70-A60C-BB4BD99BBF6F}"/>
              </a:ext>
            </a:extLst>
          </p:cNvPr>
          <p:cNvSpPr/>
          <p:nvPr/>
        </p:nvSpPr>
        <p:spPr>
          <a:xfrm>
            <a:off x="8349174" y="1521368"/>
            <a:ext cx="1070484" cy="97046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marL="0" marR="0" lvl="0" indent="0" algn="l" defTabSz="914263"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dirty="0" err="1">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9" name="Rectangle 28">
            <a:extLst>
              <a:ext uri="{FF2B5EF4-FFF2-40B4-BE49-F238E27FC236}">
                <a16:creationId xmlns:a16="http://schemas.microsoft.com/office/drawing/2014/main" id="{6995A54A-D1A2-57A0-19E5-9698DE9FCFE2}"/>
              </a:ext>
            </a:extLst>
          </p:cNvPr>
          <p:cNvSpPr/>
          <p:nvPr/>
        </p:nvSpPr>
        <p:spPr>
          <a:xfrm>
            <a:off x="9549607" y="1521368"/>
            <a:ext cx="1070484" cy="970463"/>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marL="0" marR="0" lvl="0" indent="0" algn="l" defTabSz="914263"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dirty="0" err="1">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0" name="Rectangle 29">
            <a:extLst>
              <a:ext uri="{FF2B5EF4-FFF2-40B4-BE49-F238E27FC236}">
                <a16:creationId xmlns:a16="http://schemas.microsoft.com/office/drawing/2014/main" id="{2346E1F0-D214-752B-9883-277BDD6E1D70}"/>
              </a:ext>
            </a:extLst>
          </p:cNvPr>
          <p:cNvSpPr/>
          <p:nvPr/>
        </p:nvSpPr>
        <p:spPr>
          <a:xfrm>
            <a:off x="10750041" y="1521368"/>
            <a:ext cx="1070484" cy="970463"/>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1991" tIns="485937" rtlCol="0" anchor="t"/>
          <a:lstStyle/>
          <a:p>
            <a:pPr marL="0" marR="0" lvl="0" indent="0" algn="l" defTabSz="914263"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dirty="0" err="1">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cxnSp>
        <p:nvCxnSpPr>
          <p:cNvPr id="2" name="Conector recto 9">
            <a:extLst>
              <a:ext uri="{FF2B5EF4-FFF2-40B4-BE49-F238E27FC236}">
                <a16:creationId xmlns:a16="http://schemas.microsoft.com/office/drawing/2014/main" id="{09BCDEB6-5F7C-7DBE-1506-827C28776006}"/>
              </a:ext>
            </a:extLst>
          </p:cNvPr>
          <p:cNvCxnSpPr>
            <a:cxnSpLocks/>
          </p:cNvCxnSpPr>
          <p:nvPr/>
        </p:nvCxnSpPr>
        <p:spPr>
          <a:xfrm>
            <a:off x="384369" y="3441150"/>
            <a:ext cx="4107361"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4746746-9C2A-9921-B9C9-0CF8D48668FA}"/>
              </a:ext>
            </a:extLst>
          </p:cNvPr>
          <p:cNvCxnSpPr>
            <a:cxnSpLocks/>
          </p:cNvCxnSpPr>
          <p:nvPr/>
        </p:nvCxnSpPr>
        <p:spPr>
          <a:xfrm>
            <a:off x="371474" y="3134906"/>
            <a:ext cx="4133151"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5D219BFE-B6D9-FE93-06F2-560223CA16AF}"/>
              </a:ext>
            </a:extLst>
          </p:cNvPr>
          <p:cNvGrpSpPr>
            <a:grpSpLocks noChangeAspect="1"/>
          </p:cNvGrpSpPr>
          <p:nvPr/>
        </p:nvGrpSpPr>
        <p:grpSpPr>
          <a:xfrm>
            <a:off x="4744797" y="2940682"/>
            <a:ext cx="457522" cy="457522"/>
            <a:chOff x="1146176" y="2373313"/>
            <a:chExt cx="692150" cy="692150"/>
          </a:xfrm>
          <a:solidFill>
            <a:schemeClr val="tx2"/>
          </a:solidFill>
        </p:grpSpPr>
        <p:sp>
          <p:nvSpPr>
            <p:cNvPr id="34" name="Freeform 5">
              <a:extLst>
                <a:ext uri="{FF2B5EF4-FFF2-40B4-BE49-F238E27FC236}">
                  <a16:creationId xmlns:a16="http://schemas.microsoft.com/office/drawing/2014/main" id="{D9E9DB63-3F2D-211C-31FC-C8F824C3C274}"/>
                </a:ext>
              </a:extLst>
            </p:cNvPr>
            <p:cNvSpPr>
              <a:spLocks noEditPoints="1"/>
            </p:cNvSpPr>
            <p:nvPr/>
          </p:nvSpPr>
          <p:spPr bwMode="auto">
            <a:xfrm>
              <a:off x="1519238" y="2747963"/>
              <a:ext cx="319088" cy="317500"/>
            </a:xfrm>
            <a:custGeom>
              <a:avLst/>
              <a:gdLst>
                <a:gd name="T0" fmla="*/ 114 w 133"/>
                <a:gd name="T1" fmla="*/ 132 h 132"/>
                <a:gd name="T2" fmla="*/ 111 w 133"/>
                <a:gd name="T3" fmla="*/ 131 h 132"/>
                <a:gd name="T4" fmla="*/ 66 w 133"/>
                <a:gd name="T5" fmla="*/ 103 h 132"/>
                <a:gd name="T6" fmla="*/ 22 w 133"/>
                <a:gd name="T7" fmla="*/ 131 h 132"/>
                <a:gd name="T8" fmla="*/ 14 w 133"/>
                <a:gd name="T9" fmla="*/ 130 h 132"/>
                <a:gd name="T10" fmla="*/ 13 w 133"/>
                <a:gd name="T11" fmla="*/ 123 h 132"/>
                <a:gd name="T12" fmla="*/ 35 w 133"/>
                <a:gd name="T13" fmla="*/ 79 h 132"/>
                <a:gd name="T14" fmla="*/ 2 w 133"/>
                <a:gd name="T15" fmla="*/ 46 h 132"/>
                <a:gd name="T16" fmla="*/ 1 w 133"/>
                <a:gd name="T17" fmla="*/ 40 h 132"/>
                <a:gd name="T18" fmla="*/ 6 w 133"/>
                <a:gd name="T19" fmla="*/ 36 h 132"/>
                <a:gd name="T20" fmla="*/ 45 w 133"/>
                <a:gd name="T21" fmla="*/ 36 h 132"/>
                <a:gd name="T22" fmla="*/ 61 w 133"/>
                <a:gd name="T23" fmla="*/ 3 h 132"/>
                <a:gd name="T24" fmla="*/ 66 w 133"/>
                <a:gd name="T25" fmla="*/ 0 h 132"/>
                <a:gd name="T26" fmla="*/ 66 w 133"/>
                <a:gd name="T27" fmla="*/ 0 h 132"/>
                <a:gd name="T28" fmla="*/ 72 w 133"/>
                <a:gd name="T29" fmla="*/ 3 h 132"/>
                <a:gd name="T30" fmla="*/ 88 w 133"/>
                <a:gd name="T31" fmla="*/ 36 h 132"/>
                <a:gd name="T32" fmla="*/ 126 w 133"/>
                <a:gd name="T33" fmla="*/ 36 h 132"/>
                <a:gd name="T34" fmla="*/ 132 w 133"/>
                <a:gd name="T35" fmla="*/ 40 h 132"/>
                <a:gd name="T36" fmla="*/ 131 w 133"/>
                <a:gd name="T37" fmla="*/ 46 h 132"/>
                <a:gd name="T38" fmla="*/ 98 w 133"/>
                <a:gd name="T39" fmla="*/ 79 h 132"/>
                <a:gd name="T40" fmla="*/ 120 w 133"/>
                <a:gd name="T41" fmla="*/ 123 h 132"/>
                <a:gd name="T42" fmla="*/ 119 w 133"/>
                <a:gd name="T43" fmla="*/ 130 h 132"/>
                <a:gd name="T44" fmla="*/ 114 w 133"/>
                <a:gd name="T45" fmla="*/ 132 h 132"/>
                <a:gd name="T46" fmla="*/ 66 w 133"/>
                <a:gd name="T47" fmla="*/ 90 h 132"/>
                <a:gd name="T48" fmla="*/ 69 w 133"/>
                <a:gd name="T49" fmla="*/ 91 h 132"/>
                <a:gd name="T50" fmla="*/ 100 w 133"/>
                <a:gd name="T51" fmla="*/ 110 h 132"/>
                <a:gd name="T52" fmla="*/ 85 w 133"/>
                <a:gd name="T53" fmla="*/ 81 h 132"/>
                <a:gd name="T54" fmla="*/ 86 w 133"/>
                <a:gd name="T55" fmla="*/ 74 h 132"/>
                <a:gd name="T56" fmla="*/ 112 w 133"/>
                <a:gd name="T57" fmla="*/ 48 h 132"/>
                <a:gd name="T58" fmla="*/ 84 w 133"/>
                <a:gd name="T59" fmla="*/ 48 h 132"/>
                <a:gd name="T60" fmla="*/ 79 w 133"/>
                <a:gd name="T61" fmla="*/ 45 h 132"/>
                <a:gd name="T62" fmla="*/ 66 w 133"/>
                <a:gd name="T63" fmla="*/ 19 h 132"/>
                <a:gd name="T64" fmla="*/ 54 w 133"/>
                <a:gd name="T65" fmla="*/ 45 h 132"/>
                <a:gd name="T66" fmla="*/ 48 w 133"/>
                <a:gd name="T67" fmla="*/ 48 h 132"/>
                <a:gd name="T68" fmla="*/ 21 w 133"/>
                <a:gd name="T69" fmla="*/ 48 h 132"/>
                <a:gd name="T70" fmla="*/ 47 w 133"/>
                <a:gd name="T71" fmla="*/ 74 h 132"/>
                <a:gd name="T72" fmla="*/ 48 w 133"/>
                <a:gd name="T73" fmla="*/ 81 h 132"/>
                <a:gd name="T74" fmla="*/ 33 w 133"/>
                <a:gd name="T75" fmla="*/ 110 h 132"/>
                <a:gd name="T76" fmla="*/ 63 w 133"/>
                <a:gd name="T77" fmla="*/ 91 h 132"/>
                <a:gd name="T78" fmla="*/ 66 w 133"/>
                <a:gd name="T79" fmla="*/ 9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3" h="132">
                  <a:moveTo>
                    <a:pt x="114" y="132"/>
                  </a:moveTo>
                  <a:cubicBezTo>
                    <a:pt x="113" y="132"/>
                    <a:pt x="112" y="132"/>
                    <a:pt x="111" y="131"/>
                  </a:cubicBezTo>
                  <a:cubicBezTo>
                    <a:pt x="66" y="103"/>
                    <a:pt x="66" y="103"/>
                    <a:pt x="66" y="103"/>
                  </a:cubicBezTo>
                  <a:cubicBezTo>
                    <a:pt x="22" y="131"/>
                    <a:pt x="22" y="131"/>
                    <a:pt x="22" y="131"/>
                  </a:cubicBezTo>
                  <a:cubicBezTo>
                    <a:pt x="19" y="132"/>
                    <a:pt x="16" y="132"/>
                    <a:pt x="14" y="130"/>
                  </a:cubicBezTo>
                  <a:cubicBezTo>
                    <a:pt x="12" y="129"/>
                    <a:pt x="12" y="126"/>
                    <a:pt x="13" y="123"/>
                  </a:cubicBezTo>
                  <a:cubicBezTo>
                    <a:pt x="35" y="79"/>
                    <a:pt x="35" y="79"/>
                    <a:pt x="35" y="79"/>
                  </a:cubicBezTo>
                  <a:cubicBezTo>
                    <a:pt x="2" y="46"/>
                    <a:pt x="2" y="46"/>
                    <a:pt x="2" y="46"/>
                  </a:cubicBezTo>
                  <a:cubicBezTo>
                    <a:pt x="0" y="45"/>
                    <a:pt x="0" y="42"/>
                    <a:pt x="1" y="40"/>
                  </a:cubicBezTo>
                  <a:cubicBezTo>
                    <a:pt x="2" y="37"/>
                    <a:pt x="4" y="36"/>
                    <a:pt x="6" y="36"/>
                  </a:cubicBezTo>
                  <a:cubicBezTo>
                    <a:pt x="45" y="36"/>
                    <a:pt x="45" y="36"/>
                    <a:pt x="45" y="36"/>
                  </a:cubicBezTo>
                  <a:cubicBezTo>
                    <a:pt x="61" y="3"/>
                    <a:pt x="61" y="3"/>
                    <a:pt x="61" y="3"/>
                  </a:cubicBezTo>
                  <a:cubicBezTo>
                    <a:pt x="62" y="1"/>
                    <a:pt x="64" y="0"/>
                    <a:pt x="66" y="0"/>
                  </a:cubicBezTo>
                  <a:cubicBezTo>
                    <a:pt x="66" y="0"/>
                    <a:pt x="66" y="0"/>
                    <a:pt x="66" y="0"/>
                  </a:cubicBezTo>
                  <a:cubicBezTo>
                    <a:pt x="69" y="0"/>
                    <a:pt x="71" y="1"/>
                    <a:pt x="72" y="3"/>
                  </a:cubicBezTo>
                  <a:cubicBezTo>
                    <a:pt x="88" y="36"/>
                    <a:pt x="88" y="36"/>
                    <a:pt x="88" y="36"/>
                  </a:cubicBezTo>
                  <a:cubicBezTo>
                    <a:pt x="126" y="36"/>
                    <a:pt x="126" y="36"/>
                    <a:pt x="126" y="36"/>
                  </a:cubicBezTo>
                  <a:cubicBezTo>
                    <a:pt x="129" y="36"/>
                    <a:pt x="131" y="37"/>
                    <a:pt x="132" y="40"/>
                  </a:cubicBezTo>
                  <a:cubicBezTo>
                    <a:pt x="133" y="42"/>
                    <a:pt x="132" y="45"/>
                    <a:pt x="131" y="46"/>
                  </a:cubicBezTo>
                  <a:cubicBezTo>
                    <a:pt x="98" y="79"/>
                    <a:pt x="98" y="79"/>
                    <a:pt x="98" y="79"/>
                  </a:cubicBezTo>
                  <a:cubicBezTo>
                    <a:pt x="120" y="123"/>
                    <a:pt x="120" y="123"/>
                    <a:pt x="120" y="123"/>
                  </a:cubicBezTo>
                  <a:cubicBezTo>
                    <a:pt x="121" y="126"/>
                    <a:pt x="121" y="129"/>
                    <a:pt x="119" y="130"/>
                  </a:cubicBezTo>
                  <a:cubicBezTo>
                    <a:pt x="117" y="131"/>
                    <a:pt x="116" y="132"/>
                    <a:pt x="114" y="132"/>
                  </a:cubicBezTo>
                  <a:close/>
                  <a:moveTo>
                    <a:pt x="66" y="90"/>
                  </a:moveTo>
                  <a:cubicBezTo>
                    <a:pt x="67" y="90"/>
                    <a:pt x="69" y="90"/>
                    <a:pt x="69" y="91"/>
                  </a:cubicBezTo>
                  <a:cubicBezTo>
                    <a:pt x="100" y="110"/>
                    <a:pt x="100" y="110"/>
                    <a:pt x="100" y="110"/>
                  </a:cubicBezTo>
                  <a:cubicBezTo>
                    <a:pt x="85" y="81"/>
                    <a:pt x="85" y="81"/>
                    <a:pt x="85" y="81"/>
                  </a:cubicBezTo>
                  <a:cubicBezTo>
                    <a:pt x="84" y="78"/>
                    <a:pt x="84" y="75"/>
                    <a:pt x="86" y="74"/>
                  </a:cubicBezTo>
                  <a:cubicBezTo>
                    <a:pt x="112" y="48"/>
                    <a:pt x="112" y="48"/>
                    <a:pt x="112" y="48"/>
                  </a:cubicBezTo>
                  <a:cubicBezTo>
                    <a:pt x="84" y="48"/>
                    <a:pt x="84" y="48"/>
                    <a:pt x="84" y="48"/>
                  </a:cubicBezTo>
                  <a:cubicBezTo>
                    <a:pt x="82" y="48"/>
                    <a:pt x="80" y="47"/>
                    <a:pt x="79" y="45"/>
                  </a:cubicBezTo>
                  <a:cubicBezTo>
                    <a:pt x="66" y="19"/>
                    <a:pt x="66" y="19"/>
                    <a:pt x="66" y="19"/>
                  </a:cubicBezTo>
                  <a:cubicBezTo>
                    <a:pt x="54" y="45"/>
                    <a:pt x="54" y="45"/>
                    <a:pt x="54" y="45"/>
                  </a:cubicBezTo>
                  <a:cubicBezTo>
                    <a:pt x="53" y="47"/>
                    <a:pt x="51" y="48"/>
                    <a:pt x="48" y="48"/>
                  </a:cubicBezTo>
                  <a:cubicBezTo>
                    <a:pt x="21" y="48"/>
                    <a:pt x="21" y="48"/>
                    <a:pt x="21" y="48"/>
                  </a:cubicBezTo>
                  <a:cubicBezTo>
                    <a:pt x="47" y="74"/>
                    <a:pt x="47" y="74"/>
                    <a:pt x="47" y="74"/>
                  </a:cubicBezTo>
                  <a:cubicBezTo>
                    <a:pt x="48" y="75"/>
                    <a:pt x="49" y="78"/>
                    <a:pt x="48" y="81"/>
                  </a:cubicBezTo>
                  <a:cubicBezTo>
                    <a:pt x="33" y="110"/>
                    <a:pt x="33" y="110"/>
                    <a:pt x="33" y="110"/>
                  </a:cubicBezTo>
                  <a:cubicBezTo>
                    <a:pt x="63" y="91"/>
                    <a:pt x="63" y="91"/>
                    <a:pt x="63" y="91"/>
                  </a:cubicBezTo>
                  <a:cubicBezTo>
                    <a:pt x="64" y="90"/>
                    <a:pt x="65" y="90"/>
                    <a:pt x="66"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4263" rtl="0" eaLnBrk="1" fontAlgn="auto" latinLnBrk="0" hangingPunct="1">
                <a:lnSpc>
                  <a:spcPct val="100000"/>
                </a:lnSpc>
                <a:spcBef>
                  <a:spcPts val="0"/>
                </a:spcBef>
                <a:spcAft>
                  <a:spcPts val="0"/>
                </a:spcAft>
                <a:buClrTx/>
                <a:buSzTx/>
                <a:buFontTx/>
                <a:buNone/>
                <a:tabLst/>
                <a:defRPr/>
              </a:pPr>
              <a:endParaRPr kumimoji="0" lang="en-US" sz="4323" b="0" i="0" u="none" strike="noStrike" kern="1200" cap="none" spc="0" normalizeH="0" baseline="0" noProof="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5" name="Freeform 6">
              <a:extLst>
                <a:ext uri="{FF2B5EF4-FFF2-40B4-BE49-F238E27FC236}">
                  <a16:creationId xmlns:a16="http://schemas.microsoft.com/office/drawing/2014/main" id="{791951B5-47AA-396D-D4BA-2285A711B3BC}"/>
                </a:ext>
              </a:extLst>
            </p:cNvPr>
            <p:cNvSpPr>
              <a:spLocks/>
            </p:cNvSpPr>
            <p:nvPr/>
          </p:nvSpPr>
          <p:spPr bwMode="auto">
            <a:xfrm>
              <a:off x="1497013" y="2378075"/>
              <a:ext cx="155575" cy="327025"/>
            </a:xfrm>
            <a:custGeom>
              <a:avLst/>
              <a:gdLst>
                <a:gd name="T0" fmla="*/ 65 w 65"/>
                <a:gd name="T1" fmla="*/ 136 h 136"/>
                <a:gd name="T2" fmla="*/ 53 w 65"/>
                <a:gd name="T3" fmla="*/ 136 h 136"/>
                <a:gd name="T4" fmla="*/ 0 w 65"/>
                <a:gd name="T5" fmla="*/ 8 h 136"/>
                <a:gd name="T6" fmla="*/ 9 w 65"/>
                <a:gd name="T7" fmla="*/ 0 h 136"/>
                <a:gd name="T8" fmla="*/ 65 w 65"/>
                <a:gd name="T9" fmla="*/ 136 h 136"/>
              </a:gdLst>
              <a:ahLst/>
              <a:cxnLst>
                <a:cxn ang="0">
                  <a:pos x="T0" y="T1"/>
                </a:cxn>
                <a:cxn ang="0">
                  <a:pos x="T2" y="T3"/>
                </a:cxn>
                <a:cxn ang="0">
                  <a:pos x="T4" y="T5"/>
                </a:cxn>
                <a:cxn ang="0">
                  <a:pos x="T6" y="T7"/>
                </a:cxn>
                <a:cxn ang="0">
                  <a:pos x="T8" y="T9"/>
                </a:cxn>
              </a:cxnLst>
              <a:rect l="0" t="0" r="r" b="b"/>
              <a:pathLst>
                <a:path w="65" h="136">
                  <a:moveTo>
                    <a:pt x="65" y="136"/>
                  </a:moveTo>
                  <a:cubicBezTo>
                    <a:pt x="53" y="136"/>
                    <a:pt x="53" y="136"/>
                    <a:pt x="53" y="136"/>
                  </a:cubicBezTo>
                  <a:cubicBezTo>
                    <a:pt x="53" y="90"/>
                    <a:pt x="35" y="46"/>
                    <a:pt x="0" y="8"/>
                  </a:cubicBezTo>
                  <a:cubicBezTo>
                    <a:pt x="9" y="0"/>
                    <a:pt x="9" y="0"/>
                    <a:pt x="9" y="0"/>
                  </a:cubicBezTo>
                  <a:cubicBezTo>
                    <a:pt x="46" y="40"/>
                    <a:pt x="65" y="86"/>
                    <a:pt x="65" y="1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4263" rtl="0" eaLnBrk="1" fontAlgn="auto" latinLnBrk="0" hangingPunct="1">
                <a:lnSpc>
                  <a:spcPct val="100000"/>
                </a:lnSpc>
                <a:spcBef>
                  <a:spcPts val="0"/>
                </a:spcBef>
                <a:spcAft>
                  <a:spcPts val="0"/>
                </a:spcAft>
                <a:buClrTx/>
                <a:buSzTx/>
                <a:buFontTx/>
                <a:buNone/>
                <a:tabLst/>
                <a:defRPr/>
              </a:pPr>
              <a:endParaRPr kumimoji="0" lang="en-US" sz="4323" b="0" i="0" u="none" strike="noStrike" kern="1200" cap="none" spc="0" normalizeH="0" baseline="0" noProof="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6" name="Freeform 7">
              <a:extLst>
                <a:ext uri="{FF2B5EF4-FFF2-40B4-BE49-F238E27FC236}">
                  <a16:creationId xmlns:a16="http://schemas.microsoft.com/office/drawing/2014/main" id="{16F2892C-ABCF-AD69-36AA-A7F57DB0D4BF}"/>
                </a:ext>
              </a:extLst>
            </p:cNvPr>
            <p:cNvSpPr>
              <a:spLocks/>
            </p:cNvSpPr>
            <p:nvPr/>
          </p:nvSpPr>
          <p:spPr bwMode="auto">
            <a:xfrm>
              <a:off x="1192213" y="2863850"/>
              <a:ext cx="317500" cy="28575"/>
            </a:xfrm>
            <a:custGeom>
              <a:avLst/>
              <a:gdLst>
                <a:gd name="T0" fmla="*/ 126 w 132"/>
                <a:gd name="T1" fmla="*/ 12 h 12"/>
                <a:gd name="T2" fmla="*/ 6 w 132"/>
                <a:gd name="T3" fmla="*/ 12 h 12"/>
                <a:gd name="T4" fmla="*/ 0 w 132"/>
                <a:gd name="T5" fmla="*/ 6 h 12"/>
                <a:gd name="T6" fmla="*/ 6 w 132"/>
                <a:gd name="T7" fmla="*/ 0 h 12"/>
                <a:gd name="T8" fmla="*/ 126 w 132"/>
                <a:gd name="T9" fmla="*/ 0 h 12"/>
                <a:gd name="T10" fmla="*/ 132 w 132"/>
                <a:gd name="T11" fmla="*/ 6 h 12"/>
                <a:gd name="T12" fmla="*/ 126 w 13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32" h="12">
                  <a:moveTo>
                    <a:pt x="126" y="12"/>
                  </a:moveTo>
                  <a:cubicBezTo>
                    <a:pt x="6" y="12"/>
                    <a:pt x="6" y="12"/>
                    <a:pt x="6" y="12"/>
                  </a:cubicBezTo>
                  <a:cubicBezTo>
                    <a:pt x="2" y="12"/>
                    <a:pt x="0" y="9"/>
                    <a:pt x="0" y="6"/>
                  </a:cubicBezTo>
                  <a:cubicBezTo>
                    <a:pt x="0" y="3"/>
                    <a:pt x="2" y="0"/>
                    <a:pt x="6" y="0"/>
                  </a:cubicBezTo>
                  <a:cubicBezTo>
                    <a:pt x="126" y="0"/>
                    <a:pt x="126" y="0"/>
                    <a:pt x="126" y="0"/>
                  </a:cubicBezTo>
                  <a:cubicBezTo>
                    <a:pt x="129" y="0"/>
                    <a:pt x="132" y="3"/>
                    <a:pt x="132" y="6"/>
                  </a:cubicBezTo>
                  <a:cubicBezTo>
                    <a:pt x="132" y="9"/>
                    <a:pt x="129" y="12"/>
                    <a:pt x="12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4263" rtl="0" eaLnBrk="1" fontAlgn="auto" latinLnBrk="0" hangingPunct="1">
                <a:lnSpc>
                  <a:spcPct val="100000"/>
                </a:lnSpc>
                <a:spcBef>
                  <a:spcPts val="0"/>
                </a:spcBef>
                <a:spcAft>
                  <a:spcPts val="0"/>
                </a:spcAft>
                <a:buClrTx/>
                <a:buSzTx/>
                <a:buFontTx/>
                <a:buNone/>
                <a:tabLst/>
                <a:defRPr/>
              </a:pPr>
              <a:endParaRPr kumimoji="0" lang="en-US" sz="4323" b="0" i="0" u="none" strike="noStrike" kern="1200" cap="none" spc="0" normalizeH="0" baseline="0" noProof="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7" name="Rectangle 8">
              <a:extLst>
                <a:ext uri="{FF2B5EF4-FFF2-40B4-BE49-F238E27FC236}">
                  <a16:creationId xmlns:a16="http://schemas.microsoft.com/office/drawing/2014/main" id="{96DBEF86-EB0E-9E25-0C0E-22335045AB7E}"/>
                </a:ext>
              </a:extLst>
            </p:cNvPr>
            <p:cNvSpPr>
              <a:spLocks noChangeArrowheads="1"/>
            </p:cNvSpPr>
            <p:nvPr/>
          </p:nvSpPr>
          <p:spPr bwMode="auto">
            <a:xfrm>
              <a:off x="1216026" y="2517775"/>
              <a:ext cx="552450" cy="285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4263" rtl="0" eaLnBrk="1" fontAlgn="auto" latinLnBrk="0" hangingPunct="1">
                <a:lnSpc>
                  <a:spcPct val="100000"/>
                </a:lnSpc>
                <a:spcBef>
                  <a:spcPts val="0"/>
                </a:spcBef>
                <a:spcAft>
                  <a:spcPts val="0"/>
                </a:spcAft>
                <a:buClrTx/>
                <a:buSzTx/>
                <a:buFontTx/>
                <a:buNone/>
                <a:tabLst/>
                <a:defRPr/>
              </a:pPr>
              <a:endParaRPr kumimoji="0" lang="en-US" sz="4323" b="0" i="0" u="none" strike="noStrike" kern="1200" cap="none" spc="0" normalizeH="0" baseline="0" noProof="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38" name="Freeform 9">
              <a:extLst>
                <a:ext uri="{FF2B5EF4-FFF2-40B4-BE49-F238E27FC236}">
                  <a16:creationId xmlns:a16="http://schemas.microsoft.com/office/drawing/2014/main" id="{441D6560-CBE3-EE1D-7CAE-CEF28E72F394}"/>
                </a:ext>
              </a:extLst>
            </p:cNvPr>
            <p:cNvSpPr>
              <a:spLocks noEditPoints="1"/>
            </p:cNvSpPr>
            <p:nvPr/>
          </p:nvSpPr>
          <p:spPr bwMode="auto">
            <a:xfrm>
              <a:off x="1146176" y="2373313"/>
              <a:ext cx="692150" cy="692150"/>
            </a:xfrm>
            <a:custGeom>
              <a:avLst/>
              <a:gdLst>
                <a:gd name="T0" fmla="*/ 137 w 288"/>
                <a:gd name="T1" fmla="*/ 288 h 288"/>
                <a:gd name="T2" fmla="*/ 137 w 288"/>
                <a:gd name="T3" fmla="*/ 288 h 288"/>
                <a:gd name="T4" fmla="*/ 131 w 288"/>
                <a:gd name="T5" fmla="*/ 288 h 288"/>
                <a:gd name="T6" fmla="*/ 0 w 288"/>
                <a:gd name="T7" fmla="*/ 141 h 288"/>
                <a:gd name="T8" fmla="*/ 0 w 288"/>
                <a:gd name="T9" fmla="*/ 138 h 288"/>
                <a:gd name="T10" fmla="*/ 0 w 288"/>
                <a:gd name="T11" fmla="*/ 138 h 288"/>
                <a:gd name="T12" fmla="*/ 0 w 288"/>
                <a:gd name="T13" fmla="*/ 138 h 288"/>
                <a:gd name="T14" fmla="*/ 134 w 288"/>
                <a:gd name="T15" fmla="*/ 1 h 288"/>
                <a:gd name="T16" fmla="*/ 136 w 288"/>
                <a:gd name="T17" fmla="*/ 0 h 288"/>
                <a:gd name="T18" fmla="*/ 138 w 288"/>
                <a:gd name="T19" fmla="*/ 0 h 288"/>
                <a:gd name="T20" fmla="*/ 145 w 288"/>
                <a:gd name="T21" fmla="*/ 0 h 288"/>
                <a:gd name="T22" fmla="*/ 288 w 288"/>
                <a:gd name="T23" fmla="*/ 131 h 288"/>
                <a:gd name="T24" fmla="*/ 288 w 288"/>
                <a:gd name="T25" fmla="*/ 132 h 288"/>
                <a:gd name="T26" fmla="*/ 288 w 288"/>
                <a:gd name="T27" fmla="*/ 138 h 288"/>
                <a:gd name="T28" fmla="*/ 282 w 288"/>
                <a:gd name="T29" fmla="*/ 144 h 288"/>
                <a:gd name="T30" fmla="*/ 88 w 288"/>
                <a:gd name="T31" fmla="*/ 144 h 288"/>
                <a:gd name="T32" fmla="*/ 142 w 288"/>
                <a:gd name="T33" fmla="*/ 279 h 288"/>
                <a:gd name="T34" fmla="*/ 143 w 288"/>
                <a:gd name="T35" fmla="*/ 285 h 288"/>
                <a:gd name="T36" fmla="*/ 137 w 288"/>
                <a:gd name="T37" fmla="*/ 288 h 288"/>
                <a:gd name="T38" fmla="*/ 12 w 288"/>
                <a:gd name="T39" fmla="*/ 144 h 288"/>
                <a:gd name="T40" fmla="*/ 125 w 288"/>
                <a:gd name="T41" fmla="*/ 275 h 288"/>
                <a:gd name="T42" fmla="*/ 77 w 288"/>
                <a:gd name="T43" fmla="*/ 144 h 288"/>
                <a:gd name="T44" fmla="*/ 12 w 288"/>
                <a:gd name="T45" fmla="*/ 144 h 288"/>
                <a:gd name="T46" fmla="*/ 88 w 288"/>
                <a:gd name="T47" fmla="*/ 132 h 288"/>
                <a:gd name="T48" fmla="*/ 276 w 288"/>
                <a:gd name="T49" fmla="*/ 132 h 288"/>
                <a:gd name="T50" fmla="*/ 276 w 288"/>
                <a:gd name="T51" fmla="*/ 132 h 288"/>
                <a:gd name="T52" fmla="*/ 145 w 288"/>
                <a:gd name="T53" fmla="*/ 12 h 288"/>
                <a:gd name="T54" fmla="*/ 139 w 288"/>
                <a:gd name="T55" fmla="*/ 12 h 288"/>
                <a:gd name="T56" fmla="*/ 138 w 288"/>
                <a:gd name="T57" fmla="*/ 12 h 288"/>
                <a:gd name="T58" fmla="*/ 88 w 288"/>
                <a:gd name="T59" fmla="*/ 132 h 288"/>
                <a:gd name="T60" fmla="*/ 13 w 288"/>
                <a:gd name="T61" fmla="*/ 132 h 288"/>
                <a:gd name="T62" fmla="*/ 77 w 288"/>
                <a:gd name="T63" fmla="*/ 132 h 288"/>
                <a:gd name="T64" fmla="*/ 121 w 288"/>
                <a:gd name="T65" fmla="*/ 14 h 288"/>
                <a:gd name="T66" fmla="*/ 13 w 288"/>
                <a:gd name="T67" fmla="*/ 13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8" h="288">
                  <a:moveTo>
                    <a:pt x="137" y="288"/>
                  </a:moveTo>
                  <a:cubicBezTo>
                    <a:pt x="137" y="288"/>
                    <a:pt x="137" y="288"/>
                    <a:pt x="137" y="288"/>
                  </a:cubicBezTo>
                  <a:cubicBezTo>
                    <a:pt x="131" y="288"/>
                    <a:pt x="131" y="288"/>
                    <a:pt x="131" y="288"/>
                  </a:cubicBezTo>
                  <a:cubicBezTo>
                    <a:pt x="58" y="281"/>
                    <a:pt x="0" y="217"/>
                    <a:pt x="0" y="141"/>
                  </a:cubicBezTo>
                  <a:cubicBezTo>
                    <a:pt x="0" y="140"/>
                    <a:pt x="0" y="139"/>
                    <a:pt x="0" y="138"/>
                  </a:cubicBezTo>
                  <a:cubicBezTo>
                    <a:pt x="0" y="138"/>
                    <a:pt x="0" y="138"/>
                    <a:pt x="0" y="138"/>
                  </a:cubicBezTo>
                  <a:cubicBezTo>
                    <a:pt x="0" y="138"/>
                    <a:pt x="0" y="138"/>
                    <a:pt x="0" y="138"/>
                  </a:cubicBezTo>
                  <a:cubicBezTo>
                    <a:pt x="2" y="64"/>
                    <a:pt x="59" y="6"/>
                    <a:pt x="134" y="1"/>
                  </a:cubicBezTo>
                  <a:cubicBezTo>
                    <a:pt x="135" y="0"/>
                    <a:pt x="136" y="0"/>
                    <a:pt x="136" y="0"/>
                  </a:cubicBezTo>
                  <a:cubicBezTo>
                    <a:pt x="137" y="0"/>
                    <a:pt x="138" y="0"/>
                    <a:pt x="138" y="0"/>
                  </a:cubicBezTo>
                  <a:cubicBezTo>
                    <a:pt x="140" y="0"/>
                    <a:pt x="143" y="0"/>
                    <a:pt x="145" y="0"/>
                  </a:cubicBezTo>
                  <a:cubicBezTo>
                    <a:pt x="220" y="0"/>
                    <a:pt x="282" y="57"/>
                    <a:pt x="288" y="131"/>
                  </a:cubicBezTo>
                  <a:cubicBezTo>
                    <a:pt x="288" y="132"/>
                    <a:pt x="288" y="132"/>
                    <a:pt x="288" y="132"/>
                  </a:cubicBezTo>
                  <a:cubicBezTo>
                    <a:pt x="288" y="138"/>
                    <a:pt x="288" y="138"/>
                    <a:pt x="288" y="138"/>
                  </a:cubicBezTo>
                  <a:cubicBezTo>
                    <a:pt x="288" y="142"/>
                    <a:pt x="285" y="144"/>
                    <a:pt x="282" y="144"/>
                  </a:cubicBezTo>
                  <a:cubicBezTo>
                    <a:pt x="88" y="144"/>
                    <a:pt x="88" y="144"/>
                    <a:pt x="88" y="144"/>
                  </a:cubicBezTo>
                  <a:cubicBezTo>
                    <a:pt x="90" y="188"/>
                    <a:pt x="108" y="234"/>
                    <a:pt x="142" y="279"/>
                  </a:cubicBezTo>
                  <a:cubicBezTo>
                    <a:pt x="143" y="280"/>
                    <a:pt x="144" y="283"/>
                    <a:pt x="143" y="285"/>
                  </a:cubicBezTo>
                  <a:cubicBezTo>
                    <a:pt x="141" y="287"/>
                    <a:pt x="139" y="288"/>
                    <a:pt x="137" y="288"/>
                  </a:cubicBezTo>
                  <a:close/>
                  <a:moveTo>
                    <a:pt x="12" y="144"/>
                  </a:moveTo>
                  <a:cubicBezTo>
                    <a:pt x="14" y="210"/>
                    <a:pt x="62" y="265"/>
                    <a:pt x="125" y="275"/>
                  </a:cubicBezTo>
                  <a:cubicBezTo>
                    <a:pt x="95" y="232"/>
                    <a:pt x="79" y="187"/>
                    <a:pt x="77" y="144"/>
                  </a:cubicBezTo>
                  <a:lnTo>
                    <a:pt x="12" y="144"/>
                  </a:lnTo>
                  <a:close/>
                  <a:moveTo>
                    <a:pt x="88" y="132"/>
                  </a:moveTo>
                  <a:cubicBezTo>
                    <a:pt x="276" y="132"/>
                    <a:pt x="276" y="132"/>
                    <a:pt x="276" y="132"/>
                  </a:cubicBezTo>
                  <a:cubicBezTo>
                    <a:pt x="276" y="132"/>
                    <a:pt x="276" y="132"/>
                    <a:pt x="276" y="132"/>
                  </a:cubicBezTo>
                  <a:cubicBezTo>
                    <a:pt x="270" y="64"/>
                    <a:pt x="214" y="12"/>
                    <a:pt x="145" y="12"/>
                  </a:cubicBezTo>
                  <a:cubicBezTo>
                    <a:pt x="143" y="12"/>
                    <a:pt x="141" y="12"/>
                    <a:pt x="139" y="12"/>
                  </a:cubicBezTo>
                  <a:cubicBezTo>
                    <a:pt x="139" y="12"/>
                    <a:pt x="139" y="12"/>
                    <a:pt x="138" y="12"/>
                  </a:cubicBezTo>
                  <a:cubicBezTo>
                    <a:pt x="106" y="48"/>
                    <a:pt x="89" y="89"/>
                    <a:pt x="88" y="132"/>
                  </a:cubicBezTo>
                  <a:close/>
                  <a:moveTo>
                    <a:pt x="13" y="132"/>
                  </a:moveTo>
                  <a:cubicBezTo>
                    <a:pt x="77" y="132"/>
                    <a:pt x="77" y="132"/>
                    <a:pt x="77" y="132"/>
                  </a:cubicBezTo>
                  <a:cubicBezTo>
                    <a:pt x="78" y="90"/>
                    <a:pt x="93" y="50"/>
                    <a:pt x="121" y="14"/>
                  </a:cubicBezTo>
                  <a:cubicBezTo>
                    <a:pt x="61" y="24"/>
                    <a:pt x="17" y="72"/>
                    <a:pt x="13" y="1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4263" rtl="0" eaLnBrk="1" fontAlgn="auto" latinLnBrk="0" hangingPunct="1">
                <a:lnSpc>
                  <a:spcPct val="100000"/>
                </a:lnSpc>
                <a:spcBef>
                  <a:spcPts val="0"/>
                </a:spcBef>
                <a:spcAft>
                  <a:spcPts val="0"/>
                </a:spcAft>
                <a:buClrTx/>
                <a:buSzTx/>
                <a:buFontTx/>
                <a:buNone/>
                <a:tabLst/>
                <a:defRPr/>
              </a:pPr>
              <a:endParaRPr kumimoji="0" lang="en-US" sz="4323" b="0" i="0" u="none" strike="noStrike" kern="1200" cap="none" spc="0" normalizeH="0" baseline="0" noProof="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grpSp>
        <p:nvGrpSpPr>
          <p:cNvPr id="39" name="Group 38">
            <a:extLst>
              <a:ext uri="{FF2B5EF4-FFF2-40B4-BE49-F238E27FC236}">
                <a16:creationId xmlns:a16="http://schemas.microsoft.com/office/drawing/2014/main" id="{E9DF3F7B-30D2-E7AC-8106-09CE1742BF50}"/>
              </a:ext>
            </a:extLst>
          </p:cNvPr>
          <p:cNvGrpSpPr>
            <a:grpSpLocks noChangeAspect="1"/>
          </p:cNvGrpSpPr>
          <p:nvPr/>
        </p:nvGrpSpPr>
        <p:grpSpPr>
          <a:xfrm>
            <a:off x="6490052" y="2940682"/>
            <a:ext cx="458577" cy="457522"/>
            <a:chOff x="4786313" y="2373313"/>
            <a:chExt cx="692150" cy="690562"/>
          </a:xfrm>
          <a:solidFill>
            <a:schemeClr val="tx2"/>
          </a:solidFill>
        </p:grpSpPr>
        <p:sp>
          <p:nvSpPr>
            <p:cNvPr id="40" name="Freeform 27">
              <a:extLst>
                <a:ext uri="{FF2B5EF4-FFF2-40B4-BE49-F238E27FC236}">
                  <a16:creationId xmlns:a16="http://schemas.microsoft.com/office/drawing/2014/main" id="{0B724127-581F-031C-35E1-4A14CCDEB845}"/>
                </a:ext>
              </a:extLst>
            </p:cNvPr>
            <p:cNvSpPr>
              <a:spLocks noEditPoints="1"/>
            </p:cNvSpPr>
            <p:nvPr/>
          </p:nvSpPr>
          <p:spPr bwMode="auto">
            <a:xfrm>
              <a:off x="5016500" y="2459038"/>
              <a:ext cx="231775" cy="230188"/>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2" y="96"/>
                    <a:pt x="0" y="75"/>
                    <a:pt x="0" y="48"/>
                  </a:cubicBezTo>
                  <a:cubicBezTo>
                    <a:pt x="0" y="22"/>
                    <a:pt x="22" y="0"/>
                    <a:pt x="48" y="0"/>
                  </a:cubicBezTo>
                  <a:cubicBezTo>
                    <a:pt x="75" y="0"/>
                    <a:pt x="96" y="22"/>
                    <a:pt x="96" y="48"/>
                  </a:cubicBezTo>
                  <a:cubicBezTo>
                    <a:pt x="96" y="75"/>
                    <a:pt x="75" y="96"/>
                    <a:pt x="48" y="96"/>
                  </a:cubicBezTo>
                  <a:close/>
                  <a:moveTo>
                    <a:pt x="48" y="12"/>
                  </a:moveTo>
                  <a:cubicBezTo>
                    <a:pt x="28" y="12"/>
                    <a:pt x="12" y="29"/>
                    <a:pt x="12" y="48"/>
                  </a:cubicBezTo>
                  <a:cubicBezTo>
                    <a:pt x="12" y="68"/>
                    <a:pt x="28" y="84"/>
                    <a:pt x="48" y="84"/>
                  </a:cubicBezTo>
                  <a:cubicBezTo>
                    <a:pt x="68" y="84"/>
                    <a:pt x="84" y="68"/>
                    <a:pt x="84" y="48"/>
                  </a:cubicBezTo>
                  <a:cubicBezTo>
                    <a:pt x="84" y="29"/>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4263" rtl="0" eaLnBrk="1" fontAlgn="auto" latinLnBrk="0" hangingPunct="1">
                <a:lnSpc>
                  <a:spcPct val="100000"/>
                </a:lnSpc>
                <a:spcBef>
                  <a:spcPts val="0"/>
                </a:spcBef>
                <a:spcAft>
                  <a:spcPts val="0"/>
                </a:spcAft>
                <a:buClrTx/>
                <a:buSzTx/>
                <a:buFontTx/>
                <a:buNone/>
                <a:tabLst/>
                <a:defRPr/>
              </a:pPr>
              <a:endParaRPr kumimoji="0" lang="en-US" sz="4323" b="0" i="0" u="none" strike="noStrike" kern="1200" cap="none" spc="0" normalizeH="0" baseline="0" noProof="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1" name="Freeform 28">
              <a:extLst>
                <a:ext uri="{FF2B5EF4-FFF2-40B4-BE49-F238E27FC236}">
                  <a16:creationId xmlns:a16="http://schemas.microsoft.com/office/drawing/2014/main" id="{EC3EB34B-F7BD-C9A3-136F-9EBD5970989A}"/>
                </a:ext>
              </a:extLst>
            </p:cNvPr>
            <p:cNvSpPr>
              <a:spLocks noEditPoints="1"/>
            </p:cNvSpPr>
            <p:nvPr/>
          </p:nvSpPr>
          <p:spPr bwMode="auto">
            <a:xfrm>
              <a:off x="4921250" y="2373313"/>
              <a:ext cx="425450" cy="635000"/>
            </a:xfrm>
            <a:custGeom>
              <a:avLst/>
              <a:gdLst>
                <a:gd name="T0" fmla="*/ 88 w 177"/>
                <a:gd name="T1" fmla="*/ 265 h 265"/>
                <a:gd name="T2" fmla="*/ 88 w 177"/>
                <a:gd name="T3" fmla="*/ 265 h 265"/>
                <a:gd name="T4" fmla="*/ 83 w 177"/>
                <a:gd name="T5" fmla="*/ 262 h 265"/>
                <a:gd name="T6" fmla="*/ 0 w 177"/>
                <a:gd name="T7" fmla="*/ 89 h 265"/>
                <a:gd name="T8" fmla="*/ 88 w 177"/>
                <a:gd name="T9" fmla="*/ 0 h 265"/>
                <a:gd name="T10" fmla="*/ 177 w 177"/>
                <a:gd name="T11" fmla="*/ 89 h 265"/>
                <a:gd name="T12" fmla="*/ 93 w 177"/>
                <a:gd name="T13" fmla="*/ 262 h 265"/>
                <a:gd name="T14" fmla="*/ 88 w 177"/>
                <a:gd name="T15" fmla="*/ 265 h 265"/>
                <a:gd name="T16" fmla="*/ 88 w 177"/>
                <a:gd name="T17" fmla="*/ 12 h 265"/>
                <a:gd name="T18" fmla="*/ 12 w 177"/>
                <a:gd name="T19" fmla="*/ 89 h 265"/>
                <a:gd name="T20" fmla="*/ 88 w 177"/>
                <a:gd name="T21" fmla="*/ 248 h 265"/>
                <a:gd name="T22" fmla="*/ 165 w 177"/>
                <a:gd name="T23" fmla="*/ 89 h 265"/>
                <a:gd name="T24" fmla="*/ 88 w 177"/>
                <a:gd name="T25"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265">
                  <a:moveTo>
                    <a:pt x="88" y="265"/>
                  </a:moveTo>
                  <a:cubicBezTo>
                    <a:pt x="88" y="265"/>
                    <a:pt x="88" y="265"/>
                    <a:pt x="88" y="265"/>
                  </a:cubicBezTo>
                  <a:cubicBezTo>
                    <a:pt x="86" y="265"/>
                    <a:pt x="84" y="264"/>
                    <a:pt x="83" y="262"/>
                  </a:cubicBezTo>
                  <a:cubicBezTo>
                    <a:pt x="80" y="257"/>
                    <a:pt x="0" y="135"/>
                    <a:pt x="0" y="89"/>
                  </a:cubicBezTo>
                  <a:cubicBezTo>
                    <a:pt x="0" y="40"/>
                    <a:pt x="40" y="0"/>
                    <a:pt x="88" y="0"/>
                  </a:cubicBezTo>
                  <a:cubicBezTo>
                    <a:pt x="137" y="0"/>
                    <a:pt x="177" y="40"/>
                    <a:pt x="177" y="89"/>
                  </a:cubicBezTo>
                  <a:cubicBezTo>
                    <a:pt x="177" y="135"/>
                    <a:pt x="97" y="257"/>
                    <a:pt x="93" y="262"/>
                  </a:cubicBezTo>
                  <a:cubicBezTo>
                    <a:pt x="92" y="264"/>
                    <a:pt x="90" y="265"/>
                    <a:pt x="88" y="265"/>
                  </a:cubicBezTo>
                  <a:close/>
                  <a:moveTo>
                    <a:pt x="88" y="12"/>
                  </a:moveTo>
                  <a:cubicBezTo>
                    <a:pt x="46" y="12"/>
                    <a:pt x="12" y="47"/>
                    <a:pt x="12" y="89"/>
                  </a:cubicBezTo>
                  <a:cubicBezTo>
                    <a:pt x="12" y="126"/>
                    <a:pt x="71" y="220"/>
                    <a:pt x="88" y="248"/>
                  </a:cubicBezTo>
                  <a:cubicBezTo>
                    <a:pt x="106" y="220"/>
                    <a:pt x="165" y="126"/>
                    <a:pt x="165" y="89"/>
                  </a:cubicBezTo>
                  <a:cubicBezTo>
                    <a:pt x="165" y="47"/>
                    <a:pt x="130" y="12"/>
                    <a:pt x="8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4263" rtl="0" eaLnBrk="1" fontAlgn="auto" latinLnBrk="0" hangingPunct="1">
                <a:lnSpc>
                  <a:spcPct val="100000"/>
                </a:lnSpc>
                <a:spcBef>
                  <a:spcPts val="0"/>
                </a:spcBef>
                <a:spcAft>
                  <a:spcPts val="0"/>
                </a:spcAft>
                <a:buClrTx/>
                <a:buSzTx/>
                <a:buFontTx/>
                <a:buNone/>
                <a:tabLst/>
                <a:defRPr/>
              </a:pPr>
              <a:endParaRPr kumimoji="0" lang="en-US" sz="4323" b="0" i="0" u="none" strike="noStrike" kern="1200" cap="none" spc="0" normalizeH="0" baseline="0" noProof="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2" name="Freeform 29">
              <a:extLst>
                <a:ext uri="{FF2B5EF4-FFF2-40B4-BE49-F238E27FC236}">
                  <a16:creationId xmlns:a16="http://schemas.microsoft.com/office/drawing/2014/main" id="{FD217B13-7AA1-001A-BB4F-A3A01294E9B1}"/>
                </a:ext>
              </a:extLst>
            </p:cNvPr>
            <p:cNvSpPr>
              <a:spLocks noEditPoints="1"/>
            </p:cNvSpPr>
            <p:nvPr/>
          </p:nvSpPr>
          <p:spPr bwMode="auto">
            <a:xfrm>
              <a:off x="4786313" y="2927350"/>
              <a:ext cx="692150" cy="136525"/>
            </a:xfrm>
            <a:custGeom>
              <a:avLst/>
              <a:gdLst>
                <a:gd name="T0" fmla="*/ 144 w 288"/>
                <a:gd name="T1" fmla="*/ 57 h 57"/>
                <a:gd name="T2" fmla="*/ 0 w 288"/>
                <a:gd name="T3" fmla="*/ 27 h 57"/>
                <a:gd name="T4" fmla="*/ 83 w 288"/>
                <a:gd name="T5" fmla="*/ 0 h 57"/>
                <a:gd name="T6" fmla="*/ 90 w 288"/>
                <a:gd name="T7" fmla="*/ 5 h 57"/>
                <a:gd name="T8" fmla="*/ 84 w 288"/>
                <a:gd name="T9" fmla="*/ 12 h 57"/>
                <a:gd name="T10" fmla="*/ 13 w 288"/>
                <a:gd name="T11" fmla="*/ 27 h 57"/>
                <a:gd name="T12" fmla="*/ 144 w 288"/>
                <a:gd name="T13" fmla="*/ 45 h 57"/>
                <a:gd name="T14" fmla="*/ 276 w 288"/>
                <a:gd name="T15" fmla="*/ 27 h 57"/>
                <a:gd name="T16" fmla="*/ 204 w 288"/>
                <a:gd name="T17" fmla="*/ 12 h 57"/>
                <a:gd name="T18" fmla="*/ 198 w 288"/>
                <a:gd name="T19" fmla="*/ 5 h 57"/>
                <a:gd name="T20" fmla="*/ 205 w 288"/>
                <a:gd name="T21" fmla="*/ 0 h 57"/>
                <a:gd name="T22" fmla="*/ 288 w 288"/>
                <a:gd name="T23" fmla="*/ 27 h 57"/>
                <a:gd name="T24" fmla="*/ 144 w 288"/>
                <a:gd name="T25" fmla="*/ 57 h 57"/>
                <a:gd name="T26" fmla="*/ 276 w 288"/>
                <a:gd name="T27" fmla="*/ 28 h 57"/>
                <a:gd name="T28" fmla="*/ 276 w 288"/>
                <a:gd name="T2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8" h="57">
                  <a:moveTo>
                    <a:pt x="144" y="57"/>
                  </a:moveTo>
                  <a:cubicBezTo>
                    <a:pt x="130" y="57"/>
                    <a:pt x="0" y="57"/>
                    <a:pt x="0" y="27"/>
                  </a:cubicBezTo>
                  <a:cubicBezTo>
                    <a:pt x="0" y="14"/>
                    <a:pt x="28" y="5"/>
                    <a:pt x="83" y="0"/>
                  </a:cubicBezTo>
                  <a:cubicBezTo>
                    <a:pt x="87" y="0"/>
                    <a:pt x="89" y="2"/>
                    <a:pt x="90" y="5"/>
                  </a:cubicBezTo>
                  <a:cubicBezTo>
                    <a:pt x="90" y="9"/>
                    <a:pt x="88" y="12"/>
                    <a:pt x="84" y="12"/>
                  </a:cubicBezTo>
                  <a:cubicBezTo>
                    <a:pt x="33" y="16"/>
                    <a:pt x="16" y="24"/>
                    <a:pt x="13" y="27"/>
                  </a:cubicBezTo>
                  <a:cubicBezTo>
                    <a:pt x="18" y="34"/>
                    <a:pt x="65" y="45"/>
                    <a:pt x="144" y="45"/>
                  </a:cubicBezTo>
                  <a:cubicBezTo>
                    <a:pt x="223" y="45"/>
                    <a:pt x="270" y="34"/>
                    <a:pt x="276" y="27"/>
                  </a:cubicBezTo>
                  <a:cubicBezTo>
                    <a:pt x="273" y="24"/>
                    <a:pt x="255" y="16"/>
                    <a:pt x="204" y="12"/>
                  </a:cubicBezTo>
                  <a:cubicBezTo>
                    <a:pt x="200" y="12"/>
                    <a:pt x="198" y="9"/>
                    <a:pt x="198" y="5"/>
                  </a:cubicBezTo>
                  <a:cubicBezTo>
                    <a:pt x="199" y="2"/>
                    <a:pt x="201" y="0"/>
                    <a:pt x="205" y="0"/>
                  </a:cubicBezTo>
                  <a:cubicBezTo>
                    <a:pt x="260" y="5"/>
                    <a:pt x="288" y="14"/>
                    <a:pt x="288" y="27"/>
                  </a:cubicBezTo>
                  <a:cubicBezTo>
                    <a:pt x="288" y="57"/>
                    <a:pt x="159" y="57"/>
                    <a:pt x="144" y="57"/>
                  </a:cubicBezTo>
                  <a:close/>
                  <a:moveTo>
                    <a:pt x="276" y="28"/>
                  </a:moveTo>
                  <a:cubicBezTo>
                    <a:pt x="276" y="28"/>
                    <a:pt x="276" y="28"/>
                    <a:pt x="27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4263" rtl="0" eaLnBrk="1" fontAlgn="auto" latinLnBrk="0" hangingPunct="1">
                <a:lnSpc>
                  <a:spcPct val="100000"/>
                </a:lnSpc>
                <a:spcBef>
                  <a:spcPts val="0"/>
                </a:spcBef>
                <a:spcAft>
                  <a:spcPts val="0"/>
                </a:spcAft>
                <a:buClrTx/>
                <a:buSzTx/>
                <a:buFontTx/>
                <a:buNone/>
                <a:tabLst/>
                <a:defRPr/>
              </a:pPr>
              <a:endParaRPr kumimoji="0" lang="en-US" sz="4323" b="0" i="0" u="none" strike="noStrike" kern="1200" cap="none" spc="0" normalizeH="0" baseline="0" noProof="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grpSp>
        <p:nvGrpSpPr>
          <p:cNvPr id="43" name="Grupo 79">
            <a:extLst>
              <a:ext uri="{FF2B5EF4-FFF2-40B4-BE49-F238E27FC236}">
                <a16:creationId xmlns:a16="http://schemas.microsoft.com/office/drawing/2014/main" id="{F1C8397F-7250-A624-7E9F-F6A675C69BB3}"/>
              </a:ext>
            </a:extLst>
          </p:cNvPr>
          <p:cNvGrpSpPr/>
          <p:nvPr/>
        </p:nvGrpSpPr>
        <p:grpSpPr>
          <a:xfrm>
            <a:off x="5564952" y="2927106"/>
            <a:ext cx="562467" cy="484674"/>
            <a:chOff x="3396568" y="5931108"/>
            <a:chExt cx="574701" cy="495216"/>
          </a:xfrm>
          <a:solidFill>
            <a:schemeClr val="tx2"/>
          </a:solidFill>
        </p:grpSpPr>
        <p:sp>
          <p:nvSpPr>
            <p:cNvPr id="44" name="Forma libre 7">
              <a:extLst>
                <a:ext uri="{FF2B5EF4-FFF2-40B4-BE49-F238E27FC236}">
                  <a16:creationId xmlns:a16="http://schemas.microsoft.com/office/drawing/2014/main" id="{E49CD861-A1B4-F85A-8184-0C4DFD2CBC25}"/>
                </a:ext>
              </a:extLst>
            </p:cNvPr>
            <p:cNvSpPr/>
            <p:nvPr/>
          </p:nvSpPr>
          <p:spPr>
            <a:xfrm>
              <a:off x="3396568" y="5931108"/>
              <a:ext cx="574701" cy="495216"/>
            </a:xfrm>
            <a:custGeom>
              <a:avLst/>
              <a:gdLst>
                <a:gd name="connsiteX0" fmla="*/ 4745757 w 4827993"/>
                <a:gd name="connsiteY0" fmla="*/ 3606155 h 4160250"/>
                <a:gd name="connsiteX1" fmla="*/ 576386 w 4827993"/>
                <a:gd name="connsiteY1" fmla="*/ 3606155 h 4160250"/>
                <a:gd name="connsiteX2" fmla="*/ 576386 w 4827993"/>
                <a:gd name="connsiteY2" fmla="*/ 82319 h 4160250"/>
                <a:gd name="connsiteX3" fmla="*/ 494106 w 4827993"/>
                <a:gd name="connsiteY3" fmla="*/ 0 h 4160250"/>
                <a:gd name="connsiteX4" fmla="*/ 411788 w 4827993"/>
                <a:gd name="connsiteY4" fmla="*/ 82319 h 4160250"/>
                <a:gd name="connsiteX5" fmla="*/ 411788 w 4827993"/>
                <a:gd name="connsiteY5" fmla="*/ 890387 h 4160250"/>
                <a:gd name="connsiteX6" fmla="*/ 82280 w 4827993"/>
                <a:gd name="connsiteY6" fmla="*/ 890387 h 4160250"/>
                <a:gd name="connsiteX7" fmla="*/ 0 w 4827993"/>
                <a:gd name="connsiteY7" fmla="*/ 972705 h 4160250"/>
                <a:gd name="connsiteX8" fmla="*/ 82280 w 4827993"/>
                <a:gd name="connsiteY8" fmla="*/ 1054986 h 4160250"/>
                <a:gd name="connsiteX9" fmla="*/ 411788 w 4827993"/>
                <a:gd name="connsiteY9" fmla="*/ 1054986 h 4160250"/>
                <a:gd name="connsiteX10" fmla="*/ 411788 w 4827993"/>
                <a:gd name="connsiteY10" fmla="*/ 2014302 h 4160250"/>
                <a:gd name="connsiteX11" fmla="*/ 82280 w 4827993"/>
                <a:gd name="connsiteY11" fmla="*/ 2014302 h 4160250"/>
                <a:gd name="connsiteX12" fmla="*/ 0 w 4827993"/>
                <a:gd name="connsiteY12" fmla="*/ 2096583 h 4160250"/>
                <a:gd name="connsiteX13" fmla="*/ 82280 w 4827993"/>
                <a:gd name="connsiteY13" fmla="*/ 2178863 h 4160250"/>
                <a:gd name="connsiteX14" fmla="*/ 411788 w 4827993"/>
                <a:gd name="connsiteY14" fmla="*/ 2178863 h 4160250"/>
                <a:gd name="connsiteX15" fmla="*/ 411788 w 4827993"/>
                <a:gd name="connsiteY15" fmla="*/ 3138601 h 4160250"/>
                <a:gd name="connsiteX16" fmla="*/ 82280 w 4827993"/>
                <a:gd name="connsiteY16" fmla="*/ 3138601 h 4160250"/>
                <a:gd name="connsiteX17" fmla="*/ 0 w 4827993"/>
                <a:gd name="connsiteY17" fmla="*/ 3220920 h 4160250"/>
                <a:gd name="connsiteX18" fmla="*/ 82280 w 4827993"/>
                <a:gd name="connsiteY18" fmla="*/ 3303200 h 4160250"/>
                <a:gd name="connsiteX19" fmla="*/ 411788 w 4827993"/>
                <a:gd name="connsiteY19" fmla="*/ 3303200 h 4160250"/>
                <a:gd name="connsiteX20" fmla="*/ 411788 w 4827993"/>
                <a:gd name="connsiteY20" fmla="*/ 3688424 h 4160250"/>
                <a:gd name="connsiteX21" fmla="*/ 494106 w 4827993"/>
                <a:gd name="connsiteY21" fmla="*/ 3770704 h 4160250"/>
                <a:gd name="connsiteX22" fmla="*/ 923799 w 4827993"/>
                <a:gd name="connsiteY22" fmla="*/ 3770704 h 4160250"/>
                <a:gd name="connsiteX23" fmla="*/ 923799 w 4827993"/>
                <a:gd name="connsiteY23" fmla="*/ 4077933 h 4160250"/>
                <a:gd name="connsiteX24" fmla="*/ 1006079 w 4827993"/>
                <a:gd name="connsiteY24" fmla="*/ 4160251 h 4160250"/>
                <a:gd name="connsiteX25" fmla="*/ 1088360 w 4827993"/>
                <a:gd name="connsiteY25" fmla="*/ 4077933 h 4160250"/>
                <a:gd name="connsiteX26" fmla="*/ 1088360 w 4827993"/>
                <a:gd name="connsiteY26" fmla="*/ 3770704 h 4160250"/>
                <a:gd name="connsiteX27" fmla="*/ 1981124 w 4827993"/>
                <a:gd name="connsiteY27" fmla="*/ 3770704 h 4160250"/>
                <a:gd name="connsiteX28" fmla="*/ 1981124 w 4827993"/>
                <a:gd name="connsiteY28" fmla="*/ 4077933 h 4160250"/>
                <a:gd name="connsiteX29" fmla="*/ 2063405 w 4827993"/>
                <a:gd name="connsiteY29" fmla="*/ 4160251 h 4160250"/>
                <a:gd name="connsiteX30" fmla="*/ 2145723 w 4827993"/>
                <a:gd name="connsiteY30" fmla="*/ 4077933 h 4160250"/>
                <a:gd name="connsiteX31" fmla="*/ 2145723 w 4827993"/>
                <a:gd name="connsiteY31" fmla="*/ 3770704 h 4160250"/>
                <a:gd name="connsiteX32" fmla="*/ 3038449 w 4827993"/>
                <a:gd name="connsiteY32" fmla="*/ 3770704 h 4160250"/>
                <a:gd name="connsiteX33" fmla="*/ 3038449 w 4827993"/>
                <a:gd name="connsiteY33" fmla="*/ 4077933 h 4160250"/>
                <a:gd name="connsiteX34" fmla="*/ 3120767 w 4827993"/>
                <a:gd name="connsiteY34" fmla="*/ 4160251 h 4160250"/>
                <a:gd name="connsiteX35" fmla="*/ 3203048 w 4827993"/>
                <a:gd name="connsiteY35" fmla="*/ 4077933 h 4160250"/>
                <a:gd name="connsiteX36" fmla="*/ 3203048 w 4827993"/>
                <a:gd name="connsiteY36" fmla="*/ 3770704 h 4160250"/>
                <a:gd name="connsiteX37" fmla="*/ 4095812 w 4827993"/>
                <a:gd name="connsiteY37" fmla="*/ 3770704 h 4160250"/>
                <a:gd name="connsiteX38" fmla="*/ 4095812 w 4827993"/>
                <a:gd name="connsiteY38" fmla="*/ 4077933 h 4160250"/>
                <a:gd name="connsiteX39" fmla="*/ 4178093 w 4827993"/>
                <a:gd name="connsiteY39" fmla="*/ 4160251 h 4160250"/>
                <a:gd name="connsiteX40" fmla="*/ 4260373 w 4827993"/>
                <a:gd name="connsiteY40" fmla="*/ 4077933 h 4160250"/>
                <a:gd name="connsiteX41" fmla="*/ 4260373 w 4827993"/>
                <a:gd name="connsiteY41" fmla="*/ 3770704 h 4160250"/>
                <a:gd name="connsiteX42" fmla="*/ 4745714 w 4827993"/>
                <a:gd name="connsiteY42" fmla="*/ 3770704 h 4160250"/>
                <a:gd name="connsiteX43" fmla="*/ 4827994 w 4827993"/>
                <a:gd name="connsiteY43" fmla="*/ 3688424 h 4160250"/>
                <a:gd name="connsiteX44" fmla="*/ 4745714 w 4827993"/>
                <a:gd name="connsiteY44" fmla="*/ 3606105 h 4160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827993" h="4160250">
                  <a:moveTo>
                    <a:pt x="4745757" y="3606155"/>
                  </a:moveTo>
                  <a:lnTo>
                    <a:pt x="576386" y="3606155"/>
                  </a:lnTo>
                  <a:lnTo>
                    <a:pt x="576386" y="82319"/>
                  </a:lnTo>
                  <a:cubicBezTo>
                    <a:pt x="576386" y="36854"/>
                    <a:pt x="539533" y="0"/>
                    <a:pt x="494106" y="0"/>
                  </a:cubicBezTo>
                  <a:cubicBezTo>
                    <a:pt x="448642" y="0"/>
                    <a:pt x="411788" y="36854"/>
                    <a:pt x="411788" y="82319"/>
                  </a:cubicBezTo>
                  <a:lnTo>
                    <a:pt x="411788" y="890387"/>
                  </a:lnTo>
                  <a:lnTo>
                    <a:pt x="82280" y="890387"/>
                  </a:lnTo>
                  <a:cubicBezTo>
                    <a:pt x="36816" y="890387"/>
                    <a:pt x="0" y="927241"/>
                    <a:pt x="0" y="972705"/>
                  </a:cubicBezTo>
                  <a:cubicBezTo>
                    <a:pt x="0" y="1018132"/>
                    <a:pt x="36816" y="1054986"/>
                    <a:pt x="82280" y="1054986"/>
                  </a:cubicBezTo>
                  <a:lnTo>
                    <a:pt x="411788" y="1054986"/>
                  </a:lnTo>
                  <a:lnTo>
                    <a:pt x="411788" y="2014302"/>
                  </a:lnTo>
                  <a:lnTo>
                    <a:pt x="82280" y="2014302"/>
                  </a:lnTo>
                  <a:cubicBezTo>
                    <a:pt x="36816" y="2014302"/>
                    <a:pt x="0" y="2051118"/>
                    <a:pt x="0" y="2096583"/>
                  </a:cubicBezTo>
                  <a:cubicBezTo>
                    <a:pt x="0" y="2142047"/>
                    <a:pt x="36816" y="2178863"/>
                    <a:pt x="82280" y="2178863"/>
                  </a:cubicBezTo>
                  <a:lnTo>
                    <a:pt x="411788" y="2178863"/>
                  </a:lnTo>
                  <a:lnTo>
                    <a:pt x="411788" y="3138601"/>
                  </a:lnTo>
                  <a:lnTo>
                    <a:pt x="82280" y="3138601"/>
                  </a:lnTo>
                  <a:cubicBezTo>
                    <a:pt x="36816" y="3138601"/>
                    <a:pt x="0" y="3175455"/>
                    <a:pt x="0" y="3220920"/>
                  </a:cubicBezTo>
                  <a:cubicBezTo>
                    <a:pt x="0" y="3266346"/>
                    <a:pt x="36816" y="3303200"/>
                    <a:pt x="82280" y="3303200"/>
                  </a:cubicBezTo>
                  <a:lnTo>
                    <a:pt x="411788" y="3303200"/>
                  </a:lnTo>
                  <a:lnTo>
                    <a:pt x="411788" y="3688424"/>
                  </a:lnTo>
                  <a:cubicBezTo>
                    <a:pt x="411788" y="3733850"/>
                    <a:pt x="448642" y="3770704"/>
                    <a:pt x="494106" y="3770704"/>
                  </a:cubicBezTo>
                  <a:lnTo>
                    <a:pt x="923799" y="3770704"/>
                  </a:lnTo>
                  <a:lnTo>
                    <a:pt x="923799" y="4077933"/>
                  </a:lnTo>
                  <a:cubicBezTo>
                    <a:pt x="923799" y="4123397"/>
                    <a:pt x="960615" y="4160251"/>
                    <a:pt x="1006079" y="4160251"/>
                  </a:cubicBezTo>
                  <a:cubicBezTo>
                    <a:pt x="1051544" y="4160251"/>
                    <a:pt x="1088360" y="4123397"/>
                    <a:pt x="1088360" y="4077933"/>
                  </a:cubicBezTo>
                  <a:lnTo>
                    <a:pt x="1088360" y="3770704"/>
                  </a:lnTo>
                  <a:lnTo>
                    <a:pt x="1981124" y="3770704"/>
                  </a:lnTo>
                  <a:lnTo>
                    <a:pt x="1981124" y="4077933"/>
                  </a:lnTo>
                  <a:cubicBezTo>
                    <a:pt x="1981124" y="4123397"/>
                    <a:pt x="2017978" y="4160251"/>
                    <a:pt x="2063405" y="4160251"/>
                  </a:cubicBezTo>
                  <a:cubicBezTo>
                    <a:pt x="2108870" y="4160251"/>
                    <a:pt x="2145723" y="4123397"/>
                    <a:pt x="2145723" y="4077933"/>
                  </a:cubicBezTo>
                  <a:lnTo>
                    <a:pt x="2145723" y="3770704"/>
                  </a:lnTo>
                  <a:lnTo>
                    <a:pt x="3038449" y="3770704"/>
                  </a:lnTo>
                  <a:lnTo>
                    <a:pt x="3038449" y="4077933"/>
                  </a:lnTo>
                  <a:cubicBezTo>
                    <a:pt x="3038449" y="4123397"/>
                    <a:pt x="3075303" y="4160251"/>
                    <a:pt x="3120767" y="4160251"/>
                  </a:cubicBezTo>
                  <a:cubicBezTo>
                    <a:pt x="3166194" y="4160251"/>
                    <a:pt x="3203048" y="4123397"/>
                    <a:pt x="3203048" y="4077933"/>
                  </a:cubicBezTo>
                  <a:lnTo>
                    <a:pt x="3203048" y="3770704"/>
                  </a:lnTo>
                  <a:lnTo>
                    <a:pt x="4095812" y="3770704"/>
                  </a:lnTo>
                  <a:lnTo>
                    <a:pt x="4095812" y="4077933"/>
                  </a:lnTo>
                  <a:cubicBezTo>
                    <a:pt x="4095812" y="4123397"/>
                    <a:pt x="4132628" y="4160251"/>
                    <a:pt x="4178093" y="4160251"/>
                  </a:cubicBezTo>
                  <a:cubicBezTo>
                    <a:pt x="4223557" y="4160251"/>
                    <a:pt x="4260373" y="4123397"/>
                    <a:pt x="4260373" y="4077933"/>
                  </a:cubicBezTo>
                  <a:lnTo>
                    <a:pt x="4260373" y="3770704"/>
                  </a:lnTo>
                  <a:lnTo>
                    <a:pt x="4745714" y="3770704"/>
                  </a:lnTo>
                  <a:cubicBezTo>
                    <a:pt x="4791179" y="3770704"/>
                    <a:pt x="4827994" y="3733850"/>
                    <a:pt x="4827994" y="3688424"/>
                  </a:cubicBezTo>
                  <a:cubicBezTo>
                    <a:pt x="4827994" y="3642959"/>
                    <a:pt x="4791179" y="3606105"/>
                    <a:pt x="4745714" y="3606105"/>
                  </a:cubicBezTo>
                  <a:close/>
                </a:path>
              </a:pathLst>
            </a:custGeom>
            <a:grpFill/>
            <a:ln w="97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45" name="Forma libre 9">
              <a:extLst>
                <a:ext uri="{FF2B5EF4-FFF2-40B4-BE49-F238E27FC236}">
                  <a16:creationId xmlns:a16="http://schemas.microsoft.com/office/drawing/2014/main" id="{8611D4CF-EB1D-DD65-F828-7A2F1CD32D8F}"/>
                </a:ext>
              </a:extLst>
            </p:cNvPr>
            <p:cNvSpPr/>
            <p:nvPr/>
          </p:nvSpPr>
          <p:spPr>
            <a:xfrm>
              <a:off x="3518460" y="5985514"/>
              <a:ext cx="419633" cy="310971"/>
            </a:xfrm>
            <a:custGeom>
              <a:avLst/>
              <a:gdLst>
                <a:gd name="connsiteX0" fmla="*/ 36664 w 3525285"/>
                <a:gd name="connsiteY0" fmla="*/ 2598593 h 2612428"/>
                <a:gd name="connsiteX1" fmla="*/ 150781 w 3525285"/>
                <a:gd name="connsiteY1" fmla="*/ 2575746 h 2612428"/>
                <a:gd name="connsiteX2" fmla="*/ 818368 w 3525285"/>
                <a:gd name="connsiteY2" fmla="*/ 1574380 h 2612428"/>
                <a:gd name="connsiteX3" fmla="*/ 1261346 w 3525285"/>
                <a:gd name="connsiteY3" fmla="*/ 2210127 h 2612428"/>
                <a:gd name="connsiteX4" fmla="*/ 1318751 w 3525285"/>
                <a:gd name="connsiteY4" fmla="*/ 2244722 h 2612428"/>
                <a:gd name="connsiteX5" fmla="*/ 1382854 w 3525285"/>
                <a:gd name="connsiteY5" fmla="*/ 2225128 h 2612428"/>
                <a:gd name="connsiteX6" fmla="*/ 2095096 w 3525285"/>
                <a:gd name="connsiteY6" fmla="*/ 1605615 h 2612428"/>
                <a:gd name="connsiteX7" fmla="*/ 2564135 w 3525285"/>
                <a:gd name="connsiteY7" fmla="*/ 2039639 h 2612428"/>
                <a:gd name="connsiteX8" fmla="*/ 2636925 w 3525285"/>
                <a:gd name="connsiteY8" fmla="*/ 2059883 h 2612428"/>
                <a:gd name="connsiteX9" fmla="*/ 2695554 w 3525285"/>
                <a:gd name="connsiteY9" fmla="*/ 2012237 h 2612428"/>
                <a:gd name="connsiteX10" fmla="*/ 3518779 w 3525285"/>
                <a:gd name="connsiteY10" fmla="*/ 114334 h 2612428"/>
                <a:gd name="connsiteX11" fmla="*/ 3475726 w 3525285"/>
                <a:gd name="connsiteY11" fmla="*/ 6830 h 2612428"/>
                <a:gd name="connsiteX12" fmla="*/ 3367761 w 3525285"/>
                <a:gd name="connsiteY12" fmla="*/ 48813 h 2612428"/>
                <a:gd name="connsiteX13" fmla="*/ 2590613 w 3525285"/>
                <a:gd name="connsiteY13" fmla="*/ 1840025 h 2612428"/>
                <a:gd name="connsiteX14" fmla="*/ 2152651 w 3525285"/>
                <a:gd name="connsiteY14" fmla="*/ 1434707 h 2612428"/>
                <a:gd name="connsiteX15" fmla="*/ 2042932 w 3525285"/>
                <a:gd name="connsiteY15" fmla="*/ 1433023 h 2612428"/>
                <a:gd name="connsiteX16" fmla="*/ 1343965 w 3525285"/>
                <a:gd name="connsiteY16" fmla="*/ 2040671 h 2612428"/>
                <a:gd name="connsiteX17" fmla="*/ 884381 w 3525285"/>
                <a:gd name="connsiteY17" fmla="*/ 1381275 h 2612428"/>
                <a:gd name="connsiteX18" fmla="*/ 815992 w 3525285"/>
                <a:gd name="connsiteY18" fmla="*/ 1346028 h 2612428"/>
                <a:gd name="connsiteX19" fmla="*/ 748408 w 3525285"/>
                <a:gd name="connsiteY19" fmla="*/ 1382690 h 2612428"/>
                <a:gd name="connsiteX20" fmla="*/ 13847 w 3525285"/>
                <a:gd name="connsiteY20" fmla="*/ 2484477 h 2612428"/>
                <a:gd name="connsiteX21" fmla="*/ 1601 w 3525285"/>
                <a:gd name="connsiteY21" fmla="*/ 2546283 h 2612428"/>
                <a:gd name="connsiteX22" fmla="*/ 36656 w 3525285"/>
                <a:gd name="connsiteY22" fmla="*/ 2598637 h 2612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25285" h="2612428">
                  <a:moveTo>
                    <a:pt x="36664" y="2598593"/>
                  </a:moveTo>
                  <a:cubicBezTo>
                    <a:pt x="74475" y="2623813"/>
                    <a:pt x="125565" y="2613594"/>
                    <a:pt x="150781" y="2575746"/>
                  </a:cubicBezTo>
                  <a:lnTo>
                    <a:pt x="818368" y="1574380"/>
                  </a:lnTo>
                  <a:lnTo>
                    <a:pt x="1261346" y="2210127"/>
                  </a:lnTo>
                  <a:cubicBezTo>
                    <a:pt x="1274702" y="2229261"/>
                    <a:pt x="1295560" y="2241853"/>
                    <a:pt x="1318751" y="2244722"/>
                  </a:cubicBezTo>
                  <a:cubicBezTo>
                    <a:pt x="1341943" y="2247592"/>
                    <a:pt x="1365250" y="2240474"/>
                    <a:pt x="1382854" y="2225128"/>
                  </a:cubicBezTo>
                  <a:lnTo>
                    <a:pt x="2095096" y="1605615"/>
                  </a:lnTo>
                  <a:lnTo>
                    <a:pt x="2564135" y="2039639"/>
                  </a:lnTo>
                  <a:cubicBezTo>
                    <a:pt x="2583691" y="2057779"/>
                    <a:pt x="2610824" y="2065318"/>
                    <a:pt x="2636925" y="2059883"/>
                  </a:cubicBezTo>
                  <a:cubicBezTo>
                    <a:pt x="2663025" y="2054411"/>
                    <a:pt x="2684877" y="2036653"/>
                    <a:pt x="2695554" y="2012237"/>
                  </a:cubicBezTo>
                  <a:lnTo>
                    <a:pt x="3518779" y="114334"/>
                  </a:lnTo>
                  <a:cubicBezTo>
                    <a:pt x="3536346" y="72735"/>
                    <a:pt x="3517133" y="24783"/>
                    <a:pt x="3475726" y="6830"/>
                  </a:cubicBezTo>
                  <a:cubicBezTo>
                    <a:pt x="3434317" y="-11156"/>
                    <a:pt x="3386136" y="7596"/>
                    <a:pt x="3367761" y="48813"/>
                  </a:cubicBezTo>
                  <a:lnTo>
                    <a:pt x="2590613" y="1840025"/>
                  </a:lnTo>
                  <a:lnTo>
                    <a:pt x="2152651" y="1434707"/>
                  </a:lnTo>
                  <a:cubicBezTo>
                    <a:pt x="2121844" y="1406273"/>
                    <a:pt x="2074579" y="1405545"/>
                    <a:pt x="2042932" y="1433023"/>
                  </a:cubicBezTo>
                  <a:lnTo>
                    <a:pt x="1343965" y="2040671"/>
                  </a:lnTo>
                  <a:lnTo>
                    <a:pt x="884381" y="1381275"/>
                  </a:lnTo>
                  <a:cubicBezTo>
                    <a:pt x="868270" y="1359537"/>
                    <a:pt x="843011" y="1346525"/>
                    <a:pt x="815992" y="1346028"/>
                  </a:cubicBezTo>
                  <a:cubicBezTo>
                    <a:pt x="788783" y="1346334"/>
                    <a:pt x="763485" y="1360034"/>
                    <a:pt x="748408" y="1382690"/>
                  </a:cubicBezTo>
                  <a:lnTo>
                    <a:pt x="13847" y="2484477"/>
                  </a:lnTo>
                  <a:cubicBezTo>
                    <a:pt x="1715" y="2502617"/>
                    <a:pt x="-2685" y="2524852"/>
                    <a:pt x="1601" y="2546283"/>
                  </a:cubicBezTo>
                  <a:cubicBezTo>
                    <a:pt x="5849" y="2567676"/>
                    <a:pt x="18478" y="2586506"/>
                    <a:pt x="36656" y="2598637"/>
                  </a:cubicBezTo>
                  <a:close/>
                </a:path>
              </a:pathLst>
            </a:custGeom>
            <a:grpFill/>
            <a:ln w="97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207B"/>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grpSp>
      <p:sp>
        <p:nvSpPr>
          <p:cNvPr id="13" name="Título 12">
            <a:extLst>
              <a:ext uri="{FF2B5EF4-FFF2-40B4-BE49-F238E27FC236}">
                <a16:creationId xmlns:a16="http://schemas.microsoft.com/office/drawing/2014/main" id="{4E8D2FED-9101-DEF3-7C65-4E9A4D39BAB1}"/>
              </a:ext>
            </a:extLst>
          </p:cNvPr>
          <p:cNvSpPr>
            <a:spLocks noGrp="1"/>
          </p:cNvSpPr>
          <p:nvPr>
            <p:ph type="title"/>
          </p:nvPr>
        </p:nvSpPr>
        <p:spPr/>
        <p:txBody>
          <a:bodyPr vert="horz"/>
          <a:lstStyle/>
          <a:p>
            <a:r>
              <a:rPr lang="en-US" dirty="0"/>
              <a:t>Template - Elements</a:t>
            </a:r>
          </a:p>
        </p:txBody>
      </p:sp>
      <p:sp>
        <p:nvSpPr>
          <p:cNvPr id="4" name="Freeform 15">
            <a:extLst>
              <a:ext uri="{FF2B5EF4-FFF2-40B4-BE49-F238E27FC236}">
                <a16:creationId xmlns:a16="http://schemas.microsoft.com/office/drawing/2014/main" id="{1C8015CD-8587-CF41-6522-9DD37A969FAD}"/>
              </a:ext>
            </a:extLst>
          </p:cNvPr>
          <p:cNvSpPr>
            <a:spLocks noChangeAspect="1" noEditPoints="1"/>
          </p:cNvSpPr>
          <p:nvPr/>
        </p:nvSpPr>
        <p:spPr bwMode="auto">
          <a:xfrm>
            <a:off x="8155561" y="2985293"/>
            <a:ext cx="501650" cy="368300"/>
          </a:xfrm>
          <a:custGeom>
            <a:avLst/>
            <a:gdLst>
              <a:gd name="T0" fmla="*/ 634 w 658"/>
              <a:gd name="T1" fmla="*/ 459 h 484"/>
              <a:gd name="T2" fmla="*/ 628 w 658"/>
              <a:gd name="T3" fmla="*/ 462 h 484"/>
              <a:gd name="T4" fmla="*/ 30 w 658"/>
              <a:gd name="T5" fmla="*/ 462 h 484"/>
              <a:gd name="T6" fmla="*/ 24 w 658"/>
              <a:gd name="T7" fmla="*/ 459 h 484"/>
              <a:gd name="T8" fmla="*/ 24 w 658"/>
              <a:gd name="T9" fmla="*/ 453 h 484"/>
              <a:gd name="T10" fmla="*/ 58 w 658"/>
              <a:gd name="T11" fmla="*/ 396 h 484"/>
              <a:gd name="T12" fmla="*/ 600 w 658"/>
              <a:gd name="T13" fmla="*/ 396 h 484"/>
              <a:gd name="T14" fmla="*/ 634 w 658"/>
              <a:gd name="T15" fmla="*/ 453 h 484"/>
              <a:gd name="T16" fmla="*/ 634 w 658"/>
              <a:gd name="T17" fmla="*/ 459 h 484"/>
              <a:gd name="T18" fmla="*/ 329 w 658"/>
              <a:gd name="T19" fmla="*/ 274 h 484"/>
              <a:gd name="T20" fmla="*/ 367 w 658"/>
              <a:gd name="T21" fmla="*/ 265 h 484"/>
              <a:gd name="T22" fmla="*/ 401 w 658"/>
              <a:gd name="T23" fmla="*/ 282 h 484"/>
              <a:gd name="T24" fmla="*/ 482 w 658"/>
              <a:gd name="T25" fmla="*/ 373 h 484"/>
              <a:gd name="T26" fmla="*/ 176 w 658"/>
              <a:gd name="T27" fmla="*/ 373 h 484"/>
              <a:gd name="T28" fmla="*/ 256 w 658"/>
              <a:gd name="T29" fmla="*/ 282 h 484"/>
              <a:gd name="T30" fmla="*/ 291 w 658"/>
              <a:gd name="T31" fmla="*/ 265 h 484"/>
              <a:gd name="T32" fmla="*/ 329 w 658"/>
              <a:gd name="T33" fmla="*/ 274 h 484"/>
              <a:gd name="T34" fmla="*/ 329 w 658"/>
              <a:gd name="T35" fmla="*/ 251 h 484"/>
              <a:gd name="T36" fmla="*/ 260 w 658"/>
              <a:gd name="T37" fmla="*/ 182 h 484"/>
              <a:gd name="T38" fmla="*/ 329 w 658"/>
              <a:gd name="T39" fmla="*/ 113 h 484"/>
              <a:gd name="T40" fmla="*/ 398 w 658"/>
              <a:gd name="T41" fmla="*/ 182 h 484"/>
              <a:gd name="T42" fmla="*/ 329 w 658"/>
              <a:gd name="T43" fmla="*/ 251 h 484"/>
              <a:gd name="T44" fmla="*/ 63 w 658"/>
              <a:gd name="T45" fmla="*/ 67 h 484"/>
              <a:gd name="T46" fmla="*/ 104 w 658"/>
              <a:gd name="T47" fmla="*/ 23 h 484"/>
              <a:gd name="T48" fmla="*/ 554 w 658"/>
              <a:gd name="T49" fmla="*/ 23 h 484"/>
              <a:gd name="T50" fmla="*/ 595 w 658"/>
              <a:gd name="T51" fmla="*/ 67 h 484"/>
              <a:gd name="T52" fmla="*/ 595 w 658"/>
              <a:gd name="T53" fmla="*/ 373 h 484"/>
              <a:gd name="T54" fmla="*/ 505 w 658"/>
              <a:gd name="T55" fmla="*/ 373 h 484"/>
              <a:gd name="T56" fmla="*/ 409 w 658"/>
              <a:gd name="T57" fmla="*/ 261 h 484"/>
              <a:gd name="T58" fmla="*/ 387 w 658"/>
              <a:gd name="T59" fmla="*/ 252 h 484"/>
              <a:gd name="T60" fmla="*/ 421 w 658"/>
              <a:gd name="T61" fmla="*/ 182 h 484"/>
              <a:gd name="T62" fmla="*/ 329 w 658"/>
              <a:gd name="T63" fmla="*/ 90 h 484"/>
              <a:gd name="T64" fmla="*/ 237 w 658"/>
              <a:gd name="T65" fmla="*/ 182 h 484"/>
              <a:gd name="T66" fmla="*/ 270 w 658"/>
              <a:gd name="T67" fmla="*/ 252 h 484"/>
              <a:gd name="T68" fmla="*/ 249 w 658"/>
              <a:gd name="T69" fmla="*/ 261 h 484"/>
              <a:gd name="T70" fmla="*/ 153 w 658"/>
              <a:gd name="T71" fmla="*/ 373 h 484"/>
              <a:gd name="T72" fmla="*/ 63 w 658"/>
              <a:gd name="T73" fmla="*/ 373 h 484"/>
              <a:gd name="T74" fmla="*/ 63 w 658"/>
              <a:gd name="T75" fmla="*/ 67 h 484"/>
              <a:gd name="T76" fmla="*/ 653 w 658"/>
              <a:gd name="T77" fmla="*/ 441 h 484"/>
              <a:gd name="T78" fmla="*/ 618 w 658"/>
              <a:gd name="T79" fmla="*/ 382 h 484"/>
              <a:gd name="T80" fmla="*/ 618 w 658"/>
              <a:gd name="T81" fmla="*/ 67 h 484"/>
              <a:gd name="T82" fmla="*/ 554 w 658"/>
              <a:gd name="T83" fmla="*/ 0 h 484"/>
              <a:gd name="T84" fmla="*/ 104 w 658"/>
              <a:gd name="T85" fmla="*/ 0 h 484"/>
              <a:gd name="T86" fmla="*/ 40 w 658"/>
              <a:gd name="T87" fmla="*/ 67 h 484"/>
              <a:gd name="T88" fmla="*/ 40 w 658"/>
              <a:gd name="T89" fmla="*/ 382 h 484"/>
              <a:gd name="T90" fmla="*/ 5 w 658"/>
              <a:gd name="T91" fmla="*/ 441 h 484"/>
              <a:gd name="T92" fmla="*/ 5 w 658"/>
              <a:gd name="T93" fmla="*/ 470 h 484"/>
              <a:gd name="T94" fmla="*/ 30 w 658"/>
              <a:gd name="T95" fmla="*/ 484 h 484"/>
              <a:gd name="T96" fmla="*/ 628 w 658"/>
              <a:gd name="T97" fmla="*/ 484 h 484"/>
              <a:gd name="T98" fmla="*/ 653 w 658"/>
              <a:gd name="T99" fmla="*/ 470 h 484"/>
              <a:gd name="T100" fmla="*/ 653 w 658"/>
              <a:gd name="T101" fmla="*/ 441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8" h="484">
                <a:moveTo>
                  <a:pt x="634" y="459"/>
                </a:moveTo>
                <a:cubicBezTo>
                  <a:pt x="633" y="460"/>
                  <a:pt x="631" y="462"/>
                  <a:pt x="628" y="462"/>
                </a:cubicBezTo>
                <a:lnTo>
                  <a:pt x="30" y="462"/>
                </a:lnTo>
                <a:cubicBezTo>
                  <a:pt x="26" y="462"/>
                  <a:pt x="25" y="460"/>
                  <a:pt x="24" y="459"/>
                </a:cubicBezTo>
                <a:cubicBezTo>
                  <a:pt x="24" y="458"/>
                  <a:pt x="23" y="455"/>
                  <a:pt x="24" y="453"/>
                </a:cubicBezTo>
                <a:lnTo>
                  <a:pt x="58" y="396"/>
                </a:lnTo>
                <a:lnTo>
                  <a:pt x="600" y="396"/>
                </a:lnTo>
                <a:lnTo>
                  <a:pt x="634" y="453"/>
                </a:lnTo>
                <a:cubicBezTo>
                  <a:pt x="635" y="455"/>
                  <a:pt x="634" y="458"/>
                  <a:pt x="634" y="459"/>
                </a:cubicBezTo>
                <a:close/>
                <a:moveTo>
                  <a:pt x="329" y="274"/>
                </a:moveTo>
                <a:cubicBezTo>
                  <a:pt x="342" y="274"/>
                  <a:pt x="355" y="271"/>
                  <a:pt x="367" y="265"/>
                </a:cubicBezTo>
                <a:cubicBezTo>
                  <a:pt x="375" y="273"/>
                  <a:pt x="388" y="277"/>
                  <a:pt x="401" y="282"/>
                </a:cubicBezTo>
                <a:cubicBezTo>
                  <a:pt x="436" y="295"/>
                  <a:pt x="478" y="310"/>
                  <a:pt x="482" y="373"/>
                </a:cubicBezTo>
                <a:lnTo>
                  <a:pt x="176" y="373"/>
                </a:lnTo>
                <a:cubicBezTo>
                  <a:pt x="180" y="310"/>
                  <a:pt x="222" y="295"/>
                  <a:pt x="256" y="282"/>
                </a:cubicBezTo>
                <a:cubicBezTo>
                  <a:pt x="270" y="277"/>
                  <a:pt x="283" y="273"/>
                  <a:pt x="291" y="265"/>
                </a:cubicBezTo>
                <a:cubicBezTo>
                  <a:pt x="303" y="271"/>
                  <a:pt x="316" y="274"/>
                  <a:pt x="329" y="274"/>
                </a:cubicBezTo>
                <a:close/>
                <a:moveTo>
                  <a:pt x="329" y="251"/>
                </a:moveTo>
                <a:cubicBezTo>
                  <a:pt x="291" y="251"/>
                  <a:pt x="260" y="220"/>
                  <a:pt x="260" y="182"/>
                </a:cubicBezTo>
                <a:cubicBezTo>
                  <a:pt x="260" y="144"/>
                  <a:pt x="291" y="113"/>
                  <a:pt x="329" y="113"/>
                </a:cubicBezTo>
                <a:cubicBezTo>
                  <a:pt x="367" y="113"/>
                  <a:pt x="398" y="144"/>
                  <a:pt x="398" y="182"/>
                </a:cubicBezTo>
                <a:cubicBezTo>
                  <a:pt x="398" y="220"/>
                  <a:pt x="367" y="251"/>
                  <a:pt x="329" y="251"/>
                </a:cubicBezTo>
                <a:close/>
                <a:moveTo>
                  <a:pt x="63" y="67"/>
                </a:moveTo>
                <a:cubicBezTo>
                  <a:pt x="63" y="47"/>
                  <a:pt x="70" y="23"/>
                  <a:pt x="104" y="23"/>
                </a:cubicBezTo>
                <a:lnTo>
                  <a:pt x="554" y="23"/>
                </a:lnTo>
                <a:cubicBezTo>
                  <a:pt x="588" y="23"/>
                  <a:pt x="595" y="47"/>
                  <a:pt x="595" y="67"/>
                </a:cubicBezTo>
                <a:lnTo>
                  <a:pt x="595" y="373"/>
                </a:lnTo>
                <a:lnTo>
                  <a:pt x="505" y="373"/>
                </a:lnTo>
                <a:cubicBezTo>
                  <a:pt x="500" y="294"/>
                  <a:pt x="446" y="274"/>
                  <a:pt x="409" y="261"/>
                </a:cubicBezTo>
                <a:cubicBezTo>
                  <a:pt x="401" y="258"/>
                  <a:pt x="393" y="256"/>
                  <a:pt x="387" y="252"/>
                </a:cubicBezTo>
                <a:cubicBezTo>
                  <a:pt x="408" y="236"/>
                  <a:pt x="421" y="210"/>
                  <a:pt x="421" y="182"/>
                </a:cubicBezTo>
                <a:cubicBezTo>
                  <a:pt x="421" y="131"/>
                  <a:pt x="380" y="90"/>
                  <a:pt x="329" y="90"/>
                </a:cubicBezTo>
                <a:cubicBezTo>
                  <a:pt x="278" y="90"/>
                  <a:pt x="237" y="131"/>
                  <a:pt x="237" y="182"/>
                </a:cubicBezTo>
                <a:cubicBezTo>
                  <a:pt x="237" y="210"/>
                  <a:pt x="250" y="236"/>
                  <a:pt x="270" y="252"/>
                </a:cubicBezTo>
                <a:cubicBezTo>
                  <a:pt x="265" y="256"/>
                  <a:pt x="257" y="258"/>
                  <a:pt x="249" y="261"/>
                </a:cubicBezTo>
                <a:cubicBezTo>
                  <a:pt x="212" y="274"/>
                  <a:pt x="158" y="294"/>
                  <a:pt x="153" y="373"/>
                </a:cubicBezTo>
                <a:lnTo>
                  <a:pt x="63" y="373"/>
                </a:lnTo>
                <a:lnTo>
                  <a:pt x="63" y="67"/>
                </a:lnTo>
                <a:close/>
                <a:moveTo>
                  <a:pt x="653" y="441"/>
                </a:moveTo>
                <a:lnTo>
                  <a:pt x="618" y="382"/>
                </a:lnTo>
                <a:lnTo>
                  <a:pt x="618" y="67"/>
                </a:lnTo>
                <a:cubicBezTo>
                  <a:pt x="618" y="26"/>
                  <a:pt x="593" y="0"/>
                  <a:pt x="554" y="0"/>
                </a:cubicBezTo>
                <a:lnTo>
                  <a:pt x="104" y="0"/>
                </a:lnTo>
                <a:cubicBezTo>
                  <a:pt x="64" y="0"/>
                  <a:pt x="40" y="26"/>
                  <a:pt x="40" y="67"/>
                </a:cubicBezTo>
                <a:lnTo>
                  <a:pt x="40" y="382"/>
                </a:lnTo>
                <a:lnTo>
                  <a:pt x="5" y="441"/>
                </a:lnTo>
                <a:cubicBezTo>
                  <a:pt x="0" y="450"/>
                  <a:pt x="0" y="461"/>
                  <a:pt x="5" y="470"/>
                </a:cubicBezTo>
                <a:cubicBezTo>
                  <a:pt x="10" y="479"/>
                  <a:pt x="19" y="484"/>
                  <a:pt x="30" y="484"/>
                </a:cubicBezTo>
                <a:lnTo>
                  <a:pt x="628" y="484"/>
                </a:lnTo>
                <a:cubicBezTo>
                  <a:pt x="639" y="484"/>
                  <a:pt x="648" y="479"/>
                  <a:pt x="653" y="470"/>
                </a:cubicBezTo>
                <a:cubicBezTo>
                  <a:pt x="658" y="461"/>
                  <a:pt x="658" y="450"/>
                  <a:pt x="653" y="441"/>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207B"/>
              </a:solidFill>
              <a:effectLst/>
              <a:uLnTx/>
              <a:uFillTx/>
              <a:latin typeface="Verdana"/>
              <a:ea typeface="+mn-ea"/>
              <a:cs typeface="+mn-cs"/>
            </a:endParaRPr>
          </a:p>
        </p:txBody>
      </p:sp>
      <p:grpSp>
        <p:nvGrpSpPr>
          <p:cNvPr id="12" name="Group 52">
            <a:extLst>
              <a:ext uri="{FF2B5EF4-FFF2-40B4-BE49-F238E27FC236}">
                <a16:creationId xmlns:a16="http://schemas.microsoft.com/office/drawing/2014/main" id="{5E409D68-12FD-3B44-7335-9CC4C2977739}"/>
              </a:ext>
            </a:extLst>
          </p:cNvPr>
          <p:cNvGrpSpPr>
            <a:grpSpLocks noChangeAspect="1"/>
          </p:cNvGrpSpPr>
          <p:nvPr/>
        </p:nvGrpSpPr>
        <p:grpSpPr bwMode="auto">
          <a:xfrm>
            <a:off x="7311262" y="2928610"/>
            <a:ext cx="481666" cy="481666"/>
            <a:chOff x="6539" y="439"/>
            <a:chExt cx="426" cy="426"/>
          </a:xfrm>
          <a:solidFill>
            <a:schemeClr val="tx2"/>
          </a:solidFill>
        </p:grpSpPr>
        <p:sp>
          <p:nvSpPr>
            <p:cNvPr id="31" name="Freeform 53">
              <a:extLst>
                <a:ext uri="{FF2B5EF4-FFF2-40B4-BE49-F238E27FC236}">
                  <a16:creationId xmlns:a16="http://schemas.microsoft.com/office/drawing/2014/main" id="{007A888A-EDA6-6F61-BD44-1D80CA7E39D4}"/>
                </a:ext>
              </a:extLst>
            </p:cNvPr>
            <p:cNvSpPr>
              <a:spLocks/>
            </p:cNvSpPr>
            <p:nvPr/>
          </p:nvSpPr>
          <p:spPr bwMode="auto">
            <a:xfrm>
              <a:off x="6539" y="439"/>
              <a:ext cx="426" cy="392"/>
            </a:xfrm>
            <a:custGeom>
              <a:avLst/>
              <a:gdLst>
                <a:gd name="T0" fmla="*/ 60 w 288"/>
                <a:gd name="T1" fmla="*/ 262 h 265"/>
                <a:gd name="T2" fmla="*/ 26 w 288"/>
                <a:gd name="T3" fmla="*/ 220 h 265"/>
                <a:gd name="T4" fmla="*/ 41 w 288"/>
                <a:gd name="T5" fmla="*/ 168 h 265"/>
                <a:gd name="T6" fmla="*/ 0 w 288"/>
                <a:gd name="T7" fmla="*/ 162 h 265"/>
                <a:gd name="T8" fmla="*/ 6 w 288"/>
                <a:gd name="T9" fmla="*/ 120 h 265"/>
                <a:gd name="T10" fmla="*/ 50 w 288"/>
                <a:gd name="T11" fmla="*/ 92 h 265"/>
                <a:gd name="T12" fmla="*/ 24 w 288"/>
                <a:gd name="T13" fmla="*/ 63 h 265"/>
                <a:gd name="T14" fmla="*/ 60 w 288"/>
                <a:gd name="T15" fmla="*/ 25 h 265"/>
                <a:gd name="T16" fmla="*/ 92 w 288"/>
                <a:gd name="T17" fmla="*/ 49 h 265"/>
                <a:gd name="T18" fmla="*/ 120 w 288"/>
                <a:gd name="T19" fmla="*/ 6 h 265"/>
                <a:gd name="T20" fmla="*/ 162 w 288"/>
                <a:gd name="T21" fmla="*/ 0 h 265"/>
                <a:gd name="T22" fmla="*/ 168 w 288"/>
                <a:gd name="T23" fmla="*/ 40 h 265"/>
                <a:gd name="T24" fmla="*/ 221 w 288"/>
                <a:gd name="T25" fmla="*/ 25 h 265"/>
                <a:gd name="T26" fmla="*/ 263 w 288"/>
                <a:gd name="T27" fmla="*/ 59 h 265"/>
                <a:gd name="T28" fmla="*/ 263 w 288"/>
                <a:gd name="T29" fmla="*/ 67 h 265"/>
                <a:gd name="T30" fmla="*/ 248 w 288"/>
                <a:gd name="T31" fmla="*/ 120 h 265"/>
                <a:gd name="T32" fmla="*/ 288 w 288"/>
                <a:gd name="T33" fmla="*/ 126 h 265"/>
                <a:gd name="T34" fmla="*/ 282 w 288"/>
                <a:gd name="T35" fmla="*/ 168 h 265"/>
                <a:gd name="T36" fmla="*/ 239 w 288"/>
                <a:gd name="T37" fmla="*/ 196 h 265"/>
                <a:gd name="T38" fmla="*/ 263 w 288"/>
                <a:gd name="T39" fmla="*/ 228 h 265"/>
                <a:gd name="T40" fmla="*/ 221 w 288"/>
                <a:gd name="T41" fmla="*/ 262 h 265"/>
                <a:gd name="T42" fmla="*/ 193 w 288"/>
                <a:gd name="T43" fmla="*/ 226 h 265"/>
                <a:gd name="T44" fmla="*/ 225 w 288"/>
                <a:gd name="T45" fmla="*/ 250 h 265"/>
                <a:gd name="T46" fmla="*/ 227 w 288"/>
                <a:gd name="T47" fmla="*/ 201 h 265"/>
                <a:gd name="T48" fmla="*/ 238 w 288"/>
                <a:gd name="T49" fmla="*/ 160 h 265"/>
                <a:gd name="T50" fmla="*/ 276 w 288"/>
                <a:gd name="T51" fmla="*/ 156 h 265"/>
                <a:gd name="T52" fmla="*/ 243 w 288"/>
                <a:gd name="T53" fmla="*/ 132 h 265"/>
                <a:gd name="T54" fmla="*/ 226 w 288"/>
                <a:gd name="T55" fmla="*/ 94 h 265"/>
                <a:gd name="T56" fmla="*/ 251 w 288"/>
                <a:gd name="T57" fmla="*/ 63 h 265"/>
                <a:gd name="T58" fmla="*/ 202 w 288"/>
                <a:gd name="T59" fmla="*/ 61 h 265"/>
                <a:gd name="T60" fmla="*/ 161 w 288"/>
                <a:gd name="T61" fmla="*/ 50 h 265"/>
                <a:gd name="T62" fmla="*/ 156 w 288"/>
                <a:gd name="T63" fmla="*/ 12 h 265"/>
                <a:gd name="T64" fmla="*/ 132 w 288"/>
                <a:gd name="T65" fmla="*/ 45 h 265"/>
                <a:gd name="T66" fmla="*/ 95 w 288"/>
                <a:gd name="T67" fmla="*/ 62 h 265"/>
                <a:gd name="T68" fmla="*/ 64 w 288"/>
                <a:gd name="T69" fmla="*/ 38 h 265"/>
                <a:gd name="T70" fmla="*/ 62 w 288"/>
                <a:gd name="T71" fmla="*/ 86 h 265"/>
                <a:gd name="T72" fmla="*/ 51 w 288"/>
                <a:gd name="T73" fmla="*/ 127 h 265"/>
                <a:gd name="T74" fmla="*/ 12 w 288"/>
                <a:gd name="T75" fmla="*/ 132 h 265"/>
                <a:gd name="T76" fmla="*/ 45 w 288"/>
                <a:gd name="T77" fmla="*/ 156 h 265"/>
                <a:gd name="T78" fmla="*/ 63 w 288"/>
                <a:gd name="T79" fmla="*/ 194 h 265"/>
                <a:gd name="T80" fmla="*/ 38 w 288"/>
                <a:gd name="T81" fmla="*/ 224 h 265"/>
                <a:gd name="T82" fmla="*/ 87 w 288"/>
                <a:gd name="T83" fmla="*/ 226 h 265"/>
                <a:gd name="T84" fmla="*/ 96 w 288"/>
                <a:gd name="T85" fmla="*/ 235 h 265"/>
                <a:gd name="T86" fmla="*/ 64 w 288"/>
                <a:gd name="T87" fmla="*/ 264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8" h="265">
                  <a:moveTo>
                    <a:pt x="64" y="264"/>
                  </a:moveTo>
                  <a:cubicBezTo>
                    <a:pt x="62" y="264"/>
                    <a:pt x="61" y="264"/>
                    <a:pt x="60" y="262"/>
                  </a:cubicBezTo>
                  <a:cubicBezTo>
                    <a:pt x="26" y="229"/>
                    <a:pt x="26" y="229"/>
                    <a:pt x="26" y="229"/>
                  </a:cubicBezTo>
                  <a:cubicBezTo>
                    <a:pt x="23" y="226"/>
                    <a:pt x="23" y="222"/>
                    <a:pt x="26" y="220"/>
                  </a:cubicBezTo>
                  <a:cubicBezTo>
                    <a:pt x="50" y="196"/>
                    <a:pt x="50" y="196"/>
                    <a:pt x="50" y="196"/>
                  </a:cubicBezTo>
                  <a:cubicBezTo>
                    <a:pt x="46" y="188"/>
                    <a:pt x="43" y="177"/>
                    <a:pt x="41" y="168"/>
                  </a:cubicBezTo>
                  <a:cubicBezTo>
                    <a:pt x="6" y="168"/>
                    <a:pt x="6" y="168"/>
                    <a:pt x="6" y="168"/>
                  </a:cubicBezTo>
                  <a:cubicBezTo>
                    <a:pt x="3" y="168"/>
                    <a:pt x="0" y="165"/>
                    <a:pt x="0" y="162"/>
                  </a:cubicBezTo>
                  <a:cubicBezTo>
                    <a:pt x="0" y="126"/>
                    <a:pt x="0" y="126"/>
                    <a:pt x="0" y="126"/>
                  </a:cubicBezTo>
                  <a:cubicBezTo>
                    <a:pt x="0" y="122"/>
                    <a:pt x="3" y="120"/>
                    <a:pt x="6" y="120"/>
                  </a:cubicBezTo>
                  <a:cubicBezTo>
                    <a:pt x="41" y="120"/>
                    <a:pt x="41" y="120"/>
                    <a:pt x="41" y="120"/>
                  </a:cubicBezTo>
                  <a:cubicBezTo>
                    <a:pt x="43" y="110"/>
                    <a:pt x="46" y="100"/>
                    <a:pt x="50" y="92"/>
                  </a:cubicBezTo>
                  <a:cubicBezTo>
                    <a:pt x="26" y="67"/>
                    <a:pt x="26" y="67"/>
                    <a:pt x="26" y="67"/>
                  </a:cubicBezTo>
                  <a:cubicBezTo>
                    <a:pt x="25" y="66"/>
                    <a:pt x="24" y="65"/>
                    <a:pt x="24" y="63"/>
                  </a:cubicBezTo>
                  <a:cubicBezTo>
                    <a:pt x="24" y="61"/>
                    <a:pt x="25" y="60"/>
                    <a:pt x="26" y="59"/>
                  </a:cubicBezTo>
                  <a:cubicBezTo>
                    <a:pt x="60" y="25"/>
                    <a:pt x="60" y="25"/>
                    <a:pt x="60" y="25"/>
                  </a:cubicBezTo>
                  <a:cubicBezTo>
                    <a:pt x="62" y="23"/>
                    <a:pt x="66" y="23"/>
                    <a:pt x="68" y="25"/>
                  </a:cubicBezTo>
                  <a:cubicBezTo>
                    <a:pt x="92" y="49"/>
                    <a:pt x="92" y="49"/>
                    <a:pt x="92" y="49"/>
                  </a:cubicBezTo>
                  <a:cubicBezTo>
                    <a:pt x="100" y="45"/>
                    <a:pt x="111" y="42"/>
                    <a:pt x="120" y="40"/>
                  </a:cubicBezTo>
                  <a:cubicBezTo>
                    <a:pt x="120" y="6"/>
                    <a:pt x="120" y="6"/>
                    <a:pt x="120" y="6"/>
                  </a:cubicBezTo>
                  <a:cubicBezTo>
                    <a:pt x="120" y="2"/>
                    <a:pt x="123" y="0"/>
                    <a:pt x="126" y="0"/>
                  </a:cubicBezTo>
                  <a:cubicBezTo>
                    <a:pt x="162" y="0"/>
                    <a:pt x="162" y="0"/>
                    <a:pt x="162" y="0"/>
                  </a:cubicBezTo>
                  <a:cubicBezTo>
                    <a:pt x="166" y="0"/>
                    <a:pt x="168" y="2"/>
                    <a:pt x="168" y="6"/>
                  </a:cubicBezTo>
                  <a:cubicBezTo>
                    <a:pt x="168" y="40"/>
                    <a:pt x="168" y="40"/>
                    <a:pt x="168" y="40"/>
                  </a:cubicBezTo>
                  <a:cubicBezTo>
                    <a:pt x="178" y="42"/>
                    <a:pt x="188" y="45"/>
                    <a:pt x="196" y="49"/>
                  </a:cubicBezTo>
                  <a:cubicBezTo>
                    <a:pt x="221" y="25"/>
                    <a:pt x="221" y="25"/>
                    <a:pt x="221" y="25"/>
                  </a:cubicBezTo>
                  <a:cubicBezTo>
                    <a:pt x="223" y="22"/>
                    <a:pt x="227" y="22"/>
                    <a:pt x="229" y="25"/>
                  </a:cubicBezTo>
                  <a:cubicBezTo>
                    <a:pt x="263" y="59"/>
                    <a:pt x="263" y="59"/>
                    <a:pt x="263" y="59"/>
                  </a:cubicBezTo>
                  <a:cubicBezTo>
                    <a:pt x="264" y="60"/>
                    <a:pt x="265" y="61"/>
                    <a:pt x="265" y="63"/>
                  </a:cubicBezTo>
                  <a:cubicBezTo>
                    <a:pt x="265" y="65"/>
                    <a:pt x="264" y="66"/>
                    <a:pt x="263" y="67"/>
                  </a:cubicBezTo>
                  <a:cubicBezTo>
                    <a:pt x="239" y="92"/>
                    <a:pt x="239" y="92"/>
                    <a:pt x="239" y="92"/>
                  </a:cubicBezTo>
                  <a:cubicBezTo>
                    <a:pt x="243" y="100"/>
                    <a:pt x="246" y="110"/>
                    <a:pt x="248" y="120"/>
                  </a:cubicBezTo>
                  <a:cubicBezTo>
                    <a:pt x="282" y="120"/>
                    <a:pt x="282" y="120"/>
                    <a:pt x="282" y="120"/>
                  </a:cubicBezTo>
                  <a:cubicBezTo>
                    <a:pt x="286" y="120"/>
                    <a:pt x="288" y="122"/>
                    <a:pt x="288" y="126"/>
                  </a:cubicBezTo>
                  <a:cubicBezTo>
                    <a:pt x="288" y="162"/>
                    <a:pt x="288" y="162"/>
                    <a:pt x="288" y="162"/>
                  </a:cubicBezTo>
                  <a:cubicBezTo>
                    <a:pt x="288" y="165"/>
                    <a:pt x="286" y="168"/>
                    <a:pt x="282" y="168"/>
                  </a:cubicBezTo>
                  <a:cubicBezTo>
                    <a:pt x="248" y="168"/>
                    <a:pt x="248" y="168"/>
                    <a:pt x="248" y="168"/>
                  </a:cubicBezTo>
                  <a:cubicBezTo>
                    <a:pt x="246" y="177"/>
                    <a:pt x="243" y="188"/>
                    <a:pt x="239" y="196"/>
                  </a:cubicBezTo>
                  <a:cubicBezTo>
                    <a:pt x="263" y="220"/>
                    <a:pt x="263" y="220"/>
                    <a:pt x="263" y="220"/>
                  </a:cubicBezTo>
                  <a:cubicBezTo>
                    <a:pt x="266" y="222"/>
                    <a:pt x="266" y="226"/>
                    <a:pt x="263" y="228"/>
                  </a:cubicBezTo>
                  <a:cubicBezTo>
                    <a:pt x="229" y="262"/>
                    <a:pt x="229" y="262"/>
                    <a:pt x="229" y="262"/>
                  </a:cubicBezTo>
                  <a:cubicBezTo>
                    <a:pt x="227" y="265"/>
                    <a:pt x="223" y="265"/>
                    <a:pt x="221" y="262"/>
                  </a:cubicBezTo>
                  <a:cubicBezTo>
                    <a:pt x="193" y="235"/>
                    <a:pt x="193" y="235"/>
                    <a:pt x="193" y="235"/>
                  </a:cubicBezTo>
                  <a:cubicBezTo>
                    <a:pt x="191" y="233"/>
                    <a:pt x="191" y="229"/>
                    <a:pt x="193" y="226"/>
                  </a:cubicBezTo>
                  <a:cubicBezTo>
                    <a:pt x="196" y="224"/>
                    <a:pt x="199" y="224"/>
                    <a:pt x="202" y="226"/>
                  </a:cubicBezTo>
                  <a:cubicBezTo>
                    <a:pt x="225" y="250"/>
                    <a:pt x="225" y="250"/>
                    <a:pt x="225" y="250"/>
                  </a:cubicBezTo>
                  <a:cubicBezTo>
                    <a:pt x="251" y="224"/>
                    <a:pt x="251" y="224"/>
                    <a:pt x="251" y="224"/>
                  </a:cubicBezTo>
                  <a:cubicBezTo>
                    <a:pt x="227" y="201"/>
                    <a:pt x="227" y="201"/>
                    <a:pt x="227" y="201"/>
                  </a:cubicBezTo>
                  <a:cubicBezTo>
                    <a:pt x="225" y="199"/>
                    <a:pt x="225" y="196"/>
                    <a:pt x="226" y="194"/>
                  </a:cubicBezTo>
                  <a:cubicBezTo>
                    <a:pt x="232" y="185"/>
                    <a:pt x="236" y="167"/>
                    <a:pt x="238" y="160"/>
                  </a:cubicBezTo>
                  <a:cubicBezTo>
                    <a:pt x="238" y="158"/>
                    <a:pt x="241" y="156"/>
                    <a:pt x="243" y="156"/>
                  </a:cubicBezTo>
                  <a:cubicBezTo>
                    <a:pt x="276" y="156"/>
                    <a:pt x="276" y="156"/>
                    <a:pt x="276" y="156"/>
                  </a:cubicBezTo>
                  <a:cubicBezTo>
                    <a:pt x="276" y="132"/>
                    <a:pt x="276" y="132"/>
                    <a:pt x="276" y="132"/>
                  </a:cubicBezTo>
                  <a:cubicBezTo>
                    <a:pt x="243" y="132"/>
                    <a:pt x="243" y="132"/>
                    <a:pt x="243" y="132"/>
                  </a:cubicBezTo>
                  <a:cubicBezTo>
                    <a:pt x="241" y="132"/>
                    <a:pt x="238" y="130"/>
                    <a:pt x="238" y="127"/>
                  </a:cubicBezTo>
                  <a:cubicBezTo>
                    <a:pt x="236" y="120"/>
                    <a:pt x="232" y="103"/>
                    <a:pt x="226" y="94"/>
                  </a:cubicBezTo>
                  <a:cubicBezTo>
                    <a:pt x="225" y="91"/>
                    <a:pt x="225" y="88"/>
                    <a:pt x="227" y="86"/>
                  </a:cubicBezTo>
                  <a:cubicBezTo>
                    <a:pt x="251" y="63"/>
                    <a:pt x="251" y="63"/>
                    <a:pt x="251" y="63"/>
                  </a:cubicBezTo>
                  <a:cubicBezTo>
                    <a:pt x="225" y="38"/>
                    <a:pt x="225" y="38"/>
                    <a:pt x="225" y="38"/>
                  </a:cubicBezTo>
                  <a:cubicBezTo>
                    <a:pt x="202" y="61"/>
                    <a:pt x="202" y="61"/>
                    <a:pt x="202" y="61"/>
                  </a:cubicBezTo>
                  <a:cubicBezTo>
                    <a:pt x="200" y="63"/>
                    <a:pt x="197" y="63"/>
                    <a:pt x="194" y="62"/>
                  </a:cubicBezTo>
                  <a:cubicBezTo>
                    <a:pt x="186" y="57"/>
                    <a:pt x="172" y="53"/>
                    <a:pt x="161"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1" y="50"/>
                    <a:pt x="128" y="50"/>
                  </a:cubicBezTo>
                  <a:cubicBezTo>
                    <a:pt x="117" y="53"/>
                    <a:pt x="103" y="57"/>
                    <a:pt x="95" y="62"/>
                  </a:cubicBezTo>
                  <a:cubicBezTo>
                    <a:pt x="92" y="63"/>
                    <a:pt x="89" y="63"/>
                    <a:pt x="87" y="61"/>
                  </a:cubicBezTo>
                  <a:cubicBezTo>
                    <a:pt x="64" y="38"/>
                    <a:pt x="64" y="38"/>
                    <a:pt x="64" y="38"/>
                  </a:cubicBezTo>
                  <a:cubicBezTo>
                    <a:pt x="38" y="63"/>
                    <a:pt x="38" y="63"/>
                    <a:pt x="38" y="63"/>
                  </a:cubicBezTo>
                  <a:cubicBezTo>
                    <a:pt x="62" y="86"/>
                    <a:pt x="62" y="86"/>
                    <a:pt x="62" y="86"/>
                  </a:cubicBezTo>
                  <a:cubicBezTo>
                    <a:pt x="64" y="88"/>
                    <a:pt x="64" y="91"/>
                    <a:pt x="63" y="94"/>
                  </a:cubicBezTo>
                  <a:cubicBezTo>
                    <a:pt x="57" y="103"/>
                    <a:pt x="53" y="120"/>
                    <a:pt x="51" y="127"/>
                  </a:cubicBezTo>
                  <a:cubicBezTo>
                    <a:pt x="51" y="130"/>
                    <a:pt x="48" y="132"/>
                    <a:pt x="45" y="132"/>
                  </a:cubicBezTo>
                  <a:cubicBezTo>
                    <a:pt x="12" y="132"/>
                    <a:pt x="12" y="132"/>
                    <a:pt x="12" y="132"/>
                  </a:cubicBezTo>
                  <a:cubicBezTo>
                    <a:pt x="12" y="156"/>
                    <a:pt x="12" y="156"/>
                    <a:pt x="12" y="156"/>
                  </a:cubicBezTo>
                  <a:cubicBezTo>
                    <a:pt x="45" y="156"/>
                    <a:pt x="45" y="156"/>
                    <a:pt x="45" y="156"/>
                  </a:cubicBezTo>
                  <a:cubicBezTo>
                    <a:pt x="48" y="156"/>
                    <a:pt x="51" y="158"/>
                    <a:pt x="51" y="160"/>
                  </a:cubicBezTo>
                  <a:cubicBezTo>
                    <a:pt x="53" y="167"/>
                    <a:pt x="57" y="185"/>
                    <a:pt x="63" y="194"/>
                  </a:cubicBezTo>
                  <a:cubicBezTo>
                    <a:pt x="64" y="196"/>
                    <a:pt x="64" y="199"/>
                    <a:pt x="62" y="201"/>
                  </a:cubicBezTo>
                  <a:cubicBezTo>
                    <a:pt x="38" y="224"/>
                    <a:pt x="38" y="224"/>
                    <a:pt x="38" y="224"/>
                  </a:cubicBezTo>
                  <a:cubicBezTo>
                    <a:pt x="64" y="250"/>
                    <a:pt x="64" y="250"/>
                    <a:pt x="64" y="250"/>
                  </a:cubicBezTo>
                  <a:cubicBezTo>
                    <a:pt x="87" y="226"/>
                    <a:pt x="87" y="226"/>
                    <a:pt x="87" y="226"/>
                  </a:cubicBezTo>
                  <a:cubicBezTo>
                    <a:pt x="89" y="224"/>
                    <a:pt x="93" y="224"/>
                    <a:pt x="96" y="226"/>
                  </a:cubicBezTo>
                  <a:cubicBezTo>
                    <a:pt x="98" y="229"/>
                    <a:pt x="98" y="233"/>
                    <a:pt x="96" y="235"/>
                  </a:cubicBezTo>
                  <a:cubicBezTo>
                    <a:pt x="68" y="262"/>
                    <a:pt x="68" y="262"/>
                    <a:pt x="68" y="262"/>
                  </a:cubicBezTo>
                  <a:cubicBezTo>
                    <a:pt x="67" y="264"/>
                    <a:pt x="65" y="264"/>
                    <a:pt x="64"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46" name="Freeform 54">
              <a:extLst>
                <a:ext uri="{FF2B5EF4-FFF2-40B4-BE49-F238E27FC236}">
                  <a16:creationId xmlns:a16="http://schemas.microsoft.com/office/drawing/2014/main" id="{4E39E2A1-200C-9CDB-25EA-798A0DD06E2A}"/>
                </a:ext>
              </a:extLst>
            </p:cNvPr>
            <p:cNvSpPr>
              <a:spLocks/>
            </p:cNvSpPr>
            <p:nvPr/>
          </p:nvSpPr>
          <p:spPr bwMode="auto">
            <a:xfrm>
              <a:off x="6717" y="79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6" y="0"/>
                    <a:pt x="48" y="2"/>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47" name="Freeform 55">
              <a:extLst>
                <a:ext uri="{FF2B5EF4-FFF2-40B4-BE49-F238E27FC236}">
                  <a16:creationId xmlns:a16="http://schemas.microsoft.com/office/drawing/2014/main" id="{674335D9-4848-1867-B80F-D71CC35DE804}"/>
                </a:ext>
              </a:extLst>
            </p:cNvPr>
            <p:cNvSpPr>
              <a:spLocks/>
            </p:cNvSpPr>
            <p:nvPr/>
          </p:nvSpPr>
          <p:spPr bwMode="auto">
            <a:xfrm>
              <a:off x="6717" y="830"/>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6" y="0"/>
                    <a:pt x="48" y="2"/>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48" name="Freeform 56">
              <a:extLst>
                <a:ext uri="{FF2B5EF4-FFF2-40B4-BE49-F238E27FC236}">
                  <a16:creationId xmlns:a16="http://schemas.microsoft.com/office/drawing/2014/main" id="{F28F59B5-4920-0FD2-E0B6-D6DD2AD2E4F0}"/>
                </a:ext>
              </a:extLst>
            </p:cNvPr>
            <p:cNvSpPr>
              <a:spLocks/>
            </p:cNvSpPr>
            <p:nvPr/>
          </p:nvSpPr>
          <p:spPr bwMode="auto">
            <a:xfrm>
              <a:off x="6743" y="830"/>
              <a:ext cx="18" cy="35"/>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3" y="24"/>
                    <a:pt x="0" y="21"/>
                    <a:pt x="0" y="18"/>
                  </a:cubicBezTo>
                  <a:cubicBezTo>
                    <a:pt x="0" y="6"/>
                    <a:pt x="0" y="6"/>
                    <a:pt x="0" y="6"/>
                  </a:cubicBezTo>
                  <a:cubicBezTo>
                    <a:pt x="0" y="2"/>
                    <a:pt x="3" y="0"/>
                    <a:pt x="6" y="0"/>
                  </a:cubicBezTo>
                  <a:cubicBezTo>
                    <a:pt x="10" y="0"/>
                    <a:pt x="12" y="2"/>
                    <a:pt x="12" y="6"/>
                  </a:cubicBezTo>
                  <a:cubicBezTo>
                    <a:pt x="12" y="18"/>
                    <a:pt x="12" y="18"/>
                    <a:pt x="12" y="18"/>
                  </a:cubicBezTo>
                  <a:cubicBezTo>
                    <a:pt x="12" y="21"/>
                    <a:pt x="10"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49" name="Freeform 57">
              <a:extLst>
                <a:ext uri="{FF2B5EF4-FFF2-40B4-BE49-F238E27FC236}">
                  <a16:creationId xmlns:a16="http://schemas.microsoft.com/office/drawing/2014/main" id="{F49EF6AE-A452-7015-9C80-6FE029DD434C}"/>
                </a:ext>
              </a:extLst>
            </p:cNvPr>
            <p:cNvSpPr>
              <a:spLocks noEditPoints="1"/>
            </p:cNvSpPr>
            <p:nvPr/>
          </p:nvSpPr>
          <p:spPr bwMode="auto">
            <a:xfrm>
              <a:off x="6640" y="545"/>
              <a:ext cx="226" cy="231"/>
            </a:xfrm>
            <a:custGeom>
              <a:avLst/>
              <a:gdLst>
                <a:gd name="T0" fmla="*/ 94 w 153"/>
                <a:gd name="T1" fmla="*/ 156 h 156"/>
                <a:gd name="T2" fmla="*/ 58 w 153"/>
                <a:gd name="T3" fmla="*/ 156 h 156"/>
                <a:gd name="T4" fmla="*/ 52 w 153"/>
                <a:gd name="T5" fmla="*/ 150 h 156"/>
                <a:gd name="T6" fmla="*/ 52 w 153"/>
                <a:gd name="T7" fmla="*/ 140 h 156"/>
                <a:gd name="T8" fmla="*/ 0 w 153"/>
                <a:gd name="T9" fmla="*/ 72 h 156"/>
                <a:gd name="T10" fmla="*/ 76 w 153"/>
                <a:gd name="T11" fmla="*/ 0 h 156"/>
                <a:gd name="T12" fmla="*/ 153 w 153"/>
                <a:gd name="T13" fmla="*/ 72 h 156"/>
                <a:gd name="T14" fmla="*/ 100 w 153"/>
                <a:gd name="T15" fmla="*/ 140 h 156"/>
                <a:gd name="T16" fmla="*/ 100 w 153"/>
                <a:gd name="T17" fmla="*/ 150 h 156"/>
                <a:gd name="T18" fmla="*/ 94 w 153"/>
                <a:gd name="T19" fmla="*/ 156 h 156"/>
                <a:gd name="T20" fmla="*/ 64 w 153"/>
                <a:gd name="T21" fmla="*/ 144 h 156"/>
                <a:gd name="T22" fmla="*/ 88 w 153"/>
                <a:gd name="T23" fmla="*/ 144 h 156"/>
                <a:gd name="T24" fmla="*/ 88 w 153"/>
                <a:gd name="T25" fmla="*/ 136 h 156"/>
                <a:gd name="T26" fmla="*/ 93 w 153"/>
                <a:gd name="T27" fmla="*/ 130 h 156"/>
                <a:gd name="T28" fmla="*/ 141 w 153"/>
                <a:gd name="T29" fmla="*/ 72 h 156"/>
                <a:gd name="T30" fmla="*/ 76 w 153"/>
                <a:gd name="T31" fmla="*/ 12 h 156"/>
                <a:gd name="T32" fmla="*/ 12 w 153"/>
                <a:gd name="T33" fmla="*/ 72 h 156"/>
                <a:gd name="T34" fmla="*/ 60 w 153"/>
                <a:gd name="T35" fmla="*/ 130 h 156"/>
                <a:gd name="T36" fmla="*/ 64 w 153"/>
                <a:gd name="T37" fmla="*/ 136 h 156"/>
                <a:gd name="T38" fmla="*/ 64 w 153"/>
                <a:gd name="T39"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3" h="156">
                  <a:moveTo>
                    <a:pt x="94" y="156"/>
                  </a:moveTo>
                  <a:cubicBezTo>
                    <a:pt x="58" y="156"/>
                    <a:pt x="58" y="156"/>
                    <a:pt x="58" y="156"/>
                  </a:cubicBezTo>
                  <a:cubicBezTo>
                    <a:pt x="55" y="156"/>
                    <a:pt x="52" y="153"/>
                    <a:pt x="52" y="150"/>
                  </a:cubicBezTo>
                  <a:cubicBezTo>
                    <a:pt x="52" y="140"/>
                    <a:pt x="52" y="140"/>
                    <a:pt x="52" y="140"/>
                  </a:cubicBezTo>
                  <a:cubicBezTo>
                    <a:pt x="21" y="130"/>
                    <a:pt x="0" y="103"/>
                    <a:pt x="0" y="72"/>
                  </a:cubicBezTo>
                  <a:cubicBezTo>
                    <a:pt x="0" y="32"/>
                    <a:pt x="34" y="0"/>
                    <a:pt x="76" y="0"/>
                  </a:cubicBezTo>
                  <a:cubicBezTo>
                    <a:pt x="119" y="0"/>
                    <a:pt x="153" y="32"/>
                    <a:pt x="153" y="72"/>
                  </a:cubicBezTo>
                  <a:cubicBezTo>
                    <a:pt x="153" y="103"/>
                    <a:pt x="132" y="130"/>
                    <a:pt x="100" y="140"/>
                  </a:cubicBezTo>
                  <a:cubicBezTo>
                    <a:pt x="100" y="150"/>
                    <a:pt x="100" y="150"/>
                    <a:pt x="100" y="150"/>
                  </a:cubicBezTo>
                  <a:cubicBezTo>
                    <a:pt x="100" y="153"/>
                    <a:pt x="98" y="156"/>
                    <a:pt x="94" y="156"/>
                  </a:cubicBezTo>
                  <a:close/>
                  <a:moveTo>
                    <a:pt x="64" y="144"/>
                  </a:moveTo>
                  <a:cubicBezTo>
                    <a:pt x="88" y="144"/>
                    <a:pt x="88" y="144"/>
                    <a:pt x="88" y="144"/>
                  </a:cubicBezTo>
                  <a:cubicBezTo>
                    <a:pt x="88" y="136"/>
                    <a:pt x="88" y="136"/>
                    <a:pt x="88" y="136"/>
                  </a:cubicBezTo>
                  <a:cubicBezTo>
                    <a:pt x="88" y="133"/>
                    <a:pt x="90" y="131"/>
                    <a:pt x="93" y="130"/>
                  </a:cubicBezTo>
                  <a:cubicBezTo>
                    <a:pt x="121" y="123"/>
                    <a:pt x="141" y="99"/>
                    <a:pt x="141" y="72"/>
                  </a:cubicBezTo>
                  <a:cubicBezTo>
                    <a:pt x="141" y="39"/>
                    <a:pt x="112" y="12"/>
                    <a:pt x="76" y="12"/>
                  </a:cubicBezTo>
                  <a:cubicBezTo>
                    <a:pt x="41" y="12"/>
                    <a:pt x="12" y="39"/>
                    <a:pt x="12" y="72"/>
                  </a:cubicBezTo>
                  <a:cubicBezTo>
                    <a:pt x="12" y="99"/>
                    <a:pt x="32" y="123"/>
                    <a:pt x="60" y="130"/>
                  </a:cubicBezTo>
                  <a:cubicBezTo>
                    <a:pt x="63" y="131"/>
                    <a:pt x="64" y="133"/>
                    <a:pt x="64" y="136"/>
                  </a:cubicBezTo>
                  <a:lnTo>
                    <a:pt x="64" y="1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grpSp>
      <p:grpSp>
        <p:nvGrpSpPr>
          <p:cNvPr id="50" name="Group 4">
            <a:extLst>
              <a:ext uri="{FF2B5EF4-FFF2-40B4-BE49-F238E27FC236}">
                <a16:creationId xmlns:a16="http://schemas.microsoft.com/office/drawing/2014/main" id="{53735E7E-E47E-2837-003B-27EFE6FDAC4B}"/>
              </a:ext>
            </a:extLst>
          </p:cNvPr>
          <p:cNvGrpSpPr>
            <a:grpSpLocks noChangeAspect="1"/>
          </p:cNvGrpSpPr>
          <p:nvPr/>
        </p:nvGrpSpPr>
        <p:grpSpPr bwMode="auto">
          <a:xfrm>
            <a:off x="9019844" y="2944181"/>
            <a:ext cx="451583" cy="450525"/>
            <a:chOff x="352" y="439"/>
            <a:chExt cx="427" cy="426"/>
          </a:xfrm>
          <a:solidFill>
            <a:schemeClr val="tx2"/>
          </a:solidFill>
        </p:grpSpPr>
        <p:sp>
          <p:nvSpPr>
            <p:cNvPr id="51" name="Freeform 5">
              <a:extLst>
                <a:ext uri="{FF2B5EF4-FFF2-40B4-BE49-F238E27FC236}">
                  <a16:creationId xmlns:a16="http://schemas.microsoft.com/office/drawing/2014/main" id="{C2582AFE-6E6A-7649-D81A-F73B9E56FC04}"/>
                </a:ext>
              </a:extLst>
            </p:cNvPr>
            <p:cNvSpPr>
              <a:spLocks noEditPoints="1"/>
            </p:cNvSpPr>
            <p:nvPr/>
          </p:nvSpPr>
          <p:spPr bwMode="auto">
            <a:xfrm>
              <a:off x="580" y="670"/>
              <a:ext cx="199" cy="195"/>
            </a:xfrm>
            <a:custGeom>
              <a:avLst/>
              <a:gdLst>
                <a:gd name="T0" fmla="*/ 51 w 134"/>
                <a:gd name="T1" fmla="*/ 132 h 132"/>
                <a:gd name="T2" fmla="*/ 45 w 134"/>
                <a:gd name="T3" fmla="*/ 116 h 132"/>
                <a:gd name="T4" fmla="*/ 26 w 134"/>
                <a:gd name="T5" fmla="*/ 116 h 132"/>
                <a:gd name="T6" fmla="*/ 2 w 134"/>
                <a:gd name="T7" fmla="*/ 85 h 132"/>
                <a:gd name="T8" fmla="*/ 12 w 134"/>
                <a:gd name="T9" fmla="*/ 72 h 132"/>
                <a:gd name="T10" fmla="*/ 12 w 134"/>
                <a:gd name="T11" fmla="*/ 61 h 132"/>
                <a:gd name="T12" fmla="*/ 2 w 134"/>
                <a:gd name="T13" fmla="*/ 47 h 132"/>
                <a:gd name="T14" fmla="*/ 26 w 134"/>
                <a:gd name="T15" fmla="*/ 17 h 132"/>
                <a:gd name="T16" fmla="*/ 45 w 134"/>
                <a:gd name="T17" fmla="*/ 16 h 132"/>
                <a:gd name="T18" fmla="*/ 51 w 134"/>
                <a:gd name="T19" fmla="*/ 0 h 132"/>
                <a:gd name="T20" fmla="*/ 89 w 134"/>
                <a:gd name="T21" fmla="*/ 6 h 132"/>
                <a:gd name="T22" fmla="*/ 99 w 134"/>
                <a:gd name="T23" fmla="*/ 22 h 132"/>
                <a:gd name="T24" fmla="*/ 112 w 134"/>
                <a:gd name="T25" fmla="*/ 16 h 132"/>
                <a:gd name="T26" fmla="*/ 132 w 134"/>
                <a:gd name="T27" fmla="*/ 47 h 132"/>
                <a:gd name="T28" fmla="*/ 121 w 134"/>
                <a:gd name="T29" fmla="*/ 60 h 132"/>
                <a:gd name="T30" fmla="*/ 121 w 134"/>
                <a:gd name="T31" fmla="*/ 72 h 132"/>
                <a:gd name="T32" fmla="*/ 133 w 134"/>
                <a:gd name="T33" fmla="*/ 80 h 132"/>
                <a:gd name="T34" fmla="*/ 116 w 134"/>
                <a:gd name="T35" fmla="*/ 113 h 132"/>
                <a:gd name="T36" fmla="*/ 107 w 134"/>
                <a:gd name="T37" fmla="*/ 115 h 132"/>
                <a:gd name="T38" fmla="*/ 89 w 134"/>
                <a:gd name="T39" fmla="*/ 116 h 132"/>
                <a:gd name="T40" fmla="*/ 83 w 134"/>
                <a:gd name="T41" fmla="*/ 132 h 132"/>
                <a:gd name="T42" fmla="*/ 77 w 134"/>
                <a:gd name="T43" fmla="*/ 120 h 132"/>
                <a:gd name="T44" fmla="*/ 81 w 134"/>
                <a:gd name="T45" fmla="*/ 107 h 132"/>
                <a:gd name="T46" fmla="*/ 102 w 134"/>
                <a:gd name="T47" fmla="*/ 98 h 132"/>
                <a:gd name="T48" fmla="*/ 119 w 134"/>
                <a:gd name="T49" fmla="*/ 84 h 132"/>
                <a:gd name="T50" fmla="*/ 109 w 134"/>
                <a:gd name="T51" fmla="*/ 74 h 132"/>
                <a:gd name="T52" fmla="*/ 109 w 134"/>
                <a:gd name="T53" fmla="*/ 58 h 132"/>
                <a:gd name="T54" fmla="*/ 119 w 134"/>
                <a:gd name="T55" fmla="*/ 48 h 132"/>
                <a:gd name="T56" fmla="*/ 102 w 134"/>
                <a:gd name="T57" fmla="*/ 34 h 132"/>
                <a:gd name="T58" fmla="*/ 81 w 134"/>
                <a:gd name="T59" fmla="*/ 26 h 132"/>
                <a:gd name="T60" fmla="*/ 77 w 134"/>
                <a:gd name="T61" fmla="*/ 12 h 132"/>
                <a:gd name="T62" fmla="*/ 57 w 134"/>
                <a:gd name="T63" fmla="*/ 20 h 132"/>
                <a:gd name="T64" fmla="*/ 39 w 134"/>
                <a:gd name="T65" fmla="*/ 34 h 132"/>
                <a:gd name="T66" fmla="*/ 25 w 134"/>
                <a:gd name="T67" fmla="*/ 30 h 132"/>
                <a:gd name="T68" fmla="*/ 22 w 134"/>
                <a:gd name="T69" fmla="*/ 52 h 132"/>
                <a:gd name="T70" fmla="*/ 24 w 134"/>
                <a:gd name="T71" fmla="*/ 66 h 132"/>
                <a:gd name="T72" fmla="*/ 22 w 134"/>
                <a:gd name="T73" fmla="*/ 80 h 132"/>
                <a:gd name="T74" fmla="*/ 25 w 134"/>
                <a:gd name="T75" fmla="*/ 102 h 132"/>
                <a:gd name="T76" fmla="*/ 39 w 134"/>
                <a:gd name="T77" fmla="*/ 99 h 132"/>
                <a:gd name="T78" fmla="*/ 57 w 134"/>
                <a:gd name="T79" fmla="*/ 11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4" h="132">
                  <a:moveTo>
                    <a:pt x="83" y="132"/>
                  </a:moveTo>
                  <a:cubicBezTo>
                    <a:pt x="51" y="132"/>
                    <a:pt x="51" y="132"/>
                    <a:pt x="51" y="132"/>
                  </a:cubicBezTo>
                  <a:cubicBezTo>
                    <a:pt x="47" y="132"/>
                    <a:pt x="45" y="129"/>
                    <a:pt x="45" y="126"/>
                  </a:cubicBezTo>
                  <a:cubicBezTo>
                    <a:pt x="45" y="116"/>
                    <a:pt x="45" y="116"/>
                    <a:pt x="45" y="116"/>
                  </a:cubicBezTo>
                  <a:cubicBezTo>
                    <a:pt x="42" y="115"/>
                    <a:pt x="38" y="113"/>
                    <a:pt x="35" y="111"/>
                  </a:cubicBezTo>
                  <a:cubicBezTo>
                    <a:pt x="26" y="116"/>
                    <a:pt x="26" y="116"/>
                    <a:pt x="26" y="116"/>
                  </a:cubicBezTo>
                  <a:cubicBezTo>
                    <a:pt x="23" y="117"/>
                    <a:pt x="20" y="116"/>
                    <a:pt x="18" y="113"/>
                  </a:cubicBezTo>
                  <a:cubicBezTo>
                    <a:pt x="2" y="85"/>
                    <a:pt x="2" y="85"/>
                    <a:pt x="2" y="85"/>
                  </a:cubicBezTo>
                  <a:cubicBezTo>
                    <a:pt x="0" y="82"/>
                    <a:pt x="1" y="79"/>
                    <a:pt x="4" y="77"/>
                  </a:cubicBezTo>
                  <a:cubicBezTo>
                    <a:pt x="12" y="72"/>
                    <a:pt x="12" y="72"/>
                    <a:pt x="12" y="72"/>
                  </a:cubicBezTo>
                  <a:cubicBezTo>
                    <a:pt x="12" y="70"/>
                    <a:pt x="12" y="68"/>
                    <a:pt x="12" y="66"/>
                  </a:cubicBezTo>
                  <a:cubicBezTo>
                    <a:pt x="12" y="64"/>
                    <a:pt x="12" y="62"/>
                    <a:pt x="12" y="61"/>
                  </a:cubicBezTo>
                  <a:cubicBezTo>
                    <a:pt x="4" y="56"/>
                    <a:pt x="4" y="56"/>
                    <a:pt x="4" y="56"/>
                  </a:cubicBezTo>
                  <a:cubicBezTo>
                    <a:pt x="1" y="54"/>
                    <a:pt x="0" y="50"/>
                    <a:pt x="2" y="47"/>
                  </a:cubicBezTo>
                  <a:cubicBezTo>
                    <a:pt x="18" y="19"/>
                    <a:pt x="18" y="19"/>
                    <a:pt x="18" y="19"/>
                  </a:cubicBezTo>
                  <a:cubicBezTo>
                    <a:pt x="20" y="16"/>
                    <a:pt x="23" y="15"/>
                    <a:pt x="26" y="17"/>
                  </a:cubicBezTo>
                  <a:cubicBezTo>
                    <a:pt x="35" y="22"/>
                    <a:pt x="35" y="22"/>
                    <a:pt x="35" y="22"/>
                  </a:cubicBezTo>
                  <a:cubicBezTo>
                    <a:pt x="38" y="19"/>
                    <a:pt x="42" y="18"/>
                    <a:pt x="45" y="16"/>
                  </a:cubicBezTo>
                  <a:cubicBezTo>
                    <a:pt x="45" y="6"/>
                    <a:pt x="45" y="6"/>
                    <a:pt x="45" y="6"/>
                  </a:cubicBezTo>
                  <a:cubicBezTo>
                    <a:pt x="45" y="3"/>
                    <a:pt x="47" y="0"/>
                    <a:pt x="51" y="0"/>
                  </a:cubicBezTo>
                  <a:cubicBezTo>
                    <a:pt x="83" y="0"/>
                    <a:pt x="83" y="0"/>
                    <a:pt x="83" y="0"/>
                  </a:cubicBezTo>
                  <a:cubicBezTo>
                    <a:pt x="87" y="0"/>
                    <a:pt x="89" y="3"/>
                    <a:pt x="89" y="6"/>
                  </a:cubicBezTo>
                  <a:cubicBezTo>
                    <a:pt x="89" y="16"/>
                    <a:pt x="89" y="16"/>
                    <a:pt x="89" y="16"/>
                  </a:cubicBezTo>
                  <a:cubicBezTo>
                    <a:pt x="93" y="18"/>
                    <a:pt x="96" y="20"/>
                    <a:pt x="99" y="22"/>
                  </a:cubicBezTo>
                  <a:cubicBezTo>
                    <a:pt x="107" y="17"/>
                    <a:pt x="107" y="17"/>
                    <a:pt x="107" y="17"/>
                  </a:cubicBezTo>
                  <a:cubicBezTo>
                    <a:pt x="109" y="16"/>
                    <a:pt x="110" y="16"/>
                    <a:pt x="112" y="16"/>
                  </a:cubicBezTo>
                  <a:cubicBezTo>
                    <a:pt x="114" y="17"/>
                    <a:pt x="115" y="18"/>
                    <a:pt x="116" y="19"/>
                  </a:cubicBezTo>
                  <a:cubicBezTo>
                    <a:pt x="132" y="47"/>
                    <a:pt x="132" y="47"/>
                    <a:pt x="132" y="47"/>
                  </a:cubicBezTo>
                  <a:cubicBezTo>
                    <a:pt x="134" y="50"/>
                    <a:pt x="133" y="54"/>
                    <a:pt x="130" y="56"/>
                  </a:cubicBezTo>
                  <a:cubicBezTo>
                    <a:pt x="121" y="60"/>
                    <a:pt x="121" y="60"/>
                    <a:pt x="121" y="60"/>
                  </a:cubicBezTo>
                  <a:cubicBezTo>
                    <a:pt x="122" y="62"/>
                    <a:pt x="122" y="64"/>
                    <a:pt x="122" y="66"/>
                  </a:cubicBezTo>
                  <a:cubicBezTo>
                    <a:pt x="122" y="68"/>
                    <a:pt x="122" y="70"/>
                    <a:pt x="121" y="72"/>
                  </a:cubicBezTo>
                  <a:cubicBezTo>
                    <a:pt x="130" y="77"/>
                    <a:pt x="130" y="77"/>
                    <a:pt x="130" y="77"/>
                  </a:cubicBezTo>
                  <a:cubicBezTo>
                    <a:pt x="131" y="78"/>
                    <a:pt x="132" y="79"/>
                    <a:pt x="133" y="80"/>
                  </a:cubicBezTo>
                  <a:cubicBezTo>
                    <a:pt x="133" y="82"/>
                    <a:pt x="133" y="84"/>
                    <a:pt x="132" y="85"/>
                  </a:cubicBezTo>
                  <a:cubicBezTo>
                    <a:pt x="116" y="113"/>
                    <a:pt x="116" y="113"/>
                    <a:pt x="116" y="113"/>
                  </a:cubicBezTo>
                  <a:cubicBezTo>
                    <a:pt x="115" y="115"/>
                    <a:pt x="114" y="116"/>
                    <a:pt x="112" y="116"/>
                  </a:cubicBezTo>
                  <a:cubicBezTo>
                    <a:pt x="110" y="117"/>
                    <a:pt x="109" y="116"/>
                    <a:pt x="107" y="115"/>
                  </a:cubicBezTo>
                  <a:cubicBezTo>
                    <a:pt x="99" y="111"/>
                    <a:pt x="99" y="111"/>
                    <a:pt x="99" y="111"/>
                  </a:cubicBezTo>
                  <a:cubicBezTo>
                    <a:pt x="96" y="113"/>
                    <a:pt x="93" y="115"/>
                    <a:pt x="89" y="116"/>
                  </a:cubicBezTo>
                  <a:cubicBezTo>
                    <a:pt x="89" y="126"/>
                    <a:pt x="89" y="126"/>
                    <a:pt x="89" y="126"/>
                  </a:cubicBezTo>
                  <a:cubicBezTo>
                    <a:pt x="89" y="129"/>
                    <a:pt x="87" y="132"/>
                    <a:pt x="83" y="132"/>
                  </a:cubicBezTo>
                  <a:close/>
                  <a:moveTo>
                    <a:pt x="57" y="120"/>
                  </a:moveTo>
                  <a:cubicBezTo>
                    <a:pt x="77" y="120"/>
                    <a:pt x="77" y="120"/>
                    <a:pt x="77" y="120"/>
                  </a:cubicBezTo>
                  <a:cubicBezTo>
                    <a:pt x="77" y="112"/>
                    <a:pt x="77" y="112"/>
                    <a:pt x="77" y="112"/>
                  </a:cubicBezTo>
                  <a:cubicBezTo>
                    <a:pt x="77" y="110"/>
                    <a:pt x="79" y="108"/>
                    <a:pt x="81" y="107"/>
                  </a:cubicBezTo>
                  <a:cubicBezTo>
                    <a:pt x="86" y="105"/>
                    <a:pt x="91" y="102"/>
                    <a:pt x="95" y="99"/>
                  </a:cubicBezTo>
                  <a:cubicBezTo>
                    <a:pt x="97" y="97"/>
                    <a:pt x="99" y="97"/>
                    <a:pt x="102" y="98"/>
                  </a:cubicBezTo>
                  <a:cubicBezTo>
                    <a:pt x="108" y="102"/>
                    <a:pt x="108" y="102"/>
                    <a:pt x="108" y="102"/>
                  </a:cubicBezTo>
                  <a:cubicBezTo>
                    <a:pt x="119" y="84"/>
                    <a:pt x="119" y="84"/>
                    <a:pt x="119" y="84"/>
                  </a:cubicBezTo>
                  <a:cubicBezTo>
                    <a:pt x="112" y="80"/>
                    <a:pt x="112" y="80"/>
                    <a:pt x="112" y="80"/>
                  </a:cubicBezTo>
                  <a:cubicBezTo>
                    <a:pt x="110" y="79"/>
                    <a:pt x="109" y="77"/>
                    <a:pt x="109" y="74"/>
                  </a:cubicBezTo>
                  <a:cubicBezTo>
                    <a:pt x="109" y="71"/>
                    <a:pt x="110" y="69"/>
                    <a:pt x="110" y="66"/>
                  </a:cubicBezTo>
                  <a:cubicBezTo>
                    <a:pt x="110" y="64"/>
                    <a:pt x="109" y="61"/>
                    <a:pt x="109" y="58"/>
                  </a:cubicBezTo>
                  <a:cubicBezTo>
                    <a:pt x="109" y="56"/>
                    <a:pt x="110" y="53"/>
                    <a:pt x="112" y="52"/>
                  </a:cubicBezTo>
                  <a:cubicBezTo>
                    <a:pt x="119" y="48"/>
                    <a:pt x="119" y="48"/>
                    <a:pt x="119" y="48"/>
                  </a:cubicBezTo>
                  <a:cubicBezTo>
                    <a:pt x="108" y="30"/>
                    <a:pt x="108" y="30"/>
                    <a:pt x="108" y="30"/>
                  </a:cubicBezTo>
                  <a:cubicBezTo>
                    <a:pt x="102" y="34"/>
                    <a:pt x="102" y="34"/>
                    <a:pt x="102" y="34"/>
                  </a:cubicBezTo>
                  <a:cubicBezTo>
                    <a:pt x="99" y="36"/>
                    <a:pt x="97" y="35"/>
                    <a:pt x="95" y="34"/>
                  </a:cubicBezTo>
                  <a:cubicBezTo>
                    <a:pt x="91" y="30"/>
                    <a:pt x="86" y="28"/>
                    <a:pt x="81" y="26"/>
                  </a:cubicBezTo>
                  <a:cubicBezTo>
                    <a:pt x="79" y="25"/>
                    <a:pt x="77" y="23"/>
                    <a:pt x="77" y="20"/>
                  </a:cubicBezTo>
                  <a:cubicBezTo>
                    <a:pt x="77" y="12"/>
                    <a:pt x="77" y="12"/>
                    <a:pt x="77" y="12"/>
                  </a:cubicBezTo>
                  <a:cubicBezTo>
                    <a:pt x="57" y="12"/>
                    <a:pt x="57" y="12"/>
                    <a:pt x="57" y="12"/>
                  </a:cubicBezTo>
                  <a:cubicBezTo>
                    <a:pt x="57" y="20"/>
                    <a:pt x="57" y="20"/>
                    <a:pt x="57" y="20"/>
                  </a:cubicBezTo>
                  <a:cubicBezTo>
                    <a:pt x="57" y="23"/>
                    <a:pt x="55" y="25"/>
                    <a:pt x="53" y="26"/>
                  </a:cubicBezTo>
                  <a:cubicBezTo>
                    <a:pt x="48" y="28"/>
                    <a:pt x="43" y="30"/>
                    <a:pt x="39" y="34"/>
                  </a:cubicBezTo>
                  <a:cubicBezTo>
                    <a:pt x="37" y="35"/>
                    <a:pt x="34" y="36"/>
                    <a:pt x="32" y="34"/>
                  </a:cubicBezTo>
                  <a:cubicBezTo>
                    <a:pt x="25" y="30"/>
                    <a:pt x="25" y="30"/>
                    <a:pt x="25" y="30"/>
                  </a:cubicBezTo>
                  <a:cubicBezTo>
                    <a:pt x="15" y="48"/>
                    <a:pt x="15" y="48"/>
                    <a:pt x="15" y="48"/>
                  </a:cubicBezTo>
                  <a:cubicBezTo>
                    <a:pt x="22" y="52"/>
                    <a:pt x="22" y="52"/>
                    <a:pt x="22" y="52"/>
                  </a:cubicBezTo>
                  <a:cubicBezTo>
                    <a:pt x="24" y="53"/>
                    <a:pt x="25" y="56"/>
                    <a:pt x="25" y="58"/>
                  </a:cubicBezTo>
                  <a:cubicBezTo>
                    <a:pt x="24" y="61"/>
                    <a:pt x="24" y="64"/>
                    <a:pt x="24" y="66"/>
                  </a:cubicBezTo>
                  <a:cubicBezTo>
                    <a:pt x="24" y="69"/>
                    <a:pt x="24" y="71"/>
                    <a:pt x="25" y="74"/>
                  </a:cubicBezTo>
                  <a:cubicBezTo>
                    <a:pt x="25" y="77"/>
                    <a:pt x="24" y="79"/>
                    <a:pt x="22" y="80"/>
                  </a:cubicBezTo>
                  <a:cubicBezTo>
                    <a:pt x="15" y="84"/>
                    <a:pt x="15" y="84"/>
                    <a:pt x="15" y="84"/>
                  </a:cubicBezTo>
                  <a:cubicBezTo>
                    <a:pt x="25" y="102"/>
                    <a:pt x="25" y="102"/>
                    <a:pt x="25" y="102"/>
                  </a:cubicBezTo>
                  <a:cubicBezTo>
                    <a:pt x="32" y="98"/>
                    <a:pt x="32" y="98"/>
                    <a:pt x="32" y="98"/>
                  </a:cubicBezTo>
                  <a:cubicBezTo>
                    <a:pt x="34" y="97"/>
                    <a:pt x="37" y="97"/>
                    <a:pt x="39" y="99"/>
                  </a:cubicBezTo>
                  <a:cubicBezTo>
                    <a:pt x="43" y="102"/>
                    <a:pt x="48" y="105"/>
                    <a:pt x="53" y="107"/>
                  </a:cubicBezTo>
                  <a:cubicBezTo>
                    <a:pt x="55" y="108"/>
                    <a:pt x="57" y="110"/>
                    <a:pt x="57" y="112"/>
                  </a:cubicBezTo>
                  <a:lnTo>
                    <a:pt x="57"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52" name="Freeform 6">
              <a:extLst>
                <a:ext uri="{FF2B5EF4-FFF2-40B4-BE49-F238E27FC236}">
                  <a16:creationId xmlns:a16="http://schemas.microsoft.com/office/drawing/2014/main" id="{48389517-BA70-BA18-7E56-F2A938B78A8A}"/>
                </a:ext>
              </a:extLst>
            </p:cNvPr>
            <p:cNvSpPr>
              <a:spLocks noEditPoints="1"/>
            </p:cNvSpPr>
            <p:nvPr/>
          </p:nvSpPr>
          <p:spPr bwMode="auto">
            <a:xfrm>
              <a:off x="638" y="726"/>
              <a:ext cx="83" cy="83"/>
            </a:xfrm>
            <a:custGeom>
              <a:avLst/>
              <a:gdLst>
                <a:gd name="T0" fmla="*/ 28 w 56"/>
                <a:gd name="T1" fmla="*/ 56 h 56"/>
                <a:gd name="T2" fmla="*/ 0 w 56"/>
                <a:gd name="T3" fmla="*/ 28 h 56"/>
                <a:gd name="T4" fmla="*/ 28 w 56"/>
                <a:gd name="T5" fmla="*/ 0 h 56"/>
                <a:gd name="T6" fmla="*/ 56 w 56"/>
                <a:gd name="T7" fmla="*/ 28 h 56"/>
                <a:gd name="T8" fmla="*/ 28 w 56"/>
                <a:gd name="T9" fmla="*/ 56 h 56"/>
                <a:gd name="T10" fmla="*/ 28 w 56"/>
                <a:gd name="T11" fmla="*/ 12 h 56"/>
                <a:gd name="T12" fmla="*/ 12 w 56"/>
                <a:gd name="T13" fmla="*/ 28 h 56"/>
                <a:gd name="T14" fmla="*/ 28 w 56"/>
                <a:gd name="T15" fmla="*/ 44 h 56"/>
                <a:gd name="T16" fmla="*/ 44 w 56"/>
                <a:gd name="T17" fmla="*/ 28 h 56"/>
                <a:gd name="T18" fmla="*/ 28 w 56"/>
                <a:gd name="T19"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56"/>
                  </a:moveTo>
                  <a:cubicBezTo>
                    <a:pt x="12" y="56"/>
                    <a:pt x="0" y="44"/>
                    <a:pt x="0" y="28"/>
                  </a:cubicBezTo>
                  <a:cubicBezTo>
                    <a:pt x="0" y="13"/>
                    <a:pt x="12" y="0"/>
                    <a:pt x="28" y="0"/>
                  </a:cubicBezTo>
                  <a:cubicBezTo>
                    <a:pt x="43" y="0"/>
                    <a:pt x="56" y="13"/>
                    <a:pt x="56" y="28"/>
                  </a:cubicBezTo>
                  <a:cubicBezTo>
                    <a:pt x="56" y="44"/>
                    <a:pt x="43" y="56"/>
                    <a:pt x="28" y="56"/>
                  </a:cubicBezTo>
                  <a:close/>
                  <a:moveTo>
                    <a:pt x="28" y="12"/>
                  </a:moveTo>
                  <a:cubicBezTo>
                    <a:pt x="19" y="12"/>
                    <a:pt x="12" y="20"/>
                    <a:pt x="12" y="28"/>
                  </a:cubicBezTo>
                  <a:cubicBezTo>
                    <a:pt x="12" y="37"/>
                    <a:pt x="19" y="44"/>
                    <a:pt x="28" y="44"/>
                  </a:cubicBezTo>
                  <a:cubicBezTo>
                    <a:pt x="36" y="44"/>
                    <a:pt x="44" y="37"/>
                    <a:pt x="44" y="28"/>
                  </a:cubicBezTo>
                  <a:cubicBezTo>
                    <a:pt x="44" y="20"/>
                    <a:pt x="36" y="12"/>
                    <a:pt x="2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53" name="Freeform 7">
              <a:extLst>
                <a:ext uri="{FF2B5EF4-FFF2-40B4-BE49-F238E27FC236}">
                  <a16:creationId xmlns:a16="http://schemas.microsoft.com/office/drawing/2014/main" id="{F0E39BE4-FF3B-7088-853F-57989E811CA5}"/>
                </a:ext>
              </a:extLst>
            </p:cNvPr>
            <p:cNvSpPr>
              <a:spLocks/>
            </p:cNvSpPr>
            <p:nvPr/>
          </p:nvSpPr>
          <p:spPr bwMode="auto">
            <a:xfrm>
              <a:off x="568" y="442"/>
              <a:ext cx="95" cy="201"/>
            </a:xfrm>
            <a:custGeom>
              <a:avLst/>
              <a:gdLst>
                <a:gd name="T0" fmla="*/ 64 w 64"/>
                <a:gd name="T1" fmla="*/ 136 h 136"/>
                <a:gd name="T2" fmla="*/ 52 w 64"/>
                <a:gd name="T3" fmla="*/ 136 h 136"/>
                <a:gd name="T4" fmla="*/ 0 w 64"/>
                <a:gd name="T5" fmla="*/ 8 h 136"/>
                <a:gd name="T6" fmla="*/ 9 w 64"/>
                <a:gd name="T7" fmla="*/ 0 h 136"/>
                <a:gd name="T8" fmla="*/ 64 w 64"/>
                <a:gd name="T9" fmla="*/ 136 h 136"/>
              </a:gdLst>
              <a:ahLst/>
              <a:cxnLst>
                <a:cxn ang="0">
                  <a:pos x="T0" y="T1"/>
                </a:cxn>
                <a:cxn ang="0">
                  <a:pos x="T2" y="T3"/>
                </a:cxn>
                <a:cxn ang="0">
                  <a:pos x="T4" y="T5"/>
                </a:cxn>
                <a:cxn ang="0">
                  <a:pos x="T6" y="T7"/>
                </a:cxn>
                <a:cxn ang="0">
                  <a:pos x="T8" y="T9"/>
                </a:cxn>
              </a:cxnLst>
              <a:rect l="0" t="0" r="r" b="b"/>
              <a:pathLst>
                <a:path w="64" h="136">
                  <a:moveTo>
                    <a:pt x="64" y="136"/>
                  </a:moveTo>
                  <a:cubicBezTo>
                    <a:pt x="52" y="136"/>
                    <a:pt x="52" y="136"/>
                    <a:pt x="52" y="136"/>
                  </a:cubicBezTo>
                  <a:cubicBezTo>
                    <a:pt x="52" y="90"/>
                    <a:pt x="34" y="46"/>
                    <a:pt x="0" y="8"/>
                  </a:cubicBezTo>
                  <a:cubicBezTo>
                    <a:pt x="9" y="0"/>
                    <a:pt x="9" y="0"/>
                    <a:pt x="9" y="0"/>
                  </a:cubicBezTo>
                  <a:cubicBezTo>
                    <a:pt x="45" y="40"/>
                    <a:pt x="64" y="86"/>
                    <a:pt x="64" y="1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54" name="Freeform 8">
              <a:extLst>
                <a:ext uri="{FF2B5EF4-FFF2-40B4-BE49-F238E27FC236}">
                  <a16:creationId xmlns:a16="http://schemas.microsoft.com/office/drawing/2014/main" id="{5DEC2380-3865-9321-D94D-8D82926552CF}"/>
                </a:ext>
              </a:extLst>
            </p:cNvPr>
            <p:cNvSpPr>
              <a:spLocks/>
            </p:cNvSpPr>
            <p:nvPr/>
          </p:nvSpPr>
          <p:spPr bwMode="auto">
            <a:xfrm>
              <a:off x="379" y="741"/>
              <a:ext cx="195" cy="18"/>
            </a:xfrm>
            <a:custGeom>
              <a:avLst/>
              <a:gdLst>
                <a:gd name="T0" fmla="*/ 126 w 132"/>
                <a:gd name="T1" fmla="*/ 12 h 12"/>
                <a:gd name="T2" fmla="*/ 6 w 132"/>
                <a:gd name="T3" fmla="*/ 12 h 12"/>
                <a:gd name="T4" fmla="*/ 0 w 132"/>
                <a:gd name="T5" fmla="*/ 6 h 12"/>
                <a:gd name="T6" fmla="*/ 6 w 132"/>
                <a:gd name="T7" fmla="*/ 0 h 12"/>
                <a:gd name="T8" fmla="*/ 126 w 132"/>
                <a:gd name="T9" fmla="*/ 0 h 12"/>
                <a:gd name="T10" fmla="*/ 132 w 132"/>
                <a:gd name="T11" fmla="*/ 6 h 12"/>
                <a:gd name="T12" fmla="*/ 126 w 13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32" h="12">
                  <a:moveTo>
                    <a:pt x="126" y="12"/>
                  </a:moveTo>
                  <a:cubicBezTo>
                    <a:pt x="6" y="12"/>
                    <a:pt x="6" y="12"/>
                    <a:pt x="6" y="12"/>
                  </a:cubicBezTo>
                  <a:cubicBezTo>
                    <a:pt x="3" y="12"/>
                    <a:pt x="0" y="9"/>
                    <a:pt x="0" y="6"/>
                  </a:cubicBezTo>
                  <a:cubicBezTo>
                    <a:pt x="0" y="3"/>
                    <a:pt x="3" y="0"/>
                    <a:pt x="6" y="0"/>
                  </a:cubicBezTo>
                  <a:cubicBezTo>
                    <a:pt x="126" y="0"/>
                    <a:pt x="126" y="0"/>
                    <a:pt x="126" y="0"/>
                  </a:cubicBezTo>
                  <a:cubicBezTo>
                    <a:pt x="130" y="0"/>
                    <a:pt x="132" y="3"/>
                    <a:pt x="132" y="6"/>
                  </a:cubicBezTo>
                  <a:cubicBezTo>
                    <a:pt x="132" y="9"/>
                    <a:pt x="130" y="12"/>
                    <a:pt x="12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55" name="Rectangle 9">
              <a:extLst>
                <a:ext uri="{FF2B5EF4-FFF2-40B4-BE49-F238E27FC236}">
                  <a16:creationId xmlns:a16="http://schemas.microsoft.com/office/drawing/2014/main" id="{38A2FFF0-DE6A-2C89-85D8-B3FDD7EE4D8C}"/>
                </a:ext>
              </a:extLst>
            </p:cNvPr>
            <p:cNvSpPr>
              <a:spLocks noChangeArrowheads="1"/>
            </p:cNvSpPr>
            <p:nvPr/>
          </p:nvSpPr>
          <p:spPr bwMode="auto">
            <a:xfrm>
              <a:off x="395" y="528"/>
              <a:ext cx="339"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56" name="Freeform 10">
              <a:extLst>
                <a:ext uri="{FF2B5EF4-FFF2-40B4-BE49-F238E27FC236}">
                  <a16:creationId xmlns:a16="http://schemas.microsoft.com/office/drawing/2014/main" id="{E8D80965-76B3-30BA-3F32-C627546132B2}"/>
                </a:ext>
              </a:extLst>
            </p:cNvPr>
            <p:cNvSpPr>
              <a:spLocks noEditPoints="1"/>
            </p:cNvSpPr>
            <p:nvPr/>
          </p:nvSpPr>
          <p:spPr bwMode="auto">
            <a:xfrm>
              <a:off x="352" y="439"/>
              <a:ext cx="427" cy="426"/>
            </a:xfrm>
            <a:custGeom>
              <a:avLst/>
              <a:gdLst>
                <a:gd name="T0" fmla="*/ 137 w 288"/>
                <a:gd name="T1" fmla="*/ 288 h 288"/>
                <a:gd name="T2" fmla="*/ 136 w 288"/>
                <a:gd name="T3" fmla="*/ 288 h 288"/>
                <a:gd name="T4" fmla="*/ 131 w 288"/>
                <a:gd name="T5" fmla="*/ 288 h 288"/>
                <a:gd name="T6" fmla="*/ 0 w 288"/>
                <a:gd name="T7" fmla="*/ 141 h 288"/>
                <a:gd name="T8" fmla="*/ 0 w 288"/>
                <a:gd name="T9" fmla="*/ 138 h 288"/>
                <a:gd name="T10" fmla="*/ 0 w 288"/>
                <a:gd name="T11" fmla="*/ 138 h 288"/>
                <a:gd name="T12" fmla="*/ 0 w 288"/>
                <a:gd name="T13" fmla="*/ 138 h 288"/>
                <a:gd name="T14" fmla="*/ 134 w 288"/>
                <a:gd name="T15" fmla="*/ 1 h 288"/>
                <a:gd name="T16" fmla="*/ 136 w 288"/>
                <a:gd name="T17" fmla="*/ 0 h 288"/>
                <a:gd name="T18" fmla="*/ 138 w 288"/>
                <a:gd name="T19" fmla="*/ 0 h 288"/>
                <a:gd name="T20" fmla="*/ 144 w 288"/>
                <a:gd name="T21" fmla="*/ 0 h 288"/>
                <a:gd name="T22" fmla="*/ 288 w 288"/>
                <a:gd name="T23" fmla="*/ 131 h 288"/>
                <a:gd name="T24" fmla="*/ 288 w 288"/>
                <a:gd name="T25" fmla="*/ 132 h 288"/>
                <a:gd name="T26" fmla="*/ 288 w 288"/>
                <a:gd name="T27" fmla="*/ 138 h 288"/>
                <a:gd name="T28" fmla="*/ 282 w 288"/>
                <a:gd name="T29" fmla="*/ 144 h 288"/>
                <a:gd name="T30" fmla="*/ 88 w 288"/>
                <a:gd name="T31" fmla="*/ 144 h 288"/>
                <a:gd name="T32" fmla="*/ 142 w 288"/>
                <a:gd name="T33" fmla="*/ 279 h 288"/>
                <a:gd name="T34" fmla="*/ 142 w 288"/>
                <a:gd name="T35" fmla="*/ 285 h 288"/>
                <a:gd name="T36" fmla="*/ 137 w 288"/>
                <a:gd name="T37" fmla="*/ 288 h 288"/>
                <a:gd name="T38" fmla="*/ 12 w 288"/>
                <a:gd name="T39" fmla="*/ 144 h 288"/>
                <a:gd name="T40" fmla="*/ 124 w 288"/>
                <a:gd name="T41" fmla="*/ 275 h 288"/>
                <a:gd name="T42" fmla="*/ 77 w 288"/>
                <a:gd name="T43" fmla="*/ 144 h 288"/>
                <a:gd name="T44" fmla="*/ 12 w 288"/>
                <a:gd name="T45" fmla="*/ 144 h 288"/>
                <a:gd name="T46" fmla="*/ 88 w 288"/>
                <a:gd name="T47" fmla="*/ 132 h 288"/>
                <a:gd name="T48" fmla="*/ 276 w 288"/>
                <a:gd name="T49" fmla="*/ 132 h 288"/>
                <a:gd name="T50" fmla="*/ 276 w 288"/>
                <a:gd name="T51" fmla="*/ 132 h 288"/>
                <a:gd name="T52" fmla="*/ 144 w 288"/>
                <a:gd name="T53" fmla="*/ 12 h 288"/>
                <a:gd name="T54" fmla="*/ 138 w 288"/>
                <a:gd name="T55" fmla="*/ 12 h 288"/>
                <a:gd name="T56" fmla="*/ 138 w 288"/>
                <a:gd name="T57" fmla="*/ 12 h 288"/>
                <a:gd name="T58" fmla="*/ 88 w 288"/>
                <a:gd name="T59" fmla="*/ 132 h 288"/>
                <a:gd name="T60" fmla="*/ 12 w 288"/>
                <a:gd name="T61" fmla="*/ 132 h 288"/>
                <a:gd name="T62" fmla="*/ 77 w 288"/>
                <a:gd name="T63" fmla="*/ 132 h 288"/>
                <a:gd name="T64" fmla="*/ 121 w 288"/>
                <a:gd name="T65" fmla="*/ 14 h 288"/>
                <a:gd name="T66" fmla="*/ 12 w 288"/>
                <a:gd name="T67" fmla="*/ 13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8" h="288">
                  <a:moveTo>
                    <a:pt x="137" y="288"/>
                  </a:moveTo>
                  <a:cubicBezTo>
                    <a:pt x="137" y="288"/>
                    <a:pt x="137" y="288"/>
                    <a:pt x="136" y="288"/>
                  </a:cubicBezTo>
                  <a:cubicBezTo>
                    <a:pt x="131" y="288"/>
                    <a:pt x="131" y="288"/>
                    <a:pt x="131" y="288"/>
                  </a:cubicBezTo>
                  <a:cubicBezTo>
                    <a:pt x="57" y="281"/>
                    <a:pt x="0" y="217"/>
                    <a:pt x="0" y="141"/>
                  </a:cubicBezTo>
                  <a:cubicBezTo>
                    <a:pt x="0" y="140"/>
                    <a:pt x="0" y="139"/>
                    <a:pt x="0" y="138"/>
                  </a:cubicBezTo>
                  <a:cubicBezTo>
                    <a:pt x="0" y="138"/>
                    <a:pt x="0" y="138"/>
                    <a:pt x="0" y="138"/>
                  </a:cubicBezTo>
                  <a:cubicBezTo>
                    <a:pt x="0" y="138"/>
                    <a:pt x="0" y="138"/>
                    <a:pt x="0" y="138"/>
                  </a:cubicBezTo>
                  <a:cubicBezTo>
                    <a:pt x="2" y="63"/>
                    <a:pt x="59" y="5"/>
                    <a:pt x="134" y="1"/>
                  </a:cubicBezTo>
                  <a:cubicBezTo>
                    <a:pt x="135" y="0"/>
                    <a:pt x="135" y="0"/>
                    <a:pt x="136" y="0"/>
                  </a:cubicBezTo>
                  <a:cubicBezTo>
                    <a:pt x="137" y="0"/>
                    <a:pt x="137" y="0"/>
                    <a:pt x="138" y="0"/>
                  </a:cubicBezTo>
                  <a:cubicBezTo>
                    <a:pt x="140" y="0"/>
                    <a:pt x="142" y="0"/>
                    <a:pt x="144" y="0"/>
                  </a:cubicBezTo>
                  <a:cubicBezTo>
                    <a:pt x="220" y="0"/>
                    <a:pt x="281" y="57"/>
                    <a:pt x="288" y="131"/>
                  </a:cubicBezTo>
                  <a:cubicBezTo>
                    <a:pt x="288" y="132"/>
                    <a:pt x="288" y="132"/>
                    <a:pt x="288" y="132"/>
                  </a:cubicBezTo>
                  <a:cubicBezTo>
                    <a:pt x="288" y="138"/>
                    <a:pt x="288" y="138"/>
                    <a:pt x="288" y="138"/>
                  </a:cubicBezTo>
                  <a:cubicBezTo>
                    <a:pt x="287" y="142"/>
                    <a:pt x="285" y="144"/>
                    <a:pt x="282" y="144"/>
                  </a:cubicBezTo>
                  <a:cubicBezTo>
                    <a:pt x="88" y="144"/>
                    <a:pt x="88" y="144"/>
                    <a:pt x="88" y="144"/>
                  </a:cubicBezTo>
                  <a:cubicBezTo>
                    <a:pt x="90" y="188"/>
                    <a:pt x="108" y="234"/>
                    <a:pt x="142" y="279"/>
                  </a:cubicBezTo>
                  <a:cubicBezTo>
                    <a:pt x="143" y="280"/>
                    <a:pt x="143" y="283"/>
                    <a:pt x="142" y="285"/>
                  </a:cubicBezTo>
                  <a:cubicBezTo>
                    <a:pt x="141" y="287"/>
                    <a:pt x="139" y="288"/>
                    <a:pt x="137" y="288"/>
                  </a:cubicBezTo>
                  <a:close/>
                  <a:moveTo>
                    <a:pt x="12" y="144"/>
                  </a:moveTo>
                  <a:cubicBezTo>
                    <a:pt x="13" y="210"/>
                    <a:pt x="62" y="265"/>
                    <a:pt x="124" y="275"/>
                  </a:cubicBezTo>
                  <a:cubicBezTo>
                    <a:pt x="94" y="232"/>
                    <a:pt x="78" y="187"/>
                    <a:pt x="77" y="144"/>
                  </a:cubicBezTo>
                  <a:lnTo>
                    <a:pt x="12" y="144"/>
                  </a:lnTo>
                  <a:close/>
                  <a:moveTo>
                    <a:pt x="88" y="132"/>
                  </a:moveTo>
                  <a:cubicBezTo>
                    <a:pt x="276" y="132"/>
                    <a:pt x="276" y="132"/>
                    <a:pt x="276" y="132"/>
                  </a:cubicBezTo>
                  <a:cubicBezTo>
                    <a:pt x="276" y="132"/>
                    <a:pt x="276" y="132"/>
                    <a:pt x="276" y="132"/>
                  </a:cubicBezTo>
                  <a:cubicBezTo>
                    <a:pt x="270" y="64"/>
                    <a:pt x="213" y="12"/>
                    <a:pt x="144" y="12"/>
                  </a:cubicBezTo>
                  <a:cubicBezTo>
                    <a:pt x="142" y="12"/>
                    <a:pt x="140" y="12"/>
                    <a:pt x="138" y="12"/>
                  </a:cubicBezTo>
                  <a:cubicBezTo>
                    <a:pt x="138" y="12"/>
                    <a:pt x="138" y="12"/>
                    <a:pt x="138" y="12"/>
                  </a:cubicBezTo>
                  <a:cubicBezTo>
                    <a:pt x="106" y="48"/>
                    <a:pt x="89" y="89"/>
                    <a:pt x="88" y="132"/>
                  </a:cubicBezTo>
                  <a:close/>
                  <a:moveTo>
                    <a:pt x="12" y="132"/>
                  </a:moveTo>
                  <a:cubicBezTo>
                    <a:pt x="77" y="132"/>
                    <a:pt x="77" y="132"/>
                    <a:pt x="77" y="132"/>
                  </a:cubicBezTo>
                  <a:cubicBezTo>
                    <a:pt x="77" y="90"/>
                    <a:pt x="92" y="50"/>
                    <a:pt x="121" y="14"/>
                  </a:cubicBezTo>
                  <a:cubicBezTo>
                    <a:pt x="61" y="24"/>
                    <a:pt x="16" y="72"/>
                    <a:pt x="12" y="1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grpSp>
      <p:grpSp>
        <p:nvGrpSpPr>
          <p:cNvPr id="57" name="Group 47">
            <a:extLst>
              <a:ext uri="{FF2B5EF4-FFF2-40B4-BE49-F238E27FC236}">
                <a16:creationId xmlns:a16="http://schemas.microsoft.com/office/drawing/2014/main" id="{B4DF33AD-552C-ADD6-FDE4-4A003DA829E6}"/>
              </a:ext>
            </a:extLst>
          </p:cNvPr>
          <p:cNvGrpSpPr>
            <a:grpSpLocks noChangeAspect="1"/>
          </p:cNvGrpSpPr>
          <p:nvPr/>
        </p:nvGrpSpPr>
        <p:grpSpPr bwMode="auto">
          <a:xfrm>
            <a:off x="9834060" y="2944181"/>
            <a:ext cx="450525" cy="450525"/>
            <a:chOff x="4473" y="439"/>
            <a:chExt cx="426" cy="426"/>
          </a:xfrm>
          <a:solidFill>
            <a:schemeClr val="tx2"/>
          </a:solidFill>
        </p:grpSpPr>
        <p:sp>
          <p:nvSpPr>
            <p:cNvPr id="58" name="Freeform 48">
              <a:extLst>
                <a:ext uri="{FF2B5EF4-FFF2-40B4-BE49-F238E27FC236}">
                  <a16:creationId xmlns:a16="http://schemas.microsoft.com/office/drawing/2014/main" id="{93D5D678-2450-3C7B-9675-BCB8ABD13E79}"/>
                </a:ext>
              </a:extLst>
            </p:cNvPr>
            <p:cNvSpPr>
              <a:spLocks noEditPoints="1"/>
            </p:cNvSpPr>
            <p:nvPr/>
          </p:nvSpPr>
          <p:spPr bwMode="auto">
            <a:xfrm>
              <a:off x="4473" y="439"/>
              <a:ext cx="426"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224"/>
                    <a:pt x="223" y="288"/>
                    <a:pt x="144" y="288"/>
                  </a:cubicBezTo>
                  <a:close/>
                  <a:moveTo>
                    <a:pt x="144" y="12"/>
                  </a:moveTo>
                  <a:cubicBezTo>
                    <a:pt x="71" y="12"/>
                    <a:pt x="12" y="71"/>
                    <a:pt x="12" y="144"/>
                  </a:cubicBezTo>
                  <a:cubicBezTo>
                    <a:pt x="12" y="217"/>
                    <a:pt x="71" y="276"/>
                    <a:pt x="144" y="276"/>
                  </a:cubicBezTo>
                  <a:cubicBezTo>
                    <a:pt x="216" y="276"/>
                    <a:pt x="276" y="217"/>
                    <a:pt x="276" y="144"/>
                  </a:cubicBezTo>
                  <a:cubicBezTo>
                    <a:pt x="276" y="71"/>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59" name="Freeform 49">
              <a:extLst>
                <a:ext uri="{FF2B5EF4-FFF2-40B4-BE49-F238E27FC236}">
                  <a16:creationId xmlns:a16="http://schemas.microsoft.com/office/drawing/2014/main" id="{42493C1B-4FC0-E1DD-0C46-BC45420A2658}"/>
                </a:ext>
              </a:extLst>
            </p:cNvPr>
            <p:cNvSpPr>
              <a:spLocks/>
            </p:cNvSpPr>
            <p:nvPr/>
          </p:nvSpPr>
          <p:spPr bwMode="auto">
            <a:xfrm>
              <a:off x="4615" y="457"/>
              <a:ext cx="25" cy="43"/>
            </a:xfrm>
            <a:custGeom>
              <a:avLst/>
              <a:gdLst>
                <a:gd name="T0" fmla="*/ 5 w 17"/>
                <a:gd name="T1" fmla="*/ 29 h 29"/>
                <a:gd name="T2" fmla="*/ 0 w 17"/>
                <a:gd name="T3" fmla="*/ 1 h 29"/>
                <a:gd name="T4" fmla="*/ 12 w 17"/>
                <a:gd name="T5" fmla="*/ 0 h 29"/>
                <a:gd name="T6" fmla="*/ 17 w 17"/>
                <a:gd name="T7" fmla="*/ 25 h 29"/>
                <a:gd name="T8" fmla="*/ 5 w 17"/>
                <a:gd name="T9" fmla="*/ 29 h 29"/>
              </a:gdLst>
              <a:ahLst/>
              <a:cxnLst>
                <a:cxn ang="0">
                  <a:pos x="T0" y="T1"/>
                </a:cxn>
                <a:cxn ang="0">
                  <a:pos x="T2" y="T3"/>
                </a:cxn>
                <a:cxn ang="0">
                  <a:pos x="T4" y="T5"/>
                </a:cxn>
                <a:cxn ang="0">
                  <a:pos x="T6" y="T7"/>
                </a:cxn>
                <a:cxn ang="0">
                  <a:pos x="T8" y="T9"/>
                </a:cxn>
              </a:cxnLst>
              <a:rect l="0" t="0" r="r" b="b"/>
              <a:pathLst>
                <a:path w="17" h="29">
                  <a:moveTo>
                    <a:pt x="5" y="29"/>
                  </a:moveTo>
                  <a:cubicBezTo>
                    <a:pt x="3" y="20"/>
                    <a:pt x="1" y="10"/>
                    <a:pt x="0" y="1"/>
                  </a:cubicBezTo>
                  <a:cubicBezTo>
                    <a:pt x="12" y="0"/>
                    <a:pt x="12" y="0"/>
                    <a:pt x="12" y="0"/>
                  </a:cubicBezTo>
                  <a:cubicBezTo>
                    <a:pt x="13" y="9"/>
                    <a:pt x="15" y="17"/>
                    <a:pt x="17" y="25"/>
                  </a:cubicBezTo>
                  <a:lnTo>
                    <a:pt x="5"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60" name="Freeform 50">
              <a:extLst>
                <a:ext uri="{FF2B5EF4-FFF2-40B4-BE49-F238E27FC236}">
                  <a16:creationId xmlns:a16="http://schemas.microsoft.com/office/drawing/2014/main" id="{E6A9F303-531B-E0A2-A2F2-0B31C232F96E}"/>
                </a:ext>
              </a:extLst>
            </p:cNvPr>
            <p:cNvSpPr>
              <a:spLocks/>
            </p:cNvSpPr>
            <p:nvPr/>
          </p:nvSpPr>
          <p:spPr bwMode="auto">
            <a:xfrm>
              <a:off x="4655" y="554"/>
              <a:ext cx="133" cy="94"/>
            </a:xfrm>
            <a:custGeom>
              <a:avLst/>
              <a:gdLst>
                <a:gd name="T0" fmla="*/ 88 w 90"/>
                <a:gd name="T1" fmla="*/ 63 h 63"/>
                <a:gd name="T2" fmla="*/ 0 w 90"/>
                <a:gd name="T3" fmla="*/ 7 h 63"/>
                <a:gd name="T4" fmla="*/ 10 w 90"/>
                <a:gd name="T5" fmla="*/ 0 h 63"/>
                <a:gd name="T6" fmla="*/ 90 w 90"/>
                <a:gd name="T7" fmla="*/ 52 h 63"/>
                <a:gd name="T8" fmla="*/ 88 w 90"/>
                <a:gd name="T9" fmla="*/ 63 h 63"/>
              </a:gdLst>
              <a:ahLst/>
              <a:cxnLst>
                <a:cxn ang="0">
                  <a:pos x="T0" y="T1"/>
                </a:cxn>
                <a:cxn ang="0">
                  <a:pos x="T2" y="T3"/>
                </a:cxn>
                <a:cxn ang="0">
                  <a:pos x="T4" y="T5"/>
                </a:cxn>
                <a:cxn ang="0">
                  <a:pos x="T6" y="T7"/>
                </a:cxn>
                <a:cxn ang="0">
                  <a:pos x="T8" y="T9"/>
                </a:cxn>
              </a:cxnLst>
              <a:rect l="0" t="0" r="r" b="b"/>
              <a:pathLst>
                <a:path w="90" h="63">
                  <a:moveTo>
                    <a:pt x="88" y="63"/>
                  </a:moveTo>
                  <a:cubicBezTo>
                    <a:pt x="53" y="56"/>
                    <a:pt x="22" y="36"/>
                    <a:pt x="0" y="7"/>
                  </a:cubicBezTo>
                  <a:cubicBezTo>
                    <a:pt x="10" y="0"/>
                    <a:pt x="10" y="0"/>
                    <a:pt x="10" y="0"/>
                  </a:cubicBezTo>
                  <a:cubicBezTo>
                    <a:pt x="29" y="27"/>
                    <a:pt x="58" y="45"/>
                    <a:pt x="90" y="52"/>
                  </a:cubicBezTo>
                  <a:lnTo>
                    <a:pt x="88"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61" name="Freeform 51">
              <a:extLst>
                <a:ext uri="{FF2B5EF4-FFF2-40B4-BE49-F238E27FC236}">
                  <a16:creationId xmlns:a16="http://schemas.microsoft.com/office/drawing/2014/main" id="{05A8655A-074C-86BE-17E2-53205BDF7AB9}"/>
                </a:ext>
              </a:extLst>
            </p:cNvPr>
            <p:cNvSpPr>
              <a:spLocks/>
            </p:cNvSpPr>
            <p:nvPr/>
          </p:nvSpPr>
          <p:spPr bwMode="auto">
            <a:xfrm>
              <a:off x="4856" y="625"/>
              <a:ext cx="36" cy="26"/>
            </a:xfrm>
            <a:custGeom>
              <a:avLst/>
              <a:gdLst>
                <a:gd name="T0" fmla="*/ 2 w 24"/>
                <a:gd name="T1" fmla="*/ 17 h 17"/>
                <a:gd name="T2" fmla="*/ 0 w 24"/>
                <a:gd name="T3" fmla="*/ 5 h 17"/>
                <a:gd name="T4" fmla="*/ 21 w 24"/>
                <a:gd name="T5" fmla="*/ 0 h 17"/>
                <a:gd name="T6" fmla="*/ 24 w 24"/>
                <a:gd name="T7" fmla="*/ 11 h 17"/>
                <a:gd name="T8" fmla="*/ 2 w 24"/>
                <a:gd name="T9" fmla="*/ 17 h 17"/>
              </a:gdLst>
              <a:ahLst/>
              <a:cxnLst>
                <a:cxn ang="0">
                  <a:pos x="T0" y="T1"/>
                </a:cxn>
                <a:cxn ang="0">
                  <a:pos x="T2" y="T3"/>
                </a:cxn>
                <a:cxn ang="0">
                  <a:pos x="T4" y="T5"/>
                </a:cxn>
                <a:cxn ang="0">
                  <a:pos x="T6" y="T7"/>
                </a:cxn>
                <a:cxn ang="0">
                  <a:pos x="T8" y="T9"/>
                </a:cxn>
              </a:cxnLst>
              <a:rect l="0" t="0" r="r" b="b"/>
              <a:pathLst>
                <a:path w="24" h="17">
                  <a:moveTo>
                    <a:pt x="2" y="17"/>
                  </a:moveTo>
                  <a:cubicBezTo>
                    <a:pt x="0" y="5"/>
                    <a:pt x="0" y="5"/>
                    <a:pt x="0" y="5"/>
                  </a:cubicBezTo>
                  <a:cubicBezTo>
                    <a:pt x="8" y="4"/>
                    <a:pt x="14" y="2"/>
                    <a:pt x="21" y="0"/>
                  </a:cubicBezTo>
                  <a:cubicBezTo>
                    <a:pt x="24" y="11"/>
                    <a:pt x="24" y="11"/>
                    <a:pt x="24" y="11"/>
                  </a:cubicBezTo>
                  <a:cubicBezTo>
                    <a:pt x="17" y="14"/>
                    <a:pt x="10" y="15"/>
                    <a:pt x="2"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62" name="Freeform 52">
              <a:extLst>
                <a:ext uri="{FF2B5EF4-FFF2-40B4-BE49-F238E27FC236}">
                  <a16:creationId xmlns:a16="http://schemas.microsoft.com/office/drawing/2014/main" id="{8932DF05-E130-B95F-C873-A17D89608AD4}"/>
                </a:ext>
              </a:extLst>
            </p:cNvPr>
            <p:cNvSpPr>
              <a:spLocks/>
            </p:cNvSpPr>
            <p:nvPr/>
          </p:nvSpPr>
          <p:spPr bwMode="auto">
            <a:xfrm>
              <a:off x="4631" y="756"/>
              <a:ext cx="123" cy="105"/>
            </a:xfrm>
            <a:custGeom>
              <a:avLst/>
              <a:gdLst>
                <a:gd name="T0" fmla="*/ 6 w 83"/>
                <a:gd name="T1" fmla="*/ 71 h 71"/>
                <a:gd name="T2" fmla="*/ 0 w 83"/>
                <a:gd name="T3" fmla="*/ 60 h 71"/>
                <a:gd name="T4" fmla="*/ 74 w 83"/>
                <a:gd name="T5" fmla="*/ 0 h 71"/>
                <a:gd name="T6" fmla="*/ 83 w 83"/>
                <a:gd name="T7" fmla="*/ 8 h 71"/>
                <a:gd name="T8" fmla="*/ 6 w 83"/>
                <a:gd name="T9" fmla="*/ 71 h 71"/>
              </a:gdLst>
              <a:ahLst/>
              <a:cxnLst>
                <a:cxn ang="0">
                  <a:pos x="T0" y="T1"/>
                </a:cxn>
                <a:cxn ang="0">
                  <a:pos x="T2" y="T3"/>
                </a:cxn>
                <a:cxn ang="0">
                  <a:pos x="T4" y="T5"/>
                </a:cxn>
                <a:cxn ang="0">
                  <a:pos x="T6" y="T7"/>
                </a:cxn>
                <a:cxn ang="0">
                  <a:pos x="T8" y="T9"/>
                </a:cxn>
              </a:cxnLst>
              <a:rect l="0" t="0" r="r" b="b"/>
              <a:pathLst>
                <a:path w="83" h="71">
                  <a:moveTo>
                    <a:pt x="6" y="71"/>
                  </a:moveTo>
                  <a:cubicBezTo>
                    <a:pt x="0" y="60"/>
                    <a:pt x="0" y="60"/>
                    <a:pt x="0" y="60"/>
                  </a:cubicBezTo>
                  <a:cubicBezTo>
                    <a:pt x="28" y="44"/>
                    <a:pt x="53" y="24"/>
                    <a:pt x="74" y="0"/>
                  </a:cubicBezTo>
                  <a:cubicBezTo>
                    <a:pt x="83" y="8"/>
                    <a:pt x="83" y="8"/>
                    <a:pt x="83" y="8"/>
                  </a:cubicBezTo>
                  <a:cubicBezTo>
                    <a:pt x="61" y="33"/>
                    <a:pt x="35" y="54"/>
                    <a:pt x="6"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63" name="Freeform 53">
              <a:extLst>
                <a:ext uri="{FF2B5EF4-FFF2-40B4-BE49-F238E27FC236}">
                  <a16:creationId xmlns:a16="http://schemas.microsoft.com/office/drawing/2014/main" id="{D675FC5A-131E-CBFC-2C56-BA5342EA11D4}"/>
                </a:ext>
              </a:extLst>
            </p:cNvPr>
            <p:cNvSpPr>
              <a:spLocks/>
            </p:cNvSpPr>
            <p:nvPr/>
          </p:nvSpPr>
          <p:spPr bwMode="auto">
            <a:xfrm>
              <a:off x="4773" y="670"/>
              <a:ext cx="42" cy="56"/>
            </a:xfrm>
            <a:custGeom>
              <a:avLst/>
              <a:gdLst>
                <a:gd name="T0" fmla="*/ 10 w 28"/>
                <a:gd name="T1" fmla="*/ 38 h 38"/>
                <a:gd name="T2" fmla="*/ 0 w 28"/>
                <a:gd name="T3" fmla="*/ 31 h 38"/>
                <a:gd name="T4" fmla="*/ 17 w 28"/>
                <a:gd name="T5" fmla="*/ 0 h 38"/>
                <a:gd name="T6" fmla="*/ 28 w 28"/>
                <a:gd name="T7" fmla="*/ 6 h 38"/>
                <a:gd name="T8" fmla="*/ 10 w 28"/>
                <a:gd name="T9" fmla="*/ 38 h 38"/>
              </a:gdLst>
              <a:ahLst/>
              <a:cxnLst>
                <a:cxn ang="0">
                  <a:pos x="T0" y="T1"/>
                </a:cxn>
                <a:cxn ang="0">
                  <a:pos x="T2" y="T3"/>
                </a:cxn>
                <a:cxn ang="0">
                  <a:pos x="T4" y="T5"/>
                </a:cxn>
                <a:cxn ang="0">
                  <a:pos x="T6" y="T7"/>
                </a:cxn>
                <a:cxn ang="0">
                  <a:pos x="T8" y="T9"/>
                </a:cxn>
              </a:cxnLst>
              <a:rect l="0" t="0" r="r" b="b"/>
              <a:pathLst>
                <a:path w="28" h="38">
                  <a:moveTo>
                    <a:pt x="10" y="38"/>
                  </a:moveTo>
                  <a:cubicBezTo>
                    <a:pt x="0" y="31"/>
                    <a:pt x="0" y="31"/>
                    <a:pt x="0" y="31"/>
                  </a:cubicBezTo>
                  <a:cubicBezTo>
                    <a:pt x="6" y="21"/>
                    <a:pt x="13" y="9"/>
                    <a:pt x="17" y="0"/>
                  </a:cubicBezTo>
                  <a:cubicBezTo>
                    <a:pt x="28" y="6"/>
                    <a:pt x="28" y="6"/>
                    <a:pt x="28" y="6"/>
                  </a:cubicBezTo>
                  <a:cubicBezTo>
                    <a:pt x="23" y="15"/>
                    <a:pt x="17" y="27"/>
                    <a:pt x="10"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64" name="Freeform 54">
              <a:extLst>
                <a:ext uri="{FF2B5EF4-FFF2-40B4-BE49-F238E27FC236}">
                  <a16:creationId xmlns:a16="http://schemas.microsoft.com/office/drawing/2014/main" id="{DF995949-B50F-3384-7D7E-77C4E303DFF1}"/>
                </a:ext>
              </a:extLst>
            </p:cNvPr>
            <p:cNvSpPr>
              <a:spLocks/>
            </p:cNvSpPr>
            <p:nvPr/>
          </p:nvSpPr>
          <p:spPr bwMode="auto">
            <a:xfrm>
              <a:off x="4825" y="531"/>
              <a:ext cx="34" cy="81"/>
            </a:xfrm>
            <a:custGeom>
              <a:avLst/>
              <a:gdLst>
                <a:gd name="T0" fmla="*/ 12 w 23"/>
                <a:gd name="T1" fmla="*/ 55 h 55"/>
                <a:gd name="T2" fmla="*/ 0 w 23"/>
                <a:gd name="T3" fmla="*/ 51 h 55"/>
                <a:gd name="T4" fmla="*/ 11 w 23"/>
                <a:gd name="T5" fmla="*/ 0 h 55"/>
                <a:gd name="T6" fmla="*/ 23 w 23"/>
                <a:gd name="T7" fmla="*/ 2 h 55"/>
                <a:gd name="T8" fmla="*/ 12 w 23"/>
                <a:gd name="T9" fmla="*/ 55 h 55"/>
              </a:gdLst>
              <a:ahLst/>
              <a:cxnLst>
                <a:cxn ang="0">
                  <a:pos x="T0" y="T1"/>
                </a:cxn>
                <a:cxn ang="0">
                  <a:pos x="T2" y="T3"/>
                </a:cxn>
                <a:cxn ang="0">
                  <a:pos x="T4" y="T5"/>
                </a:cxn>
                <a:cxn ang="0">
                  <a:pos x="T6" y="T7"/>
                </a:cxn>
                <a:cxn ang="0">
                  <a:pos x="T8" y="T9"/>
                </a:cxn>
              </a:cxnLst>
              <a:rect l="0" t="0" r="r" b="b"/>
              <a:pathLst>
                <a:path w="23" h="55">
                  <a:moveTo>
                    <a:pt x="12" y="55"/>
                  </a:moveTo>
                  <a:cubicBezTo>
                    <a:pt x="0" y="51"/>
                    <a:pt x="0" y="51"/>
                    <a:pt x="0" y="51"/>
                  </a:cubicBezTo>
                  <a:cubicBezTo>
                    <a:pt x="5" y="34"/>
                    <a:pt x="9" y="18"/>
                    <a:pt x="11" y="0"/>
                  </a:cubicBezTo>
                  <a:cubicBezTo>
                    <a:pt x="23" y="2"/>
                    <a:pt x="23" y="2"/>
                    <a:pt x="23" y="2"/>
                  </a:cubicBezTo>
                  <a:cubicBezTo>
                    <a:pt x="21" y="20"/>
                    <a:pt x="17" y="37"/>
                    <a:pt x="12"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65" name="Freeform 55">
              <a:extLst>
                <a:ext uri="{FF2B5EF4-FFF2-40B4-BE49-F238E27FC236}">
                  <a16:creationId xmlns:a16="http://schemas.microsoft.com/office/drawing/2014/main" id="{942AD1DE-B2EA-3BE1-7F08-EE81E1F6AEB9}"/>
                </a:ext>
              </a:extLst>
            </p:cNvPr>
            <p:cNvSpPr>
              <a:spLocks/>
            </p:cNvSpPr>
            <p:nvPr/>
          </p:nvSpPr>
          <p:spPr bwMode="auto">
            <a:xfrm>
              <a:off x="4492" y="714"/>
              <a:ext cx="50" cy="28"/>
            </a:xfrm>
            <a:custGeom>
              <a:avLst/>
              <a:gdLst>
                <a:gd name="T0" fmla="*/ 31 w 34"/>
                <a:gd name="T1" fmla="*/ 19 h 19"/>
                <a:gd name="T2" fmla="*/ 26 w 34"/>
                <a:gd name="T3" fmla="*/ 18 h 19"/>
                <a:gd name="T4" fmla="*/ 0 w 34"/>
                <a:gd name="T5" fmla="*/ 11 h 19"/>
                <a:gd name="T6" fmla="*/ 3 w 34"/>
                <a:gd name="T7" fmla="*/ 0 h 19"/>
                <a:gd name="T8" fmla="*/ 29 w 34"/>
                <a:gd name="T9" fmla="*/ 7 h 19"/>
                <a:gd name="T10" fmla="*/ 34 w 34"/>
                <a:gd name="T11" fmla="*/ 8 h 19"/>
                <a:gd name="T12" fmla="*/ 31 w 34"/>
                <a:gd name="T13" fmla="*/ 19 h 19"/>
              </a:gdLst>
              <a:ahLst/>
              <a:cxnLst>
                <a:cxn ang="0">
                  <a:pos x="T0" y="T1"/>
                </a:cxn>
                <a:cxn ang="0">
                  <a:pos x="T2" y="T3"/>
                </a:cxn>
                <a:cxn ang="0">
                  <a:pos x="T4" y="T5"/>
                </a:cxn>
                <a:cxn ang="0">
                  <a:pos x="T6" y="T7"/>
                </a:cxn>
                <a:cxn ang="0">
                  <a:pos x="T8" y="T9"/>
                </a:cxn>
                <a:cxn ang="0">
                  <a:pos x="T10" y="T11"/>
                </a:cxn>
                <a:cxn ang="0">
                  <a:pos x="T12" y="T13"/>
                </a:cxn>
              </a:cxnLst>
              <a:rect l="0" t="0" r="r" b="b"/>
              <a:pathLst>
                <a:path w="34" h="19">
                  <a:moveTo>
                    <a:pt x="31" y="19"/>
                  </a:moveTo>
                  <a:cubicBezTo>
                    <a:pt x="26" y="18"/>
                    <a:pt x="26" y="18"/>
                    <a:pt x="26" y="18"/>
                  </a:cubicBezTo>
                  <a:cubicBezTo>
                    <a:pt x="18" y="16"/>
                    <a:pt x="8" y="14"/>
                    <a:pt x="0" y="11"/>
                  </a:cubicBezTo>
                  <a:cubicBezTo>
                    <a:pt x="3" y="0"/>
                    <a:pt x="3" y="0"/>
                    <a:pt x="3" y="0"/>
                  </a:cubicBezTo>
                  <a:cubicBezTo>
                    <a:pt x="11" y="2"/>
                    <a:pt x="21" y="5"/>
                    <a:pt x="29" y="7"/>
                  </a:cubicBezTo>
                  <a:cubicBezTo>
                    <a:pt x="34" y="8"/>
                    <a:pt x="34" y="8"/>
                    <a:pt x="34" y="8"/>
                  </a:cubicBezTo>
                  <a:lnTo>
                    <a:pt x="31"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66" name="Freeform 56">
              <a:extLst>
                <a:ext uri="{FF2B5EF4-FFF2-40B4-BE49-F238E27FC236}">
                  <a16:creationId xmlns:a16="http://schemas.microsoft.com/office/drawing/2014/main" id="{8CA16BB3-EFC3-99E5-8817-65F4B9234E50}"/>
                </a:ext>
              </a:extLst>
            </p:cNvPr>
            <p:cNvSpPr>
              <a:spLocks/>
            </p:cNvSpPr>
            <p:nvPr/>
          </p:nvSpPr>
          <p:spPr bwMode="auto">
            <a:xfrm>
              <a:off x="4572" y="732"/>
              <a:ext cx="86" cy="27"/>
            </a:xfrm>
            <a:custGeom>
              <a:avLst/>
              <a:gdLst>
                <a:gd name="T0" fmla="*/ 58 w 58"/>
                <a:gd name="T1" fmla="*/ 18 h 18"/>
                <a:gd name="T2" fmla="*/ 0 w 58"/>
                <a:gd name="T3" fmla="*/ 12 h 18"/>
                <a:gd name="T4" fmla="*/ 2 w 58"/>
                <a:gd name="T5" fmla="*/ 0 h 18"/>
                <a:gd name="T6" fmla="*/ 58 w 58"/>
                <a:gd name="T7" fmla="*/ 6 h 18"/>
                <a:gd name="T8" fmla="*/ 58 w 58"/>
                <a:gd name="T9" fmla="*/ 18 h 18"/>
              </a:gdLst>
              <a:ahLst/>
              <a:cxnLst>
                <a:cxn ang="0">
                  <a:pos x="T0" y="T1"/>
                </a:cxn>
                <a:cxn ang="0">
                  <a:pos x="T2" y="T3"/>
                </a:cxn>
                <a:cxn ang="0">
                  <a:pos x="T4" y="T5"/>
                </a:cxn>
                <a:cxn ang="0">
                  <a:pos x="T6" y="T7"/>
                </a:cxn>
                <a:cxn ang="0">
                  <a:pos x="T8" y="T9"/>
                </a:cxn>
              </a:cxnLst>
              <a:rect l="0" t="0" r="r" b="b"/>
              <a:pathLst>
                <a:path w="58" h="18">
                  <a:moveTo>
                    <a:pt x="58" y="18"/>
                  </a:moveTo>
                  <a:cubicBezTo>
                    <a:pt x="38" y="18"/>
                    <a:pt x="20" y="16"/>
                    <a:pt x="0" y="12"/>
                  </a:cubicBezTo>
                  <a:cubicBezTo>
                    <a:pt x="2" y="0"/>
                    <a:pt x="2" y="0"/>
                    <a:pt x="2" y="0"/>
                  </a:cubicBezTo>
                  <a:cubicBezTo>
                    <a:pt x="21" y="4"/>
                    <a:pt x="40" y="6"/>
                    <a:pt x="58" y="6"/>
                  </a:cubicBezTo>
                  <a:lnTo>
                    <a:pt x="58"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67" name="Freeform 57">
              <a:extLst>
                <a:ext uri="{FF2B5EF4-FFF2-40B4-BE49-F238E27FC236}">
                  <a16:creationId xmlns:a16="http://schemas.microsoft.com/office/drawing/2014/main" id="{51F23D31-8253-0648-1F6F-E916E4E1A6A9}"/>
                </a:ext>
              </a:extLst>
            </p:cNvPr>
            <p:cNvSpPr>
              <a:spLocks/>
            </p:cNvSpPr>
            <p:nvPr/>
          </p:nvSpPr>
          <p:spPr bwMode="auto">
            <a:xfrm>
              <a:off x="4711" y="741"/>
              <a:ext cx="28" cy="18"/>
            </a:xfrm>
            <a:custGeom>
              <a:avLst/>
              <a:gdLst>
                <a:gd name="T0" fmla="*/ 1 w 19"/>
                <a:gd name="T1" fmla="*/ 12 h 12"/>
                <a:gd name="T2" fmla="*/ 0 w 19"/>
                <a:gd name="T3" fmla="*/ 0 h 12"/>
                <a:gd name="T4" fmla="*/ 18 w 19"/>
                <a:gd name="T5" fmla="*/ 0 h 12"/>
                <a:gd name="T6" fmla="*/ 19 w 19"/>
                <a:gd name="T7" fmla="*/ 11 h 12"/>
                <a:gd name="T8" fmla="*/ 1 w 19"/>
                <a:gd name="T9" fmla="*/ 12 h 12"/>
              </a:gdLst>
              <a:ahLst/>
              <a:cxnLst>
                <a:cxn ang="0">
                  <a:pos x="T0" y="T1"/>
                </a:cxn>
                <a:cxn ang="0">
                  <a:pos x="T2" y="T3"/>
                </a:cxn>
                <a:cxn ang="0">
                  <a:pos x="T4" y="T5"/>
                </a:cxn>
                <a:cxn ang="0">
                  <a:pos x="T6" y="T7"/>
                </a:cxn>
                <a:cxn ang="0">
                  <a:pos x="T8" y="T9"/>
                </a:cxn>
              </a:cxnLst>
              <a:rect l="0" t="0" r="r" b="b"/>
              <a:pathLst>
                <a:path w="19" h="12">
                  <a:moveTo>
                    <a:pt x="1" y="12"/>
                  </a:moveTo>
                  <a:cubicBezTo>
                    <a:pt x="0" y="0"/>
                    <a:pt x="0" y="0"/>
                    <a:pt x="0" y="0"/>
                  </a:cubicBezTo>
                  <a:cubicBezTo>
                    <a:pt x="7" y="0"/>
                    <a:pt x="12" y="0"/>
                    <a:pt x="18" y="0"/>
                  </a:cubicBezTo>
                  <a:cubicBezTo>
                    <a:pt x="19" y="11"/>
                    <a:pt x="19" y="11"/>
                    <a:pt x="19" y="11"/>
                  </a:cubicBezTo>
                  <a:cubicBezTo>
                    <a:pt x="13" y="12"/>
                    <a:pt x="7" y="12"/>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68" name="Freeform 58">
              <a:extLst>
                <a:ext uri="{FF2B5EF4-FFF2-40B4-BE49-F238E27FC236}">
                  <a16:creationId xmlns:a16="http://schemas.microsoft.com/office/drawing/2014/main" id="{C30006BB-0071-696C-CF6E-2551EBEBF21D}"/>
                </a:ext>
              </a:extLst>
            </p:cNvPr>
            <p:cNvSpPr>
              <a:spLocks/>
            </p:cNvSpPr>
            <p:nvPr/>
          </p:nvSpPr>
          <p:spPr bwMode="auto">
            <a:xfrm>
              <a:off x="4790" y="717"/>
              <a:ext cx="85" cy="36"/>
            </a:xfrm>
            <a:custGeom>
              <a:avLst/>
              <a:gdLst>
                <a:gd name="T0" fmla="*/ 1 w 58"/>
                <a:gd name="T1" fmla="*/ 24 h 24"/>
                <a:gd name="T2" fmla="*/ 0 w 58"/>
                <a:gd name="T3" fmla="*/ 12 h 24"/>
                <a:gd name="T4" fmla="*/ 55 w 58"/>
                <a:gd name="T5" fmla="*/ 0 h 24"/>
                <a:gd name="T6" fmla="*/ 58 w 58"/>
                <a:gd name="T7" fmla="*/ 12 h 24"/>
                <a:gd name="T8" fmla="*/ 1 w 58"/>
                <a:gd name="T9" fmla="*/ 24 h 24"/>
              </a:gdLst>
              <a:ahLst/>
              <a:cxnLst>
                <a:cxn ang="0">
                  <a:pos x="T0" y="T1"/>
                </a:cxn>
                <a:cxn ang="0">
                  <a:pos x="T2" y="T3"/>
                </a:cxn>
                <a:cxn ang="0">
                  <a:pos x="T4" y="T5"/>
                </a:cxn>
                <a:cxn ang="0">
                  <a:pos x="T6" y="T7"/>
                </a:cxn>
                <a:cxn ang="0">
                  <a:pos x="T8" y="T9"/>
                </a:cxn>
              </a:cxnLst>
              <a:rect l="0" t="0" r="r" b="b"/>
              <a:pathLst>
                <a:path w="58" h="24">
                  <a:moveTo>
                    <a:pt x="1" y="24"/>
                  </a:moveTo>
                  <a:cubicBezTo>
                    <a:pt x="0" y="12"/>
                    <a:pt x="0" y="12"/>
                    <a:pt x="0" y="12"/>
                  </a:cubicBezTo>
                  <a:cubicBezTo>
                    <a:pt x="19" y="9"/>
                    <a:pt x="37" y="6"/>
                    <a:pt x="55" y="0"/>
                  </a:cubicBezTo>
                  <a:cubicBezTo>
                    <a:pt x="58" y="12"/>
                    <a:pt x="58" y="12"/>
                    <a:pt x="58" y="12"/>
                  </a:cubicBezTo>
                  <a:cubicBezTo>
                    <a:pt x="39" y="17"/>
                    <a:pt x="21" y="21"/>
                    <a:pt x="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69" name="Freeform 59">
              <a:extLst>
                <a:ext uri="{FF2B5EF4-FFF2-40B4-BE49-F238E27FC236}">
                  <a16:creationId xmlns:a16="http://schemas.microsoft.com/office/drawing/2014/main" id="{AB80B332-73BA-6A9E-BD32-A7B4F2ED3BED}"/>
                </a:ext>
              </a:extLst>
            </p:cNvPr>
            <p:cNvSpPr>
              <a:spLocks/>
            </p:cNvSpPr>
            <p:nvPr/>
          </p:nvSpPr>
          <p:spPr bwMode="auto">
            <a:xfrm>
              <a:off x="4544" y="492"/>
              <a:ext cx="67" cy="42"/>
            </a:xfrm>
            <a:custGeom>
              <a:avLst/>
              <a:gdLst>
                <a:gd name="T0" fmla="*/ 42 w 45"/>
                <a:gd name="T1" fmla="*/ 28 h 28"/>
                <a:gd name="T2" fmla="*/ 38 w 45"/>
                <a:gd name="T3" fmla="*/ 27 h 28"/>
                <a:gd name="T4" fmla="*/ 0 w 45"/>
                <a:gd name="T5" fmla="*/ 10 h 28"/>
                <a:gd name="T6" fmla="*/ 6 w 45"/>
                <a:gd name="T7" fmla="*/ 0 h 28"/>
                <a:gd name="T8" fmla="*/ 41 w 45"/>
                <a:gd name="T9" fmla="*/ 15 h 28"/>
                <a:gd name="T10" fmla="*/ 45 w 45"/>
                <a:gd name="T11" fmla="*/ 16 h 28"/>
                <a:gd name="T12" fmla="*/ 42 w 45"/>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45" h="28">
                  <a:moveTo>
                    <a:pt x="42" y="28"/>
                  </a:moveTo>
                  <a:cubicBezTo>
                    <a:pt x="41" y="28"/>
                    <a:pt x="39" y="27"/>
                    <a:pt x="38" y="27"/>
                  </a:cubicBezTo>
                  <a:cubicBezTo>
                    <a:pt x="24" y="23"/>
                    <a:pt x="12" y="17"/>
                    <a:pt x="0" y="10"/>
                  </a:cubicBezTo>
                  <a:cubicBezTo>
                    <a:pt x="6" y="0"/>
                    <a:pt x="6" y="0"/>
                    <a:pt x="6" y="0"/>
                  </a:cubicBezTo>
                  <a:cubicBezTo>
                    <a:pt x="17" y="7"/>
                    <a:pt x="29" y="12"/>
                    <a:pt x="41" y="15"/>
                  </a:cubicBezTo>
                  <a:cubicBezTo>
                    <a:pt x="42" y="16"/>
                    <a:pt x="44" y="16"/>
                    <a:pt x="45" y="16"/>
                  </a:cubicBezTo>
                  <a:lnTo>
                    <a:pt x="42"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70" name="Freeform 60">
              <a:extLst>
                <a:ext uri="{FF2B5EF4-FFF2-40B4-BE49-F238E27FC236}">
                  <a16:creationId xmlns:a16="http://schemas.microsoft.com/office/drawing/2014/main" id="{9F108DBD-9FB2-A70B-9140-555699EBCDA8}"/>
                </a:ext>
              </a:extLst>
            </p:cNvPr>
            <p:cNvSpPr>
              <a:spLocks/>
            </p:cNvSpPr>
            <p:nvPr/>
          </p:nvSpPr>
          <p:spPr bwMode="auto">
            <a:xfrm>
              <a:off x="4679" y="473"/>
              <a:ext cx="120" cy="65"/>
            </a:xfrm>
            <a:custGeom>
              <a:avLst/>
              <a:gdLst>
                <a:gd name="T0" fmla="*/ 2 w 81"/>
                <a:gd name="T1" fmla="*/ 44 h 44"/>
                <a:gd name="T2" fmla="*/ 0 w 81"/>
                <a:gd name="T3" fmla="*/ 32 h 44"/>
                <a:gd name="T4" fmla="*/ 74 w 81"/>
                <a:gd name="T5" fmla="*/ 0 h 44"/>
                <a:gd name="T6" fmla="*/ 81 w 81"/>
                <a:gd name="T7" fmla="*/ 9 h 44"/>
                <a:gd name="T8" fmla="*/ 2 w 81"/>
                <a:gd name="T9" fmla="*/ 44 h 44"/>
              </a:gdLst>
              <a:ahLst/>
              <a:cxnLst>
                <a:cxn ang="0">
                  <a:pos x="T0" y="T1"/>
                </a:cxn>
                <a:cxn ang="0">
                  <a:pos x="T2" y="T3"/>
                </a:cxn>
                <a:cxn ang="0">
                  <a:pos x="T4" y="T5"/>
                </a:cxn>
                <a:cxn ang="0">
                  <a:pos x="T6" y="T7"/>
                </a:cxn>
                <a:cxn ang="0">
                  <a:pos x="T8" y="T9"/>
                </a:cxn>
              </a:cxnLst>
              <a:rect l="0" t="0" r="r" b="b"/>
              <a:pathLst>
                <a:path w="81" h="44">
                  <a:moveTo>
                    <a:pt x="2" y="44"/>
                  </a:moveTo>
                  <a:cubicBezTo>
                    <a:pt x="0" y="32"/>
                    <a:pt x="0" y="32"/>
                    <a:pt x="0" y="32"/>
                  </a:cubicBezTo>
                  <a:cubicBezTo>
                    <a:pt x="27" y="29"/>
                    <a:pt x="53" y="18"/>
                    <a:pt x="74" y="0"/>
                  </a:cubicBezTo>
                  <a:cubicBezTo>
                    <a:pt x="81" y="9"/>
                    <a:pt x="81" y="9"/>
                    <a:pt x="81" y="9"/>
                  </a:cubicBezTo>
                  <a:cubicBezTo>
                    <a:pt x="59" y="28"/>
                    <a:pt x="31" y="41"/>
                    <a:pt x="2"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71" name="Freeform 61">
              <a:extLst>
                <a:ext uri="{FF2B5EF4-FFF2-40B4-BE49-F238E27FC236}">
                  <a16:creationId xmlns:a16="http://schemas.microsoft.com/office/drawing/2014/main" id="{2C56AEC7-1553-590D-3183-319864568733}"/>
                </a:ext>
              </a:extLst>
            </p:cNvPr>
            <p:cNvSpPr>
              <a:spLocks/>
            </p:cNvSpPr>
            <p:nvPr/>
          </p:nvSpPr>
          <p:spPr bwMode="auto">
            <a:xfrm>
              <a:off x="4693" y="766"/>
              <a:ext cx="57" cy="86"/>
            </a:xfrm>
            <a:custGeom>
              <a:avLst/>
              <a:gdLst>
                <a:gd name="T0" fmla="*/ 27 w 38"/>
                <a:gd name="T1" fmla="*/ 58 h 58"/>
                <a:gd name="T2" fmla="*/ 0 w 38"/>
                <a:gd name="T3" fmla="*/ 6 h 58"/>
                <a:gd name="T4" fmla="*/ 10 w 38"/>
                <a:gd name="T5" fmla="*/ 0 h 58"/>
                <a:gd name="T6" fmla="*/ 38 w 38"/>
                <a:gd name="T7" fmla="*/ 54 h 58"/>
                <a:gd name="T8" fmla="*/ 27 w 38"/>
                <a:gd name="T9" fmla="*/ 58 h 58"/>
              </a:gdLst>
              <a:ahLst/>
              <a:cxnLst>
                <a:cxn ang="0">
                  <a:pos x="T0" y="T1"/>
                </a:cxn>
                <a:cxn ang="0">
                  <a:pos x="T2" y="T3"/>
                </a:cxn>
                <a:cxn ang="0">
                  <a:pos x="T4" y="T5"/>
                </a:cxn>
                <a:cxn ang="0">
                  <a:pos x="T6" y="T7"/>
                </a:cxn>
                <a:cxn ang="0">
                  <a:pos x="T8" y="T9"/>
                </a:cxn>
              </a:cxnLst>
              <a:rect l="0" t="0" r="r" b="b"/>
              <a:pathLst>
                <a:path w="38" h="58">
                  <a:moveTo>
                    <a:pt x="27" y="58"/>
                  </a:moveTo>
                  <a:cubicBezTo>
                    <a:pt x="22" y="44"/>
                    <a:pt x="13" y="27"/>
                    <a:pt x="0" y="6"/>
                  </a:cubicBezTo>
                  <a:cubicBezTo>
                    <a:pt x="10" y="0"/>
                    <a:pt x="10" y="0"/>
                    <a:pt x="10" y="0"/>
                  </a:cubicBezTo>
                  <a:cubicBezTo>
                    <a:pt x="24" y="21"/>
                    <a:pt x="33" y="39"/>
                    <a:pt x="38" y="54"/>
                  </a:cubicBezTo>
                  <a:lnTo>
                    <a:pt x="27"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72" name="Freeform 62">
              <a:extLst>
                <a:ext uri="{FF2B5EF4-FFF2-40B4-BE49-F238E27FC236}">
                  <a16:creationId xmlns:a16="http://schemas.microsoft.com/office/drawing/2014/main" id="{93ACB6A1-1B56-BBFF-E401-AC97CFC6129D}"/>
                </a:ext>
              </a:extLst>
            </p:cNvPr>
            <p:cNvSpPr>
              <a:spLocks/>
            </p:cNvSpPr>
            <p:nvPr/>
          </p:nvSpPr>
          <p:spPr bwMode="auto">
            <a:xfrm>
              <a:off x="4602" y="670"/>
              <a:ext cx="74" cy="65"/>
            </a:xfrm>
            <a:custGeom>
              <a:avLst/>
              <a:gdLst>
                <a:gd name="T0" fmla="*/ 41 w 50"/>
                <a:gd name="T1" fmla="*/ 44 h 44"/>
                <a:gd name="T2" fmla="*/ 0 w 50"/>
                <a:gd name="T3" fmla="*/ 10 h 44"/>
                <a:gd name="T4" fmla="*/ 6 w 50"/>
                <a:gd name="T5" fmla="*/ 0 h 44"/>
                <a:gd name="T6" fmla="*/ 50 w 50"/>
                <a:gd name="T7" fmla="*/ 35 h 44"/>
                <a:gd name="T8" fmla="*/ 41 w 50"/>
                <a:gd name="T9" fmla="*/ 44 h 44"/>
              </a:gdLst>
              <a:ahLst/>
              <a:cxnLst>
                <a:cxn ang="0">
                  <a:pos x="T0" y="T1"/>
                </a:cxn>
                <a:cxn ang="0">
                  <a:pos x="T2" y="T3"/>
                </a:cxn>
                <a:cxn ang="0">
                  <a:pos x="T4" y="T5"/>
                </a:cxn>
                <a:cxn ang="0">
                  <a:pos x="T6" y="T7"/>
                </a:cxn>
                <a:cxn ang="0">
                  <a:pos x="T8" y="T9"/>
                </a:cxn>
              </a:cxnLst>
              <a:rect l="0" t="0" r="r" b="b"/>
              <a:pathLst>
                <a:path w="50" h="44">
                  <a:moveTo>
                    <a:pt x="41" y="44"/>
                  </a:moveTo>
                  <a:cubicBezTo>
                    <a:pt x="30" y="33"/>
                    <a:pt x="13" y="18"/>
                    <a:pt x="0" y="10"/>
                  </a:cubicBezTo>
                  <a:cubicBezTo>
                    <a:pt x="6" y="0"/>
                    <a:pt x="6" y="0"/>
                    <a:pt x="6" y="0"/>
                  </a:cubicBezTo>
                  <a:cubicBezTo>
                    <a:pt x="24" y="11"/>
                    <a:pt x="44" y="30"/>
                    <a:pt x="50" y="35"/>
                  </a:cubicBezTo>
                  <a:lnTo>
                    <a:pt x="41"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73" name="Freeform 63">
              <a:extLst>
                <a:ext uri="{FF2B5EF4-FFF2-40B4-BE49-F238E27FC236}">
                  <a16:creationId xmlns:a16="http://schemas.microsoft.com/office/drawing/2014/main" id="{A169DFF2-2446-7D18-EDA2-5AFD185B81E3}"/>
                </a:ext>
              </a:extLst>
            </p:cNvPr>
            <p:cNvSpPr>
              <a:spLocks/>
            </p:cNvSpPr>
            <p:nvPr/>
          </p:nvSpPr>
          <p:spPr bwMode="auto">
            <a:xfrm>
              <a:off x="4482" y="622"/>
              <a:ext cx="62" cy="33"/>
            </a:xfrm>
            <a:custGeom>
              <a:avLst/>
              <a:gdLst>
                <a:gd name="T0" fmla="*/ 38 w 42"/>
                <a:gd name="T1" fmla="*/ 22 h 22"/>
                <a:gd name="T2" fmla="*/ 0 w 42"/>
                <a:gd name="T3" fmla="*/ 12 h 22"/>
                <a:gd name="T4" fmla="*/ 1 w 42"/>
                <a:gd name="T5" fmla="*/ 0 h 22"/>
                <a:gd name="T6" fmla="*/ 42 w 42"/>
                <a:gd name="T7" fmla="*/ 10 h 22"/>
                <a:gd name="T8" fmla="*/ 38 w 42"/>
                <a:gd name="T9" fmla="*/ 22 h 22"/>
              </a:gdLst>
              <a:ahLst/>
              <a:cxnLst>
                <a:cxn ang="0">
                  <a:pos x="T0" y="T1"/>
                </a:cxn>
                <a:cxn ang="0">
                  <a:pos x="T2" y="T3"/>
                </a:cxn>
                <a:cxn ang="0">
                  <a:pos x="T4" y="T5"/>
                </a:cxn>
                <a:cxn ang="0">
                  <a:pos x="T6" y="T7"/>
                </a:cxn>
                <a:cxn ang="0">
                  <a:pos x="T8" y="T9"/>
                </a:cxn>
              </a:cxnLst>
              <a:rect l="0" t="0" r="r" b="b"/>
              <a:pathLst>
                <a:path w="42" h="22">
                  <a:moveTo>
                    <a:pt x="38" y="22"/>
                  </a:moveTo>
                  <a:cubicBezTo>
                    <a:pt x="25" y="17"/>
                    <a:pt x="12" y="14"/>
                    <a:pt x="0" y="12"/>
                  </a:cubicBezTo>
                  <a:cubicBezTo>
                    <a:pt x="1" y="0"/>
                    <a:pt x="1" y="0"/>
                    <a:pt x="1" y="0"/>
                  </a:cubicBezTo>
                  <a:cubicBezTo>
                    <a:pt x="15" y="2"/>
                    <a:pt x="28" y="5"/>
                    <a:pt x="42" y="10"/>
                  </a:cubicBezTo>
                  <a:lnTo>
                    <a:pt x="38"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74" name="Freeform 64">
              <a:extLst>
                <a:ext uri="{FF2B5EF4-FFF2-40B4-BE49-F238E27FC236}">
                  <a16:creationId xmlns:a16="http://schemas.microsoft.com/office/drawing/2014/main" id="{41F80B8A-004D-BB12-6D8A-8A64B40A9CA6}"/>
                </a:ext>
              </a:extLst>
            </p:cNvPr>
            <p:cNvSpPr>
              <a:spLocks/>
            </p:cNvSpPr>
            <p:nvPr/>
          </p:nvSpPr>
          <p:spPr bwMode="auto">
            <a:xfrm>
              <a:off x="4525" y="754"/>
              <a:ext cx="32" cy="39"/>
            </a:xfrm>
            <a:custGeom>
              <a:avLst/>
              <a:gdLst>
                <a:gd name="T0" fmla="*/ 9 w 22"/>
                <a:gd name="T1" fmla="*/ 26 h 26"/>
                <a:gd name="T2" fmla="*/ 0 w 22"/>
                <a:gd name="T3" fmla="*/ 19 h 26"/>
                <a:gd name="T4" fmla="*/ 11 w 22"/>
                <a:gd name="T5" fmla="*/ 0 h 26"/>
                <a:gd name="T6" fmla="*/ 22 w 22"/>
                <a:gd name="T7" fmla="*/ 5 h 26"/>
                <a:gd name="T8" fmla="*/ 9 w 22"/>
                <a:gd name="T9" fmla="*/ 26 h 26"/>
              </a:gdLst>
              <a:ahLst/>
              <a:cxnLst>
                <a:cxn ang="0">
                  <a:pos x="T0" y="T1"/>
                </a:cxn>
                <a:cxn ang="0">
                  <a:pos x="T2" y="T3"/>
                </a:cxn>
                <a:cxn ang="0">
                  <a:pos x="T4" y="T5"/>
                </a:cxn>
                <a:cxn ang="0">
                  <a:pos x="T6" y="T7"/>
                </a:cxn>
                <a:cxn ang="0">
                  <a:pos x="T8" y="T9"/>
                </a:cxn>
              </a:cxnLst>
              <a:rect l="0" t="0" r="r" b="b"/>
              <a:pathLst>
                <a:path w="22" h="26">
                  <a:moveTo>
                    <a:pt x="9" y="26"/>
                  </a:moveTo>
                  <a:cubicBezTo>
                    <a:pt x="0" y="19"/>
                    <a:pt x="0" y="19"/>
                    <a:pt x="0" y="19"/>
                  </a:cubicBezTo>
                  <a:cubicBezTo>
                    <a:pt x="4" y="13"/>
                    <a:pt x="8" y="6"/>
                    <a:pt x="11" y="0"/>
                  </a:cubicBezTo>
                  <a:cubicBezTo>
                    <a:pt x="22" y="5"/>
                    <a:pt x="22" y="5"/>
                    <a:pt x="22" y="5"/>
                  </a:cubicBezTo>
                  <a:cubicBezTo>
                    <a:pt x="19" y="12"/>
                    <a:pt x="14" y="20"/>
                    <a:pt x="9"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75" name="Freeform 65">
              <a:extLst>
                <a:ext uri="{FF2B5EF4-FFF2-40B4-BE49-F238E27FC236}">
                  <a16:creationId xmlns:a16="http://schemas.microsoft.com/office/drawing/2014/main" id="{7F823634-DAFC-5997-39CC-6301C1648A6B}"/>
                </a:ext>
              </a:extLst>
            </p:cNvPr>
            <p:cNvSpPr>
              <a:spLocks/>
            </p:cNvSpPr>
            <p:nvPr/>
          </p:nvSpPr>
          <p:spPr bwMode="auto">
            <a:xfrm>
              <a:off x="4554" y="695"/>
              <a:ext cx="24" cy="32"/>
            </a:xfrm>
            <a:custGeom>
              <a:avLst/>
              <a:gdLst>
                <a:gd name="T0" fmla="*/ 12 w 16"/>
                <a:gd name="T1" fmla="*/ 22 h 22"/>
                <a:gd name="T2" fmla="*/ 0 w 16"/>
                <a:gd name="T3" fmla="*/ 18 h 22"/>
                <a:gd name="T4" fmla="*/ 4 w 16"/>
                <a:gd name="T5" fmla="*/ 0 h 22"/>
                <a:gd name="T6" fmla="*/ 16 w 16"/>
                <a:gd name="T7" fmla="*/ 2 h 22"/>
                <a:gd name="T8" fmla="*/ 12 w 16"/>
                <a:gd name="T9" fmla="*/ 22 h 22"/>
              </a:gdLst>
              <a:ahLst/>
              <a:cxnLst>
                <a:cxn ang="0">
                  <a:pos x="T0" y="T1"/>
                </a:cxn>
                <a:cxn ang="0">
                  <a:pos x="T2" y="T3"/>
                </a:cxn>
                <a:cxn ang="0">
                  <a:pos x="T4" y="T5"/>
                </a:cxn>
                <a:cxn ang="0">
                  <a:pos x="T6" y="T7"/>
                </a:cxn>
                <a:cxn ang="0">
                  <a:pos x="T8" y="T9"/>
                </a:cxn>
              </a:cxnLst>
              <a:rect l="0" t="0" r="r" b="b"/>
              <a:pathLst>
                <a:path w="16" h="22">
                  <a:moveTo>
                    <a:pt x="12" y="22"/>
                  </a:moveTo>
                  <a:cubicBezTo>
                    <a:pt x="0" y="18"/>
                    <a:pt x="0" y="18"/>
                    <a:pt x="0" y="18"/>
                  </a:cubicBezTo>
                  <a:cubicBezTo>
                    <a:pt x="2" y="14"/>
                    <a:pt x="3" y="7"/>
                    <a:pt x="4" y="0"/>
                  </a:cubicBezTo>
                  <a:cubicBezTo>
                    <a:pt x="16" y="2"/>
                    <a:pt x="16" y="2"/>
                    <a:pt x="16" y="2"/>
                  </a:cubicBezTo>
                  <a:cubicBezTo>
                    <a:pt x="15" y="10"/>
                    <a:pt x="13" y="17"/>
                    <a:pt x="1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76" name="Freeform 66">
              <a:extLst>
                <a:ext uri="{FF2B5EF4-FFF2-40B4-BE49-F238E27FC236}">
                  <a16:creationId xmlns:a16="http://schemas.microsoft.com/office/drawing/2014/main" id="{5B66BCA0-0BDA-727E-6069-B408FB228C2C}"/>
                </a:ext>
              </a:extLst>
            </p:cNvPr>
            <p:cNvSpPr>
              <a:spLocks/>
            </p:cNvSpPr>
            <p:nvPr/>
          </p:nvSpPr>
          <p:spPr bwMode="auto">
            <a:xfrm>
              <a:off x="4519" y="519"/>
              <a:ext cx="59" cy="106"/>
            </a:xfrm>
            <a:custGeom>
              <a:avLst/>
              <a:gdLst>
                <a:gd name="T0" fmla="*/ 29 w 40"/>
                <a:gd name="T1" fmla="*/ 72 h 72"/>
                <a:gd name="T2" fmla="*/ 0 w 40"/>
                <a:gd name="T3" fmla="*/ 7 h 72"/>
                <a:gd name="T4" fmla="*/ 10 w 40"/>
                <a:gd name="T5" fmla="*/ 0 h 72"/>
                <a:gd name="T6" fmla="*/ 40 w 40"/>
                <a:gd name="T7" fmla="*/ 70 h 72"/>
                <a:gd name="T8" fmla="*/ 29 w 40"/>
                <a:gd name="T9" fmla="*/ 72 h 72"/>
              </a:gdLst>
              <a:ahLst/>
              <a:cxnLst>
                <a:cxn ang="0">
                  <a:pos x="T0" y="T1"/>
                </a:cxn>
                <a:cxn ang="0">
                  <a:pos x="T2" y="T3"/>
                </a:cxn>
                <a:cxn ang="0">
                  <a:pos x="T4" y="T5"/>
                </a:cxn>
                <a:cxn ang="0">
                  <a:pos x="T6" y="T7"/>
                </a:cxn>
                <a:cxn ang="0">
                  <a:pos x="T8" y="T9"/>
                </a:cxn>
              </a:cxnLst>
              <a:rect l="0" t="0" r="r" b="b"/>
              <a:pathLst>
                <a:path w="40" h="72">
                  <a:moveTo>
                    <a:pt x="29" y="72"/>
                  </a:moveTo>
                  <a:cubicBezTo>
                    <a:pt x="25" y="49"/>
                    <a:pt x="15" y="26"/>
                    <a:pt x="0" y="7"/>
                  </a:cubicBezTo>
                  <a:cubicBezTo>
                    <a:pt x="10" y="0"/>
                    <a:pt x="10" y="0"/>
                    <a:pt x="10" y="0"/>
                  </a:cubicBezTo>
                  <a:cubicBezTo>
                    <a:pt x="26" y="20"/>
                    <a:pt x="36" y="45"/>
                    <a:pt x="40" y="70"/>
                  </a:cubicBezTo>
                  <a:lnTo>
                    <a:pt x="29"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77" name="Freeform 67">
              <a:extLst>
                <a:ext uri="{FF2B5EF4-FFF2-40B4-BE49-F238E27FC236}">
                  <a16:creationId xmlns:a16="http://schemas.microsoft.com/office/drawing/2014/main" id="{0CB15662-3656-FAF1-03E7-A1DCFA205A90}"/>
                </a:ext>
              </a:extLst>
            </p:cNvPr>
            <p:cNvSpPr>
              <a:spLocks noEditPoints="1"/>
            </p:cNvSpPr>
            <p:nvPr/>
          </p:nvSpPr>
          <p:spPr bwMode="auto">
            <a:xfrm>
              <a:off x="4600" y="486"/>
              <a:ext cx="89" cy="89"/>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78" name="Freeform 68">
              <a:extLst>
                <a:ext uri="{FF2B5EF4-FFF2-40B4-BE49-F238E27FC236}">
                  <a16:creationId xmlns:a16="http://schemas.microsoft.com/office/drawing/2014/main" id="{C41B6D7C-210D-84F8-39F4-5DA1B2A2F717}"/>
                </a:ext>
              </a:extLst>
            </p:cNvPr>
            <p:cNvSpPr>
              <a:spLocks noEditPoints="1"/>
            </p:cNvSpPr>
            <p:nvPr/>
          </p:nvSpPr>
          <p:spPr bwMode="auto">
            <a:xfrm>
              <a:off x="4529" y="615"/>
              <a:ext cx="89" cy="89"/>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7"/>
                    <a:pt x="0" y="30"/>
                  </a:cubicBezTo>
                  <a:cubicBezTo>
                    <a:pt x="0" y="14"/>
                    <a:pt x="14" y="0"/>
                    <a:pt x="30" y="0"/>
                  </a:cubicBezTo>
                  <a:cubicBezTo>
                    <a:pt x="47" y="0"/>
                    <a:pt x="60" y="14"/>
                    <a:pt x="60" y="30"/>
                  </a:cubicBezTo>
                  <a:cubicBezTo>
                    <a:pt x="60" y="47"/>
                    <a:pt x="47" y="60"/>
                    <a:pt x="30" y="60"/>
                  </a:cubicBezTo>
                  <a:close/>
                  <a:moveTo>
                    <a:pt x="30" y="12"/>
                  </a:moveTo>
                  <a:cubicBezTo>
                    <a:pt x="20" y="12"/>
                    <a:pt x="12" y="21"/>
                    <a:pt x="12" y="30"/>
                  </a:cubicBezTo>
                  <a:cubicBezTo>
                    <a:pt x="12" y="40"/>
                    <a:pt x="20" y="48"/>
                    <a:pt x="30" y="48"/>
                  </a:cubicBezTo>
                  <a:cubicBezTo>
                    <a:pt x="40" y="48"/>
                    <a:pt x="48" y="40"/>
                    <a:pt x="48" y="30"/>
                  </a:cubicBezTo>
                  <a:cubicBezTo>
                    <a:pt x="48" y="21"/>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79" name="Freeform 69">
              <a:extLst>
                <a:ext uri="{FF2B5EF4-FFF2-40B4-BE49-F238E27FC236}">
                  <a16:creationId xmlns:a16="http://schemas.microsoft.com/office/drawing/2014/main" id="{6D0DF5C2-F0D1-ECA4-C341-E0A81F998583}"/>
                </a:ext>
              </a:extLst>
            </p:cNvPr>
            <p:cNvSpPr>
              <a:spLocks noEditPoints="1"/>
            </p:cNvSpPr>
            <p:nvPr/>
          </p:nvSpPr>
          <p:spPr bwMode="auto">
            <a:xfrm>
              <a:off x="4529" y="714"/>
              <a:ext cx="53" cy="53"/>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8"/>
                    <a:pt x="8" y="0"/>
                    <a:pt x="18" y="0"/>
                  </a:cubicBezTo>
                  <a:cubicBezTo>
                    <a:pt x="28" y="0"/>
                    <a:pt x="36" y="8"/>
                    <a:pt x="36" y="18"/>
                  </a:cubicBezTo>
                  <a:cubicBezTo>
                    <a:pt x="36" y="28"/>
                    <a:pt x="28" y="36"/>
                    <a:pt x="18" y="36"/>
                  </a:cubicBezTo>
                  <a:close/>
                  <a:moveTo>
                    <a:pt x="18" y="12"/>
                  </a:moveTo>
                  <a:cubicBezTo>
                    <a:pt x="15" y="12"/>
                    <a:pt x="12" y="15"/>
                    <a:pt x="12" y="18"/>
                  </a:cubicBezTo>
                  <a:cubicBezTo>
                    <a:pt x="12" y="22"/>
                    <a:pt x="15"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80" name="Freeform 70">
              <a:extLst>
                <a:ext uri="{FF2B5EF4-FFF2-40B4-BE49-F238E27FC236}">
                  <a16:creationId xmlns:a16="http://schemas.microsoft.com/office/drawing/2014/main" id="{FF412B80-2090-22BC-841F-9B8DA85DFBDD}"/>
                </a:ext>
              </a:extLst>
            </p:cNvPr>
            <p:cNvSpPr>
              <a:spLocks noEditPoints="1"/>
            </p:cNvSpPr>
            <p:nvPr/>
          </p:nvSpPr>
          <p:spPr bwMode="auto">
            <a:xfrm>
              <a:off x="4651" y="713"/>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0" y="48"/>
                    <a:pt x="0" y="38"/>
                    <a:pt x="0" y="24"/>
                  </a:cubicBezTo>
                  <a:cubicBezTo>
                    <a:pt x="0" y="11"/>
                    <a:pt x="10" y="0"/>
                    <a:pt x="24" y="0"/>
                  </a:cubicBezTo>
                  <a:cubicBezTo>
                    <a:pt x="37" y="0"/>
                    <a:pt x="48" y="11"/>
                    <a:pt x="48" y="24"/>
                  </a:cubicBezTo>
                  <a:cubicBezTo>
                    <a:pt x="48" y="38"/>
                    <a:pt x="37" y="48"/>
                    <a:pt x="24" y="48"/>
                  </a:cubicBezTo>
                  <a:close/>
                  <a:moveTo>
                    <a:pt x="24" y="12"/>
                  </a:moveTo>
                  <a:cubicBezTo>
                    <a:pt x="17" y="12"/>
                    <a:pt x="12" y="18"/>
                    <a:pt x="12" y="24"/>
                  </a:cubicBezTo>
                  <a:cubicBezTo>
                    <a:pt x="12" y="31"/>
                    <a:pt x="17" y="36"/>
                    <a:pt x="24" y="36"/>
                  </a:cubicBezTo>
                  <a:cubicBezTo>
                    <a:pt x="30" y="36"/>
                    <a:pt x="36" y="31"/>
                    <a:pt x="36" y="24"/>
                  </a:cubicBezTo>
                  <a:cubicBezTo>
                    <a:pt x="36" y="18"/>
                    <a:pt x="30"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81" name="Freeform 71">
              <a:extLst>
                <a:ext uri="{FF2B5EF4-FFF2-40B4-BE49-F238E27FC236}">
                  <a16:creationId xmlns:a16="http://schemas.microsoft.com/office/drawing/2014/main" id="{2AF5ED6A-A7F7-3895-E489-9F4F538C7D4E}"/>
                </a:ext>
              </a:extLst>
            </p:cNvPr>
            <p:cNvSpPr>
              <a:spLocks noEditPoints="1"/>
            </p:cNvSpPr>
            <p:nvPr/>
          </p:nvSpPr>
          <p:spPr bwMode="auto">
            <a:xfrm>
              <a:off x="4729" y="707"/>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0" y="48"/>
                    <a:pt x="0" y="37"/>
                    <a:pt x="0" y="24"/>
                  </a:cubicBezTo>
                  <a:cubicBezTo>
                    <a:pt x="0" y="10"/>
                    <a:pt x="10"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0" y="36"/>
                    <a:pt x="36" y="30"/>
                    <a:pt x="36" y="24"/>
                  </a:cubicBezTo>
                  <a:cubicBezTo>
                    <a:pt x="36" y="17"/>
                    <a:pt x="30"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sp>
          <p:nvSpPr>
            <p:cNvPr id="82" name="Freeform 72">
              <a:extLst>
                <a:ext uri="{FF2B5EF4-FFF2-40B4-BE49-F238E27FC236}">
                  <a16:creationId xmlns:a16="http://schemas.microsoft.com/office/drawing/2014/main" id="{923980BF-8B6C-FD4E-7FC4-70560E37AEFB}"/>
                </a:ext>
              </a:extLst>
            </p:cNvPr>
            <p:cNvSpPr>
              <a:spLocks noEditPoints="1"/>
            </p:cNvSpPr>
            <p:nvPr/>
          </p:nvSpPr>
          <p:spPr bwMode="auto">
            <a:xfrm>
              <a:off x="4778" y="597"/>
              <a:ext cx="89" cy="89"/>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7"/>
                    <a:pt x="0" y="30"/>
                  </a:cubicBezTo>
                  <a:cubicBezTo>
                    <a:pt x="0" y="14"/>
                    <a:pt x="14" y="0"/>
                    <a:pt x="30" y="0"/>
                  </a:cubicBezTo>
                  <a:cubicBezTo>
                    <a:pt x="47" y="0"/>
                    <a:pt x="60" y="14"/>
                    <a:pt x="60" y="30"/>
                  </a:cubicBezTo>
                  <a:cubicBezTo>
                    <a:pt x="60" y="47"/>
                    <a:pt x="47" y="60"/>
                    <a:pt x="30" y="60"/>
                  </a:cubicBezTo>
                  <a:close/>
                  <a:moveTo>
                    <a:pt x="30" y="12"/>
                  </a:moveTo>
                  <a:cubicBezTo>
                    <a:pt x="20" y="12"/>
                    <a:pt x="12" y="21"/>
                    <a:pt x="12" y="30"/>
                  </a:cubicBezTo>
                  <a:cubicBezTo>
                    <a:pt x="12" y="40"/>
                    <a:pt x="20" y="48"/>
                    <a:pt x="30" y="48"/>
                  </a:cubicBezTo>
                  <a:cubicBezTo>
                    <a:pt x="40" y="48"/>
                    <a:pt x="48" y="40"/>
                    <a:pt x="48" y="30"/>
                  </a:cubicBezTo>
                  <a:cubicBezTo>
                    <a:pt x="48" y="21"/>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Graphik" charset="0"/>
                <a:ea typeface="+mn-ea"/>
                <a:cs typeface="Arial" charset="0"/>
              </a:endParaRPr>
            </a:p>
          </p:txBody>
        </p:sp>
      </p:grpSp>
      <p:sp>
        <p:nvSpPr>
          <p:cNvPr id="83" name="Freeform 6">
            <a:extLst>
              <a:ext uri="{FF2B5EF4-FFF2-40B4-BE49-F238E27FC236}">
                <a16:creationId xmlns:a16="http://schemas.microsoft.com/office/drawing/2014/main" id="{16962A64-410F-AC9B-677D-1EB5F04EDC76}"/>
              </a:ext>
            </a:extLst>
          </p:cNvPr>
          <p:cNvSpPr>
            <a:spLocks noChangeAspect="1" noEditPoints="1"/>
          </p:cNvSpPr>
          <p:nvPr/>
        </p:nvSpPr>
        <p:spPr bwMode="auto">
          <a:xfrm>
            <a:off x="10647218" y="2909887"/>
            <a:ext cx="550863" cy="519113"/>
          </a:xfrm>
          <a:custGeom>
            <a:avLst/>
            <a:gdLst>
              <a:gd name="T0" fmla="*/ 142 w 722"/>
              <a:gd name="T1" fmla="*/ 603 h 681"/>
              <a:gd name="T2" fmla="*/ 142 w 722"/>
              <a:gd name="T3" fmla="*/ 560 h 681"/>
              <a:gd name="T4" fmla="*/ 98 w 722"/>
              <a:gd name="T5" fmla="*/ 265 h 681"/>
              <a:gd name="T6" fmla="*/ 22 w 722"/>
              <a:gd name="T7" fmla="*/ 265 h 681"/>
              <a:gd name="T8" fmla="*/ 98 w 722"/>
              <a:gd name="T9" fmla="*/ 265 h 681"/>
              <a:gd name="T10" fmla="*/ 661 w 722"/>
              <a:gd name="T11" fmla="*/ 468 h 681"/>
              <a:gd name="T12" fmla="*/ 661 w 722"/>
              <a:gd name="T13" fmla="*/ 392 h 681"/>
              <a:gd name="T14" fmla="*/ 359 w 722"/>
              <a:gd name="T15" fmla="*/ 658 h 681"/>
              <a:gd name="T16" fmla="*/ 186 w 722"/>
              <a:gd name="T17" fmla="*/ 582 h 681"/>
              <a:gd name="T18" fmla="*/ 122 w 722"/>
              <a:gd name="T19" fmla="*/ 542 h 681"/>
              <a:gd name="T20" fmla="*/ 310 w 722"/>
              <a:gd name="T21" fmla="*/ 562 h 681"/>
              <a:gd name="T22" fmla="*/ 613 w 722"/>
              <a:gd name="T23" fmla="*/ 520 h 681"/>
              <a:gd name="T24" fmla="*/ 317 w 722"/>
              <a:gd name="T25" fmla="*/ 58 h 681"/>
              <a:gd name="T26" fmla="*/ 401 w 722"/>
              <a:gd name="T27" fmla="*/ 58 h 681"/>
              <a:gd name="T28" fmla="*/ 408 w 722"/>
              <a:gd name="T29" fmla="*/ 148 h 681"/>
              <a:gd name="T30" fmla="*/ 317 w 722"/>
              <a:gd name="T31" fmla="*/ 58 h 681"/>
              <a:gd name="T32" fmla="*/ 381 w 722"/>
              <a:gd name="T33" fmla="*/ 44 h 681"/>
              <a:gd name="T34" fmla="*/ 337 w 722"/>
              <a:gd name="T35" fmla="*/ 44 h 681"/>
              <a:gd name="T36" fmla="*/ 337 w 722"/>
              <a:gd name="T37" fmla="*/ 44 h 681"/>
              <a:gd name="T38" fmla="*/ 624 w 722"/>
              <a:gd name="T39" fmla="*/ 478 h 681"/>
              <a:gd name="T40" fmla="*/ 63 w 722"/>
              <a:gd name="T41" fmla="*/ 325 h 681"/>
              <a:gd name="T42" fmla="*/ 103 w 722"/>
              <a:gd name="T43" fmla="*/ 222 h 681"/>
              <a:gd name="T44" fmla="*/ 653 w 722"/>
              <a:gd name="T45" fmla="*/ 370 h 681"/>
              <a:gd name="T46" fmla="*/ 624 w 722"/>
              <a:gd name="T47" fmla="*/ 478 h 681"/>
              <a:gd name="T48" fmla="*/ 683 w 722"/>
              <a:gd name="T49" fmla="*/ 357 h 681"/>
              <a:gd name="T50" fmla="*/ 359 w 722"/>
              <a:gd name="T51" fmla="*/ 0 h 681"/>
              <a:gd name="T52" fmla="*/ 73 w 722"/>
              <a:gd name="T53" fmla="*/ 206 h 681"/>
              <a:gd name="T54" fmla="*/ 0 w 722"/>
              <a:gd name="T55" fmla="*/ 265 h 681"/>
              <a:gd name="T56" fmla="*/ 35 w 722"/>
              <a:gd name="T57" fmla="*/ 357 h 681"/>
              <a:gd name="T58" fmla="*/ 97 w 722"/>
              <a:gd name="T59" fmla="*/ 582 h 681"/>
              <a:gd name="T60" fmla="*/ 167 w 722"/>
              <a:gd name="T61" fmla="*/ 618 h 681"/>
              <a:gd name="T62" fmla="*/ 654 w 722"/>
              <a:gd name="T63" fmla="*/ 490 h 681"/>
              <a:gd name="T64" fmla="*/ 722 w 722"/>
              <a:gd name="T65" fmla="*/ 430 h 681"/>
              <a:gd name="T66" fmla="*/ 227 w 722"/>
              <a:gd name="T67" fmla="*/ 452 h 681"/>
              <a:gd name="T68" fmla="*/ 329 w 722"/>
              <a:gd name="T69" fmla="*/ 358 h 681"/>
              <a:gd name="T70" fmla="*/ 398 w 722"/>
              <a:gd name="T71" fmla="*/ 358 h 681"/>
              <a:gd name="T72" fmla="*/ 500 w 722"/>
              <a:gd name="T73" fmla="*/ 452 h 681"/>
              <a:gd name="T74" fmla="*/ 303 w 722"/>
              <a:gd name="T75" fmla="*/ 282 h 681"/>
              <a:gd name="T76" fmla="*/ 424 w 722"/>
              <a:gd name="T77" fmla="*/ 282 h 681"/>
              <a:gd name="T78" fmla="*/ 303 w 722"/>
              <a:gd name="T79" fmla="*/ 282 h 681"/>
              <a:gd name="T80" fmla="*/ 418 w 722"/>
              <a:gd name="T81" fmla="*/ 345 h 681"/>
              <a:gd name="T82" fmla="*/ 364 w 722"/>
              <a:gd name="T83" fmla="*/ 199 h 681"/>
              <a:gd name="T84" fmla="*/ 309 w 722"/>
              <a:gd name="T85" fmla="*/ 345 h 681"/>
              <a:gd name="T86" fmla="*/ 204 w 722"/>
              <a:gd name="T87" fmla="*/ 464 h 681"/>
              <a:gd name="T88" fmla="*/ 512 w 722"/>
              <a:gd name="T89" fmla="*/ 475 h 681"/>
              <a:gd name="T90" fmla="*/ 436 w 722"/>
              <a:gd name="T91" fmla="*/ 352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22" h="681">
                <a:moveTo>
                  <a:pt x="163" y="582"/>
                </a:moveTo>
                <a:cubicBezTo>
                  <a:pt x="163" y="594"/>
                  <a:pt x="154" y="603"/>
                  <a:pt x="142" y="603"/>
                </a:cubicBezTo>
                <a:cubicBezTo>
                  <a:pt x="130" y="603"/>
                  <a:pt x="120" y="594"/>
                  <a:pt x="120" y="582"/>
                </a:cubicBezTo>
                <a:cubicBezTo>
                  <a:pt x="120" y="570"/>
                  <a:pt x="130" y="560"/>
                  <a:pt x="142" y="560"/>
                </a:cubicBezTo>
                <a:cubicBezTo>
                  <a:pt x="154" y="560"/>
                  <a:pt x="163" y="570"/>
                  <a:pt x="163" y="582"/>
                </a:cubicBezTo>
                <a:close/>
                <a:moveTo>
                  <a:pt x="98" y="265"/>
                </a:moveTo>
                <a:cubicBezTo>
                  <a:pt x="98" y="286"/>
                  <a:pt x="81" y="303"/>
                  <a:pt x="60" y="303"/>
                </a:cubicBezTo>
                <a:cubicBezTo>
                  <a:pt x="39" y="303"/>
                  <a:pt x="22" y="286"/>
                  <a:pt x="22" y="265"/>
                </a:cubicBezTo>
                <a:cubicBezTo>
                  <a:pt x="22" y="244"/>
                  <a:pt x="39" y="227"/>
                  <a:pt x="60" y="227"/>
                </a:cubicBezTo>
                <a:cubicBezTo>
                  <a:pt x="81" y="227"/>
                  <a:pt x="98" y="244"/>
                  <a:pt x="98" y="265"/>
                </a:cubicBezTo>
                <a:close/>
                <a:moveTo>
                  <a:pt x="700" y="430"/>
                </a:moveTo>
                <a:cubicBezTo>
                  <a:pt x="700" y="451"/>
                  <a:pt x="683" y="468"/>
                  <a:pt x="661" y="468"/>
                </a:cubicBezTo>
                <a:cubicBezTo>
                  <a:pt x="640" y="468"/>
                  <a:pt x="623" y="451"/>
                  <a:pt x="623" y="430"/>
                </a:cubicBezTo>
                <a:cubicBezTo>
                  <a:pt x="623" y="409"/>
                  <a:pt x="640" y="392"/>
                  <a:pt x="661" y="392"/>
                </a:cubicBezTo>
                <a:cubicBezTo>
                  <a:pt x="683" y="392"/>
                  <a:pt x="700" y="409"/>
                  <a:pt x="700" y="430"/>
                </a:cubicBezTo>
                <a:close/>
                <a:moveTo>
                  <a:pt x="359" y="658"/>
                </a:moveTo>
                <a:cubicBezTo>
                  <a:pt x="295" y="658"/>
                  <a:pt x="233" y="638"/>
                  <a:pt x="182" y="600"/>
                </a:cubicBezTo>
                <a:cubicBezTo>
                  <a:pt x="184" y="595"/>
                  <a:pt x="186" y="588"/>
                  <a:pt x="186" y="582"/>
                </a:cubicBezTo>
                <a:cubicBezTo>
                  <a:pt x="186" y="557"/>
                  <a:pt x="166" y="537"/>
                  <a:pt x="142" y="537"/>
                </a:cubicBezTo>
                <a:cubicBezTo>
                  <a:pt x="134" y="537"/>
                  <a:pt x="128" y="539"/>
                  <a:pt x="122" y="542"/>
                </a:cubicBezTo>
                <a:cubicBezTo>
                  <a:pt x="87" y="499"/>
                  <a:pt x="65" y="446"/>
                  <a:pt x="59" y="391"/>
                </a:cubicBezTo>
                <a:cubicBezTo>
                  <a:pt x="98" y="468"/>
                  <a:pt x="192" y="534"/>
                  <a:pt x="310" y="562"/>
                </a:cubicBezTo>
                <a:cubicBezTo>
                  <a:pt x="347" y="571"/>
                  <a:pt x="384" y="575"/>
                  <a:pt x="420" y="575"/>
                </a:cubicBezTo>
                <a:cubicBezTo>
                  <a:pt x="496" y="575"/>
                  <a:pt x="565" y="556"/>
                  <a:pt x="613" y="520"/>
                </a:cubicBezTo>
                <a:cubicBezTo>
                  <a:pt x="558" y="605"/>
                  <a:pt x="463" y="658"/>
                  <a:pt x="359" y="658"/>
                </a:cubicBezTo>
                <a:close/>
                <a:moveTo>
                  <a:pt x="317" y="58"/>
                </a:moveTo>
                <a:cubicBezTo>
                  <a:pt x="323" y="75"/>
                  <a:pt x="340" y="88"/>
                  <a:pt x="359" y="88"/>
                </a:cubicBezTo>
                <a:cubicBezTo>
                  <a:pt x="378" y="88"/>
                  <a:pt x="394" y="76"/>
                  <a:pt x="401" y="58"/>
                </a:cubicBezTo>
                <a:cubicBezTo>
                  <a:pt x="537" y="77"/>
                  <a:pt x="641" y="185"/>
                  <a:pt x="658" y="319"/>
                </a:cubicBezTo>
                <a:cubicBezTo>
                  <a:pt x="619" y="242"/>
                  <a:pt x="525" y="176"/>
                  <a:pt x="408" y="148"/>
                </a:cubicBezTo>
                <a:cubicBezTo>
                  <a:pt x="293" y="121"/>
                  <a:pt x="179" y="138"/>
                  <a:pt x="109" y="188"/>
                </a:cubicBezTo>
                <a:cubicBezTo>
                  <a:pt x="157" y="117"/>
                  <a:pt x="232" y="70"/>
                  <a:pt x="317" y="58"/>
                </a:cubicBezTo>
                <a:close/>
                <a:moveTo>
                  <a:pt x="359" y="22"/>
                </a:moveTo>
                <a:cubicBezTo>
                  <a:pt x="371" y="22"/>
                  <a:pt x="381" y="32"/>
                  <a:pt x="381" y="44"/>
                </a:cubicBezTo>
                <a:cubicBezTo>
                  <a:pt x="381" y="56"/>
                  <a:pt x="371" y="66"/>
                  <a:pt x="359" y="66"/>
                </a:cubicBezTo>
                <a:cubicBezTo>
                  <a:pt x="347" y="66"/>
                  <a:pt x="338" y="56"/>
                  <a:pt x="337" y="44"/>
                </a:cubicBezTo>
                <a:cubicBezTo>
                  <a:pt x="337" y="44"/>
                  <a:pt x="337" y="44"/>
                  <a:pt x="337" y="44"/>
                </a:cubicBezTo>
                <a:cubicBezTo>
                  <a:pt x="337" y="44"/>
                  <a:pt x="337" y="44"/>
                  <a:pt x="337" y="44"/>
                </a:cubicBezTo>
                <a:cubicBezTo>
                  <a:pt x="337" y="32"/>
                  <a:pt x="347" y="22"/>
                  <a:pt x="359" y="22"/>
                </a:cubicBezTo>
                <a:moveTo>
                  <a:pt x="624" y="478"/>
                </a:moveTo>
                <a:cubicBezTo>
                  <a:pt x="568" y="545"/>
                  <a:pt x="443" y="571"/>
                  <a:pt x="315" y="541"/>
                </a:cubicBezTo>
                <a:cubicBezTo>
                  <a:pt x="177" y="508"/>
                  <a:pt x="71" y="417"/>
                  <a:pt x="63" y="325"/>
                </a:cubicBezTo>
                <a:cubicBezTo>
                  <a:pt x="95" y="324"/>
                  <a:pt x="121" y="297"/>
                  <a:pt x="121" y="265"/>
                </a:cubicBezTo>
                <a:cubicBezTo>
                  <a:pt x="121" y="248"/>
                  <a:pt x="114" y="233"/>
                  <a:pt x="103" y="222"/>
                </a:cubicBezTo>
                <a:cubicBezTo>
                  <a:pt x="165" y="163"/>
                  <a:pt x="283" y="142"/>
                  <a:pt x="403" y="170"/>
                </a:cubicBezTo>
                <a:cubicBezTo>
                  <a:pt x="532" y="201"/>
                  <a:pt x="635" y="284"/>
                  <a:pt x="653" y="370"/>
                </a:cubicBezTo>
                <a:cubicBezTo>
                  <a:pt x="623" y="375"/>
                  <a:pt x="601" y="400"/>
                  <a:pt x="601" y="430"/>
                </a:cubicBezTo>
                <a:cubicBezTo>
                  <a:pt x="601" y="450"/>
                  <a:pt x="610" y="467"/>
                  <a:pt x="624" y="478"/>
                </a:cubicBezTo>
                <a:close/>
                <a:moveTo>
                  <a:pt x="682" y="373"/>
                </a:moveTo>
                <a:cubicBezTo>
                  <a:pt x="683" y="368"/>
                  <a:pt x="683" y="362"/>
                  <a:pt x="683" y="357"/>
                </a:cubicBezTo>
                <a:cubicBezTo>
                  <a:pt x="683" y="193"/>
                  <a:pt x="563" y="57"/>
                  <a:pt x="402" y="36"/>
                </a:cubicBezTo>
                <a:cubicBezTo>
                  <a:pt x="399" y="15"/>
                  <a:pt x="381" y="0"/>
                  <a:pt x="359" y="0"/>
                </a:cubicBezTo>
                <a:cubicBezTo>
                  <a:pt x="337" y="0"/>
                  <a:pt x="319" y="15"/>
                  <a:pt x="316" y="36"/>
                </a:cubicBezTo>
                <a:cubicBezTo>
                  <a:pt x="212" y="50"/>
                  <a:pt x="122" y="112"/>
                  <a:pt x="73" y="206"/>
                </a:cubicBezTo>
                <a:cubicBezTo>
                  <a:pt x="69" y="205"/>
                  <a:pt x="65" y="204"/>
                  <a:pt x="60" y="204"/>
                </a:cubicBezTo>
                <a:cubicBezTo>
                  <a:pt x="27" y="204"/>
                  <a:pt x="0" y="232"/>
                  <a:pt x="0" y="265"/>
                </a:cubicBezTo>
                <a:cubicBezTo>
                  <a:pt x="0" y="290"/>
                  <a:pt x="15" y="312"/>
                  <a:pt x="37" y="321"/>
                </a:cubicBezTo>
                <a:cubicBezTo>
                  <a:pt x="36" y="334"/>
                  <a:pt x="35" y="346"/>
                  <a:pt x="35" y="357"/>
                </a:cubicBezTo>
                <a:cubicBezTo>
                  <a:pt x="35" y="430"/>
                  <a:pt x="60" y="500"/>
                  <a:pt x="105" y="557"/>
                </a:cubicBezTo>
                <a:cubicBezTo>
                  <a:pt x="100" y="564"/>
                  <a:pt x="97" y="573"/>
                  <a:pt x="97" y="582"/>
                </a:cubicBezTo>
                <a:cubicBezTo>
                  <a:pt x="97" y="606"/>
                  <a:pt x="117" y="626"/>
                  <a:pt x="142" y="626"/>
                </a:cubicBezTo>
                <a:cubicBezTo>
                  <a:pt x="151" y="626"/>
                  <a:pt x="160" y="623"/>
                  <a:pt x="167" y="618"/>
                </a:cubicBezTo>
                <a:cubicBezTo>
                  <a:pt x="223" y="659"/>
                  <a:pt x="289" y="681"/>
                  <a:pt x="359" y="681"/>
                </a:cubicBezTo>
                <a:cubicBezTo>
                  <a:pt x="487" y="681"/>
                  <a:pt x="602" y="606"/>
                  <a:pt x="654" y="490"/>
                </a:cubicBezTo>
                <a:cubicBezTo>
                  <a:pt x="657" y="490"/>
                  <a:pt x="659" y="491"/>
                  <a:pt x="661" y="491"/>
                </a:cubicBezTo>
                <a:cubicBezTo>
                  <a:pt x="695" y="491"/>
                  <a:pt x="722" y="464"/>
                  <a:pt x="722" y="430"/>
                </a:cubicBezTo>
                <a:cubicBezTo>
                  <a:pt x="722" y="404"/>
                  <a:pt x="705" y="382"/>
                  <a:pt x="682" y="373"/>
                </a:cubicBezTo>
                <a:close/>
                <a:moveTo>
                  <a:pt x="227" y="452"/>
                </a:moveTo>
                <a:cubicBezTo>
                  <a:pt x="231" y="397"/>
                  <a:pt x="267" y="384"/>
                  <a:pt x="298" y="373"/>
                </a:cubicBezTo>
                <a:cubicBezTo>
                  <a:pt x="311" y="369"/>
                  <a:pt x="322" y="365"/>
                  <a:pt x="329" y="358"/>
                </a:cubicBezTo>
                <a:cubicBezTo>
                  <a:pt x="340" y="363"/>
                  <a:pt x="351" y="366"/>
                  <a:pt x="364" y="366"/>
                </a:cubicBezTo>
                <a:cubicBezTo>
                  <a:pt x="376" y="366"/>
                  <a:pt x="387" y="363"/>
                  <a:pt x="398" y="358"/>
                </a:cubicBezTo>
                <a:cubicBezTo>
                  <a:pt x="405" y="365"/>
                  <a:pt x="416" y="369"/>
                  <a:pt x="429" y="373"/>
                </a:cubicBezTo>
                <a:cubicBezTo>
                  <a:pt x="460" y="384"/>
                  <a:pt x="496" y="397"/>
                  <a:pt x="500" y="452"/>
                </a:cubicBezTo>
                <a:lnTo>
                  <a:pt x="227" y="452"/>
                </a:lnTo>
                <a:close/>
                <a:moveTo>
                  <a:pt x="303" y="282"/>
                </a:moveTo>
                <a:cubicBezTo>
                  <a:pt x="303" y="249"/>
                  <a:pt x="330" y="221"/>
                  <a:pt x="364" y="221"/>
                </a:cubicBezTo>
                <a:cubicBezTo>
                  <a:pt x="397" y="221"/>
                  <a:pt x="424" y="249"/>
                  <a:pt x="424" y="282"/>
                </a:cubicBezTo>
                <a:cubicBezTo>
                  <a:pt x="424" y="316"/>
                  <a:pt x="397" y="343"/>
                  <a:pt x="364" y="343"/>
                </a:cubicBezTo>
                <a:cubicBezTo>
                  <a:pt x="330" y="343"/>
                  <a:pt x="303" y="316"/>
                  <a:pt x="303" y="282"/>
                </a:cubicBezTo>
                <a:close/>
                <a:moveTo>
                  <a:pt x="436" y="352"/>
                </a:moveTo>
                <a:cubicBezTo>
                  <a:pt x="430" y="349"/>
                  <a:pt x="423" y="347"/>
                  <a:pt x="418" y="345"/>
                </a:cubicBezTo>
                <a:cubicBezTo>
                  <a:pt x="436" y="329"/>
                  <a:pt x="447" y="307"/>
                  <a:pt x="447" y="282"/>
                </a:cubicBezTo>
                <a:cubicBezTo>
                  <a:pt x="447" y="236"/>
                  <a:pt x="409" y="199"/>
                  <a:pt x="364" y="199"/>
                </a:cubicBezTo>
                <a:cubicBezTo>
                  <a:pt x="318" y="199"/>
                  <a:pt x="280" y="236"/>
                  <a:pt x="280" y="282"/>
                </a:cubicBezTo>
                <a:cubicBezTo>
                  <a:pt x="280" y="307"/>
                  <a:pt x="291" y="329"/>
                  <a:pt x="309" y="345"/>
                </a:cubicBezTo>
                <a:cubicBezTo>
                  <a:pt x="304" y="347"/>
                  <a:pt x="297" y="349"/>
                  <a:pt x="291" y="352"/>
                </a:cubicBezTo>
                <a:cubicBezTo>
                  <a:pt x="256" y="364"/>
                  <a:pt x="204" y="383"/>
                  <a:pt x="204" y="464"/>
                </a:cubicBezTo>
                <a:cubicBezTo>
                  <a:pt x="204" y="470"/>
                  <a:pt x="209" y="475"/>
                  <a:pt x="215" y="475"/>
                </a:cubicBezTo>
                <a:lnTo>
                  <a:pt x="512" y="475"/>
                </a:lnTo>
                <a:cubicBezTo>
                  <a:pt x="518" y="475"/>
                  <a:pt x="523" y="470"/>
                  <a:pt x="523" y="464"/>
                </a:cubicBezTo>
                <a:cubicBezTo>
                  <a:pt x="523" y="383"/>
                  <a:pt x="471" y="364"/>
                  <a:pt x="436" y="352"/>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6207B"/>
              </a:solidFill>
              <a:effectLst/>
              <a:uLnTx/>
              <a:uFillTx/>
              <a:latin typeface="Verdana"/>
              <a:ea typeface="+mn-ea"/>
              <a:cs typeface="+mn-cs"/>
            </a:endParaRPr>
          </a:p>
        </p:txBody>
      </p:sp>
      <p:grpSp>
        <p:nvGrpSpPr>
          <p:cNvPr id="84" name="Group 132">
            <a:extLst>
              <a:ext uri="{FF2B5EF4-FFF2-40B4-BE49-F238E27FC236}">
                <a16:creationId xmlns:a16="http://schemas.microsoft.com/office/drawing/2014/main" id="{B9AFDC2D-A9B9-21E1-839B-CBE038DAD19F}"/>
              </a:ext>
            </a:extLst>
          </p:cNvPr>
          <p:cNvGrpSpPr>
            <a:grpSpLocks noChangeAspect="1"/>
          </p:cNvGrpSpPr>
          <p:nvPr/>
        </p:nvGrpSpPr>
        <p:grpSpPr bwMode="auto">
          <a:xfrm>
            <a:off x="11560711" y="2946671"/>
            <a:ext cx="259814" cy="445544"/>
            <a:chOff x="6631" y="1741"/>
            <a:chExt cx="249" cy="427"/>
          </a:xfrm>
          <a:solidFill>
            <a:schemeClr val="accent1"/>
          </a:solidFill>
        </p:grpSpPr>
        <p:sp>
          <p:nvSpPr>
            <p:cNvPr id="85" name="Freeform 133">
              <a:extLst>
                <a:ext uri="{FF2B5EF4-FFF2-40B4-BE49-F238E27FC236}">
                  <a16:creationId xmlns:a16="http://schemas.microsoft.com/office/drawing/2014/main" id="{B3DB282E-78B3-7834-55F3-72D20D9E6C40}"/>
                </a:ext>
              </a:extLst>
            </p:cNvPr>
            <p:cNvSpPr>
              <a:spLocks noEditPoints="1"/>
            </p:cNvSpPr>
            <p:nvPr/>
          </p:nvSpPr>
          <p:spPr bwMode="auto">
            <a:xfrm>
              <a:off x="6631" y="1741"/>
              <a:ext cx="249" cy="427"/>
            </a:xfrm>
            <a:custGeom>
              <a:avLst/>
              <a:gdLst>
                <a:gd name="T0" fmla="*/ 30 w 168"/>
                <a:gd name="T1" fmla="*/ 0 h 288"/>
                <a:gd name="T2" fmla="*/ 138 w 168"/>
                <a:gd name="T3" fmla="*/ 0 h 288"/>
                <a:gd name="T4" fmla="*/ 168 w 168"/>
                <a:gd name="T5" fmla="*/ 30 h 288"/>
                <a:gd name="T6" fmla="*/ 168 w 168"/>
                <a:gd name="T7" fmla="*/ 258 h 288"/>
                <a:gd name="T8" fmla="*/ 138 w 168"/>
                <a:gd name="T9" fmla="*/ 288 h 288"/>
                <a:gd name="T10" fmla="*/ 30 w 168"/>
                <a:gd name="T11" fmla="*/ 288 h 288"/>
                <a:gd name="T12" fmla="*/ 0 w 168"/>
                <a:gd name="T13" fmla="*/ 258 h 288"/>
                <a:gd name="T14" fmla="*/ 0 w 168"/>
                <a:gd name="T15" fmla="*/ 30 h 288"/>
                <a:gd name="T16" fmla="*/ 30 w 168"/>
                <a:gd name="T17" fmla="*/ 0 h 288"/>
                <a:gd name="T18" fmla="*/ 138 w 168"/>
                <a:gd name="T19" fmla="*/ 276 h 288"/>
                <a:gd name="T20" fmla="*/ 156 w 168"/>
                <a:gd name="T21" fmla="*/ 258 h 288"/>
                <a:gd name="T22" fmla="*/ 156 w 168"/>
                <a:gd name="T23" fmla="*/ 30 h 288"/>
                <a:gd name="T24" fmla="*/ 138 w 168"/>
                <a:gd name="T25" fmla="*/ 12 h 288"/>
                <a:gd name="T26" fmla="*/ 30 w 168"/>
                <a:gd name="T27" fmla="*/ 12 h 288"/>
                <a:gd name="T28" fmla="*/ 12 w 168"/>
                <a:gd name="T29" fmla="*/ 30 h 288"/>
                <a:gd name="T30" fmla="*/ 12 w 168"/>
                <a:gd name="T31" fmla="*/ 258 h 288"/>
                <a:gd name="T32" fmla="*/ 30 w 168"/>
                <a:gd name="T33" fmla="*/ 276 h 288"/>
                <a:gd name="T34" fmla="*/ 138 w 168"/>
                <a:gd name="T35"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8" h="288">
                  <a:moveTo>
                    <a:pt x="30" y="0"/>
                  </a:moveTo>
                  <a:cubicBezTo>
                    <a:pt x="138" y="0"/>
                    <a:pt x="138" y="0"/>
                    <a:pt x="138" y="0"/>
                  </a:cubicBezTo>
                  <a:cubicBezTo>
                    <a:pt x="154" y="0"/>
                    <a:pt x="168" y="13"/>
                    <a:pt x="168" y="30"/>
                  </a:cubicBezTo>
                  <a:cubicBezTo>
                    <a:pt x="168" y="258"/>
                    <a:pt x="168" y="258"/>
                    <a:pt x="168" y="258"/>
                  </a:cubicBezTo>
                  <a:cubicBezTo>
                    <a:pt x="168" y="274"/>
                    <a:pt x="154" y="288"/>
                    <a:pt x="138" y="288"/>
                  </a:cubicBezTo>
                  <a:cubicBezTo>
                    <a:pt x="30" y="288"/>
                    <a:pt x="30" y="288"/>
                    <a:pt x="30" y="288"/>
                  </a:cubicBezTo>
                  <a:cubicBezTo>
                    <a:pt x="13" y="288"/>
                    <a:pt x="0" y="274"/>
                    <a:pt x="0" y="258"/>
                  </a:cubicBezTo>
                  <a:cubicBezTo>
                    <a:pt x="0" y="30"/>
                    <a:pt x="0" y="30"/>
                    <a:pt x="0" y="30"/>
                  </a:cubicBezTo>
                  <a:cubicBezTo>
                    <a:pt x="0" y="13"/>
                    <a:pt x="13" y="0"/>
                    <a:pt x="30" y="0"/>
                  </a:cubicBezTo>
                  <a:close/>
                  <a:moveTo>
                    <a:pt x="138" y="276"/>
                  </a:moveTo>
                  <a:cubicBezTo>
                    <a:pt x="148" y="276"/>
                    <a:pt x="156" y="268"/>
                    <a:pt x="156" y="258"/>
                  </a:cubicBezTo>
                  <a:cubicBezTo>
                    <a:pt x="156" y="30"/>
                    <a:pt x="156" y="30"/>
                    <a:pt x="156" y="30"/>
                  </a:cubicBezTo>
                  <a:cubicBezTo>
                    <a:pt x="156" y="20"/>
                    <a:pt x="148" y="12"/>
                    <a:pt x="138" y="12"/>
                  </a:cubicBezTo>
                  <a:cubicBezTo>
                    <a:pt x="30" y="12"/>
                    <a:pt x="30" y="12"/>
                    <a:pt x="30" y="12"/>
                  </a:cubicBezTo>
                  <a:cubicBezTo>
                    <a:pt x="20" y="12"/>
                    <a:pt x="12" y="20"/>
                    <a:pt x="12" y="30"/>
                  </a:cubicBezTo>
                  <a:cubicBezTo>
                    <a:pt x="12" y="258"/>
                    <a:pt x="12" y="258"/>
                    <a:pt x="12" y="258"/>
                  </a:cubicBezTo>
                  <a:cubicBezTo>
                    <a:pt x="12" y="268"/>
                    <a:pt x="20" y="276"/>
                    <a:pt x="30" y="276"/>
                  </a:cubicBezTo>
                  <a:lnTo>
                    <a:pt x="138"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Verdana"/>
                <a:ea typeface="+mn-ea"/>
                <a:cs typeface="Arial" charset="0"/>
              </a:endParaRPr>
            </a:p>
          </p:txBody>
        </p:sp>
        <p:sp>
          <p:nvSpPr>
            <p:cNvPr id="86" name="Freeform 134">
              <a:extLst>
                <a:ext uri="{FF2B5EF4-FFF2-40B4-BE49-F238E27FC236}">
                  <a16:creationId xmlns:a16="http://schemas.microsoft.com/office/drawing/2014/main" id="{4B793AF8-9D6D-8134-7392-EE1F7301241E}"/>
                </a:ext>
              </a:extLst>
            </p:cNvPr>
            <p:cNvSpPr>
              <a:spLocks/>
            </p:cNvSpPr>
            <p:nvPr/>
          </p:nvSpPr>
          <p:spPr bwMode="auto">
            <a:xfrm>
              <a:off x="6631" y="2079"/>
              <a:ext cx="249" cy="18"/>
            </a:xfrm>
            <a:custGeom>
              <a:avLst/>
              <a:gdLst>
                <a:gd name="T0" fmla="*/ 6 w 168"/>
                <a:gd name="T1" fmla="*/ 0 h 12"/>
                <a:gd name="T2" fmla="*/ 162 w 168"/>
                <a:gd name="T3" fmla="*/ 0 h 12"/>
                <a:gd name="T4" fmla="*/ 168 w 168"/>
                <a:gd name="T5" fmla="*/ 6 h 12"/>
                <a:gd name="T6" fmla="*/ 162 w 168"/>
                <a:gd name="T7" fmla="*/ 12 h 12"/>
                <a:gd name="T8" fmla="*/ 6 w 168"/>
                <a:gd name="T9" fmla="*/ 12 h 12"/>
                <a:gd name="T10" fmla="*/ 0 w 168"/>
                <a:gd name="T11" fmla="*/ 6 h 12"/>
                <a:gd name="T12" fmla="*/ 6 w 168"/>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168" h="12">
                  <a:moveTo>
                    <a:pt x="6" y="0"/>
                  </a:moveTo>
                  <a:cubicBezTo>
                    <a:pt x="162" y="0"/>
                    <a:pt x="162" y="0"/>
                    <a:pt x="162" y="0"/>
                  </a:cubicBezTo>
                  <a:cubicBezTo>
                    <a:pt x="165" y="0"/>
                    <a:pt x="168" y="3"/>
                    <a:pt x="168" y="6"/>
                  </a:cubicBezTo>
                  <a:cubicBezTo>
                    <a:pt x="168" y="9"/>
                    <a:pt x="165" y="12"/>
                    <a:pt x="162" y="12"/>
                  </a:cubicBezTo>
                  <a:cubicBezTo>
                    <a:pt x="6" y="12"/>
                    <a:pt x="6" y="12"/>
                    <a:pt x="6" y="12"/>
                  </a:cubicBezTo>
                  <a:cubicBezTo>
                    <a:pt x="3" y="12"/>
                    <a:pt x="0" y="9"/>
                    <a:pt x="0" y="6"/>
                  </a:cubicBezTo>
                  <a:cubicBezTo>
                    <a:pt x="0" y="3"/>
                    <a:pt x="3"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Verdana"/>
                <a:ea typeface="+mn-ea"/>
                <a:cs typeface="Arial" charset="0"/>
              </a:endParaRPr>
            </a:p>
          </p:txBody>
        </p:sp>
        <p:sp>
          <p:nvSpPr>
            <p:cNvPr id="87" name="Freeform 135">
              <a:extLst>
                <a:ext uri="{FF2B5EF4-FFF2-40B4-BE49-F238E27FC236}">
                  <a16:creationId xmlns:a16="http://schemas.microsoft.com/office/drawing/2014/main" id="{69D67EC1-C8B1-F4AF-9896-67E61AC47421}"/>
                </a:ext>
              </a:extLst>
            </p:cNvPr>
            <p:cNvSpPr>
              <a:spLocks/>
            </p:cNvSpPr>
            <p:nvPr/>
          </p:nvSpPr>
          <p:spPr bwMode="auto">
            <a:xfrm>
              <a:off x="6631" y="1812"/>
              <a:ext cx="249" cy="18"/>
            </a:xfrm>
            <a:custGeom>
              <a:avLst/>
              <a:gdLst>
                <a:gd name="T0" fmla="*/ 6 w 168"/>
                <a:gd name="T1" fmla="*/ 0 h 12"/>
                <a:gd name="T2" fmla="*/ 162 w 168"/>
                <a:gd name="T3" fmla="*/ 0 h 12"/>
                <a:gd name="T4" fmla="*/ 168 w 168"/>
                <a:gd name="T5" fmla="*/ 6 h 12"/>
                <a:gd name="T6" fmla="*/ 162 w 168"/>
                <a:gd name="T7" fmla="*/ 12 h 12"/>
                <a:gd name="T8" fmla="*/ 6 w 168"/>
                <a:gd name="T9" fmla="*/ 12 h 12"/>
                <a:gd name="T10" fmla="*/ 0 w 168"/>
                <a:gd name="T11" fmla="*/ 6 h 12"/>
                <a:gd name="T12" fmla="*/ 6 w 168"/>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168" h="12">
                  <a:moveTo>
                    <a:pt x="6" y="0"/>
                  </a:moveTo>
                  <a:cubicBezTo>
                    <a:pt x="162" y="0"/>
                    <a:pt x="162" y="0"/>
                    <a:pt x="162" y="0"/>
                  </a:cubicBezTo>
                  <a:cubicBezTo>
                    <a:pt x="165" y="0"/>
                    <a:pt x="168" y="3"/>
                    <a:pt x="168" y="6"/>
                  </a:cubicBezTo>
                  <a:cubicBezTo>
                    <a:pt x="168" y="9"/>
                    <a:pt x="165" y="12"/>
                    <a:pt x="162" y="12"/>
                  </a:cubicBezTo>
                  <a:cubicBezTo>
                    <a:pt x="6" y="12"/>
                    <a:pt x="6" y="12"/>
                    <a:pt x="6" y="12"/>
                  </a:cubicBezTo>
                  <a:cubicBezTo>
                    <a:pt x="3" y="12"/>
                    <a:pt x="0" y="9"/>
                    <a:pt x="0" y="6"/>
                  </a:cubicBezTo>
                  <a:cubicBezTo>
                    <a:pt x="0" y="3"/>
                    <a:pt x="3"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Verdana"/>
                <a:ea typeface="+mn-ea"/>
                <a:cs typeface="Arial" charset="0"/>
              </a:endParaRPr>
            </a:p>
          </p:txBody>
        </p:sp>
        <p:sp>
          <p:nvSpPr>
            <p:cNvPr id="88" name="Oval 136">
              <a:extLst>
                <a:ext uri="{FF2B5EF4-FFF2-40B4-BE49-F238E27FC236}">
                  <a16:creationId xmlns:a16="http://schemas.microsoft.com/office/drawing/2014/main" id="{A3BA56EC-C5F6-A810-A5F2-DB3A0FD9D8B0}"/>
                </a:ext>
              </a:extLst>
            </p:cNvPr>
            <p:cNvSpPr>
              <a:spLocks noChangeArrowheads="1"/>
            </p:cNvSpPr>
            <p:nvPr/>
          </p:nvSpPr>
          <p:spPr bwMode="auto">
            <a:xfrm>
              <a:off x="6738" y="2105"/>
              <a:ext cx="35"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16207B"/>
                </a:solidFill>
                <a:effectLst/>
                <a:uLnTx/>
                <a:uFillTx/>
                <a:latin typeface="Verdana"/>
                <a:ea typeface="+mn-ea"/>
                <a:cs typeface="Arial" charset="0"/>
              </a:endParaRPr>
            </a:p>
          </p:txBody>
        </p:sp>
      </p:grpSp>
      <p:cxnSp>
        <p:nvCxnSpPr>
          <p:cNvPr id="90" name="Conector recto 9">
            <a:extLst>
              <a:ext uri="{FF2B5EF4-FFF2-40B4-BE49-F238E27FC236}">
                <a16:creationId xmlns:a16="http://schemas.microsoft.com/office/drawing/2014/main" id="{94DB62BE-D0E5-1969-4620-53D36130268B}"/>
              </a:ext>
            </a:extLst>
          </p:cNvPr>
          <p:cNvCxnSpPr>
            <a:cxnSpLocks/>
          </p:cNvCxnSpPr>
          <p:nvPr/>
        </p:nvCxnSpPr>
        <p:spPr>
          <a:xfrm>
            <a:off x="4714876" y="3980501"/>
            <a:ext cx="1683826" cy="0"/>
          </a:xfrm>
          <a:prstGeom prst="line">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92" name="Conector recto 9">
            <a:extLst>
              <a:ext uri="{FF2B5EF4-FFF2-40B4-BE49-F238E27FC236}">
                <a16:creationId xmlns:a16="http://schemas.microsoft.com/office/drawing/2014/main" id="{003D5EBD-5D3B-EB46-2EC2-B018D2A49BA0}"/>
              </a:ext>
            </a:extLst>
          </p:cNvPr>
          <p:cNvCxnSpPr>
            <a:cxnSpLocks/>
          </p:cNvCxnSpPr>
          <p:nvPr/>
        </p:nvCxnSpPr>
        <p:spPr>
          <a:xfrm>
            <a:off x="4726599" y="4630453"/>
            <a:ext cx="1683826" cy="0"/>
          </a:xfrm>
          <a:prstGeom prst="line">
            <a:avLst/>
          </a:prstGeom>
          <a:ln w="12700">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93" name="Conector recto 9">
            <a:extLst>
              <a:ext uri="{FF2B5EF4-FFF2-40B4-BE49-F238E27FC236}">
                <a16:creationId xmlns:a16="http://schemas.microsoft.com/office/drawing/2014/main" id="{21285743-0CF5-8D74-C752-8F66117BDA74}"/>
              </a:ext>
            </a:extLst>
          </p:cNvPr>
          <p:cNvCxnSpPr>
            <a:cxnSpLocks/>
          </p:cNvCxnSpPr>
          <p:nvPr/>
        </p:nvCxnSpPr>
        <p:spPr>
          <a:xfrm>
            <a:off x="4726599" y="5280405"/>
            <a:ext cx="1683826" cy="0"/>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4" name="Conector recto 9">
            <a:extLst>
              <a:ext uri="{FF2B5EF4-FFF2-40B4-BE49-F238E27FC236}">
                <a16:creationId xmlns:a16="http://schemas.microsoft.com/office/drawing/2014/main" id="{5304EDFD-550F-B0BE-EAB1-930164F9AB8C}"/>
              </a:ext>
            </a:extLst>
          </p:cNvPr>
          <p:cNvCxnSpPr>
            <a:cxnSpLocks/>
          </p:cNvCxnSpPr>
          <p:nvPr/>
        </p:nvCxnSpPr>
        <p:spPr>
          <a:xfrm>
            <a:off x="4726599" y="5930357"/>
            <a:ext cx="1683826" cy="0"/>
          </a:xfrm>
          <a:prstGeom prst="line">
            <a:avLst/>
          </a:prstGeom>
          <a:ln w="12700">
            <a:solidFill>
              <a:schemeClr val="accent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05" name="Triangle 104">
            <a:extLst>
              <a:ext uri="{FF2B5EF4-FFF2-40B4-BE49-F238E27FC236}">
                <a16:creationId xmlns:a16="http://schemas.microsoft.com/office/drawing/2014/main" id="{555893F3-6867-0AF3-C02C-2170A1ABA2FC}"/>
              </a:ext>
            </a:extLst>
          </p:cNvPr>
          <p:cNvSpPr/>
          <p:nvPr/>
        </p:nvSpPr>
        <p:spPr>
          <a:xfrm rot="5400000">
            <a:off x="3185962" y="5638801"/>
            <a:ext cx="379620" cy="327259"/>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06" name="Triangle 105">
            <a:extLst>
              <a:ext uri="{FF2B5EF4-FFF2-40B4-BE49-F238E27FC236}">
                <a16:creationId xmlns:a16="http://schemas.microsoft.com/office/drawing/2014/main" id="{CDB2C5A9-04F4-B664-C537-0FC7B892362F}"/>
              </a:ext>
            </a:extLst>
          </p:cNvPr>
          <p:cNvSpPr/>
          <p:nvPr/>
        </p:nvSpPr>
        <p:spPr>
          <a:xfrm rot="5400000">
            <a:off x="3420177" y="5638801"/>
            <a:ext cx="379620" cy="32725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07" name="Triangle 106">
            <a:extLst>
              <a:ext uri="{FF2B5EF4-FFF2-40B4-BE49-F238E27FC236}">
                <a16:creationId xmlns:a16="http://schemas.microsoft.com/office/drawing/2014/main" id="{4590E9AB-6121-4B7C-E666-0DE950CF5F3F}"/>
              </a:ext>
            </a:extLst>
          </p:cNvPr>
          <p:cNvSpPr/>
          <p:nvPr/>
        </p:nvSpPr>
        <p:spPr>
          <a:xfrm rot="5400000">
            <a:off x="3654391" y="5638801"/>
            <a:ext cx="379620" cy="327259"/>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08" name="TextBox 24">
            <a:extLst>
              <a:ext uri="{FF2B5EF4-FFF2-40B4-BE49-F238E27FC236}">
                <a16:creationId xmlns:a16="http://schemas.microsoft.com/office/drawing/2014/main" id="{064EE638-5DC2-86E0-D0EE-A2E4FFFFA0A2}"/>
              </a:ext>
            </a:extLst>
          </p:cNvPr>
          <p:cNvSpPr txBox="1"/>
          <p:nvPr/>
        </p:nvSpPr>
        <p:spPr>
          <a:xfrm>
            <a:off x="6717615" y="5197217"/>
            <a:ext cx="2161444" cy="369332"/>
          </a:xfrm>
          <a:prstGeom prst="rect">
            <a:avLst/>
          </a:prstGeom>
          <a:noFill/>
        </p:spPr>
        <p:txBody>
          <a:bodyPr wrap="square" lIns="0" tIns="0" rIns="0" bIns="0"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629DD1"/>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 box title</a:t>
            </a:r>
          </a:p>
        </p:txBody>
      </p:sp>
      <p:sp>
        <p:nvSpPr>
          <p:cNvPr id="109" name="TextBox 25">
            <a:extLst>
              <a:ext uri="{FF2B5EF4-FFF2-40B4-BE49-F238E27FC236}">
                <a16:creationId xmlns:a16="http://schemas.microsoft.com/office/drawing/2014/main" id="{485CF050-22F5-7B1B-818E-3814CC315A80}"/>
              </a:ext>
            </a:extLst>
          </p:cNvPr>
          <p:cNvSpPr txBox="1"/>
          <p:nvPr/>
        </p:nvSpPr>
        <p:spPr>
          <a:xfrm>
            <a:off x="6802963" y="5901149"/>
            <a:ext cx="2165684"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 box text box</a:t>
            </a:r>
          </a:p>
        </p:txBody>
      </p:sp>
      <p:sp>
        <p:nvSpPr>
          <p:cNvPr id="110" name="Text Placeholder 6">
            <a:extLst>
              <a:ext uri="{FF2B5EF4-FFF2-40B4-BE49-F238E27FC236}">
                <a16:creationId xmlns:a16="http://schemas.microsoft.com/office/drawing/2014/main" id="{B9336CD2-94E4-22E6-411C-99C36C9FEAC6}"/>
              </a:ext>
            </a:extLst>
          </p:cNvPr>
          <p:cNvSpPr txBox="1">
            <a:spLocks/>
          </p:cNvSpPr>
          <p:nvPr/>
        </p:nvSpPr>
        <p:spPr>
          <a:xfrm>
            <a:off x="8794142" y="3716216"/>
            <a:ext cx="1408638" cy="2592510"/>
          </a:xfrm>
          <a:prstGeom prst="rect">
            <a:avLst/>
          </a:prstGeom>
          <a:solidFill>
            <a:schemeClr val="bg1">
              <a:lumMod val="95000"/>
            </a:schemeClr>
          </a:solidFill>
          <a:effectLst/>
        </p:spPr>
        <p:txBody>
          <a:bodyPr lIns="216000" rIns="89988" bIns="180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0" marR="0" lvl="0" indent="0" algn="ctr" defTabSz="228554"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 box with grey background</a:t>
            </a:r>
          </a:p>
        </p:txBody>
      </p:sp>
      <p:sp>
        <p:nvSpPr>
          <p:cNvPr id="111" name="Text Placeholder 6">
            <a:extLst>
              <a:ext uri="{FF2B5EF4-FFF2-40B4-BE49-F238E27FC236}">
                <a16:creationId xmlns:a16="http://schemas.microsoft.com/office/drawing/2014/main" id="{8A5ECB8D-3E37-9F94-F764-166198BE9356}"/>
              </a:ext>
            </a:extLst>
          </p:cNvPr>
          <p:cNvSpPr txBox="1">
            <a:spLocks/>
          </p:cNvSpPr>
          <p:nvPr/>
        </p:nvSpPr>
        <p:spPr>
          <a:xfrm>
            <a:off x="10411887" y="3716216"/>
            <a:ext cx="1408638" cy="2592510"/>
          </a:xfrm>
          <a:prstGeom prst="rect">
            <a:avLst/>
          </a:prstGeom>
          <a:solidFill>
            <a:schemeClr val="tx2"/>
          </a:solidFill>
          <a:effectLst/>
        </p:spPr>
        <p:txBody>
          <a:bodyPr lIns="216000" rIns="89988" bIns="180000" anchor="ctr"/>
          <a:lstStyle>
            <a:defPPr>
              <a:defRPr lang="en-US"/>
            </a:defPPr>
            <a:lvl1pPr indent="0" defTabSz="457200">
              <a:lnSpc>
                <a:spcPct val="100000"/>
              </a:lnSpc>
              <a:spcBef>
                <a:spcPts val="0"/>
              </a:spcBef>
              <a:spcAft>
                <a:spcPts val="0"/>
              </a:spcAft>
              <a:buFont typeface="Arial" panose="020B0604020202020204" pitchFamily="34" charset="0"/>
              <a:buNone/>
              <a:defRPr b="1">
                <a:latin typeface="+mj-lt"/>
              </a:defRPr>
            </a:lvl1pPr>
            <a:lvl2pPr marL="457200" indent="-457200" defTabSz="457200">
              <a:lnSpc>
                <a:spcPct val="100000"/>
              </a:lnSpc>
              <a:spcBef>
                <a:spcPts val="0"/>
              </a:spcBef>
              <a:spcAft>
                <a:spcPts val="2400"/>
              </a:spcAft>
              <a:buClrTx/>
              <a:buFont typeface="Arial" panose="020B0604020202020204" pitchFamily="34" charset="0"/>
              <a:buChar char="•"/>
              <a:defRPr sz="4000">
                <a:latin typeface="Graphik Light" panose="020B0403030202060203" pitchFamily="34" charset="0"/>
              </a:defRPr>
            </a:lvl2pPr>
            <a:lvl3pPr marL="914400" indent="-457200" defTabSz="457200">
              <a:lnSpc>
                <a:spcPct val="100000"/>
              </a:lnSpc>
              <a:spcBef>
                <a:spcPts val="0"/>
              </a:spcBef>
              <a:spcAft>
                <a:spcPts val="2400"/>
              </a:spcAft>
              <a:buFont typeface="Verdana"/>
              <a:buChar char="–"/>
              <a:defRPr sz="4000">
                <a:latin typeface="Graphik Light" panose="020B0403030202060203" pitchFamily="34" charset="0"/>
              </a:defRPr>
            </a:lvl3pPr>
            <a:lvl4pPr marL="1371600" indent="-457200" defTabSz="457200">
              <a:lnSpc>
                <a:spcPct val="100000"/>
              </a:lnSpc>
              <a:spcBef>
                <a:spcPts val="0"/>
              </a:spcBef>
              <a:spcAft>
                <a:spcPts val="2400"/>
              </a:spcAft>
              <a:buFont typeface="Arial" panose="020B0604020202020204" pitchFamily="34" charset="0"/>
              <a:buChar char="•"/>
              <a:defRPr>
                <a:latin typeface="Graphik Light" panose="020B0403030202060203" pitchFamily="34" charset="0"/>
              </a:defRPr>
            </a:lvl4pPr>
            <a:lvl5pPr marL="1828800" indent="-457200" defTabSz="457200">
              <a:lnSpc>
                <a:spcPct val="100000"/>
              </a:lnSpc>
              <a:spcBef>
                <a:spcPts val="0"/>
              </a:spcBef>
              <a:spcAft>
                <a:spcPts val="2400"/>
              </a:spcAft>
              <a:buFont typeface="Verdana"/>
              <a:buChar char="–"/>
              <a:defRPr>
                <a:latin typeface="Graphik Light" panose="020B0403030202060203" pitchFamily="34" charset="0"/>
              </a:defRPr>
            </a:lvl5pPr>
            <a:lvl6pPr marL="22226" indent="0" defTabSz="457200">
              <a:lnSpc>
                <a:spcPct val="90000"/>
              </a:lnSpc>
              <a:spcBef>
                <a:spcPts val="0"/>
              </a:spcBef>
              <a:spcAft>
                <a:spcPts val="2400"/>
              </a:spcAft>
              <a:buFont typeface="Graphik" panose="020B0503030202060203" pitchFamily="34" charset="0"/>
              <a:buNone/>
              <a:tabLst/>
              <a:defRPr sz="3200">
                <a:latin typeface="Graphik Light" panose="020B0403030202060203" pitchFamily="34" charset="0"/>
              </a:defRPr>
            </a:lvl6pPr>
            <a:lvl7pPr marL="0" indent="0" defTabSz="457200">
              <a:lnSpc>
                <a:spcPct val="90000"/>
              </a:lnSpc>
              <a:spcBef>
                <a:spcPts val="0"/>
              </a:spcBef>
              <a:spcAft>
                <a:spcPts val="2400"/>
              </a:spcAft>
              <a:buFont typeface="Arial" panose="020B0604020202020204" pitchFamily="34" charset="0"/>
              <a:buNone/>
              <a:defRPr sz="2400">
                <a:latin typeface="Graphik Light" panose="020B0403030202060203" pitchFamily="34" charset="0"/>
              </a:defRPr>
            </a:lvl7pPr>
            <a:lvl8pPr marL="0" indent="0" defTabSz="457200">
              <a:lnSpc>
                <a:spcPct val="90000"/>
              </a:lnSpc>
              <a:spcBef>
                <a:spcPts val="0"/>
              </a:spcBef>
              <a:spcAft>
                <a:spcPts val="2400"/>
              </a:spcAft>
              <a:buFont typeface="Arial" panose="020B0604020202020204" pitchFamily="34" charset="0"/>
              <a:buNone/>
              <a:defRPr sz="2000" b="1">
                <a:latin typeface="Graphik Light" panose="020B0403030202060203" pitchFamily="34" charset="0"/>
              </a:defRPr>
            </a:lvl8pPr>
            <a:lvl9pPr marL="0" indent="0" defTabSz="457200">
              <a:lnSpc>
                <a:spcPct val="90000"/>
              </a:lnSpc>
              <a:spcBef>
                <a:spcPts val="0"/>
              </a:spcBef>
              <a:spcAft>
                <a:spcPts val="2400"/>
              </a:spcAft>
              <a:buFont typeface="Arial" panose="020B0604020202020204" pitchFamily="34" charset="0"/>
              <a:buNone/>
              <a:defRPr sz="1600">
                <a:solidFill>
                  <a:schemeClr val="tx2"/>
                </a:solidFill>
                <a:latin typeface="Graphik Light" panose="020B0403030202060203" pitchFamily="34" charset="0"/>
              </a:defRPr>
            </a:lvl9pPr>
          </a:lstStyle>
          <a:p>
            <a:pPr marL="0" marR="0" lvl="0" indent="0" algn="ctr" defTabSz="228554"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Text box with Blue background</a:t>
            </a:r>
          </a:p>
        </p:txBody>
      </p:sp>
      <p:cxnSp>
        <p:nvCxnSpPr>
          <p:cNvPr id="114" name="Elbow Connector 113">
            <a:extLst>
              <a:ext uri="{FF2B5EF4-FFF2-40B4-BE49-F238E27FC236}">
                <a16:creationId xmlns:a16="http://schemas.microsoft.com/office/drawing/2014/main" id="{FEBC14FA-3194-220C-8ED9-1260D9A3E887}"/>
              </a:ext>
            </a:extLst>
          </p:cNvPr>
          <p:cNvCxnSpPr>
            <a:cxnSpLocks/>
          </p:cNvCxnSpPr>
          <p:nvPr/>
        </p:nvCxnSpPr>
        <p:spPr>
          <a:xfrm>
            <a:off x="6717323" y="3950677"/>
            <a:ext cx="1805354" cy="457200"/>
          </a:xfrm>
          <a:prstGeom prst="bentConnector3">
            <a:avLst/>
          </a:prstGeom>
          <a:ln w="12700">
            <a:solidFill>
              <a:schemeClr val="accent1"/>
            </a:solidFill>
            <a:headEnd type="oval"/>
            <a:tailEnd type="arrow"/>
          </a:ln>
        </p:spPr>
        <p:style>
          <a:lnRef idx="1">
            <a:schemeClr val="accent1"/>
          </a:lnRef>
          <a:fillRef idx="0">
            <a:schemeClr val="accent1"/>
          </a:fillRef>
          <a:effectRef idx="0">
            <a:schemeClr val="accent1"/>
          </a:effectRef>
          <a:fontRef idx="minor">
            <a:schemeClr val="tx1"/>
          </a:fontRef>
        </p:style>
      </p:cxnSp>
      <p:cxnSp>
        <p:nvCxnSpPr>
          <p:cNvPr id="116" name="Elbow Connector 115">
            <a:extLst>
              <a:ext uri="{FF2B5EF4-FFF2-40B4-BE49-F238E27FC236}">
                <a16:creationId xmlns:a16="http://schemas.microsoft.com/office/drawing/2014/main" id="{9B15553B-6375-6440-05C9-4E8D55D60E2F}"/>
              </a:ext>
            </a:extLst>
          </p:cNvPr>
          <p:cNvCxnSpPr>
            <a:cxnSpLocks/>
          </p:cNvCxnSpPr>
          <p:nvPr/>
        </p:nvCxnSpPr>
        <p:spPr>
          <a:xfrm>
            <a:off x="6693877" y="4630615"/>
            <a:ext cx="1805354" cy="457200"/>
          </a:xfrm>
          <a:prstGeom prst="bentConnector3">
            <a:avLst/>
          </a:prstGeom>
          <a:ln w="12700">
            <a:solidFill>
              <a:schemeClr val="accent1"/>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95E1696-B10D-2B7A-2A5F-5FD7F4197A71}"/>
              </a:ext>
            </a:extLst>
          </p:cNvPr>
          <p:cNvCxnSpPr>
            <a:cxnSpLocks/>
          </p:cNvCxnSpPr>
          <p:nvPr/>
        </p:nvCxnSpPr>
        <p:spPr>
          <a:xfrm>
            <a:off x="371474" y="2828662"/>
            <a:ext cx="413315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Marcador de pie de página 5">
            <a:extLst>
              <a:ext uri="{FF2B5EF4-FFF2-40B4-BE49-F238E27FC236}">
                <a16:creationId xmlns:a16="http://schemas.microsoft.com/office/drawing/2014/main" id="{6F468D0C-BF2D-F9DC-B6AD-78ED40B7CB6F}"/>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259758102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to 6" hidden="1">
            <a:extLst>
              <a:ext uri="{FF2B5EF4-FFF2-40B4-BE49-F238E27FC236}">
                <a16:creationId xmlns:a16="http://schemas.microsoft.com/office/drawing/2014/main" id="{D6E1F8B7-BD61-4F51-2514-3EB300B6BD0A}"/>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7" name="Objeto 6" hidden="1">
                        <a:extLst>
                          <a:ext uri="{FF2B5EF4-FFF2-40B4-BE49-F238E27FC236}">
                            <a16:creationId xmlns:a16="http://schemas.microsoft.com/office/drawing/2014/main" id="{D6E1F8B7-BD61-4F51-2514-3EB300B6BD0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Marcador de texto 4">
            <a:extLst>
              <a:ext uri="{FF2B5EF4-FFF2-40B4-BE49-F238E27FC236}">
                <a16:creationId xmlns:a16="http://schemas.microsoft.com/office/drawing/2014/main" id="{C71C7F2A-91A5-9142-AC6C-E43A61111DF1}"/>
              </a:ext>
            </a:extLst>
          </p:cNvPr>
          <p:cNvSpPr>
            <a:spLocks noGrp="1"/>
          </p:cNvSpPr>
          <p:nvPr>
            <p:ph type="body" sz="quarter" idx="14"/>
          </p:nvPr>
        </p:nvSpPr>
        <p:spPr/>
        <p:txBody>
          <a:bodyPr/>
          <a:lstStyle/>
          <a:p>
            <a:r>
              <a:rPr lang="en-US" dirty="0"/>
              <a:t>Subtitle</a:t>
            </a:r>
            <a:endParaRPr lang="en-US"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13" name="Título 12">
            <a:extLst>
              <a:ext uri="{FF2B5EF4-FFF2-40B4-BE49-F238E27FC236}">
                <a16:creationId xmlns:a16="http://schemas.microsoft.com/office/drawing/2014/main" id="{4E8D2FED-9101-DEF3-7C65-4E9A4D39BAB1}"/>
              </a:ext>
            </a:extLst>
          </p:cNvPr>
          <p:cNvSpPr>
            <a:spLocks noGrp="1"/>
          </p:cNvSpPr>
          <p:nvPr>
            <p:ph type="title"/>
          </p:nvPr>
        </p:nvSpPr>
        <p:spPr/>
        <p:txBody>
          <a:bodyPr vert="horz"/>
          <a:lstStyle/>
          <a:p>
            <a:r>
              <a:rPr lang="en-US" dirty="0"/>
              <a:t>Template - Elements</a:t>
            </a:r>
          </a:p>
        </p:txBody>
      </p:sp>
      <p:sp>
        <p:nvSpPr>
          <p:cNvPr id="4" name="Oval 22">
            <a:extLst>
              <a:ext uri="{FF2B5EF4-FFF2-40B4-BE49-F238E27FC236}">
                <a16:creationId xmlns:a16="http://schemas.microsoft.com/office/drawing/2014/main" id="{311C2387-6C53-77A4-FFB7-8F3496394BB1}"/>
              </a:ext>
            </a:extLst>
          </p:cNvPr>
          <p:cNvSpPr/>
          <p:nvPr/>
        </p:nvSpPr>
        <p:spPr>
          <a:xfrm>
            <a:off x="371475" y="1726156"/>
            <a:ext cx="461112" cy="461175"/>
          </a:xfrm>
          <a:prstGeom prst="ellipse">
            <a:avLst/>
          </a:prstGeom>
          <a:solidFill>
            <a:schemeClr val="accent2"/>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FFFF"/>
                </a:solidFill>
                <a:effectLst/>
                <a:uLnTx/>
                <a:uFillTx/>
                <a:latin typeface="Verdana"/>
                <a:ea typeface="+mn-ea"/>
                <a:cs typeface="+mn-cs"/>
              </a:rPr>
              <a:t>1</a:t>
            </a:r>
          </a:p>
        </p:txBody>
      </p:sp>
      <p:sp>
        <p:nvSpPr>
          <p:cNvPr id="12" name="Oval 28">
            <a:extLst>
              <a:ext uri="{FF2B5EF4-FFF2-40B4-BE49-F238E27FC236}">
                <a16:creationId xmlns:a16="http://schemas.microsoft.com/office/drawing/2014/main" id="{37D3C9D5-CF1B-A896-6C80-246DACA7D73A}"/>
              </a:ext>
            </a:extLst>
          </p:cNvPr>
          <p:cNvSpPr/>
          <p:nvPr/>
        </p:nvSpPr>
        <p:spPr>
          <a:xfrm>
            <a:off x="371475" y="2994064"/>
            <a:ext cx="461112" cy="461175"/>
          </a:xfrm>
          <a:prstGeom prst="ellipse">
            <a:avLst/>
          </a:prstGeom>
          <a:solidFill>
            <a:schemeClr val="accent4"/>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FFFF"/>
                </a:solidFill>
                <a:effectLst/>
                <a:uLnTx/>
                <a:uFillTx/>
                <a:latin typeface="Verdana"/>
                <a:ea typeface="+mn-ea"/>
                <a:cs typeface="+mn-cs"/>
              </a:rPr>
              <a:t>3</a:t>
            </a:r>
          </a:p>
        </p:txBody>
      </p:sp>
      <p:sp>
        <p:nvSpPr>
          <p:cNvPr id="31" name="Oval 30">
            <a:extLst>
              <a:ext uri="{FF2B5EF4-FFF2-40B4-BE49-F238E27FC236}">
                <a16:creationId xmlns:a16="http://schemas.microsoft.com/office/drawing/2014/main" id="{8158DC88-C85C-4AFC-3569-85DF0428188C}"/>
              </a:ext>
            </a:extLst>
          </p:cNvPr>
          <p:cNvSpPr/>
          <p:nvPr/>
        </p:nvSpPr>
        <p:spPr>
          <a:xfrm>
            <a:off x="371475" y="2360110"/>
            <a:ext cx="461112" cy="461175"/>
          </a:xfrm>
          <a:prstGeom prst="ellipse">
            <a:avLst/>
          </a:prstGeom>
          <a:solidFill>
            <a:schemeClr val="tx2"/>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FFFF"/>
                </a:solidFill>
                <a:effectLst/>
                <a:uLnTx/>
                <a:uFillTx/>
                <a:latin typeface="Verdana"/>
                <a:ea typeface="+mn-ea"/>
                <a:cs typeface="+mn-cs"/>
              </a:rPr>
              <a:t>2</a:t>
            </a:r>
          </a:p>
        </p:txBody>
      </p:sp>
      <p:sp>
        <p:nvSpPr>
          <p:cNvPr id="46" name="Oval 32">
            <a:extLst>
              <a:ext uri="{FF2B5EF4-FFF2-40B4-BE49-F238E27FC236}">
                <a16:creationId xmlns:a16="http://schemas.microsoft.com/office/drawing/2014/main" id="{D07B2ADF-60CE-0567-ED90-17B279C590B9}"/>
              </a:ext>
            </a:extLst>
          </p:cNvPr>
          <p:cNvSpPr/>
          <p:nvPr/>
        </p:nvSpPr>
        <p:spPr>
          <a:xfrm>
            <a:off x="371475" y="3628017"/>
            <a:ext cx="461112" cy="461175"/>
          </a:xfrm>
          <a:prstGeom prst="ellipse">
            <a:avLst/>
          </a:prstGeom>
          <a:solidFill>
            <a:schemeClr val="accent1"/>
          </a:solidFill>
          <a:ln>
            <a:no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FFFFFF"/>
                </a:solidFill>
                <a:effectLst/>
                <a:uLnTx/>
                <a:uFillTx/>
                <a:latin typeface="Verdana"/>
                <a:ea typeface="+mn-ea"/>
                <a:cs typeface="+mn-cs"/>
              </a:rPr>
              <a:t>4</a:t>
            </a:r>
          </a:p>
        </p:txBody>
      </p:sp>
      <p:grpSp>
        <p:nvGrpSpPr>
          <p:cNvPr id="10" name="Group 9">
            <a:extLst>
              <a:ext uri="{FF2B5EF4-FFF2-40B4-BE49-F238E27FC236}">
                <a16:creationId xmlns:a16="http://schemas.microsoft.com/office/drawing/2014/main" id="{3D4C7233-1A67-F165-FF41-038292960BDC}"/>
              </a:ext>
            </a:extLst>
          </p:cNvPr>
          <p:cNvGrpSpPr/>
          <p:nvPr/>
        </p:nvGrpSpPr>
        <p:grpSpPr>
          <a:xfrm>
            <a:off x="2395854" y="1520824"/>
            <a:ext cx="1858513" cy="1550622"/>
            <a:chOff x="1904965" y="2999216"/>
            <a:chExt cx="2782538" cy="1726468"/>
          </a:xfrm>
        </p:grpSpPr>
        <p:sp>
          <p:nvSpPr>
            <p:cNvPr id="47" name="Rectangle 6">
              <a:extLst>
                <a:ext uri="{FF2B5EF4-FFF2-40B4-BE49-F238E27FC236}">
                  <a16:creationId xmlns:a16="http://schemas.microsoft.com/office/drawing/2014/main" id="{A09ACF3B-EBC0-60FA-3609-83F917DDE131}"/>
                </a:ext>
              </a:extLst>
            </p:cNvPr>
            <p:cNvSpPr/>
            <p:nvPr/>
          </p:nvSpPr>
          <p:spPr>
            <a:xfrm>
              <a:off x="1904965" y="3439539"/>
              <a:ext cx="2782538" cy="128614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48" name="Triangle 18">
              <a:extLst>
                <a:ext uri="{FF2B5EF4-FFF2-40B4-BE49-F238E27FC236}">
                  <a16:creationId xmlns:a16="http://schemas.microsoft.com/office/drawing/2014/main" id="{2C70020D-6591-462A-F132-152FF58128C7}"/>
                </a:ext>
              </a:extLst>
            </p:cNvPr>
            <p:cNvSpPr/>
            <p:nvPr/>
          </p:nvSpPr>
          <p:spPr>
            <a:xfrm>
              <a:off x="2568901" y="2999216"/>
              <a:ext cx="1454667" cy="336851"/>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grpSp>
      <p:sp>
        <p:nvSpPr>
          <p:cNvPr id="51" name="Right Arrow 3">
            <a:extLst>
              <a:ext uri="{FF2B5EF4-FFF2-40B4-BE49-F238E27FC236}">
                <a16:creationId xmlns:a16="http://schemas.microsoft.com/office/drawing/2014/main" id="{E0174A4F-5E09-FFD8-909C-7F0D186D7791}"/>
              </a:ext>
            </a:extLst>
          </p:cNvPr>
          <p:cNvSpPr/>
          <p:nvPr/>
        </p:nvSpPr>
        <p:spPr>
          <a:xfrm>
            <a:off x="2307792" y="3300047"/>
            <a:ext cx="2788537" cy="1133962"/>
          </a:xfrm>
          <a:prstGeom prst="rightArrow">
            <a:avLst>
              <a:gd name="adj1" fmla="val 63559"/>
              <a:gd name="adj2" fmla="val 63581"/>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Verdana"/>
                <a:ea typeface="+mn-ea"/>
                <a:cs typeface="+mn-cs"/>
              </a:rPr>
              <a:t>CONSIDERATION</a:t>
            </a:r>
          </a:p>
        </p:txBody>
      </p:sp>
      <p:sp>
        <p:nvSpPr>
          <p:cNvPr id="53" name="Hexágono 7">
            <a:extLst>
              <a:ext uri="{FF2B5EF4-FFF2-40B4-BE49-F238E27FC236}">
                <a16:creationId xmlns:a16="http://schemas.microsoft.com/office/drawing/2014/main" id="{7EBD57E1-B9FA-B768-9847-41FD6CCE6330}"/>
              </a:ext>
            </a:extLst>
          </p:cNvPr>
          <p:cNvSpPr/>
          <p:nvPr/>
        </p:nvSpPr>
        <p:spPr>
          <a:xfrm rot="5400000">
            <a:off x="4635249" y="1632011"/>
            <a:ext cx="1476178" cy="1445323"/>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xxx</a:t>
            </a:r>
          </a:p>
        </p:txBody>
      </p:sp>
      <p:sp>
        <p:nvSpPr>
          <p:cNvPr id="3" name="Cross 2">
            <a:extLst>
              <a:ext uri="{FF2B5EF4-FFF2-40B4-BE49-F238E27FC236}">
                <a16:creationId xmlns:a16="http://schemas.microsoft.com/office/drawing/2014/main" id="{4B4EA034-62EE-187D-F720-05F0DDCFE5B3}"/>
              </a:ext>
            </a:extLst>
          </p:cNvPr>
          <p:cNvSpPr/>
          <p:nvPr/>
        </p:nvSpPr>
        <p:spPr>
          <a:xfrm>
            <a:off x="1254432" y="1732548"/>
            <a:ext cx="445050" cy="445050"/>
          </a:xfrm>
          <a:prstGeom prst="plus">
            <a:avLst>
              <a:gd name="adj" fmla="val 330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 name="Multiply 5">
            <a:extLst>
              <a:ext uri="{FF2B5EF4-FFF2-40B4-BE49-F238E27FC236}">
                <a16:creationId xmlns:a16="http://schemas.microsoft.com/office/drawing/2014/main" id="{2013DD70-F0B0-D4DC-78A1-8B40E3392609}"/>
              </a:ext>
            </a:extLst>
          </p:cNvPr>
          <p:cNvSpPr/>
          <p:nvPr/>
        </p:nvSpPr>
        <p:spPr>
          <a:xfrm>
            <a:off x="1174723" y="2258633"/>
            <a:ext cx="604468" cy="604468"/>
          </a:xfrm>
          <a:prstGeom prst="mathMultiply">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8" name="Pentagon 7">
            <a:extLst>
              <a:ext uri="{FF2B5EF4-FFF2-40B4-BE49-F238E27FC236}">
                <a16:creationId xmlns:a16="http://schemas.microsoft.com/office/drawing/2014/main" id="{0E2D2982-EB06-7C75-7A0E-C68D067D23FB}"/>
              </a:ext>
            </a:extLst>
          </p:cNvPr>
          <p:cNvSpPr/>
          <p:nvPr/>
        </p:nvSpPr>
        <p:spPr>
          <a:xfrm>
            <a:off x="5451107" y="3444421"/>
            <a:ext cx="2383153" cy="846225"/>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1" name="Chevron 10">
            <a:extLst>
              <a:ext uri="{FF2B5EF4-FFF2-40B4-BE49-F238E27FC236}">
                <a16:creationId xmlns:a16="http://schemas.microsoft.com/office/drawing/2014/main" id="{1607B2B1-5F19-9A63-3827-4D74ECB8A469}"/>
              </a:ext>
            </a:extLst>
          </p:cNvPr>
          <p:cNvSpPr/>
          <p:nvPr/>
        </p:nvSpPr>
        <p:spPr>
          <a:xfrm>
            <a:off x="7648257" y="3444421"/>
            <a:ext cx="1531204" cy="846225"/>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000000"/>
              </a:solidFill>
              <a:effectLst/>
              <a:uLnTx/>
              <a:uFillTx/>
              <a:latin typeface="Verdana"/>
              <a:ea typeface="+mn-ea"/>
              <a:cs typeface="+mn-cs"/>
            </a:endParaRPr>
          </a:p>
        </p:txBody>
      </p:sp>
      <p:sp>
        <p:nvSpPr>
          <p:cNvPr id="14" name="Notched Right Arrow 13">
            <a:extLst>
              <a:ext uri="{FF2B5EF4-FFF2-40B4-BE49-F238E27FC236}">
                <a16:creationId xmlns:a16="http://schemas.microsoft.com/office/drawing/2014/main" id="{25E03D24-7985-D7D9-497D-9C797F6DA897}"/>
              </a:ext>
            </a:extLst>
          </p:cNvPr>
          <p:cNvSpPr/>
          <p:nvPr/>
        </p:nvSpPr>
        <p:spPr>
          <a:xfrm>
            <a:off x="10363199" y="3059724"/>
            <a:ext cx="1470159" cy="1617785"/>
          </a:xfrm>
          <a:prstGeom prst="notchedRightArrow">
            <a:avLst>
              <a:gd name="adj1" fmla="val 54138"/>
              <a:gd name="adj2"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5" name="Equal 14">
            <a:extLst>
              <a:ext uri="{FF2B5EF4-FFF2-40B4-BE49-F238E27FC236}">
                <a16:creationId xmlns:a16="http://schemas.microsoft.com/office/drawing/2014/main" id="{94033A41-A715-6B4A-7E2D-0315818C235B}"/>
              </a:ext>
            </a:extLst>
          </p:cNvPr>
          <p:cNvSpPr/>
          <p:nvPr/>
        </p:nvSpPr>
        <p:spPr>
          <a:xfrm>
            <a:off x="1193013" y="2944136"/>
            <a:ext cx="567889" cy="567889"/>
          </a:xfrm>
          <a:prstGeom prst="mathEqual">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000000"/>
              </a:solidFill>
              <a:effectLst/>
              <a:uLnTx/>
              <a:uFillTx/>
              <a:latin typeface="Verdana"/>
              <a:ea typeface="+mn-ea"/>
              <a:cs typeface="+mn-cs"/>
            </a:endParaRPr>
          </a:p>
        </p:txBody>
      </p:sp>
      <p:sp>
        <p:nvSpPr>
          <p:cNvPr id="16" name="Minus 15">
            <a:extLst>
              <a:ext uri="{FF2B5EF4-FFF2-40B4-BE49-F238E27FC236}">
                <a16:creationId xmlns:a16="http://schemas.microsoft.com/office/drawing/2014/main" id="{0286AB4D-FE13-FDEF-75E8-6CC797B0C1CE}"/>
              </a:ext>
            </a:extLst>
          </p:cNvPr>
          <p:cNvSpPr/>
          <p:nvPr/>
        </p:nvSpPr>
        <p:spPr>
          <a:xfrm>
            <a:off x="1173761" y="3593060"/>
            <a:ext cx="606392" cy="519765"/>
          </a:xfrm>
          <a:prstGeom prst="mathMinus">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17" name="Chevron 16">
            <a:extLst>
              <a:ext uri="{FF2B5EF4-FFF2-40B4-BE49-F238E27FC236}">
                <a16:creationId xmlns:a16="http://schemas.microsoft.com/office/drawing/2014/main" id="{0B6C2CBA-0EE1-976A-1693-790946CF9749}"/>
              </a:ext>
            </a:extLst>
          </p:cNvPr>
          <p:cNvSpPr/>
          <p:nvPr/>
        </p:nvSpPr>
        <p:spPr>
          <a:xfrm>
            <a:off x="8993457" y="3444421"/>
            <a:ext cx="1531204" cy="846225"/>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000000"/>
              </a:solidFill>
              <a:effectLst/>
              <a:uLnTx/>
              <a:uFillTx/>
              <a:latin typeface="Verdana"/>
              <a:ea typeface="+mn-ea"/>
              <a:cs typeface="+mn-cs"/>
            </a:endParaRPr>
          </a:p>
        </p:txBody>
      </p:sp>
      <p:sp>
        <p:nvSpPr>
          <p:cNvPr id="18" name="Double Bracket 17">
            <a:extLst>
              <a:ext uri="{FF2B5EF4-FFF2-40B4-BE49-F238E27FC236}">
                <a16:creationId xmlns:a16="http://schemas.microsoft.com/office/drawing/2014/main" id="{CADE2B6E-3991-54E9-108C-15A93FFDEF58}"/>
              </a:ext>
            </a:extLst>
          </p:cNvPr>
          <p:cNvSpPr/>
          <p:nvPr/>
        </p:nvSpPr>
        <p:spPr>
          <a:xfrm>
            <a:off x="2250831" y="5466258"/>
            <a:ext cx="518653" cy="823199"/>
          </a:xfrm>
          <a:prstGeom prst="bracketPair">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Verdana"/>
              <a:ea typeface="+mn-ea"/>
              <a:cs typeface="+mn-cs"/>
            </a:endParaRPr>
          </a:p>
        </p:txBody>
      </p:sp>
      <p:sp>
        <p:nvSpPr>
          <p:cNvPr id="19" name="Double Brace 18">
            <a:extLst>
              <a:ext uri="{FF2B5EF4-FFF2-40B4-BE49-F238E27FC236}">
                <a16:creationId xmlns:a16="http://schemas.microsoft.com/office/drawing/2014/main" id="{31713F60-1352-003F-25F3-DEAB3607E49B}"/>
              </a:ext>
            </a:extLst>
          </p:cNvPr>
          <p:cNvSpPr/>
          <p:nvPr/>
        </p:nvSpPr>
        <p:spPr>
          <a:xfrm>
            <a:off x="3048047" y="5464608"/>
            <a:ext cx="691538" cy="834476"/>
          </a:xfrm>
          <a:prstGeom prst="bracePair">
            <a:avLst>
              <a:gd name="adj" fmla="val 11012"/>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Verdana"/>
              <a:ea typeface="+mn-ea"/>
              <a:cs typeface="+mn-cs"/>
            </a:endParaRPr>
          </a:p>
        </p:txBody>
      </p:sp>
      <p:grpSp>
        <p:nvGrpSpPr>
          <p:cNvPr id="23" name="Group 22">
            <a:extLst>
              <a:ext uri="{FF2B5EF4-FFF2-40B4-BE49-F238E27FC236}">
                <a16:creationId xmlns:a16="http://schemas.microsoft.com/office/drawing/2014/main" id="{E97D01F1-A022-07D0-952D-69A3B63D54F9}"/>
              </a:ext>
            </a:extLst>
          </p:cNvPr>
          <p:cNvGrpSpPr/>
          <p:nvPr/>
        </p:nvGrpSpPr>
        <p:grpSpPr>
          <a:xfrm>
            <a:off x="4018148" y="5462954"/>
            <a:ext cx="766661" cy="845771"/>
            <a:chOff x="9316352" y="1659555"/>
            <a:chExt cx="1195138" cy="1443821"/>
          </a:xfrm>
        </p:grpSpPr>
        <p:sp>
          <p:nvSpPr>
            <p:cNvPr id="20" name="Right Brace 19">
              <a:extLst>
                <a:ext uri="{FF2B5EF4-FFF2-40B4-BE49-F238E27FC236}">
                  <a16:creationId xmlns:a16="http://schemas.microsoft.com/office/drawing/2014/main" id="{338407A6-44ED-4D4B-D27E-A879A1DBC59C}"/>
                </a:ext>
              </a:extLst>
            </p:cNvPr>
            <p:cNvSpPr/>
            <p:nvPr/>
          </p:nvSpPr>
          <p:spPr>
            <a:xfrm>
              <a:off x="10078353" y="1659555"/>
              <a:ext cx="433137" cy="1443821"/>
            </a:xfrm>
            <a:prstGeom prst="rightBrace">
              <a:avLst>
                <a:gd name="adj1" fmla="val 8333"/>
                <a:gd name="adj2" fmla="val 50667"/>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Verdana"/>
                <a:ea typeface="+mn-ea"/>
                <a:cs typeface="+mn-cs"/>
              </a:endParaRPr>
            </a:p>
          </p:txBody>
        </p:sp>
        <p:sp>
          <p:nvSpPr>
            <p:cNvPr id="22" name="Right Brace 21">
              <a:extLst>
                <a:ext uri="{FF2B5EF4-FFF2-40B4-BE49-F238E27FC236}">
                  <a16:creationId xmlns:a16="http://schemas.microsoft.com/office/drawing/2014/main" id="{6E9FCBC8-85D9-C591-F603-5B5DE081F9A2}"/>
                </a:ext>
              </a:extLst>
            </p:cNvPr>
            <p:cNvSpPr/>
            <p:nvPr/>
          </p:nvSpPr>
          <p:spPr>
            <a:xfrm flipH="1">
              <a:off x="9316352" y="1659555"/>
              <a:ext cx="433137" cy="1443821"/>
            </a:xfrm>
            <a:prstGeom prst="rightBrace">
              <a:avLst>
                <a:gd name="adj1" fmla="val 8333"/>
                <a:gd name="adj2" fmla="val 50667"/>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Verdana"/>
                <a:ea typeface="+mn-ea"/>
                <a:cs typeface="+mn-cs"/>
              </a:endParaRPr>
            </a:p>
          </p:txBody>
        </p:sp>
      </p:grpSp>
      <p:grpSp>
        <p:nvGrpSpPr>
          <p:cNvPr id="24" name="Group 23">
            <a:extLst>
              <a:ext uri="{FF2B5EF4-FFF2-40B4-BE49-F238E27FC236}">
                <a16:creationId xmlns:a16="http://schemas.microsoft.com/office/drawing/2014/main" id="{5204E6BD-73CA-3743-0E4E-D9D700EFB06F}"/>
              </a:ext>
            </a:extLst>
          </p:cNvPr>
          <p:cNvGrpSpPr/>
          <p:nvPr/>
        </p:nvGrpSpPr>
        <p:grpSpPr>
          <a:xfrm>
            <a:off x="5063371" y="5462954"/>
            <a:ext cx="766661" cy="845771"/>
            <a:chOff x="9316352" y="1659555"/>
            <a:chExt cx="1195138" cy="1443821"/>
          </a:xfrm>
        </p:grpSpPr>
        <p:sp>
          <p:nvSpPr>
            <p:cNvPr id="25" name="Right Brace 24">
              <a:extLst>
                <a:ext uri="{FF2B5EF4-FFF2-40B4-BE49-F238E27FC236}">
                  <a16:creationId xmlns:a16="http://schemas.microsoft.com/office/drawing/2014/main" id="{9FE6F4C1-47FE-7AEA-0E0C-0998104A7B4B}"/>
                </a:ext>
              </a:extLst>
            </p:cNvPr>
            <p:cNvSpPr/>
            <p:nvPr/>
          </p:nvSpPr>
          <p:spPr>
            <a:xfrm>
              <a:off x="10078353" y="1659555"/>
              <a:ext cx="433137" cy="1443821"/>
            </a:xfrm>
            <a:prstGeom prst="rightBrace">
              <a:avLst>
                <a:gd name="adj1" fmla="val 0"/>
                <a:gd name="adj2" fmla="val 50667"/>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Verdana"/>
                <a:ea typeface="+mn-ea"/>
                <a:cs typeface="+mn-cs"/>
              </a:endParaRPr>
            </a:p>
          </p:txBody>
        </p:sp>
        <p:sp>
          <p:nvSpPr>
            <p:cNvPr id="26" name="Right Brace 25">
              <a:extLst>
                <a:ext uri="{FF2B5EF4-FFF2-40B4-BE49-F238E27FC236}">
                  <a16:creationId xmlns:a16="http://schemas.microsoft.com/office/drawing/2014/main" id="{0CD46E1A-E336-DA0D-58F6-E229633B90FD}"/>
                </a:ext>
              </a:extLst>
            </p:cNvPr>
            <p:cNvSpPr/>
            <p:nvPr/>
          </p:nvSpPr>
          <p:spPr>
            <a:xfrm flipH="1">
              <a:off x="9316352" y="1659555"/>
              <a:ext cx="433137" cy="1443821"/>
            </a:xfrm>
            <a:prstGeom prst="rightBrace">
              <a:avLst>
                <a:gd name="adj1" fmla="val 0"/>
                <a:gd name="adj2" fmla="val 50667"/>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Verdana"/>
                <a:ea typeface="+mn-ea"/>
                <a:cs typeface="+mn-cs"/>
              </a:endParaRPr>
            </a:p>
          </p:txBody>
        </p:sp>
      </p:grpSp>
      <p:sp>
        <p:nvSpPr>
          <p:cNvPr id="28" name="Block Arc 27">
            <a:extLst>
              <a:ext uri="{FF2B5EF4-FFF2-40B4-BE49-F238E27FC236}">
                <a16:creationId xmlns:a16="http://schemas.microsoft.com/office/drawing/2014/main" id="{BF5CF0E0-939A-442E-DD02-537E643D7905}"/>
              </a:ext>
            </a:extLst>
          </p:cNvPr>
          <p:cNvSpPr/>
          <p:nvPr/>
        </p:nvSpPr>
        <p:spPr>
          <a:xfrm>
            <a:off x="2434328" y="4615869"/>
            <a:ext cx="1164656" cy="1164656"/>
          </a:xfrm>
          <a:prstGeom prst="blockArc">
            <a:avLst>
              <a:gd name="adj1" fmla="val 10691627"/>
              <a:gd name="adj2" fmla="val 0"/>
              <a:gd name="adj3" fmla="val 25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000000"/>
              </a:solidFill>
              <a:effectLst/>
              <a:uLnTx/>
              <a:uFillTx/>
              <a:latin typeface="Verdana"/>
              <a:ea typeface="+mn-ea"/>
              <a:cs typeface="+mn-cs"/>
            </a:endParaRPr>
          </a:p>
        </p:txBody>
      </p:sp>
      <p:sp>
        <p:nvSpPr>
          <p:cNvPr id="33" name="Oval 32">
            <a:extLst>
              <a:ext uri="{FF2B5EF4-FFF2-40B4-BE49-F238E27FC236}">
                <a16:creationId xmlns:a16="http://schemas.microsoft.com/office/drawing/2014/main" id="{17DD2B95-AB43-C99E-EC21-CF162AA1F82E}"/>
              </a:ext>
            </a:extLst>
          </p:cNvPr>
          <p:cNvSpPr>
            <a:spLocks noChangeAspect="1"/>
          </p:cNvSpPr>
          <p:nvPr/>
        </p:nvSpPr>
        <p:spPr>
          <a:xfrm>
            <a:off x="1276883" y="5562601"/>
            <a:ext cx="619201" cy="619285"/>
          </a:xfrm>
          <a:prstGeom prst="ellipse">
            <a:avLst/>
          </a:prstGeom>
          <a:noFill/>
          <a:ln>
            <a:solidFill>
              <a:schemeClr val="tx2"/>
            </a:solid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dirty="0">
              <a:ln>
                <a:noFill/>
              </a:ln>
              <a:solidFill>
                <a:srgbClr val="FFFFFF"/>
              </a:solidFill>
              <a:effectLst/>
              <a:uLnTx/>
              <a:uFillTx/>
              <a:latin typeface="Verdana"/>
              <a:ea typeface="+mn-ea"/>
              <a:cs typeface="+mn-cs"/>
            </a:endParaRPr>
          </a:p>
        </p:txBody>
      </p:sp>
      <p:grpSp>
        <p:nvGrpSpPr>
          <p:cNvPr id="35" name="Group 34">
            <a:extLst>
              <a:ext uri="{FF2B5EF4-FFF2-40B4-BE49-F238E27FC236}">
                <a16:creationId xmlns:a16="http://schemas.microsoft.com/office/drawing/2014/main" id="{F8393F71-26B4-B7AE-C644-18C61C2BFDA5}"/>
              </a:ext>
            </a:extLst>
          </p:cNvPr>
          <p:cNvGrpSpPr/>
          <p:nvPr/>
        </p:nvGrpSpPr>
        <p:grpSpPr>
          <a:xfrm>
            <a:off x="371475" y="5562601"/>
            <a:ext cx="619201" cy="619285"/>
            <a:chOff x="2436879" y="5007955"/>
            <a:chExt cx="928674" cy="928800"/>
          </a:xfrm>
        </p:grpSpPr>
        <p:sp>
          <p:nvSpPr>
            <p:cNvPr id="27" name="Pie 26">
              <a:extLst>
                <a:ext uri="{FF2B5EF4-FFF2-40B4-BE49-F238E27FC236}">
                  <a16:creationId xmlns:a16="http://schemas.microsoft.com/office/drawing/2014/main" id="{36B52A99-44A0-CA7D-1C26-97E902EEF1F8}"/>
                </a:ext>
              </a:extLst>
            </p:cNvPr>
            <p:cNvSpPr/>
            <p:nvPr/>
          </p:nvSpPr>
          <p:spPr>
            <a:xfrm>
              <a:off x="2437248" y="5008387"/>
              <a:ext cx="927936" cy="927936"/>
            </a:xfrm>
            <a:prstGeom prst="pie">
              <a:avLst>
                <a:gd name="adj1" fmla="val 10744377"/>
                <a:gd name="adj2" fmla="val 5323274"/>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000000"/>
                </a:solidFill>
                <a:effectLst/>
                <a:uLnTx/>
                <a:uFillTx/>
                <a:latin typeface="Verdana"/>
                <a:ea typeface="+mn-ea"/>
                <a:cs typeface="+mn-cs"/>
              </a:endParaRPr>
            </a:p>
          </p:txBody>
        </p:sp>
        <p:sp>
          <p:nvSpPr>
            <p:cNvPr id="34" name="Oval 33">
              <a:extLst>
                <a:ext uri="{FF2B5EF4-FFF2-40B4-BE49-F238E27FC236}">
                  <a16:creationId xmlns:a16="http://schemas.microsoft.com/office/drawing/2014/main" id="{5B347F97-7171-B380-FA1B-C2D3E8EDAACE}"/>
                </a:ext>
              </a:extLst>
            </p:cNvPr>
            <p:cNvSpPr>
              <a:spLocks noChangeAspect="1"/>
            </p:cNvSpPr>
            <p:nvPr/>
          </p:nvSpPr>
          <p:spPr>
            <a:xfrm>
              <a:off x="2436879" y="5007955"/>
              <a:ext cx="928674" cy="928800"/>
            </a:xfrm>
            <a:prstGeom prst="ellipse">
              <a:avLst/>
            </a:prstGeom>
            <a:noFill/>
            <a:ln>
              <a:solidFill>
                <a:schemeClr val="tx2"/>
              </a:solid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dirty="0">
                <a:ln>
                  <a:noFill/>
                </a:ln>
                <a:solidFill>
                  <a:srgbClr val="FFFFFF"/>
                </a:solidFill>
                <a:effectLst/>
                <a:uLnTx/>
                <a:uFillTx/>
                <a:latin typeface="Verdana"/>
                <a:ea typeface="+mn-ea"/>
                <a:cs typeface="+mn-cs"/>
              </a:endParaRPr>
            </a:p>
          </p:txBody>
        </p:sp>
      </p:grpSp>
      <p:grpSp>
        <p:nvGrpSpPr>
          <p:cNvPr id="37" name="Group 36">
            <a:extLst>
              <a:ext uri="{FF2B5EF4-FFF2-40B4-BE49-F238E27FC236}">
                <a16:creationId xmlns:a16="http://schemas.microsoft.com/office/drawing/2014/main" id="{15B7EECC-27E3-B545-2083-8C4C381FB930}"/>
              </a:ext>
            </a:extLst>
          </p:cNvPr>
          <p:cNvGrpSpPr/>
          <p:nvPr/>
        </p:nvGrpSpPr>
        <p:grpSpPr>
          <a:xfrm>
            <a:off x="1276883" y="4700954"/>
            <a:ext cx="619201" cy="619285"/>
            <a:chOff x="1182755" y="5002135"/>
            <a:chExt cx="928674" cy="928800"/>
          </a:xfrm>
        </p:grpSpPr>
        <p:sp>
          <p:nvSpPr>
            <p:cNvPr id="29" name="Pie 28">
              <a:extLst>
                <a:ext uri="{FF2B5EF4-FFF2-40B4-BE49-F238E27FC236}">
                  <a16:creationId xmlns:a16="http://schemas.microsoft.com/office/drawing/2014/main" id="{3C761C40-3FBA-5734-D1C9-12478F58832F}"/>
                </a:ext>
              </a:extLst>
            </p:cNvPr>
            <p:cNvSpPr/>
            <p:nvPr/>
          </p:nvSpPr>
          <p:spPr>
            <a:xfrm>
              <a:off x="1183124" y="5002567"/>
              <a:ext cx="927936" cy="927936"/>
            </a:xfrm>
            <a:prstGeom prst="pie">
              <a:avLst>
                <a:gd name="adj1" fmla="val 10788903"/>
                <a:gd name="adj2" fmla="val 21576725"/>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000000"/>
                </a:solidFill>
                <a:effectLst/>
                <a:uLnTx/>
                <a:uFillTx/>
                <a:latin typeface="Verdana"/>
                <a:ea typeface="+mn-ea"/>
                <a:cs typeface="+mn-cs"/>
              </a:endParaRPr>
            </a:p>
          </p:txBody>
        </p:sp>
        <p:sp>
          <p:nvSpPr>
            <p:cNvPr id="36" name="Oval 35">
              <a:extLst>
                <a:ext uri="{FF2B5EF4-FFF2-40B4-BE49-F238E27FC236}">
                  <a16:creationId xmlns:a16="http://schemas.microsoft.com/office/drawing/2014/main" id="{FD2D17C9-3DEB-60BE-8386-7F37B8E7AACD}"/>
                </a:ext>
              </a:extLst>
            </p:cNvPr>
            <p:cNvSpPr>
              <a:spLocks noChangeAspect="1"/>
            </p:cNvSpPr>
            <p:nvPr/>
          </p:nvSpPr>
          <p:spPr>
            <a:xfrm>
              <a:off x="1182755" y="5002135"/>
              <a:ext cx="928674" cy="928800"/>
            </a:xfrm>
            <a:prstGeom prst="ellipse">
              <a:avLst/>
            </a:prstGeom>
            <a:noFill/>
            <a:ln>
              <a:solidFill>
                <a:schemeClr val="tx2"/>
              </a:solid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dirty="0">
                <a:ln>
                  <a:noFill/>
                </a:ln>
                <a:solidFill>
                  <a:srgbClr val="FFFFFF"/>
                </a:solidFill>
                <a:effectLst/>
                <a:uLnTx/>
                <a:uFillTx/>
                <a:latin typeface="Verdana"/>
                <a:ea typeface="+mn-ea"/>
                <a:cs typeface="+mn-cs"/>
              </a:endParaRPr>
            </a:p>
          </p:txBody>
        </p:sp>
      </p:grpSp>
      <p:grpSp>
        <p:nvGrpSpPr>
          <p:cNvPr id="39" name="Group 38">
            <a:extLst>
              <a:ext uri="{FF2B5EF4-FFF2-40B4-BE49-F238E27FC236}">
                <a16:creationId xmlns:a16="http://schemas.microsoft.com/office/drawing/2014/main" id="{8571B5FF-6DBE-A72C-EAFA-E079F04A7523}"/>
              </a:ext>
            </a:extLst>
          </p:cNvPr>
          <p:cNvGrpSpPr/>
          <p:nvPr/>
        </p:nvGrpSpPr>
        <p:grpSpPr>
          <a:xfrm>
            <a:off x="371475" y="4700954"/>
            <a:ext cx="619201" cy="619285"/>
            <a:chOff x="-92862" y="5025014"/>
            <a:chExt cx="928674" cy="928800"/>
          </a:xfrm>
        </p:grpSpPr>
        <p:sp>
          <p:nvSpPr>
            <p:cNvPr id="30" name="Pie 29">
              <a:extLst>
                <a:ext uri="{FF2B5EF4-FFF2-40B4-BE49-F238E27FC236}">
                  <a16:creationId xmlns:a16="http://schemas.microsoft.com/office/drawing/2014/main" id="{F342C59B-CDAC-9C51-F18A-FF8EB0607E36}"/>
                </a:ext>
              </a:extLst>
            </p:cNvPr>
            <p:cNvSpPr/>
            <p:nvPr/>
          </p:nvSpPr>
          <p:spPr>
            <a:xfrm rot="5400000">
              <a:off x="-92493" y="5025446"/>
              <a:ext cx="927936" cy="927936"/>
            </a:xfrm>
            <a:prstGeom prst="pie">
              <a:avLst>
                <a:gd name="adj1" fmla="val 10867052"/>
                <a:gd name="adj2" fmla="val 16200000"/>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000000"/>
                </a:solidFill>
                <a:effectLst/>
                <a:uLnTx/>
                <a:uFillTx/>
                <a:latin typeface="Verdana"/>
                <a:ea typeface="+mn-ea"/>
                <a:cs typeface="+mn-cs"/>
              </a:endParaRPr>
            </a:p>
          </p:txBody>
        </p:sp>
        <p:sp>
          <p:nvSpPr>
            <p:cNvPr id="38" name="Oval 37">
              <a:extLst>
                <a:ext uri="{FF2B5EF4-FFF2-40B4-BE49-F238E27FC236}">
                  <a16:creationId xmlns:a16="http://schemas.microsoft.com/office/drawing/2014/main" id="{84E40920-1AF0-2A46-EDC7-F4035F7F7CBB}"/>
                </a:ext>
              </a:extLst>
            </p:cNvPr>
            <p:cNvSpPr>
              <a:spLocks noChangeAspect="1"/>
            </p:cNvSpPr>
            <p:nvPr/>
          </p:nvSpPr>
          <p:spPr>
            <a:xfrm>
              <a:off x="-92862" y="5025014"/>
              <a:ext cx="928674" cy="928800"/>
            </a:xfrm>
            <a:prstGeom prst="ellipse">
              <a:avLst/>
            </a:prstGeom>
            <a:noFill/>
            <a:ln>
              <a:solidFill>
                <a:schemeClr val="tx2"/>
              </a:solidFill>
            </a:ln>
            <a:scene3d>
              <a:camera prst="orthographicFront"/>
              <a:lightRig rig="threePt" dir="t"/>
            </a:scene3d>
            <a:sp3d extrusionH="254000"/>
          </p:spPr>
          <p:style>
            <a:lnRef idx="2">
              <a:schemeClr val="accent2">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0" r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dirty="0">
                <a:ln>
                  <a:noFill/>
                </a:ln>
                <a:solidFill>
                  <a:srgbClr val="FFFFFF"/>
                </a:solidFill>
                <a:effectLst/>
                <a:uLnTx/>
                <a:uFillTx/>
                <a:latin typeface="Verdana"/>
                <a:ea typeface="+mn-ea"/>
                <a:cs typeface="+mn-cs"/>
              </a:endParaRPr>
            </a:p>
          </p:txBody>
        </p:sp>
      </p:grpSp>
      <p:sp>
        <p:nvSpPr>
          <p:cNvPr id="40" name="Block Arc 39">
            <a:extLst>
              <a:ext uri="{FF2B5EF4-FFF2-40B4-BE49-F238E27FC236}">
                <a16:creationId xmlns:a16="http://schemas.microsoft.com/office/drawing/2014/main" id="{1E8853DD-6E8F-AE05-E96D-807B3073FF04}"/>
              </a:ext>
            </a:extLst>
          </p:cNvPr>
          <p:cNvSpPr/>
          <p:nvPr/>
        </p:nvSpPr>
        <p:spPr>
          <a:xfrm rot="10800000">
            <a:off x="3816143" y="4088912"/>
            <a:ext cx="1164656" cy="1164656"/>
          </a:xfrm>
          <a:prstGeom prst="blockArc">
            <a:avLst>
              <a:gd name="adj1" fmla="val 10691627"/>
              <a:gd name="adj2" fmla="val 0"/>
              <a:gd name="adj3" fmla="val 25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000000"/>
              </a:solidFill>
              <a:effectLst/>
              <a:uLnTx/>
              <a:uFillTx/>
              <a:latin typeface="Verdana"/>
              <a:ea typeface="+mn-ea"/>
              <a:cs typeface="+mn-cs"/>
            </a:endParaRPr>
          </a:p>
        </p:txBody>
      </p:sp>
      <p:sp>
        <p:nvSpPr>
          <p:cNvPr id="41" name="Bent Arrow 40">
            <a:extLst>
              <a:ext uri="{FF2B5EF4-FFF2-40B4-BE49-F238E27FC236}">
                <a16:creationId xmlns:a16="http://schemas.microsoft.com/office/drawing/2014/main" id="{5D17CA5F-51CA-DE34-70CD-88FFD0C325FE}"/>
              </a:ext>
            </a:extLst>
          </p:cNvPr>
          <p:cNvSpPr/>
          <p:nvPr/>
        </p:nvSpPr>
        <p:spPr>
          <a:xfrm>
            <a:off x="8495567" y="5291230"/>
            <a:ext cx="953233" cy="1017496"/>
          </a:xfrm>
          <a:prstGeom prst="ben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000000"/>
              </a:solidFill>
              <a:effectLst/>
              <a:uLnTx/>
              <a:uFillTx/>
              <a:latin typeface="Verdana"/>
              <a:ea typeface="+mn-ea"/>
              <a:cs typeface="+mn-cs"/>
            </a:endParaRPr>
          </a:p>
        </p:txBody>
      </p:sp>
      <p:sp>
        <p:nvSpPr>
          <p:cNvPr id="42" name="Right Arrow Callout 41">
            <a:extLst>
              <a:ext uri="{FF2B5EF4-FFF2-40B4-BE49-F238E27FC236}">
                <a16:creationId xmlns:a16="http://schemas.microsoft.com/office/drawing/2014/main" id="{56C41542-59EB-2A52-7B47-FCA979DD5031}"/>
              </a:ext>
            </a:extLst>
          </p:cNvPr>
          <p:cNvSpPr/>
          <p:nvPr/>
        </p:nvSpPr>
        <p:spPr>
          <a:xfrm>
            <a:off x="6167438" y="5382601"/>
            <a:ext cx="1148862" cy="926124"/>
          </a:xfrm>
          <a:prstGeom prst="rightArrowCallou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3" name="Data 42">
            <a:extLst>
              <a:ext uri="{FF2B5EF4-FFF2-40B4-BE49-F238E27FC236}">
                <a16:creationId xmlns:a16="http://schemas.microsoft.com/office/drawing/2014/main" id="{CA42FC3F-2FC1-F7C7-6C39-8B06E6949208}"/>
              </a:ext>
            </a:extLst>
          </p:cNvPr>
          <p:cNvSpPr/>
          <p:nvPr/>
        </p:nvSpPr>
        <p:spPr>
          <a:xfrm>
            <a:off x="7455878" y="5347432"/>
            <a:ext cx="808891" cy="984737"/>
          </a:xfrm>
          <a:prstGeom prst="flowChartInputOutpu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4" name="Diamond 43">
            <a:extLst>
              <a:ext uri="{FF2B5EF4-FFF2-40B4-BE49-F238E27FC236}">
                <a16:creationId xmlns:a16="http://schemas.microsoft.com/office/drawing/2014/main" id="{CBA155F3-B903-25D0-27CA-67E6EDA1EB9B}"/>
              </a:ext>
            </a:extLst>
          </p:cNvPr>
          <p:cNvSpPr/>
          <p:nvPr/>
        </p:nvSpPr>
        <p:spPr>
          <a:xfrm>
            <a:off x="6392618" y="1614610"/>
            <a:ext cx="1594338" cy="1479778"/>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xxx</a:t>
            </a:r>
          </a:p>
        </p:txBody>
      </p:sp>
      <p:sp>
        <p:nvSpPr>
          <p:cNvPr id="45" name="Teardrop 44">
            <a:extLst>
              <a:ext uri="{FF2B5EF4-FFF2-40B4-BE49-F238E27FC236}">
                <a16:creationId xmlns:a16="http://schemas.microsoft.com/office/drawing/2014/main" id="{6D6DB02D-FA41-FE6C-5F52-709F0161123F}"/>
              </a:ext>
            </a:extLst>
          </p:cNvPr>
          <p:cNvSpPr/>
          <p:nvPr/>
        </p:nvSpPr>
        <p:spPr>
          <a:xfrm>
            <a:off x="9589477" y="5359156"/>
            <a:ext cx="949569" cy="949569"/>
          </a:xfrm>
          <a:prstGeom prst="teardrop">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49" name="Trapezoid 48">
            <a:extLst>
              <a:ext uri="{FF2B5EF4-FFF2-40B4-BE49-F238E27FC236}">
                <a16:creationId xmlns:a16="http://schemas.microsoft.com/office/drawing/2014/main" id="{1CD3CFB8-C5CF-F812-A30B-72EBB1ABE0F9}"/>
              </a:ext>
            </a:extLst>
          </p:cNvPr>
          <p:cNvSpPr/>
          <p:nvPr/>
        </p:nvSpPr>
        <p:spPr>
          <a:xfrm>
            <a:off x="10937631" y="5251938"/>
            <a:ext cx="882894" cy="1056787"/>
          </a:xfrm>
          <a:prstGeom prst="trapezoid">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0" name="Rectangular Callout 49">
            <a:extLst>
              <a:ext uri="{FF2B5EF4-FFF2-40B4-BE49-F238E27FC236}">
                <a16:creationId xmlns:a16="http://schemas.microsoft.com/office/drawing/2014/main" id="{6B4B6922-AD59-7D6A-5AC4-A4BEF4D07CF2}"/>
              </a:ext>
            </a:extLst>
          </p:cNvPr>
          <p:cNvSpPr/>
          <p:nvPr/>
        </p:nvSpPr>
        <p:spPr>
          <a:xfrm>
            <a:off x="8283575" y="1762738"/>
            <a:ext cx="1536823" cy="1209328"/>
          </a:xfrm>
          <a:prstGeom prst="wedgeRectCallout">
            <a:avLst>
              <a:gd name="adj1" fmla="val -44080"/>
              <a:gd name="adj2" fmla="val 7456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xxx</a:t>
            </a:r>
          </a:p>
        </p:txBody>
      </p:sp>
      <p:sp>
        <p:nvSpPr>
          <p:cNvPr id="57" name="Oval Callout 56">
            <a:extLst>
              <a:ext uri="{FF2B5EF4-FFF2-40B4-BE49-F238E27FC236}">
                <a16:creationId xmlns:a16="http://schemas.microsoft.com/office/drawing/2014/main" id="{488D5D5B-8E94-639F-75A6-78475082A0E6}"/>
              </a:ext>
            </a:extLst>
          </p:cNvPr>
          <p:cNvSpPr/>
          <p:nvPr/>
        </p:nvSpPr>
        <p:spPr>
          <a:xfrm>
            <a:off x="10117016" y="1727567"/>
            <a:ext cx="1703510" cy="1273541"/>
          </a:xfrm>
          <a:prstGeom prst="wedgeEllipse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xxx</a:t>
            </a:r>
          </a:p>
        </p:txBody>
      </p:sp>
      <p:sp>
        <p:nvSpPr>
          <p:cNvPr id="58" name="5-Point Star 57">
            <a:extLst>
              <a:ext uri="{FF2B5EF4-FFF2-40B4-BE49-F238E27FC236}">
                <a16:creationId xmlns:a16="http://schemas.microsoft.com/office/drawing/2014/main" id="{007E7577-7F10-78C3-6818-7D8B665D1AE3}"/>
              </a:ext>
            </a:extLst>
          </p:cNvPr>
          <p:cNvSpPr/>
          <p:nvPr/>
        </p:nvSpPr>
        <p:spPr>
          <a:xfrm>
            <a:off x="5310554" y="4566139"/>
            <a:ext cx="539261" cy="539261"/>
          </a:xfrm>
          <a:prstGeom prst="star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59" name="Triangle 58">
            <a:extLst>
              <a:ext uri="{FF2B5EF4-FFF2-40B4-BE49-F238E27FC236}">
                <a16:creationId xmlns:a16="http://schemas.microsoft.com/office/drawing/2014/main" id="{A3E293F1-644F-BF04-503F-D032E6811E6D}"/>
              </a:ext>
            </a:extLst>
          </p:cNvPr>
          <p:cNvSpPr/>
          <p:nvPr/>
        </p:nvSpPr>
        <p:spPr>
          <a:xfrm>
            <a:off x="6117111" y="4621877"/>
            <a:ext cx="496229" cy="427784"/>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0" name="Up Arrow 59">
            <a:extLst>
              <a:ext uri="{FF2B5EF4-FFF2-40B4-BE49-F238E27FC236}">
                <a16:creationId xmlns:a16="http://schemas.microsoft.com/office/drawing/2014/main" id="{8C1AF78F-3FF1-2A39-DCF4-46967A4E82ED}"/>
              </a:ext>
            </a:extLst>
          </p:cNvPr>
          <p:cNvSpPr/>
          <p:nvPr/>
        </p:nvSpPr>
        <p:spPr>
          <a:xfrm>
            <a:off x="6880636" y="4589585"/>
            <a:ext cx="410308" cy="492369"/>
          </a:xfrm>
          <a:prstGeom prst="up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1" name="Up Arrow 60">
            <a:extLst>
              <a:ext uri="{FF2B5EF4-FFF2-40B4-BE49-F238E27FC236}">
                <a16:creationId xmlns:a16="http://schemas.microsoft.com/office/drawing/2014/main" id="{168C8E5C-8787-F49C-B0C7-FC50FBB680C8}"/>
              </a:ext>
            </a:extLst>
          </p:cNvPr>
          <p:cNvSpPr/>
          <p:nvPr/>
        </p:nvSpPr>
        <p:spPr>
          <a:xfrm rot="5400000">
            <a:off x="7599271" y="4589585"/>
            <a:ext cx="410308" cy="492369"/>
          </a:xfrm>
          <a:prstGeom prst="up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2" name="Diamond 61">
            <a:extLst>
              <a:ext uri="{FF2B5EF4-FFF2-40B4-BE49-F238E27FC236}">
                <a16:creationId xmlns:a16="http://schemas.microsoft.com/office/drawing/2014/main" id="{546F5B56-77DA-537B-599A-03F7C664A461}"/>
              </a:ext>
            </a:extLst>
          </p:cNvPr>
          <p:cNvSpPr/>
          <p:nvPr/>
        </p:nvSpPr>
        <p:spPr>
          <a:xfrm>
            <a:off x="8317905" y="4583723"/>
            <a:ext cx="504092" cy="504092"/>
          </a:xfrm>
          <a:prstGeom prst="diamond">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3" name="L-Shape 62">
            <a:extLst>
              <a:ext uri="{FF2B5EF4-FFF2-40B4-BE49-F238E27FC236}">
                <a16:creationId xmlns:a16="http://schemas.microsoft.com/office/drawing/2014/main" id="{39F4144D-739C-5B81-193B-D2270E476F98}"/>
              </a:ext>
            </a:extLst>
          </p:cNvPr>
          <p:cNvSpPr/>
          <p:nvPr/>
        </p:nvSpPr>
        <p:spPr>
          <a:xfrm>
            <a:off x="9089293" y="4642339"/>
            <a:ext cx="386862" cy="386861"/>
          </a:xfrm>
          <a:prstGeom prst="corner">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4" name="Can 63">
            <a:extLst>
              <a:ext uri="{FF2B5EF4-FFF2-40B4-BE49-F238E27FC236}">
                <a16:creationId xmlns:a16="http://schemas.microsoft.com/office/drawing/2014/main" id="{DB62C9C3-457A-FA1D-45B3-3931B32402B2}"/>
              </a:ext>
            </a:extLst>
          </p:cNvPr>
          <p:cNvSpPr/>
          <p:nvPr/>
        </p:nvSpPr>
        <p:spPr>
          <a:xfrm>
            <a:off x="9743451" y="4613031"/>
            <a:ext cx="316523" cy="445477"/>
          </a:xfrm>
          <a:prstGeom prst="ca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65" name="Freeform: Shape 64">
            <a:extLst>
              <a:ext uri="{FF2B5EF4-FFF2-40B4-BE49-F238E27FC236}">
                <a16:creationId xmlns:a16="http://schemas.microsoft.com/office/drawing/2014/main" id="{D8FDBB25-2DCA-A284-3FE7-BD0FBE15122D}"/>
              </a:ext>
            </a:extLst>
          </p:cNvPr>
          <p:cNvSpPr/>
          <p:nvPr/>
        </p:nvSpPr>
        <p:spPr>
          <a:xfrm flipH="1" flipV="1">
            <a:off x="10327273" y="4622185"/>
            <a:ext cx="493127" cy="427169"/>
          </a:xfrm>
          <a:custGeom>
            <a:avLst/>
            <a:gdLst/>
            <a:ahLst/>
            <a:cxnLst/>
            <a:rect l="l" t="t" r="r" b="b"/>
            <a:pathLst>
              <a:path w="105147" h="91083">
                <a:moveTo>
                  <a:pt x="94655" y="0"/>
                </a:moveTo>
                <a:lnTo>
                  <a:pt x="105147" y="19869"/>
                </a:lnTo>
                <a:cubicBezTo>
                  <a:pt x="96590" y="23887"/>
                  <a:pt x="90674" y="27887"/>
                  <a:pt x="87400" y="31868"/>
                </a:cubicBezTo>
                <a:cubicBezTo>
                  <a:pt x="84125" y="35849"/>
                  <a:pt x="82302" y="40556"/>
                  <a:pt x="81930" y="45988"/>
                </a:cubicBezTo>
                <a:lnTo>
                  <a:pt x="105147" y="45988"/>
                </a:lnTo>
                <a:lnTo>
                  <a:pt x="105147" y="91083"/>
                </a:lnTo>
                <a:lnTo>
                  <a:pt x="56592" y="91083"/>
                </a:lnTo>
                <a:lnTo>
                  <a:pt x="56592" y="53690"/>
                </a:lnTo>
                <a:cubicBezTo>
                  <a:pt x="56592" y="39923"/>
                  <a:pt x="59457" y="29059"/>
                  <a:pt x="65187" y="21096"/>
                </a:cubicBezTo>
                <a:cubicBezTo>
                  <a:pt x="70917" y="13134"/>
                  <a:pt x="80739" y="6102"/>
                  <a:pt x="94655" y="0"/>
                </a:cubicBezTo>
                <a:close/>
                <a:moveTo>
                  <a:pt x="38063" y="0"/>
                </a:moveTo>
                <a:lnTo>
                  <a:pt x="48555" y="19869"/>
                </a:lnTo>
                <a:cubicBezTo>
                  <a:pt x="39998" y="23887"/>
                  <a:pt x="34082" y="27887"/>
                  <a:pt x="30808" y="31868"/>
                </a:cubicBezTo>
                <a:cubicBezTo>
                  <a:pt x="27533" y="35849"/>
                  <a:pt x="25710" y="40556"/>
                  <a:pt x="25338" y="45988"/>
                </a:cubicBezTo>
                <a:lnTo>
                  <a:pt x="48555" y="45988"/>
                </a:lnTo>
                <a:lnTo>
                  <a:pt x="48555" y="91083"/>
                </a:lnTo>
                <a:lnTo>
                  <a:pt x="0" y="91083"/>
                </a:lnTo>
                <a:lnTo>
                  <a:pt x="0" y="53690"/>
                </a:lnTo>
                <a:cubicBezTo>
                  <a:pt x="0" y="39923"/>
                  <a:pt x="2865" y="29059"/>
                  <a:pt x="8595" y="21096"/>
                </a:cubicBezTo>
                <a:cubicBezTo>
                  <a:pt x="14325" y="13134"/>
                  <a:pt x="24148" y="6102"/>
                  <a:pt x="38063"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bIns="91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err="1">
              <a:ln>
                <a:noFill/>
              </a:ln>
              <a:solidFill>
                <a:srgbClr val="FFFFFF"/>
              </a:solidFill>
              <a:effectLst/>
              <a:uLnTx/>
              <a:uFillTx/>
              <a:latin typeface="Verdana"/>
              <a:ea typeface="+mn-ea"/>
              <a:cs typeface="+mn-cs"/>
            </a:endParaRPr>
          </a:p>
        </p:txBody>
      </p:sp>
      <p:sp>
        <p:nvSpPr>
          <p:cNvPr id="2" name="Marcador de pie de página 1">
            <a:extLst>
              <a:ext uri="{FF2B5EF4-FFF2-40B4-BE49-F238E27FC236}">
                <a16:creationId xmlns:a16="http://schemas.microsoft.com/office/drawing/2014/main" id="{AE71AB9E-8675-4E47-5DC0-13420FABB7BA}"/>
              </a:ext>
            </a:extLst>
          </p:cNvPr>
          <p:cNvSpPr>
            <a:spLocks noGrp="1"/>
          </p:cNvSpPr>
          <p:nvPr>
            <p:ph type="ftr" sz="quarter" idx="3"/>
          </p:nvPr>
        </p:nvSpPr>
        <p:spPr/>
        <p:txBody>
          <a:bodyPr/>
          <a:lstStyle/>
          <a:p>
            <a:r>
              <a:rPr lang="en-US"/>
              <a:t>Source:_______</a:t>
            </a:r>
            <a:endParaRPr lang="en-US" dirty="0"/>
          </a:p>
        </p:txBody>
      </p:sp>
    </p:spTree>
    <p:extLst>
      <p:ext uri="{BB962C8B-B14F-4D97-AF65-F5344CB8AC3E}">
        <p14:creationId xmlns:p14="http://schemas.microsoft.com/office/powerpoint/2010/main" val="18725235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TBOX" val="buscar imgs nuevas para los slides que quedaron 1/2 pagina"/>
  <p:tag name="THINKCELLPRESENTATIONDONOTDELETE" val="&lt;?xml version=&quot;1.0&quot; encoding=&quot;UTF-16&quot; standalone=&quot;yes&quot;?&gt;&lt;root reqver=&quot;27037&quot;&gt;&lt;version val=&quot;3297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1&quot;/&gt;&lt;m_eweekdayFirstOfWeekend val=&quot;6&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IC TEMPLATE OK">
  <a:themeElements>
    <a:clrScheme name="Custom 61">
      <a:dk1>
        <a:srgbClr val="000000"/>
      </a:dk1>
      <a:lt1>
        <a:srgbClr val="FFFFFF"/>
      </a:lt1>
      <a:dk2>
        <a:srgbClr val="16207B"/>
      </a:dk2>
      <a:lt2>
        <a:srgbClr val="629CD0"/>
      </a:lt2>
      <a:accent1>
        <a:srgbClr val="0A1A49"/>
      </a:accent1>
      <a:accent2>
        <a:srgbClr val="629DD1"/>
      </a:accent2>
      <a:accent3>
        <a:srgbClr val="00D2C2"/>
      </a:accent3>
      <a:accent4>
        <a:srgbClr val="7F8FA9"/>
      </a:accent4>
      <a:accent5>
        <a:srgbClr val="5AA2AE"/>
      </a:accent5>
      <a:accent6>
        <a:srgbClr val="9D90A0"/>
      </a:accent6>
      <a:hlink>
        <a:srgbClr val="9454C3"/>
      </a:hlink>
      <a:folHlink>
        <a:srgbClr val="3EBBF0"/>
      </a:folHlink>
    </a:clrScheme>
    <a:fontScheme name="Custom 8">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IC TEMPLATE OK">
  <a:themeElements>
    <a:clrScheme name="Custom 61">
      <a:dk1>
        <a:srgbClr val="000000"/>
      </a:dk1>
      <a:lt1>
        <a:srgbClr val="FFFFFF"/>
      </a:lt1>
      <a:dk2>
        <a:srgbClr val="16207B"/>
      </a:dk2>
      <a:lt2>
        <a:srgbClr val="629CD0"/>
      </a:lt2>
      <a:accent1>
        <a:srgbClr val="0A1A49"/>
      </a:accent1>
      <a:accent2>
        <a:srgbClr val="629DD1"/>
      </a:accent2>
      <a:accent3>
        <a:srgbClr val="00D2C2"/>
      </a:accent3>
      <a:accent4>
        <a:srgbClr val="7F8FA9"/>
      </a:accent4>
      <a:accent5>
        <a:srgbClr val="5AA2AE"/>
      </a:accent5>
      <a:accent6>
        <a:srgbClr val="9D90A0"/>
      </a:accent6>
      <a:hlink>
        <a:srgbClr val="9454C3"/>
      </a:hlink>
      <a:folHlink>
        <a:srgbClr val="3EBBF0"/>
      </a:folHlink>
    </a:clrScheme>
    <a:fontScheme name="Custom 8">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IC TEMPLATE OK">
  <a:themeElements>
    <a:clrScheme name="Custom 2">
      <a:dk1>
        <a:srgbClr val="000000"/>
      </a:dk1>
      <a:lt1>
        <a:srgbClr val="FFFFFF"/>
      </a:lt1>
      <a:dk2>
        <a:srgbClr val="16207B"/>
      </a:dk2>
      <a:lt2>
        <a:srgbClr val="629CD0"/>
      </a:lt2>
      <a:accent1>
        <a:srgbClr val="0A1A49"/>
      </a:accent1>
      <a:accent2>
        <a:srgbClr val="629DD1"/>
      </a:accent2>
      <a:accent3>
        <a:srgbClr val="00D2C2"/>
      </a:accent3>
      <a:accent4>
        <a:srgbClr val="7F8FA9"/>
      </a:accent4>
      <a:accent5>
        <a:srgbClr val="5AA2AE"/>
      </a:accent5>
      <a:accent6>
        <a:srgbClr val="9D90A0"/>
      </a:accent6>
      <a:hlink>
        <a:srgbClr val="4248A9"/>
      </a:hlink>
      <a:folHlink>
        <a:srgbClr val="3CA500"/>
      </a:folHlink>
    </a:clrScheme>
    <a:fontScheme name="Custom 8">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37C6C0B81616847BA0BEF6AF9FD8D5E" ma:contentTypeVersion="14" ma:contentTypeDescription="Create a new document." ma:contentTypeScope="" ma:versionID="8f477840bf1b15ebcd7dea7e26e8de05">
  <xsd:schema xmlns:xsd="http://www.w3.org/2001/XMLSchema" xmlns:xs="http://www.w3.org/2001/XMLSchema" xmlns:p="http://schemas.microsoft.com/office/2006/metadata/properties" xmlns:ns3="2d175f5e-96b3-4161-9498-4ed8bb1684ef" xmlns:ns4="8cc5281a-0e22-4a5d-9b94-71566d8ffb39" targetNamespace="http://schemas.microsoft.com/office/2006/metadata/properties" ma:root="true" ma:fieldsID="626ffd4b232ece131a0e6b8ce18d05e9" ns3:_="" ns4:_="">
    <xsd:import namespace="2d175f5e-96b3-4161-9498-4ed8bb1684ef"/>
    <xsd:import namespace="8cc5281a-0e22-4a5d-9b94-71566d8ffb39"/>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LengthInSeconds"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175f5e-96b3-4161-9498-4ed8bb1684e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cc5281a-0e22-4a5d-9b94-71566d8ffb39"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FD9BADE-FB3C-4DFF-ABE8-CDDBBB754F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175f5e-96b3-4161-9498-4ed8bb1684ef"/>
    <ds:schemaRef ds:uri="8cc5281a-0e22-4a5d-9b94-71566d8ffb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FDBD43-137A-4241-BB3D-DE2C80A7631B}">
  <ds:schemaRefs>
    <ds:schemaRef ds:uri="8cc5281a-0e22-4a5d-9b94-71566d8ffb39"/>
    <ds:schemaRef ds:uri="http://schemas.openxmlformats.org/package/2006/metadata/core-properties"/>
    <ds:schemaRef ds:uri="http://schemas.microsoft.com/office/2006/metadata/properties"/>
    <ds:schemaRef ds:uri="http://purl.org/dc/terms/"/>
    <ds:schemaRef ds:uri="2d175f5e-96b3-4161-9498-4ed8bb1684ef"/>
    <ds:schemaRef ds:uri="http://purl.org/dc/dcmitype/"/>
    <ds:schemaRef ds:uri="http://schemas.microsoft.com/office/2006/documentManagement/types"/>
    <ds:schemaRef ds:uri="http://schemas.microsoft.com/office/infopath/2007/PartnerControls"/>
    <ds:schemaRef ds:uri="http://www.w3.org/XML/1998/namespace"/>
    <ds:schemaRef ds:uri="http://purl.org/dc/elements/1.1/"/>
  </ds:schemaRefs>
</ds:datastoreItem>
</file>

<file path=customXml/itemProps3.xml><?xml version="1.0" encoding="utf-8"?>
<ds:datastoreItem xmlns:ds="http://schemas.openxmlformats.org/officeDocument/2006/customXml" ds:itemID="{021C9605-34E7-4B36-9570-2016EA898C8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13755</TotalTime>
  <Words>12099</Words>
  <Application>Microsoft Macintosh PowerPoint</Application>
  <PresentationFormat>Widescreen</PresentationFormat>
  <Paragraphs>1552</Paragraphs>
  <Slides>108</Slides>
  <Notes>32</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108</vt:i4>
      </vt:variant>
    </vt:vector>
  </HeadingPairs>
  <TitlesOfParts>
    <vt:vector size="116" baseType="lpstr">
      <vt:lpstr>Arial</vt:lpstr>
      <vt:lpstr>Franklin Gothic Medium</vt:lpstr>
      <vt:lpstr>Graphik</vt:lpstr>
      <vt:lpstr>Verdana</vt:lpstr>
      <vt:lpstr>BIC TEMPLATE OK</vt:lpstr>
      <vt:lpstr>1_BIC TEMPLATE OK</vt:lpstr>
      <vt:lpstr>2_BIC TEMPLATE OK</vt:lpstr>
      <vt:lpstr>Diapositiva de think-cell</vt:lpstr>
      <vt:lpstr>PowerPoint Presentation</vt:lpstr>
      <vt:lpstr>About the Consulting Frameworks Toolkit</vt:lpstr>
      <vt:lpstr>Table of Contents</vt:lpstr>
      <vt:lpstr>How to replace the placeholder logo in this template</vt:lpstr>
      <vt:lpstr>How to change the color scheme in this template</vt:lpstr>
      <vt:lpstr>About Umbrex</vt:lpstr>
      <vt:lpstr>   </vt:lpstr>
      <vt:lpstr>Why Umbrex?</vt:lpstr>
      <vt:lpstr>Umbrex Services</vt:lpstr>
      <vt:lpstr>Industries Umbrex Serves</vt:lpstr>
      <vt:lpstr>Umbrex offers flexible options to engage talent</vt:lpstr>
      <vt:lpstr>Umbrex connects you with a community of other top-tier independent consultants</vt:lpstr>
      <vt:lpstr>You're global and local - Umbrex is, too</vt:lpstr>
      <vt:lpstr>Umbrex thought leadership</vt:lpstr>
      <vt:lpstr>How Umbrex can help</vt:lpstr>
      <vt:lpstr>Umbrex provides resources to help consultants thrive</vt:lpstr>
      <vt:lpstr>PowerPoint Presentation</vt:lpstr>
      <vt:lpstr>Porter’s Five Forces — Overview </vt:lpstr>
      <vt:lpstr>PowerPoint Presentation</vt:lpstr>
      <vt:lpstr>Threat of new entrants – Questions to consider</vt:lpstr>
      <vt:lpstr>Threat of new entrants – [industry]</vt:lpstr>
      <vt:lpstr>Bargaining power of buyers – Questions to consider</vt:lpstr>
      <vt:lpstr>Bargaining power of buyers -  [industry]</vt:lpstr>
      <vt:lpstr>Bargaining power of suppliers – Questions to consider</vt:lpstr>
      <vt:lpstr>Bargaining power of suppliers -  [industry]</vt:lpstr>
      <vt:lpstr>Threat of substitute products – Questions to consider</vt:lpstr>
      <vt:lpstr>Threat of substitute products -  [industry]</vt:lpstr>
      <vt:lpstr>Rivalry among existing competitors – Questions to consider</vt:lpstr>
      <vt:lpstr>Rivalry among existing competitors -  [industry]</vt:lpstr>
      <vt:lpstr>PowerPoint Presentation</vt:lpstr>
      <vt:lpstr>BCG Growth Share Matrix — Overview</vt:lpstr>
      <vt:lpstr>BCG Growth Share Matrix — Template A</vt:lpstr>
      <vt:lpstr>BCG Growth Share Matrix — Template B</vt:lpstr>
      <vt:lpstr>PowerPoint Presentation</vt:lpstr>
      <vt:lpstr>McKinsey 7-S Framework — Overview</vt:lpstr>
      <vt:lpstr>McKinsey 7-S Framework — Template A</vt:lpstr>
      <vt:lpstr>McKinsey 7-S Framework — Template B</vt:lpstr>
      <vt:lpstr>McKinsey 7-S Framework — Template B Instructions</vt:lpstr>
      <vt:lpstr>PowerPoint Presentation</vt:lpstr>
      <vt:lpstr>Ansoff Matrix — Overview</vt:lpstr>
      <vt:lpstr>Ansoff Matrix — Template</vt:lpstr>
      <vt:lpstr>PowerPoint Presentation</vt:lpstr>
      <vt:lpstr>Force Field Analysis — Overview</vt:lpstr>
      <vt:lpstr>Force Field Analysis — Template</vt:lpstr>
      <vt:lpstr>PowerPoint Presentation</vt:lpstr>
      <vt:lpstr>The 3 C’s — Overview</vt:lpstr>
      <vt:lpstr>The 3 C’s — Template</vt:lpstr>
      <vt:lpstr>PowerPoint Presentation</vt:lpstr>
      <vt:lpstr>The 4 Ps — Overview</vt:lpstr>
      <vt:lpstr>The 4 Ps — Template</vt:lpstr>
      <vt:lpstr>PowerPoint Presentation</vt:lpstr>
      <vt:lpstr>SWOT Analysis — Overview</vt:lpstr>
      <vt:lpstr>SWOT Analysis — Template</vt:lpstr>
      <vt:lpstr>PowerPoint Presentation</vt:lpstr>
      <vt:lpstr>Profitability Framework — Overview</vt:lpstr>
      <vt:lpstr>Profitability Framework — Template</vt:lpstr>
      <vt:lpstr>PowerPoint Presentation</vt:lpstr>
      <vt:lpstr>Blue Ocean Strategy — Overview</vt:lpstr>
      <vt:lpstr>Blue Ocean Strategy — Template A</vt:lpstr>
      <vt:lpstr>Blue Ocean Strategy — Template B</vt:lpstr>
      <vt:lpstr>PowerPoint Presentation</vt:lpstr>
      <vt:lpstr>Value Disciplines Model — Overview</vt:lpstr>
      <vt:lpstr>Value Disciplines Model — Template A</vt:lpstr>
      <vt:lpstr>Value Disciplines Model — Template B</vt:lpstr>
      <vt:lpstr>PowerPoint Presentation</vt:lpstr>
      <vt:lpstr>Porter's Value Chain — Overview</vt:lpstr>
      <vt:lpstr>Porter's Value Chain — Template A</vt:lpstr>
      <vt:lpstr>Porter's Value Chain — Template B</vt:lpstr>
      <vt:lpstr>Porter's Value Chain — Template C</vt:lpstr>
      <vt:lpstr>PowerPoint Presentation</vt:lpstr>
      <vt:lpstr>GE McKinsey Matrix — Overview</vt:lpstr>
      <vt:lpstr>GE McKinsey Matrix — Template</vt:lpstr>
      <vt:lpstr>PowerPoint Presentation</vt:lpstr>
      <vt:lpstr>Product Life Cycle — Overview</vt:lpstr>
      <vt:lpstr>Product Life Cycle — Template A</vt:lpstr>
      <vt:lpstr>Product Life Cycle — Template B</vt:lpstr>
      <vt:lpstr>PowerPoint Presentation</vt:lpstr>
      <vt:lpstr>Roger’s Five Factors — Overview</vt:lpstr>
      <vt:lpstr>Roger’s Five Factors — Template A</vt:lpstr>
      <vt:lpstr>Roger’s Five Factors — Template B</vt:lpstr>
      <vt:lpstr>PowerPoint Presentation</vt:lpstr>
      <vt:lpstr>SIPOC model — Overview</vt:lpstr>
      <vt:lpstr>SIPOC model — Template A</vt:lpstr>
      <vt:lpstr>SIPOC model — Template B</vt:lpstr>
      <vt:lpstr>SIPOC model — Template C</vt:lpstr>
      <vt:lpstr>PowerPoint Presentation</vt:lpstr>
      <vt:lpstr>PESTEL Analysis — Overview</vt:lpstr>
      <vt:lpstr>PESTEL Analysis — Template A</vt:lpstr>
      <vt:lpstr>PESTEL Analysis — Template B</vt:lpstr>
      <vt:lpstr>PowerPoint Presentation</vt:lpstr>
      <vt:lpstr>Lafley Strategy — Overview</vt:lpstr>
      <vt:lpstr>Lafley Strategy — Template A</vt:lpstr>
      <vt:lpstr>Lafley Strategy — Template B</vt:lpstr>
      <vt:lpstr>PowerPoint Presentation</vt:lpstr>
      <vt:lpstr>Three Horizons — Overview</vt:lpstr>
      <vt:lpstr>Three Horizons — Template</vt:lpstr>
      <vt:lpstr>PowerPoint Presentation</vt:lpstr>
      <vt:lpstr>Seven Degrees of Freedom for Growth — Overview</vt:lpstr>
      <vt:lpstr>Seven Degrees of Freedom for Growth — Template</vt:lpstr>
      <vt:lpstr>PowerPoint Presentation</vt:lpstr>
      <vt:lpstr>Porter's Generic Strategies — Overview</vt:lpstr>
      <vt:lpstr>Porter's Generic Strategies — Template A</vt:lpstr>
      <vt:lpstr>Porter's Generic Strategies — Template B</vt:lpstr>
      <vt:lpstr>PowerPoint Presentation</vt:lpstr>
      <vt:lpstr>Galbraith Star Model — Overview</vt:lpstr>
      <vt:lpstr>Galbraith Star Model — Template</vt:lpstr>
      <vt:lpstr>Template - Elements</vt:lpstr>
      <vt:lpstr>Template - Elements</vt:lpstr>
    </vt:vector>
  </TitlesOfParts>
  <Manager>Umbrex visit www.umbrex.com</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Umbrex visit www.umbrex.com</dc:creator>
  <cp:keywords/>
  <dc:description/>
  <cp:lastModifiedBy>shelley seale</cp:lastModifiedBy>
  <cp:revision>310</cp:revision>
  <dcterms:created xsi:type="dcterms:W3CDTF">2020-07-31T20:30:33Z</dcterms:created>
  <dcterms:modified xsi:type="dcterms:W3CDTF">2023-04-07T18:33:37Z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0x010100737C6C0B81616847BA0BEF6AF9FD8D5E</vt:lpwstr>
  </property>
  <property fmtid="{D5CDD505-2E9C-101B-9397-08002B2CF9AE}" pid="3" name="MediaServiceImageTags">
    <vt:lpwstr/>
  </property>
</Properties>
</file>